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modernComment_7BBF5A96_90C0A31F.xml" ContentType="application/vnd.ms-powerpoint.comments+xml"/>
  <Override PartName="/ppt/notesSlides/notesSlide2.xml" ContentType="application/vnd.openxmlformats-officedocument.presentationml.notesSlide+xml"/>
  <Override PartName="/ppt/comments/modernComment_3D5_48342EAE.xml" ContentType="application/vnd.ms-powerpoint.comments+xml"/>
  <Override PartName="/ppt/notesSlides/notesSlide3.xml" ContentType="application/vnd.openxmlformats-officedocument.presentationml.notesSlide+xml"/>
  <Override PartName="/ppt/comments/modernComment_511_E671BF61.xml" ContentType="application/vnd.ms-powerpoint.comments+xml"/>
  <Override PartName="/ppt/comments/modernComment_436_67CE77E1.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4F7_93E9E88C.xml" ContentType="application/vnd.ms-powerpoint.comment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60" r:id="rId4"/>
    <p:sldMasterId id="2147483890" r:id="rId5"/>
    <p:sldMasterId id="2147483752" r:id="rId6"/>
    <p:sldMasterId id="2147483664" r:id="rId7"/>
  </p:sldMasterIdLst>
  <p:notesMasterIdLst>
    <p:notesMasterId r:id="rId39"/>
  </p:notesMasterIdLst>
  <p:sldIdLst>
    <p:sldId id="2076138131" r:id="rId8"/>
    <p:sldId id="1300" r:id="rId9"/>
    <p:sldId id="847" r:id="rId10"/>
    <p:sldId id="1166" r:id="rId11"/>
    <p:sldId id="1151" r:id="rId12"/>
    <p:sldId id="2076138134" r:id="rId13"/>
    <p:sldId id="2076138135" r:id="rId14"/>
    <p:sldId id="2076138136" r:id="rId15"/>
    <p:sldId id="981" r:id="rId16"/>
    <p:sldId id="1297" r:id="rId17"/>
    <p:sldId id="969" r:id="rId18"/>
    <p:sldId id="1251" r:id="rId19"/>
    <p:sldId id="1043" r:id="rId20"/>
    <p:sldId id="1078" r:id="rId21"/>
    <p:sldId id="1164" r:id="rId22"/>
    <p:sldId id="1237" r:id="rId23"/>
    <p:sldId id="1301" r:id="rId24"/>
    <p:sldId id="1095" r:id="rId25"/>
    <p:sldId id="1052" r:id="rId26"/>
    <p:sldId id="967" r:id="rId27"/>
    <p:sldId id="1161" r:id="rId28"/>
    <p:sldId id="1252" r:id="rId29"/>
    <p:sldId id="1271" r:id="rId30"/>
    <p:sldId id="1232" r:id="rId31"/>
    <p:sldId id="1133" r:id="rId32"/>
    <p:sldId id="312" r:id="rId33"/>
    <p:sldId id="313" r:id="rId34"/>
    <p:sldId id="314" r:id="rId35"/>
    <p:sldId id="315" r:id="rId36"/>
    <p:sldId id="2076138133" r:id="rId37"/>
    <p:sldId id="2076138129" r:id="rId38"/>
  </p:sldIdLst>
  <p:sldSz cx="17338675" cy="9753600"/>
  <p:notesSz cx="6858000" cy="9144000"/>
  <p:embeddedFontLst>
    <p:embeddedFont>
      <p:font typeface="OCR A Extended" panose="02010509020102010303" pitchFamily="50" charset="0"/>
      <p:regular r:id="rId40"/>
    </p:embeddedFont>
    <p:embeddedFont>
      <p:font typeface="Open Sans ExtraBold" panose="020B0906030804020204" pitchFamily="34" charset="0"/>
      <p:bold r:id="rId41"/>
      <p:boldItalic r:id="rId42"/>
    </p:embeddedFont>
    <p:embeddedFont>
      <p:font typeface="Open Sans SemiBold" panose="020B0706030804020204" pitchFamily="34" charset="0"/>
      <p:regular r:id="rId43"/>
      <p:bold r:id="rId44"/>
      <p:italic r:id="rId45"/>
      <p:boldItalic r:id="rId46"/>
    </p:embeddedFont>
    <p:embeddedFont>
      <p:font typeface="Trebuchet MS" panose="020B0603020202020204" pitchFamily="34" charset="0"/>
      <p:regular r:id="rId47"/>
      <p:bold r:id="rId48"/>
      <p:italic r:id="rId49"/>
      <p:boldItalic r:id="rId50"/>
    </p:embeddedFont>
    <p:embeddedFont>
      <p:font typeface="UGent Panno Text" panose="02000506040000040003" pitchFamily="2" charset="0"/>
      <p:regular r:id="rId51"/>
    </p:embeddedFont>
    <p:embeddedFont>
      <p:font typeface="UGent Panno Text SemiBold" panose="02000706040000040003" pitchFamily="2" charset="0"/>
      <p:bold r:id="rId52"/>
    </p:embeddedFont>
    <p:embeddedFont>
      <p:font typeface="UGent Panno Text SemiLight" panose="02000406040000040003" pitchFamily="2" charset="0"/>
      <p:regular r:id="rId53"/>
    </p:embeddedFont>
    <p:embeddedFont>
      <p:font typeface="Yu Gothic UI Semibold" panose="020B0700000000000000" pitchFamily="34" charset="-128"/>
      <p:bold r:id="rId54"/>
    </p:embeddedFont>
  </p:embeddedFontLst>
  <p:defaultTex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userDrawn="1">
          <p15:clr>
            <a:srgbClr val="A4A3A4"/>
          </p15:clr>
        </p15:guide>
        <p15:guide id="2" pos="54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D86320-BC27-A3DF-8CE0-E1433B891016}" name="Matheus Pereira da Cruz Gomes Lourenço" initials="ML" userId="S::matheus.lourenco_vib.be#ext#@ugentbe.onmicrosoft.com::ae6d5a95-b5a1-4d9c-8838-34e6fca5965f" providerId="AD"/>
  <p188:author id="{FBE647A1-DFDB-FA82-3F01-2F90D0389F67}" name="Laura Standaert" initials="LS" userId="S::lauralucia.standaert@ugent.be::57751787-d58b-49ec-bf32-1c6c653d8c17" providerId="AD"/>
  <p188:author id="{58311BA8-933E-02E3-D02C-66D699C11360}" name="Matheus Pereira da Cruz Gomes Lourenço" initials="MP" userId="S::matheus.lourenco@vib.be::d44209e8-f0d6-4c43-b6b0-f6a25df5667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aura Standaert" initials="LS" lastIdx="4" clrIdx="0">
    <p:extLst>
      <p:ext uri="{19B8F6BF-5375-455C-9EA6-DF929625EA0E}">
        <p15:presenceInfo xmlns:p15="http://schemas.microsoft.com/office/powerpoint/2012/main" userId="S-1-5-21-4030456262-320625612-449655040-287416" providerId="AD"/>
      </p:ext>
    </p:extLst>
  </p:cmAuthor>
  <p:cmAuthor id="2" name="Stefanie De Bodt" initials="SB" lastIdx="3" clrIdx="1">
    <p:extLst>
      <p:ext uri="{19B8F6BF-5375-455C-9EA6-DF929625EA0E}">
        <p15:presenceInfo xmlns:p15="http://schemas.microsoft.com/office/powerpoint/2012/main" userId="S::stefanie.debodt@ugent.be::1356c8e2-e336-4a3c-9bed-644cfa7a3883" providerId="AD"/>
      </p:ext>
    </p:extLst>
  </p:cmAuthor>
  <p:cmAuthor id="3" name="Stefanie De Bodt" initials="SDB" lastIdx="2" clrIdx="2">
    <p:extLst>
      <p:ext uri="{19B8F6BF-5375-455C-9EA6-DF929625EA0E}">
        <p15:presenceInfo xmlns:p15="http://schemas.microsoft.com/office/powerpoint/2012/main" userId="S-1-5-21-4030456262-320625612-449655040-31133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F1C2"/>
    <a:srgbClr val="1E64C8"/>
    <a:srgbClr val="FFD200"/>
    <a:srgbClr val="97D5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480C32-F24C-805C-F426-9C57CDE16F22}" v="2" dt="2025-10-16T13:15:25.897"/>
    <p1510:client id="{875E09F9-543D-046A-89C3-C60A85F591BF}" v="1" dt="2025-10-17T10:48:17.7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106" y="101"/>
      </p:cViewPr>
      <p:guideLst>
        <p:guide orient="horz" pos="3049"/>
        <p:guide pos="54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font" Target="fonts/font12.fntdata"/><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font" Target="fonts/font7.fntdata"/><Relationship Id="rId59"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font" Target="fonts/font2.fntdata"/><Relationship Id="rId54" Type="http://schemas.openxmlformats.org/officeDocument/2006/relationships/font" Target="fonts/font15.fntdata"/><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font" Target="fonts/font5.fntdata"/><Relationship Id="rId52" Type="http://schemas.openxmlformats.org/officeDocument/2006/relationships/font" Target="fonts/font13.fntdata"/><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Standaert" userId="57751787-d58b-49ec-bf32-1c6c653d8c17" providerId="ADAL" clId="{D0508986-69B4-441D-92DB-34C9485C3DF8}"/>
    <pc:docChg chg="modSld sldOrd">
      <pc:chgData name="Laura Standaert" userId="57751787-d58b-49ec-bf32-1c6c653d8c17" providerId="ADAL" clId="{D0508986-69B4-441D-92DB-34C9485C3DF8}" dt="2025-10-13T09:31:31.698" v="3"/>
      <pc:docMkLst>
        <pc:docMk/>
      </pc:docMkLst>
      <pc:sldChg chg="ord">
        <pc:chgData name="Laura Standaert" userId="57751787-d58b-49ec-bf32-1c6c653d8c17" providerId="ADAL" clId="{D0508986-69B4-441D-92DB-34C9485C3DF8}" dt="2025-10-13T09:31:31.698" v="3"/>
        <pc:sldMkLst>
          <pc:docMk/>
          <pc:sldMk cId="3175577185" sldId="1043"/>
        </pc:sldMkLst>
      </pc:sldChg>
      <pc:sldChg chg="ord">
        <pc:chgData name="Laura Standaert" userId="57751787-d58b-49ec-bf32-1c6c653d8c17" providerId="ADAL" clId="{D0508986-69B4-441D-92DB-34C9485C3DF8}" dt="2025-10-13T09:28:44.427" v="1"/>
        <pc:sldMkLst>
          <pc:docMk/>
          <pc:sldMk cId="1951157924" sldId="1151"/>
        </pc:sldMkLst>
      </pc:sldChg>
    </pc:docChg>
  </pc:docChgLst>
  <pc:docChgLst>
    <pc:chgData name="Matheus Pereira da Cruz Gomes Lourenço" userId="d44209e8-f0d6-4c43-b6b0-f6a25df56671" providerId="ADAL" clId="{3E9FE063-0B6C-44B3-AE89-EEC57F53F4D4}"/>
    <pc:docChg chg="modSld">
      <pc:chgData name="Matheus Pereira da Cruz Gomes Lourenço" userId="d44209e8-f0d6-4c43-b6b0-f6a25df56671" providerId="ADAL" clId="{3E9FE063-0B6C-44B3-AE89-EEC57F53F4D4}" dt="2025-09-26T10:56:20.482" v="1" actId="729"/>
      <pc:docMkLst>
        <pc:docMk/>
      </pc:docMkLst>
      <pc:sldChg chg="mod modShow">
        <pc:chgData name="Matheus Pereira da Cruz Gomes Lourenço" userId="d44209e8-f0d6-4c43-b6b0-f6a25df56671" providerId="ADAL" clId="{3E9FE063-0B6C-44B3-AE89-EEC57F53F4D4}" dt="2025-09-26T10:48:48.418" v="0" actId="729"/>
        <pc:sldMkLst>
          <pc:docMk/>
          <pc:sldMk cId="1211379374" sldId="981"/>
        </pc:sldMkLst>
      </pc:sldChg>
    </pc:docChg>
  </pc:docChgLst>
  <pc:docChgLst>
    <pc:chgData name="Laura Standaert" userId="S::lauralucia.standaert@ugent.be::57751787-d58b-49ec-bf32-1c6c653d8c17" providerId="AD" clId="Web-{3CE0A463-2BE7-4B7E-E711-963524E3A811}"/>
    <pc:docChg chg="addSld modSld">
      <pc:chgData name="Laura Standaert" userId="S::lauralucia.standaert@ugent.be::57751787-d58b-49ec-bf32-1c6c653d8c17" providerId="AD" clId="Web-{3CE0A463-2BE7-4B7E-E711-963524E3A811}" dt="2025-10-03T08:50:52.856" v="11"/>
      <pc:docMkLst>
        <pc:docMk/>
      </pc:docMkLst>
      <pc:sldChg chg="mod modShow">
        <pc:chgData name="Laura Standaert" userId="S::lauralucia.standaert@ugent.be::57751787-d58b-49ec-bf32-1c6c653d8c17" providerId="AD" clId="Web-{3CE0A463-2BE7-4B7E-E711-963524E3A811}" dt="2025-10-03T08:39:13.235" v="10"/>
        <pc:sldMkLst>
          <pc:docMk/>
          <pc:sldMk cId="3357704728" sldId="1232"/>
        </pc:sldMkLst>
      </pc:sldChg>
      <pc:sldChg chg="modSp">
        <pc:chgData name="Laura Standaert" userId="S::lauralucia.standaert@ugent.be::57751787-d58b-49ec-bf32-1c6c653d8c17" providerId="AD" clId="Web-{3CE0A463-2BE7-4B7E-E711-963524E3A811}" dt="2025-10-03T08:35:54.461" v="2" actId="20577"/>
        <pc:sldMkLst>
          <pc:docMk/>
          <pc:sldMk cId="4193907477" sldId="2076138131"/>
        </pc:sldMkLst>
        <pc:spChg chg="mod">
          <ac:chgData name="Laura Standaert" userId="S::lauralucia.standaert@ugent.be::57751787-d58b-49ec-bf32-1c6c653d8c17" providerId="AD" clId="Web-{3CE0A463-2BE7-4B7E-E711-963524E3A811}" dt="2025-10-03T08:35:54.461" v="2" actId="20577"/>
          <ac:spMkLst>
            <pc:docMk/>
            <pc:sldMk cId="4193907477" sldId="2076138131"/>
            <ac:spMk id="4" creationId="{CDECEDD1-324A-8CC4-EEAB-A8BAFC1EAD6D}"/>
          </ac:spMkLst>
        </pc:spChg>
      </pc:sldChg>
      <pc:sldChg chg="add">
        <pc:chgData name="Laura Standaert" userId="S::lauralucia.standaert@ugent.be::57751787-d58b-49ec-bf32-1c6c653d8c17" providerId="AD" clId="Web-{3CE0A463-2BE7-4B7E-E711-963524E3A811}" dt="2025-10-03T08:50:52.856" v="11"/>
        <pc:sldMkLst>
          <pc:docMk/>
          <pc:sldMk cId="1868282625" sldId="2076138133"/>
        </pc:sldMkLst>
      </pc:sldChg>
      <pc:sldMasterChg chg="addSldLayout">
        <pc:chgData name="Laura Standaert" userId="S::lauralucia.standaert@ugent.be::57751787-d58b-49ec-bf32-1c6c653d8c17" providerId="AD" clId="Web-{3CE0A463-2BE7-4B7E-E711-963524E3A811}" dt="2025-10-03T08:50:52.856" v="11"/>
        <pc:sldMasterMkLst>
          <pc:docMk/>
          <pc:sldMasterMk cId="3770589907" sldId="2147483660"/>
        </pc:sldMasterMkLst>
        <pc:sldLayoutChg chg="add">
          <pc:chgData name="Laura Standaert" userId="S::lauralucia.standaert@ugent.be::57751787-d58b-49ec-bf32-1c6c653d8c17" providerId="AD" clId="Web-{3CE0A463-2BE7-4B7E-E711-963524E3A811}" dt="2025-10-03T08:50:52.856" v="11"/>
          <pc:sldLayoutMkLst>
            <pc:docMk/>
            <pc:sldMasterMk cId="3770589907" sldId="2147483660"/>
            <pc:sldLayoutMk cId="3896657320" sldId="2147483685"/>
          </pc:sldLayoutMkLst>
        </pc:sldLayoutChg>
      </pc:sldMasterChg>
    </pc:docChg>
  </pc:docChgLst>
  <pc:docChgLst>
    <pc:chgData name="Laura Standaert" userId="S::lauralucia.standaert@ugent.be::57751787-d58b-49ec-bf32-1c6c653d8c17" providerId="AD" clId="Web-{FBAD9CC3-E76F-FCA8-DF32-5BC38570E69F}"/>
    <pc:docChg chg="mod addSld delSld modSld">
      <pc:chgData name="Laura Standaert" userId="S::lauralucia.standaert@ugent.be::57751787-d58b-49ec-bf32-1c6c653d8c17" providerId="AD" clId="Web-{FBAD9CC3-E76F-FCA8-DF32-5BC38570E69F}" dt="2025-09-29T11:58:24.322" v="51"/>
      <pc:docMkLst>
        <pc:docMk/>
      </pc:docMkLst>
      <pc:sldChg chg="modSp">
        <pc:chgData name="Laura Standaert" userId="S::lauralucia.standaert@ugent.be::57751787-d58b-49ec-bf32-1c6c653d8c17" providerId="AD" clId="Web-{FBAD9CC3-E76F-FCA8-DF32-5BC38570E69F}" dt="2025-09-29T11:49:28.851" v="29" actId="20577"/>
        <pc:sldMkLst>
          <pc:docMk/>
          <pc:sldMk cId="1951157924" sldId="1151"/>
        </pc:sldMkLst>
        <pc:spChg chg="mod">
          <ac:chgData name="Laura Standaert" userId="S::lauralucia.standaert@ugent.be::57751787-d58b-49ec-bf32-1c6c653d8c17" providerId="AD" clId="Web-{FBAD9CC3-E76F-FCA8-DF32-5BC38570E69F}" dt="2025-09-29T11:49:28.851" v="29" actId="20577"/>
          <ac:spMkLst>
            <pc:docMk/>
            <pc:sldMk cId="1951157924" sldId="1151"/>
            <ac:spMk id="3" creationId="{DC31511A-2D78-4767-9852-904E34439124}"/>
          </ac:spMkLst>
        </pc:spChg>
      </pc:sldChg>
      <pc:sldChg chg="modSp add">
        <pc:chgData name="Laura Standaert" userId="S::lauralucia.standaert@ugent.be::57751787-d58b-49ec-bf32-1c6c653d8c17" providerId="AD" clId="Web-{FBAD9CC3-E76F-FCA8-DF32-5BC38570E69F}" dt="2025-09-29T11:45:56.735" v="25" actId="20577"/>
        <pc:sldMkLst>
          <pc:docMk/>
          <pc:sldMk cId="4193907477" sldId="2076138131"/>
        </pc:sldMkLst>
        <pc:spChg chg="mod">
          <ac:chgData name="Laura Standaert" userId="S::lauralucia.standaert@ugent.be::57751787-d58b-49ec-bf32-1c6c653d8c17" providerId="AD" clId="Web-{FBAD9CC3-E76F-FCA8-DF32-5BC38570E69F}" dt="2025-09-29T11:45:44.923" v="7" actId="20577"/>
          <ac:spMkLst>
            <pc:docMk/>
            <pc:sldMk cId="4193907477" sldId="2076138131"/>
            <ac:spMk id="4" creationId="{CDECEDD1-324A-8CC4-EEAB-A8BAFC1EAD6D}"/>
          </ac:spMkLst>
        </pc:spChg>
        <pc:spChg chg="mod">
          <ac:chgData name="Laura Standaert" userId="S::lauralucia.standaert@ugent.be::57751787-d58b-49ec-bf32-1c6c653d8c17" providerId="AD" clId="Web-{FBAD9CC3-E76F-FCA8-DF32-5BC38570E69F}" dt="2025-09-29T11:45:56.735" v="25" actId="20577"/>
          <ac:spMkLst>
            <pc:docMk/>
            <pc:sldMk cId="4193907477" sldId="2076138131"/>
            <ac:spMk id="20" creationId="{7A19F74E-5D1D-731E-BB7F-BB59EB713535}"/>
          </ac:spMkLst>
        </pc:spChg>
      </pc:sldChg>
      <pc:sldMasterChg chg="addSldLayout">
        <pc:chgData name="Laura Standaert" userId="S::lauralucia.standaert@ugent.be::57751787-d58b-49ec-bf32-1c6c653d8c17" providerId="AD" clId="Web-{FBAD9CC3-E76F-FCA8-DF32-5BC38570E69F}" dt="2025-09-29T11:45:26.813" v="0"/>
        <pc:sldMasterMkLst>
          <pc:docMk/>
          <pc:sldMasterMk cId="3770589907" sldId="2147483660"/>
        </pc:sldMasterMkLst>
        <pc:sldLayoutChg chg="add">
          <pc:chgData name="Laura Standaert" userId="S::lauralucia.standaert@ugent.be::57751787-d58b-49ec-bf32-1c6c653d8c17" providerId="AD" clId="Web-{FBAD9CC3-E76F-FCA8-DF32-5BC38570E69F}" dt="2025-09-29T11:45:26.813" v="0"/>
          <pc:sldLayoutMkLst>
            <pc:docMk/>
            <pc:sldMasterMk cId="3770589907" sldId="2147483660"/>
            <pc:sldLayoutMk cId="1519494756" sldId="2147483684"/>
          </pc:sldLayoutMkLst>
        </pc:sldLayoutChg>
      </pc:sldMasterChg>
    </pc:docChg>
  </pc:docChgLst>
  <pc:docChgLst>
    <pc:chgData name="Laura Standaert" userId="S::lauralucia.standaert@ugent.be::57751787-d58b-49ec-bf32-1c6c653d8c17" providerId="AD" clId="Web-{09480C32-F24C-805C-F426-9C57CDE16F22}"/>
    <pc:docChg chg="delSld">
      <pc:chgData name="Laura Standaert" userId="S::lauralucia.standaert@ugent.be::57751787-d58b-49ec-bf32-1c6c653d8c17" providerId="AD" clId="Web-{09480C32-F24C-805C-F426-9C57CDE16F22}" dt="2025-10-16T13:14:09.193" v="0"/>
      <pc:docMkLst>
        <pc:docMk/>
      </pc:docMkLst>
      <pc:sldChg chg="del">
        <pc:chgData name="Laura Standaert" userId="S::lauralucia.standaert@ugent.be::57751787-d58b-49ec-bf32-1c6c653d8c17" providerId="AD" clId="Web-{09480C32-F24C-805C-F426-9C57CDE16F22}" dt="2025-10-16T13:14:09.193" v="0"/>
        <pc:sldMkLst>
          <pc:docMk/>
          <pc:sldMk cId="1131561097" sldId="2076138132"/>
        </pc:sldMkLst>
      </pc:sldChg>
    </pc:docChg>
  </pc:docChgLst>
  <pc:docChgLst>
    <pc:chgData name="Laura Standaert" userId="S::lauralucia.standaert@ugent.be::57751787-d58b-49ec-bf32-1c6c653d8c17" providerId="AD" clId="Web-{875E09F9-543D-046A-89C3-C60A85F591BF}"/>
    <pc:docChg chg="modSld">
      <pc:chgData name="Laura Standaert" userId="S::lauralucia.standaert@ugent.be::57751787-d58b-49ec-bf32-1c6c653d8c17" providerId="AD" clId="Web-{875E09F9-543D-046A-89C3-C60A85F591BF}" dt="2025-10-17T10:48:17.714" v="0"/>
      <pc:docMkLst>
        <pc:docMk/>
      </pc:docMkLst>
      <pc:sldChg chg="mod modShow">
        <pc:chgData name="Laura Standaert" userId="S::lauralucia.standaert@ugent.be::57751787-d58b-49ec-bf32-1c6c653d8c17" providerId="AD" clId="Web-{875E09F9-543D-046A-89C3-C60A85F591BF}" dt="2025-10-17T10:48:17.714" v="0"/>
        <pc:sldMkLst>
          <pc:docMk/>
          <pc:sldMk cId="1211379374" sldId="981"/>
        </pc:sldMkLst>
      </pc:sldChg>
    </pc:docChg>
  </pc:docChgLst>
  <pc:docChgLst>
    <pc:chgData name="Matheus Pereira da Cruz Gomes Lourenço" userId="S::matheus.lourenco_vib.be#ext#@ugentbe.onmicrosoft.com::ae6d5a95-b5a1-4d9c-8838-34e6fca5965f" providerId="AD" clId="Web-{C2C5673C-8CD8-B291-BCFF-4B62EA88C99E}"/>
    <pc:docChg chg="mod addSld modSld addMainMaster modMainMaster">
      <pc:chgData name="Matheus Pereira da Cruz Gomes Lourenço" userId="S::matheus.lourenco_vib.be#ext#@ugentbe.onmicrosoft.com::ae6d5a95-b5a1-4d9c-8838-34e6fca5965f" providerId="AD" clId="Web-{C2C5673C-8CD8-B291-BCFF-4B62EA88C99E}" dt="2025-10-15T09:38:05.226" v="34"/>
      <pc:docMkLst>
        <pc:docMk/>
      </pc:docMkLst>
      <pc:sldChg chg="modSp add mod modShow">
        <pc:chgData name="Matheus Pereira da Cruz Gomes Lourenço" userId="S::matheus.lourenco_vib.be#ext#@ugentbe.onmicrosoft.com::ae6d5a95-b5a1-4d9c-8838-34e6fca5965f" providerId="AD" clId="Web-{C2C5673C-8CD8-B291-BCFF-4B62EA88C99E}" dt="2025-10-15T09:31:19.642" v="19"/>
        <pc:sldMkLst>
          <pc:docMk/>
          <pc:sldMk cId="2428543775" sldId="2076138134"/>
        </pc:sldMkLst>
        <pc:spChg chg="mod">
          <ac:chgData name="Matheus Pereira da Cruz Gomes Lourenço" userId="S::matheus.lourenco_vib.be#ext#@ugentbe.onmicrosoft.com::ae6d5a95-b5a1-4d9c-8838-34e6fca5965f" providerId="AD" clId="Web-{C2C5673C-8CD8-B291-BCFF-4B62EA88C99E}" dt="2025-10-15T09:27:12.743" v="3" actId="20577"/>
          <ac:spMkLst>
            <pc:docMk/>
            <pc:sldMk cId="2428543775" sldId="2076138134"/>
            <ac:spMk id="3" creationId="{CDE2D5AD-5528-88F4-220D-E4CF5508D191}"/>
          </ac:spMkLst>
        </pc:spChg>
      </pc:sldChg>
      <pc:sldChg chg="addSp modSp add">
        <pc:chgData name="Matheus Pereira da Cruz Gomes Lourenço" userId="S::matheus.lourenco_vib.be#ext#@ugentbe.onmicrosoft.com::ae6d5a95-b5a1-4d9c-8838-34e6fca5965f" providerId="AD" clId="Web-{C2C5673C-8CD8-B291-BCFF-4B62EA88C99E}" dt="2025-10-15T09:30:40.984" v="17" actId="20577"/>
        <pc:sldMkLst>
          <pc:docMk/>
          <pc:sldMk cId="2615162601" sldId="2076138135"/>
        </pc:sldMkLst>
        <pc:spChg chg="mod">
          <ac:chgData name="Matheus Pereira da Cruz Gomes Lourenço" userId="S::matheus.lourenco_vib.be#ext#@ugentbe.onmicrosoft.com::ae6d5a95-b5a1-4d9c-8838-34e6fca5965f" providerId="AD" clId="Web-{C2C5673C-8CD8-B291-BCFF-4B62EA88C99E}" dt="2025-10-15T09:27:35.384" v="11" actId="20577"/>
          <ac:spMkLst>
            <pc:docMk/>
            <pc:sldMk cId="2615162601" sldId="2076138135"/>
            <ac:spMk id="2" creationId="{02B44ECE-1578-2E8F-AEAA-8546603D327D}"/>
          </ac:spMkLst>
        </pc:spChg>
        <pc:spChg chg="add mod">
          <ac:chgData name="Matheus Pereira da Cruz Gomes Lourenço" userId="S::matheus.lourenco_vib.be#ext#@ugentbe.onmicrosoft.com::ae6d5a95-b5a1-4d9c-8838-34e6fca5965f" providerId="AD" clId="Web-{C2C5673C-8CD8-B291-BCFF-4B62EA88C99E}" dt="2025-10-15T09:30:40.984" v="17" actId="20577"/>
          <ac:spMkLst>
            <pc:docMk/>
            <pc:sldMk cId="2615162601" sldId="2076138135"/>
            <ac:spMk id="3" creationId="{6ABF2ECB-C45D-CFDD-1574-591CA3789186}"/>
          </ac:spMkLst>
        </pc:spChg>
      </pc:sldChg>
      <pc:sldChg chg="addSp delSp modSp add">
        <pc:chgData name="Matheus Pereira da Cruz Gomes Lourenço" userId="S::matheus.lourenco_vib.be#ext#@ugentbe.onmicrosoft.com::ae6d5a95-b5a1-4d9c-8838-34e6fca5965f" providerId="AD" clId="Web-{C2C5673C-8CD8-B291-BCFF-4B62EA88C99E}" dt="2025-10-15T09:38:05.226" v="34"/>
        <pc:sldMkLst>
          <pc:docMk/>
          <pc:sldMk cId="1561601509" sldId="2076138136"/>
        </pc:sldMkLst>
        <pc:spChg chg="add mod">
          <ac:chgData name="Matheus Pereira da Cruz Gomes Lourenço" userId="S::matheus.lourenco_vib.be#ext#@ugentbe.onmicrosoft.com::ae6d5a95-b5a1-4d9c-8838-34e6fca5965f" providerId="AD" clId="Web-{C2C5673C-8CD8-B291-BCFF-4B62EA88C99E}" dt="2025-10-15T09:37:29.804" v="24"/>
          <ac:spMkLst>
            <pc:docMk/>
            <pc:sldMk cId="1561601509" sldId="2076138136"/>
            <ac:spMk id="3" creationId="{5A8F24D4-8A45-3E49-C438-13634EFEBF93}"/>
          </ac:spMkLst>
        </pc:spChg>
        <pc:spChg chg="add mod">
          <ac:chgData name="Matheus Pereira da Cruz Gomes Lourenço" userId="S::matheus.lourenco_vib.be#ext#@ugentbe.onmicrosoft.com::ae6d5a95-b5a1-4d9c-8838-34e6fca5965f" providerId="AD" clId="Web-{C2C5673C-8CD8-B291-BCFF-4B62EA88C99E}" dt="2025-10-15T09:37:36.367" v="27" actId="1076"/>
          <ac:spMkLst>
            <pc:docMk/>
            <pc:sldMk cId="1561601509" sldId="2076138136"/>
            <ac:spMk id="4" creationId="{30E302D5-6E8C-C277-C0EA-E58EA8868A57}"/>
          </ac:spMkLst>
        </pc:spChg>
        <pc:spChg chg="add mod">
          <ac:chgData name="Matheus Pereira da Cruz Gomes Lourenço" userId="S::matheus.lourenco_vib.be#ext#@ugentbe.onmicrosoft.com::ae6d5a95-b5a1-4d9c-8838-34e6fca5965f" providerId="AD" clId="Web-{C2C5673C-8CD8-B291-BCFF-4B62EA88C99E}" dt="2025-10-15T09:37:40.961" v="29" actId="1076"/>
          <ac:spMkLst>
            <pc:docMk/>
            <pc:sldMk cId="1561601509" sldId="2076138136"/>
            <ac:spMk id="5" creationId="{47558CB8-59B1-1F05-F883-980B0C1A2284}"/>
          </ac:spMkLst>
        </pc:spChg>
        <pc:spChg chg="add mod">
          <ac:chgData name="Matheus Pereira da Cruz Gomes Lourenço" userId="S::matheus.lourenco_vib.be#ext#@ugentbe.onmicrosoft.com::ae6d5a95-b5a1-4d9c-8838-34e6fca5965f" providerId="AD" clId="Web-{C2C5673C-8CD8-B291-BCFF-4B62EA88C99E}" dt="2025-10-15T09:37:57.086" v="31" actId="1076"/>
          <ac:spMkLst>
            <pc:docMk/>
            <pc:sldMk cId="1561601509" sldId="2076138136"/>
            <ac:spMk id="6" creationId="{2EF6952E-3878-1A83-23D8-FD9A8F906A65}"/>
          </ac:spMkLst>
        </pc:spChg>
      </pc:sldChg>
      <pc:sldMasterChg chg="modSldLayout">
        <pc:chgData name="Matheus Pereira da Cruz Gomes Lourenço" userId="S::matheus.lourenco_vib.be#ext#@ugentbe.onmicrosoft.com::ae6d5a95-b5a1-4d9c-8838-34e6fca5965f" providerId="AD" clId="Web-{C2C5673C-8CD8-B291-BCFF-4B62EA88C99E}" dt="2025-10-15T09:35:12.693" v="20"/>
        <pc:sldMasterMkLst>
          <pc:docMk/>
          <pc:sldMasterMk cId="3770589907" sldId="2147483660"/>
        </pc:sldMasterMkLst>
        <pc:sldLayoutChg chg="replId">
          <pc:chgData name="Matheus Pereira da Cruz Gomes Lourenço" userId="S::matheus.lourenco_vib.be#ext#@ugentbe.onmicrosoft.com::ae6d5a95-b5a1-4d9c-8838-34e6fca5965f" providerId="AD" clId="Web-{C2C5673C-8CD8-B291-BCFF-4B62EA88C99E}" dt="2025-10-15T09:35:12.693" v="20"/>
          <pc:sldLayoutMkLst>
            <pc:docMk/>
            <pc:sldMasterMk cId="3770589907" sldId="2147483660"/>
            <pc:sldLayoutMk cId="374516312" sldId="2147483937"/>
          </pc:sldLayoutMkLst>
        </pc:sldLayoutChg>
        <pc:sldLayoutChg chg="replId">
          <pc:chgData name="Matheus Pereira da Cruz Gomes Lourenço" userId="S::matheus.lourenco_vib.be#ext#@ugentbe.onmicrosoft.com::ae6d5a95-b5a1-4d9c-8838-34e6fca5965f" providerId="AD" clId="Web-{C2C5673C-8CD8-B291-BCFF-4B62EA88C99E}" dt="2025-10-15T09:35:12.693" v="20"/>
          <pc:sldLayoutMkLst>
            <pc:docMk/>
            <pc:sldMasterMk cId="3770589907" sldId="2147483660"/>
            <pc:sldLayoutMk cId="1091436526" sldId="2147483938"/>
          </pc:sldLayoutMkLst>
        </pc:sldLayoutChg>
        <pc:sldLayoutChg chg="replId">
          <pc:chgData name="Matheus Pereira da Cruz Gomes Lourenço" userId="S::matheus.lourenco_vib.be#ext#@ugentbe.onmicrosoft.com::ae6d5a95-b5a1-4d9c-8838-34e6fca5965f" providerId="AD" clId="Web-{C2C5673C-8CD8-B291-BCFF-4B62EA88C99E}" dt="2025-10-15T09:35:12.693" v="20"/>
          <pc:sldLayoutMkLst>
            <pc:docMk/>
            <pc:sldMasterMk cId="3770589907" sldId="2147483660"/>
            <pc:sldLayoutMk cId="1294732605" sldId="2147483939"/>
          </pc:sldLayoutMkLst>
        </pc:sldLayoutChg>
      </pc:sldMasterChg>
      <pc:sldMasterChg chg="add addSldLayout">
        <pc:chgData name="Matheus Pereira da Cruz Gomes Lourenço" userId="S::matheus.lourenco_vib.be#ext#@ugentbe.onmicrosoft.com::ae6d5a95-b5a1-4d9c-8838-34e6fca5965f" providerId="AD" clId="Web-{C2C5673C-8CD8-B291-BCFF-4B62EA88C99E}" dt="2025-10-15T09:35:12.693" v="20"/>
        <pc:sldMasterMkLst>
          <pc:docMk/>
          <pc:sldMasterMk cId="4106062483" sldId="2147483664"/>
        </pc:sldMasterMkLst>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2046043678" sldId="2147483665"/>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39799675" sldId="2147483666"/>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2197661561" sldId="2147483667"/>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701498002" sldId="2147483668"/>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282855389" sldId="2147483669"/>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4011528806" sldId="2147483670"/>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4027345003" sldId="2147483671"/>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971326064" sldId="2147483672"/>
          </pc:sldLayoutMkLst>
        </pc:sldLayoutChg>
        <pc:sldLayoutChg chg="add">
          <pc:chgData name="Matheus Pereira da Cruz Gomes Lourenço" userId="S::matheus.lourenco_vib.be#ext#@ugentbe.onmicrosoft.com::ae6d5a95-b5a1-4d9c-8838-34e6fca5965f" providerId="AD" clId="Web-{C2C5673C-8CD8-B291-BCFF-4B62EA88C99E}" dt="2025-10-15T09:35:12.693" v="20"/>
          <pc:sldLayoutMkLst>
            <pc:docMk/>
            <pc:sldMasterMk cId="4106062483" sldId="2147483664"/>
            <pc:sldLayoutMk cId="3189485916" sldId="2147483673"/>
          </pc:sldLayoutMkLst>
        </pc:sldLayoutChg>
      </pc:sldMasterChg>
      <pc:sldMasterChg chg="add addSldLayout">
        <pc:chgData name="Matheus Pereira da Cruz Gomes Lourenço" userId="S::matheus.lourenco_vib.be#ext#@ugentbe.onmicrosoft.com::ae6d5a95-b5a1-4d9c-8838-34e6fca5965f" providerId="AD" clId="Web-{C2C5673C-8CD8-B291-BCFF-4B62EA88C99E}" dt="2025-10-15T09:26:54.773" v="1"/>
        <pc:sldMasterMkLst>
          <pc:docMk/>
          <pc:sldMasterMk cId="4197357928" sldId="2147483752"/>
        </pc:sldMasterMkLst>
        <pc:sldLayoutChg chg="add">
          <pc:chgData name="Matheus Pereira da Cruz Gomes Lourenço" userId="S::matheus.lourenco_vib.be#ext#@ugentbe.onmicrosoft.com::ae6d5a95-b5a1-4d9c-8838-34e6fca5965f" providerId="AD" clId="Web-{C2C5673C-8CD8-B291-BCFF-4B62EA88C99E}" dt="2025-10-15T09:26:54.773" v="1"/>
          <pc:sldLayoutMkLst>
            <pc:docMk/>
            <pc:sldMasterMk cId="4197357928" sldId="2147483752"/>
            <pc:sldLayoutMk cId="3848592662" sldId="2147483875"/>
          </pc:sldLayoutMkLst>
        </pc:sldLayoutChg>
        <pc:sldLayoutChg chg="add">
          <pc:chgData name="Matheus Pereira da Cruz Gomes Lourenço" userId="S::matheus.lourenco_vib.be#ext#@ugentbe.onmicrosoft.com::ae6d5a95-b5a1-4d9c-8838-34e6fca5965f" providerId="AD" clId="Web-{C2C5673C-8CD8-B291-BCFF-4B62EA88C99E}" dt="2025-10-15T09:26:54.773" v="1"/>
          <pc:sldLayoutMkLst>
            <pc:docMk/>
            <pc:sldMasterMk cId="4197357928" sldId="2147483752"/>
            <pc:sldLayoutMk cId="1695183326" sldId="2147483876"/>
          </pc:sldLayoutMkLst>
        </pc:sldLayoutChg>
        <pc:sldLayoutChg chg="add">
          <pc:chgData name="Matheus Pereira da Cruz Gomes Lourenço" userId="S::matheus.lourenco_vib.be#ext#@ugentbe.onmicrosoft.com::ae6d5a95-b5a1-4d9c-8838-34e6fca5965f" providerId="AD" clId="Web-{C2C5673C-8CD8-B291-BCFF-4B62EA88C99E}" dt="2025-10-15T09:26:54.773" v="1"/>
          <pc:sldLayoutMkLst>
            <pc:docMk/>
            <pc:sldMasterMk cId="4197357928" sldId="2147483752"/>
            <pc:sldLayoutMk cId="716148673" sldId="2147483902"/>
          </pc:sldLayoutMkLst>
        </pc:sldLayoutChg>
        <pc:sldLayoutChg chg="add">
          <pc:chgData name="Matheus Pereira da Cruz Gomes Lourenço" userId="S::matheus.lourenco_vib.be#ext#@ugentbe.onmicrosoft.com::ae6d5a95-b5a1-4d9c-8838-34e6fca5965f" providerId="AD" clId="Web-{C2C5673C-8CD8-B291-BCFF-4B62EA88C99E}" dt="2025-10-15T09:26:54.773" v="1"/>
          <pc:sldLayoutMkLst>
            <pc:docMk/>
            <pc:sldMasterMk cId="4197357928" sldId="2147483752"/>
            <pc:sldLayoutMk cId="1495691012" sldId="2147483903"/>
          </pc:sldLayoutMkLst>
        </pc:sldLayoutChg>
        <pc:sldLayoutChg chg="add">
          <pc:chgData name="Matheus Pereira da Cruz Gomes Lourenço" userId="S::matheus.lourenco_vib.be#ext#@ugentbe.onmicrosoft.com::ae6d5a95-b5a1-4d9c-8838-34e6fca5965f" providerId="AD" clId="Web-{C2C5673C-8CD8-B291-BCFF-4B62EA88C99E}" dt="2025-10-15T09:26:54.773" v="1"/>
          <pc:sldLayoutMkLst>
            <pc:docMk/>
            <pc:sldMasterMk cId="4197357928" sldId="2147483752"/>
            <pc:sldLayoutMk cId="3128712156" sldId="2147483906"/>
          </pc:sldLayoutMkLst>
        </pc:sldLayoutChg>
        <pc:sldLayoutChg chg="add">
          <pc:chgData name="Matheus Pereira da Cruz Gomes Lourenço" userId="S::matheus.lourenco_vib.be#ext#@ugentbe.onmicrosoft.com::ae6d5a95-b5a1-4d9c-8838-34e6fca5965f" providerId="AD" clId="Web-{C2C5673C-8CD8-B291-BCFF-4B62EA88C99E}" dt="2025-10-15T09:26:54.773" v="1"/>
          <pc:sldLayoutMkLst>
            <pc:docMk/>
            <pc:sldMasterMk cId="4197357928" sldId="2147483752"/>
            <pc:sldLayoutMk cId="2731753311" sldId="2147483936"/>
          </pc:sldLayoutMkLst>
        </pc:sldLayoutChg>
      </pc:sldMasterChg>
      <pc:sldMasterChg chg="add addSldLayout">
        <pc:chgData name="Matheus Pereira da Cruz Gomes Lourenço" userId="S::matheus.lourenco_vib.be#ext#@ugentbe.onmicrosoft.com::ae6d5a95-b5a1-4d9c-8838-34e6fca5965f" providerId="AD" clId="Web-{C2C5673C-8CD8-B291-BCFF-4B62EA88C99E}" dt="2025-10-15T09:26:54.601" v="0"/>
        <pc:sldMasterMkLst>
          <pc:docMk/>
          <pc:sldMasterMk cId="3017676531" sldId="2147483890"/>
        </pc:sldMasterMkLst>
        <pc:sldLayoutChg chg="add">
          <pc:chgData name="Matheus Pereira da Cruz Gomes Lourenço" userId="S::matheus.lourenco_vib.be#ext#@ugentbe.onmicrosoft.com::ae6d5a95-b5a1-4d9c-8838-34e6fca5965f" providerId="AD" clId="Web-{C2C5673C-8CD8-B291-BCFF-4B62EA88C99E}" dt="2025-10-15T09:26:54.601" v="0"/>
          <pc:sldLayoutMkLst>
            <pc:docMk/>
            <pc:sldMasterMk cId="3017676531" sldId="2147483890"/>
            <pc:sldLayoutMk cId="3072628721" sldId="2147483900"/>
          </pc:sldLayoutMkLst>
        </pc:sldLayoutChg>
        <pc:sldLayoutChg chg="add">
          <pc:chgData name="Matheus Pereira da Cruz Gomes Lourenço" userId="S::matheus.lourenco_vib.be#ext#@ugentbe.onmicrosoft.com::ae6d5a95-b5a1-4d9c-8838-34e6fca5965f" providerId="AD" clId="Web-{C2C5673C-8CD8-B291-BCFF-4B62EA88C99E}" dt="2025-10-15T09:26:54.601" v="0"/>
          <pc:sldLayoutMkLst>
            <pc:docMk/>
            <pc:sldMasterMk cId="3017676531" sldId="2147483890"/>
            <pc:sldLayoutMk cId="805354701" sldId="2147483901"/>
          </pc:sldLayoutMkLst>
        </pc:sldLayoutChg>
        <pc:sldLayoutChg chg="add">
          <pc:chgData name="Matheus Pereira da Cruz Gomes Lourenço" userId="S::matheus.lourenco_vib.be#ext#@ugentbe.onmicrosoft.com::ae6d5a95-b5a1-4d9c-8838-34e6fca5965f" providerId="AD" clId="Web-{C2C5673C-8CD8-B291-BCFF-4B62EA88C99E}" dt="2025-10-15T09:26:54.601" v="0"/>
          <pc:sldLayoutMkLst>
            <pc:docMk/>
            <pc:sldMasterMk cId="3017676531" sldId="2147483890"/>
            <pc:sldLayoutMk cId="3473097743" sldId="2147483904"/>
          </pc:sldLayoutMkLst>
        </pc:sldLayoutChg>
        <pc:sldLayoutChg chg="add">
          <pc:chgData name="Matheus Pereira da Cruz Gomes Lourenço" userId="S::matheus.lourenco_vib.be#ext#@ugentbe.onmicrosoft.com::ae6d5a95-b5a1-4d9c-8838-34e6fca5965f" providerId="AD" clId="Web-{C2C5673C-8CD8-B291-BCFF-4B62EA88C99E}" dt="2025-10-15T09:26:54.601" v="0"/>
          <pc:sldLayoutMkLst>
            <pc:docMk/>
            <pc:sldMasterMk cId="3017676531" sldId="2147483890"/>
            <pc:sldLayoutMk cId="1071685008" sldId="2147483905"/>
          </pc:sldLayoutMkLst>
        </pc:sldLayoutChg>
        <pc:sldLayoutChg chg="add">
          <pc:chgData name="Matheus Pereira da Cruz Gomes Lourenço" userId="S::matheus.lourenco_vib.be#ext#@ugentbe.onmicrosoft.com::ae6d5a95-b5a1-4d9c-8838-34e6fca5965f" providerId="AD" clId="Web-{C2C5673C-8CD8-B291-BCFF-4B62EA88C99E}" dt="2025-10-15T09:26:54.601" v="0"/>
          <pc:sldLayoutMkLst>
            <pc:docMk/>
            <pc:sldMasterMk cId="3017676531" sldId="2147483890"/>
            <pc:sldLayoutMk cId="3370415863" sldId="2147483907"/>
          </pc:sldLayoutMkLst>
        </pc:sldLayoutChg>
      </pc:sldMasterChg>
    </pc:docChg>
  </pc:docChgLst>
</pc:chgInfo>
</file>

<file path=ppt/comments/modernComment_3D5_48342EAE.xml><?xml version="1.0" encoding="utf-8"?>
<p188:cmLst xmlns:a="http://schemas.openxmlformats.org/drawingml/2006/main" xmlns:r="http://schemas.openxmlformats.org/officeDocument/2006/relationships" xmlns:p188="http://schemas.microsoft.com/office/powerpoint/2018/8/main">
  <p188:cm id="{B31C5038-14EC-4120-BDC4-F8431AF99FF0}" authorId="{58311BA8-933E-02E3-D02C-66D699C11360}" created="2025-09-26T10:52:07.948">
    <pc:sldMkLst xmlns:pc="http://schemas.microsoft.com/office/powerpoint/2013/main/command">
      <pc:docMk/>
      <pc:sldMk cId="1211379374" sldId="981"/>
    </pc:sldMkLst>
    <p188:txBody>
      <a:bodyPr/>
      <a:lstStyle/>
      <a:p>
        <a:r>
          <a:rPr lang="en-BE"/>
          <a:t>Will instead show the ELN platform from VIB and link to the upcoming trainings.</a:t>
        </a:r>
      </a:p>
    </p188:txBody>
  </p188:cm>
</p188:cmLst>
</file>

<file path=ppt/comments/modernComment_4F7_93E9E88C.xml><?xml version="1.0" encoding="utf-8"?>
<p188:cmLst xmlns:a="http://schemas.openxmlformats.org/drawingml/2006/main" xmlns:r="http://schemas.openxmlformats.org/officeDocument/2006/relationships" xmlns:p188="http://schemas.microsoft.com/office/powerpoint/2018/8/main">
  <p188:cm id="{9D1F549D-24EA-418C-A727-8A94E66A125C}" authorId="{58311BA8-933E-02E3-D02C-66D699C11360}" created="2025-09-26T10:59:44.250">
    <pc:sldMkLst xmlns:pc="http://schemas.microsoft.com/office/powerpoint/2013/main/command">
      <pc:docMk/>
      <pc:sldMk cId="2481580172" sldId="1271"/>
    </pc:sldMkLst>
    <p188:replyLst>
      <p188:reply id="{50FC7688-9452-47EB-A953-9B90B4F83CBA}" authorId="{FBE647A1-DFDB-FA82-3F01-2F90D0389F67}" created="2025-09-29T11:58:24.322">
        <p188:txBody>
          <a:bodyPr/>
          <a:lstStyle/>
          <a:p>
            <a:r>
              <a:rPr lang="en-GB"/>
              <a:t>It might depend on the audience? Were there many UGent researchers registered; or mainly Flemish or even international?</a:t>
            </a:r>
          </a:p>
        </p188:txBody>
      </p188:reply>
    </p188:replyLst>
    <p188:txBody>
      <a:bodyPr/>
      <a:lstStyle/>
      <a:p>
        <a:r>
          <a:rPr lang="en-BE"/>
          <a:t>If I remember this right, this last part is quite important for Ugent Library and the tracking of KPIs. So it must stay, right?</a:t>
        </a:r>
      </a:p>
    </p188:txBody>
  </p188:cm>
</p188:cmLst>
</file>

<file path=ppt/comments/modernComment_7BBF5A96_90C0A31F.xml><?xml version="1.0" encoding="utf-8"?>
<p188:cmLst xmlns:a="http://schemas.openxmlformats.org/drawingml/2006/main" xmlns:r="http://schemas.openxmlformats.org/officeDocument/2006/relationships" xmlns:p188="http://schemas.microsoft.com/office/powerpoint/2018/8/main">
  <p188:cm id="{3154678E-31BD-41B6-9FDD-FDFCE37481B8}" authorId="{74D86320-BC27-A3DF-8CE0-E1433B891016}" status="resolved" created="2025-10-15T09:36:16.491" complete="100000">
    <pc:sldMkLst xmlns:pc="http://schemas.microsoft.com/office/powerpoint/2013/main/command">
      <pc:docMk/>
      <pc:sldMk cId="2428543775" sldId="2076138134"/>
    </pc:sldMkLst>
    <p188:txBody>
      <a:bodyPr/>
      <a:lstStyle/>
      <a:p>
        <a:r>
          <a:rPr lang="en-US"/>
          <a:t>For these 3 slides I would only need a couple of mins to highlight what they need to know: platform exists for VIB staff, it has 3 modules, and it is a robust documentation platform.</a:t>
        </a:r>
      </a:p>
    </p188:txBody>
  </p188:cm>
</p188:cmLst>
</file>

<file path=ppt/comments/modernComment_436_67CE77E1.xml><?xml version="1.0" encoding="utf-8"?>
<p188:cmLst xmlns:a="http://schemas.openxmlformats.org/drawingml/2006/main" xmlns:r="http://schemas.openxmlformats.org/officeDocument/2006/relationships" xmlns:p188="http://schemas.microsoft.com/office/powerpoint/2018/8/main">
  <p188:cm id="{925693D2-14B3-49EB-9AF4-4B5BBF1EC9C5}" authorId="{58311BA8-933E-02E3-D02C-66D699C11360}" created="2025-09-26T11:02:08.232">
    <pc:sldMkLst xmlns:pc="http://schemas.microsoft.com/office/powerpoint/2013/main/command">
      <pc:docMk/>
      <pc:sldMk cId="1741584353" sldId="1078"/>
    </pc:sldMkLst>
    <p188:txBody>
      <a:bodyPr/>
      <a:lstStyle/>
      <a:p>
        <a:r>
          <a:rPr lang="en-BE"/>
          <a:t>I am sure you know it, but we also have an IKEA vs BOL exercise that maybe illustrates the same point (if we would have the time).</a:t>
        </a:r>
      </a:p>
    </p188:txBody>
  </p188:cm>
</p188:cmLst>
</file>

<file path=ppt/comments/modernComment_511_E671BF61.xml><?xml version="1.0" encoding="utf-8"?>
<p188:cmLst xmlns:a="http://schemas.openxmlformats.org/drawingml/2006/main" xmlns:r="http://schemas.openxmlformats.org/officeDocument/2006/relationships" xmlns:p188="http://schemas.microsoft.com/office/powerpoint/2018/8/main">
  <p188:cm id="{8D8BB689-EF3A-4F45-A6EA-4D092E3F8770}" authorId="{58311BA8-933E-02E3-D02C-66D699C11360}" status="resolved" created="2025-09-26T10:56:47.750" complete="100000">
    <pc:sldMkLst xmlns:pc="http://schemas.microsoft.com/office/powerpoint/2013/main/command">
      <pc:docMk/>
      <pc:sldMk cId="3866214241" sldId="1297"/>
    </pc:sldMkLst>
    <p188:txBody>
      <a:bodyPr/>
      <a:lstStyle/>
      <a:p>
        <a:r>
          <a:rPr lang="en-BE"/>
          <a:t>If you mention it here I can skip it during the repository session (of vice versa).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80C0C-85DF-417F-8238-DB0D15743621}" type="datetimeFigureOut">
              <a:rPr lang="en-GB" smtClean="0"/>
              <a:t>17/10/2025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A0A48-EDB1-4AFE-B1B7-10CE2A416496}" type="slidenum">
              <a:rPr lang="en-GB" smtClean="0"/>
              <a:t>‹#›</a:t>
            </a:fld>
            <a:endParaRPr lang="en-GB"/>
          </a:p>
        </p:txBody>
      </p:sp>
    </p:spTree>
    <p:extLst>
      <p:ext uri="{BB962C8B-B14F-4D97-AF65-F5344CB8AC3E}">
        <p14:creationId xmlns:p14="http://schemas.microsoft.com/office/powerpoint/2010/main" val="326201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49E20-84A3-2FB9-CAF2-15568B6F8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4CC64-94C9-DEDE-01B0-688CE40CB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52FC1-44D1-C4BB-7389-4B37D6918E52}"/>
              </a:ext>
            </a:extLst>
          </p:cNvPr>
          <p:cNvSpPr>
            <a:spLocks noGrp="1"/>
          </p:cNvSpPr>
          <p:nvPr>
            <p:ph type="body" idx="1"/>
          </p:nvPr>
        </p:nvSpPr>
        <p:spPr/>
        <p:txBody>
          <a:bodyPr/>
          <a:lstStyle/>
          <a:p>
            <a:r>
              <a:rPr lang="en-US"/>
              <a:t>Key message: the platform is successful and widely used (social opportunity)</a:t>
            </a:r>
          </a:p>
          <a:p>
            <a:r>
              <a:rPr lang="en-US"/>
              <a:t>Secondary message: the platform may be called by different names due to mergers and partnerships.</a:t>
            </a:r>
            <a:br>
              <a:rPr lang="en-US"/>
            </a:br>
            <a:r>
              <a:rPr lang="en-US"/>
              <a:t>Voiceover: The </a:t>
            </a:r>
            <a:r>
              <a:rPr lang="en-US" err="1"/>
              <a:t>eLabNext</a:t>
            </a:r>
            <a:r>
              <a:rPr lang="en-US"/>
              <a:t> is a dedicated platform for scientists by scientists. It is used by some of the largest and most prominent institutions (Sanofi, NIH, Memorial Sloan Kettering, HP, CDC, BMS, </a:t>
            </a:r>
            <a:r>
              <a:rPr lang="en-US" err="1"/>
              <a:t>etc</a:t>
            </a:r>
            <a:r>
              <a:rPr lang="en-US"/>
              <a:t>).</a:t>
            </a:r>
            <a:endParaRPr lang="en-BE"/>
          </a:p>
        </p:txBody>
      </p:sp>
      <p:sp>
        <p:nvSpPr>
          <p:cNvPr id="4" name="Slide Number Placeholder 3">
            <a:extLst>
              <a:ext uri="{FF2B5EF4-FFF2-40B4-BE49-F238E27FC236}">
                <a16:creationId xmlns:a16="http://schemas.microsoft.com/office/drawing/2014/main" id="{08BE5AED-3D24-13D6-2AE8-5093A283E54D}"/>
              </a:ext>
            </a:extLst>
          </p:cNvPr>
          <p:cNvSpPr>
            <a:spLocks noGrp="1"/>
          </p:cNvSpPr>
          <p:nvPr>
            <p:ph type="sldNum" sz="quarter" idx="5"/>
          </p:nvPr>
        </p:nvSpPr>
        <p:spPr/>
        <p:txBody>
          <a:bodyPr/>
          <a:lstStyle/>
          <a:p>
            <a:fld id="{A24728FA-C277-644A-B7A0-E50FFC1951C0}" type="slidenum">
              <a:rPr lang="en-BE" smtClean="0"/>
              <a:t>6</a:t>
            </a:fld>
            <a:endParaRPr lang="en-BE"/>
          </a:p>
        </p:txBody>
      </p:sp>
    </p:spTree>
    <p:extLst>
      <p:ext uri="{BB962C8B-B14F-4D97-AF65-F5344CB8AC3E}">
        <p14:creationId xmlns:p14="http://schemas.microsoft.com/office/powerpoint/2010/main" val="2347670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Ghent University has recently purchased </a:t>
            </a:r>
            <a:r>
              <a:rPr lang="en-GB" err="1"/>
              <a:t>Rspace</a:t>
            </a:r>
            <a:r>
              <a:rPr lang="en-GB"/>
              <a:t> to be centrally offered to researchers. </a:t>
            </a:r>
            <a:r>
              <a:rPr lang="en-GB" err="1"/>
              <a:t>Rspace</a:t>
            </a:r>
            <a:r>
              <a:rPr lang="en-GB"/>
              <a:t> is an electronic laboratory notebook (ELN), which has multiple advantages: </a:t>
            </a:r>
          </a:p>
          <a:p>
            <a:pPr marL="171450" indent="-171450">
              <a:buFont typeface="Arial" panose="020B0604020202020204" pitchFamily="34" charset="0"/>
              <a:buChar char="•"/>
            </a:pPr>
            <a:r>
              <a:rPr lang="en-GB" b="0" i="0" err="1">
                <a:solidFill>
                  <a:srgbClr val="0D0D0D"/>
                </a:solidFill>
                <a:effectLst/>
                <a:highlight>
                  <a:srgbClr val="FFFFFF"/>
                </a:highlight>
                <a:latin typeface="Söhne"/>
              </a:rPr>
              <a:t>RSpace</a:t>
            </a:r>
            <a:r>
              <a:rPr lang="en-GB" b="0" i="0">
                <a:solidFill>
                  <a:srgbClr val="0D0D0D"/>
                </a:solidFill>
                <a:effectLst/>
                <a:highlight>
                  <a:srgbClr val="FFFFFF"/>
                </a:highlight>
                <a:latin typeface="Söhne"/>
              </a:rPr>
              <a:t> offers flexibility in note-taking, but keeping notes organized in a structured and searchable way.</a:t>
            </a:r>
          </a:p>
          <a:p>
            <a:pPr marL="171450" indent="-171450">
              <a:buFont typeface="Arial" panose="020B0604020202020204" pitchFamily="34" charset="0"/>
              <a:buChar char="•"/>
            </a:pPr>
            <a:r>
              <a:rPr lang="en-GB" b="0" i="0">
                <a:solidFill>
                  <a:srgbClr val="0D0D0D"/>
                </a:solidFill>
                <a:effectLst/>
                <a:highlight>
                  <a:srgbClr val="FFFFFF"/>
                </a:highlight>
                <a:latin typeface="Söhne"/>
              </a:rPr>
              <a:t>It is designed to accommodate for different disciplines</a:t>
            </a:r>
          </a:p>
          <a:p>
            <a:pPr marL="171450" indent="-171450">
              <a:buFont typeface="Arial" panose="020B0604020202020204" pitchFamily="34" charset="0"/>
              <a:buChar char="•"/>
            </a:pPr>
            <a:r>
              <a:rPr lang="en-GB" b="0" i="0" err="1">
                <a:solidFill>
                  <a:srgbClr val="0D0D0D"/>
                </a:solidFill>
                <a:effectLst/>
                <a:highlight>
                  <a:srgbClr val="FFFFFF"/>
                </a:highlight>
                <a:latin typeface="Söhne"/>
              </a:rPr>
              <a:t>RSpace</a:t>
            </a:r>
            <a:r>
              <a:rPr lang="en-GB" b="0" i="0">
                <a:solidFill>
                  <a:srgbClr val="0D0D0D"/>
                </a:solidFill>
                <a:effectLst/>
                <a:highlight>
                  <a:srgbClr val="FFFFFF"/>
                </a:highlight>
                <a:latin typeface="Söhne"/>
              </a:rPr>
              <a:t> offers integrated inventory management functionality.</a:t>
            </a:r>
          </a:p>
          <a:p>
            <a:pPr marL="171450" indent="-171450">
              <a:buFont typeface="Arial" panose="020B0604020202020204" pitchFamily="34" charset="0"/>
              <a:buChar char="•"/>
            </a:pPr>
            <a:endParaRPr lang="en-GB" b="0" i="0">
              <a:solidFill>
                <a:srgbClr val="0D0D0D"/>
              </a:solidFill>
              <a:effectLst/>
              <a:highlight>
                <a:srgbClr val="FFFFFF"/>
              </a:highlight>
              <a:latin typeface="Söhne"/>
            </a:endParaRPr>
          </a:p>
          <a:p>
            <a:pPr algn="l">
              <a:buFont typeface="Arial" panose="020B0604020202020204" pitchFamily="34" charset="0"/>
              <a:buNone/>
            </a:pPr>
            <a:r>
              <a:rPr lang="en-GB" b="0" i="0">
                <a:solidFill>
                  <a:srgbClr val="0D0D0D"/>
                </a:solidFill>
                <a:effectLst/>
                <a:highlight>
                  <a:srgbClr val="FFFFFF"/>
                </a:highlight>
                <a:latin typeface="Söhne"/>
              </a:rPr>
              <a:t>Ghent University's setup of </a:t>
            </a:r>
            <a:r>
              <a:rPr lang="en-GB" b="0" i="0" err="1">
                <a:solidFill>
                  <a:srgbClr val="0D0D0D"/>
                </a:solidFill>
                <a:effectLst/>
                <a:highlight>
                  <a:srgbClr val="FFFFFF"/>
                </a:highlight>
                <a:latin typeface="Söhne"/>
              </a:rPr>
              <a:t>Rspace</a:t>
            </a:r>
            <a:r>
              <a:rPr lang="en-GB" b="0" i="0">
                <a:solidFill>
                  <a:srgbClr val="0D0D0D"/>
                </a:solidFill>
                <a:effectLst/>
                <a:highlight>
                  <a:srgbClr val="FFFFFF"/>
                </a:highlight>
                <a:latin typeface="Söhne"/>
              </a:rPr>
              <a:t>, some advantages:</a:t>
            </a:r>
          </a:p>
          <a:p>
            <a:pPr marL="171450" indent="-171450" algn="l">
              <a:buFont typeface="Arial" panose="020B0604020202020204" pitchFamily="34" charset="0"/>
              <a:buChar char="•"/>
            </a:pPr>
            <a:r>
              <a:rPr lang="en-GB" b="0" i="0" err="1">
                <a:solidFill>
                  <a:srgbClr val="0D0D0D"/>
                </a:solidFill>
                <a:effectLst/>
                <a:highlight>
                  <a:srgbClr val="FFFFFF"/>
                </a:highlight>
                <a:latin typeface="Söhne"/>
              </a:rPr>
              <a:t>RSpace</a:t>
            </a:r>
            <a:r>
              <a:rPr lang="en-GB" b="0" i="0">
                <a:solidFill>
                  <a:srgbClr val="0D0D0D"/>
                </a:solidFill>
                <a:effectLst/>
                <a:highlight>
                  <a:srgbClr val="FFFFFF"/>
                </a:highlight>
                <a:latin typeface="Söhne"/>
              </a:rPr>
              <a:t> will be </a:t>
            </a:r>
            <a:r>
              <a:rPr lang="en-GB">
                <a:solidFill>
                  <a:srgbClr val="0D0D0D"/>
                </a:solidFill>
                <a:highlight>
                  <a:srgbClr val="FFFFFF"/>
                </a:highlight>
                <a:latin typeface="Söhne"/>
              </a:rPr>
              <a:t>accessible</a:t>
            </a:r>
            <a:r>
              <a:rPr lang="en-GB" b="0" i="0">
                <a:solidFill>
                  <a:srgbClr val="0D0D0D"/>
                </a:solidFill>
                <a:effectLst/>
                <a:highlight>
                  <a:srgbClr val="FFFFFF"/>
                </a:highlight>
                <a:latin typeface="Söhne"/>
              </a:rPr>
              <a:t> from anywhere via a web browser (lab, office, or home).</a:t>
            </a:r>
          </a:p>
          <a:p>
            <a:pPr marL="171450" indent="-171450" algn="l">
              <a:buFont typeface="Arial" panose="020B0604020202020204" pitchFamily="34" charset="0"/>
              <a:buChar char="•"/>
            </a:pPr>
            <a:r>
              <a:rPr lang="en-GB" b="0" i="0">
                <a:solidFill>
                  <a:srgbClr val="0D0D0D"/>
                </a:solidFill>
                <a:effectLst/>
                <a:highlight>
                  <a:srgbClr val="FFFFFF"/>
                </a:highlight>
                <a:latin typeface="Söhne"/>
              </a:rPr>
              <a:t>Integration with the university's authentication system (no new credentials/account needed)</a:t>
            </a:r>
          </a:p>
          <a:p>
            <a:pPr marL="171450" indent="-171450" algn="l">
              <a:buFont typeface="Arial" panose="020B0604020202020204" pitchFamily="34" charset="0"/>
              <a:buChar char="•"/>
            </a:pPr>
            <a:r>
              <a:rPr lang="en-GB" b="0" i="0">
                <a:solidFill>
                  <a:srgbClr val="0D0D0D"/>
                </a:solidFill>
                <a:effectLst/>
                <a:highlight>
                  <a:srgbClr val="FFFFFF"/>
                </a:highlight>
                <a:latin typeface="Söhne"/>
              </a:rPr>
              <a:t>There is no direct cost for researchers to use </a:t>
            </a:r>
            <a:r>
              <a:rPr lang="en-GB" b="0" i="0" err="1">
                <a:solidFill>
                  <a:srgbClr val="0D0D0D"/>
                </a:solidFill>
                <a:effectLst/>
                <a:highlight>
                  <a:srgbClr val="FFFFFF"/>
                </a:highlight>
                <a:latin typeface="Söhne"/>
              </a:rPr>
              <a:t>RSpace</a:t>
            </a:r>
            <a:endParaRPr lang="en-GB" b="0" i="0">
              <a:solidFill>
                <a:srgbClr val="0D0D0D"/>
              </a:solidFill>
              <a:effectLst/>
              <a:highlight>
                <a:srgbClr val="FFFFFF"/>
              </a:highlight>
              <a:latin typeface="Söhne"/>
            </a:endParaRPr>
          </a:p>
          <a:p>
            <a:pPr marL="171450" indent="-171450" algn="l">
              <a:buFont typeface="Arial" panose="020B0604020202020204" pitchFamily="34" charset="0"/>
              <a:buChar char="•"/>
            </a:pPr>
            <a:r>
              <a:rPr lang="en-GB" b="0" i="0">
                <a:solidFill>
                  <a:srgbClr val="0D0D0D"/>
                </a:solidFill>
                <a:effectLst/>
                <a:highlight>
                  <a:srgbClr val="FFFFFF"/>
                </a:highlight>
                <a:latin typeface="Söhne"/>
              </a:rPr>
              <a:t>Compliance: </a:t>
            </a:r>
            <a:r>
              <a:rPr lang="en-GB" b="0" i="0" err="1">
                <a:solidFill>
                  <a:srgbClr val="0D0D0D"/>
                </a:solidFill>
                <a:effectLst/>
                <a:highlight>
                  <a:srgbClr val="FFFFFF"/>
                </a:highlight>
                <a:latin typeface="Söhne"/>
              </a:rPr>
              <a:t>RSpace</a:t>
            </a:r>
            <a:r>
              <a:rPr lang="en-GB" b="0" i="0">
                <a:solidFill>
                  <a:srgbClr val="0D0D0D"/>
                </a:solidFill>
                <a:effectLst/>
                <a:highlight>
                  <a:srgbClr val="FFFFFF"/>
                </a:highlight>
                <a:latin typeface="Söhne"/>
              </a:rPr>
              <a:t> meets legal, IT security, and privacy requirements, including compliance with regulations such as GDPR.</a:t>
            </a:r>
          </a:p>
          <a:p>
            <a:pPr marL="171450" indent="-171450" algn="l">
              <a:buFont typeface="Arial" panose="020B0604020202020204" pitchFamily="34" charset="0"/>
              <a:buChar char="•"/>
            </a:pPr>
            <a:endParaRPr lang="en-GB"/>
          </a:p>
          <a:p>
            <a:pPr marL="171450" indent="-171450">
              <a:buFont typeface="Arial" panose="020B0604020202020204" pitchFamily="34" charset="0"/>
              <a:buChar char="•"/>
            </a:pPr>
            <a:endParaRPr lang="en-GB"/>
          </a:p>
        </p:txBody>
      </p:sp>
      <p:sp>
        <p:nvSpPr>
          <p:cNvPr id="4" name="Slide Number Placeholder 3"/>
          <p:cNvSpPr>
            <a:spLocks noGrp="1"/>
          </p:cNvSpPr>
          <p:nvPr>
            <p:ph type="sldNum" sz="quarter" idx="5"/>
          </p:nvPr>
        </p:nvSpPr>
        <p:spPr/>
        <p:txBody>
          <a:bodyPr/>
          <a:lstStyle/>
          <a:p>
            <a:fld id="{539A0A48-EDB1-4AFE-B1B7-10CE2A416496}" type="slidenum">
              <a:rPr lang="en-GB" smtClean="0"/>
              <a:t>9</a:t>
            </a:fld>
            <a:endParaRPr lang="en-GB"/>
          </a:p>
        </p:txBody>
      </p:sp>
    </p:spTree>
    <p:extLst>
      <p:ext uri="{BB962C8B-B14F-4D97-AF65-F5344CB8AC3E}">
        <p14:creationId xmlns:p14="http://schemas.microsoft.com/office/powerpoint/2010/main" val="2789096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ce4023c597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ce4023c597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cs typeface="Calibri"/>
              </a:rPr>
              <a:t>Electronic data capture software </a:t>
            </a:r>
            <a:r>
              <a:rPr lang="en-US" err="1">
                <a:cs typeface="Calibri"/>
              </a:rPr>
              <a:t>RedCap</a:t>
            </a:r>
            <a:endParaRPr lang="en-US">
              <a:cs typeface="Calibri"/>
            </a:endParaRPr>
          </a:p>
          <a:p>
            <a:r>
              <a:rPr lang="en-US">
                <a:cs typeface="Calibri"/>
              </a:rPr>
              <a:t>Electronic case report form for follow up of patients during clinical trials</a:t>
            </a:r>
          </a:p>
          <a:p>
            <a:r>
              <a:rPr lang="en-US" err="1">
                <a:cs typeface="Calibri"/>
              </a:rPr>
              <a:t>Hiruz</a:t>
            </a:r>
            <a:r>
              <a:rPr lang="en-US">
                <a:cs typeface="Calibri"/>
              </a:rPr>
              <a:t> data management unit for support on </a:t>
            </a:r>
            <a:r>
              <a:rPr lang="en-US" err="1">
                <a:cs typeface="Calibri"/>
              </a:rPr>
              <a:t>RedCap</a:t>
            </a:r>
            <a:endParaRPr err="1">
              <a:cs typeface="Calibri"/>
            </a:endParaRPr>
          </a:p>
        </p:txBody>
      </p:sp>
    </p:spTree>
    <p:extLst>
      <p:ext uri="{BB962C8B-B14F-4D97-AF65-F5344CB8AC3E}">
        <p14:creationId xmlns:p14="http://schemas.microsoft.com/office/powerpoint/2010/main" val="1193278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539A0A48-EDB1-4AFE-B1B7-10CE2A416496}" type="slidenum">
              <a:rPr lang="en-GB" smtClean="0"/>
              <a:t>18</a:t>
            </a:fld>
            <a:endParaRPr lang="en-GB"/>
          </a:p>
        </p:txBody>
      </p:sp>
    </p:spTree>
    <p:extLst>
      <p:ext uri="{BB962C8B-B14F-4D97-AF65-F5344CB8AC3E}">
        <p14:creationId xmlns:p14="http://schemas.microsoft.com/office/powerpoint/2010/main" val="1151161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539A0A48-EDB1-4AFE-B1B7-10CE2A416496}" type="slidenum">
              <a:rPr lang="en-GB" smtClean="0"/>
              <a:t>21</a:t>
            </a:fld>
            <a:endParaRPr lang="en-GB"/>
          </a:p>
        </p:txBody>
      </p:sp>
    </p:spTree>
    <p:extLst>
      <p:ext uri="{BB962C8B-B14F-4D97-AF65-F5344CB8AC3E}">
        <p14:creationId xmlns:p14="http://schemas.microsoft.com/office/powerpoint/2010/main" val="1682149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One of the main goals of everything that we've talked about today is maximizing the re-use of data and other research outputs. As we've discussed, that means first describing your data with detailed and accurate metadata (as seen in leftmost panel). Once you have this data package, the next steps are to register your data in a reputable data repository, preferably domain-specific but generic repositories are fine as well. Then, as per the new publication policy, the next step is to register that published dataset and link it with any relevant publications to ensure that you get the appropriate credit for your research outputs.</a:t>
            </a:r>
          </a:p>
          <a:p>
            <a:r>
              <a:rPr lang="en-US">
                <a:ea typeface="Calibri"/>
                <a:cs typeface="Calibri"/>
              </a:rPr>
              <a:t>What I'll present now is a quick explanation of the simplest pipeline that you can follow to satisfy these requirements and have to share your data.</a:t>
            </a:r>
          </a:p>
        </p:txBody>
      </p:sp>
      <p:sp>
        <p:nvSpPr>
          <p:cNvPr id="4" name="Slide Number Placeholder 3"/>
          <p:cNvSpPr>
            <a:spLocks noGrp="1"/>
          </p:cNvSpPr>
          <p:nvPr>
            <p:ph type="sldNum" sz="quarter" idx="5"/>
          </p:nvPr>
        </p:nvSpPr>
        <p:spPr/>
        <p:txBody>
          <a:bodyPr/>
          <a:lstStyle/>
          <a:p>
            <a:fld id="{539A0A48-EDB1-4AFE-B1B7-10CE2A416496}" type="slidenum">
              <a:rPr lang="en-GB" smtClean="0"/>
              <a:t>25</a:t>
            </a:fld>
            <a:endParaRPr lang="en-GB"/>
          </a:p>
        </p:txBody>
      </p:sp>
    </p:spTree>
    <p:extLst>
      <p:ext uri="{BB962C8B-B14F-4D97-AF65-F5344CB8AC3E}">
        <p14:creationId xmlns:p14="http://schemas.microsoft.com/office/powerpoint/2010/main" val="41231335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rporate Log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4147F-ED97-47AF-A1B3-C82A179CF7F3}" type="datetime1">
              <a:rPr lang="nl-NL" smtClean="0"/>
              <a:t>17-10-2025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E184E0-0BD4-4705-A12B-9B71DDE63301}" type="slidenum">
              <a:rPr lang="en-GB" smtClean="0"/>
              <a:t>‹#›</a:t>
            </a:fld>
            <a:endParaRPr lang="en-GB"/>
          </a:p>
        </p:txBody>
      </p:sp>
      <p:pic>
        <p:nvPicPr>
          <p:cNvPr id="9" name="Logo Larg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09518" y="2275285"/>
            <a:ext cx="5462027" cy="4172720"/>
          </a:xfrm>
          <a:prstGeom prst="rect">
            <a:avLst/>
          </a:prstGeom>
        </p:spPr>
      </p:pic>
    </p:spTree>
    <p:extLst>
      <p:ext uri="{BB962C8B-B14F-4D97-AF65-F5344CB8AC3E}">
        <p14:creationId xmlns:p14="http://schemas.microsoft.com/office/powerpoint/2010/main" val="109143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latin typeface="UGent Panno Text" panose="02000506040000040003" pitchFamily="50" charset="0"/>
            </a:endParaRPr>
          </a:p>
        </p:txBody>
      </p:sp>
      <p:sp>
        <p:nvSpPr>
          <p:cNvPr id="2" name="Title 1"/>
          <p:cNvSpPr>
            <a:spLocks noGrp="1"/>
          </p:cNvSpPr>
          <p:nvPr>
            <p:ph type="ctrTitle"/>
          </p:nvPr>
        </p:nvSpPr>
        <p:spPr bwMode="white">
          <a:xfrm>
            <a:off x="1291074" y="2286000"/>
            <a:ext cx="15183366" cy="4436316"/>
          </a:xfrm>
        </p:spPr>
        <p:txBody>
          <a:bodyPr anchor="b">
            <a:noAutofit/>
          </a:bodyPr>
          <a:lstStyle>
            <a:lvl1pPr algn="l">
              <a:lnSpc>
                <a:spcPts val="11000"/>
              </a:lnSpc>
              <a:defRPr sz="10000" u="sng" baseline="0">
                <a:solidFill>
                  <a:schemeClr val="bg1"/>
                </a:solidFill>
                <a:uFill>
                  <a:solidFill>
                    <a:schemeClr val="bg1"/>
                  </a:solidFill>
                </a:uFill>
                <a:latin typeface="UGent Panno Text" panose="02000506040000040003" pitchFamily="50" charset="0"/>
              </a:defRPr>
            </a:lvl1pPr>
          </a:lstStyle>
          <a:p>
            <a:r>
              <a:rPr lang="en-US" noProof="0"/>
              <a:t>Click to edit Master title style</a:t>
            </a:r>
            <a:endParaRPr lang="nl-BE" noProof="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3000" baseline="0">
                <a:solidFill>
                  <a:srgbClr val="FFD200"/>
                </a:solidFill>
                <a:latin typeface="UGent Panno Text" panose="02000506040000040003" pitchFamily="50" charset="0"/>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nl-BE" noProof="0"/>
              <a:t>Klik om de ondertitel / presentator / datum [</a:t>
            </a:r>
            <a:r>
              <a:rPr lang="nl-BE" noProof="0" err="1"/>
              <a:t>dd</a:t>
            </a:r>
            <a:r>
              <a:rPr lang="nl-BE" noProof="0"/>
              <a:t>-mm-</a:t>
            </a:r>
            <a:r>
              <a:rPr lang="nl-BE" noProof="0" err="1"/>
              <a:t>yyyy</a:t>
            </a:r>
            <a:r>
              <a:rPr lang="nl-BE" noProof="0"/>
              <a:t>] te maken</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Placeholder 9"/>
          <p:cNvSpPr>
            <a:spLocks noGrp="1"/>
          </p:cNvSpPr>
          <p:nvPr>
            <p:ph type="body" sz="quarter" idx="10" hasCustomPrompt="1"/>
          </p:nvPr>
        </p:nvSpPr>
        <p:spPr bwMode="white">
          <a:xfrm>
            <a:off x="1291074" y="270000"/>
            <a:ext cx="15183366" cy="540000"/>
          </a:xfrm>
        </p:spPr>
        <p:txBody>
          <a:bodyPr anchor="b" anchorCtr="0">
            <a:normAutofit/>
          </a:bodyPr>
          <a:lstStyle>
            <a:lvl1pPr marL="0" indent="0">
              <a:lnSpc>
                <a:spcPts val="1700"/>
              </a:lnSpc>
              <a:buNone/>
              <a:defRPr sz="1400" b="1" i="0" u="sng" cap="all" baseline="0">
                <a:solidFill>
                  <a:schemeClr val="bg1"/>
                </a:solidFill>
                <a:uFill>
                  <a:solidFill>
                    <a:schemeClr val="bg1"/>
                  </a:solidFill>
                </a:uFill>
                <a:latin typeface="UGent Panno Text" panose="02000506040000040003" pitchFamily="50" charset="0"/>
              </a:defRPr>
            </a:lvl1pPr>
            <a:lvl2pPr marL="0" indent="0">
              <a:lnSpc>
                <a:spcPts val="1700"/>
              </a:lnSpc>
              <a:buNone/>
              <a:defRPr sz="1400" cap="all" baseline="0">
                <a:solidFill>
                  <a:schemeClr val="bg1"/>
                </a:solidFill>
                <a:uFill>
                  <a:solidFill>
                    <a:schemeClr val="bg1"/>
                  </a:solidFill>
                </a:uFill>
                <a:latin typeface="UGent Panno Text" panose="02000506040000040003" pitchFamily="50" charset="0"/>
              </a:defRPr>
            </a:lvl2pPr>
          </a:lstStyle>
          <a:p>
            <a:pPr lvl="0"/>
            <a:r>
              <a:rPr lang="nl-BE" noProof="0"/>
              <a:t>Klik om de organisatie stijlen te bewerken</a:t>
            </a:r>
          </a:p>
          <a:p>
            <a:pPr lvl="1"/>
            <a:r>
              <a:rPr lang="nl-BE" noProof="0"/>
              <a:t>tweede niveau</a:t>
            </a:r>
          </a:p>
        </p:txBody>
      </p:sp>
      <p:sp>
        <p:nvSpPr>
          <p:cNvPr id="12" name="Picture Placeholder 11"/>
          <p:cNvSpPr>
            <a:spLocks noGrp="1"/>
          </p:cNvSpPr>
          <p:nvPr>
            <p:ph type="pic" sz="quarter" idx="11" hasCustomPrompt="1"/>
          </p:nvPr>
        </p:nvSpPr>
        <p:spPr>
          <a:xfrm>
            <a:off x="3200400" y="8366400"/>
            <a:ext cx="2286000" cy="928800"/>
          </a:xfrm>
        </p:spPr>
        <p:txBody>
          <a:bodyPr/>
          <a:lstStyle>
            <a:lvl1pPr marL="85725" indent="0">
              <a:buNone/>
              <a:defRPr sz="1600">
                <a:solidFill>
                  <a:schemeClr val="bg1">
                    <a:lumMod val="50000"/>
                  </a:schemeClr>
                </a:solidFill>
                <a:latin typeface="UGent Panno Text" panose="02000506040000040003" pitchFamily="50" charset="0"/>
              </a:defRPr>
            </a:lvl1pPr>
          </a:lstStyle>
          <a:p>
            <a:r>
              <a:rPr lang="nl-BE" noProof="0"/>
              <a:t>Partnerlogo 1</a:t>
            </a:r>
          </a:p>
        </p:txBody>
      </p:sp>
      <p:sp>
        <p:nvSpPr>
          <p:cNvPr id="13" name="Picture Placeholder 11"/>
          <p:cNvSpPr>
            <a:spLocks noGrp="1"/>
          </p:cNvSpPr>
          <p:nvPr>
            <p:ph type="pic" sz="quarter" idx="12" hasCustomPrompt="1"/>
          </p:nvPr>
        </p:nvSpPr>
        <p:spPr>
          <a:xfrm>
            <a:off x="5713200" y="8366400"/>
            <a:ext cx="2286000" cy="928800"/>
          </a:xfrm>
        </p:spPr>
        <p:txBody>
          <a:bodyPr/>
          <a:lstStyle>
            <a:lvl1pPr marL="85725" indent="0">
              <a:buNone/>
              <a:defRPr sz="1600">
                <a:solidFill>
                  <a:schemeClr val="bg1">
                    <a:lumMod val="50000"/>
                  </a:schemeClr>
                </a:solidFill>
                <a:latin typeface="UGent Panno Text" panose="02000506040000040003" pitchFamily="50" charset="0"/>
              </a:defRPr>
            </a:lvl1pPr>
          </a:lstStyle>
          <a:p>
            <a:r>
              <a:rPr lang="nl-BE" noProof="0"/>
              <a:t>Partnerlogo 2</a:t>
            </a:r>
          </a:p>
        </p:txBody>
      </p:sp>
      <p:sp>
        <p:nvSpPr>
          <p:cNvPr id="14" name="Picture Placeholder 11"/>
          <p:cNvSpPr>
            <a:spLocks noGrp="1"/>
          </p:cNvSpPr>
          <p:nvPr>
            <p:ph type="pic" sz="quarter" idx="13" hasCustomPrompt="1"/>
          </p:nvPr>
        </p:nvSpPr>
        <p:spPr>
          <a:xfrm>
            <a:off x="8229600" y="8366400"/>
            <a:ext cx="2322000" cy="928800"/>
          </a:xfrm>
        </p:spPr>
        <p:txBody>
          <a:bodyPr/>
          <a:lstStyle>
            <a:lvl1pPr marL="85725" indent="0">
              <a:buNone/>
              <a:defRPr sz="1600">
                <a:solidFill>
                  <a:schemeClr val="bg1">
                    <a:lumMod val="50000"/>
                  </a:schemeClr>
                </a:solidFill>
                <a:latin typeface="UGent Panno Text" panose="02000506040000040003" pitchFamily="50" charset="0"/>
              </a:defRPr>
            </a:lvl1pPr>
          </a:lstStyle>
          <a:p>
            <a:r>
              <a:rPr lang="nl-BE" noProof="0"/>
              <a:t>Partnerlogo 3</a:t>
            </a:r>
          </a:p>
        </p:txBody>
      </p:sp>
      <p:sp>
        <p:nvSpPr>
          <p:cNvPr id="15" name="Picture Placeholder 11"/>
          <p:cNvSpPr>
            <a:spLocks noGrp="1"/>
          </p:cNvSpPr>
          <p:nvPr>
            <p:ph type="pic" sz="quarter" idx="14" hasCustomPrompt="1"/>
          </p:nvPr>
        </p:nvSpPr>
        <p:spPr>
          <a:xfrm>
            <a:off x="10746000" y="8366400"/>
            <a:ext cx="2322000" cy="928800"/>
          </a:xfrm>
        </p:spPr>
        <p:txBody>
          <a:bodyPr/>
          <a:lstStyle>
            <a:lvl1pPr marL="85725" indent="0">
              <a:buNone/>
              <a:defRPr sz="1600">
                <a:solidFill>
                  <a:schemeClr val="bg1">
                    <a:lumMod val="50000"/>
                  </a:schemeClr>
                </a:solidFill>
                <a:latin typeface="UGent Panno Text" panose="02000506040000040003" pitchFamily="50" charset="0"/>
              </a:defRPr>
            </a:lvl1pPr>
          </a:lstStyle>
          <a:p>
            <a:r>
              <a:rPr lang="nl-BE" noProof="0"/>
              <a:t>Partnerlogo 4</a:t>
            </a:r>
          </a:p>
        </p:txBody>
      </p:sp>
    </p:spTree>
    <p:extLst>
      <p:ext uri="{BB962C8B-B14F-4D97-AF65-F5344CB8AC3E}">
        <p14:creationId xmlns:p14="http://schemas.microsoft.com/office/powerpoint/2010/main" val="94181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latin typeface="UGent Panno Text" panose="02000506040000040003" pitchFamily="50" charset="0"/>
            </a:endParaRPr>
          </a:p>
        </p:txBody>
      </p:sp>
      <p:sp>
        <p:nvSpPr>
          <p:cNvPr id="2" name="Title 1"/>
          <p:cNvSpPr>
            <a:spLocks noGrp="1"/>
          </p:cNvSpPr>
          <p:nvPr>
            <p:ph type="ctrTitle" hasCustomPrompt="1"/>
          </p:nvPr>
        </p:nvSpPr>
        <p:spPr bwMode="white">
          <a:xfrm>
            <a:off x="1291074" y="3246120"/>
            <a:ext cx="15183366" cy="4436316"/>
          </a:xfrm>
        </p:spPr>
        <p:txBody>
          <a:bodyPr anchor="b">
            <a:noAutofit/>
          </a:bodyPr>
          <a:lstStyle>
            <a:lvl1pPr algn="l">
              <a:lnSpc>
                <a:spcPts val="11000"/>
              </a:lnSpc>
              <a:defRPr sz="10000" u="sng" baseline="0">
                <a:solidFill>
                  <a:schemeClr val="bg1"/>
                </a:solidFill>
                <a:uFill>
                  <a:solidFill>
                    <a:schemeClr val="bg1"/>
                  </a:solidFill>
                </a:uFill>
                <a:latin typeface="UGent Panno Text" panose="02000506040000040003" pitchFamily="50" charset="0"/>
              </a:defRPr>
            </a:lvl1pPr>
          </a:lstStyle>
          <a:p>
            <a:r>
              <a:rPr lang="nl-BE" noProof="0"/>
              <a:t>klik om een hoofdstuktitel te maken.</a:t>
            </a:r>
          </a:p>
        </p:txBody>
      </p:sp>
      <p:sp>
        <p:nvSpPr>
          <p:cNvPr id="8" name="Titles positoning box" hidden="1"/>
          <p:cNvSpPr/>
          <p:nvPr userDrawn="1"/>
        </p:nvSpPr>
        <p:spPr>
          <a:xfrm>
            <a:off x="1371600" y="7344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latin typeface="UGent Panno Text" panose="02000506040000040003" pitchFamily="50" charset="0"/>
              </a:defRPr>
            </a:lvl1pPr>
          </a:lstStyle>
          <a:p>
            <a:fld id="{7AE184E0-0BD4-4705-A12B-9B71DDE63301}" type="slidenum">
              <a:rPr lang="nl-BE" smtClean="0"/>
              <a:pPr/>
              <a:t>‹#›</a:t>
            </a:fld>
            <a:endParaRPr lang="nl-BE"/>
          </a:p>
        </p:txBody>
      </p:sp>
    </p:spTree>
    <p:extLst>
      <p:ext uri="{BB962C8B-B14F-4D97-AF65-F5344CB8AC3E}">
        <p14:creationId xmlns:p14="http://schemas.microsoft.com/office/powerpoint/2010/main" val="129473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UGent Panno Text" panose="02000506040000040003" pitchFamily="50" charset="0"/>
                <a:cs typeface="Segoe UI Semibold" panose="020B0702040204020203" pitchFamily="34" charset="0"/>
              </a:defRPr>
            </a:lvl1pPr>
          </a:lstStyle>
          <a:p>
            <a:r>
              <a:rPr lang="en-US" noProof="0"/>
              <a:t>Click to edit Master title style</a:t>
            </a:r>
            <a:endParaRPr lang="nl-BE" noProof="0"/>
          </a:p>
        </p:txBody>
      </p:sp>
      <p:sp>
        <p:nvSpPr>
          <p:cNvPr id="3" name="Content Placeholder 2"/>
          <p:cNvSpPr>
            <a:spLocks noGrp="1"/>
          </p:cNvSpPr>
          <p:nvPr>
            <p:ph idx="1" hasCustomPrompt="1"/>
          </p:nvPr>
        </p:nvSpPr>
        <p:spPr>
          <a:xfrm>
            <a:off x="835825" y="1194364"/>
            <a:ext cx="15699575" cy="6696000"/>
          </a:xfrm>
        </p:spPr>
        <p:txBody>
          <a:bodyPr/>
          <a:lstStyle>
            <a:lvl1pPr defTabSz="457200">
              <a:lnSpc>
                <a:spcPct val="120000"/>
              </a:lnSpc>
              <a:spcAft>
                <a:spcPts val="800"/>
              </a:spcAft>
              <a:defRPr>
                <a:latin typeface="UGent Panno Text" panose="02000506040000040003" pitchFamily="50" charset="0"/>
              </a:defRPr>
            </a:lvl1pPr>
            <a:lvl2pPr>
              <a:lnSpc>
                <a:spcPct val="120000"/>
              </a:lnSpc>
              <a:spcAft>
                <a:spcPts val="800"/>
              </a:spcAft>
              <a:defRPr>
                <a:latin typeface="UGent Panno Text" panose="02000506040000040003" pitchFamily="50" charset="0"/>
              </a:defRPr>
            </a:lvl2pPr>
            <a:lvl3pPr defTabSz="457200">
              <a:lnSpc>
                <a:spcPct val="120000"/>
              </a:lnSpc>
              <a:defRPr>
                <a:latin typeface="UGent Panno Text" panose="02000506040000040003" pitchFamily="50" charset="0"/>
              </a:defRPr>
            </a:lvl3pPr>
            <a:lvl4pPr marL="2328863" indent="-550863" defTabSz="1912938">
              <a:lnSpc>
                <a:spcPct val="120000"/>
              </a:lnSpc>
              <a:tabLst/>
              <a:defRPr>
                <a:latin typeface="UGent Panno Text" panose="02000506040000040003" pitchFamily="50" charset="0"/>
              </a:defRPr>
            </a:lvl4pPr>
            <a:lvl5pPr marL="2962275" indent="-442913" defTabSz="457200">
              <a:lnSpc>
                <a:spcPct val="120000"/>
              </a:lnSpc>
              <a:buFont typeface="Arial" panose="020B0604020202020204" pitchFamily="34" charset="0"/>
              <a:buChar char="̶"/>
              <a:defRPr>
                <a:latin typeface="UGent Panno Text" panose="02000506040000040003" pitchFamily="50" charset="0"/>
              </a:defRPr>
            </a:lvl5pPr>
          </a:lstStyle>
          <a:p>
            <a:pPr lvl="0"/>
            <a:r>
              <a:rPr lang="nl-BE" noProof="0"/>
              <a:t>Click </a:t>
            </a:r>
            <a:r>
              <a:rPr lang="nl-BE" noProof="0" err="1"/>
              <a:t>to</a:t>
            </a:r>
            <a:r>
              <a:rPr lang="nl-BE" noProof="0"/>
              <a:t> </a:t>
            </a:r>
            <a:r>
              <a:rPr lang="nl-BE" noProof="0" err="1"/>
              <a:t>edit</a:t>
            </a:r>
            <a:r>
              <a:rPr lang="nl-BE" noProof="0"/>
              <a:t> Master </a:t>
            </a:r>
            <a:r>
              <a:rPr lang="nl-BE" noProof="0" err="1"/>
              <a:t>text</a:t>
            </a:r>
            <a:r>
              <a:rPr lang="nl-BE" noProof="0"/>
              <a:t> </a:t>
            </a:r>
            <a:r>
              <a:rPr lang="nl-BE" noProof="0" err="1"/>
              <a:t>styles</a:t>
            </a:r>
            <a:endParaRPr lang="nl-BE" noProof="0"/>
          </a:p>
          <a:p>
            <a:pPr lvl="1"/>
            <a:r>
              <a:rPr lang="nl-BE" noProof="0"/>
              <a:t>Second level</a:t>
            </a:r>
          </a:p>
          <a:p>
            <a:pPr lvl="2"/>
            <a:r>
              <a:rPr lang="nl-BE" noProof="0" err="1"/>
              <a:t>Third</a:t>
            </a:r>
            <a:r>
              <a:rPr lang="nl-BE" noProof="0"/>
              <a:t> level</a:t>
            </a:r>
          </a:p>
          <a:p>
            <a:pPr lvl="3"/>
            <a:r>
              <a:rPr lang="nl-BE" noProof="0" err="1"/>
              <a:t>Fourth</a:t>
            </a:r>
            <a:r>
              <a:rPr lang="nl-BE" noProof="0"/>
              <a:t> level</a:t>
            </a:r>
          </a:p>
          <a:p>
            <a:pPr lvl="4"/>
            <a:r>
              <a:rPr lang="nl-BE" noProof="0" err="1"/>
              <a:t>Fifth</a:t>
            </a:r>
            <a:r>
              <a:rPr lang="nl-BE" noProof="0"/>
              <a:t> level</a:t>
            </a:r>
          </a:p>
        </p:txBody>
      </p:sp>
      <p:sp>
        <p:nvSpPr>
          <p:cNvPr id="4" name="Date Placeholder 3"/>
          <p:cNvSpPr>
            <a:spLocks noGrp="1"/>
          </p:cNvSpPr>
          <p:nvPr>
            <p:ph type="dt" sz="half" idx="10"/>
          </p:nvPr>
        </p:nvSpPr>
        <p:spPr/>
        <p:txBody>
          <a:bodyPr/>
          <a:lstStyle>
            <a:lvl1pPr>
              <a:defRPr>
                <a:latin typeface="UGent Panno Text" panose="02000506040000040003" pitchFamily="50" charset="0"/>
              </a:defRPr>
            </a:lvl1pPr>
          </a:lstStyle>
          <a:p>
            <a:fld id="{25470885-0B31-4E06-AE71-7E16801F2838}" type="datetime1">
              <a:rPr lang="nl-BE" smtClean="0"/>
              <a:pPr/>
              <a:t>17/10/2025</a:t>
            </a:fld>
            <a:endParaRPr lang="nl-BE"/>
          </a:p>
        </p:txBody>
      </p:sp>
      <p:sp>
        <p:nvSpPr>
          <p:cNvPr id="5" name="Footer Placeholder 4"/>
          <p:cNvSpPr>
            <a:spLocks noGrp="1"/>
          </p:cNvSpPr>
          <p:nvPr>
            <p:ph type="ftr" sz="quarter" idx="11"/>
          </p:nvPr>
        </p:nvSpPr>
        <p:spPr/>
        <p:txBody>
          <a:bodyPr/>
          <a:lstStyle>
            <a:lvl1pPr>
              <a:defRPr>
                <a:latin typeface="UGent Panno Text" panose="02000506040000040003" pitchFamily="50" charset="0"/>
              </a:defRPr>
            </a:lvl1pPr>
          </a:lstStyle>
          <a:p>
            <a:endParaRPr lang="nl-BE"/>
          </a:p>
        </p:txBody>
      </p:sp>
      <p:sp>
        <p:nvSpPr>
          <p:cNvPr id="6" name="Slide Number Placeholder 5"/>
          <p:cNvSpPr>
            <a:spLocks noGrp="1"/>
          </p:cNvSpPr>
          <p:nvPr>
            <p:ph type="sldNum" sz="quarter" idx="12"/>
          </p:nvPr>
        </p:nvSpPr>
        <p:spPr/>
        <p:txBody>
          <a:bodyPr/>
          <a:lstStyle>
            <a:lvl1pPr>
              <a:defRPr>
                <a:latin typeface="UGent Panno Text" panose="02000506040000040003" pitchFamily="50" charset="0"/>
              </a:defRPr>
            </a:lvl1pPr>
          </a:lstStyle>
          <a:p>
            <a:fld id="{7AE184E0-0BD4-4705-A12B-9B71DDE63301}" type="slidenum">
              <a:rPr lang="nl-BE" smtClean="0"/>
              <a:pPr/>
              <a:t>‹#›</a:t>
            </a:fld>
            <a:endParaRPr lang="nl-BE"/>
          </a:p>
        </p:txBody>
      </p:sp>
    </p:spTree>
    <p:extLst>
      <p:ext uri="{BB962C8B-B14F-4D97-AF65-F5344CB8AC3E}">
        <p14:creationId xmlns:p14="http://schemas.microsoft.com/office/powerpoint/2010/main" val="308157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UGent Panno Text" panose="02000506040000040003" pitchFamily="50" charset="0"/>
                <a:cs typeface="Segoe UI Semibold" panose="020B0702040204020203" pitchFamily="34" charset="0"/>
              </a:defRPr>
            </a:lvl1pPr>
          </a:lstStyle>
          <a:p>
            <a:r>
              <a:rPr lang="en-US" noProof="0"/>
              <a:t>Click to edit Master title style</a:t>
            </a:r>
            <a:endParaRPr lang="nl-BE" noProof="0"/>
          </a:p>
        </p:txBody>
      </p:sp>
      <p:sp>
        <p:nvSpPr>
          <p:cNvPr id="4" name="Date Placeholder 3"/>
          <p:cNvSpPr>
            <a:spLocks noGrp="1"/>
          </p:cNvSpPr>
          <p:nvPr>
            <p:ph type="dt" sz="half" idx="10"/>
          </p:nvPr>
        </p:nvSpPr>
        <p:spPr/>
        <p:txBody>
          <a:bodyPr/>
          <a:lstStyle>
            <a:lvl1pPr>
              <a:defRPr>
                <a:latin typeface="UGent Panno Text" panose="02000506040000040003" pitchFamily="50" charset="0"/>
              </a:defRPr>
            </a:lvl1pPr>
          </a:lstStyle>
          <a:p>
            <a:fld id="{E7410F60-8C93-4C37-B51A-4DDAE36F7E9B}" type="datetime1">
              <a:rPr lang="nl-BE" smtClean="0"/>
              <a:pPr/>
              <a:t>17/10/2025</a:t>
            </a:fld>
            <a:endParaRPr lang="nl-BE"/>
          </a:p>
        </p:txBody>
      </p:sp>
      <p:sp>
        <p:nvSpPr>
          <p:cNvPr id="5" name="Footer Placeholder 4"/>
          <p:cNvSpPr>
            <a:spLocks noGrp="1"/>
          </p:cNvSpPr>
          <p:nvPr>
            <p:ph type="ftr" sz="quarter" idx="11"/>
          </p:nvPr>
        </p:nvSpPr>
        <p:spPr/>
        <p:txBody>
          <a:bodyPr/>
          <a:lstStyle>
            <a:lvl1pPr>
              <a:defRPr>
                <a:latin typeface="UGent Panno Text" panose="02000506040000040003" pitchFamily="50" charset="0"/>
              </a:defRPr>
            </a:lvl1pPr>
          </a:lstStyle>
          <a:p>
            <a:endParaRPr lang="nl-BE"/>
          </a:p>
        </p:txBody>
      </p:sp>
      <p:sp>
        <p:nvSpPr>
          <p:cNvPr id="8" name="Picture Placeholder 7"/>
          <p:cNvSpPr>
            <a:spLocks noGrp="1"/>
          </p:cNvSpPr>
          <p:nvPr>
            <p:ph type="pic" sz="quarter" idx="13"/>
          </p:nvPr>
        </p:nvSpPr>
        <p:spPr>
          <a:xfrm>
            <a:off x="10104438" y="1371918"/>
            <a:ext cx="6300000" cy="6498000"/>
          </a:xfrm>
        </p:spPr>
        <p:txBody>
          <a:bodyPr/>
          <a:lstStyle>
            <a:lvl1pPr marL="85725" indent="0">
              <a:buNone/>
              <a:defRPr>
                <a:solidFill>
                  <a:schemeClr val="bg1">
                    <a:lumMod val="50000"/>
                  </a:schemeClr>
                </a:solidFill>
                <a:latin typeface="UGent Panno Text" panose="02000506040000040003" pitchFamily="50" charset="0"/>
              </a:defRPr>
            </a:lvl1pPr>
          </a:lstStyle>
          <a:p>
            <a:endParaRPr lang="nl-BE" noProof="0"/>
          </a:p>
        </p:txBody>
      </p:sp>
      <p:sp>
        <p:nvSpPr>
          <p:cNvPr id="9"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latin typeface="UGent Panno Text" panose="02000506040000040003" pitchFamily="50" charset="0"/>
              </a:defRPr>
            </a:lvl1pPr>
          </a:lstStyle>
          <a:p>
            <a:fld id="{7AE184E0-0BD4-4705-A12B-9B71DDE63301}" type="slidenum">
              <a:rPr lang="nl-BE" smtClean="0"/>
              <a:pPr/>
              <a:t>‹#›</a:t>
            </a:fld>
            <a:endParaRPr lang="nl-BE"/>
          </a:p>
        </p:txBody>
      </p:sp>
      <p:sp>
        <p:nvSpPr>
          <p:cNvPr id="12" name="Content Placeholder 2"/>
          <p:cNvSpPr>
            <a:spLocks noGrp="1"/>
          </p:cNvSpPr>
          <p:nvPr>
            <p:ph idx="1" hasCustomPrompt="1"/>
          </p:nvPr>
        </p:nvSpPr>
        <p:spPr>
          <a:xfrm>
            <a:off x="835825" y="1194364"/>
            <a:ext cx="8442000" cy="6696000"/>
          </a:xfrm>
        </p:spPr>
        <p:txBody>
          <a:bodyPr/>
          <a:lstStyle>
            <a:lvl1pPr defTabSz="457200">
              <a:lnSpc>
                <a:spcPct val="120000"/>
              </a:lnSpc>
              <a:defRPr>
                <a:latin typeface="UGent Panno Text" panose="02000506040000040003" pitchFamily="50" charset="0"/>
              </a:defRPr>
            </a:lvl1pPr>
            <a:lvl2pPr>
              <a:lnSpc>
                <a:spcPct val="120000"/>
              </a:lnSpc>
              <a:defRPr>
                <a:latin typeface="UGent Panno Text" panose="02000506040000040003" pitchFamily="50" charset="0"/>
              </a:defRPr>
            </a:lvl2pPr>
            <a:lvl3pPr defTabSz="457200">
              <a:lnSpc>
                <a:spcPct val="120000"/>
              </a:lnSpc>
              <a:defRPr>
                <a:latin typeface="UGent Panno Text" panose="02000506040000040003" pitchFamily="50" charset="0"/>
              </a:defRPr>
            </a:lvl3pPr>
            <a:lvl4pPr defTabSz="457200">
              <a:lnSpc>
                <a:spcPct val="120000"/>
              </a:lnSpc>
              <a:defRPr/>
            </a:lvl4pPr>
            <a:lvl5pPr defTabSz="457200">
              <a:lnSpc>
                <a:spcPct val="120000"/>
              </a:lnSpc>
              <a:defRPr/>
            </a:lvl5pPr>
          </a:lstStyle>
          <a:p>
            <a:pPr lvl="0"/>
            <a:r>
              <a:rPr lang="nl-BE" noProof="0"/>
              <a:t>Click </a:t>
            </a:r>
            <a:r>
              <a:rPr lang="nl-BE" noProof="0" err="1"/>
              <a:t>to</a:t>
            </a:r>
            <a:r>
              <a:rPr lang="nl-BE" noProof="0"/>
              <a:t> </a:t>
            </a:r>
            <a:r>
              <a:rPr lang="nl-BE" noProof="0" err="1"/>
              <a:t>edit</a:t>
            </a:r>
            <a:r>
              <a:rPr lang="nl-BE" noProof="0"/>
              <a:t> Master </a:t>
            </a:r>
            <a:r>
              <a:rPr lang="nl-BE" noProof="0" err="1"/>
              <a:t>text</a:t>
            </a:r>
            <a:r>
              <a:rPr lang="nl-BE" noProof="0"/>
              <a:t> </a:t>
            </a:r>
            <a:r>
              <a:rPr lang="nl-BE" noProof="0" err="1"/>
              <a:t>styles</a:t>
            </a:r>
            <a:endParaRPr lang="nl-BE" noProof="0"/>
          </a:p>
          <a:p>
            <a:pPr lvl="1"/>
            <a:r>
              <a:rPr lang="nl-BE" noProof="0"/>
              <a:t>Second level</a:t>
            </a:r>
          </a:p>
          <a:p>
            <a:pPr lvl="2"/>
            <a:r>
              <a:rPr lang="nl-BE" noProof="0" err="1"/>
              <a:t>Third</a:t>
            </a:r>
            <a:r>
              <a:rPr lang="nl-BE" noProof="0"/>
              <a:t> level</a:t>
            </a:r>
          </a:p>
        </p:txBody>
      </p:sp>
    </p:spTree>
    <p:extLst>
      <p:ext uri="{BB962C8B-B14F-4D97-AF65-F5344CB8AC3E}">
        <p14:creationId xmlns:p14="http://schemas.microsoft.com/office/powerpoint/2010/main" val="131488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UGent Panno Text" panose="02000506040000040003" pitchFamily="50" charset="0"/>
              </a:defRPr>
            </a:lvl1pPr>
          </a:lstStyle>
          <a:p>
            <a:r>
              <a:rPr lang="en-US" noProof="0"/>
              <a:t>Click to edit Master title style</a:t>
            </a:r>
            <a:endParaRPr lang="nl-BE" noProof="0"/>
          </a:p>
        </p:txBody>
      </p:sp>
      <p:sp>
        <p:nvSpPr>
          <p:cNvPr id="3" name="Date Placeholder 2"/>
          <p:cNvSpPr>
            <a:spLocks noGrp="1"/>
          </p:cNvSpPr>
          <p:nvPr>
            <p:ph type="dt" sz="half" idx="10"/>
          </p:nvPr>
        </p:nvSpPr>
        <p:spPr/>
        <p:txBody>
          <a:bodyPr/>
          <a:lstStyle>
            <a:lvl1pPr>
              <a:defRPr>
                <a:latin typeface="UGent Panno Text" panose="02000506040000040003" pitchFamily="50" charset="0"/>
              </a:defRPr>
            </a:lvl1pPr>
          </a:lstStyle>
          <a:p>
            <a:fld id="{656594B6-17DF-4759-A7A5-128AFEA77F2C}" type="datetime1">
              <a:rPr lang="nl-BE" smtClean="0"/>
              <a:pPr/>
              <a:t>17/10/2025</a:t>
            </a:fld>
            <a:endParaRPr lang="nl-BE"/>
          </a:p>
        </p:txBody>
      </p:sp>
      <p:sp>
        <p:nvSpPr>
          <p:cNvPr id="4" name="Footer Placeholder 3"/>
          <p:cNvSpPr>
            <a:spLocks noGrp="1"/>
          </p:cNvSpPr>
          <p:nvPr>
            <p:ph type="ftr" sz="quarter" idx="11"/>
          </p:nvPr>
        </p:nvSpPr>
        <p:spPr/>
        <p:txBody>
          <a:bodyPr/>
          <a:lstStyle>
            <a:lvl1pPr>
              <a:defRPr>
                <a:latin typeface="UGent Panno Text" panose="02000506040000040003" pitchFamily="50" charset="0"/>
              </a:defRPr>
            </a:lvl1pPr>
          </a:lstStyle>
          <a:p>
            <a:endParaRPr lang="nl-BE"/>
          </a:p>
        </p:txBody>
      </p:sp>
      <p:sp>
        <p:nvSpPr>
          <p:cNvPr id="5" name="Slide Number Placeholder 4"/>
          <p:cNvSpPr>
            <a:spLocks noGrp="1"/>
          </p:cNvSpPr>
          <p:nvPr>
            <p:ph type="sldNum" sz="quarter" idx="12"/>
          </p:nvPr>
        </p:nvSpPr>
        <p:spPr/>
        <p:txBody>
          <a:bodyPr/>
          <a:lstStyle>
            <a:lvl1pPr>
              <a:defRPr>
                <a:latin typeface="UGent Panno Text" panose="02000506040000040003" pitchFamily="50" charset="0"/>
              </a:defRPr>
            </a:lvl1pPr>
          </a:lstStyle>
          <a:p>
            <a:fld id="{7AE184E0-0BD4-4705-A12B-9B71DDE63301}" type="slidenum">
              <a:rPr lang="nl-BE" smtClean="0"/>
              <a:pPr/>
              <a:t>‹#›</a:t>
            </a:fld>
            <a:endParaRPr lang="nl-BE"/>
          </a:p>
        </p:txBody>
      </p:sp>
      <p:sp>
        <p:nvSpPr>
          <p:cNvPr id="7" name="Picture Placeholder 6"/>
          <p:cNvSpPr>
            <a:spLocks noGrp="1"/>
          </p:cNvSpPr>
          <p:nvPr>
            <p:ph type="pic" sz="quarter" idx="13"/>
          </p:nvPr>
        </p:nvSpPr>
        <p:spPr>
          <a:xfrm>
            <a:off x="952038" y="1371600"/>
            <a:ext cx="15480000" cy="6501600"/>
          </a:xfrm>
        </p:spPr>
        <p:txBody>
          <a:bodyPr/>
          <a:lstStyle>
            <a:lvl1pPr marL="0" indent="0">
              <a:buNone/>
              <a:defRPr>
                <a:solidFill>
                  <a:schemeClr val="bg1">
                    <a:lumMod val="50000"/>
                  </a:schemeClr>
                </a:solidFill>
                <a:latin typeface="UGent Panno Text" panose="02000506040000040003" pitchFamily="50" charset="0"/>
              </a:defRPr>
            </a:lvl1pPr>
          </a:lstStyle>
          <a:p>
            <a:endParaRPr lang="nl-BE" noProof="0"/>
          </a:p>
        </p:txBody>
      </p:sp>
    </p:spTree>
    <p:extLst>
      <p:ext uri="{BB962C8B-B14F-4D97-AF65-F5344CB8AC3E}">
        <p14:creationId xmlns:p14="http://schemas.microsoft.com/office/powerpoint/2010/main" val="374516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UGent Panno Text" panose="02000506040000040003" pitchFamily="50" charset="0"/>
              </a:defRPr>
            </a:lvl1pPr>
          </a:lstStyle>
          <a:p>
            <a:fld id="{66A81384-1200-4D40-BEF0-3A17A1F906F4}" type="datetime1">
              <a:rPr lang="nl-NL" smtClean="0"/>
              <a:pPr/>
              <a:t>17-10-2025</a:t>
            </a:fld>
            <a:endParaRPr lang="nl-NL"/>
          </a:p>
        </p:txBody>
      </p:sp>
      <p:sp>
        <p:nvSpPr>
          <p:cNvPr id="3" name="Footer Placeholder 2"/>
          <p:cNvSpPr>
            <a:spLocks noGrp="1"/>
          </p:cNvSpPr>
          <p:nvPr>
            <p:ph type="ftr" sz="quarter" idx="11"/>
          </p:nvPr>
        </p:nvSpPr>
        <p:spPr/>
        <p:txBody>
          <a:bodyPr/>
          <a:lstStyle>
            <a:lvl1pPr>
              <a:defRPr>
                <a:latin typeface="UGent Panno Text" panose="02000506040000040003" pitchFamily="50" charset="0"/>
              </a:defRPr>
            </a:lvl1pPr>
          </a:lstStyle>
          <a:p>
            <a:endParaRPr lang="nl-NL"/>
          </a:p>
        </p:txBody>
      </p:sp>
      <p:sp>
        <p:nvSpPr>
          <p:cNvPr id="7" name="Covering Background"/>
          <p:cNvSpPr/>
          <p:nvPr userDrawn="1"/>
        </p:nvSpPr>
        <p:spPr>
          <a:xfrm>
            <a:off x="-1" y="0"/>
            <a:ext cx="17337600" cy="975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latin typeface="UGent Panno Text" panose="02000506040000040003" pitchFamily="50" charset="0"/>
            </a:endParaRPr>
          </a:p>
        </p:txBody>
      </p:sp>
      <p:sp>
        <p:nvSpPr>
          <p:cNvPr id="6" name="Picture Placeholder 5"/>
          <p:cNvSpPr>
            <a:spLocks noGrp="1"/>
          </p:cNvSpPr>
          <p:nvPr>
            <p:ph type="pic" sz="quarter" idx="12" hasCustomPrompt="1"/>
          </p:nvPr>
        </p:nvSpPr>
        <p:spPr>
          <a:xfrm>
            <a:off x="-1" y="0"/>
            <a:ext cx="17337600" cy="9753600"/>
          </a:xfrm>
        </p:spPr>
        <p:txBody>
          <a:bodyPr/>
          <a:lstStyle>
            <a:lvl1pPr marL="85725" indent="0">
              <a:buNone/>
              <a:defRPr>
                <a:solidFill>
                  <a:schemeClr val="bg1">
                    <a:lumMod val="50000"/>
                  </a:schemeClr>
                </a:solidFill>
                <a:latin typeface="UGent Panno Text" panose="02000506040000040003" pitchFamily="50" charset="0"/>
              </a:defRPr>
            </a:lvl1pPr>
          </a:lstStyle>
          <a:p>
            <a:r>
              <a:rPr lang="nl-BE" noProof="0"/>
              <a:t>Photo</a:t>
            </a:r>
          </a:p>
        </p:txBody>
      </p:sp>
    </p:spTree>
    <p:extLst>
      <p:ext uri="{BB962C8B-B14F-4D97-AF65-F5344CB8AC3E}">
        <p14:creationId xmlns:p14="http://schemas.microsoft.com/office/powerpoint/2010/main" val="2949418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 textbox over picture">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2" hasCustomPrompt="1"/>
          </p:nvPr>
        </p:nvSpPr>
        <p:spPr>
          <a:xfrm>
            <a:off x="914400" y="0"/>
            <a:ext cx="16424275" cy="7920000"/>
          </a:xfrm>
        </p:spPr>
        <p:txBody>
          <a:bodyPr/>
          <a:lstStyle>
            <a:lvl1pPr marL="85725" indent="0">
              <a:buNone/>
              <a:defRPr>
                <a:solidFill>
                  <a:schemeClr val="bg1">
                    <a:lumMod val="50000"/>
                  </a:schemeClr>
                </a:solidFill>
                <a:latin typeface="UGent Panno Text" panose="02000506040000040003" pitchFamily="50" charset="0"/>
              </a:defRPr>
            </a:lvl1pPr>
          </a:lstStyle>
          <a:p>
            <a:r>
              <a:rPr lang="nl-BE" noProof="0"/>
              <a:t>Picture</a:t>
            </a:r>
          </a:p>
        </p:txBody>
      </p:sp>
      <p:sp>
        <p:nvSpPr>
          <p:cNvPr id="2" name="Date Placeholder 1"/>
          <p:cNvSpPr>
            <a:spLocks noGrp="1"/>
          </p:cNvSpPr>
          <p:nvPr>
            <p:ph type="dt" sz="half" idx="10"/>
          </p:nvPr>
        </p:nvSpPr>
        <p:spPr/>
        <p:txBody>
          <a:bodyPr/>
          <a:lstStyle>
            <a:lvl1pPr>
              <a:defRPr>
                <a:latin typeface="UGent Panno Text" panose="02000506040000040003" pitchFamily="50" charset="0"/>
              </a:defRPr>
            </a:lvl1pPr>
          </a:lstStyle>
          <a:p>
            <a:fld id="{66A81384-1200-4D40-BEF0-3A17A1F906F4}" type="datetime1">
              <a:rPr lang="nl-NL" smtClean="0"/>
              <a:pPr/>
              <a:t>17-10-2025</a:t>
            </a:fld>
            <a:endParaRPr lang="nl-NL"/>
          </a:p>
        </p:txBody>
      </p:sp>
      <p:sp>
        <p:nvSpPr>
          <p:cNvPr id="3" name="Footer Placeholder 2"/>
          <p:cNvSpPr>
            <a:spLocks noGrp="1"/>
          </p:cNvSpPr>
          <p:nvPr>
            <p:ph type="ftr" sz="quarter" idx="11"/>
          </p:nvPr>
        </p:nvSpPr>
        <p:spPr/>
        <p:txBody>
          <a:bodyPr/>
          <a:lstStyle>
            <a:lvl1pPr>
              <a:defRPr>
                <a:latin typeface="UGent Panno Text" panose="02000506040000040003" pitchFamily="50" charset="0"/>
              </a:defRPr>
            </a:lvl1pPr>
          </a:lstStyle>
          <a:p>
            <a:endParaRPr lang="nl-NL"/>
          </a:p>
        </p:txBody>
      </p:sp>
      <p:sp>
        <p:nvSpPr>
          <p:cNvPr id="8" name="Tijdelijke aanduiding voor tekst 7">
            <a:extLst>
              <a:ext uri="{FF2B5EF4-FFF2-40B4-BE49-F238E27FC236}">
                <a16:creationId xmlns:a16="http://schemas.microsoft.com/office/drawing/2014/main" id="{0301F6D1-3E66-4198-8305-F0FF1745CC94}"/>
              </a:ext>
            </a:extLst>
          </p:cNvPr>
          <p:cNvSpPr>
            <a:spLocks noGrp="1"/>
          </p:cNvSpPr>
          <p:nvPr>
            <p:ph type="body" sz="quarter" idx="13" hasCustomPrompt="1"/>
          </p:nvPr>
        </p:nvSpPr>
        <p:spPr>
          <a:xfrm>
            <a:off x="914400" y="3140765"/>
            <a:ext cx="4823791" cy="4782014"/>
          </a:xfrm>
          <a:solidFill>
            <a:srgbClr val="1E64C8"/>
          </a:solidFill>
        </p:spPr>
        <p:txBody>
          <a:bodyPr bIns="288000" anchor="b" anchorCtr="0">
            <a:noAutofit/>
          </a:bodyPr>
          <a:lstStyle>
            <a:lvl1pPr marL="85725" indent="0">
              <a:buNone/>
              <a:defRPr sz="4000" u="none" cap="all" baseline="0">
                <a:solidFill>
                  <a:schemeClr val="bg1"/>
                </a:solidFill>
                <a:latin typeface="UGent Panno Text" panose="02000506040000040003" pitchFamily="50" charset="0"/>
              </a:defRPr>
            </a:lvl1pPr>
            <a:lvl2pPr marL="984250" indent="-625475">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25464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ue textbox over picture">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UGent Panno Text" panose="02000506040000040003" pitchFamily="50" charset="0"/>
              </a:defRPr>
            </a:lvl1pPr>
          </a:lstStyle>
          <a:p>
            <a:fld id="{66A81384-1200-4D40-BEF0-3A17A1F906F4}" type="datetime1">
              <a:rPr lang="nl-NL" smtClean="0"/>
              <a:pPr/>
              <a:t>17-10-2025</a:t>
            </a:fld>
            <a:endParaRPr lang="nl-NL"/>
          </a:p>
        </p:txBody>
      </p:sp>
      <p:sp>
        <p:nvSpPr>
          <p:cNvPr id="3" name="Footer Placeholder 2"/>
          <p:cNvSpPr>
            <a:spLocks noGrp="1"/>
          </p:cNvSpPr>
          <p:nvPr>
            <p:ph type="ftr" sz="quarter" idx="11"/>
          </p:nvPr>
        </p:nvSpPr>
        <p:spPr/>
        <p:txBody>
          <a:bodyPr/>
          <a:lstStyle>
            <a:lvl1pPr>
              <a:defRPr>
                <a:latin typeface="UGent Panno Text" panose="02000506040000040003" pitchFamily="50" charset="0"/>
              </a:defRPr>
            </a:lvl1pPr>
          </a:lstStyle>
          <a:p>
            <a:endParaRPr lang="nl-NL"/>
          </a:p>
        </p:txBody>
      </p:sp>
      <p:sp>
        <p:nvSpPr>
          <p:cNvPr id="8" name="Tijdelijke aanduiding voor tekst 7">
            <a:extLst>
              <a:ext uri="{FF2B5EF4-FFF2-40B4-BE49-F238E27FC236}">
                <a16:creationId xmlns:a16="http://schemas.microsoft.com/office/drawing/2014/main" id="{0301F6D1-3E66-4198-8305-F0FF1745CC94}"/>
              </a:ext>
            </a:extLst>
          </p:cNvPr>
          <p:cNvSpPr>
            <a:spLocks noGrp="1"/>
          </p:cNvSpPr>
          <p:nvPr>
            <p:ph type="body" sz="quarter" idx="13" hasCustomPrompt="1"/>
          </p:nvPr>
        </p:nvSpPr>
        <p:spPr>
          <a:xfrm>
            <a:off x="914400" y="0"/>
            <a:ext cx="4081669" cy="7922779"/>
          </a:xfrm>
          <a:solidFill>
            <a:schemeClr val="bg2"/>
          </a:solidFill>
        </p:spPr>
        <p:txBody>
          <a:bodyPr bIns="288000" anchor="b" anchorCtr="0">
            <a:noAutofit/>
          </a:bodyPr>
          <a:lstStyle>
            <a:lvl1pPr marL="85725" indent="0">
              <a:buNone/>
              <a:defRPr sz="4400" u="none" cap="all" baseline="0">
                <a:solidFill>
                  <a:schemeClr val="bg1"/>
                </a:solidFill>
                <a:latin typeface="UGent Panno Text" panose="02000506040000040003" pitchFamily="50" charset="0"/>
              </a:defRPr>
            </a:lvl1pPr>
            <a:lvl2pPr marL="984250" indent="-625475">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EC129129-5884-430E-8B0D-B7B1208F55FC}"/>
              </a:ext>
            </a:extLst>
          </p:cNvPr>
          <p:cNvSpPr>
            <a:spLocks noGrp="1"/>
          </p:cNvSpPr>
          <p:nvPr>
            <p:ph idx="1" hasCustomPrompt="1"/>
          </p:nvPr>
        </p:nvSpPr>
        <p:spPr>
          <a:xfrm>
            <a:off x="5208105" y="662609"/>
            <a:ext cx="11327296" cy="7260169"/>
          </a:xfrm>
        </p:spPr>
        <p:txBody>
          <a:bodyPr/>
          <a:lstStyle>
            <a:lvl1pPr defTabSz="457200">
              <a:lnSpc>
                <a:spcPct val="120000"/>
              </a:lnSpc>
              <a:spcAft>
                <a:spcPts val="800"/>
              </a:spcAft>
              <a:defRPr>
                <a:latin typeface="UGent Panno Text" panose="02000506040000040003" pitchFamily="50" charset="0"/>
              </a:defRPr>
            </a:lvl1pPr>
            <a:lvl2pPr>
              <a:lnSpc>
                <a:spcPct val="120000"/>
              </a:lnSpc>
              <a:spcAft>
                <a:spcPts val="800"/>
              </a:spcAft>
              <a:defRPr>
                <a:latin typeface="UGent Panno Text" panose="02000506040000040003" pitchFamily="50" charset="0"/>
              </a:defRPr>
            </a:lvl2pPr>
            <a:lvl3pPr defTabSz="457200">
              <a:lnSpc>
                <a:spcPct val="120000"/>
              </a:lnSpc>
              <a:defRPr>
                <a:latin typeface="UGent Panno Text" panose="02000506040000040003" pitchFamily="50" charset="0"/>
              </a:defRPr>
            </a:lvl3pPr>
            <a:lvl4pPr marL="2328863" indent="-550863" defTabSz="1912938">
              <a:lnSpc>
                <a:spcPct val="120000"/>
              </a:lnSpc>
              <a:tabLst/>
              <a:defRPr>
                <a:latin typeface="UGent Panno Text" panose="02000506040000040003" pitchFamily="50" charset="0"/>
              </a:defRPr>
            </a:lvl4pPr>
            <a:lvl5pPr marL="2962275" indent="-442913" defTabSz="457200">
              <a:lnSpc>
                <a:spcPct val="120000"/>
              </a:lnSpc>
              <a:buFont typeface="Arial" panose="020B0604020202020204" pitchFamily="34" charset="0"/>
              <a:buChar char="̶"/>
              <a:defRPr>
                <a:latin typeface="UGent Panno Text" panose="02000506040000040003" pitchFamily="50" charset="0"/>
              </a:defRPr>
            </a:lvl5pPr>
          </a:lstStyle>
          <a:p>
            <a:pPr lvl="0"/>
            <a:r>
              <a:rPr lang="nl-BE" noProof="0"/>
              <a:t>Click </a:t>
            </a:r>
            <a:r>
              <a:rPr lang="nl-BE" noProof="0" err="1"/>
              <a:t>to</a:t>
            </a:r>
            <a:r>
              <a:rPr lang="nl-BE" noProof="0"/>
              <a:t> </a:t>
            </a:r>
            <a:r>
              <a:rPr lang="nl-BE" noProof="0" err="1"/>
              <a:t>edit</a:t>
            </a:r>
            <a:r>
              <a:rPr lang="nl-BE" noProof="0"/>
              <a:t> Master </a:t>
            </a:r>
            <a:r>
              <a:rPr lang="nl-BE" noProof="0" err="1"/>
              <a:t>text</a:t>
            </a:r>
            <a:r>
              <a:rPr lang="nl-BE" noProof="0"/>
              <a:t> </a:t>
            </a:r>
            <a:r>
              <a:rPr lang="nl-BE" noProof="0" err="1"/>
              <a:t>styles</a:t>
            </a:r>
            <a:endParaRPr lang="nl-BE" noProof="0"/>
          </a:p>
          <a:p>
            <a:pPr lvl="1"/>
            <a:r>
              <a:rPr lang="nl-BE" noProof="0"/>
              <a:t>Second level</a:t>
            </a:r>
          </a:p>
          <a:p>
            <a:pPr lvl="2"/>
            <a:r>
              <a:rPr lang="nl-BE" noProof="0" err="1"/>
              <a:t>Third</a:t>
            </a:r>
            <a:r>
              <a:rPr lang="nl-BE" noProof="0"/>
              <a:t> level</a:t>
            </a:r>
          </a:p>
          <a:p>
            <a:pPr lvl="3"/>
            <a:r>
              <a:rPr lang="nl-BE" noProof="0" err="1"/>
              <a:t>Fourth</a:t>
            </a:r>
            <a:r>
              <a:rPr lang="nl-BE" noProof="0"/>
              <a:t> level</a:t>
            </a:r>
          </a:p>
          <a:p>
            <a:pPr lvl="4"/>
            <a:r>
              <a:rPr lang="nl-BE" noProof="0" err="1"/>
              <a:t>Fifth</a:t>
            </a:r>
            <a:r>
              <a:rPr lang="nl-BE" noProof="0"/>
              <a:t> level</a:t>
            </a:r>
          </a:p>
        </p:txBody>
      </p:sp>
    </p:spTree>
    <p:extLst>
      <p:ext uri="{BB962C8B-B14F-4D97-AF65-F5344CB8AC3E}">
        <p14:creationId xmlns:p14="http://schemas.microsoft.com/office/powerpoint/2010/main" val="2034335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ght blue textbox over pictur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76AD30-96E8-448B-B97A-24B00ADE12C5}"/>
              </a:ext>
            </a:extLst>
          </p:cNvPr>
          <p:cNvSpPr/>
          <p:nvPr userDrawn="1"/>
        </p:nvSpPr>
        <p:spPr>
          <a:xfrm>
            <a:off x="914400" y="0"/>
            <a:ext cx="16424275" cy="78984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latin typeface="UGent Panno Text" panose="02000506040000040003" pitchFamily="50" charset="0"/>
            </a:endParaRPr>
          </a:p>
        </p:txBody>
      </p:sp>
      <p:sp>
        <p:nvSpPr>
          <p:cNvPr id="6" name="Picture Placeholder 5"/>
          <p:cNvSpPr>
            <a:spLocks noGrp="1"/>
          </p:cNvSpPr>
          <p:nvPr>
            <p:ph type="pic" sz="quarter" idx="12" hasCustomPrompt="1"/>
          </p:nvPr>
        </p:nvSpPr>
        <p:spPr>
          <a:xfrm>
            <a:off x="914400" y="0"/>
            <a:ext cx="16424275" cy="7920000"/>
          </a:xfrm>
        </p:spPr>
        <p:txBody>
          <a:bodyPr/>
          <a:lstStyle>
            <a:lvl1pPr marL="85725" indent="0">
              <a:buNone/>
              <a:defRPr>
                <a:solidFill>
                  <a:schemeClr val="bg1">
                    <a:lumMod val="50000"/>
                  </a:schemeClr>
                </a:solidFill>
                <a:latin typeface="UGent Panno Text" panose="02000506040000040003" pitchFamily="50" charset="0"/>
              </a:defRPr>
            </a:lvl1pPr>
          </a:lstStyle>
          <a:p>
            <a:r>
              <a:rPr lang="nl-BE" noProof="0"/>
              <a:t>Picture</a:t>
            </a:r>
          </a:p>
        </p:txBody>
      </p:sp>
      <p:sp>
        <p:nvSpPr>
          <p:cNvPr id="2" name="Date Placeholder 1"/>
          <p:cNvSpPr>
            <a:spLocks noGrp="1"/>
          </p:cNvSpPr>
          <p:nvPr>
            <p:ph type="dt" sz="half" idx="10"/>
          </p:nvPr>
        </p:nvSpPr>
        <p:spPr/>
        <p:txBody>
          <a:bodyPr/>
          <a:lstStyle>
            <a:lvl1pPr>
              <a:defRPr>
                <a:latin typeface="UGent Panno Text" panose="02000506040000040003" pitchFamily="50" charset="0"/>
              </a:defRPr>
            </a:lvl1pPr>
          </a:lstStyle>
          <a:p>
            <a:fld id="{66A81384-1200-4D40-BEF0-3A17A1F906F4}" type="datetime1">
              <a:rPr lang="nl-NL" smtClean="0"/>
              <a:pPr/>
              <a:t>17-10-2025</a:t>
            </a:fld>
            <a:endParaRPr lang="nl-NL"/>
          </a:p>
        </p:txBody>
      </p:sp>
      <p:sp>
        <p:nvSpPr>
          <p:cNvPr id="3" name="Footer Placeholder 2"/>
          <p:cNvSpPr>
            <a:spLocks noGrp="1"/>
          </p:cNvSpPr>
          <p:nvPr>
            <p:ph type="ftr" sz="quarter" idx="11"/>
          </p:nvPr>
        </p:nvSpPr>
        <p:spPr/>
        <p:txBody>
          <a:bodyPr/>
          <a:lstStyle>
            <a:lvl1pPr>
              <a:defRPr>
                <a:latin typeface="UGent Panno Text" panose="02000506040000040003" pitchFamily="50" charset="0"/>
              </a:defRPr>
            </a:lvl1pPr>
          </a:lstStyle>
          <a:p>
            <a:endParaRPr lang="nl-NL"/>
          </a:p>
        </p:txBody>
      </p:sp>
      <p:sp>
        <p:nvSpPr>
          <p:cNvPr id="8" name="Tijdelijke aanduiding voor tekst 7">
            <a:extLst>
              <a:ext uri="{FF2B5EF4-FFF2-40B4-BE49-F238E27FC236}">
                <a16:creationId xmlns:a16="http://schemas.microsoft.com/office/drawing/2014/main" id="{0301F6D1-3E66-4198-8305-F0FF1745CC94}"/>
              </a:ext>
            </a:extLst>
          </p:cNvPr>
          <p:cNvSpPr>
            <a:spLocks noGrp="1"/>
          </p:cNvSpPr>
          <p:nvPr>
            <p:ph type="body" sz="quarter" idx="13"/>
          </p:nvPr>
        </p:nvSpPr>
        <p:spPr>
          <a:xfrm>
            <a:off x="914399" y="1011602"/>
            <a:ext cx="7754938" cy="6908398"/>
          </a:xfrm>
          <a:solidFill>
            <a:srgbClr val="E9F0FA"/>
          </a:solidFill>
        </p:spPr>
        <p:txBody>
          <a:bodyPr>
            <a:normAutofit/>
          </a:bodyPr>
          <a:lstStyle>
            <a:lvl1pPr marL="85725" indent="0">
              <a:buNone/>
              <a:defRPr sz="5400" u="sng" cap="all" baseline="0">
                <a:solidFill>
                  <a:srgbClr val="1E64C8"/>
                </a:solidFill>
                <a:latin typeface="UGent Panno Text" panose="02000506040000040003" pitchFamily="50" charset="0"/>
              </a:defRPr>
            </a:lvl1pPr>
            <a:lvl2pPr marL="984250" indent="-625475">
              <a:defRPr>
                <a:solidFill>
                  <a:srgbClr val="1E64C8"/>
                </a:solidFill>
              </a:defRPr>
            </a:lvl2pPr>
            <a:lvl3pPr>
              <a:defRPr>
                <a:solidFill>
                  <a:srgbClr val="1E64C8"/>
                </a:solidFill>
              </a:defRPr>
            </a:lvl3pPr>
            <a:lvl4pPr>
              <a:defRPr>
                <a:solidFill>
                  <a:srgbClr val="1E64C8"/>
                </a:solidFill>
              </a:defRPr>
            </a:lvl4pPr>
            <a:lvl5pPr>
              <a:defRPr>
                <a:solidFill>
                  <a:srgbClr val="1E64C8"/>
                </a:solidFill>
              </a:defRPr>
            </a:lvl5pPr>
          </a:lstStyle>
          <a:p>
            <a:pPr lvl="0"/>
            <a:r>
              <a:rPr lang="en-US"/>
              <a:t>Click to edit Master text styles</a:t>
            </a:r>
          </a:p>
        </p:txBody>
      </p:sp>
    </p:spTree>
    <p:extLst>
      <p:ext uri="{BB962C8B-B14F-4D97-AF65-F5344CB8AC3E}">
        <p14:creationId xmlns:p14="http://schemas.microsoft.com/office/powerpoint/2010/main" val="3772380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ight blue textbox over picture">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UGent Panno Text" panose="02000506040000040003" pitchFamily="50" charset="0"/>
              </a:defRPr>
            </a:lvl1pPr>
          </a:lstStyle>
          <a:p>
            <a:fld id="{66A81384-1200-4D40-BEF0-3A17A1F906F4}" type="datetime1">
              <a:rPr lang="nl-NL" smtClean="0"/>
              <a:pPr/>
              <a:t>17-10-2025</a:t>
            </a:fld>
            <a:endParaRPr lang="nl-NL"/>
          </a:p>
        </p:txBody>
      </p:sp>
      <p:sp>
        <p:nvSpPr>
          <p:cNvPr id="3" name="Footer Placeholder 2"/>
          <p:cNvSpPr>
            <a:spLocks noGrp="1"/>
          </p:cNvSpPr>
          <p:nvPr>
            <p:ph type="ftr" sz="quarter" idx="11"/>
          </p:nvPr>
        </p:nvSpPr>
        <p:spPr/>
        <p:txBody>
          <a:bodyPr/>
          <a:lstStyle>
            <a:lvl1pPr>
              <a:defRPr>
                <a:latin typeface="UGent Panno Text" panose="02000506040000040003" pitchFamily="50" charset="0"/>
              </a:defRPr>
            </a:lvl1pPr>
          </a:lstStyle>
          <a:p>
            <a:endParaRPr lang="nl-NL"/>
          </a:p>
        </p:txBody>
      </p:sp>
      <p:sp>
        <p:nvSpPr>
          <p:cNvPr id="8" name="Tijdelijke aanduiding voor tekst 7">
            <a:extLst>
              <a:ext uri="{FF2B5EF4-FFF2-40B4-BE49-F238E27FC236}">
                <a16:creationId xmlns:a16="http://schemas.microsoft.com/office/drawing/2014/main" id="{0301F6D1-3E66-4198-8305-F0FF1745CC94}"/>
              </a:ext>
            </a:extLst>
          </p:cNvPr>
          <p:cNvSpPr>
            <a:spLocks noGrp="1"/>
          </p:cNvSpPr>
          <p:nvPr>
            <p:ph type="body" sz="quarter" idx="13"/>
          </p:nvPr>
        </p:nvSpPr>
        <p:spPr>
          <a:xfrm>
            <a:off x="914399" y="1011602"/>
            <a:ext cx="7754938" cy="6908398"/>
          </a:xfrm>
          <a:solidFill>
            <a:srgbClr val="FFD200"/>
          </a:solidFill>
        </p:spPr>
        <p:txBody>
          <a:bodyPr>
            <a:normAutofit/>
          </a:bodyPr>
          <a:lstStyle>
            <a:lvl1pPr marL="85725" indent="0">
              <a:buNone/>
              <a:defRPr sz="5400" u="sng" cap="all" baseline="0">
                <a:solidFill>
                  <a:schemeClr val="bg1"/>
                </a:solidFill>
                <a:latin typeface="UGent Panno Text" panose="02000506040000040003" pitchFamily="50" charset="0"/>
                <a:cs typeface="Segoe UI Semibold" panose="020B0702040204020203" pitchFamily="34" charset="0"/>
              </a:defRPr>
            </a:lvl1pPr>
            <a:lvl2pPr marL="984250" indent="-625475">
              <a:defRPr>
                <a:solidFill>
                  <a:srgbClr val="1E64C8"/>
                </a:solidFill>
              </a:defRPr>
            </a:lvl2pPr>
            <a:lvl3pPr>
              <a:defRPr>
                <a:solidFill>
                  <a:srgbClr val="1E64C8"/>
                </a:solidFill>
              </a:defRPr>
            </a:lvl3pPr>
            <a:lvl4pPr>
              <a:defRPr>
                <a:solidFill>
                  <a:srgbClr val="1E64C8"/>
                </a:solidFill>
              </a:defRPr>
            </a:lvl4pPr>
            <a:lvl5pPr>
              <a:defRPr>
                <a:solidFill>
                  <a:srgbClr val="1E64C8"/>
                </a:solidFill>
              </a:defRPr>
            </a:lvl5pPr>
          </a:lstStyle>
          <a:p>
            <a:pPr lvl="0"/>
            <a:r>
              <a:rPr lang="en-US"/>
              <a:t>Click to edit Master text styles</a:t>
            </a:r>
          </a:p>
        </p:txBody>
      </p:sp>
      <p:sp>
        <p:nvSpPr>
          <p:cNvPr id="9" name="Content Placeholder 2">
            <a:extLst>
              <a:ext uri="{FF2B5EF4-FFF2-40B4-BE49-F238E27FC236}">
                <a16:creationId xmlns:a16="http://schemas.microsoft.com/office/drawing/2014/main" id="{06A4006D-72AE-4D60-860C-FBE6AB8C1580}"/>
              </a:ext>
            </a:extLst>
          </p:cNvPr>
          <p:cNvSpPr>
            <a:spLocks noGrp="1"/>
          </p:cNvSpPr>
          <p:nvPr>
            <p:ph idx="1" hasCustomPrompt="1"/>
          </p:nvPr>
        </p:nvSpPr>
        <p:spPr>
          <a:xfrm>
            <a:off x="8899301" y="1011603"/>
            <a:ext cx="7524974" cy="6908398"/>
          </a:xfrm>
        </p:spPr>
        <p:txBody>
          <a:bodyPr/>
          <a:lstStyle>
            <a:lvl1pPr defTabSz="457200">
              <a:lnSpc>
                <a:spcPct val="120000"/>
              </a:lnSpc>
              <a:defRPr>
                <a:latin typeface="UGent Panno Text" panose="02000506040000040003" pitchFamily="50" charset="0"/>
              </a:defRPr>
            </a:lvl1pPr>
            <a:lvl2pPr>
              <a:lnSpc>
                <a:spcPct val="120000"/>
              </a:lnSpc>
              <a:defRPr>
                <a:latin typeface="UGent Panno Text" panose="02000506040000040003" pitchFamily="50" charset="0"/>
              </a:defRPr>
            </a:lvl2pPr>
            <a:lvl3pPr defTabSz="457200">
              <a:lnSpc>
                <a:spcPct val="120000"/>
              </a:lnSpc>
              <a:defRPr>
                <a:latin typeface="UGent Panno Text" panose="02000506040000040003" pitchFamily="50" charset="0"/>
              </a:defRPr>
            </a:lvl3pPr>
            <a:lvl4pPr defTabSz="457200">
              <a:lnSpc>
                <a:spcPct val="120000"/>
              </a:lnSpc>
              <a:defRPr/>
            </a:lvl4pPr>
            <a:lvl5pPr defTabSz="457200">
              <a:lnSpc>
                <a:spcPct val="120000"/>
              </a:lnSpc>
              <a:defRPr/>
            </a:lvl5pPr>
          </a:lstStyle>
          <a:p>
            <a:pPr lvl="0"/>
            <a:r>
              <a:rPr lang="nl-BE" noProof="0"/>
              <a:t>Click </a:t>
            </a:r>
            <a:r>
              <a:rPr lang="nl-BE" noProof="0" err="1"/>
              <a:t>to</a:t>
            </a:r>
            <a:r>
              <a:rPr lang="nl-BE" noProof="0"/>
              <a:t> </a:t>
            </a:r>
            <a:r>
              <a:rPr lang="nl-BE" noProof="0" err="1"/>
              <a:t>edit</a:t>
            </a:r>
            <a:r>
              <a:rPr lang="nl-BE" noProof="0"/>
              <a:t> Master </a:t>
            </a:r>
            <a:r>
              <a:rPr lang="nl-BE" noProof="0" err="1"/>
              <a:t>text</a:t>
            </a:r>
            <a:r>
              <a:rPr lang="nl-BE" noProof="0"/>
              <a:t> </a:t>
            </a:r>
            <a:r>
              <a:rPr lang="nl-BE" noProof="0" err="1"/>
              <a:t>styles</a:t>
            </a:r>
            <a:endParaRPr lang="nl-BE" noProof="0"/>
          </a:p>
          <a:p>
            <a:pPr lvl="1"/>
            <a:r>
              <a:rPr lang="nl-BE" noProof="0"/>
              <a:t>Second level</a:t>
            </a:r>
          </a:p>
          <a:p>
            <a:pPr lvl="2"/>
            <a:r>
              <a:rPr lang="nl-BE" noProof="0" err="1"/>
              <a:t>Third</a:t>
            </a:r>
            <a:r>
              <a:rPr lang="nl-BE" noProof="0"/>
              <a:t> level</a:t>
            </a:r>
          </a:p>
        </p:txBody>
      </p:sp>
    </p:spTree>
    <p:extLst>
      <p:ext uri="{BB962C8B-B14F-4D97-AF65-F5344CB8AC3E}">
        <p14:creationId xmlns:p14="http://schemas.microsoft.com/office/powerpoint/2010/main" val="3555937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latin typeface="UGent Panno Text" panose="02000506040000040003" pitchFamily="50" charset="0"/>
            </a:endParaRPr>
          </a:p>
        </p:txBody>
      </p:sp>
      <p:sp>
        <p:nvSpPr>
          <p:cNvPr id="5" name="Tijdelijke aanduiding voor tekst 4"/>
          <p:cNvSpPr>
            <a:spLocks noGrp="1"/>
          </p:cNvSpPr>
          <p:nvPr>
            <p:ph type="body" sz="quarter" idx="10" hasCustomPrompt="1"/>
          </p:nvPr>
        </p:nvSpPr>
        <p:spPr bwMode="white">
          <a:xfrm>
            <a:off x="9215999" y="3095999"/>
            <a:ext cx="7257600" cy="2125481"/>
          </a:xfrm>
        </p:spPr>
        <p:txBody>
          <a:bodyPr>
            <a:normAutofit/>
          </a:bodyPr>
          <a:lstStyle>
            <a:lvl1pPr marL="0" indent="0">
              <a:lnSpc>
                <a:spcPts val="3500"/>
              </a:lnSpc>
              <a:buNone/>
              <a:defRPr sz="2400">
                <a:solidFill>
                  <a:schemeClr val="bg1"/>
                </a:solidFill>
                <a:latin typeface="UGent Panno Text" panose="02000506040000040003" pitchFamily="50" charset="0"/>
              </a:defRPr>
            </a:lvl1pPr>
          </a:lstStyle>
          <a:p>
            <a:pPr lvl="0"/>
            <a:r>
              <a:rPr lang="nl-NL"/>
              <a:t>Klik om de namen van </a:t>
            </a:r>
            <a:r>
              <a:rPr lang="nl-NL" err="1"/>
              <a:t>social</a:t>
            </a:r>
            <a:r>
              <a:rPr lang="nl-NL"/>
              <a:t> media in te typen</a:t>
            </a:r>
          </a:p>
        </p:txBody>
      </p:sp>
      <p:sp>
        <p:nvSpPr>
          <p:cNvPr id="2" name="Title 1"/>
          <p:cNvSpPr>
            <a:spLocks noGrp="1"/>
          </p:cNvSpPr>
          <p:nvPr>
            <p:ph type="ctrTitle" hasCustomPrompt="1"/>
          </p:nvPr>
        </p:nvSpPr>
        <p:spPr bwMode="white">
          <a:xfrm>
            <a:off x="1291074" y="1743240"/>
            <a:ext cx="7419544" cy="5769600"/>
          </a:xfrm>
        </p:spPr>
        <p:txBody>
          <a:bodyPr anchor="t" anchorCtr="0">
            <a:noAutofit/>
          </a:bodyPr>
          <a:lstStyle>
            <a:lvl1pPr algn="l">
              <a:lnSpc>
                <a:spcPts val="3500"/>
              </a:lnSpc>
              <a:defRPr sz="2500" u="none" cap="none" baseline="0">
                <a:solidFill>
                  <a:schemeClr val="bg1"/>
                </a:solidFill>
                <a:uFill>
                  <a:solidFill>
                    <a:schemeClr val="bg1"/>
                  </a:solidFill>
                </a:uFill>
                <a:latin typeface="UGent Panno Text" panose="02000506040000040003" pitchFamily="50" charset="0"/>
              </a:defRPr>
            </a:lvl1pPr>
          </a:lstStyle>
          <a:p>
            <a:r>
              <a:rPr lang="nl-BE" noProof="0"/>
              <a:t>Klik om de gegevens van de presentator in te typen</a:t>
            </a:r>
          </a:p>
        </p:txBody>
      </p:sp>
      <p:sp>
        <p:nvSpPr>
          <p:cNvPr id="8" name="Titles positoning box" hidden="1"/>
          <p:cNvSpPr/>
          <p:nvPr userDrawn="1"/>
        </p:nvSpPr>
        <p:spPr>
          <a:xfrm>
            <a:off x="1371600" y="1828800"/>
            <a:ext cx="15012000" cy="59997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0378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1"/>
        <p:cNvGrpSpPr/>
        <p:nvPr/>
      </p:nvGrpSpPr>
      <p:grpSpPr>
        <a:xfrm>
          <a:off x="0" y="0"/>
          <a:ext cx="0" cy="0"/>
          <a:chOff x="0" y="0"/>
          <a:chExt cx="0" cy="0"/>
        </a:xfrm>
      </p:grpSpPr>
      <p:sp>
        <p:nvSpPr>
          <p:cNvPr id="32" name="Google Shape;32;p6"/>
          <p:cNvSpPr/>
          <p:nvPr/>
        </p:nvSpPr>
        <p:spPr>
          <a:xfrm rot="10800000" flipH="1">
            <a:off x="0" y="1244729"/>
            <a:ext cx="17338675" cy="8508871"/>
          </a:xfrm>
          <a:prstGeom prst="rect">
            <a:avLst/>
          </a:prstGeom>
          <a:solidFill>
            <a:schemeClr val="accent4"/>
          </a:solidFill>
          <a:ln>
            <a:noFill/>
          </a:ln>
        </p:spPr>
        <p:txBody>
          <a:bodyPr spcFirstLastPara="1" wrap="square" lIns="173358" tIns="173358" rIns="173358" bIns="173358" anchor="ctr" anchorCtr="0">
            <a:noAutofit/>
          </a:bodyPr>
          <a:lstStyle/>
          <a:p>
            <a:pPr marL="0" lvl="0" indent="0" algn="l" rtl="0">
              <a:spcBef>
                <a:spcPts val="0"/>
              </a:spcBef>
              <a:spcAft>
                <a:spcPts val="0"/>
              </a:spcAft>
              <a:buNone/>
            </a:pPr>
            <a:endParaRPr sz="4854"/>
          </a:p>
        </p:txBody>
      </p:sp>
      <p:sp>
        <p:nvSpPr>
          <p:cNvPr id="33" name="Google Shape;33;p6"/>
          <p:cNvSpPr/>
          <p:nvPr/>
        </p:nvSpPr>
        <p:spPr>
          <a:xfrm>
            <a:off x="0" y="1244633"/>
            <a:ext cx="17338675" cy="205938"/>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73358" tIns="173358" rIns="173358" bIns="173358" anchor="ctr" anchorCtr="0">
            <a:noAutofit/>
          </a:bodyPr>
          <a:lstStyle/>
          <a:p>
            <a:pPr marL="0" lvl="0" indent="0" algn="l" rtl="0">
              <a:spcBef>
                <a:spcPts val="0"/>
              </a:spcBef>
              <a:spcAft>
                <a:spcPts val="0"/>
              </a:spcAft>
              <a:buNone/>
            </a:pPr>
            <a:endParaRPr sz="4854"/>
          </a:p>
        </p:txBody>
      </p:sp>
      <p:sp>
        <p:nvSpPr>
          <p:cNvPr id="34" name="Google Shape;34;p6"/>
          <p:cNvSpPr txBox="1">
            <a:spLocks noGrp="1"/>
          </p:cNvSpPr>
          <p:nvPr>
            <p:ph type="title"/>
          </p:nvPr>
        </p:nvSpPr>
        <p:spPr>
          <a:xfrm>
            <a:off x="186300" y="31004"/>
            <a:ext cx="16736827" cy="1142898"/>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3413"/>
            </a:lvl1pPr>
            <a:lvl2pPr lvl="1">
              <a:spcBef>
                <a:spcPts val="0"/>
              </a:spcBef>
              <a:spcAft>
                <a:spcPts val="0"/>
              </a:spcAft>
              <a:buSzPts val="1800"/>
              <a:buNone/>
              <a:defRPr sz="3413"/>
            </a:lvl2pPr>
            <a:lvl3pPr lvl="2">
              <a:spcBef>
                <a:spcPts val="0"/>
              </a:spcBef>
              <a:spcAft>
                <a:spcPts val="0"/>
              </a:spcAft>
              <a:buSzPts val="1800"/>
              <a:buNone/>
              <a:defRPr sz="3413"/>
            </a:lvl3pPr>
            <a:lvl4pPr lvl="3">
              <a:spcBef>
                <a:spcPts val="0"/>
              </a:spcBef>
              <a:spcAft>
                <a:spcPts val="0"/>
              </a:spcAft>
              <a:buSzPts val="1800"/>
              <a:buNone/>
              <a:defRPr sz="3413"/>
            </a:lvl4pPr>
            <a:lvl5pPr lvl="4">
              <a:spcBef>
                <a:spcPts val="0"/>
              </a:spcBef>
              <a:spcAft>
                <a:spcPts val="0"/>
              </a:spcAft>
              <a:buSzPts val="1800"/>
              <a:buNone/>
              <a:defRPr sz="3413"/>
            </a:lvl5pPr>
            <a:lvl6pPr lvl="5">
              <a:spcBef>
                <a:spcPts val="0"/>
              </a:spcBef>
              <a:spcAft>
                <a:spcPts val="0"/>
              </a:spcAft>
              <a:buSzPts val="1800"/>
              <a:buNone/>
              <a:defRPr sz="3413"/>
            </a:lvl6pPr>
            <a:lvl7pPr lvl="6">
              <a:spcBef>
                <a:spcPts val="0"/>
              </a:spcBef>
              <a:spcAft>
                <a:spcPts val="0"/>
              </a:spcAft>
              <a:buSzPts val="1800"/>
              <a:buNone/>
              <a:defRPr sz="3413"/>
            </a:lvl7pPr>
            <a:lvl8pPr lvl="7">
              <a:spcBef>
                <a:spcPts val="0"/>
              </a:spcBef>
              <a:spcAft>
                <a:spcPts val="0"/>
              </a:spcAft>
              <a:buSzPts val="1800"/>
              <a:buNone/>
              <a:defRPr sz="3413"/>
            </a:lvl8pPr>
            <a:lvl9pPr lvl="8">
              <a:spcBef>
                <a:spcPts val="0"/>
              </a:spcBef>
              <a:spcAft>
                <a:spcPts val="0"/>
              </a:spcAft>
              <a:buSzPts val="1800"/>
              <a:buNone/>
              <a:defRPr sz="3413"/>
            </a:lvl9pPr>
          </a:lstStyle>
          <a:p>
            <a:endParaRPr/>
          </a:p>
        </p:txBody>
      </p:sp>
      <p:sp>
        <p:nvSpPr>
          <p:cNvPr id="35" name="Google Shape;35;p6"/>
          <p:cNvSpPr txBox="1">
            <a:spLocks noGrp="1"/>
          </p:cNvSpPr>
          <p:nvPr>
            <p:ph type="sldNum" idx="12"/>
          </p:nvPr>
        </p:nvSpPr>
        <p:spPr>
          <a:xfrm>
            <a:off x="16162172" y="8904293"/>
            <a:ext cx="1040434"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nl" smtClean="0"/>
              <a:pPr/>
              <a:t>‹#›</a:t>
            </a:fld>
            <a:endParaRPr lang="nl"/>
          </a:p>
        </p:txBody>
      </p:sp>
    </p:spTree>
    <p:extLst>
      <p:ext uri="{BB962C8B-B14F-4D97-AF65-F5344CB8AC3E}">
        <p14:creationId xmlns:p14="http://schemas.microsoft.com/office/powerpoint/2010/main" val="3655128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1"/>
        <p:cNvGrpSpPr/>
        <p:nvPr/>
      </p:nvGrpSpPr>
      <p:grpSpPr>
        <a:xfrm>
          <a:off x="0" y="0"/>
          <a:ext cx="0" cy="0"/>
          <a:chOff x="0" y="0"/>
          <a:chExt cx="0" cy="0"/>
        </a:xfrm>
      </p:grpSpPr>
      <p:sp>
        <p:nvSpPr>
          <p:cNvPr id="32" name="Google Shape;32;p6"/>
          <p:cNvSpPr/>
          <p:nvPr/>
        </p:nvSpPr>
        <p:spPr>
          <a:xfrm rot="10800000" flipH="1">
            <a:off x="0" y="1244729"/>
            <a:ext cx="17338675" cy="8508871"/>
          </a:xfrm>
          <a:prstGeom prst="rect">
            <a:avLst/>
          </a:prstGeom>
          <a:solidFill>
            <a:schemeClr val="accent4"/>
          </a:solidFill>
          <a:ln>
            <a:noFill/>
          </a:ln>
        </p:spPr>
        <p:txBody>
          <a:bodyPr spcFirstLastPara="1" wrap="square" lIns="173358" tIns="173358" rIns="173358" bIns="173358" anchor="ctr" anchorCtr="0">
            <a:noAutofit/>
          </a:bodyPr>
          <a:lstStyle/>
          <a:p>
            <a:pPr marL="0" lvl="0" indent="0" algn="l" rtl="0">
              <a:spcBef>
                <a:spcPts val="0"/>
              </a:spcBef>
              <a:spcAft>
                <a:spcPts val="0"/>
              </a:spcAft>
              <a:buNone/>
            </a:pPr>
            <a:endParaRPr sz="4854"/>
          </a:p>
        </p:txBody>
      </p:sp>
      <p:sp>
        <p:nvSpPr>
          <p:cNvPr id="33" name="Google Shape;33;p6"/>
          <p:cNvSpPr/>
          <p:nvPr/>
        </p:nvSpPr>
        <p:spPr>
          <a:xfrm>
            <a:off x="0" y="1244633"/>
            <a:ext cx="17338675" cy="205938"/>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73358" tIns="173358" rIns="173358" bIns="173358" anchor="ctr" anchorCtr="0">
            <a:noAutofit/>
          </a:bodyPr>
          <a:lstStyle/>
          <a:p>
            <a:pPr marL="0" lvl="0" indent="0" algn="l" rtl="0">
              <a:spcBef>
                <a:spcPts val="0"/>
              </a:spcBef>
              <a:spcAft>
                <a:spcPts val="0"/>
              </a:spcAft>
              <a:buNone/>
            </a:pPr>
            <a:endParaRPr sz="4854"/>
          </a:p>
        </p:txBody>
      </p:sp>
      <p:sp>
        <p:nvSpPr>
          <p:cNvPr id="34" name="Google Shape;34;p6"/>
          <p:cNvSpPr txBox="1">
            <a:spLocks noGrp="1"/>
          </p:cNvSpPr>
          <p:nvPr>
            <p:ph type="title"/>
          </p:nvPr>
        </p:nvSpPr>
        <p:spPr>
          <a:xfrm>
            <a:off x="186300" y="31004"/>
            <a:ext cx="16736827" cy="1142898"/>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3413"/>
            </a:lvl1pPr>
            <a:lvl2pPr lvl="1">
              <a:spcBef>
                <a:spcPts val="0"/>
              </a:spcBef>
              <a:spcAft>
                <a:spcPts val="0"/>
              </a:spcAft>
              <a:buSzPts val="1800"/>
              <a:buNone/>
              <a:defRPr sz="3413"/>
            </a:lvl2pPr>
            <a:lvl3pPr lvl="2">
              <a:spcBef>
                <a:spcPts val="0"/>
              </a:spcBef>
              <a:spcAft>
                <a:spcPts val="0"/>
              </a:spcAft>
              <a:buSzPts val="1800"/>
              <a:buNone/>
              <a:defRPr sz="3413"/>
            </a:lvl3pPr>
            <a:lvl4pPr lvl="3">
              <a:spcBef>
                <a:spcPts val="0"/>
              </a:spcBef>
              <a:spcAft>
                <a:spcPts val="0"/>
              </a:spcAft>
              <a:buSzPts val="1800"/>
              <a:buNone/>
              <a:defRPr sz="3413"/>
            </a:lvl4pPr>
            <a:lvl5pPr lvl="4">
              <a:spcBef>
                <a:spcPts val="0"/>
              </a:spcBef>
              <a:spcAft>
                <a:spcPts val="0"/>
              </a:spcAft>
              <a:buSzPts val="1800"/>
              <a:buNone/>
              <a:defRPr sz="3413"/>
            </a:lvl5pPr>
            <a:lvl6pPr lvl="5">
              <a:spcBef>
                <a:spcPts val="0"/>
              </a:spcBef>
              <a:spcAft>
                <a:spcPts val="0"/>
              </a:spcAft>
              <a:buSzPts val="1800"/>
              <a:buNone/>
              <a:defRPr sz="3413"/>
            </a:lvl6pPr>
            <a:lvl7pPr lvl="6">
              <a:spcBef>
                <a:spcPts val="0"/>
              </a:spcBef>
              <a:spcAft>
                <a:spcPts val="0"/>
              </a:spcAft>
              <a:buSzPts val="1800"/>
              <a:buNone/>
              <a:defRPr sz="3413"/>
            </a:lvl7pPr>
            <a:lvl8pPr lvl="7">
              <a:spcBef>
                <a:spcPts val="0"/>
              </a:spcBef>
              <a:spcAft>
                <a:spcPts val="0"/>
              </a:spcAft>
              <a:buSzPts val="1800"/>
              <a:buNone/>
              <a:defRPr sz="3413"/>
            </a:lvl8pPr>
            <a:lvl9pPr lvl="8">
              <a:spcBef>
                <a:spcPts val="0"/>
              </a:spcBef>
              <a:spcAft>
                <a:spcPts val="0"/>
              </a:spcAft>
              <a:buSzPts val="1800"/>
              <a:buNone/>
              <a:defRPr sz="3413"/>
            </a:lvl9pPr>
          </a:lstStyle>
          <a:p>
            <a:endParaRPr/>
          </a:p>
        </p:txBody>
      </p:sp>
      <p:sp>
        <p:nvSpPr>
          <p:cNvPr id="35" name="Google Shape;35;p6"/>
          <p:cNvSpPr txBox="1">
            <a:spLocks noGrp="1"/>
          </p:cNvSpPr>
          <p:nvPr>
            <p:ph type="sldNum" idx="12"/>
          </p:nvPr>
        </p:nvSpPr>
        <p:spPr>
          <a:xfrm>
            <a:off x="16162172" y="8904293"/>
            <a:ext cx="1040434" cy="746382"/>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nl" smtClean="0"/>
              <a:pPr/>
              <a:t>‹#›</a:t>
            </a:fld>
            <a:endParaRPr lang="nl"/>
          </a:p>
        </p:txBody>
      </p:sp>
    </p:spTree>
    <p:extLst>
      <p:ext uri="{BB962C8B-B14F-4D97-AF65-F5344CB8AC3E}">
        <p14:creationId xmlns:p14="http://schemas.microsoft.com/office/powerpoint/2010/main" val="3655128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tent Slide 2 - Table">
  <p:cSld name="Content Slide 2 - Table">
    <p:spTree>
      <p:nvGrpSpPr>
        <p:cNvPr id="1" name="Shape 43"/>
        <p:cNvGrpSpPr/>
        <p:nvPr/>
      </p:nvGrpSpPr>
      <p:grpSpPr>
        <a:xfrm>
          <a:off x="0" y="0"/>
          <a:ext cx="0" cy="0"/>
          <a:chOff x="0" y="0"/>
          <a:chExt cx="0" cy="0"/>
        </a:xfrm>
      </p:grpSpPr>
      <p:pic>
        <p:nvPicPr>
          <p:cNvPr id="44" name="Google Shape;44;p8"/>
          <p:cNvPicPr preferRelativeResize="0"/>
          <p:nvPr/>
        </p:nvPicPr>
        <p:blipFill rotWithShape="1">
          <a:blip r:embed="rId2">
            <a:alphaModFix/>
          </a:blip>
          <a:srcRect/>
          <a:stretch/>
        </p:blipFill>
        <p:spPr>
          <a:xfrm>
            <a:off x="14443247" y="7605123"/>
            <a:ext cx="1890729" cy="1381193"/>
          </a:xfrm>
          <a:prstGeom prst="rect">
            <a:avLst/>
          </a:prstGeom>
          <a:noFill/>
          <a:ln>
            <a:noFill/>
          </a:ln>
        </p:spPr>
      </p:pic>
      <p:sp>
        <p:nvSpPr>
          <p:cNvPr id="45" name="Google Shape;45;p8"/>
          <p:cNvSpPr txBox="1">
            <a:spLocks noGrp="1"/>
          </p:cNvSpPr>
          <p:nvPr>
            <p:ph type="body" idx="1"/>
          </p:nvPr>
        </p:nvSpPr>
        <p:spPr>
          <a:xfrm>
            <a:off x="12405926" y="2400307"/>
            <a:ext cx="4451995" cy="4245333"/>
          </a:xfrm>
          <a:prstGeom prst="rect">
            <a:avLst/>
          </a:prstGeom>
          <a:noFill/>
          <a:ln>
            <a:noFill/>
          </a:ln>
        </p:spPr>
        <p:txBody>
          <a:bodyPr spcFirstLastPara="1" wrap="square" lIns="91425" tIns="45700" rIns="91425" bIns="45700" anchor="t" anchorCtr="0">
            <a:noAutofit/>
          </a:bodyPr>
          <a:lstStyle>
            <a:lvl1pPr marL="650184" marR="0" lvl="0" indent="-325092" algn="l" rtl="0">
              <a:lnSpc>
                <a:spcPct val="100000"/>
              </a:lnSpc>
              <a:spcBef>
                <a:spcPts val="0"/>
              </a:spcBef>
              <a:spcAft>
                <a:spcPts val="0"/>
              </a:spcAft>
              <a:buClr>
                <a:srgbClr val="000000"/>
              </a:buClr>
              <a:buSzPts val="1400"/>
              <a:buFont typeface="Montserrat"/>
              <a:buNone/>
              <a:defRPr sz="2275" b="0" i="0" u="none" strike="noStrike" cap="none">
                <a:solidFill>
                  <a:srgbClr val="000000"/>
                </a:solidFill>
                <a:latin typeface="Montserrat"/>
                <a:ea typeface="Montserrat"/>
                <a:cs typeface="Montserrat"/>
                <a:sym typeface="Montserrat"/>
              </a:defRPr>
            </a:lvl1pPr>
            <a:lvl2pPr marL="1300368" marR="0" lvl="1" indent="-325092" algn="l" rtl="0">
              <a:lnSpc>
                <a:spcPct val="100000"/>
              </a:lnSpc>
              <a:spcBef>
                <a:spcPts val="0"/>
              </a:spcBef>
              <a:spcAft>
                <a:spcPts val="0"/>
              </a:spcAft>
              <a:buClr>
                <a:srgbClr val="000000"/>
              </a:buClr>
              <a:buSzPts val="1400"/>
              <a:buFont typeface="Montserrat"/>
              <a:buNone/>
              <a:defRPr sz="2275" b="0" i="0" u="none" strike="noStrike" cap="none">
                <a:solidFill>
                  <a:srgbClr val="000000"/>
                </a:solidFill>
                <a:latin typeface="Montserrat"/>
                <a:ea typeface="Montserrat"/>
                <a:cs typeface="Montserrat"/>
                <a:sym typeface="Montserrat"/>
              </a:defRPr>
            </a:lvl2pPr>
            <a:lvl3pPr marL="1950552" marR="0" lvl="2" indent="-325092" algn="l" rtl="0">
              <a:lnSpc>
                <a:spcPct val="100000"/>
              </a:lnSpc>
              <a:spcBef>
                <a:spcPts val="0"/>
              </a:spcBef>
              <a:spcAft>
                <a:spcPts val="0"/>
              </a:spcAft>
              <a:buClr>
                <a:srgbClr val="000000"/>
              </a:buClr>
              <a:buSzPts val="1400"/>
              <a:buFont typeface="Montserrat"/>
              <a:buNone/>
              <a:defRPr sz="2275" b="0" i="0" u="none" strike="noStrike" cap="none">
                <a:solidFill>
                  <a:srgbClr val="000000"/>
                </a:solidFill>
                <a:latin typeface="Montserrat"/>
                <a:ea typeface="Montserrat"/>
                <a:cs typeface="Montserrat"/>
                <a:sym typeface="Montserrat"/>
              </a:defRPr>
            </a:lvl3pPr>
            <a:lvl4pPr marL="2600736" marR="0" lvl="3" indent="-325092" algn="l" rtl="0">
              <a:lnSpc>
                <a:spcPct val="100000"/>
              </a:lnSpc>
              <a:spcBef>
                <a:spcPts val="0"/>
              </a:spcBef>
              <a:spcAft>
                <a:spcPts val="0"/>
              </a:spcAft>
              <a:buClr>
                <a:srgbClr val="000000"/>
              </a:buClr>
              <a:buSzPts val="1400"/>
              <a:buFont typeface="Montserrat"/>
              <a:buNone/>
              <a:defRPr sz="2275" b="0" i="0" u="none" strike="noStrike" cap="none">
                <a:solidFill>
                  <a:srgbClr val="000000"/>
                </a:solidFill>
                <a:latin typeface="Montserrat"/>
                <a:ea typeface="Montserrat"/>
                <a:cs typeface="Montserrat"/>
                <a:sym typeface="Montserrat"/>
              </a:defRPr>
            </a:lvl4pPr>
            <a:lvl5pPr marL="3250921" marR="0" lvl="4" indent="-325092" algn="l" rtl="0">
              <a:lnSpc>
                <a:spcPct val="100000"/>
              </a:lnSpc>
              <a:spcBef>
                <a:spcPts val="0"/>
              </a:spcBef>
              <a:spcAft>
                <a:spcPts val="0"/>
              </a:spcAft>
              <a:buClr>
                <a:srgbClr val="000000"/>
              </a:buClr>
              <a:buSzPts val="1400"/>
              <a:buFont typeface="Montserrat"/>
              <a:buNone/>
              <a:defRPr sz="2275" b="0" i="0" u="none" strike="noStrike" cap="none">
                <a:solidFill>
                  <a:srgbClr val="000000"/>
                </a:solidFill>
                <a:latin typeface="Montserrat"/>
                <a:ea typeface="Montserrat"/>
                <a:cs typeface="Montserrat"/>
                <a:sym typeface="Montserrat"/>
              </a:defRPr>
            </a:lvl5pPr>
            <a:lvl6pPr marL="3901105" marR="0" lvl="5"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6pPr>
            <a:lvl7pPr marL="4551289" marR="0" lvl="6"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7pPr>
            <a:lvl8pPr marL="5201473" marR="0" lvl="7"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8pPr>
            <a:lvl9pPr marL="5851657" marR="0" lvl="8"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9pPr>
          </a:lstStyle>
          <a:p>
            <a:endParaRPr/>
          </a:p>
        </p:txBody>
      </p:sp>
      <p:sp>
        <p:nvSpPr>
          <p:cNvPr id="46" name="Google Shape;46;p8"/>
          <p:cNvSpPr>
            <a:spLocks noGrp="1"/>
          </p:cNvSpPr>
          <p:nvPr>
            <p:ph type="pic" idx="2"/>
          </p:nvPr>
        </p:nvSpPr>
        <p:spPr>
          <a:xfrm>
            <a:off x="1203945" y="2825000"/>
            <a:ext cx="10936447" cy="5929020"/>
          </a:xfrm>
          <a:prstGeom prst="rect">
            <a:avLst/>
          </a:prstGeom>
          <a:noFill/>
          <a:ln>
            <a:noFill/>
          </a:ln>
        </p:spPr>
      </p:sp>
      <p:sp>
        <p:nvSpPr>
          <p:cNvPr id="47" name="Google Shape;47;p8"/>
          <p:cNvSpPr txBox="1">
            <a:spLocks noGrp="1"/>
          </p:cNvSpPr>
          <p:nvPr>
            <p:ph type="body" idx="3"/>
          </p:nvPr>
        </p:nvSpPr>
        <p:spPr>
          <a:xfrm>
            <a:off x="1204018" y="999580"/>
            <a:ext cx="15653902" cy="876112"/>
          </a:xfrm>
          <a:prstGeom prst="rect">
            <a:avLst/>
          </a:prstGeom>
          <a:noFill/>
          <a:ln>
            <a:noFill/>
          </a:ln>
        </p:spPr>
        <p:txBody>
          <a:bodyPr spcFirstLastPara="1" wrap="square" lIns="91425" tIns="45700" rIns="91425" bIns="45700" anchor="t" anchorCtr="0">
            <a:noAutofit/>
          </a:bodyPr>
          <a:lstStyle>
            <a:lvl1pPr marL="650184" marR="0" lvl="0"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1pPr>
            <a:lvl2pPr marL="1300368" marR="0" lvl="1"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2pPr>
            <a:lvl3pPr marL="1950552" marR="0" lvl="2"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3pPr>
            <a:lvl4pPr marL="2600736" marR="0" lvl="3"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4pPr>
            <a:lvl5pPr marL="3250921" marR="0" lvl="4"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5pPr>
            <a:lvl6pPr marL="3901105" marR="0" lvl="5"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6pPr>
            <a:lvl7pPr marL="4551289" marR="0" lvl="6"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7pPr>
            <a:lvl8pPr marL="5201473" marR="0" lvl="7"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8pPr>
            <a:lvl9pPr marL="5851657" marR="0" lvl="8"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9pPr>
          </a:lstStyle>
          <a:p>
            <a:endParaRPr/>
          </a:p>
        </p:txBody>
      </p:sp>
      <p:cxnSp>
        <p:nvCxnSpPr>
          <p:cNvPr id="48" name="Google Shape;48;p8"/>
          <p:cNvCxnSpPr/>
          <p:nvPr/>
        </p:nvCxnSpPr>
        <p:spPr>
          <a:xfrm>
            <a:off x="1631412" y="1804754"/>
            <a:ext cx="3111184" cy="0"/>
          </a:xfrm>
          <a:prstGeom prst="straightConnector1">
            <a:avLst/>
          </a:prstGeom>
          <a:noFill/>
          <a:ln w="19050" cap="flat" cmpd="sng">
            <a:solidFill>
              <a:srgbClr val="F47D20"/>
            </a:solidFill>
            <a:prstDash val="solid"/>
            <a:round/>
            <a:headEnd type="none" w="sm" len="sm"/>
            <a:tailEnd type="none" w="sm" len="sm"/>
          </a:ln>
        </p:spPr>
      </p:cxnSp>
      <p:sp>
        <p:nvSpPr>
          <p:cNvPr id="49" name="Google Shape;49;p8"/>
          <p:cNvSpPr txBox="1">
            <a:spLocks noGrp="1"/>
          </p:cNvSpPr>
          <p:nvPr>
            <p:ph type="body" idx="4"/>
          </p:nvPr>
        </p:nvSpPr>
        <p:spPr>
          <a:xfrm>
            <a:off x="1203323" y="1912290"/>
            <a:ext cx="10937069" cy="876112"/>
          </a:xfrm>
          <a:prstGeom prst="rect">
            <a:avLst/>
          </a:prstGeom>
          <a:noFill/>
          <a:ln>
            <a:noFill/>
          </a:ln>
        </p:spPr>
        <p:txBody>
          <a:bodyPr spcFirstLastPara="1" wrap="square" lIns="91425" tIns="45700" rIns="91425" bIns="45700" anchor="t" anchorCtr="0">
            <a:noAutofit/>
          </a:bodyPr>
          <a:lstStyle>
            <a:lvl1pPr marL="650184" marR="0" lvl="0" indent="-325092" algn="l" rtl="0">
              <a:lnSpc>
                <a:spcPct val="100000"/>
              </a:lnSpc>
              <a:spcBef>
                <a:spcPts val="0"/>
              </a:spcBef>
              <a:spcAft>
                <a:spcPts val="0"/>
              </a:spcAft>
              <a:buClr>
                <a:srgbClr val="000000"/>
              </a:buClr>
              <a:buSzPts val="1400"/>
              <a:buFont typeface="Montserrat"/>
              <a:buNone/>
              <a:defRPr sz="2844" b="0" i="0" u="none" strike="noStrike" cap="none">
                <a:solidFill>
                  <a:schemeClr val="dk2"/>
                </a:solidFill>
                <a:latin typeface="Montserrat"/>
                <a:ea typeface="Montserrat"/>
                <a:cs typeface="Montserrat"/>
                <a:sym typeface="Montserrat"/>
              </a:defRPr>
            </a:lvl1pPr>
            <a:lvl2pPr marL="1300368" marR="0" lvl="1"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2pPr>
            <a:lvl3pPr marL="1950552" marR="0" lvl="2"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3pPr>
            <a:lvl4pPr marL="2600736" marR="0" lvl="3"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4pPr>
            <a:lvl5pPr marL="3250921" marR="0" lvl="4" indent="-325092" algn="l" rtl="0">
              <a:lnSpc>
                <a:spcPct val="100000"/>
              </a:lnSpc>
              <a:spcBef>
                <a:spcPts val="0"/>
              </a:spcBef>
              <a:spcAft>
                <a:spcPts val="0"/>
              </a:spcAft>
              <a:buClr>
                <a:srgbClr val="000000"/>
              </a:buClr>
              <a:buSzPts val="1400"/>
              <a:buFont typeface="Montserrat"/>
              <a:buNone/>
              <a:defRPr sz="4551" b="0" i="0" u="none" strike="noStrike" cap="none">
                <a:solidFill>
                  <a:srgbClr val="000000"/>
                </a:solidFill>
                <a:latin typeface="Montserrat"/>
                <a:ea typeface="Montserrat"/>
                <a:cs typeface="Montserrat"/>
                <a:sym typeface="Montserrat"/>
              </a:defRPr>
            </a:lvl5pPr>
            <a:lvl6pPr marL="3901105" marR="0" lvl="5"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6pPr>
            <a:lvl7pPr marL="4551289" marR="0" lvl="6"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7pPr>
            <a:lvl8pPr marL="5201473" marR="0" lvl="7"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8pPr>
            <a:lvl9pPr marL="5851657" marR="0" lvl="8" indent="-325092" algn="l" rtl="0">
              <a:lnSpc>
                <a:spcPct val="100000"/>
              </a:lnSpc>
              <a:spcBef>
                <a:spcPts val="0"/>
              </a:spcBef>
              <a:spcAft>
                <a:spcPts val="0"/>
              </a:spcAft>
              <a:buClr>
                <a:srgbClr val="000000"/>
              </a:buClr>
              <a:buSzPts val="1400"/>
              <a:buFont typeface="Montserrat"/>
              <a:buNone/>
              <a:defRPr sz="1991" b="0" i="0" u="none" strike="noStrike" cap="none">
                <a:solidFill>
                  <a:srgbClr val="000000"/>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4065422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Light 01">
    <p:spTree>
      <p:nvGrpSpPr>
        <p:cNvPr id="1" name=""/>
        <p:cNvGrpSpPr/>
        <p:nvPr/>
      </p:nvGrpSpPr>
      <p:grpSpPr>
        <a:xfrm>
          <a:off x="0" y="0"/>
          <a:ext cx="0" cy="0"/>
          <a:chOff x="0" y="0"/>
          <a:chExt cx="0" cy="0"/>
        </a:xfrm>
      </p:grpSpPr>
      <p:sp>
        <p:nvSpPr>
          <p:cNvPr id="16" name="Vrije vorm: vorm 15">
            <a:extLst>
              <a:ext uri="{FF2B5EF4-FFF2-40B4-BE49-F238E27FC236}">
                <a16:creationId xmlns:a16="http://schemas.microsoft.com/office/drawing/2014/main" id="{4A604E13-2276-D5DE-3D58-6EFB8E3967FB}"/>
              </a:ext>
            </a:extLst>
          </p:cNvPr>
          <p:cNvSpPr/>
          <p:nvPr/>
        </p:nvSpPr>
        <p:spPr>
          <a:xfrm>
            <a:off x="14089335" y="6502364"/>
            <a:ext cx="3251037" cy="3251236"/>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sz="2560"/>
          </a:p>
        </p:txBody>
      </p:sp>
      <p:sp>
        <p:nvSpPr>
          <p:cNvPr id="17" name="Vrije vorm: vorm 16">
            <a:extLst>
              <a:ext uri="{FF2B5EF4-FFF2-40B4-BE49-F238E27FC236}">
                <a16:creationId xmlns:a16="http://schemas.microsoft.com/office/drawing/2014/main" id="{50B16225-2A86-355A-C1EF-3C85ECF0C92D}"/>
              </a:ext>
            </a:extLst>
          </p:cNvPr>
          <p:cNvSpPr/>
          <p:nvPr/>
        </p:nvSpPr>
        <p:spPr>
          <a:xfrm rot="2700000">
            <a:off x="14565369" y="3727442"/>
            <a:ext cx="2298960" cy="229881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4"/>
          </a:solidFill>
          <a:ln w="0" cap="flat">
            <a:noFill/>
            <a:prstDash val="solid"/>
            <a:miter/>
          </a:ln>
        </p:spPr>
        <p:txBody>
          <a:bodyPr rtlCol="0" anchor="ctr"/>
          <a:lstStyle/>
          <a:p>
            <a:endParaRPr lang="nl-NL" sz="2560"/>
          </a:p>
        </p:txBody>
      </p:sp>
      <p:sp>
        <p:nvSpPr>
          <p:cNvPr id="18" name="Vrije vorm: vorm 17">
            <a:extLst>
              <a:ext uri="{FF2B5EF4-FFF2-40B4-BE49-F238E27FC236}">
                <a16:creationId xmlns:a16="http://schemas.microsoft.com/office/drawing/2014/main" id="{5FAC88EB-12CC-AF74-3DA4-9849EEE0EF7A}"/>
              </a:ext>
            </a:extLst>
          </p:cNvPr>
          <p:cNvSpPr/>
          <p:nvPr/>
        </p:nvSpPr>
        <p:spPr>
          <a:xfrm>
            <a:off x="10838298" y="3250784"/>
            <a:ext cx="3251037" cy="325123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sz="2560"/>
          </a:p>
        </p:txBody>
      </p:sp>
      <p:sp>
        <p:nvSpPr>
          <p:cNvPr id="19" name="Vrije vorm: vorm 18">
            <a:extLst>
              <a:ext uri="{FF2B5EF4-FFF2-40B4-BE49-F238E27FC236}">
                <a16:creationId xmlns:a16="http://schemas.microsoft.com/office/drawing/2014/main" id="{932E4208-D2A2-676D-678E-A1239FD82EAD}"/>
              </a:ext>
            </a:extLst>
          </p:cNvPr>
          <p:cNvSpPr/>
          <p:nvPr/>
        </p:nvSpPr>
        <p:spPr>
          <a:xfrm>
            <a:off x="10838298" y="0"/>
            <a:ext cx="3251037" cy="3251236"/>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rgbClr val="00A3A6"/>
          </a:solidFill>
          <a:ln w="0" cap="flat">
            <a:noFill/>
            <a:prstDash val="solid"/>
            <a:miter/>
          </a:ln>
        </p:spPr>
        <p:txBody>
          <a:bodyPr rtlCol="0" anchor="ctr"/>
          <a:lstStyle/>
          <a:p>
            <a:endParaRPr lang="nl-NL" sz="2560"/>
          </a:p>
        </p:txBody>
      </p:sp>
      <p:sp>
        <p:nvSpPr>
          <p:cNvPr id="20" name="Vrije vorm: vorm 19">
            <a:extLst>
              <a:ext uri="{FF2B5EF4-FFF2-40B4-BE49-F238E27FC236}">
                <a16:creationId xmlns:a16="http://schemas.microsoft.com/office/drawing/2014/main" id="{3E396590-C55C-AB05-C09C-CBC7682089C4}"/>
              </a:ext>
            </a:extLst>
          </p:cNvPr>
          <p:cNvSpPr/>
          <p:nvPr/>
        </p:nvSpPr>
        <p:spPr>
          <a:xfrm>
            <a:off x="9212779" y="0"/>
            <a:ext cx="1625519" cy="3251236"/>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3"/>
          </a:solidFill>
          <a:ln w="0" cap="flat">
            <a:noFill/>
            <a:prstDash val="solid"/>
            <a:miter/>
          </a:ln>
        </p:spPr>
        <p:txBody>
          <a:bodyPr rtlCol="0" anchor="ctr"/>
          <a:lstStyle/>
          <a:p>
            <a:endParaRPr lang="nl-NL" sz="2560"/>
          </a:p>
        </p:txBody>
      </p:sp>
      <p:sp>
        <p:nvSpPr>
          <p:cNvPr id="21" name="Vrije vorm: vorm 20">
            <a:extLst>
              <a:ext uri="{FF2B5EF4-FFF2-40B4-BE49-F238E27FC236}">
                <a16:creationId xmlns:a16="http://schemas.microsoft.com/office/drawing/2014/main" id="{D8982F97-2479-6D1B-B7A0-953536834A38}"/>
              </a:ext>
            </a:extLst>
          </p:cNvPr>
          <p:cNvSpPr/>
          <p:nvPr/>
        </p:nvSpPr>
        <p:spPr>
          <a:xfrm>
            <a:off x="10838297" y="6502039"/>
            <a:ext cx="3251036" cy="1625617"/>
          </a:xfrm>
          <a:custGeom>
            <a:avLst/>
            <a:gdLst>
              <a:gd name="connsiteX0" fmla="*/ 2286025 w 2286024"/>
              <a:gd name="connsiteY0" fmla="*/ 1143012 h 1143012"/>
              <a:gd name="connsiteX1" fmla="*/ 0 w 2286024"/>
              <a:gd name="connsiteY1" fmla="*/ 1143012 h 1143012"/>
              <a:gd name="connsiteX2" fmla="*/ 1143012 w 2286024"/>
              <a:gd name="connsiteY2" fmla="*/ 0 h 1143012"/>
              <a:gd name="connsiteX3" fmla="*/ 2286025 w 2286024"/>
              <a:gd name="connsiteY3" fmla="*/ 1143012 h 1143012"/>
            </a:gdLst>
            <a:ahLst/>
            <a:cxnLst>
              <a:cxn ang="0">
                <a:pos x="connsiteX0" y="connsiteY0"/>
              </a:cxn>
              <a:cxn ang="0">
                <a:pos x="connsiteX1" y="connsiteY1"/>
              </a:cxn>
              <a:cxn ang="0">
                <a:pos x="connsiteX2" y="connsiteY2"/>
              </a:cxn>
              <a:cxn ang="0">
                <a:pos x="connsiteX3" y="connsiteY3"/>
              </a:cxn>
            </a:cxnLst>
            <a:rect l="l" t="t" r="r" b="b"/>
            <a:pathLst>
              <a:path w="2286024" h="1143012">
                <a:moveTo>
                  <a:pt x="2286025" y="1143012"/>
                </a:moveTo>
                <a:lnTo>
                  <a:pt x="0" y="1143012"/>
                </a:lnTo>
                <a:cubicBezTo>
                  <a:pt x="0" y="511772"/>
                  <a:pt x="511784" y="0"/>
                  <a:pt x="1143012" y="0"/>
                </a:cubicBezTo>
                <a:cubicBezTo>
                  <a:pt x="1774241" y="0"/>
                  <a:pt x="2286025" y="511772"/>
                  <a:pt x="2286025" y="1143012"/>
                </a:cubicBezTo>
                <a:close/>
              </a:path>
            </a:pathLst>
          </a:custGeom>
          <a:solidFill>
            <a:srgbClr val="EE641C"/>
          </a:solidFill>
          <a:ln w="0" cap="flat">
            <a:noFill/>
            <a:prstDash val="solid"/>
            <a:miter/>
          </a:ln>
        </p:spPr>
        <p:txBody>
          <a:bodyPr rtlCol="0" anchor="ctr"/>
          <a:lstStyle/>
          <a:p>
            <a:endParaRPr lang="nl-NL" sz="2560"/>
          </a:p>
        </p:txBody>
      </p:sp>
      <p:sp>
        <p:nvSpPr>
          <p:cNvPr id="22" name="Vrije vorm: vorm 21">
            <a:extLst>
              <a:ext uri="{FF2B5EF4-FFF2-40B4-BE49-F238E27FC236}">
                <a16:creationId xmlns:a16="http://schemas.microsoft.com/office/drawing/2014/main" id="{B2D793A6-2CFD-8B8D-9624-10E6E7FB2A1D}"/>
              </a:ext>
            </a:extLst>
          </p:cNvPr>
          <p:cNvSpPr/>
          <p:nvPr/>
        </p:nvSpPr>
        <p:spPr>
          <a:xfrm>
            <a:off x="14089335" y="1624820"/>
            <a:ext cx="3251037" cy="1625621"/>
          </a:xfrm>
          <a:custGeom>
            <a:avLst/>
            <a:gdLst>
              <a:gd name="connsiteX0" fmla="*/ 0 w 2286025"/>
              <a:gd name="connsiteY0" fmla="*/ 1143015 h 1143015"/>
              <a:gd name="connsiteX1" fmla="*/ 2286026 w 2286025"/>
              <a:gd name="connsiteY1" fmla="*/ 1143015 h 1143015"/>
              <a:gd name="connsiteX2" fmla="*/ 1143013 w 2286025"/>
              <a:gd name="connsiteY2" fmla="*/ 0 h 1143015"/>
              <a:gd name="connsiteX3" fmla="*/ 0 w 2286025"/>
              <a:gd name="connsiteY3" fmla="*/ 1143015 h 1143015"/>
            </a:gdLst>
            <a:ahLst/>
            <a:cxnLst>
              <a:cxn ang="0">
                <a:pos x="connsiteX0" y="connsiteY0"/>
              </a:cxn>
              <a:cxn ang="0">
                <a:pos x="connsiteX1" y="connsiteY1"/>
              </a:cxn>
              <a:cxn ang="0">
                <a:pos x="connsiteX2" y="connsiteY2"/>
              </a:cxn>
              <a:cxn ang="0">
                <a:pos x="connsiteX3" y="connsiteY3"/>
              </a:cxn>
            </a:cxnLst>
            <a:rect l="l" t="t" r="r" b="b"/>
            <a:pathLst>
              <a:path w="2286025" h="1143015">
                <a:moveTo>
                  <a:pt x="0" y="1143015"/>
                </a:moveTo>
                <a:lnTo>
                  <a:pt x="2286026" y="1143015"/>
                </a:lnTo>
                <a:lnTo>
                  <a:pt x="1143013" y="0"/>
                </a:lnTo>
                <a:lnTo>
                  <a:pt x="0" y="1143015"/>
                </a:lnTo>
                <a:close/>
              </a:path>
            </a:pathLst>
          </a:custGeom>
          <a:solidFill>
            <a:srgbClr val="FBB70C"/>
          </a:solidFill>
          <a:ln w="0" cap="flat">
            <a:noFill/>
            <a:prstDash val="solid"/>
            <a:miter/>
          </a:ln>
        </p:spPr>
        <p:txBody>
          <a:bodyPr rtlCol="0" anchor="ctr"/>
          <a:lstStyle/>
          <a:p>
            <a:endParaRPr lang="nl-NL" sz="2560"/>
          </a:p>
        </p:txBody>
      </p:sp>
      <p:sp>
        <p:nvSpPr>
          <p:cNvPr id="8" name="Text Placeholder 2">
            <a:extLst>
              <a:ext uri="{FF2B5EF4-FFF2-40B4-BE49-F238E27FC236}">
                <a16:creationId xmlns:a16="http://schemas.microsoft.com/office/drawing/2014/main" id="{A771BDE5-4FBC-E641-F5ED-E3400B321553}"/>
              </a:ext>
            </a:extLst>
          </p:cNvPr>
          <p:cNvSpPr>
            <a:spLocks noGrp="1"/>
          </p:cNvSpPr>
          <p:nvPr>
            <p:ph idx="1" hasCustomPrompt="1"/>
          </p:nvPr>
        </p:nvSpPr>
        <p:spPr>
          <a:xfrm>
            <a:off x="1126324" y="7153874"/>
            <a:ext cx="7986713" cy="1370927"/>
          </a:xfrm>
          <a:prstGeom prst="rect">
            <a:avLst/>
          </a:prstGeom>
        </p:spPr>
        <p:txBody>
          <a:bodyPr vert="horz" lIns="91440" tIns="45720" rIns="91440" bIns="45720" rtlCol="0" anchor="t">
            <a:normAutofit/>
          </a:bodyPr>
          <a:lstStyle>
            <a:lvl1pPr marL="0" indent="0" algn="l">
              <a:buNone/>
              <a:defRPr sz="3129">
                <a:solidFill>
                  <a:schemeClr val="tx1"/>
                </a:solidFill>
              </a:defRPr>
            </a:lvl1pPr>
            <a:lvl2pPr marL="650184" indent="0" algn="ctr">
              <a:buNone/>
              <a:defRPr/>
            </a:lvl2pPr>
            <a:lvl3pPr marL="1300368" indent="0" algn="ctr">
              <a:buNone/>
              <a:defRPr/>
            </a:lvl3pPr>
            <a:lvl4pPr marL="1950552" indent="0" algn="ctr">
              <a:buNone/>
              <a:defRPr/>
            </a:lvl4pPr>
            <a:lvl5pPr marL="2600736" indent="0" algn="ctr">
              <a:buNone/>
              <a:defRPr/>
            </a:lvl5pPr>
          </a:lstStyle>
          <a:p>
            <a:pPr lvl="0"/>
            <a:r>
              <a:rPr lang="en-US" dirty="0"/>
              <a:t>Click to edit Master text styles</a:t>
            </a:r>
          </a:p>
        </p:txBody>
      </p:sp>
      <p:sp>
        <p:nvSpPr>
          <p:cNvPr id="9" name="Title 1">
            <a:extLst>
              <a:ext uri="{FF2B5EF4-FFF2-40B4-BE49-F238E27FC236}">
                <a16:creationId xmlns:a16="http://schemas.microsoft.com/office/drawing/2014/main" id="{994925F7-3367-5E1C-72A7-0F7C7D509810}"/>
              </a:ext>
            </a:extLst>
          </p:cNvPr>
          <p:cNvSpPr>
            <a:spLocks noGrp="1"/>
          </p:cNvSpPr>
          <p:nvPr>
            <p:ph type="title" hasCustomPrompt="1"/>
          </p:nvPr>
        </p:nvSpPr>
        <p:spPr>
          <a:xfrm>
            <a:off x="1126325" y="3138113"/>
            <a:ext cx="7986713" cy="3737600"/>
          </a:xfrm>
          <a:prstGeom prst="rect">
            <a:avLst/>
          </a:prstGeom>
        </p:spPr>
        <p:txBody>
          <a:bodyPr anchor="b">
            <a:noAutofit/>
          </a:bodyPr>
          <a:lstStyle>
            <a:lvl1pPr>
              <a:defRPr sz="6542" b="1">
                <a:solidFill>
                  <a:schemeClr val="tx1"/>
                </a:solidFill>
                <a:latin typeface="+mj-lt"/>
                <a:cs typeface="Arial" panose="020B0604020202020204" pitchFamily="34" charset="0"/>
              </a:defRPr>
            </a:lvl1pPr>
          </a:lstStyle>
          <a:p>
            <a:r>
              <a:rPr lang="en-US" dirty="0"/>
              <a:t>Click to edit Master title style</a:t>
            </a:r>
          </a:p>
        </p:txBody>
      </p:sp>
      <p:pic>
        <p:nvPicPr>
          <p:cNvPr id="14" name="Graphic 13">
            <a:extLst>
              <a:ext uri="{FF2B5EF4-FFF2-40B4-BE49-F238E27FC236}">
                <a16:creationId xmlns:a16="http://schemas.microsoft.com/office/drawing/2014/main" id="{41CC6DF8-10D5-107D-4D76-E2F385D506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1967" y="409601"/>
            <a:ext cx="1300401" cy="690880"/>
          </a:xfrm>
          <a:prstGeom prst="rect">
            <a:avLst/>
          </a:prstGeom>
        </p:spPr>
      </p:pic>
      <p:sp>
        <p:nvSpPr>
          <p:cNvPr id="27" name="Tijdelijke aanduiding voor tekst 26">
            <a:extLst>
              <a:ext uri="{FF2B5EF4-FFF2-40B4-BE49-F238E27FC236}">
                <a16:creationId xmlns:a16="http://schemas.microsoft.com/office/drawing/2014/main" id="{9264BFF3-D41E-C37E-E1E9-C2B8F5E70EAB}"/>
              </a:ext>
            </a:extLst>
          </p:cNvPr>
          <p:cNvSpPr>
            <a:spLocks noGrp="1"/>
          </p:cNvSpPr>
          <p:nvPr>
            <p:ph type="body" sz="quarter" idx="10" hasCustomPrompt="1"/>
          </p:nvPr>
        </p:nvSpPr>
        <p:spPr>
          <a:xfrm>
            <a:off x="1126325" y="9001379"/>
            <a:ext cx="7986713" cy="351319"/>
          </a:xfrm>
          <a:prstGeom prst="rect">
            <a:avLst/>
          </a:prstGeom>
        </p:spPr>
        <p:txBody>
          <a:bodyPr anchor="b">
            <a:normAutofit/>
          </a:bodyPr>
          <a:lstStyle>
            <a:lvl1pPr marL="0" indent="0">
              <a:buNone/>
              <a:defRPr sz="1707"/>
            </a:lvl1pPr>
            <a:lvl2pPr marL="650184" indent="0">
              <a:buNone/>
              <a:defRPr/>
            </a:lvl2pPr>
            <a:lvl3pPr marL="1300368" indent="0">
              <a:buNone/>
              <a:defRPr/>
            </a:lvl3pPr>
            <a:lvl4pPr marL="1950552" indent="0">
              <a:buNone/>
              <a:defRPr/>
            </a:lvl4pPr>
            <a:lvl5pPr marL="2600736" indent="0">
              <a:buNone/>
              <a:defRPr/>
            </a:lvl5pPr>
          </a:lstStyle>
          <a:p>
            <a:pPr lvl="0"/>
            <a:r>
              <a:rPr lang="nl-NL" dirty="0" err="1"/>
              <a:t>Add</a:t>
            </a:r>
            <a:r>
              <a:rPr lang="nl-NL" dirty="0"/>
              <a:t> name or descriptor</a:t>
            </a:r>
          </a:p>
        </p:txBody>
      </p:sp>
      <p:sp>
        <p:nvSpPr>
          <p:cNvPr id="3" name="TextBox 2">
            <a:extLst>
              <a:ext uri="{FF2B5EF4-FFF2-40B4-BE49-F238E27FC236}">
                <a16:creationId xmlns:a16="http://schemas.microsoft.com/office/drawing/2014/main" id="{E2DFBEB1-36E4-72AE-EB7C-5895E8075619}"/>
              </a:ext>
            </a:extLst>
          </p:cNvPr>
          <p:cNvSpPr txBox="1"/>
          <p:nvPr userDrawn="1"/>
        </p:nvSpPr>
        <p:spPr>
          <a:xfrm>
            <a:off x="10555200" y="8957311"/>
            <a:ext cx="3343887" cy="355034"/>
          </a:xfrm>
          <a:prstGeom prst="rect">
            <a:avLst/>
          </a:prstGeom>
          <a:noFill/>
        </p:spPr>
        <p:txBody>
          <a:bodyPr wrap="square" rtlCol="0" anchor="ctr">
            <a:spAutoFit/>
          </a:bodyPr>
          <a:lstStyle/>
          <a:p>
            <a:pPr algn="r"/>
            <a:fld id="{000C6A84-3C4B-5949-BDDB-4AE7A789C2BE}" type="datetime3">
              <a:rPr lang="en-US" sz="1707" smtClean="0"/>
              <a:t>17 October 2025</a:t>
            </a:fld>
            <a:endParaRPr lang="en-BE" sz="1707" dirty="0"/>
          </a:p>
        </p:txBody>
      </p:sp>
    </p:spTree>
    <p:extLst>
      <p:ext uri="{BB962C8B-B14F-4D97-AF65-F5344CB8AC3E}">
        <p14:creationId xmlns:p14="http://schemas.microsoft.com/office/powerpoint/2010/main" val="1519494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11314342" y="5353001"/>
            <a:ext cx="2298958" cy="2298818"/>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sz="2560"/>
          </a:p>
        </p:txBody>
      </p:sp>
      <p:sp>
        <p:nvSpPr>
          <p:cNvPr id="13" name="Vrije vorm: vorm 12">
            <a:extLst>
              <a:ext uri="{FF2B5EF4-FFF2-40B4-BE49-F238E27FC236}">
                <a16:creationId xmlns:a16="http://schemas.microsoft.com/office/drawing/2014/main" id="{FC85976D-EE45-AE2D-287E-345B5F157F96}"/>
              </a:ext>
            </a:extLst>
          </p:cNvPr>
          <p:cNvSpPr/>
          <p:nvPr/>
        </p:nvSpPr>
        <p:spPr>
          <a:xfrm>
            <a:off x="10838305" y="3252256"/>
            <a:ext cx="3251037" cy="325123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sz="2560"/>
          </a:p>
        </p:txBody>
      </p:sp>
      <p:sp>
        <p:nvSpPr>
          <p:cNvPr id="15" name="Vrije vorm: vorm 14">
            <a:extLst>
              <a:ext uri="{FF2B5EF4-FFF2-40B4-BE49-F238E27FC236}">
                <a16:creationId xmlns:a16="http://schemas.microsoft.com/office/drawing/2014/main" id="{5CB21A53-6FB1-525B-E4F0-F59E8EDA975E}"/>
              </a:ext>
            </a:extLst>
          </p:cNvPr>
          <p:cNvSpPr/>
          <p:nvPr/>
        </p:nvSpPr>
        <p:spPr>
          <a:xfrm>
            <a:off x="10838305" y="0"/>
            <a:ext cx="3251037" cy="3251236"/>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sz="2560"/>
          </a:p>
        </p:txBody>
      </p:sp>
      <p:sp>
        <p:nvSpPr>
          <p:cNvPr id="23" name="Vrije vorm: vorm 22">
            <a:extLst>
              <a:ext uri="{FF2B5EF4-FFF2-40B4-BE49-F238E27FC236}">
                <a16:creationId xmlns:a16="http://schemas.microsoft.com/office/drawing/2014/main" id="{7835CE72-ED67-FFB3-4AF2-B219E802D267}"/>
              </a:ext>
            </a:extLst>
          </p:cNvPr>
          <p:cNvSpPr/>
          <p:nvPr/>
        </p:nvSpPr>
        <p:spPr>
          <a:xfrm>
            <a:off x="14089344" y="6502030"/>
            <a:ext cx="3251037" cy="1625618"/>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sz="2560"/>
          </a:p>
        </p:txBody>
      </p:sp>
      <p:sp>
        <p:nvSpPr>
          <p:cNvPr id="24" name="Vrije vorm: vorm 23">
            <a:extLst>
              <a:ext uri="{FF2B5EF4-FFF2-40B4-BE49-F238E27FC236}">
                <a16:creationId xmlns:a16="http://schemas.microsoft.com/office/drawing/2014/main" id="{B0FB8D35-F14F-4A1B-A129-BCD790B43475}"/>
              </a:ext>
            </a:extLst>
          </p:cNvPr>
          <p:cNvSpPr/>
          <p:nvPr/>
        </p:nvSpPr>
        <p:spPr>
          <a:xfrm>
            <a:off x="14089344" y="1624820"/>
            <a:ext cx="3251037" cy="1625618"/>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sz="2560"/>
          </a:p>
        </p:txBody>
      </p:sp>
      <p:sp>
        <p:nvSpPr>
          <p:cNvPr id="26" name="Vrije vorm: vorm 25">
            <a:extLst>
              <a:ext uri="{FF2B5EF4-FFF2-40B4-BE49-F238E27FC236}">
                <a16:creationId xmlns:a16="http://schemas.microsoft.com/office/drawing/2014/main" id="{DC9D5A06-4B5F-5150-061F-8455585C64F0}"/>
              </a:ext>
            </a:extLst>
          </p:cNvPr>
          <p:cNvSpPr/>
          <p:nvPr/>
        </p:nvSpPr>
        <p:spPr>
          <a:xfrm>
            <a:off x="14089334" y="3250783"/>
            <a:ext cx="3251053" cy="3251255"/>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sz="2560"/>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24" y="400902"/>
            <a:ext cx="1300401" cy="690880"/>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1126325" y="3138114"/>
            <a:ext cx="7986713" cy="2786724"/>
          </a:xfrm>
          <a:prstGeom prst="rect">
            <a:avLst/>
          </a:prstGeom>
        </p:spPr>
        <p:txBody>
          <a:bodyPr anchor="b">
            <a:normAutofit/>
          </a:bodyPr>
          <a:lstStyle>
            <a:lvl1pPr>
              <a:defRPr sz="6542"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1126325" y="8802961"/>
            <a:ext cx="7986713" cy="549737"/>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1126564" y="7161672"/>
            <a:ext cx="7987530" cy="1379503"/>
          </a:xfrm>
          <a:prstGeom prst="rect">
            <a:avLst/>
          </a:prstGeom>
        </p:spPr>
        <p:txBody>
          <a:bodyPr/>
          <a:lstStyle>
            <a:lvl1pPr marL="0" indent="0">
              <a:buNone/>
              <a:defRPr sz="3413"/>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1126327" y="6068907"/>
            <a:ext cx="7987768" cy="988907"/>
          </a:xfrm>
          <a:prstGeom prst="rect">
            <a:avLst/>
          </a:prstGeom>
        </p:spPr>
        <p:txBody>
          <a:bodyPr>
            <a:normAutofit/>
          </a:bodyPr>
          <a:lstStyle>
            <a:lvl1pPr marL="0" indent="0">
              <a:buNone/>
              <a:defRPr sz="3982">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10372245" y="0"/>
            <a:ext cx="6966431" cy="97536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38966573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AAE88-3FEC-89FE-0362-66D96E3CF9B8}"/>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3072628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DFC3B-9EC7-1340-524C-DF707D0FF5C0}"/>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A88D63CE-2897-9F64-A5C3-02628C046423}"/>
              </a:ext>
            </a:extLst>
          </p:cNvPr>
          <p:cNvSpPr>
            <a:spLocks noGrp="1"/>
          </p:cNvSpPr>
          <p:nvPr>
            <p:ph sz="quarter" idx="10"/>
          </p:nvPr>
        </p:nvSpPr>
        <p:spPr>
          <a:xfrm>
            <a:off x="1192034" y="2549033"/>
            <a:ext cx="14954607" cy="6685279"/>
          </a:xfrm>
          <a:prstGeom prst="rect">
            <a:avLst/>
          </a:prstGeom>
        </p:spPr>
        <p:txBody>
          <a:bodyPr/>
          <a:lstStyle>
            <a:lvl1pPr>
              <a:buClr>
                <a:srgbClr val="D1E4F7"/>
              </a:buClr>
              <a:defRPr sz="3982">
                <a:solidFill>
                  <a:srgbClr val="FFFFFF"/>
                </a:solidFill>
              </a:defRPr>
            </a:lvl1pPr>
            <a:lvl2pPr>
              <a:buClr>
                <a:srgbClr val="D1E4F7"/>
              </a:buClr>
              <a:defRPr sz="3982">
                <a:solidFill>
                  <a:srgbClr val="FFFFFF"/>
                </a:solidFill>
              </a:defRPr>
            </a:lvl2pPr>
            <a:lvl3pPr>
              <a:buClr>
                <a:srgbClr val="D1E4F7"/>
              </a:buClr>
              <a:defRPr sz="3982">
                <a:solidFill>
                  <a:srgbClr val="FFFFFF"/>
                </a:solidFill>
              </a:defRPr>
            </a:lvl3pPr>
            <a:lvl4pPr>
              <a:buClr>
                <a:srgbClr val="D1E4F7"/>
              </a:buClr>
              <a:defRPr sz="3413">
                <a:solidFill>
                  <a:srgbClr val="FFFFFF"/>
                </a:solidFill>
              </a:defRPr>
            </a:lvl4pPr>
            <a:lvl5pPr>
              <a:buClr>
                <a:srgbClr val="D1E4F7"/>
              </a:buClr>
              <a:defRPr sz="3413">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805354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picture righ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D526F1-EF5F-C379-28A4-1F3EFEFEE216}"/>
              </a:ext>
            </a:extLst>
          </p:cNvPr>
          <p:cNvSpPr>
            <a:spLocks noGrp="1"/>
          </p:cNvSpPr>
          <p:nvPr>
            <p:ph type="title"/>
          </p:nvPr>
        </p:nvSpPr>
        <p:spPr>
          <a:xfrm>
            <a:off x="1192034" y="519290"/>
            <a:ext cx="7029143" cy="1885245"/>
          </a:xfrm>
        </p:spPr>
        <p:txBody>
          <a:bodyPr/>
          <a:lstStyle>
            <a:lvl1pPr>
              <a:defRPr>
                <a:solidFill>
                  <a:schemeClr val="bg1"/>
                </a:solidFill>
              </a:defRPr>
            </a:lvl1pPr>
          </a:lstStyle>
          <a:p>
            <a:r>
              <a:rPr lang="en-US"/>
              <a:t>Click to edit Master title style</a:t>
            </a:r>
            <a:endParaRPr lang="en-BE"/>
          </a:p>
        </p:txBody>
      </p:sp>
      <p:sp>
        <p:nvSpPr>
          <p:cNvPr id="5" name="Content Placeholder 2">
            <a:extLst>
              <a:ext uri="{FF2B5EF4-FFF2-40B4-BE49-F238E27FC236}">
                <a16:creationId xmlns:a16="http://schemas.microsoft.com/office/drawing/2014/main" id="{9A575569-F224-9A43-172D-0BE738F351D8}"/>
              </a:ext>
            </a:extLst>
          </p:cNvPr>
          <p:cNvSpPr>
            <a:spLocks noGrp="1"/>
          </p:cNvSpPr>
          <p:nvPr>
            <p:ph sz="quarter" idx="10"/>
          </p:nvPr>
        </p:nvSpPr>
        <p:spPr>
          <a:xfrm>
            <a:off x="1192034" y="2549033"/>
            <a:ext cx="7029143" cy="6685279"/>
          </a:xfrm>
          <a:prstGeom prst="rect">
            <a:avLst/>
          </a:prstGeom>
        </p:spPr>
        <p:txBody>
          <a:bodyPr/>
          <a:lstStyle>
            <a:lvl1pPr>
              <a:buClr>
                <a:srgbClr val="D1E4F7"/>
              </a:buClr>
              <a:defRPr sz="3982">
                <a:solidFill>
                  <a:schemeClr val="bg1"/>
                </a:solidFill>
              </a:defRPr>
            </a:lvl1pPr>
            <a:lvl2pPr>
              <a:buClr>
                <a:srgbClr val="D1E4F7"/>
              </a:buClr>
              <a:defRPr sz="3982">
                <a:solidFill>
                  <a:schemeClr val="bg1"/>
                </a:solidFill>
              </a:defRPr>
            </a:lvl2pPr>
            <a:lvl3pPr>
              <a:buClr>
                <a:srgbClr val="D1E4F7"/>
              </a:buClr>
              <a:defRPr sz="3982">
                <a:solidFill>
                  <a:schemeClr val="bg1"/>
                </a:solidFill>
              </a:defRPr>
            </a:lvl3pPr>
            <a:lvl4pPr>
              <a:buClr>
                <a:srgbClr val="D1E4F7"/>
              </a:buClr>
              <a:defRPr sz="3413">
                <a:solidFill>
                  <a:schemeClr val="bg1"/>
                </a:solidFill>
              </a:defRPr>
            </a:lvl4pPr>
            <a:lvl5pPr>
              <a:buClr>
                <a:srgbClr val="D1E4F7"/>
              </a:buClr>
              <a:defRPr sz="341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Picture Placeholder 4">
            <a:extLst>
              <a:ext uri="{FF2B5EF4-FFF2-40B4-BE49-F238E27FC236}">
                <a16:creationId xmlns:a16="http://schemas.microsoft.com/office/drawing/2014/main" id="{F923B97E-728A-EA5A-6DBA-70537DEB04ED}"/>
              </a:ext>
            </a:extLst>
          </p:cNvPr>
          <p:cNvSpPr>
            <a:spLocks noGrp="1"/>
          </p:cNvSpPr>
          <p:nvPr>
            <p:ph type="pic" sz="quarter" idx="11"/>
          </p:nvPr>
        </p:nvSpPr>
        <p:spPr>
          <a:xfrm>
            <a:off x="9117501" y="0"/>
            <a:ext cx="8221173" cy="9753600"/>
          </a:xfrm>
          <a:prstGeom prst="rect">
            <a:avLst/>
          </a:prstGeom>
        </p:spPr>
        <p:txBody>
          <a:bodyPr/>
          <a:lstStyle>
            <a:lvl1pPr>
              <a:defRPr>
                <a:solidFill>
                  <a:schemeClr val="bg1"/>
                </a:solidFill>
              </a:defRPr>
            </a:lvl1pPr>
          </a:lstStyle>
          <a:p>
            <a:endParaRPr lang="en-BE"/>
          </a:p>
        </p:txBody>
      </p:sp>
    </p:spTree>
    <p:extLst>
      <p:ext uri="{BB962C8B-B14F-4D97-AF65-F5344CB8AC3E}">
        <p14:creationId xmlns:p14="http://schemas.microsoft.com/office/powerpoint/2010/main" val="1071685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ark picture left">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3648548-5641-5B2A-5101-3E3091B69AB5}"/>
              </a:ext>
            </a:extLst>
          </p:cNvPr>
          <p:cNvSpPr>
            <a:spLocks noGrp="1"/>
          </p:cNvSpPr>
          <p:nvPr>
            <p:ph type="pic" sz="quarter" idx="11"/>
          </p:nvPr>
        </p:nvSpPr>
        <p:spPr>
          <a:xfrm>
            <a:off x="-7343" y="0"/>
            <a:ext cx="8221173" cy="9753600"/>
          </a:xfrm>
          <a:prstGeom prst="rect">
            <a:avLst/>
          </a:prstGeom>
        </p:spPr>
        <p:txBody>
          <a:bodyPr/>
          <a:lstStyle>
            <a:lvl1pPr>
              <a:defRPr>
                <a:solidFill>
                  <a:schemeClr val="bg1"/>
                </a:solidFill>
              </a:defRPr>
            </a:lvl1pPr>
          </a:lstStyle>
          <a:p>
            <a:endParaRPr lang="en-BE"/>
          </a:p>
        </p:txBody>
      </p:sp>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9124849" y="519290"/>
            <a:ext cx="7029143" cy="1885245"/>
          </a:xfrm>
        </p:spPr>
        <p:txBody>
          <a:bodyPr/>
          <a:lstStyle>
            <a:lvl1pPr>
              <a:defRPr>
                <a:solidFill>
                  <a:schemeClr val="bg1"/>
                </a:solidFill>
              </a:defRPr>
            </a:lvl1pPr>
          </a:lstStyle>
          <a:p>
            <a:r>
              <a:rPr lang="en-US"/>
              <a:t>Click to edit Master title style</a:t>
            </a:r>
            <a:endParaRPr lang="en-BE"/>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9124849" y="2549033"/>
            <a:ext cx="7029143" cy="6685279"/>
          </a:xfrm>
          <a:prstGeom prst="rect">
            <a:avLst/>
          </a:prstGeom>
        </p:spPr>
        <p:txBody>
          <a:bodyPr/>
          <a:lstStyle>
            <a:lvl1pPr>
              <a:buClr>
                <a:srgbClr val="D1E4F7"/>
              </a:buClr>
              <a:defRPr sz="3982">
                <a:solidFill>
                  <a:schemeClr val="bg1"/>
                </a:solidFill>
              </a:defRPr>
            </a:lvl1pPr>
            <a:lvl2pPr>
              <a:buClr>
                <a:srgbClr val="D1E4F7"/>
              </a:buClr>
              <a:defRPr sz="3982">
                <a:solidFill>
                  <a:schemeClr val="bg1"/>
                </a:solidFill>
              </a:defRPr>
            </a:lvl2pPr>
            <a:lvl3pPr>
              <a:buClr>
                <a:srgbClr val="D1E4F7"/>
              </a:buClr>
              <a:defRPr sz="3982">
                <a:solidFill>
                  <a:schemeClr val="bg1"/>
                </a:solidFill>
              </a:defRPr>
            </a:lvl3pPr>
            <a:lvl4pPr>
              <a:buClr>
                <a:srgbClr val="D1E4F7"/>
              </a:buClr>
              <a:defRPr sz="3413">
                <a:solidFill>
                  <a:schemeClr val="bg1"/>
                </a:solidFill>
              </a:defRPr>
            </a:lvl4pPr>
            <a:lvl5pPr>
              <a:buClr>
                <a:srgbClr val="D1E4F7"/>
              </a:buClr>
              <a:defRPr sz="341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3473097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ark spli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F96D5B0-A0D8-8702-A825-BF683D41B3EB}"/>
              </a:ext>
            </a:extLst>
          </p:cNvPr>
          <p:cNvSpPr>
            <a:spLocks noGrp="1"/>
          </p:cNvSpPr>
          <p:nvPr>
            <p:ph type="title"/>
          </p:nvPr>
        </p:nvSpPr>
        <p:spPr>
          <a:xfrm>
            <a:off x="9124849" y="519290"/>
            <a:ext cx="7029143" cy="1885245"/>
          </a:xfrm>
        </p:spPr>
        <p:txBody>
          <a:bodyPr/>
          <a:lstStyle>
            <a:lvl1pPr>
              <a:defRPr>
                <a:solidFill>
                  <a:schemeClr val="bg1"/>
                </a:solidFill>
              </a:defRPr>
            </a:lvl1pPr>
          </a:lstStyle>
          <a:p>
            <a:r>
              <a:rPr lang="en-US"/>
              <a:t>Click to edit Master title style</a:t>
            </a:r>
            <a:endParaRPr lang="en-BE"/>
          </a:p>
        </p:txBody>
      </p:sp>
      <p:sp>
        <p:nvSpPr>
          <p:cNvPr id="6" name="Content Placeholder 2">
            <a:extLst>
              <a:ext uri="{FF2B5EF4-FFF2-40B4-BE49-F238E27FC236}">
                <a16:creationId xmlns:a16="http://schemas.microsoft.com/office/drawing/2014/main" id="{1DC622AC-9F46-7666-8A37-571374A59011}"/>
              </a:ext>
            </a:extLst>
          </p:cNvPr>
          <p:cNvSpPr>
            <a:spLocks noGrp="1"/>
          </p:cNvSpPr>
          <p:nvPr>
            <p:ph sz="quarter" idx="10"/>
          </p:nvPr>
        </p:nvSpPr>
        <p:spPr>
          <a:xfrm>
            <a:off x="9124849" y="2549033"/>
            <a:ext cx="7029143" cy="6685279"/>
          </a:xfrm>
          <a:prstGeom prst="rect">
            <a:avLst/>
          </a:prstGeom>
        </p:spPr>
        <p:txBody>
          <a:bodyPr/>
          <a:lstStyle>
            <a:lvl1pPr>
              <a:buClr>
                <a:srgbClr val="D1E4F7"/>
              </a:buClr>
              <a:defRPr sz="3982">
                <a:solidFill>
                  <a:schemeClr val="bg1"/>
                </a:solidFill>
              </a:defRPr>
            </a:lvl1pPr>
            <a:lvl2pPr>
              <a:buClr>
                <a:srgbClr val="D1E4F7"/>
              </a:buClr>
              <a:defRPr sz="3982">
                <a:solidFill>
                  <a:schemeClr val="bg1"/>
                </a:solidFill>
              </a:defRPr>
            </a:lvl2pPr>
            <a:lvl3pPr>
              <a:buClr>
                <a:srgbClr val="D1E4F7"/>
              </a:buClr>
              <a:defRPr sz="3982">
                <a:solidFill>
                  <a:schemeClr val="bg1"/>
                </a:solidFill>
              </a:defRPr>
            </a:lvl3pPr>
            <a:lvl4pPr>
              <a:buClr>
                <a:srgbClr val="D1E4F7"/>
              </a:buClr>
              <a:defRPr sz="3413">
                <a:solidFill>
                  <a:schemeClr val="bg1"/>
                </a:solidFill>
              </a:defRPr>
            </a:lvl4pPr>
            <a:lvl5pPr>
              <a:buClr>
                <a:srgbClr val="D1E4F7"/>
              </a:buClr>
              <a:defRPr sz="3413">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2" name="Rectangle 1">
            <a:extLst>
              <a:ext uri="{FF2B5EF4-FFF2-40B4-BE49-F238E27FC236}">
                <a16:creationId xmlns:a16="http://schemas.microsoft.com/office/drawing/2014/main" id="{DE7A5706-976A-D89B-951F-6A97BA5FAEF2}"/>
              </a:ext>
            </a:extLst>
          </p:cNvPr>
          <p:cNvSpPr/>
          <p:nvPr userDrawn="1"/>
        </p:nvSpPr>
        <p:spPr>
          <a:xfrm>
            <a:off x="0" y="0"/>
            <a:ext cx="8213828" cy="9753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2560"/>
          </a:p>
        </p:txBody>
      </p:sp>
      <p:pic>
        <p:nvPicPr>
          <p:cNvPr id="3" name="Graphic 2">
            <a:extLst>
              <a:ext uri="{FF2B5EF4-FFF2-40B4-BE49-F238E27FC236}">
                <a16:creationId xmlns:a16="http://schemas.microsoft.com/office/drawing/2014/main" id="{5673E151-F661-602B-4DB9-9213B6E4C2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3088" y="9132270"/>
            <a:ext cx="851323" cy="452294"/>
          </a:xfrm>
          <a:prstGeom prst="rect">
            <a:avLst/>
          </a:prstGeom>
        </p:spPr>
      </p:pic>
    </p:spTree>
    <p:extLst>
      <p:ext uri="{BB962C8B-B14F-4D97-AF65-F5344CB8AC3E}">
        <p14:creationId xmlns:p14="http://schemas.microsoft.com/office/powerpoint/2010/main" val="33704158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38485926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14954607"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6951833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1192034" y="519290"/>
            <a:ext cx="7029143" cy="1885245"/>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9117501" y="0"/>
            <a:ext cx="8221173" cy="9753600"/>
          </a:xfrm>
          <a:prstGeom prst="rect">
            <a:avLst/>
          </a:prstGeom>
        </p:spPr>
        <p:txBody>
          <a:bodyPr/>
          <a:lstStyle/>
          <a:p>
            <a:endParaRPr lang="en-BE"/>
          </a:p>
        </p:txBody>
      </p:sp>
    </p:spTree>
    <p:extLst>
      <p:ext uri="{BB962C8B-B14F-4D97-AF65-F5344CB8AC3E}">
        <p14:creationId xmlns:p14="http://schemas.microsoft.com/office/powerpoint/2010/main" val="7161486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7343" y="0"/>
            <a:ext cx="8221173" cy="97536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Tree>
    <p:extLst>
      <p:ext uri="{BB962C8B-B14F-4D97-AF65-F5344CB8AC3E}">
        <p14:creationId xmlns:p14="http://schemas.microsoft.com/office/powerpoint/2010/main" val="14956910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11314342" y="5353001"/>
            <a:ext cx="2298958" cy="2298818"/>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sz="2560"/>
          </a:p>
        </p:txBody>
      </p:sp>
      <p:sp>
        <p:nvSpPr>
          <p:cNvPr id="13" name="Vrije vorm: vorm 12">
            <a:extLst>
              <a:ext uri="{FF2B5EF4-FFF2-40B4-BE49-F238E27FC236}">
                <a16:creationId xmlns:a16="http://schemas.microsoft.com/office/drawing/2014/main" id="{FC85976D-EE45-AE2D-287E-345B5F157F96}"/>
              </a:ext>
            </a:extLst>
          </p:cNvPr>
          <p:cNvSpPr/>
          <p:nvPr/>
        </p:nvSpPr>
        <p:spPr>
          <a:xfrm>
            <a:off x="10838305" y="3252256"/>
            <a:ext cx="3251037" cy="325123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sz="2560"/>
          </a:p>
        </p:txBody>
      </p:sp>
      <p:sp>
        <p:nvSpPr>
          <p:cNvPr id="15" name="Vrije vorm: vorm 14">
            <a:extLst>
              <a:ext uri="{FF2B5EF4-FFF2-40B4-BE49-F238E27FC236}">
                <a16:creationId xmlns:a16="http://schemas.microsoft.com/office/drawing/2014/main" id="{5CB21A53-6FB1-525B-E4F0-F59E8EDA975E}"/>
              </a:ext>
            </a:extLst>
          </p:cNvPr>
          <p:cNvSpPr/>
          <p:nvPr/>
        </p:nvSpPr>
        <p:spPr>
          <a:xfrm>
            <a:off x="10838305" y="0"/>
            <a:ext cx="3251037" cy="3251236"/>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sz="2560"/>
          </a:p>
        </p:txBody>
      </p:sp>
      <p:sp>
        <p:nvSpPr>
          <p:cNvPr id="23" name="Vrije vorm: vorm 22">
            <a:extLst>
              <a:ext uri="{FF2B5EF4-FFF2-40B4-BE49-F238E27FC236}">
                <a16:creationId xmlns:a16="http://schemas.microsoft.com/office/drawing/2014/main" id="{7835CE72-ED67-FFB3-4AF2-B219E802D267}"/>
              </a:ext>
            </a:extLst>
          </p:cNvPr>
          <p:cNvSpPr/>
          <p:nvPr/>
        </p:nvSpPr>
        <p:spPr>
          <a:xfrm>
            <a:off x="14089344" y="6502030"/>
            <a:ext cx="3251037" cy="1625618"/>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sz="2560"/>
          </a:p>
        </p:txBody>
      </p:sp>
      <p:sp>
        <p:nvSpPr>
          <p:cNvPr id="24" name="Vrije vorm: vorm 23">
            <a:extLst>
              <a:ext uri="{FF2B5EF4-FFF2-40B4-BE49-F238E27FC236}">
                <a16:creationId xmlns:a16="http://schemas.microsoft.com/office/drawing/2014/main" id="{B0FB8D35-F14F-4A1B-A129-BCD790B43475}"/>
              </a:ext>
            </a:extLst>
          </p:cNvPr>
          <p:cNvSpPr/>
          <p:nvPr/>
        </p:nvSpPr>
        <p:spPr>
          <a:xfrm>
            <a:off x="14089344" y="1624820"/>
            <a:ext cx="3251037" cy="1625618"/>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sz="2560"/>
          </a:p>
        </p:txBody>
      </p:sp>
      <p:sp>
        <p:nvSpPr>
          <p:cNvPr id="26" name="Vrije vorm: vorm 25">
            <a:extLst>
              <a:ext uri="{FF2B5EF4-FFF2-40B4-BE49-F238E27FC236}">
                <a16:creationId xmlns:a16="http://schemas.microsoft.com/office/drawing/2014/main" id="{DC9D5A06-4B5F-5150-061F-8455585C64F0}"/>
              </a:ext>
            </a:extLst>
          </p:cNvPr>
          <p:cNvSpPr/>
          <p:nvPr/>
        </p:nvSpPr>
        <p:spPr>
          <a:xfrm>
            <a:off x="14089334" y="3250783"/>
            <a:ext cx="3251053" cy="3251255"/>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sz="2560"/>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24" y="400902"/>
            <a:ext cx="1300401" cy="690880"/>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1126325" y="3138114"/>
            <a:ext cx="7986713" cy="2786724"/>
          </a:xfrm>
          <a:prstGeom prst="rect">
            <a:avLst/>
          </a:prstGeom>
        </p:spPr>
        <p:txBody>
          <a:bodyPr anchor="b">
            <a:normAutofit/>
          </a:bodyPr>
          <a:lstStyle>
            <a:lvl1pPr>
              <a:defRPr sz="6542"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1126325" y="8802961"/>
            <a:ext cx="7986713" cy="549737"/>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1126564" y="7161672"/>
            <a:ext cx="7987530" cy="1379503"/>
          </a:xfrm>
          <a:prstGeom prst="rect">
            <a:avLst/>
          </a:prstGeom>
        </p:spPr>
        <p:txBody>
          <a:bodyPr/>
          <a:lstStyle>
            <a:lvl1pPr marL="0" indent="0">
              <a:buNone/>
              <a:defRPr sz="3413"/>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1126327" y="6068907"/>
            <a:ext cx="7987768" cy="988907"/>
          </a:xfrm>
          <a:prstGeom prst="rect">
            <a:avLst/>
          </a:prstGeom>
        </p:spPr>
        <p:txBody>
          <a:bodyPr>
            <a:normAutofit/>
          </a:bodyPr>
          <a:lstStyle>
            <a:lvl1pPr marL="0" indent="0">
              <a:buNone/>
              <a:defRPr sz="3982">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10372245" y="0"/>
            <a:ext cx="6966431" cy="97536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2731753311"/>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8213828" cy="9753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2560"/>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a:t>Click to edit Master title style</a:t>
            </a:r>
            <a:endParaRPr lang="en-BE"/>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3088" y="9132269"/>
            <a:ext cx="851323" cy="452294"/>
          </a:xfrm>
          <a:prstGeom prst="rect">
            <a:avLst/>
          </a:prstGeom>
        </p:spPr>
      </p:pic>
    </p:spTree>
    <p:extLst>
      <p:ext uri="{BB962C8B-B14F-4D97-AF65-F5344CB8AC3E}">
        <p14:creationId xmlns:p14="http://schemas.microsoft.com/office/powerpoint/2010/main" val="31287121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20460436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14954607"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397996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1192034" y="519290"/>
            <a:ext cx="7029143" cy="1885245"/>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9117501" y="0"/>
            <a:ext cx="8221173" cy="9753600"/>
          </a:xfrm>
          <a:prstGeom prst="rect">
            <a:avLst/>
          </a:prstGeom>
        </p:spPr>
        <p:txBody>
          <a:bodyPr/>
          <a:lstStyle/>
          <a:p>
            <a:endParaRPr lang="en-BE"/>
          </a:p>
        </p:txBody>
      </p:sp>
    </p:spTree>
    <p:extLst>
      <p:ext uri="{BB962C8B-B14F-4D97-AF65-F5344CB8AC3E}">
        <p14:creationId xmlns:p14="http://schemas.microsoft.com/office/powerpoint/2010/main" val="21976615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7343" y="0"/>
            <a:ext cx="8221173" cy="97536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7014980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8213828" cy="9753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2560"/>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3088" y="9132269"/>
            <a:ext cx="851323" cy="452294"/>
          </a:xfrm>
          <a:prstGeom prst="rect">
            <a:avLst/>
          </a:prstGeom>
        </p:spPr>
      </p:pic>
    </p:spTree>
    <p:extLst>
      <p:ext uri="{BB962C8B-B14F-4D97-AF65-F5344CB8AC3E}">
        <p14:creationId xmlns:p14="http://schemas.microsoft.com/office/powerpoint/2010/main" val="2828553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Light chapter">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37D8072-9EE3-917B-7F33-372174E2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0" y="409601"/>
            <a:ext cx="1300395" cy="690879"/>
          </a:xfrm>
          <a:prstGeom prst="rect">
            <a:avLst/>
          </a:prstGeom>
        </p:spPr>
      </p:pic>
      <p:sp>
        <p:nvSpPr>
          <p:cNvPr id="14" name="Text Placeholder 4">
            <a:extLst>
              <a:ext uri="{FF2B5EF4-FFF2-40B4-BE49-F238E27FC236}">
                <a16:creationId xmlns:a16="http://schemas.microsoft.com/office/drawing/2014/main" id="{FD35E4C5-AED2-E9A8-7D65-14800B632E6C}"/>
              </a:ext>
            </a:extLst>
          </p:cNvPr>
          <p:cNvSpPr>
            <a:spLocks noGrp="1"/>
          </p:cNvSpPr>
          <p:nvPr>
            <p:ph type="body" sz="quarter" idx="10" hasCustomPrompt="1"/>
          </p:nvPr>
        </p:nvSpPr>
        <p:spPr>
          <a:xfrm>
            <a:off x="7702765" y="3269828"/>
            <a:ext cx="7809118" cy="3251210"/>
          </a:xfrm>
          <a:prstGeom prst="rect">
            <a:avLst/>
          </a:prstGeom>
        </p:spPr>
        <p:txBody>
          <a:bodyPr anchor="b"/>
          <a:lstStyle>
            <a:lvl1pPr marL="0" indent="0">
              <a:buNone/>
              <a:defRPr sz="6826" b="1">
                <a:solidFill>
                  <a:schemeClr val="tx2"/>
                </a:solidFill>
                <a:latin typeface="+mj-lt"/>
              </a:defRPr>
            </a:lvl1pPr>
          </a:lstStyle>
          <a:p>
            <a:pPr lvl="0"/>
            <a:r>
              <a:rPr lang="en-US" dirty="0"/>
              <a:t>Title</a:t>
            </a:r>
          </a:p>
        </p:txBody>
      </p:sp>
      <p:cxnSp>
        <p:nvCxnSpPr>
          <p:cNvPr id="22" name="Straight Connector 21">
            <a:extLst>
              <a:ext uri="{FF2B5EF4-FFF2-40B4-BE49-F238E27FC236}">
                <a16:creationId xmlns:a16="http://schemas.microsoft.com/office/drawing/2014/main" id="{A5CF1C14-D13B-9574-C8BD-CA3AF6086669}"/>
              </a:ext>
            </a:extLst>
          </p:cNvPr>
          <p:cNvCxnSpPr>
            <a:cxnSpLocks/>
          </p:cNvCxnSpPr>
          <p:nvPr userDrawn="1"/>
        </p:nvCxnSpPr>
        <p:spPr>
          <a:xfrm>
            <a:off x="7583803" y="3060072"/>
            <a:ext cx="0" cy="3705867"/>
          </a:xfrm>
          <a:prstGeom prst="line">
            <a:avLst/>
          </a:prstGeom>
          <a:ln>
            <a:solidFill>
              <a:srgbClr val="617FC0"/>
            </a:solidFill>
          </a:ln>
        </p:spPr>
        <p:style>
          <a:lnRef idx="2">
            <a:schemeClr val="accent1"/>
          </a:lnRef>
          <a:fillRef idx="0">
            <a:schemeClr val="accent1"/>
          </a:fillRef>
          <a:effectRef idx="1">
            <a:schemeClr val="accent1"/>
          </a:effectRef>
          <a:fontRef idx="minor">
            <a:schemeClr val="tx1"/>
          </a:fontRef>
        </p:style>
      </p:cxnSp>
      <p:sp>
        <p:nvSpPr>
          <p:cNvPr id="23" name="Text Placeholder 4">
            <a:extLst>
              <a:ext uri="{FF2B5EF4-FFF2-40B4-BE49-F238E27FC236}">
                <a16:creationId xmlns:a16="http://schemas.microsoft.com/office/drawing/2014/main" id="{C2FA6B88-2EA8-B1CD-1B6F-84AFBEAAB3F3}"/>
              </a:ext>
            </a:extLst>
          </p:cNvPr>
          <p:cNvSpPr>
            <a:spLocks noGrp="1"/>
          </p:cNvSpPr>
          <p:nvPr>
            <p:ph type="body" sz="quarter" idx="11" hasCustomPrompt="1"/>
          </p:nvPr>
        </p:nvSpPr>
        <p:spPr>
          <a:xfrm>
            <a:off x="958598" y="3268947"/>
            <a:ext cx="6501968" cy="3251210"/>
          </a:xfrm>
          <a:prstGeom prst="rect">
            <a:avLst/>
          </a:prstGeom>
        </p:spPr>
        <p:txBody>
          <a:bodyPr anchor="t"/>
          <a:lstStyle>
            <a:lvl1pPr marL="0" indent="0" algn="r">
              <a:buNone/>
              <a:defRPr sz="6826" b="1">
                <a:solidFill>
                  <a:schemeClr val="tx2"/>
                </a:solidFill>
                <a:latin typeface="+mj-lt"/>
              </a:defRPr>
            </a:lvl1pPr>
          </a:lstStyle>
          <a:p>
            <a:pPr lvl="0"/>
            <a:r>
              <a:rPr lang="en-US" dirty="0"/>
              <a:t>01</a:t>
            </a:r>
          </a:p>
        </p:txBody>
      </p:sp>
      <p:grpSp>
        <p:nvGrpSpPr>
          <p:cNvPr id="12" name="Group 11">
            <a:extLst>
              <a:ext uri="{FF2B5EF4-FFF2-40B4-BE49-F238E27FC236}">
                <a16:creationId xmlns:a16="http://schemas.microsoft.com/office/drawing/2014/main" id="{8DA0560F-A4B9-6D60-DA89-678D8AA3B9FC}"/>
              </a:ext>
            </a:extLst>
          </p:cNvPr>
          <p:cNvGrpSpPr/>
          <p:nvPr userDrawn="1"/>
        </p:nvGrpSpPr>
        <p:grpSpPr>
          <a:xfrm>
            <a:off x="9252284" y="13126"/>
            <a:ext cx="8089991" cy="9759060"/>
            <a:chOff x="6476020" y="-8"/>
            <a:chExt cx="5718513" cy="6897894"/>
          </a:xfrm>
        </p:grpSpPr>
        <p:sp>
          <p:nvSpPr>
            <p:cNvPr id="13" name="Vrije vorm: vorm 9">
              <a:extLst>
                <a:ext uri="{FF2B5EF4-FFF2-40B4-BE49-F238E27FC236}">
                  <a16:creationId xmlns:a16="http://schemas.microsoft.com/office/drawing/2014/main" id="{9D7D31D0-E3AC-9AED-7DFC-600F0A869084}"/>
                </a:ext>
              </a:extLst>
            </p:cNvPr>
            <p:cNvSpPr/>
            <p:nvPr userDrawn="1"/>
          </p:nvSpPr>
          <p:spPr>
            <a:xfrm flipH="1">
              <a:off x="6476020" y="4608573"/>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rgbClr val="D1E4F7"/>
              </a:solidFill>
              <a:prstDash val="solid"/>
              <a:miter/>
            </a:ln>
          </p:spPr>
          <p:txBody>
            <a:bodyPr rtlCol="0" anchor="ctr"/>
            <a:lstStyle/>
            <a:p>
              <a:endParaRPr lang="nl-NL" sz="2560"/>
            </a:p>
          </p:txBody>
        </p:sp>
        <p:sp>
          <p:nvSpPr>
            <p:cNvPr id="16" name="Vrije vorm: vorm 18">
              <a:extLst>
                <a:ext uri="{FF2B5EF4-FFF2-40B4-BE49-F238E27FC236}">
                  <a16:creationId xmlns:a16="http://schemas.microsoft.com/office/drawing/2014/main" id="{F5FCDA4F-39E8-1B34-6039-23A6929D29CF}"/>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sz="2560"/>
            </a:p>
          </p:txBody>
        </p:sp>
        <p:sp>
          <p:nvSpPr>
            <p:cNvPr id="17" name="Vrije vorm: vorm 11">
              <a:extLst>
                <a:ext uri="{FF2B5EF4-FFF2-40B4-BE49-F238E27FC236}">
                  <a16:creationId xmlns:a16="http://schemas.microsoft.com/office/drawing/2014/main" id="{BBDB3D9B-C250-7032-0ACC-7C5B8B0FAD88}"/>
                </a:ext>
              </a:extLst>
            </p:cNvPr>
            <p:cNvSpPr/>
            <p:nvPr/>
          </p:nvSpPr>
          <p:spPr>
            <a:xfrm>
              <a:off x="8765334"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rgbClr val="D1E4F7"/>
              </a:solidFill>
              <a:prstDash val="solid"/>
              <a:miter/>
            </a:ln>
          </p:spPr>
          <p:txBody>
            <a:bodyPr rtlCol="0" anchor="ctr"/>
            <a:lstStyle/>
            <a:p>
              <a:endParaRPr lang="nl-NL" sz="2560"/>
            </a:p>
          </p:txBody>
        </p:sp>
        <p:sp>
          <p:nvSpPr>
            <p:cNvPr id="18" name="Vrije vorm: vorm 16">
              <a:extLst>
                <a:ext uri="{FF2B5EF4-FFF2-40B4-BE49-F238E27FC236}">
                  <a16:creationId xmlns:a16="http://schemas.microsoft.com/office/drawing/2014/main" id="{F7A11193-8342-CC7D-4893-9DA72119E1F8}"/>
                </a:ext>
              </a:extLst>
            </p:cNvPr>
            <p:cNvSpPr/>
            <p:nvPr userDrawn="1"/>
          </p:nvSpPr>
          <p:spPr>
            <a:xfrm rot="18900000" flipH="1">
              <a:off x="7939042" y="32544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rgbClr val="D1E4F7"/>
              </a:solidFill>
              <a:prstDash val="solid"/>
              <a:miter/>
            </a:ln>
          </p:spPr>
          <p:txBody>
            <a:bodyPr rtlCol="0" anchor="ctr"/>
            <a:lstStyle/>
            <a:p>
              <a:endParaRPr lang="nl-NL" sz="2560"/>
            </a:p>
          </p:txBody>
        </p:sp>
        <p:sp>
          <p:nvSpPr>
            <p:cNvPr id="19" name="Vrije vorm: vorm 17">
              <a:extLst>
                <a:ext uri="{FF2B5EF4-FFF2-40B4-BE49-F238E27FC236}">
                  <a16:creationId xmlns:a16="http://schemas.microsoft.com/office/drawing/2014/main" id="{A3F6D955-1692-3320-C7CD-A1960CC43330}"/>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rgbClr val="D1E4F7"/>
              </a:solidFill>
              <a:prstDash val="solid"/>
              <a:miter/>
            </a:ln>
          </p:spPr>
          <p:txBody>
            <a:bodyPr rtlCol="0" anchor="ctr"/>
            <a:lstStyle/>
            <a:p>
              <a:endParaRPr lang="nl-NL" sz="2560" dirty="0"/>
            </a:p>
          </p:txBody>
        </p:sp>
        <p:sp>
          <p:nvSpPr>
            <p:cNvPr id="20" name="Vrije vorm: vorm 18">
              <a:extLst>
                <a:ext uri="{FF2B5EF4-FFF2-40B4-BE49-F238E27FC236}">
                  <a16:creationId xmlns:a16="http://schemas.microsoft.com/office/drawing/2014/main" id="{23AF75C3-7660-CDC9-64BF-2397504B838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sz="2560"/>
            </a:p>
          </p:txBody>
        </p:sp>
      </p:grpSp>
    </p:spTree>
    <p:extLst>
      <p:ext uri="{BB962C8B-B14F-4D97-AF65-F5344CB8AC3E}">
        <p14:creationId xmlns:p14="http://schemas.microsoft.com/office/powerpoint/2010/main" val="4011528806"/>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5461"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Colourful with bulle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2CCD9DE4-34A8-6015-30D9-04F6F47C0ACA}"/>
              </a:ext>
            </a:extLst>
          </p:cNvPr>
          <p:cNvSpPr>
            <a:spLocks noGrp="1"/>
          </p:cNvSpPr>
          <p:nvPr>
            <p:ph sz="quarter" idx="10"/>
          </p:nvPr>
        </p:nvSpPr>
        <p:spPr>
          <a:xfrm>
            <a:off x="1192034" y="2549033"/>
            <a:ext cx="14954607"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40273450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11314342" y="5353001"/>
            <a:ext cx="2298958" cy="2298818"/>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sz="2560"/>
          </a:p>
        </p:txBody>
      </p:sp>
      <p:sp>
        <p:nvSpPr>
          <p:cNvPr id="13" name="Vrije vorm: vorm 12">
            <a:extLst>
              <a:ext uri="{FF2B5EF4-FFF2-40B4-BE49-F238E27FC236}">
                <a16:creationId xmlns:a16="http://schemas.microsoft.com/office/drawing/2014/main" id="{FC85976D-EE45-AE2D-287E-345B5F157F96}"/>
              </a:ext>
            </a:extLst>
          </p:cNvPr>
          <p:cNvSpPr/>
          <p:nvPr/>
        </p:nvSpPr>
        <p:spPr>
          <a:xfrm>
            <a:off x="10838305" y="3252256"/>
            <a:ext cx="3251037" cy="325123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sz="2560"/>
          </a:p>
        </p:txBody>
      </p:sp>
      <p:sp>
        <p:nvSpPr>
          <p:cNvPr id="15" name="Vrije vorm: vorm 14">
            <a:extLst>
              <a:ext uri="{FF2B5EF4-FFF2-40B4-BE49-F238E27FC236}">
                <a16:creationId xmlns:a16="http://schemas.microsoft.com/office/drawing/2014/main" id="{5CB21A53-6FB1-525B-E4F0-F59E8EDA975E}"/>
              </a:ext>
            </a:extLst>
          </p:cNvPr>
          <p:cNvSpPr/>
          <p:nvPr/>
        </p:nvSpPr>
        <p:spPr>
          <a:xfrm>
            <a:off x="10838305" y="0"/>
            <a:ext cx="3251037" cy="3251236"/>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sz="2560"/>
          </a:p>
        </p:txBody>
      </p:sp>
      <p:sp>
        <p:nvSpPr>
          <p:cNvPr id="23" name="Vrije vorm: vorm 22">
            <a:extLst>
              <a:ext uri="{FF2B5EF4-FFF2-40B4-BE49-F238E27FC236}">
                <a16:creationId xmlns:a16="http://schemas.microsoft.com/office/drawing/2014/main" id="{7835CE72-ED67-FFB3-4AF2-B219E802D267}"/>
              </a:ext>
            </a:extLst>
          </p:cNvPr>
          <p:cNvSpPr/>
          <p:nvPr/>
        </p:nvSpPr>
        <p:spPr>
          <a:xfrm>
            <a:off x="14089344" y="6502030"/>
            <a:ext cx="3251037" cy="1625618"/>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sz="2560"/>
          </a:p>
        </p:txBody>
      </p:sp>
      <p:sp>
        <p:nvSpPr>
          <p:cNvPr id="24" name="Vrije vorm: vorm 23">
            <a:extLst>
              <a:ext uri="{FF2B5EF4-FFF2-40B4-BE49-F238E27FC236}">
                <a16:creationId xmlns:a16="http://schemas.microsoft.com/office/drawing/2014/main" id="{B0FB8D35-F14F-4A1B-A129-BCD790B43475}"/>
              </a:ext>
            </a:extLst>
          </p:cNvPr>
          <p:cNvSpPr/>
          <p:nvPr/>
        </p:nvSpPr>
        <p:spPr>
          <a:xfrm>
            <a:off x="14089344" y="1624820"/>
            <a:ext cx="3251037" cy="1625618"/>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sz="2560"/>
          </a:p>
        </p:txBody>
      </p:sp>
      <p:sp>
        <p:nvSpPr>
          <p:cNvPr id="26" name="Vrije vorm: vorm 25">
            <a:extLst>
              <a:ext uri="{FF2B5EF4-FFF2-40B4-BE49-F238E27FC236}">
                <a16:creationId xmlns:a16="http://schemas.microsoft.com/office/drawing/2014/main" id="{DC9D5A06-4B5F-5150-061F-8455585C64F0}"/>
              </a:ext>
            </a:extLst>
          </p:cNvPr>
          <p:cNvSpPr/>
          <p:nvPr/>
        </p:nvSpPr>
        <p:spPr>
          <a:xfrm>
            <a:off x="14089334" y="3250783"/>
            <a:ext cx="3251053" cy="3251255"/>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sz="2560"/>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24" y="400902"/>
            <a:ext cx="1300401" cy="690880"/>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1126325" y="3138114"/>
            <a:ext cx="7986713" cy="2786724"/>
          </a:xfrm>
          <a:prstGeom prst="rect">
            <a:avLst/>
          </a:prstGeom>
        </p:spPr>
        <p:txBody>
          <a:bodyPr anchor="b">
            <a:normAutofit/>
          </a:bodyPr>
          <a:lstStyle>
            <a:lvl1pPr>
              <a:defRPr sz="6542"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1126325" y="8802961"/>
            <a:ext cx="7986713" cy="549737"/>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1126564" y="7161672"/>
            <a:ext cx="7987530" cy="1379503"/>
          </a:xfrm>
          <a:prstGeom prst="rect">
            <a:avLst/>
          </a:prstGeom>
        </p:spPr>
        <p:txBody>
          <a:bodyPr/>
          <a:lstStyle>
            <a:lvl1pPr marL="0" indent="0">
              <a:buNone/>
              <a:defRPr sz="3413"/>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1126327" y="6068907"/>
            <a:ext cx="7987768" cy="988907"/>
          </a:xfrm>
          <a:prstGeom prst="rect">
            <a:avLst/>
          </a:prstGeom>
        </p:spPr>
        <p:txBody>
          <a:bodyPr>
            <a:normAutofit/>
          </a:bodyPr>
          <a:lstStyle>
            <a:lvl1pPr marL="0" indent="0">
              <a:buNone/>
              <a:defRPr sz="3982">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10372245" y="0"/>
            <a:ext cx="6966431" cy="97536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971326064"/>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Dark end 1">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92E722-A1F2-E192-63DB-1754A87ED2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906930" y="8394761"/>
            <a:ext cx="1300401" cy="690880"/>
          </a:xfrm>
          <a:prstGeom prst="rect">
            <a:avLst/>
          </a:prstGeom>
        </p:spPr>
      </p:pic>
      <p:sp>
        <p:nvSpPr>
          <p:cNvPr id="30" name="Tijdelijke aanduiding voor tekst 26">
            <a:extLst>
              <a:ext uri="{FF2B5EF4-FFF2-40B4-BE49-F238E27FC236}">
                <a16:creationId xmlns:a16="http://schemas.microsoft.com/office/drawing/2014/main" id="{040DDA4E-DCB6-FDBA-CC4C-07183759BBE8}"/>
              </a:ext>
            </a:extLst>
          </p:cNvPr>
          <p:cNvSpPr>
            <a:spLocks noGrp="1"/>
          </p:cNvSpPr>
          <p:nvPr>
            <p:ph type="body" sz="quarter" idx="10" hasCustomPrompt="1"/>
          </p:nvPr>
        </p:nvSpPr>
        <p:spPr>
          <a:xfrm>
            <a:off x="2129642" y="8394761"/>
            <a:ext cx="8269535" cy="799815"/>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36" name="Vrije vorm: vorm 35">
            <a:extLst>
              <a:ext uri="{FF2B5EF4-FFF2-40B4-BE49-F238E27FC236}">
                <a16:creationId xmlns:a16="http://schemas.microsoft.com/office/drawing/2014/main" id="{457BF113-0FED-881D-D3F9-480737E7A0DD}"/>
              </a:ext>
            </a:extLst>
          </p:cNvPr>
          <p:cNvSpPr>
            <a:spLocks noChangeAspect="1"/>
          </p:cNvSpPr>
          <p:nvPr/>
        </p:nvSpPr>
        <p:spPr>
          <a:xfrm>
            <a:off x="1126324" y="8394761"/>
            <a:ext cx="692827" cy="691048"/>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sz="2560"/>
          </a:p>
        </p:txBody>
      </p:sp>
      <p:grpSp>
        <p:nvGrpSpPr>
          <p:cNvPr id="23" name="Groep 22">
            <a:extLst>
              <a:ext uri="{FF2B5EF4-FFF2-40B4-BE49-F238E27FC236}">
                <a16:creationId xmlns:a16="http://schemas.microsoft.com/office/drawing/2014/main" id="{EEB7A8C9-A0CF-CA2C-72EC-3DAFC8609B0F}"/>
              </a:ext>
            </a:extLst>
          </p:cNvPr>
          <p:cNvGrpSpPr/>
          <p:nvPr/>
        </p:nvGrpSpPr>
        <p:grpSpPr>
          <a:xfrm>
            <a:off x="0" y="0"/>
            <a:ext cx="17342415" cy="6939918"/>
            <a:chOff x="0" y="0"/>
            <a:chExt cx="12194630" cy="4879630"/>
          </a:xfrm>
        </p:grpSpPr>
        <p:sp>
          <p:nvSpPr>
            <p:cNvPr id="24" name="Vrije vorm: vorm 23">
              <a:extLst>
                <a:ext uri="{FF2B5EF4-FFF2-40B4-BE49-F238E27FC236}">
                  <a16:creationId xmlns:a16="http://schemas.microsoft.com/office/drawing/2014/main" id="{399869FA-D253-8BB4-38AA-1B852323535C}"/>
                </a:ext>
              </a:extLst>
            </p:cNvPr>
            <p:cNvSpPr/>
            <p:nvPr/>
          </p:nvSpPr>
          <p:spPr>
            <a:xfrm>
              <a:off x="0" y="2439819"/>
              <a:ext cx="2439811" cy="2439811"/>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sz="2560"/>
            </a:p>
          </p:txBody>
        </p:sp>
        <p:sp>
          <p:nvSpPr>
            <p:cNvPr id="27" name="Vrije vorm: vorm 26">
              <a:extLst>
                <a:ext uri="{FF2B5EF4-FFF2-40B4-BE49-F238E27FC236}">
                  <a16:creationId xmlns:a16="http://schemas.microsoft.com/office/drawing/2014/main" id="{C35772DD-53DE-CFEB-1FAC-4D509FC0FA36}"/>
                </a:ext>
              </a:extLst>
            </p:cNvPr>
            <p:cNvSpPr/>
            <p:nvPr/>
          </p:nvSpPr>
          <p:spPr>
            <a:xfrm rot="2700000">
              <a:off x="7672321" y="2796523"/>
              <a:ext cx="1725199" cy="172519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sz="2560"/>
            </a:p>
          </p:txBody>
        </p:sp>
        <p:sp>
          <p:nvSpPr>
            <p:cNvPr id="29" name="Vrije vorm: vorm 28">
              <a:extLst>
                <a:ext uri="{FF2B5EF4-FFF2-40B4-BE49-F238E27FC236}">
                  <a16:creationId xmlns:a16="http://schemas.microsoft.com/office/drawing/2014/main" id="{EBF7AA89-4192-DE80-15A1-6176A69496A6}"/>
                </a:ext>
              </a:extLst>
            </p:cNvPr>
            <p:cNvSpPr/>
            <p:nvPr/>
          </p:nvSpPr>
          <p:spPr>
            <a:xfrm>
              <a:off x="7311261" y="8"/>
              <a:ext cx="2439811" cy="2439811"/>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3"/>
            </a:solidFill>
            <a:ln w="0" cap="flat">
              <a:noFill/>
              <a:prstDash val="solid"/>
              <a:miter/>
            </a:ln>
          </p:spPr>
          <p:txBody>
            <a:bodyPr rtlCol="0" anchor="ctr"/>
            <a:lstStyle/>
            <a:p>
              <a:endParaRPr lang="nl-NL" sz="2560"/>
            </a:p>
          </p:txBody>
        </p:sp>
        <p:sp>
          <p:nvSpPr>
            <p:cNvPr id="31" name="Vrije vorm: vorm 30">
              <a:extLst>
                <a:ext uri="{FF2B5EF4-FFF2-40B4-BE49-F238E27FC236}">
                  <a16:creationId xmlns:a16="http://schemas.microsoft.com/office/drawing/2014/main" id="{8CA819EA-8739-A14D-2D18-5C32F4FF0FED}"/>
                </a:ext>
              </a:extLst>
            </p:cNvPr>
            <p:cNvSpPr/>
            <p:nvPr/>
          </p:nvSpPr>
          <p:spPr>
            <a:xfrm rot="10800000">
              <a:off x="4872558"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sz="2560"/>
            </a:p>
          </p:txBody>
        </p:sp>
        <p:sp>
          <p:nvSpPr>
            <p:cNvPr id="33" name="Vrije vorm: vorm 32">
              <a:extLst>
                <a:ext uri="{FF2B5EF4-FFF2-40B4-BE49-F238E27FC236}">
                  <a16:creationId xmlns:a16="http://schemas.microsoft.com/office/drawing/2014/main" id="{F369B62F-76FA-B585-4EB8-4F2B669BB002}"/>
                </a:ext>
              </a:extLst>
            </p:cNvPr>
            <p:cNvSpPr/>
            <p:nvPr/>
          </p:nvSpPr>
          <p:spPr>
            <a:xfrm rot="10800000">
              <a:off x="4875204" y="2439816"/>
              <a:ext cx="2439813" cy="2439814"/>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rgbClr val="FBB70C"/>
            </a:solidFill>
            <a:ln w="0" cap="flat">
              <a:noFill/>
              <a:prstDash val="solid"/>
              <a:miter/>
            </a:ln>
          </p:spPr>
          <p:txBody>
            <a:bodyPr wrap="square" rtlCol="0" anchor="ctr">
              <a:noAutofit/>
            </a:bodyPr>
            <a:lstStyle/>
            <a:p>
              <a:endParaRPr lang="nl-NL" sz="2560"/>
            </a:p>
          </p:txBody>
        </p:sp>
        <p:sp>
          <p:nvSpPr>
            <p:cNvPr id="34" name="Vrije vorm: vorm 33">
              <a:extLst>
                <a:ext uri="{FF2B5EF4-FFF2-40B4-BE49-F238E27FC236}">
                  <a16:creationId xmlns:a16="http://schemas.microsoft.com/office/drawing/2014/main" id="{E54444B7-1442-E4D6-0F66-19D1AF25DD78}"/>
                </a:ext>
              </a:extLst>
            </p:cNvPr>
            <p:cNvSpPr/>
            <p:nvPr/>
          </p:nvSpPr>
          <p:spPr>
            <a:xfrm>
              <a:off x="0" y="0"/>
              <a:ext cx="4872558" cy="2440421"/>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2"/>
            </a:solidFill>
            <a:ln w="0" cap="flat">
              <a:noFill/>
              <a:prstDash val="solid"/>
              <a:miter/>
            </a:ln>
          </p:spPr>
          <p:txBody>
            <a:bodyPr wrap="square" rtlCol="0" anchor="ctr">
              <a:noAutofit/>
            </a:bodyPr>
            <a:lstStyle/>
            <a:p>
              <a:endParaRPr lang="nl-NL" sz="2560"/>
            </a:p>
          </p:txBody>
        </p:sp>
        <p:sp>
          <p:nvSpPr>
            <p:cNvPr id="35" name="Vrije vorm: vorm 34">
              <a:extLst>
                <a:ext uri="{FF2B5EF4-FFF2-40B4-BE49-F238E27FC236}">
                  <a16:creationId xmlns:a16="http://schemas.microsoft.com/office/drawing/2014/main" id="{B9542184-1726-825C-0E63-9970ACBF8780}"/>
                </a:ext>
              </a:extLst>
            </p:cNvPr>
            <p:cNvSpPr/>
            <p:nvPr/>
          </p:nvSpPr>
          <p:spPr>
            <a:xfrm>
              <a:off x="9752177" y="0"/>
              <a:ext cx="2439823" cy="243982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sz="2560"/>
            </a:p>
          </p:txBody>
        </p:sp>
        <p:sp>
          <p:nvSpPr>
            <p:cNvPr id="37" name="Vrije vorm: vorm 36">
              <a:extLst>
                <a:ext uri="{FF2B5EF4-FFF2-40B4-BE49-F238E27FC236}">
                  <a16:creationId xmlns:a16="http://schemas.microsoft.com/office/drawing/2014/main" id="{338163DE-406C-D74C-77C8-EB0938CE5415}"/>
                </a:ext>
              </a:extLst>
            </p:cNvPr>
            <p:cNvSpPr/>
            <p:nvPr/>
          </p:nvSpPr>
          <p:spPr>
            <a:xfrm rot="10800000">
              <a:off x="6092462"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sz="2560"/>
            </a:p>
          </p:txBody>
        </p:sp>
        <p:sp>
          <p:nvSpPr>
            <p:cNvPr id="38" name="Vrije vorm: vorm 37">
              <a:extLst>
                <a:ext uri="{FF2B5EF4-FFF2-40B4-BE49-F238E27FC236}">
                  <a16:creationId xmlns:a16="http://schemas.microsoft.com/office/drawing/2014/main" id="{D4AA38CC-0CF1-283A-A334-0A47D8A86A74}"/>
                </a:ext>
              </a:extLst>
            </p:cNvPr>
            <p:cNvSpPr/>
            <p:nvPr/>
          </p:nvSpPr>
          <p:spPr>
            <a:xfrm rot="10800000">
              <a:off x="2436503" y="2439818"/>
              <a:ext cx="2439811" cy="2439811"/>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sz="2560"/>
            </a:p>
          </p:txBody>
        </p:sp>
        <p:sp>
          <p:nvSpPr>
            <p:cNvPr id="39" name="Vrije vorm: vorm 38">
              <a:extLst>
                <a:ext uri="{FF2B5EF4-FFF2-40B4-BE49-F238E27FC236}">
                  <a16:creationId xmlns:a16="http://schemas.microsoft.com/office/drawing/2014/main" id="{A9CE4EB0-A0FC-4DF3-14C1-33C6C3363551}"/>
                </a:ext>
              </a:extLst>
            </p:cNvPr>
            <p:cNvSpPr/>
            <p:nvPr/>
          </p:nvSpPr>
          <p:spPr>
            <a:xfrm rot="5400000">
              <a:off x="9144314"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sz="2560"/>
            </a:p>
          </p:txBody>
        </p:sp>
        <p:sp>
          <p:nvSpPr>
            <p:cNvPr id="40" name="Vrije vorm: vorm 39">
              <a:extLst>
                <a:ext uri="{FF2B5EF4-FFF2-40B4-BE49-F238E27FC236}">
                  <a16:creationId xmlns:a16="http://schemas.microsoft.com/office/drawing/2014/main" id="{5721DBB0-BD72-473D-5AEA-59403DC4F6B8}"/>
                </a:ext>
              </a:extLst>
            </p:cNvPr>
            <p:cNvSpPr/>
            <p:nvPr/>
          </p:nvSpPr>
          <p:spPr>
            <a:xfrm rot="16200000">
              <a:off x="10364772"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sz="2560"/>
            </a:p>
          </p:txBody>
        </p:sp>
      </p:grpSp>
    </p:spTree>
    <p:extLst>
      <p:ext uri="{BB962C8B-B14F-4D97-AF65-F5344CB8AC3E}">
        <p14:creationId xmlns:p14="http://schemas.microsoft.com/office/powerpoint/2010/main" val="318948591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20.xml"/><Relationship Id="rId7" Type="http://schemas.openxmlformats.org/officeDocument/2006/relationships/image" Target="../media/image6.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2.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25.xml"/><Relationship Id="rId7"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9" Type="http://schemas.openxmlformats.org/officeDocument/2006/relationships/image" Target="../media/image8.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image" Target="../media/image5.svg"/><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image" Target="../media/image4.png"/><Relationship Id="rId5" Type="http://schemas.openxmlformats.org/officeDocument/2006/relationships/slideLayout" Target="../slideLayouts/slideLayout33.xml"/><Relationship Id="rId10" Type="http://schemas.openxmlformats.org/officeDocument/2006/relationships/theme" Target="../theme/theme4.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0118" y="136025"/>
            <a:ext cx="15705282" cy="863693"/>
          </a:xfrm>
          <a:prstGeom prst="rect">
            <a:avLst/>
          </a:prstGeom>
        </p:spPr>
        <p:txBody>
          <a:bodyPr vert="horz" lIns="91440" tIns="45720" rIns="91440" bIns="45720" rtlCol="0" anchor="t" anchorCtr="0">
            <a:noAutofit/>
          </a:bodyPr>
          <a:lstStyle/>
          <a:p>
            <a:r>
              <a:rPr lang="nl-BE" noProof="0"/>
              <a:t>Klik om de stijl te bewerken</a:t>
            </a:r>
          </a:p>
        </p:txBody>
      </p:sp>
      <p:sp>
        <p:nvSpPr>
          <p:cNvPr id="3" name="Text Placeholder 2"/>
          <p:cNvSpPr>
            <a:spLocks noGrp="1"/>
          </p:cNvSpPr>
          <p:nvPr>
            <p:ph type="body" idx="1"/>
          </p:nvPr>
        </p:nvSpPr>
        <p:spPr>
          <a:xfrm>
            <a:off x="835825" y="1194364"/>
            <a:ext cx="15699575" cy="6696000"/>
          </a:xfrm>
          <a:prstGeom prst="rect">
            <a:avLst/>
          </a:prstGeom>
        </p:spPr>
        <p:txBody>
          <a:bodyPr vert="horz" lIns="91440" tIns="45720" rIns="91440" bIns="45720" rtlCol="0">
            <a:normAutofit/>
          </a:bodyPr>
          <a:lstStyle/>
          <a:p>
            <a:pPr lvl="0"/>
            <a:r>
              <a:rPr lang="nl-BE" noProof="0"/>
              <a:t>Click </a:t>
            </a:r>
            <a:r>
              <a:rPr lang="nl-BE" noProof="0" err="1"/>
              <a:t>to</a:t>
            </a:r>
            <a:r>
              <a:rPr lang="nl-BE" noProof="0"/>
              <a:t> </a:t>
            </a:r>
            <a:r>
              <a:rPr lang="nl-BE" noProof="0" err="1"/>
              <a:t>edit</a:t>
            </a:r>
            <a:r>
              <a:rPr lang="nl-BE" noProof="0"/>
              <a:t> Master </a:t>
            </a:r>
            <a:r>
              <a:rPr lang="nl-BE" noProof="0" err="1"/>
              <a:t>text</a:t>
            </a:r>
            <a:r>
              <a:rPr lang="nl-BE" noProof="0"/>
              <a:t> </a:t>
            </a:r>
            <a:r>
              <a:rPr lang="nl-BE" noProof="0" err="1"/>
              <a:t>styles</a:t>
            </a:r>
            <a:endParaRPr lang="nl-BE" noProof="0"/>
          </a:p>
          <a:p>
            <a:pPr lvl="1"/>
            <a:r>
              <a:rPr lang="nl-BE" noProof="0"/>
              <a:t>Second level</a:t>
            </a:r>
          </a:p>
          <a:p>
            <a:pPr lvl="2"/>
            <a:r>
              <a:rPr lang="nl-BE" noProof="0" err="1"/>
              <a:t>Third</a:t>
            </a:r>
            <a:r>
              <a:rPr lang="nl-BE" noProof="0"/>
              <a:t> level</a:t>
            </a:r>
          </a:p>
        </p:txBody>
      </p:sp>
      <p:sp>
        <p:nvSpPr>
          <p:cNvPr id="4" name="Date Placeholder 3"/>
          <p:cNvSpPr>
            <a:spLocks noGrp="1"/>
          </p:cNvSpPr>
          <p:nvPr>
            <p:ph type="dt" sz="half" idx="2"/>
          </p:nvPr>
        </p:nvSpPr>
        <p:spPr>
          <a:xfrm>
            <a:off x="4072394" y="8948703"/>
            <a:ext cx="2297926" cy="519289"/>
          </a:xfrm>
          <a:prstGeom prst="rect">
            <a:avLst/>
          </a:prstGeom>
        </p:spPr>
        <p:txBody>
          <a:bodyPr vert="horz" lIns="91440" tIns="45720" rIns="91440" bIns="45720" rtlCol="0" anchor="ctr"/>
          <a:lstStyle>
            <a:lvl1pPr algn="l">
              <a:defRPr sz="1707">
                <a:solidFill>
                  <a:schemeClr val="tx1">
                    <a:tint val="75000"/>
                  </a:schemeClr>
                </a:solidFill>
                <a:latin typeface="UGent Panno Text SemiLight" panose="02000406040000040003" pitchFamily="50" charset="0"/>
              </a:defRPr>
            </a:lvl1pPr>
          </a:lstStyle>
          <a:p>
            <a:fld id="{FA870D1A-A3AB-4E9F-892E-C45B5A80FDBF}" type="datetime1">
              <a:rPr lang="nl-BE" smtClean="0"/>
              <a:pPr/>
              <a:t>17/10/2025</a:t>
            </a:fld>
            <a:endParaRPr lang="nl-BE"/>
          </a:p>
        </p:txBody>
      </p:sp>
      <p:sp>
        <p:nvSpPr>
          <p:cNvPr id="5" name="Footer Placeholder 4"/>
          <p:cNvSpPr>
            <a:spLocks noGrp="1"/>
          </p:cNvSpPr>
          <p:nvPr>
            <p:ph type="ftr" sz="quarter" idx="3"/>
          </p:nvPr>
        </p:nvSpPr>
        <p:spPr>
          <a:xfrm>
            <a:off x="6810236" y="8994423"/>
            <a:ext cx="8353564" cy="437932"/>
          </a:xfrm>
          <a:prstGeom prst="rect">
            <a:avLst/>
          </a:prstGeom>
        </p:spPr>
        <p:txBody>
          <a:bodyPr vert="horz" lIns="91440" tIns="45720" rIns="91440" bIns="45720" rtlCol="0" anchor="ctr"/>
          <a:lstStyle>
            <a:lvl1pPr algn="ctr">
              <a:defRPr sz="1707">
                <a:solidFill>
                  <a:schemeClr val="tx1">
                    <a:tint val="75000"/>
                  </a:schemeClr>
                </a:solidFill>
                <a:latin typeface="UGent Panno Text SemiLight" panose="02000406040000040003" pitchFamily="50" charset="0"/>
              </a:defRPr>
            </a:lvl1pPr>
          </a:lstStyle>
          <a:p>
            <a:endParaRPr lang="nl-BE"/>
          </a:p>
        </p:txBody>
      </p:sp>
      <p:sp>
        <p:nvSpPr>
          <p:cNvPr id="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latin typeface="UGent Panno Text SemiLight" panose="02000406040000040003" pitchFamily="50" charset="0"/>
              </a:defRPr>
            </a:lvl1pPr>
          </a:lstStyle>
          <a:p>
            <a:fld id="{7AE184E0-0BD4-4705-A12B-9B71DDE63301}" type="slidenum">
              <a:rPr lang="nl-BE" smtClean="0"/>
              <a:pPr/>
              <a:t>‹#›</a:t>
            </a:fld>
            <a:endParaRPr lang="nl-BE"/>
          </a:p>
        </p:txBody>
      </p:sp>
      <p:sp>
        <p:nvSpPr>
          <p:cNvPr id="7" name="Title positioning box" hidden="1"/>
          <p:cNvSpPr/>
          <p:nvPr userDrawn="1"/>
        </p:nvSpPr>
        <p:spPr>
          <a:xfrm>
            <a:off x="927265" y="367200"/>
            <a:ext cx="15480000" cy="463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ositoning box" hidden="1"/>
          <p:cNvSpPr/>
          <p:nvPr userDrawn="1"/>
        </p:nvSpPr>
        <p:spPr>
          <a:xfrm>
            <a:off x="927265" y="1584000"/>
            <a:ext cx="82296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ogo positioning box" hidden="1"/>
          <p:cNvSpPr/>
          <p:nvPr userDrawn="1"/>
        </p:nvSpPr>
        <p:spPr>
          <a:xfrm flipV="1">
            <a:off x="928800" y="7878842"/>
            <a:ext cx="15478465" cy="141635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483617" y="7906160"/>
            <a:ext cx="2308379" cy="1847440"/>
          </a:xfrm>
          <a:prstGeom prst="rect">
            <a:avLst/>
          </a:prstGeom>
        </p:spPr>
      </p:pic>
      <p:sp>
        <p:nvSpPr>
          <p:cNvPr id="12" name="Text positoning box" hidden="1"/>
          <p:cNvSpPr/>
          <p:nvPr userDrawn="1"/>
        </p:nvSpPr>
        <p:spPr>
          <a:xfrm>
            <a:off x="9172105" y="1584000"/>
            <a:ext cx="9144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ositoning box" hidden="1"/>
          <p:cNvSpPr/>
          <p:nvPr userDrawn="1"/>
        </p:nvSpPr>
        <p:spPr>
          <a:xfrm>
            <a:off x="10099369" y="1356360"/>
            <a:ext cx="6307895" cy="6527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0589907"/>
      </p:ext>
    </p:extLst>
  </p:cSld>
  <p:clrMap bg1="lt1" tx1="dk1" bg2="lt2" tx2="dk2" accent1="accent1" accent2="accent2" accent3="accent3" accent4="accent4" accent5="accent5" accent6="accent6" hlink="hlink" folHlink="folHlink"/>
  <p:sldLayoutIdLst>
    <p:sldLayoutId id="2147483938" r:id="rId1"/>
    <p:sldLayoutId id="2147483661" r:id="rId2"/>
    <p:sldLayoutId id="2147483939" r:id="rId3"/>
    <p:sldLayoutId id="2147483662" r:id="rId4"/>
    <p:sldLayoutId id="2147483674" r:id="rId5"/>
    <p:sldLayoutId id="2147483937" r:id="rId6"/>
    <p:sldLayoutId id="2147483675" r:id="rId7"/>
    <p:sldLayoutId id="2147483677" r:id="rId8"/>
    <p:sldLayoutId id="2147483680" r:id="rId9"/>
    <p:sldLayoutId id="2147483678" r:id="rId10"/>
    <p:sldLayoutId id="2147483679" r:id="rId11"/>
    <p:sldLayoutId id="2147483676" r:id="rId12"/>
    <p:sldLayoutId id="2147483681" r:id="rId13"/>
    <p:sldLayoutId id="2147483682" r:id="rId14"/>
    <p:sldLayoutId id="2147483683" r:id="rId15"/>
    <p:sldLayoutId id="2147483684" r:id="rId16"/>
    <p:sldLayoutId id="2147483685" r:id="rId17"/>
  </p:sldLayoutIdLst>
  <p:hf hdr="0" ftr="0" dt="0"/>
  <p:txStyles>
    <p:titleStyle>
      <a:lvl1pPr algn="l" defTabSz="1300368" rtl="0" eaLnBrk="1" latinLnBrk="0" hangingPunct="1">
        <a:lnSpc>
          <a:spcPct val="90000"/>
        </a:lnSpc>
        <a:spcBef>
          <a:spcPct val="0"/>
        </a:spcBef>
        <a:buNone/>
        <a:defRPr sz="5400" u="sng" kern="1200" cap="all" baseline="0">
          <a:solidFill>
            <a:srgbClr val="1E64C8"/>
          </a:solidFill>
          <a:uFill>
            <a:solidFill>
              <a:srgbClr val="1E64C8"/>
            </a:solidFill>
          </a:uFill>
          <a:latin typeface="UGent Panno Text SemiBold" panose="02000706040000040003" pitchFamily="50" charset="0"/>
          <a:ea typeface="+mj-ea"/>
          <a:cs typeface="Segoe UI Semibold" panose="020B0702040204020203" pitchFamily="34" charset="0"/>
        </a:defRPr>
      </a:lvl1pPr>
    </p:titleStyle>
    <p:bodyStyle>
      <a:lvl1pPr marL="536575" indent="-450850"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UGent Panno Text SemiLight" panose="02000406040000040003" pitchFamily="50" charset="0"/>
          <a:ea typeface="+mn-ea"/>
          <a:cs typeface="+mn-cs"/>
        </a:defRPr>
      </a:lvl1pPr>
      <a:lvl2pPr marL="1169988" indent="-45085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UGent Panno Text SemiLight" panose="02000406040000040003" pitchFamily="50" charset="0"/>
          <a:ea typeface="+mn-ea"/>
          <a:cs typeface="+mn-cs"/>
        </a:defRPr>
      </a:lvl2pPr>
      <a:lvl3pPr marL="1755775" indent="-450000"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UGent Panno Text SemiLight" panose="02000406040000040003" pitchFamily="50" charset="0"/>
          <a:ea typeface="+mn-ea"/>
          <a:cs typeface="+mn-cs"/>
        </a:defRPr>
      </a:lvl3pPr>
      <a:lvl4pPr marL="1441450" indent="-550863"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600325" indent="-1158875"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4947036" y="10092965"/>
            <a:ext cx="689195" cy="689237"/>
          </a:xfrm>
          <a:prstGeom prst="rect">
            <a:avLst/>
          </a:prstGeom>
          <a:solidFill>
            <a:srgbClr val="E82E4F"/>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6649480" y="10092965"/>
            <a:ext cx="689195" cy="689237"/>
          </a:xfrm>
          <a:prstGeom prst="rect">
            <a:avLst/>
          </a:prstGeom>
          <a:solidFill>
            <a:srgbClr val="FBB60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5798259" y="10092965"/>
            <a:ext cx="689195" cy="689237"/>
          </a:xfrm>
          <a:prstGeom prst="rect">
            <a:avLst/>
          </a:prstGeom>
          <a:solidFill>
            <a:srgbClr val="00A042"/>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14095812" y="10092965"/>
            <a:ext cx="689195" cy="689237"/>
          </a:xfrm>
          <a:prstGeom prst="rect">
            <a:avLst/>
          </a:prstGeom>
          <a:solidFill>
            <a:srgbClr val="123F93"/>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11542437" y="10094079"/>
            <a:ext cx="689097" cy="689139"/>
          </a:xfrm>
          <a:prstGeom prst="rect">
            <a:avLst/>
          </a:prstGeom>
          <a:solidFill>
            <a:srgbClr val="ED631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10691312" y="10094079"/>
            <a:ext cx="689097" cy="689139"/>
          </a:xfrm>
          <a:prstGeom prst="rect">
            <a:avLst/>
          </a:prstGeom>
          <a:solidFill>
            <a:srgbClr val="01A2A6"/>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12393563" y="10094079"/>
            <a:ext cx="689097" cy="689139"/>
          </a:xfrm>
          <a:prstGeom prst="rect">
            <a:avLst/>
          </a:prstGeom>
          <a:solidFill>
            <a:srgbClr val="68398E"/>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13244688" y="10094079"/>
            <a:ext cx="689097" cy="689139"/>
          </a:xfrm>
          <a:prstGeom prst="rect">
            <a:avLst/>
          </a:prstGeom>
          <a:solidFill>
            <a:srgbClr val="14274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1192034" y="519290"/>
            <a:ext cx="14954607" cy="1885245"/>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4" name="Graphic 3">
            <a:extLst>
              <a:ext uri="{FF2B5EF4-FFF2-40B4-BE49-F238E27FC236}">
                <a16:creationId xmlns:a16="http://schemas.microsoft.com/office/drawing/2014/main" id="{FDD854D1-0535-126B-6BA3-B3C811DEA0D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3088" y="9132269"/>
            <a:ext cx="851323" cy="452294"/>
          </a:xfrm>
          <a:prstGeom prst="rect">
            <a:avLst/>
          </a:prstGeom>
        </p:spPr>
      </p:pic>
    </p:spTree>
    <p:extLst>
      <p:ext uri="{BB962C8B-B14F-4D97-AF65-F5344CB8AC3E}">
        <p14:creationId xmlns:p14="http://schemas.microsoft.com/office/powerpoint/2010/main" val="3017676531"/>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5" r:id="rId3"/>
    <p:sldLayoutId id="2147483904" r:id="rId4"/>
    <p:sldLayoutId id="2147483907" r:id="rId5"/>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4947036" y="10092965"/>
            <a:ext cx="689195" cy="689237"/>
          </a:xfrm>
          <a:prstGeom prst="rect">
            <a:avLst/>
          </a:prstGeom>
          <a:solidFill>
            <a:srgbClr val="E82E4F"/>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6649480" y="10092965"/>
            <a:ext cx="689195" cy="689237"/>
          </a:xfrm>
          <a:prstGeom prst="rect">
            <a:avLst/>
          </a:prstGeom>
          <a:solidFill>
            <a:srgbClr val="FBB60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5798259" y="10092965"/>
            <a:ext cx="689195" cy="689237"/>
          </a:xfrm>
          <a:prstGeom prst="rect">
            <a:avLst/>
          </a:prstGeom>
          <a:solidFill>
            <a:srgbClr val="00A042"/>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14095812" y="10092965"/>
            <a:ext cx="689195" cy="689237"/>
          </a:xfrm>
          <a:prstGeom prst="rect">
            <a:avLst/>
          </a:prstGeom>
          <a:solidFill>
            <a:srgbClr val="123F93"/>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11542437" y="10094079"/>
            <a:ext cx="689097" cy="689139"/>
          </a:xfrm>
          <a:prstGeom prst="rect">
            <a:avLst/>
          </a:prstGeom>
          <a:solidFill>
            <a:srgbClr val="ED631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10691312" y="10094079"/>
            <a:ext cx="689097" cy="689139"/>
          </a:xfrm>
          <a:prstGeom prst="rect">
            <a:avLst/>
          </a:prstGeom>
          <a:solidFill>
            <a:srgbClr val="01A2A6"/>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12393563" y="10094079"/>
            <a:ext cx="689097" cy="689139"/>
          </a:xfrm>
          <a:prstGeom prst="rect">
            <a:avLst/>
          </a:prstGeom>
          <a:solidFill>
            <a:srgbClr val="68398E"/>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13244688" y="10094079"/>
            <a:ext cx="689097" cy="689139"/>
          </a:xfrm>
          <a:prstGeom prst="rect">
            <a:avLst/>
          </a:prstGeom>
          <a:solidFill>
            <a:srgbClr val="14274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1192034" y="519290"/>
            <a:ext cx="14954607" cy="1885245"/>
          </a:xfrm>
          <a:prstGeom prst="rect">
            <a:avLst/>
          </a:prstGeom>
        </p:spPr>
        <p:txBody>
          <a:bodyPr vert="horz" lIns="91440" tIns="45720" rIns="91440" bIns="45720" rtlCol="0" anchor="ctr">
            <a:normAutofit/>
          </a:bodyPr>
          <a:lstStyle/>
          <a:p>
            <a:r>
              <a:rPr lang="en-US"/>
              <a:t>Click to edit Master title style</a:t>
            </a:r>
            <a:endParaRPr lang="en-BE"/>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83088" y="9132270"/>
            <a:ext cx="851323" cy="452294"/>
          </a:xfrm>
          <a:prstGeom prst="rect">
            <a:avLst/>
          </a:prstGeom>
        </p:spPr>
      </p:pic>
    </p:spTree>
    <p:extLst>
      <p:ext uri="{BB962C8B-B14F-4D97-AF65-F5344CB8AC3E}">
        <p14:creationId xmlns:p14="http://schemas.microsoft.com/office/powerpoint/2010/main" val="4197357928"/>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902" r:id="rId3"/>
    <p:sldLayoutId id="2147483903" r:id="rId4"/>
    <p:sldLayoutId id="2147483936" r:id="rId5"/>
    <p:sldLayoutId id="2147483906" r:id="rId6"/>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4947036" y="10092965"/>
            <a:ext cx="689195" cy="689237"/>
          </a:xfrm>
          <a:prstGeom prst="rect">
            <a:avLst/>
          </a:prstGeom>
          <a:solidFill>
            <a:srgbClr val="E82E4F"/>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6649480" y="10092965"/>
            <a:ext cx="689195" cy="689237"/>
          </a:xfrm>
          <a:prstGeom prst="rect">
            <a:avLst/>
          </a:prstGeom>
          <a:solidFill>
            <a:srgbClr val="FBB60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5798259" y="10092965"/>
            <a:ext cx="689195" cy="689237"/>
          </a:xfrm>
          <a:prstGeom prst="rect">
            <a:avLst/>
          </a:prstGeom>
          <a:solidFill>
            <a:srgbClr val="00A042"/>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14095812" y="10092965"/>
            <a:ext cx="689195" cy="689237"/>
          </a:xfrm>
          <a:prstGeom prst="rect">
            <a:avLst/>
          </a:prstGeom>
          <a:solidFill>
            <a:srgbClr val="123F93"/>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11542437" y="10094079"/>
            <a:ext cx="689097" cy="689139"/>
          </a:xfrm>
          <a:prstGeom prst="rect">
            <a:avLst/>
          </a:prstGeom>
          <a:solidFill>
            <a:srgbClr val="ED631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10691312" y="10094079"/>
            <a:ext cx="689097" cy="689139"/>
          </a:xfrm>
          <a:prstGeom prst="rect">
            <a:avLst/>
          </a:prstGeom>
          <a:solidFill>
            <a:srgbClr val="01A2A6"/>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12393563" y="10094079"/>
            <a:ext cx="689097" cy="689139"/>
          </a:xfrm>
          <a:prstGeom prst="rect">
            <a:avLst/>
          </a:prstGeom>
          <a:solidFill>
            <a:srgbClr val="68398E"/>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13244688" y="10094079"/>
            <a:ext cx="689097" cy="689139"/>
          </a:xfrm>
          <a:prstGeom prst="rect">
            <a:avLst/>
          </a:prstGeom>
          <a:solidFill>
            <a:srgbClr val="14274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1192034" y="519290"/>
            <a:ext cx="14954607" cy="1885245"/>
          </a:xfrm>
          <a:prstGeom prst="rect">
            <a:avLst/>
          </a:prstGeom>
        </p:spPr>
        <p:txBody>
          <a:bodyPr vert="horz" lIns="91440" tIns="45720" rIns="91440" bIns="45720" rtlCol="0" anchor="ctr">
            <a:normAutofit/>
          </a:bodyPr>
          <a:lstStyle/>
          <a:p>
            <a:r>
              <a:rPr lang="en-US" dirty="0"/>
              <a:t>Click to edit Master title style</a:t>
            </a:r>
            <a:endParaRPr lang="en-BE" dirty="0"/>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83088" y="9132270"/>
            <a:ext cx="851323" cy="452294"/>
          </a:xfrm>
          <a:prstGeom prst="rect">
            <a:avLst/>
          </a:prstGeom>
        </p:spPr>
      </p:pic>
    </p:spTree>
    <p:extLst>
      <p:ext uri="{BB962C8B-B14F-4D97-AF65-F5344CB8AC3E}">
        <p14:creationId xmlns:p14="http://schemas.microsoft.com/office/powerpoint/2010/main" val="4106062483"/>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10.png"/><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svg"/><Relationship Id="rId3" Type="http://schemas.openxmlformats.org/officeDocument/2006/relationships/image" Target="../media/image28.svg"/><Relationship Id="rId7" Type="http://schemas.openxmlformats.org/officeDocument/2006/relationships/image" Target="../media/image32.sv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 Id="rId14" Type="http://schemas.openxmlformats.org/officeDocument/2006/relationships/image" Target="../media/image39.jpeg"/></Relationships>
</file>

<file path=ppt/slides/_rels/slide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svg"/><Relationship Id="rId7" Type="http://schemas.openxmlformats.org/officeDocument/2006/relationships/image" Target="../media/image45.svg"/><Relationship Id="rId2"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svg"/><Relationship Id="rId10" Type="http://schemas.openxmlformats.org/officeDocument/2006/relationships/hyperlink" Target="https://www.ugent.be/en/research/datamanagement/during-research/documentation.htm" TargetMode="External"/><Relationship Id="rId4" Type="http://schemas.openxmlformats.org/officeDocument/2006/relationships/image" Target="../media/image42.png"/><Relationship Id="rId9" Type="http://schemas.openxmlformats.org/officeDocument/2006/relationships/image" Target="../media/image47.svg"/></Relationships>
</file>

<file path=ppt/slides/_rels/slide5.xml.rels><?xml version="1.0" encoding="UTF-8" standalone="yes"?>
<Relationships xmlns="http://schemas.openxmlformats.org/package/2006/relationships"><Relationship Id="rId3" Type="http://schemas.openxmlformats.org/officeDocument/2006/relationships/hyperlink" Target="https://epistat.sciensano.be/docs/COVID19BE_codebook.pdf" TargetMode="External"/><Relationship Id="rId2" Type="http://schemas.openxmlformats.org/officeDocument/2006/relationships/hyperlink" Target="https://epistat.sciensano.be/COVID19BE_codebook.pdf" TargetMode="Externa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6.xml.rels><?xml version="1.0" encoding="UTF-8" standalone="yes"?>
<Relationships xmlns="http://schemas.openxmlformats.org/package/2006/relationships"><Relationship Id="rId8" Type="http://schemas.openxmlformats.org/officeDocument/2006/relationships/image" Target="../media/image52.gif"/><Relationship Id="rId3" Type="http://schemas.microsoft.com/office/2018/10/relationships/comments" Target="../comments/modernComment_7BBF5A96_90C0A31F.xml"/><Relationship Id="rId7" Type="http://schemas.openxmlformats.org/officeDocument/2006/relationships/image" Target="../media/image51.jpeg"/><Relationship Id="rId12" Type="http://schemas.openxmlformats.org/officeDocument/2006/relationships/image" Target="../media/image56.jpeg"/><Relationship Id="rId2" Type="http://schemas.openxmlformats.org/officeDocument/2006/relationships/notesSlide" Target="../notesSlides/notesSlide1.xml"/><Relationship Id="rId1" Type="http://schemas.openxmlformats.org/officeDocument/2006/relationships/slideLayout" Target="../slideLayouts/slideLayout22.xml"/><Relationship Id="rId6" Type="http://schemas.openxmlformats.org/officeDocument/2006/relationships/image" Target="../media/image50.jpe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hyperlink" Target="https://www.scisure.com/" TargetMode="External"/><Relationship Id="rId9" Type="http://schemas.openxmlformats.org/officeDocument/2006/relationships/image" Target="../media/image53.png"/></Relationships>
</file>

<file path=ppt/slides/_rels/slide7.xml.rels><?xml version="1.0" encoding="UTF-8" standalone="yes"?>
<Relationships xmlns="http://schemas.openxmlformats.org/package/2006/relationships"><Relationship Id="rId3" Type="http://schemas.openxmlformats.org/officeDocument/2006/relationships/hyperlink" Target="https://www.vibtrainingandconferences.be/events?ongoing=1&amp;text=ELN" TargetMode="External"/><Relationship Id="rId2" Type="http://schemas.openxmlformats.org/officeDocument/2006/relationships/image" Target="../media/image57.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microsoft.com/office/2018/10/relationships/comments" Target="../comments/modernComment_3D5_48342EAE.xml"/><Relationship Id="rId7" Type="http://schemas.openxmlformats.org/officeDocument/2006/relationships/image" Target="../media/image62.jpe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hyperlink" Target="https://onderzoektips.ugent.be/en/tips/00002245/"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hiruz.be/dmu/" TargetMode="External"/><Relationship Id="rId3" Type="http://schemas.microsoft.com/office/2018/10/relationships/comments" Target="../comments/modernComment_511_E671BF61.xml"/><Relationship Id="rId7" Type="http://schemas.openxmlformats.org/officeDocument/2006/relationships/image" Target="../media/image6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1.xml.rels><?xml version="1.0" encoding="UTF-8" standalone="yes"?>
<Relationships xmlns="http://schemas.openxmlformats.org/package/2006/relationships"><Relationship Id="rId3" Type="http://schemas.openxmlformats.org/officeDocument/2006/relationships/hyperlink" Target="https://rmarkdown.rstudio.com/" TargetMode="External"/><Relationship Id="rId2" Type="http://schemas.openxmlformats.org/officeDocument/2006/relationships/hyperlink" Target="https://jupyter.org/" TargetMode="External"/><Relationship Id="rId1" Type="http://schemas.openxmlformats.org/officeDocument/2006/relationships/slideLayout" Target="../slideLayouts/slideLayout4.xml"/><Relationship Id="rId6" Type="http://schemas.openxmlformats.org/officeDocument/2006/relationships/hyperlink" Target="https://doi.org/10.5061/dryad.5vg70" TargetMode="External"/><Relationship Id="rId5" Type="http://schemas.openxmlformats.org/officeDocument/2006/relationships/image" Target="../media/image68.png"/><Relationship Id="rId4" Type="http://schemas.openxmlformats.org/officeDocument/2006/relationships/image" Target="../media/image67.png"/></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Minimum_information_standard" TargetMode="External"/><Relationship Id="rId2" Type="http://schemas.openxmlformats.org/officeDocument/2006/relationships/hyperlink" Target="https://fairsharing.org/search/?q=minseqe" TargetMode="Externa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svg"/><Relationship Id="rId3" Type="http://schemas.openxmlformats.org/officeDocument/2006/relationships/image" Target="../media/image70.svg"/><Relationship Id="rId7" Type="http://schemas.openxmlformats.org/officeDocument/2006/relationships/image" Target="../media/image74.svg"/><Relationship Id="rId12" Type="http://schemas.openxmlformats.org/officeDocument/2006/relationships/image" Target="../media/image79.png"/><Relationship Id="rId2" Type="http://schemas.openxmlformats.org/officeDocument/2006/relationships/image" Target="../media/image69.png"/><Relationship Id="rId1" Type="http://schemas.openxmlformats.org/officeDocument/2006/relationships/slideLayout" Target="../slideLayouts/slideLayout4.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svg"/></Relationships>
</file>

<file path=ppt/slides/_rels/slide14.xml.rels><?xml version="1.0" encoding="UTF-8" standalone="yes"?>
<Relationships xmlns="http://schemas.openxmlformats.org/package/2006/relationships"><Relationship Id="rId3" Type="http://schemas.openxmlformats.org/officeDocument/2006/relationships/image" Target="../media/image81.jpeg"/><Relationship Id="rId2" Type="http://schemas.microsoft.com/office/2018/10/relationships/comments" Target="../comments/modernComment_436_67CE77E1.xml"/><Relationship Id="rId1" Type="http://schemas.openxmlformats.org/officeDocument/2006/relationships/slideLayout" Target="../slideLayouts/slideLayout4.xml"/><Relationship Id="rId5" Type="http://schemas.openxmlformats.org/officeDocument/2006/relationships/image" Target="../media/image83.png"/><Relationship Id="rId4" Type="http://schemas.openxmlformats.org/officeDocument/2006/relationships/image" Target="../media/image82.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10.png"/><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7.jpe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6.svg"/><Relationship Id="rId5" Type="http://schemas.openxmlformats.org/officeDocument/2006/relationships/image" Target="../media/image85.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9.svg"/><Relationship Id="rId7" Type="http://schemas.openxmlformats.org/officeDocument/2006/relationships/image" Target="../media/image91.svg"/><Relationship Id="rId2" Type="http://schemas.openxmlformats.org/officeDocument/2006/relationships/image" Target="../media/image88.png"/><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image" Target="../media/image95.svg"/><Relationship Id="rId5" Type="http://schemas.openxmlformats.org/officeDocument/2006/relationships/image" Target="../media/image90.svg"/><Relationship Id="rId10" Type="http://schemas.openxmlformats.org/officeDocument/2006/relationships/image" Target="../media/image94.png"/><Relationship Id="rId4" Type="http://schemas.openxmlformats.org/officeDocument/2006/relationships/image" Target="../media/image37.png"/><Relationship Id="rId9" Type="http://schemas.openxmlformats.org/officeDocument/2006/relationships/image" Target="../media/image93.svg"/></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List_of_ISO_3166_country_codes" TargetMode="External"/><Relationship Id="rId2" Type="http://schemas.openxmlformats.org/officeDocument/2006/relationships/image" Target="../media/image96.png"/><Relationship Id="rId1" Type="http://schemas.openxmlformats.org/officeDocument/2006/relationships/slideLayout" Target="../slideLayouts/slideLayout4.xml"/><Relationship Id="rId4" Type="http://schemas.openxmlformats.org/officeDocument/2006/relationships/image" Target="../media/image97.png"/></Relationships>
</file>

<file path=ppt/slides/_rels/slide2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s://ega-archive.org/datasets/EGAD00001000002" TargetMode="External"/><Relationship Id="rId3" Type="http://schemas.openxmlformats.org/officeDocument/2006/relationships/hyperlink" Target="http://bioportal.bioontology.org/" TargetMode="External"/><Relationship Id="rId7" Type="http://schemas.openxmlformats.org/officeDocument/2006/relationships/hyperlink" Target="https://github.com/EBISPOT/DUO/blob/master/MONDO_Overview.md" TargetMode="External"/><Relationship Id="rId2" Type="http://schemas.openxmlformats.org/officeDocument/2006/relationships/hyperlink" Target="https://prsinfo.clinicaltrials.gov/definitions.html" TargetMode="External"/><Relationship Id="rId1" Type="http://schemas.openxmlformats.org/officeDocument/2006/relationships/slideLayout" Target="../slideLayouts/slideLayout4.xml"/><Relationship Id="rId6" Type="http://schemas.openxmlformats.org/officeDocument/2006/relationships/hyperlink" Target="http://bioportal.bioontology.org/ontologies/EFO?p=classes" TargetMode="External"/><Relationship Id="rId5" Type="http://schemas.openxmlformats.org/officeDocument/2006/relationships/hyperlink" Target="https://bioportal.bioontology.org/ontologies/BAO" TargetMode="External"/><Relationship Id="rId4" Type="http://schemas.openxmlformats.org/officeDocument/2006/relationships/hyperlink" Target="https://www.ebi.ac.uk/ols/index" TargetMode="External"/></Relationships>
</file>

<file path=ppt/slides/_rels/slide23.xml.rels><?xml version="1.0" encoding="UTF-8" standalone="yes"?>
<Relationships xmlns="http://schemas.openxmlformats.org/package/2006/relationships"><Relationship Id="rId2" Type="http://schemas.microsoft.com/office/2018/10/relationships/comments" Target="../comments/modernComment_4F7_93E9E88C.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www.ugent.be/intranet/en/research/impact/schol-publishing/policy-ugent.htm" TargetMode="External"/><Relationship Id="rId2" Type="http://schemas.openxmlformats.org/officeDocument/2006/relationships/hyperlink" Target="https://www.ugent.be/intranet/en/research/impact/schol-publishing/resolveuid/69357ba443564506a104eb2c10ea3797"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02.png"/><Relationship Id="rId5" Type="http://schemas.openxmlformats.org/officeDocument/2006/relationships/image" Target="../media/image10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s>
</file>

<file path=ppt/slides/_rels/slide26.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hyperlink" Target="https://www.ugent.be/intranet/en/research/impact/schol-publishing/policy-ugent.htm" TargetMode="External"/><Relationship Id="rId1" Type="http://schemas.openxmlformats.org/officeDocument/2006/relationships/slideLayout" Target="../slideLayouts/slideLayout4.xml"/><Relationship Id="rId4" Type="http://schemas.openxmlformats.org/officeDocument/2006/relationships/image" Target="../media/image108.jpeg"/></Relationships>
</file>

<file path=ppt/slides/_rels/slide27.xml.rels><?xml version="1.0" encoding="UTF-8" standalone="yes"?>
<Relationships xmlns="http://schemas.openxmlformats.org/package/2006/relationships"><Relationship Id="rId3" Type="http://schemas.openxmlformats.org/officeDocument/2006/relationships/hyperlink" Target="https://onderzoektips.ugent.be/en/tips/00002055/" TargetMode="External"/><Relationship Id="rId2" Type="http://schemas.openxmlformats.org/officeDocument/2006/relationships/hyperlink" Target="https://onderzoektips.ugent.be/en/tips/00002054/" TargetMode="External"/><Relationship Id="rId1" Type="http://schemas.openxmlformats.org/officeDocument/2006/relationships/slideLayout" Target="../slideLayouts/slideLayout4.xml"/><Relationship Id="rId6" Type="http://schemas.openxmlformats.org/officeDocument/2006/relationships/image" Target="../media/image108.jpeg"/><Relationship Id="rId5" Type="http://schemas.openxmlformats.org/officeDocument/2006/relationships/image" Target="../media/image107.jpeg"/><Relationship Id="rId4" Type="http://schemas.openxmlformats.org/officeDocument/2006/relationships/hyperlink" Target="https://onderzoektips.ugent.be/en/tips/00001743/&#8203;"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s://onderzoektips.ugent.be/en/tips/00002055/" TargetMode="External"/><Relationship Id="rId2" Type="http://schemas.openxmlformats.org/officeDocument/2006/relationships/hyperlink" Target="https://onderzoektips.ugent.be/en/tips/00002054/" TargetMode="External"/><Relationship Id="rId1" Type="http://schemas.openxmlformats.org/officeDocument/2006/relationships/slideLayout" Target="../slideLayouts/slideLayout4.xml"/><Relationship Id="rId6" Type="http://schemas.openxmlformats.org/officeDocument/2006/relationships/hyperlink" Target="mailto:rdm.support@ugent.be" TargetMode="External"/><Relationship Id="rId5" Type="http://schemas.openxmlformats.org/officeDocument/2006/relationships/image" Target="../media/image111.png"/><Relationship Id="rId4" Type="http://schemas.openxmlformats.org/officeDocument/2006/relationships/hyperlink" Target="https://onderzoektips.ugent.be/en/tips/00001743/&#8203;"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13.svg"/><Relationship Id="rId2" Type="http://schemas.openxmlformats.org/officeDocument/2006/relationships/image" Target="../media/image112.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8" Type="http://schemas.openxmlformats.org/officeDocument/2006/relationships/image" Target="../media/image117.svg"/><Relationship Id="rId13" Type="http://schemas.openxmlformats.org/officeDocument/2006/relationships/image" Target="../media/image122.png"/><Relationship Id="rId3" Type="http://schemas.openxmlformats.org/officeDocument/2006/relationships/hyperlink" Target="https://ugentbe.sharepoint.com/sites/CA2010_OpenScience" TargetMode="External"/><Relationship Id="rId7" Type="http://schemas.openxmlformats.org/officeDocument/2006/relationships/image" Target="../media/image116.png"/><Relationship Id="rId12" Type="http://schemas.openxmlformats.org/officeDocument/2006/relationships/image" Target="../media/image121.svg"/><Relationship Id="rId2" Type="http://schemas.openxmlformats.org/officeDocument/2006/relationships/hyperlink" Target="https://boekentoren.gent/nl/bibliotheek/onderzoeken/open-science" TargetMode="External"/><Relationship Id="rId1" Type="http://schemas.openxmlformats.org/officeDocument/2006/relationships/slideLayout" Target="../slideLayouts/slideLayout12.xml"/><Relationship Id="rId6" Type="http://schemas.openxmlformats.org/officeDocument/2006/relationships/image" Target="../media/image115.svg"/><Relationship Id="rId11" Type="http://schemas.openxmlformats.org/officeDocument/2006/relationships/image" Target="../media/image120.png"/><Relationship Id="rId5" Type="http://schemas.openxmlformats.org/officeDocument/2006/relationships/image" Target="../media/image114.png"/><Relationship Id="rId10" Type="http://schemas.openxmlformats.org/officeDocument/2006/relationships/image" Target="../media/image119.svg"/><Relationship Id="rId4" Type="http://schemas.openxmlformats.org/officeDocument/2006/relationships/hyperlink" Target="https://www.youtube.com/@ugent_OS" TargetMode="External"/><Relationship Id="rId9" Type="http://schemas.openxmlformats.org/officeDocument/2006/relationships/image" Target="../media/image118.png"/><Relationship Id="rId14" Type="http://schemas.openxmlformats.org/officeDocument/2006/relationships/image" Target="../media/image1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7A19F74E-5D1D-731E-BB7F-BB59EB713535}"/>
              </a:ext>
            </a:extLst>
          </p:cNvPr>
          <p:cNvSpPr>
            <a:spLocks noGrp="1"/>
          </p:cNvSpPr>
          <p:nvPr>
            <p:ph type="title"/>
          </p:nvPr>
        </p:nvSpPr>
        <p:spPr/>
        <p:txBody>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r>
              <a:rPr lang="en-US" sz="2550" dirty="0"/>
              <a:t>Documentation and metadata</a:t>
            </a:r>
            <a:endParaRPr lang="en-US" sz="2550" dirty="0">
              <a:cs typeface="Arial"/>
            </a:endParaRPr>
          </a:p>
        </p:txBody>
      </p:sp>
      <p:sp>
        <p:nvSpPr>
          <p:cNvPr id="2" name="Text Placeholder 1">
            <a:extLst>
              <a:ext uri="{FF2B5EF4-FFF2-40B4-BE49-F238E27FC236}">
                <a16:creationId xmlns:a16="http://schemas.microsoft.com/office/drawing/2014/main" id="{CF0E2DCD-593A-6DB6-51EC-C0AA34418F42}"/>
              </a:ext>
            </a:extLst>
          </p:cNvPr>
          <p:cNvSpPr>
            <a:spLocks noGrp="1"/>
          </p:cNvSpPr>
          <p:nvPr>
            <p:ph type="body" sz="quarter" idx="10"/>
          </p:nvPr>
        </p:nvSpPr>
        <p:spPr/>
        <p:txBody>
          <a:bodyPr>
            <a:normAutofit fontScale="85000" lnSpcReduction="10000"/>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endParaRPr lang="en-BE" dirty="0"/>
          </a:p>
        </p:txBody>
      </p:sp>
      <p:sp>
        <p:nvSpPr>
          <p:cNvPr id="4" name="Content Placeholder 3">
            <a:extLst>
              <a:ext uri="{FF2B5EF4-FFF2-40B4-BE49-F238E27FC236}">
                <a16:creationId xmlns:a16="http://schemas.microsoft.com/office/drawing/2014/main" id="{CDECEDD1-324A-8CC4-EEAB-A8BAFC1EAD6D}"/>
              </a:ext>
            </a:extLst>
          </p:cNvPr>
          <p:cNvSpPr>
            <a:spLocks noGrp="1"/>
          </p:cNvSpPr>
          <p:nvPr>
            <p:ph idx="1"/>
          </p:nvPr>
        </p:nvSpPr>
        <p:spPr/>
        <p:txBody>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r>
              <a:rPr lang="en-US" sz="2550" i="1" dirty="0"/>
              <a:t>Laura Standaert, PhD - Data Steward at </a:t>
            </a:r>
            <a:r>
              <a:rPr lang="en-US" sz="2550" i="1" dirty="0" err="1"/>
              <a:t>UGent</a:t>
            </a:r>
            <a:endParaRPr lang="en-US" sz="2550" i="1" dirty="0">
              <a:cs typeface="Arial"/>
            </a:endParaRPr>
          </a:p>
        </p:txBody>
      </p:sp>
    </p:spTree>
    <p:extLst>
      <p:ext uri="{BB962C8B-B14F-4D97-AF65-F5344CB8AC3E}">
        <p14:creationId xmlns:p14="http://schemas.microsoft.com/office/powerpoint/2010/main" val="4193907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BB53F-3D93-589A-6DB8-129AFDB56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3F7B4-A57E-2287-6E04-E2834FD4CA6B}"/>
              </a:ext>
            </a:extLst>
          </p:cNvPr>
          <p:cNvSpPr>
            <a:spLocks noGrp="1"/>
          </p:cNvSpPr>
          <p:nvPr>
            <p:ph type="title"/>
          </p:nvPr>
        </p:nvSpPr>
        <p:spPr/>
        <p:txBody>
          <a:bodyPr/>
          <a:lstStyle/>
          <a:p>
            <a:r>
              <a:rPr lang="en-US">
                <a:latin typeface="UGent Panno Text" panose="02000506040000040003" pitchFamily="2" charset="0"/>
              </a:rPr>
              <a:t>FAIR data principles</a:t>
            </a:r>
          </a:p>
        </p:txBody>
      </p:sp>
      <p:sp>
        <p:nvSpPr>
          <p:cNvPr id="165" name="TextBox 164">
            <a:extLst>
              <a:ext uri="{FF2B5EF4-FFF2-40B4-BE49-F238E27FC236}">
                <a16:creationId xmlns:a16="http://schemas.microsoft.com/office/drawing/2014/main" id="{5783F716-314E-0CD5-3CDB-34E99AFB9A5E}"/>
              </a:ext>
            </a:extLst>
          </p:cNvPr>
          <p:cNvSpPr txBox="1"/>
          <p:nvPr/>
        </p:nvSpPr>
        <p:spPr>
          <a:xfrm>
            <a:off x="2223191" y="1489235"/>
            <a:ext cx="6198924" cy="523220"/>
          </a:xfrm>
          <a:prstGeom prst="rect">
            <a:avLst/>
          </a:prstGeom>
          <a:noFill/>
        </p:spPr>
        <p:txBody>
          <a:bodyPr wrap="square" rtlCol="0">
            <a:spAutoFit/>
          </a:bodyPr>
          <a:lstStyle/>
          <a:p>
            <a:pPr algn="r"/>
            <a:r>
              <a:rPr lang="en-GB" sz="2800">
                <a:latin typeface="UGent Panno Text" panose="02000506040000040003" pitchFamily="2" charset="0"/>
              </a:rPr>
              <a:t>Can people (and machines) easily find my data?</a:t>
            </a:r>
            <a:endParaRPr lang="nl-BE" sz="2800">
              <a:latin typeface="UGent Panno Text" panose="02000506040000040003" pitchFamily="2" charset="0"/>
            </a:endParaRPr>
          </a:p>
        </p:txBody>
      </p:sp>
      <p:sp>
        <p:nvSpPr>
          <p:cNvPr id="166" name="TextBox 165">
            <a:extLst>
              <a:ext uri="{FF2B5EF4-FFF2-40B4-BE49-F238E27FC236}">
                <a16:creationId xmlns:a16="http://schemas.microsoft.com/office/drawing/2014/main" id="{62F71F18-73E8-6F8B-F0A0-70DF17E6492D}"/>
              </a:ext>
            </a:extLst>
          </p:cNvPr>
          <p:cNvSpPr txBox="1"/>
          <p:nvPr/>
        </p:nvSpPr>
        <p:spPr>
          <a:xfrm>
            <a:off x="2223191" y="3294690"/>
            <a:ext cx="6198924" cy="523220"/>
          </a:xfrm>
          <a:prstGeom prst="rect">
            <a:avLst/>
          </a:prstGeom>
          <a:noFill/>
        </p:spPr>
        <p:txBody>
          <a:bodyPr wrap="square" rtlCol="0">
            <a:spAutoFit/>
          </a:bodyPr>
          <a:lstStyle/>
          <a:p>
            <a:pPr algn="r"/>
            <a:r>
              <a:rPr lang="en-US" sz="2800">
                <a:latin typeface="UGent Panno Text" panose="02000506040000040003" pitchFamily="2" charset="0"/>
              </a:rPr>
              <a:t>Once found, is it clear who can access it and how?</a:t>
            </a:r>
          </a:p>
        </p:txBody>
      </p:sp>
      <p:sp>
        <p:nvSpPr>
          <p:cNvPr id="167" name="TextBox 166">
            <a:extLst>
              <a:ext uri="{FF2B5EF4-FFF2-40B4-BE49-F238E27FC236}">
                <a16:creationId xmlns:a16="http://schemas.microsoft.com/office/drawing/2014/main" id="{8E436F19-D873-2930-A4DF-9C43BE564B2B}"/>
              </a:ext>
            </a:extLst>
          </p:cNvPr>
          <p:cNvSpPr txBox="1"/>
          <p:nvPr/>
        </p:nvSpPr>
        <p:spPr>
          <a:xfrm>
            <a:off x="787779" y="4998122"/>
            <a:ext cx="7634336" cy="954107"/>
          </a:xfrm>
          <a:prstGeom prst="rect">
            <a:avLst/>
          </a:prstGeom>
          <a:noFill/>
        </p:spPr>
        <p:txBody>
          <a:bodyPr wrap="square" rtlCol="0">
            <a:spAutoFit/>
          </a:bodyPr>
          <a:lstStyle/>
          <a:p>
            <a:pPr algn="r"/>
            <a:r>
              <a:rPr lang="en-US" sz="2800">
                <a:latin typeface="UGent Panno Text" panose="02000506040000040003" pitchFamily="2" charset="0"/>
              </a:rPr>
              <a:t>Can it be easily integrated with other data? I</a:t>
            </a:r>
            <a:r>
              <a:rPr lang="en-GB" sz="2800">
                <a:latin typeface="UGent Panno Text" panose="02000506040000040003" pitchFamily="2" charset="0"/>
              </a:rPr>
              <a:t>s my data in common formats and uses terms everyone understands?</a:t>
            </a:r>
            <a:endParaRPr lang="nl-BE" sz="2800">
              <a:latin typeface="UGent Panno Text" panose="02000506040000040003" pitchFamily="2" charset="0"/>
            </a:endParaRPr>
          </a:p>
        </p:txBody>
      </p:sp>
      <p:sp>
        <p:nvSpPr>
          <p:cNvPr id="168" name="TextBox 167">
            <a:extLst>
              <a:ext uri="{FF2B5EF4-FFF2-40B4-BE49-F238E27FC236}">
                <a16:creationId xmlns:a16="http://schemas.microsoft.com/office/drawing/2014/main" id="{251DB9D1-60F1-3392-74B4-B87011170AB8}"/>
              </a:ext>
            </a:extLst>
          </p:cNvPr>
          <p:cNvSpPr txBox="1"/>
          <p:nvPr/>
        </p:nvSpPr>
        <p:spPr>
          <a:xfrm>
            <a:off x="787779" y="6874879"/>
            <a:ext cx="7634336" cy="954107"/>
          </a:xfrm>
          <a:prstGeom prst="rect">
            <a:avLst/>
          </a:prstGeom>
          <a:noFill/>
        </p:spPr>
        <p:txBody>
          <a:bodyPr wrap="square" rtlCol="0">
            <a:spAutoFit/>
          </a:bodyPr>
          <a:lstStyle/>
          <a:p>
            <a:pPr algn="r"/>
            <a:r>
              <a:rPr lang="en-GB" sz="2800">
                <a:latin typeface="UGent Panno Text" panose="02000506040000040003" pitchFamily="2" charset="0"/>
              </a:rPr>
              <a:t>Can someone else understand and use my data? Did I provide clear descriptions, instructions, and license for reuse?</a:t>
            </a:r>
            <a:endParaRPr lang="nl-BE" sz="2800">
              <a:latin typeface="UGent Panno Text" panose="02000506040000040003" pitchFamily="2" charset="0"/>
            </a:endParaRPr>
          </a:p>
        </p:txBody>
      </p:sp>
      <p:grpSp>
        <p:nvGrpSpPr>
          <p:cNvPr id="3" name="Group 2">
            <a:extLst>
              <a:ext uri="{FF2B5EF4-FFF2-40B4-BE49-F238E27FC236}">
                <a16:creationId xmlns:a16="http://schemas.microsoft.com/office/drawing/2014/main" id="{11375F74-789F-56AC-1383-0F6A939A39ED}"/>
              </a:ext>
            </a:extLst>
          </p:cNvPr>
          <p:cNvGrpSpPr/>
          <p:nvPr/>
        </p:nvGrpSpPr>
        <p:grpSpPr>
          <a:xfrm>
            <a:off x="12573943" y="2800650"/>
            <a:ext cx="1689497" cy="1689497"/>
            <a:chOff x="4994537" y="2210334"/>
            <a:chExt cx="1188000" cy="1188000"/>
          </a:xfrm>
        </p:grpSpPr>
        <p:sp>
          <p:nvSpPr>
            <p:cNvPr id="81" name="Rectangle: Rounded Corners 80">
              <a:extLst>
                <a:ext uri="{FF2B5EF4-FFF2-40B4-BE49-F238E27FC236}">
                  <a16:creationId xmlns:a16="http://schemas.microsoft.com/office/drawing/2014/main" id="{DA6FBA94-F677-B2D5-9ED5-5543FB2256A6}"/>
                </a:ext>
              </a:extLst>
            </p:cNvPr>
            <p:cNvSpPr/>
            <p:nvPr/>
          </p:nvSpPr>
          <p:spPr>
            <a:xfrm>
              <a:off x="4994537" y="2210334"/>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82" name="TextBox 81">
              <a:extLst>
                <a:ext uri="{FF2B5EF4-FFF2-40B4-BE49-F238E27FC236}">
                  <a16:creationId xmlns:a16="http://schemas.microsoft.com/office/drawing/2014/main" id="{D88A1A9E-6F65-3DA5-0869-96B243757E9F}"/>
                </a:ext>
              </a:extLst>
            </p:cNvPr>
            <p:cNvSpPr txBox="1"/>
            <p:nvPr/>
          </p:nvSpPr>
          <p:spPr>
            <a:xfrm>
              <a:off x="5060670" y="2248975"/>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Data access via PID &amp; standard comm. protocol</a:t>
              </a:r>
            </a:p>
          </p:txBody>
        </p:sp>
        <p:pic>
          <p:nvPicPr>
            <p:cNvPr id="83" name="Picture 82">
              <a:extLst>
                <a:ext uri="{FF2B5EF4-FFF2-40B4-BE49-F238E27FC236}">
                  <a16:creationId xmlns:a16="http://schemas.microsoft.com/office/drawing/2014/main" id="{F26E0017-295B-EFA1-9794-8C4F7656E0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8366" y="2808377"/>
              <a:ext cx="468000" cy="468000"/>
            </a:xfrm>
            <a:prstGeom prst="rect">
              <a:avLst/>
            </a:prstGeom>
          </p:spPr>
        </p:pic>
      </p:grpSp>
      <p:grpSp>
        <p:nvGrpSpPr>
          <p:cNvPr id="84" name="Group 83">
            <a:extLst>
              <a:ext uri="{FF2B5EF4-FFF2-40B4-BE49-F238E27FC236}">
                <a16:creationId xmlns:a16="http://schemas.microsoft.com/office/drawing/2014/main" id="{73DF608A-5A95-6743-7081-17734B720A49}"/>
              </a:ext>
            </a:extLst>
          </p:cNvPr>
          <p:cNvGrpSpPr/>
          <p:nvPr/>
        </p:nvGrpSpPr>
        <p:grpSpPr>
          <a:xfrm>
            <a:off x="14395513" y="2800650"/>
            <a:ext cx="1689497" cy="1689497"/>
            <a:chOff x="6283729" y="2211094"/>
            <a:chExt cx="1188000" cy="1188000"/>
          </a:xfrm>
        </p:grpSpPr>
        <p:sp>
          <p:nvSpPr>
            <p:cNvPr id="85" name="Rectangle: Rounded Corners 84">
              <a:extLst>
                <a:ext uri="{FF2B5EF4-FFF2-40B4-BE49-F238E27FC236}">
                  <a16:creationId xmlns:a16="http://schemas.microsoft.com/office/drawing/2014/main" id="{4B018FE2-2FA2-9CC6-2F22-616C29BFBC90}"/>
                </a:ext>
              </a:extLst>
            </p:cNvPr>
            <p:cNvSpPr/>
            <p:nvPr/>
          </p:nvSpPr>
          <p:spPr>
            <a:xfrm>
              <a:off x="6283729" y="2211094"/>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86" name="TextBox 85">
              <a:extLst>
                <a:ext uri="{FF2B5EF4-FFF2-40B4-BE49-F238E27FC236}">
                  <a16:creationId xmlns:a16="http://schemas.microsoft.com/office/drawing/2014/main" id="{FDC60D97-ADDD-9CA3-2242-4F4E2FC5FE85}"/>
                </a:ext>
              </a:extLst>
            </p:cNvPr>
            <p:cNvSpPr txBox="1"/>
            <p:nvPr/>
          </p:nvSpPr>
          <p:spPr>
            <a:xfrm>
              <a:off x="6342574" y="2248975"/>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is always available</a:t>
              </a:r>
            </a:p>
          </p:txBody>
        </p:sp>
        <p:pic>
          <p:nvPicPr>
            <p:cNvPr id="87" name="Picture 86">
              <a:extLst>
                <a:ext uri="{FF2B5EF4-FFF2-40B4-BE49-F238E27FC236}">
                  <a16:creationId xmlns:a16="http://schemas.microsoft.com/office/drawing/2014/main" id="{6C264D8A-681D-DB68-4848-6B324A4360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6303" y="2742443"/>
              <a:ext cx="435935" cy="435935"/>
            </a:xfrm>
            <a:prstGeom prst="rect">
              <a:avLst/>
            </a:prstGeom>
          </p:spPr>
        </p:pic>
      </p:grpSp>
      <p:grpSp>
        <p:nvGrpSpPr>
          <p:cNvPr id="88" name="Group 87">
            <a:extLst>
              <a:ext uri="{FF2B5EF4-FFF2-40B4-BE49-F238E27FC236}">
                <a16:creationId xmlns:a16="http://schemas.microsoft.com/office/drawing/2014/main" id="{DF68A95A-407E-ED39-A5BA-F8D2A606E126}"/>
              </a:ext>
            </a:extLst>
          </p:cNvPr>
          <p:cNvGrpSpPr/>
          <p:nvPr/>
        </p:nvGrpSpPr>
        <p:grpSpPr>
          <a:xfrm>
            <a:off x="10741480" y="2800650"/>
            <a:ext cx="1689497" cy="1689497"/>
            <a:chOff x="3689818" y="2206869"/>
            <a:chExt cx="1188000" cy="1188000"/>
          </a:xfrm>
        </p:grpSpPr>
        <p:sp>
          <p:nvSpPr>
            <p:cNvPr id="89" name="Rectangle: Rounded Corners 88">
              <a:extLst>
                <a:ext uri="{FF2B5EF4-FFF2-40B4-BE49-F238E27FC236}">
                  <a16:creationId xmlns:a16="http://schemas.microsoft.com/office/drawing/2014/main" id="{961991F0-F728-D8F3-EFF7-B9A198320219}"/>
                </a:ext>
              </a:extLst>
            </p:cNvPr>
            <p:cNvSpPr/>
            <p:nvPr/>
          </p:nvSpPr>
          <p:spPr>
            <a:xfrm>
              <a:off x="3689818" y="2206869"/>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90" name="TextBox 89">
              <a:extLst>
                <a:ext uri="{FF2B5EF4-FFF2-40B4-BE49-F238E27FC236}">
                  <a16:creationId xmlns:a16="http://schemas.microsoft.com/office/drawing/2014/main" id="{7A537450-8D32-EAF0-21B9-A2CF0FDA232C}"/>
                </a:ext>
              </a:extLst>
            </p:cNvPr>
            <p:cNvSpPr txBox="1"/>
            <p:nvPr/>
          </p:nvSpPr>
          <p:spPr>
            <a:xfrm>
              <a:off x="3743600" y="2248975"/>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Authentication &amp; authorization procedures</a:t>
              </a:r>
            </a:p>
          </p:txBody>
        </p:sp>
        <p:pic>
          <p:nvPicPr>
            <p:cNvPr id="91" name="Picture 90">
              <a:extLst>
                <a:ext uri="{FF2B5EF4-FFF2-40B4-BE49-F238E27FC236}">
                  <a16:creationId xmlns:a16="http://schemas.microsoft.com/office/drawing/2014/main" id="{F306582C-CB19-A859-7313-0BCC586CFD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53157" y="2793347"/>
              <a:ext cx="464278" cy="464278"/>
            </a:xfrm>
            <a:prstGeom prst="rect">
              <a:avLst/>
            </a:prstGeom>
          </p:spPr>
        </p:pic>
      </p:grpSp>
      <p:grpSp>
        <p:nvGrpSpPr>
          <p:cNvPr id="92" name="Group 91">
            <a:extLst>
              <a:ext uri="{FF2B5EF4-FFF2-40B4-BE49-F238E27FC236}">
                <a16:creationId xmlns:a16="http://schemas.microsoft.com/office/drawing/2014/main" id="{2CA7B275-AC4E-5F5F-B3FB-A1C77B5B4CA2}"/>
              </a:ext>
            </a:extLst>
          </p:cNvPr>
          <p:cNvGrpSpPr/>
          <p:nvPr/>
        </p:nvGrpSpPr>
        <p:grpSpPr>
          <a:xfrm>
            <a:off x="10741817" y="6515630"/>
            <a:ext cx="1689497" cy="1689497"/>
            <a:chOff x="5026198" y="4882271"/>
            <a:chExt cx="1188000" cy="1188000"/>
          </a:xfrm>
        </p:grpSpPr>
        <p:sp>
          <p:nvSpPr>
            <p:cNvPr id="93" name="Rectangle: Rounded Corners 92">
              <a:extLst>
                <a:ext uri="{FF2B5EF4-FFF2-40B4-BE49-F238E27FC236}">
                  <a16:creationId xmlns:a16="http://schemas.microsoft.com/office/drawing/2014/main" id="{908844A1-FB13-A015-2C8A-7BC504D7B40C}"/>
                </a:ext>
              </a:extLst>
            </p:cNvPr>
            <p:cNvSpPr/>
            <p:nvPr/>
          </p:nvSpPr>
          <p:spPr>
            <a:xfrm>
              <a:off x="5026198" y="4882271"/>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94" name="TextBox 93">
              <a:extLst>
                <a:ext uri="{FF2B5EF4-FFF2-40B4-BE49-F238E27FC236}">
                  <a16:creationId xmlns:a16="http://schemas.microsoft.com/office/drawing/2014/main" id="{A41365FA-4B48-38EC-E678-155188828A7D}"/>
                </a:ext>
              </a:extLst>
            </p:cNvPr>
            <p:cNvSpPr txBox="1"/>
            <p:nvPr/>
          </p:nvSpPr>
          <p:spPr>
            <a:xfrm>
              <a:off x="5074750" y="4914313"/>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includes license</a:t>
              </a:r>
            </a:p>
          </p:txBody>
        </p:sp>
        <p:pic>
          <p:nvPicPr>
            <p:cNvPr id="95" name="Picture 94">
              <a:extLst>
                <a:ext uri="{FF2B5EF4-FFF2-40B4-BE49-F238E27FC236}">
                  <a16:creationId xmlns:a16="http://schemas.microsoft.com/office/drawing/2014/main" id="{51C860D1-5022-2273-C02F-52A0C5AB3E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81125" y="5406245"/>
              <a:ext cx="470643" cy="470643"/>
            </a:xfrm>
            <a:prstGeom prst="rect">
              <a:avLst/>
            </a:prstGeom>
          </p:spPr>
        </p:pic>
      </p:grpSp>
      <p:grpSp>
        <p:nvGrpSpPr>
          <p:cNvPr id="96" name="Group 95">
            <a:extLst>
              <a:ext uri="{FF2B5EF4-FFF2-40B4-BE49-F238E27FC236}">
                <a16:creationId xmlns:a16="http://schemas.microsoft.com/office/drawing/2014/main" id="{04D9F36D-F6DA-B599-75C2-61B0DABFBC6B}"/>
              </a:ext>
            </a:extLst>
          </p:cNvPr>
          <p:cNvGrpSpPr/>
          <p:nvPr/>
        </p:nvGrpSpPr>
        <p:grpSpPr>
          <a:xfrm>
            <a:off x="12570475" y="6515630"/>
            <a:ext cx="1689497" cy="1689497"/>
            <a:chOff x="6344346" y="4880736"/>
            <a:chExt cx="1188000" cy="1188000"/>
          </a:xfrm>
        </p:grpSpPr>
        <p:sp>
          <p:nvSpPr>
            <p:cNvPr id="97" name="Rectangle: Rounded Corners 96">
              <a:extLst>
                <a:ext uri="{FF2B5EF4-FFF2-40B4-BE49-F238E27FC236}">
                  <a16:creationId xmlns:a16="http://schemas.microsoft.com/office/drawing/2014/main" id="{B2D448EB-4351-9B64-67D8-DB3358787DBD}"/>
                </a:ext>
              </a:extLst>
            </p:cNvPr>
            <p:cNvSpPr/>
            <p:nvPr/>
          </p:nvSpPr>
          <p:spPr>
            <a:xfrm>
              <a:off x="6344346" y="4880736"/>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98" name="TextBox 97">
              <a:extLst>
                <a:ext uri="{FF2B5EF4-FFF2-40B4-BE49-F238E27FC236}">
                  <a16:creationId xmlns:a16="http://schemas.microsoft.com/office/drawing/2014/main" id="{B4E3A0BE-344B-F060-DC3F-13DA15852B53}"/>
                </a:ext>
              </a:extLst>
            </p:cNvPr>
            <p:cNvSpPr txBox="1"/>
            <p:nvPr/>
          </p:nvSpPr>
          <p:spPr>
            <a:xfrm>
              <a:off x="6375986" y="4914313"/>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includes provenance</a:t>
              </a:r>
            </a:p>
          </p:txBody>
        </p:sp>
        <p:pic>
          <p:nvPicPr>
            <p:cNvPr id="99" name="Picture 98">
              <a:extLst>
                <a:ext uri="{FF2B5EF4-FFF2-40B4-BE49-F238E27FC236}">
                  <a16:creationId xmlns:a16="http://schemas.microsoft.com/office/drawing/2014/main" id="{F1542155-2E6E-8E99-40E3-0D9A640D9BB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5682" y="5437609"/>
              <a:ext cx="504000" cy="504000"/>
            </a:xfrm>
            <a:prstGeom prst="rect">
              <a:avLst/>
            </a:prstGeom>
          </p:spPr>
        </p:pic>
      </p:grpSp>
      <p:grpSp>
        <p:nvGrpSpPr>
          <p:cNvPr id="100" name="Group 99">
            <a:extLst>
              <a:ext uri="{FF2B5EF4-FFF2-40B4-BE49-F238E27FC236}">
                <a16:creationId xmlns:a16="http://schemas.microsoft.com/office/drawing/2014/main" id="{21221972-F507-F3CF-C36C-CB25076A4BC7}"/>
              </a:ext>
            </a:extLst>
          </p:cNvPr>
          <p:cNvGrpSpPr/>
          <p:nvPr/>
        </p:nvGrpSpPr>
        <p:grpSpPr>
          <a:xfrm>
            <a:off x="14398070" y="6515630"/>
            <a:ext cx="1689497" cy="1689497"/>
            <a:chOff x="7624917" y="4886118"/>
            <a:chExt cx="1188000" cy="1188000"/>
          </a:xfrm>
        </p:grpSpPr>
        <p:sp>
          <p:nvSpPr>
            <p:cNvPr id="101" name="Rectangle: Rounded Corners 100">
              <a:extLst>
                <a:ext uri="{FF2B5EF4-FFF2-40B4-BE49-F238E27FC236}">
                  <a16:creationId xmlns:a16="http://schemas.microsoft.com/office/drawing/2014/main" id="{B1B09D05-AE2D-7669-2015-1EC2B51C1928}"/>
                </a:ext>
              </a:extLst>
            </p:cNvPr>
            <p:cNvSpPr/>
            <p:nvPr/>
          </p:nvSpPr>
          <p:spPr>
            <a:xfrm>
              <a:off x="7624917" y="4886118"/>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02" name="TextBox 101">
              <a:extLst>
                <a:ext uri="{FF2B5EF4-FFF2-40B4-BE49-F238E27FC236}">
                  <a16:creationId xmlns:a16="http://schemas.microsoft.com/office/drawing/2014/main" id="{B82AB3EB-5A38-A80D-93E7-17BEDBBE46E8}"/>
                </a:ext>
              </a:extLst>
            </p:cNvPr>
            <p:cNvSpPr txBox="1"/>
            <p:nvPr/>
          </p:nvSpPr>
          <p:spPr>
            <a:xfrm>
              <a:off x="7677221" y="4914313"/>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community standards</a:t>
              </a:r>
            </a:p>
          </p:txBody>
        </p:sp>
        <p:pic>
          <p:nvPicPr>
            <p:cNvPr id="103" name="Picture 102">
              <a:extLst>
                <a:ext uri="{FF2B5EF4-FFF2-40B4-BE49-F238E27FC236}">
                  <a16:creationId xmlns:a16="http://schemas.microsoft.com/office/drawing/2014/main" id="{7623C831-8DB1-55A5-A75F-9CA231E3DD0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83596" y="5460929"/>
              <a:ext cx="470643" cy="470643"/>
            </a:xfrm>
            <a:prstGeom prst="rect">
              <a:avLst/>
            </a:prstGeom>
          </p:spPr>
        </p:pic>
      </p:grpSp>
      <p:grpSp>
        <p:nvGrpSpPr>
          <p:cNvPr id="104" name="Group 103">
            <a:extLst>
              <a:ext uri="{FF2B5EF4-FFF2-40B4-BE49-F238E27FC236}">
                <a16:creationId xmlns:a16="http://schemas.microsoft.com/office/drawing/2014/main" id="{5C2B872F-5638-239F-98AD-A773091D7531}"/>
              </a:ext>
            </a:extLst>
          </p:cNvPr>
          <p:cNvGrpSpPr/>
          <p:nvPr/>
        </p:nvGrpSpPr>
        <p:grpSpPr>
          <a:xfrm>
            <a:off x="10736678" y="936364"/>
            <a:ext cx="1689497" cy="1689497"/>
            <a:chOff x="5092402" y="688801"/>
            <a:chExt cx="1188000" cy="1188000"/>
          </a:xfrm>
        </p:grpSpPr>
        <p:sp>
          <p:nvSpPr>
            <p:cNvPr id="105" name="Rectangle: Rounded Corners 104">
              <a:extLst>
                <a:ext uri="{FF2B5EF4-FFF2-40B4-BE49-F238E27FC236}">
                  <a16:creationId xmlns:a16="http://schemas.microsoft.com/office/drawing/2014/main" id="{D5FE39FD-84A7-B633-2124-C7EE1173126C}"/>
                </a:ext>
              </a:extLst>
            </p:cNvPr>
            <p:cNvSpPr/>
            <p:nvPr/>
          </p:nvSpPr>
          <p:spPr>
            <a:xfrm>
              <a:off x="5092402" y="688801"/>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106" name="Picture 105">
              <a:extLst>
                <a:ext uri="{FF2B5EF4-FFF2-40B4-BE49-F238E27FC236}">
                  <a16:creationId xmlns:a16="http://schemas.microsoft.com/office/drawing/2014/main" id="{92E0A97B-F394-955F-9AB8-ABCBE6D5A60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12635" y="1182636"/>
              <a:ext cx="547534" cy="547534"/>
            </a:xfrm>
            <a:prstGeom prst="rect">
              <a:avLst/>
            </a:prstGeom>
          </p:spPr>
        </p:pic>
        <p:sp>
          <p:nvSpPr>
            <p:cNvPr id="107" name="TextBox 106">
              <a:extLst>
                <a:ext uri="{FF2B5EF4-FFF2-40B4-BE49-F238E27FC236}">
                  <a16:creationId xmlns:a16="http://schemas.microsoft.com/office/drawing/2014/main" id="{C1B90C43-CCB1-0D37-8928-53406182AC9A}"/>
                </a:ext>
              </a:extLst>
            </p:cNvPr>
            <p:cNvSpPr txBox="1"/>
            <p:nvPr/>
          </p:nvSpPr>
          <p:spPr>
            <a:xfrm>
              <a:off x="5144706" y="724207"/>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Persistent identifiers (PIDs)</a:t>
              </a:r>
            </a:p>
          </p:txBody>
        </p:sp>
      </p:grpSp>
      <p:grpSp>
        <p:nvGrpSpPr>
          <p:cNvPr id="108" name="Group 107">
            <a:extLst>
              <a:ext uri="{FF2B5EF4-FFF2-40B4-BE49-F238E27FC236}">
                <a16:creationId xmlns:a16="http://schemas.microsoft.com/office/drawing/2014/main" id="{4A515DC6-545A-0565-8F93-C8056EF5AE85}"/>
              </a:ext>
            </a:extLst>
          </p:cNvPr>
          <p:cNvGrpSpPr/>
          <p:nvPr/>
        </p:nvGrpSpPr>
        <p:grpSpPr>
          <a:xfrm>
            <a:off x="14398070" y="936364"/>
            <a:ext cx="1689497" cy="1689497"/>
            <a:chOff x="8954855" y="677207"/>
            <a:chExt cx="1188000" cy="1188000"/>
          </a:xfrm>
        </p:grpSpPr>
        <p:sp>
          <p:nvSpPr>
            <p:cNvPr id="109" name="Rectangle: Rounded Corners 108">
              <a:extLst>
                <a:ext uri="{FF2B5EF4-FFF2-40B4-BE49-F238E27FC236}">
                  <a16:creationId xmlns:a16="http://schemas.microsoft.com/office/drawing/2014/main" id="{F0DC1AA6-4F77-A619-9B4C-2F9691C1C7C6}"/>
                </a:ext>
              </a:extLst>
            </p:cNvPr>
            <p:cNvSpPr/>
            <p:nvPr/>
          </p:nvSpPr>
          <p:spPr>
            <a:xfrm>
              <a:off x="8954855" y="677207"/>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10" name="TextBox 109">
              <a:extLst>
                <a:ext uri="{FF2B5EF4-FFF2-40B4-BE49-F238E27FC236}">
                  <a16:creationId xmlns:a16="http://schemas.microsoft.com/office/drawing/2014/main" id="{6F675673-3B77-8884-B488-40DAAAA33981}"/>
                </a:ext>
              </a:extLst>
            </p:cNvPr>
            <p:cNvSpPr txBox="1"/>
            <p:nvPr/>
          </p:nvSpPr>
          <p:spPr>
            <a:xfrm>
              <a:off x="9007159" y="724207"/>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Machine readable metadata</a:t>
              </a:r>
            </a:p>
          </p:txBody>
        </p:sp>
        <p:pic>
          <p:nvPicPr>
            <p:cNvPr id="111" name="Picture 110">
              <a:extLst>
                <a:ext uri="{FF2B5EF4-FFF2-40B4-BE49-F238E27FC236}">
                  <a16:creationId xmlns:a16="http://schemas.microsoft.com/office/drawing/2014/main" id="{51FE5AF9-6480-CF9C-170C-B58184F1F9E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278855" y="1225404"/>
              <a:ext cx="540000" cy="540000"/>
            </a:xfrm>
            <a:prstGeom prst="rect">
              <a:avLst/>
            </a:prstGeom>
          </p:spPr>
        </p:pic>
      </p:grpSp>
      <p:grpSp>
        <p:nvGrpSpPr>
          <p:cNvPr id="112" name="Group 111">
            <a:extLst>
              <a:ext uri="{FF2B5EF4-FFF2-40B4-BE49-F238E27FC236}">
                <a16:creationId xmlns:a16="http://schemas.microsoft.com/office/drawing/2014/main" id="{3E6E1D58-4A78-394B-EAAB-5D74197C3DA5}"/>
              </a:ext>
            </a:extLst>
          </p:cNvPr>
          <p:cNvGrpSpPr/>
          <p:nvPr/>
        </p:nvGrpSpPr>
        <p:grpSpPr>
          <a:xfrm>
            <a:off x="12570475" y="936364"/>
            <a:ext cx="1689497" cy="1689497"/>
            <a:chOff x="7679042" y="677207"/>
            <a:chExt cx="1188000" cy="1188000"/>
          </a:xfrm>
        </p:grpSpPr>
        <p:sp>
          <p:nvSpPr>
            <p:cNvPr id="113" name="Rectangle: Rounded Corners 112">
              <a:extLst>
                <a:ext uri="{FF2B5EF4-FFF2-40B4-BE49-F238E27FC236}">
                  <a16:creationId xmlns:a16="http://schemas.microsoft.com/office/drawing/2014/main" id="{2241CBCD-A740-DE54-9093-3287D397A01C}"/>
                </a:ext>
              </a:extLst>
            </p:cNvPr>
            <p:cNvSpPr/>
            <p:nvPr/>
          </p:nvSpPr>
          <p:spPr>
            <a:xfrm>
              <a:off x="7679042" y="677207"/>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14" name="TextBox 113">
              <a:extLst>
                <a:ext uri="{FF2B5EF4-FFF2-40B4-BE49-F238E27FC236}">
                  <a16:creationId xmlns:a16="http://schemas.microsoft.com/office/drawing/2014/main" id="{72983170-7F06-B790-362B-16EED094D88C}"/>
                </a:ext>
              </a:extLst>
            </p:cNvPr>
            <p:cNvSpPr txBox="1"/>
            <p:nvPr/>
          </p:nvSpPr>
          <p:spPr>
            <a:xfrm>
              <a:off x="7731346" y="733732"/>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Rich metadata, includes PID</a:t>
              </a:r>
            </a:p>
          </p:txBody>
        </p:sp>
        <p:grpSp>
          <p:nvGrpSpPr>
            <p:cNvPr id="115" name="Group 114">
              <a:extLst>
                <a:ext uri="{FF2B5EF4-FFF2-40B4-BE49-F238E27FC236}">
                  <a16:creationId xmlns:a16="http://schemas.microsoft.com/office/drawing/2014/main" id="{60C2A36F-F68F-059A-942D-472C209B9FDF}"/>
                </a:ext>
              </a:extLst>
            </p:cNvPr>
            <p:cNvGrpSpPr/>
            <p:nvPr/>
          </p:nvGrpSpPr>
          <p:grpSpPr>
            <a:xfrm>
              <a:off x="7880695" y="1125024"/>
              <a:ext cx="784694" cy="625887"/>
              <a:chOff x="4290440" y="999663"/>
              <a:chExt cx="784694" cy="625887"/>
            </a:xfrm>
          </p:grpSpPr>
          <p:pic>
            <p:nvPicPr>
              <p:cNvPr id="116" name="Picture 115">
                <a:extLst>
                  <a:ext uri="{FF2B5EF4-FFF2-40B4-BE49-F238E27FC236}">
                    <a16:creationId xmlns:a16="http://schemas.microsoft.com/office/drawing/2014/main" id="{A91CA516-5B09-62B4-CE46-712AD296254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90440" y="999663"/>
                <a:ext cx="249801" cy="249801"/>
              </a:xfrm>
              <a:prstGeom prst="rect">
                <a:avLst/>
              </a:prstGeom>
            </p:spPr>
          </p:pic>
          <p:cxnSp>
            <p:nvCxnSpPr>
              <p:cNvPr id="117" name="Connector: Elbow 116">
                <a:extLst>
                  <a:ext uri="{FF2B5EF4-FFF2-40B4-BE49-F238E27FC236}">
                    <a16:creationId xmlns:a16="http://schemas.microsoft.com/office/drawing/2014/main" id="{8D6C1D53-6EF4-FB17-0B9F-C218078346AD}"/>
                  </a:ext>
                </a:extLst>
              </p:cNvPr>
              <p:cNvCxnSpPr>
                <a:cxnSpLocks/>
              </p:cNvCxnSpPr>
              <p:nvPr/>
            </p:nvCxnSpPr>
            <p:spPr>
              <a:xfrm>
                <a:off x="4540241" y="1096295"/>
                <a:ext cx="320916" cy="153170"/>
              </a:xfrm>
              <a:prstGeom prst="bentConnector2">
                <a:avLst/>
              </a:prstGeom>
              <a:ln cap="rnd">
                <a:solidFill>
                  <a:schemeClr val="tx1"/>
                </a:solidFill>
                <a:bevel/>
                <a:tailEnd type="triangle"/>
              </a:ln>
            </p:spPr>
            <p:style>
              <a:lnRef idx="1">
                <a:schemeClr val="accent1"/>
              </a:lnRef>
              <a:fillRef idx="0">
                <a:schemeClr val="accent1"/>
              </a:fillRef>
              <a:effectRef idx="0">
                <a:schemeClr val="accent1"/>
              </a:effectRef>
              <a:fontRef idx="minor">
                <a:schemeClr val="tx1"/>
              </a:fontRef>
            </p:style>
          </p:cxnSp>
          <p:pic>
            <p:nvPicPr>
              <p:cNvPr id="118" name="Picture 117">
                <a:extLst>
                  <a:ext uri="{FF2B5EF4-FFF2-40B4-BE49-F238E27FC236}">
                    <a16:creationId xmlns:a16="http://schemas.microsoft.com/office/drawing/2014/main" id="{352F88E5-1525-934D-462A-60D06D9322A9}"/>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56623" t="34688" r="4196" b="24385"/>
              <a:stretch/>
            </p:blipFill>
            <p:spPr>
              <a:xfrm>
                <a:off x="4742998" y="1278602"/>
                <a:ext cx="332136" cy="346948"/>
              </a:xfrm>
              <a:prstGeom prst="rect">
                <a:avLst/>
              </a:prstGeom>
            </p:spPr>
          </p:pic>
        </p:grpSp>
      </p:grpSp>
      <p:grpSp>
        <p:nvGrpSpPr>
          <p:cNvPr id="119" name="Group 118">
            <a:extLst>
              <a:ext uri="{FF2B5EF4-FFF2-40B4-BE49-F238E27FC236}">
                <a16:creationId xmlns:a16="http://schemas.microsoft.com/office/drawing/2014/main" id="{46AA82E4-CFE8-A81E-8029-C77F71A480F3}"/>
              </a:ext>
            </a:extLst>
          </p:cNvPr>
          <p:cNvGrpSpPr/>
          <p:nvPr/>
        </p:nvGrpSpPr>
        <p:grpSpPr>
          <a:xfrm>
            <a:off x="10738154" y="4656841"/>
            <a:ext cx="1689497" cy="1689497"/>
            <a:chOff x="3677863" y="3543662"/>
            <a:chExt cx="1188000" cy="1188000"/>
          </a:xfrm>
        </p:grpSpPr>
        <p:sp>
          <p:nvSpPr>
            <p:cNvPr id="120" name="Rectangle: Rounded Corners 119">
              <a:extLst>
                <a:ext uri="{FF2B5EF4-FFF2-40B4-BE49-F238E27FC236}">
                  <a16:creationId xmlns:a16="http://schemas.microsoft.com/office/drawing/2014/main" id="{30E7F2CF-8A30-B2FF-57D9-0DD821979F31}"/>
                </a:ext>
              </a:extLst>
            </p:cNvPr>
            <p:cNvSpPr/>
            <p:nvPr/>
          </p:nvSpPr>
          <p:spPr>
            <a:xfrm>
              <a:off x="3677863" y="3543662"/>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21" name="TextBox 120">
              <a:extLst>
                <a:ext uri="{FF2B5EF4-FFF2-40B4-BE49-F238E27FC236}">
                  <a16:creationId xmlns:a16="http://schemas.microsoft.com/office/drawing/2014/main" id="{D7F33B9C-3FAE-A956-98A4-84F049AC595A}"/>
                </a:ext>
              </a:extLst>
            </p:cNvPr>
            <p:cNvSpPr txBox="1"/>
            <p:nvPr/>
          </p:nvSpPr>
          <p:spPr>
            <a:xfrm>
              <a:off x="3744288" y="3585678"/>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standards</a:t>
              </a:r>
            </a:p>
          </p:txBody>
        </p:sp>
        <p:pic>
          <p:nvPicPr>
            <p:cNvPr id="122" name="Picture 121">
              <a:extLst>
                <a:ext uri="{FF2B5EF4-FFF2-40B4-BE49-F238E27FC236}">
                  <a16:creationId xmlns:a16="http://schemas.microsoft.com/office/drawing/2014/main" id="{BCADB40D-FD30-2713-55A0-794A9024077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081414" y="4179403"/>
              <a:ext cx="409140" cy="409140"/>
            </a:xfrm>
            <a:prstGeom prst="rect">
              <a:avLst/>
            </a:prstGeom>
          </p:spPr>
        </p:pic>
      </p:grpSp>
      <p:grpSp>
        <p:nvGrpSpPr>
          <p:cNvPr id="123" name="Group 122">
            <a:extLst>
              <a:ext uri="{FF2B5EF4-FFF2-40B4-BE49-F238E27FC236}">
                <a16:creationId xmlns:a16="http://schemas.microsoft.com/office/drawing/2014/main" id="{4D534533-2182-4DBC-51AC-019B0AB41C46}"/>
              </a:ext>
            </a:extLst>
          </p:cNvPr>
          <p:cNvGrpSpPr/>
          <p:nvPr/>
        </p:nvGrpSpPr>
        <p:grpSpPr>
          <a:xfrm>
            <a:off x="12570617" y="4656841"/>
            <a:ext cx="1689497" cy="1689497"/>
            <a:chOff x="5005972" y="3536727"/>
            <a:chExt cx="1188000" cy="1188000"/>
          </a:xfrm>
        </p:grpSpPr>
        <p:sp>
          <p:nvSpPr>
            <p:cNvPr id="124" name="Rectangle: Rounded Corners 123">
              <a:extLst>
                <a:ext uri="{FF2B5EF4-FFF2-40B4-BE49-F238E27FC236}">
                  <a16:creationId xmlns:a16="http://schemas.microsoft.com/office/drawing/2014/main" id="{FFDDB03C-B605-8A30-CAEE-5264D5E3F8CF}"/>
                </a:ext>
              </a:extLst>
            </p:cNvPr>
            <p:cNvSpPr/>
            <p:nvPr/>
          </p:nvSpPr>
          <p:spPr>
            <a:xfrm>
              <a:off x="5005972" y="3536727"/>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25" name="TextBox 124">
              <a:extLst>
                <a:ext uri="{FF2B5EF4-FFF2-40B4-BE49-F238E27FC236}">
                  <a16:creationId xmlns:a16="http://schemas.microsoft.com/office/drawing/2014/main" id="{BE9D18F6-2577-2B27-C83F-513DC413CEF8}"/>
                </a:ext>
              </a:extLst>
            </p:cNvPr>
            <p:cNvSpPr txBox="1"/>
            <p:nvPr/>
          </p:nvSpPr>
          <p:spPr>
            <a:xfrm>
              <a:off x="5054524" y="3585678"/>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Vocabularies &amp; ontologies</a:t>
              </a:r>
            </a:p>
          </p:txBody>
        </p:sp>
        <p:pic>
          <p:nvPicPr>
            <p:cNvPr id="126" name="Picture 125">
              <a:extLst>
                <a:ext uri="{FF2B5EF4-FFF2-40B4-BE49-F238E27FC236}">
                  <a16:creationId xmlns:a16="http://schemas.microsoft.com/office/drawing/2014/main" id="{D4B98933-7773-96EC-1648-B962A06DB27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326220" y="4036199"/>
              <a:ext cx="540000" cy="540000"/>
            </a:xfrm>
            <a:prstGeom prst="rect">
              <a:avLst/>
            </a:prstGeom>
          </p:spPr>
        </p:pic>
      </p:grpSp>
      <p:grpSp>
        <p:nvGrpSpPr>
          <p:cNvPr id="127" name="Group 126">
            <a:extLst>
              <a:ext uri="{FF2B5EF4-FFF2-40B4-BE49-F238E27FC236}">
                <a16:creationId xmlns:a16="http://schemas.microsoft.com/office/drawing/2014/main" id="{314B4F6D-C67A-0788-232F-E606C2A4BB52}"/>
              </a:ext>
            </a:extLst>
          </p:cNvPr>
          <p:cNvGrpSpPr/>
          <p:nvPr/>
        </p:nvGrpSpPr>
        <p:grpSpPr>
          <a:xfrm>
            <a:off x="14399275" y="4656841"/>
            <a:ext cx="1689497" cy="1689497"/>
            <a:chOff x="6318300" y="3542868"/>
            <a:chExt cx="1188000" cy="1188000"/>
          </a:xfrm>
        </p:grpSpPr>
        <p:sp>
          <p:nvSpPr>
            <p:cNvPr id="128" name="Rectangle: Rounded Corners 127">
              <a:extLst>
                <a:ext uri="{FF2B5EF4-FFF2-40B4-BE49-F238E27FC236}">
                  <a16:creationId xmlns:a16="http://schemas.microsoft.com/office/drawing/2014/main" id="{5B548B41-217E-44EF-BDBE-389ABB3F11ED}"/>
                </a:ext>
              </a:extLst>
            </p:cNvPr>
            <p:cNvSpPr/>
            <p:nvPr/>
          </p:nvSpPr>
          <p:spPr>
            <a:xfrm>
              <a:off x="6318300" y="3542868"/>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29" name="TextBox 128">
              <a:extLst>
                <a:ext uri="{FF2B5EF4-FFF2-40B4-BE49-F238E27FC236}">
                  <a16:creationId xmlns:a16="http://schemas.microsoft.com/office/drawing/2014/main" id="{32415A99-3972-E1ED-A23F-A193DA3C1BE2}"/>
                </a:ext>
              </a:extLst>
            </p:cNvPr>
            <p:cNvSpPr txBox="1"/>
            <p:nvPr/>
          </p:nvSpPr>
          <p:spPr>
            <a:xfrm>
              <a:off x="6367852" y="3585678"/>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Linked metadata</a:t>
              </a:r>
            </a:p>
          </p:txBody>
        </p:sp>
        <p:grpSp>
          <p:nvGrpSpPr>
            <p:cNvPr id="130" name="Group 129">
              <a:extLst>
                <a:ext uri="{FF2B5EF4-FFF2-40B4-BE49-F238E27FC236}">
                  <a16:creationId xmlns:a16="http://schemas.microsoft.com/office/drawing/2014/main" id="{077B3123-78A4-BB8E-BACB-70E87955DEC2}"/>
                </a:ext>
              </a:extLst>
            </p:cNvPr>
            <p:cNvGrpSpPr/>
            <p:nvPr/>
          </p:nvGrpSpPr>
          <p:grpSpPr>
            <a:xfrm>
              <a:off x="6476595" y="3965616"/>
              <a:ext cx="865907" cy="701656"/>
              <a:chOff x="4323272" y="3611655"/>
              <a:chExt cx="865907" cy="701656"/>
            </a:xfrm>
          </p:grpSpPr>
          <p:pic>
            <p:nvPicPr>
              <p:cNvPr id="131" name="Picture 130">
                <a:extLst>
                  <a:ext uri="{FF2B5EF4-FFF2-40B4-BE49-F238E27FC236}">
                    <a16:creationId xmlns:a16="http://schemas.microsoft.com/office/drawing/2014/main" id="{194FCFCE-C8C5-A8E7-D98E-4475CCC3DFD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323272" y="3611655"/>
                <a:ext cx="307805" cy="307805"/>
              </a:xfrm>
              <a:prstGeom prst="rect">
                <a:avLst/>
              </a:prstGeom>
            </p:spPr>
          </p:pic>
          <p:pic>
            <p:nvPicPr>
              <p:cNvPr id="132" name="Picture 131">
                <a:extLst>
                  <a:ext uri="{FF2B5EF4-FFF2-40B4-BE49-F238E27FC236}">
                    <a16:creationId xmlns:a16="http://schemas.microsoft.com/office/drawing/2014/main" id="{A2E77F60-D861-C0AF-613C-34042BB93C0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881374" y="3755485"/>
                <a:ext cx="307805" cy="307805"/>
              </a:xfrm>
              <a:prstGeom prst="rect">
                <a:avLst/>
              </a:prstGeom>
            </p:spPr>
          </p:pic>
          <p:pic>
            <p:nvPicPr>
              <p:cNvPr id="133" name="Picture 132">
                <a:extLst>
                  <a:ext uri="{FF2B5EF4-FFF2-40B4-BE49-F238E27FC236}">
                    <a16:creationId xmlns:a16="http://schemas.microsoft.com/office/drawing/2014/main" id="{3EED56BA-8487-790D-663F-156227C4C4F2}"/>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02484" y="4005506"/>
                <a:ext cx="307805" cy="307805"/>
              </a:xfrm>
              <a:prstGeom prst="rect">
                <a:avLst/>
              </a:prstGeom>
            </p:spPr>
          </p:pic>
          <p:cxnSp>
            <p:nvCxnSpPr>
              <p:cNvPr id="134" name="Connector: Elbow 133">
                <a:extLst>
                  <a:ext uri="{FF2B5EF4-FFF2-40B4-BE49-F238E27FC236}">
                    <a16:creationId xmlns:a16="http://schemas.microsoft.com/office/drawing/2014/main" id="{70C17286-8DE0-7819-5B00-6EEF1B4EE74D}"/>
                  </a:ext>
                </a:extLst>
              </p:cNvPr>
              <p:cNvCxnSpPr>
                <a:cxnSpLocks/>
                <a:endCxn id="132" idx="2"/>
              </p:cNvCxnSpPr>
              <p:nvPr/>
            </p:nvCxnSpPr>
            <p:spPr>
              <a:xfrm flipV="1">
                <a:off x="4731632" y="4063290"/>
                <a:ext cx="303645" cy="9546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Connector: Elbow 134">
                <a:extLst>
                  <a:ext uri="{FF2B5EF4-FFF2-40B4-BE49-F238E27FC236}">
                    <a16:creationId xmlns:a16="http://schemas.microsoft.com/office/drawing/2014/main" id="{D9EC9ADC-C0F4-51C9-A865-B287EC768718}"/>
                  </a:ext>
                </a:extLst>
              </p:cNvPr>
              <p:cNvCxnSpPr>
                <a:cxnSpLocks/>
                <a:stCxn id="131" idx="3"/>
                <a:endCxn id="132" idx="1"/>
              </p:cNvCxnSpPr>
              <p:nvPr/>
            </p:nvCxnSpPr>
            <p:spPr>
              <a:xfrm>
                <a:off x="4631077" y="3765558"/>
                <a:ext cx="250297" cy="14383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Connector: Elbow 135">
                <a:extLst>
                  <a:ext uri="{FF2B5EF4-FFF2-40B4-BE49-F238E27FC236}">
                    <a16:creationId xmlns:a16="http://schemas.microsoft.com/office/drawing/2014/main" id="{2D5C5D43-E5CF-66BA-C5C2-F86451F50E86}"/>
                  </a:ext>
                </a:extLst>
              </p:cNvPr>
              <p:cNvCxnSpPr>
                <a:cxnSpLocks/>
                <a:stCxn id="131" idx="2"/>
                <a:endCxn id="133" idx="0"/>
              </p:cNvCxnSpPr>
              <p:nvPr/>
            </p:nvCxnSpPr>
            <p:spPr>
              <a:xfrm rot="16200000" flipH="1">
                <a:off x="4523758" y="3872877"/>
                <a:ext cx="86046" cy="17921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37" name="Group 136">
            <a:extLst>
              <a:ext uri="{FF2B5EF4-FFF2-40B4-BE49-F238E27FC236}">
                <a16:creationId xmlns:a16="http://schemas.microsoft.com/office/drawing/2014/main" id="{B0F4C538-33BD-53D2-11CC-1023A749C4E0}"/>
              </a:ext>
            </a:extLst>
          </p:cNvPr>
          <p:cNvGrpSpPr/>
          <p:nvPr/>
        </p:nvGrpSpPr>
        <p:grpSpPr>
          <a:xfrm>
            <a:off x="8881003" y="936364"/>
            <a:ext cx="1689498" cy="1689497"/>
            <a:chOff x="2809669" y="696257"/>
            <a:chExt cx="1188001" cy="1188000"/>
          </a:xfrm>
        </p:grpSpPr>
        <p:sp>
          <p:nvSpPr>
            <p:cNvPr id="138" name="Oval 137">
              <a:extLst>
                <a:ext uri="{FF2B5EF4-FFF2-40B4-BE49-F238E27FC236}">
                  <a16:creationId xmlns:a16="http://schemas.microsoft.com/office/drawing/2014/main" id="{E2DA27DB-9AB6-60C7-7BE3-6D02938159C4}"/>
                </a:ext>
              </a:extLst>
            </p:cNvPr>
            <p:cNvSpPr>
              <a:spLocks noChangeAspect="1"/>
            </p:cNvSpPr>
            <p:nvPr/>
          </p:nvSpPr>
          <p:spPr>
            <a:xfrm>
              <a:off x="3061669" y="854212"/>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139" name="Picture 138">
              <a:extLst>
                <a:ext uri="{FF2B5EF4-FFF2-40B4-BE49-F238E27FC236}">
                  <a16:creationId xmlns:a16="http://schemas.microsoft.com/office/drawing/2014/main" id="{E0A4C1A5-38BB-299B-0C23-6B6BFE9D5DB5}"/>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187669" y="980212"/>
              <a:ext cx="432000" cy="432000"/>
            </a:xfrm>
            <a:prstGeom prst="rect">
              <a:avLst/>
            </a:prstGeom>
          </p:spPr>
        </p:pic>
        <p:sp>
          <p:nvSpPr>
            <p:cNvPr id="140" name="TextBox 139">
              <a:extLst>
                <a:ext uri="{FF2B5EF4-FFF2-40B4-BE49-F238E27FC236}">
                  <a16:creationId xmlns:a16="http://schemas.microsoft.com/office/drawing/2014/main" id="{531A5894-B30B-D88D-9485-EAAC5D90EC71}"/>
                </a:ext>
              </a:extLst>
            </p:cNvPr>
            <p:cNvSpPr txBox="1"/>
            <p:nvPr/>
          </p:nvSpPr>
          <p:spPr>
            <a:xfrm>
              <a:off x="2809669" y="1636980"/>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FINDABLE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41" name="Rectangle: Rounded Corners 140">
              <a:extLst>
                <a:ext uri="{FF2B5EF4-FFF2-40B4-BE49-F238E27FC236}">
                  <a16:creationId xmlns:a16="http://schemas.microsoft.com/office/drawing/2014/main" id="{38353C22-7E15-6BE6-5AE0-2C12A494A58B}"/>
                </a:ext>
              </a:extLst>
            </p:cNvPr>
            <p:cNvSpPr/>
            <p:nvPr/>
          </p:nvSpPr>
          <p:spPr>
            <a:xfrm>
              <a:off x="2809669" y="696257"/>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grpSp>
      <p:grpSp>
        <p:nvGrpSpPr>
          <p:cNvPr id="142" name="Group 141">
            <a:extLst>
              <a:ext uri="{FF2B5EF4-FFF2-40B4-BE49-F238E27FC236}">
                <a16:creationId xmlns:a16="http://schemas.microsoft.com/office/drawing/2014/main" id="{CA688CFC-E8A0-7ABF-AA2F-AD6162C1AD40}"/>
              </a:ext>
            </a:extLst>
          </p:cNvPr>
          <p:cNvGrpSpPr/>
          <p:nvPr/>
        </p:nvGrpSpPr>
        <p:grpSpPr>
          <a:xfrm>
            <a:off x="8881003" y="2800462"/>
            <a:ext cx="1689498" cy="1689497"/>
            <a:chOff x="2829653" y="2007163"/>
            <a:chExt cx="1188001" cy="1188000"/>
          </a:xfrm>
        </p:grpSpPr>
        <p:sp>
          <p:nvSpPr>
            <p:cNvPr id="143" name="Oval 142">
              <a:extLst>
                <a:ext uri="{FF2B5EF4-FFF2-40B4-BE49-F238E27FC236}">
                  <a16:creationId xmlns:a16="http://schemas.microsoft.com/office/drawing/2014/main" id="{477375B2-FDF7-7161-7D2D-EAD971A93D9E}"/>
                </a:ext>
              </a:extLst>
            </p:cNvPr>
            <p:cNvSpPr>
              <a:spLocks noChangeAspect="1"/>
            </p:cNvSpPr>
            <p:nvPr/>
          </p:nvSpPr>
          <p:spPr>
            <a:xfrm>
              <a:off x="3081653" y="2153161"/>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44" name="TextBox 143">
              <a:extLst>
                <a:ext uri="{FF2B5EF4-FFF2-40B4-BE49-F238E27FC236}">
                  <a16:creationId xmlns:a16="http://schemas.microsoft.com/office/drawing/2014/main" id="{926E28AD-6807-D2B4-CD2C-B4DFD7373A0B}"/>
                </a:ext>
              </a:extLst>
            </p:cNvPr>
            <p:cNvSpPr txBox="1"/>
            <p:nvPr/>
          </p:nvSpPr>
          <p:spPr>
            <a:xfrm>
              <a:off x="2829653" y="2935928"/>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ACCESSIBLE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pic>
          <p:nvPicPr>
            <p:cNvPr id="145" name="Picture 144">
              <a:extLst>
                <a:ext uri="{FF2B5EF4-FFF2-40B4-BE49-F238E27FC236}">
                  <a16:creationId xmlns:a16="http://schemas.microsoft.com/office/drawing/2014/main" id="{2CCDCE8E-19B8-4CD9-C579-F3D99FF9695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207653" y="2290974"/>
              <a:ext cx="432000" cy="432000"/>
            </a:xfrm>
            <a:prstGeom prst="rect">
              <a:avLst/>
            </a:prstGeom>
          </p:spPr>
        </p:pic>
        <p:sp>
          <p:nvSpPr>
            <p:cNvPr id="146" name="Rectangle: Rounded Corners 145">
              <a:extLst>
                <a:ext uri="{FF2B5EF4-FFF2-40B4-BE49-F238E27FC236}">
                  <a16:creationId xmlns:a16="http://schemas.microsoft.com/office/drawing/2014/main" id="{1FC29DDA-D10B-C560-ACC6-D12D5610AFFF}"/>
                </a:ext>
              </a:extLst>
            </p:cNvPr>
            <p:cNvSpPr/>
            <p:nvPr/>
          </p:nvSpPr>
          <p:spPr>
            <a:xfrm>
              <a:off x="2829653" y="2007163"/>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grpSp>
      <p:grpSp>
        <p:nvGrpSpPr>
          <p:cNvPr id="147" name="Group 146">
            <a:extLst>
              <a:ext uri="{FF2B5EF4-FFF2-40B4-BE49-F238E27FC236}">
                <a16:creationId xmlns:a16="http://schemas.microsoft.com/office/drawing/2014/main" id="{56F138EF-E9F5-9871-69F2-07425C6A5951}"/>
              </a:ext>
            </a:extLst>
          </p:cNvPr>
          <p:cNvGrpSpPr/>
          <p:nvPr/>
        </p:nvGrpSpPr>
        <p:grpSpPr>
          <a:xfrm>
            <a:off x="8896131" y="6520457"/>
            <a:ext cx="1689498" cy="1689497"/>
            <a:chOff x="2827185" y="4622463"/>
            <a:chExt cx="1188001" cy="1188000"/>
          </a:xfrm>
        </p:grpSpPr>
        <p:sp>
          <p:nvSpPr>
            <p:cNvPr id="148" name="Oval 147">
              <a:extLst>
                <a:ext uri="{FF2B5EF4-FFF2-40B4-BE49-F238E27FC236}">
                  <a16:creationId xmlns:a16="http://schemas.microsoft.com/office/drawing/2014/main" id="{65C658DA-2519-C375-317A-36EDBED1776B}"/>
                </a:ext>
              </a:extLst>
            </p:cNvPr>
            <p:cNvSpPr>
              <a:spLocks noChangeAspect="1"/>
            </p:cNvSpPr>
            <p:nvPr/>
          </p:nvSpPr>
          <p:spPr>
            <a:xfrm>
              <a:off x="3079185" y="4768461"/>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49" name="TextBox 148">
              <a:extLst>
                <a:ext uri="{FF2B5EF4-FFF2-40B4-BE49-F238E27FC236}">
                  <a16:creationId xmlns:a16="http://schemas.microsoft.com/office/drawing/2014/main" id="{020A2C81-977F-B5A0-FE52-10A0F9FDCDE1}"/>
                </a:ext>
              </a:extLst>
            </p:cNvPr>
            <p:cNvSpPr txBox="1"/>
            <p:nvPr/>
          </p:nvSpPr>
          <p:spPr>
            <a:xfrm>
              <a:off x="2827185" y="5551228"/>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REUSABLE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50" name="Rectangle: Rounded Corners 149">
              <a:extLst>
                <a:ext uri="{FF2B5EF4-FFF2-40B4-BE49-F238E27FC236}">
                  <a16:creationId xmlns:a16="http://schemas.microsoft.com/office/drawing/2014/main" id="{CF09BD09-8335-435A-64F5-BDFA2E4A6748}"/>
                </a:ext>
              </a:extLst>
            </p:cNvPr>
            <p:cNvSpPr/>
            <p:nvPr/>
          </p:nvSpPr>
          <p:spPr>
            <a:xfrm>
              <a:off x="2827185" y="4622463"/>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151" name="Picture 150">
              <a:extLst>
                <a:ext uri="{FF2B5EF4-FFF2-40B4-BE49-F238E27FC236}">
                  <a16:creationId xmlns:a16="http://schemas.microsoft.com/office/drawing/2014/main" id="{9426F991-4EED-2836-793D-076D0E73D2D3}"/>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205185" y="4894461"/>
              <a:ext cx="432000" cy="432000"/>
            </a:xfrm>
            <a:prstGeom prst="rect">
              <a:avLst/>
            </a:prstGeom>
          </p:spPr>
        </p:pic>
      </p:grpSp>
      <p:grpSp>
        <p:nvGrpSpPr>
          <p:cNvPr id="152" name="Group 151">
            <a:extLst>
              <a:ext uri="{FF2B5EF4-FFF2-40B4-BE49-F238E27FC236}">
                <a16:creationId xmlns:a16="http://schemas.microsoft.com/office/drawing/2014/main" id="{558D5D76-548F-276B-60A6-AB141C5184D4}"/>
              </a:ext>
            </a:extLst>
          </p:cNvPr>
          <p:cNvGrpSpPr/>
          <p:nvPr/>
        </p:nvGrpSpPr>
        <p:grpSpPr>
          <a:xfrm>
            <a:off x="8896131" y="4655862"/>
            <a:ext cx="1689498" cy="1689496"/>
            <a:chOff x="2823178" y="3311340"/>
            <a:chExt cx="1188001" cy="1188000"/>
          </a:xfrm>
        </p:grpSpPr>
        <p:sp>
          <p:nvSpPr>
            <p:cNvPr id="153" name="TextBox 152">
              <a:extLst>
                <a:ext uri="{FF2B5EF4-FFF2-40B4-BE49-F238E27FC236}">
                  <a16:creationId xmlns:a16="http://schemas.microsoft.com/office/drawing/2014/main" id="{1E783238-F200-36AE-E17B-903464D788A5}"/>
                </a:ext>
              </a:extLst>
            </p:cNvPr>
            <p:cNvSpPr txBox="1"/>
            <p:nvPr/>
          </p:nvSpPr>
          <p:spPr>
            <a:xfrm>
              <a:off x="2823178" y="4228127"/>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INTEROPERABLE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154" name="Oval 153">
              <a:extLst>
                <a:ext uri="{FF2B5EF4-FFF2-40B4-BE49-F238E27FC236}">
                  <a16:creationId xmlns:a16="http://schemas.microsoft.com/office/drawing/2014/main" id="{D67A9E58-497B-6065-68AB-E1468322E47B}"/>
                </a:ext>
              </a:extLst>
            </p:cNvPr>
            <p:cNvSpPr>
              <a:spLocks noChangeAspect="1"/>
            </p:cNvSpPr>
            <p:nvPr/>
          </p:nvSpPr>
          <p:spPr>
            <a:xfrm>
              <a:off x="3075178" y="3434463"/>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55" name="Rectangle: Rounded Corners 154">
              <a:extLst>
                <a:ext uri="{FF2B5EF4-FFF2-40B4-BE49-F238E27FC236}">
                  <a16:creationId xmlns:a16="http://schemas.microsoft.com/office/drawing/2014/main" id="{26D50A61-8CAD-4556-BC13-2832979152FF}"/>
                </a:ext>
              </a:extLst>
            </p:cNvPr>
            <p:cNvSpPr/>
            <p:nvPr/>
          </p:nvSpPr>
          <p:spPr>
            <a:xfrm>
              <a:off x="2823178" y="3311340"/>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156" name="Picture 155">
              <a:extLst>
                <a:ext uri="{FF2B5EF4-FFF2-40B4-BE49-F238E27FC236}">
                  <a16:creationId xmlns:a16="http://schemas.microsoft.com/office/drawing/2014/main" id="{99CE54C7-4B25-1D75-3587-36CE61D0AAF9}"/>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201178" y="3566899"/>
              <a:ext cx="432000" cy="432000"/>
            </a:xfrm>
            <a:prstGeom prst="rect">
              <a:avLst/>
            </a:prstGeom>
          </p:spPr>
        </p:pic>
      </p:grpSp>
    </p:spTree>
    <p:extLst>
      <p:ext uri="{BB962C8B-B14F-4D97-AF65-F5344CB8AC3E}">
        <p14:creationId xmlns:p14="http://schemas.microsoft.com/office/powerpoint/2010/main" val="121514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500"/>
                                        <p:tgtEl>
                                          <p:spTgt spid="1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6"/>
                                        </p:tgtEl>
                                        <p:attrNameLst>
                                          <p:attrName>style.visibility</p:attrName>
                                        </p:attrNameLst>
                                      </p:cBhvr>
                                      <p:to>
                                        <p:strVal val="visible"/>
                                      </p:to>
                                    </p:set>
                                    <p:animEffect transition="in" filter="fade">
                                      <p:cBhvr>
                                        <p:cTn id="10" dur="500"/>
                                        <p:tgtEl>
                                          <p:spTgt spid="16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7"/>
                                        </p:tgtEl>
                                        <p:attrNameLst>
                                          <p:attrName>style.visibility</p:attrName>
                                        </p:attrNameLst>
                                      </p:cBhvr>
                                      <p:to>
                                        <p:strVal val="visible"/>
                                      </p:to>
                                    </p:set>
                                    <p:animEffect transition="in" filter="fade">
                                      <p:cBhvr>
                                        <p:cTn id="13" dur="500"/>
                                        <p:tgtEl>
                                          <p:spTgt spid="16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8"/>
                                        </p:tgtEl>
                                        <p:attrNameLst>
                                          <p:attrName>style.visibility</p:attrName>
                                        </p:attrNameLst>
                                      </p:cBhvr>
                                      <p:to>
                                        <p:strVal val="visible"/>
                                      </p:to>
                                    </p:set>
                                    <p:animEffect transition="in" filter="fade">
                                      <p:cBhvr>
                                        <p:cTn id="16"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P spid="166" grpId="0"/>
      <p:bldP spid="167" grpId="0"/>
      <p:bldP spid="16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30B530-E87E-4CA6-917E-259465DC0873}"/>
              </a:ext>
            </a:extLst>
          </p:cNvPr>
          <p:cNvSpPr>
            <a:spLocks noGrp="1"/>
          </p:cNvSpPr>
          <p:nvPr>
            <p:ph type="title"/>
          </p:nvPr>
        </p:nvSpPr>
        <p:spPr/>
        <p:txBody>
          <a:bodyPr/>
          <a:lstStyle/>
          <a:p>
            <a:r>
              <a:rPr lang="en-US" err="1"/>
              <a:t>documentatioN</a:t>
            </a:r>
            <a:endParaRPr lang="en-US"/>
          </a:p>
        </p:txBody>
      </p:sp>
      <p:sp>
        <p:nvSpPr>
          <p:cNvPr id="5" name="Content Placeholder 4">
            <a:extLst>
              <a:ext uri="{FF2B5EF4-FFF2-40B4-BE49-F238E27FC236}">
                <a16:creationId xmlns:a16="http://schemas.microsoft.com/office/drawing/2014/main" id="{73088B8D-BE22-4FCB-9EA6-1A64B143EFC8}"/>
              </a:ext>
            </a:extLst>
          </p:cNvPr>
          <p:cNvSpPr>
            <a:spLocks noGrp="1"/>
          </p:cNvSpPr>
          <p:nvPr>
            <p:ph idx="1"/>
          </p:nvPr>
        </p:nvSpPr>
        <p:spPr>
          <a:xfrm>
            <a:off x="835826" y="1194364"/>
            <a:ext cx="15512538" cy="2629491"/>
          </a:xfrm>
        </p:spPr>
        <p:txBody>
          <a:bodyPr>
            <a:normAutofit/>
          </a:bodyPr>
          <a:lstStyle/>
          <a:p>
            <a:r>
              <a:rPr lang="en-US" sz="3600"/>
              <a:t>WHY?</a:t>
            </a:r>
          </a:p>
          <a:p>
            <a:pPr lvl="1"/>
            <a:r>
              <a:rPr lang="en-US" sz="3600"/>
              <a:t>Facilitate research review, verification and reproducibility.</a:t>
            </a:r>
          </a:p>
          <a:p>
            <a:pPr lvl="1"/>
            <a:r>
              <a:rPr lang="en-US" sz="3600"/>
              <a:t>Enable data to be found, understood and reused.</a:t>
            </a:r>
          </a:p>
          <a:p>
            <a:pPr marL="85725" indent="0">
              <a:buNone/>
            </a:pPr>
            <a:endParaRPr lang="en-US" sz="3800"/>
          </a:p>
          <a:p>
            <a:endParaRPr lang="en-US" sz="3800"/>
          </a:p>
        </p:txBody>
      </p:sp>
      <p:sp>
        <p:nvSpPr>
          <p:cNvPr id="3" name="Slide Number Placeholder 2">
            <a:extLst>
              <a:ext uri="{FF2B5EF4-FFF2-40B4-BE49-F238E27FC236}">
                <a16:creationId xmlns:a16="http://schemas.microsoft.com/office/drawing/2014/main" id="{AE86E12F-D037-4D6F-A265-99FF0FA6B6F5}"/>
              </a:ext>
            </a:extLst>
          </p:cNvPr>
          <p:cNvSpPr>
            <a:spLocks noGrp="1"/>
          </p:cNvSpPr>
          <p:nvPr>
            <p:ph type="sldNum" sz="quarter" idx="12"/>
          </p:nvPr>
        </p:nvSpPr>
        <p:spPr/>
        <p:txBody>
          <a:bodyPr/>
          <a:lstStyle/>
          <a:p>
            <a:fld id="{7AE184E0-0BD4-4705-A12B-9B71DDE63301}" type="slidenum">
              <a:rPr lang="nl-BE" smtClean="0"/>
              <a:pPr/>
              <a:t>3</a:t>
            </a:fld>
            <a:endParaRPr lang="nl-BE"/>
          </a:p>
        </p:txBody>
      </p:sp>
      <p:grpSp>
        <p:nvGrpSpPr>
          <p:cNvPr id="2" name="Group 1">
            <a:extLst>
              <a:ext uri="{FF2B5EF4-FFF2-40B4-BE49-F238E27FC236}">
                <a16:creationId xmlns:a16="http://schemas.microsoft.com/office/drawing/2014/main" id="{F5BB8DEE-5861-44B3-86D5-099DBCA39FF6}"/>
              </a:ext>
            </a:extLst>
          </p:cNvPr>
          <p:cNvGrpSpPr/>
          <p:nvPr/>
        </p:nvGrpSpPr>
        <p:grpSpPr>
          <a:xfrm>
            <a:off x="1976017" y="4658839"/>
            <a:ext cx="9862422" cy="1509743"/>
            <a:chOff x="3577050" y="5241609"/>
            <a:chExt cx="9862422" cy="1509743"/>
          </a:xfrm>
        </p:grpSpPr>
        <p:grpSp>
          <p:nvGrpSpPr>
            <p:cNvPr id="7" name="Group 6">
              <a:extLst>
                <a:ext uri="{FF2B5EF4-FFF2-40B4-BE49-F238E27FC236}">
                  <a16:creationId xmlns:a16="http://schemas.microsoft.com/office/drawing/2014/main" id="{A80D9C86-85E1-42B3-9341-74575721CB5A}"/>
                </a:ext>
              </a:extLst>
            </p:cNvPr>
            <p:cNvGrpSpPr/>
            <p:nvPr/>
          </p:nvGrpSpPr>
          <p:grpSpPr>
            <a:xfrm>
              <a:off x="3577050" y="5241609"/>
              <a:ext cx="1397677" cy="1509743"/>
              <a:chOff x="811513" y="2817063"/>
              <a:chExt cx="1397677" cy="1509743"/>
            </a:xfrm>
          </p:grpSpPr>
          <p:sp>
            <p:nvSpPr>
              <p:cNvPr id="8" name="TextBox 7">
                <a:extLst>
                  <a:ext uri="{FF2B5EF4-FFF2-40B4-BE49-F238E27FC236}">
                    <a16:creationId xmlns:a16="http://schemas.microsoft.com/office/drawing/2014/main" id="{585AB894-407F-4A6D-8802-78002C807F27}"/>
                  </a:ext>
                </a:extLst>
              </p:cNvPr>
              <p:cNvSpPr txBox="1"/>
              <p:nvPr/>
            </p:nvSpPr>
            <p:spPr>
              <a:xfrm>
                <a:off x="811513" y="3803586"/>
                <a:ext cx="1397677" cy="523220"/>
              </a:xfrm>
              <a:prstGeom prst="rect">
                <a:avLst/>
              </a:prstGeom>
              <a:noFill/>
            </p:spPr>
            <p:txBody>
              <a:bodyPr wrap="square" rtlCol="0">
                <a:spAutoFit/>
              </a:bodyPr>
              <a:lstStyle/>
              <a:p>
                <a:pPr algn="ctr"/>
                <a:r>
                  <a:rPr lang="en-US" sz="2800">
                    <a:latin typeface="UGent Panno Text" panose="02000506040000040003" pitchFamily="50" charset="0"/>
                  </a:rPr>
                  <a:t>WHAT</a:t>
                </a:r>
                <a:endParaRPr lang="en-US" sz="2000">
                  <a:latin typeface="UGent Panno Text" panose="02000506040000040003" pitchFamily="50" charset="0"/>
                </a:endParaRPr>
              </a:p>
            </p:txBody>
          </p:sp>
          <p:pic>
            <p:nvPicPr>
              <p:cNvPr id="9" name="Graphic 8" descr="Question mark">
                <a:extLst>
                  <a:ext uri="{FF2B5EF4-FFF2-40B4-BE49-F238E27FC236}">
                    <a16:creationId xmlns:a16="http://schemas.microsoft.com/office/drawing/2014/main" id="{743BD305-B5C1-436D-BE97-96C977CADE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3152" y="2817063"/>
                <a:ext cx="914400" cy="914400"/>
              </a:xfrm>
              <a:prstGeom prst="rect">
                <a:avLst/>
              </a:prstGeom>
            </p:spPr>
          </p:pic>
        </p:grpSp>
        <p:grpSp>
          <p:nvGrpSpPr>
            <p:cNvPr id="11" name="Group 10">
              <a:extLst>
                <a:ext uri="{FF2B5EF4-FFF2-40B4-BE49-F238E27FC236}">
                  <a16:creationId xmlns:a16="http://schemas.microsoft.com/office/drawing/2014/main" id="{4CC01697-071C-4EC6-8899-F52AAE5533DA}"/>
                </a:ext>
              </a:extLst>
            </p:cNvPr>
            <p:cNvGrpSpPr/>
            <p:nvPr/>
          </p:nvGrpSpPr>
          <p:grpSpPr>
            <a:xfrm>
              <a:off x="5269999" y="5241609"/>
              <a:ext cx="1397677" cy="1509743"/>
              <a:chOff x="2323506" y="2817063"/>
              <a:chExt cx="1397677" cy="1509743"/>
            </a:xfrm>
          </p:grpSpPr>
          <p:pic>
            <p:nvPicPr>
              <p:cNvPr id="12" name="Graphic 11" descr="User">
                <a:extLst>
                  <a:ext uri="{FF2B5EF4-FFF2-40B4-BE49-F238E27FC236}">
                    <a16:creationId xmlns:a16="http://schemas.microsoft.com/office/drawing/2014/main" id="{5FCE8F0E-75D9-4B7D-BC8D-6EC29F8DF9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10770" y="2817063"/>
                <a:ext cx="914400" cy="914400"/>
              </a:xfrm>
              <a:prstGeom prst="rect">
                <a:avLst/>
              </a:prstGeom>
            </p:spPr>
          </p:pic>
          <p:sp>
            <p:nvSpPr>
              <p:cNvPr id="13" name="TextBox 12">
                <a:extLst>
                  <a:ext uri="{FF2B5EF4-FFF2-40B4-BE49-F238E27FC236}">
                    <a16:creationId xmlns:a16="http://schemas.microsoft.com/office/drawing/2014/main" id="{46B4C6D4-3DEB-4E83-A5B1-9A9A40C6A44B}"/>
                  </a:ext>
                </a:extLst>
              </p:cNvPr>
              <p:cNvSpPr txBox="1"/>
              <p:nvPr/>
            </p:nvSpPr>
            <p:spPr>
              <a:xfrm>
                <a:off x="2323506" y="3803586"/>
                <a:ext cx="1397677" cy="523220"/>
              </a:xfrm>
              <a:prstGeom prst="rect">
                <a:avLst/>
              </a:prstGeom>
              <a:noFill/>
            </p:spPr>
            <p:txBody>
              <a:bodyPr wrap="square" rtlCol="0">
                <a:spAutoFit/>
              </a:bodyPr>
              <a:lstStyle/>
              <a:p>
                <a:pPr algn="ctr"/>
                <a:r>
                  <a:rPr lang="en-US" sz="2800">
                    <a:latin typeface="UGent Panno Text" panose="02000506040000040003" pitchFamily="50" charset="0"/>
                  </a:rPr>
                  <a:t>WHO</a:t>
                </a:r>
                <a:endParaRPr lang="en-US" sz="2000">
                  <a:latin typeface="UGent Panno Text" panose="02000506040000040003" pitchFamily="50" charset="0"/>
                </a:endParaRPr>
              </a:p>
            </p:txBody>
          </p:sp>
        </p:grpSp>
        <p:grpSp>
          <p:nvGrpSpPr>
            <p:cNvPr id="14" name="Group 13">
              <a:extLst>
                <a:ext uri="{FF2B5EF4-FFF2-40B4-BE49-F238E27FC236}">
                  <a16:creationId xmlns:a16="http://schemas.microsoft.com/office/drawing/2014/main" id="{1097F333-7F38-4BE2-B52B-52587258BA35}"/>
                </a:ext>
              </a:extLst>
            </p:cNvPr>
            <p:cNvGrpSpPr/>
            <p:nvPr/>
          </p:nvGrpSpPr>
          <p:grpSpPr>
            <a:xfrm>
              <a:off x="6962948" y="5241609"/>
              <a:ext cx="1397677" cy="1509743"/>
              <a:chOff x="3916246" y="2817063"/>
              <a:chExt cx="1397677" cy="1509743"/>
            </a:xfrm>
          </p:grpSpPr>
          <p:pic>
            <p:nvPicPr>
              <p:cNvPr id="15" name="Graphic 14" descr="Lightbulb and gear">
                <a:extLst>
                  <a:ext uri="{FF2B5EF4-FFF2-40B4-BE49-F238E27FC236}">
                    <a16:creationId xmlns:a16="http://schemas.microsoft.com/office/drawing/2014/main" id="{5D865EBE-0D2B-418F-8417-069E943E6A9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57885" y="2817063"/>
                <a:ext cx="914400" cy="914400"/>
              </a:xfrm>
              <a:prstGeom prst="rect">
                <a:avLst/>
              </a:prstGeom>
            </p:spPr>
          </p:pic>
          <p:sp>
            <p:nvSpPr>
              <p:cNvPr id="16" name="TextBox 15">
                <a:extLst>
                  <a:ext uri="{FF2B5EF4-FFF2-40B4-BE49-F238E27FC236}">
                    <a16:creationId xmlns:a16="http://schemas.microsoft.com/office/drawing/2014/main" id="{2A9491F5-0D5C-485D-8A9B-DA8D09F588F4}"/>
                  </a:ext>
                </a:extLst>
              </p:cNvPr>
              <p:cNvSpPr txBox="1"/>
              <p:nvPr/>
            </p:nvSpPr>
            <p:spPr>
              <a:xfrm>
                <a:off x="3916246" y="3803586"/>
                <a:ext cx="1397677" cy="523220"/>
              </a:xfrm>
              <a:prstGeom prst="rect">
                <a:avLst/>
              </a:prstGeom>
              <a:noFill/>
            </p:spPr>
            <p:txBody>
              <a:bodyPr wrap="square" rtlCol="0">
                <a:spAutoFit/>
              </a:bodyPr>
              <a:lstStyle/>
              <a:p>
                <a:pPr algn="ctr"/>
                <a:r>
                  <a:rPr lang="en-US" sz="2800">
                    <a:latin typeface="UGent Panno Text" panose="02000506040000040003" pitchFamily="50" charset="0"/>
                  </a:rPr>
                  <a:t>WHY</a:t>
                </a:r>
                <a:endParaRPr lang="en-US" sz="2000">
                  <a:latin typeface="UGent Panno Text" panose="02000506040000040003" pitchFamily="50" charset="0"/>
                </a:endParaRPr>
              </a:p>
            </p:txBody>
          </p:sp>
        </p:grpSp>
        <p:grpSp>
          <p:nvGrpSpPr>
            <p:cNvPr id="17" name="Group 16">
              <a:extLst>
                <a:ext uri="{FF2B5EF4-FFF2-40B4-BE49-F238E27FC236}">
                  <a16:creationId xmlns:a16="http://schemas.microsoft.com/office/drawing/2014/main" id="{B9122F18-B581-4C02-9466-1DFA0E52F500}"/>
                </a:ext>
              </a:extLst>
            </p:cNvPr>
            <p:cNvGrpSpPr/>
            <p:nvPr/>
          </p:nvGrpSpPr>
          <p:grpSpPr>
            <a:xfrm>
              <a:off x="8655897" y="5241609"/>
              <a:ext cx="1397677" cy="1509743"/>
              <a:chOff x="5625536" y="2817063"/>
              <a:chExt cx="1397677" cy="1509743"/>
            </a:xfrm>
          </p:grpSpPr>
          <p:pic>
            <p:nvPicPr>
              <p:cNvPr id="18" name="Graphic 17" descr="Map with pin">
                <a:extLst>
                  <a:ext uri="{FF2B5EF4-FFF2-40B4-BE49-F238E27FC236}">
                    <a16:creationId xmlns:a16="http://schemas.microsoft.com/office/drawing/2014/main" id="{33CF3F43-A9C5-4570-822F-5D54A88FF0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7175" y="2817063"/>
                <a:ext cx="914400" cy="914400"/>
              </a:xfrm>
              <a:prstGeom prst="rect">
                <a:avLst/>
              </a:prstGeom>
            </p:spPr>
          </p:pic>
          <p:sp>
            <p:nvSpPr>
              <p:cNvPr id="19" name="TextBox 18">
                <a:extLst>
                  <a:ext uri="{FF2B5EF4-FFF2-40B4-BE49-F238E27FC236}">
                    <a16:creationId xmlns:a16="http://schemas.microsoft.com/office/drawing/2014/main" id="{43CDFCEE-4D4B-4F85-936C-14FDD71749AE}"/>
                  </a:ext>
                </a:extLst>
              </p:cNvPr>
              <p:cNvSpPr txBox="1"/>
              <p:nvPr/>
            </p:nvSpPr>
            <p:spPr>
              <a:xfrm>
                <a:off x="5625536" y="3803586"/>
                <a:ext cx="1397677" cy="523220"/>
              </a:xfrm>
              <a:prstGeom prst="rect">
                <a:avLst/>
              </a:prstGeom>
              <a:noFill/>
            </p:spPr>
            <p:txBody>
              <a:bodyPr wrap="square" rtlCol="0">
                <a:spAutoFit/>
              </a:bodyPr>
              <a:lstStyle/>
              <a:p>
                <a:pPr algn="ctr"/>
                <a:r>
                  <a:rPr lang="en-US" sz="2800">
                    <a:latin typeface="UGent Panno Text" panose="02000506040000040003" pitchFamily="50" charset="0"/>
                  </a:rPr>
                  <a:t>WHERE</a:t>
                </a:r>
                <a:endParaRPr lang="en-US" sz="2000">
                  <a:latin typeface="UGent Panno Text" panose="02000506040000040003" pitchFamily="50" charset="0"/>
                </a:endParaRPr>
              </a:p>
            </p:txBody>
          </p:sp>
        </p:grpSp>
        <p:grpSp>
          <p:nvGrpSpPr>
            <p:cNvPr id="20" name="Group 19">
              <a:extLst>
                <a:ext uri="{FF2B5EF4-FFF2-40B4-BE49-F238E27FC236}">
                  <a16:creationId xmlns:a16="http://schemas.microsoft.com/office/drawing/2014/main" id="{63CA7E24-BE11-4DD6-86D5-B359480F6F23}"/>
                </a:ext>
              </a:extLst>
            </p:cNvPr>
            <p:cNvGrpSpPr/>
            <p:nvPr/>
          </p:nvGrpSpPr>
          <p:grpSpPr>
            <a:xfrm>
              <a:off x="10348846" y="5241609"/>
              <a:ext cx="1397677" cy="1509743"/>
              <a:chOff x="7607848" y="2817063"/>
              <a:chExt cx="1397677" cy="1509743"/>
            </a:xfrm>
          </p:grpSpPr>
          <p:pic>
            <p:nvPicPr>
              <p:cNvPr id="21" name="Graphic 20" descr="Monthly calendar">
                <a:extLst>
                  <a:ext uri="{FF2B5EF4-FFF2-40B4-BE49-F238E27FC236}">
                    <a16:creationId xmlns:a16="http://schemas.microsoft.com/office/drawing/2014/main" id="{7F119F1B-8F7D-47A2-B7BC-1BBAA2CBB1EC}"/>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49487" y="2817063"/>
                <a:ext cx="914400" cy="914400"/>
              </a:xfrm>
              <a:prstGeom prst="rect">
                <a:avLst/>
              </a:prstGeom>
            </p:spPr>
          </p:pic>
          <p:sp>
            <p:nvSpPr>
              <p:cNvPr id="22" name="TextBox 21">
                <a:extLst>
                  <a:ext uri="{FF2B5EF4-FFF2-40B4-BE49-F238E27FC236}">
                    <a16:creationId xmlns:a16="http://schemas.microsoft.com/office/drawing/2014/main" id="{29255F5B-09B4-47D1-8001-D9459401D292}"/>
                  </a:ext>
                </a:extLst>
              </p:cNvPr>
              <p:cNvSpPr txBox="1"/>
              <p:nvPr/>
            </p:nvSpPr>
            <p:spPr>
              <a:xfrm>
                <a:off x="7607848" y="3803586"/>
                <a:ext cx="1397677" cy="523220"/>
              </a:xfrm>
              <a:prstGeom prst="rect">
                <a:avLst/>
              </a:prstGeom>
              <a:noFill/>
            </p:spPr>
            <p:txBody>
              <a:bodyPr wrap="square" rtlCol="0">
                <a:spAutoFit/>
              </a:bodyPr>
              <a:lstStyle/>
              <a:p>
                <a:pPr algn="ctr"/>
                <a:r>
                  <a:rPr lang="en-US" sz="2800">
                    <a:latin typeface="UGent Panno Text" panose="02000506040000040003" pitchFamily="50" charset="0"/>
                  </a:rPr>
                  <a:t>WHEN</a:t>
                </a:r>
                <a:endParaRPr lang="en-US" sz="2000">
                  <a:latin typeface="UGent Panno Text" panose="02000506040000040003" pitchFamily="50" charset="0"/>
                </a:endParaRPr>
              </a:p>
            </p:txBody>
          </p:sp>
        </p:grpSp>
        <p:grpSp>
          <p:nvGrpSpPr>
            <p:cNvPr id="23" name="Group 22">
              <a:extLst>
                <a:ext uri="{FF2B5EF4-FFF2-40B4-BE49-F238E27FC236}">
                  <a16:creationId xmlns:a16="http://schemas.microsoft.com/office/drawing/2014/main" id="{A63C8E95-506C-4FF6-A8A9-0B84B22FC0DF}"/>
                </a:ext>
              </a:extLst>
            </p:cNvPr>
            <p:cNvGrpSpPr/>
            <p:nvPr/>
          </p:nvGrpSpPr>
          <p:grpSpPr>
            <a:xfrm>
              <a:off x="12041795" y="5241609"/>
              <a:ext cx="1397677" cy="1509743"/>
              <a:chOff x="9590160" y="2817063"/>
              <a:chExt cx="1397677" cy="1509743"/>
            </a:xfrm>
          </p:grpSpPr>
          <p:pic>
            <p:nvPicPr>
              <p:cNvPr id="24" name="Graphic 23" descr="Gears">
                <a:extLst>
                  <a:ext uri="{FF2B5EF4-FFF2-40B4-BE49-F238E27FC236}">
                    <a16:creationId xmlns:a16="http://schemas.microsoft.com/office/drawing/2014/main" id="{24E71DE4-EC03-4448-9684-98EECEDC87A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831799" y="2817063"/>
                <a:ext cx="914400" cy="914400"/>
              </a:xfrm>
              <a:prstGeom prst="rect">
                <a:avLst/>
              </a:prstGeom>
            </p:spPr>
          </p:pic>
          <p:sp>
            <p:nvSpPr>
              <p:cNvPr id="25" name="TextBox 24">
                <a:extLst>
                  <a:ext uri="{FF2B5EF4-FFF2-40B4-BE49-F238E27FC236}">
                    <a16:creationId xmlns:a16="http://schemas.microsoft.com/office/drawing/2014/main" id="{D8544AD6-DCC4-4D77-B21A-C6F241A994DF}"/>
                  </a:ext>
                </a:extLst>
              </p:cNvPr>
              <p:cNvSpPr txBox="1"/>
              <p:nvPr/>
            </p:nvSpPr>
            <p:spPr>
              <a:xfrm>
                <a:off x="9590160" y="3803586"/>
                <a:ext cx="1397677" cy="523220"/>
              </a:xfrm>
              <a:prstGeom prst="rect">
                <a:avLst/>
              </a:prstGeom>
              <a:noFill/>
            </p:spPr>
            <p:txBody>
              <a:bodyPr wrap="square" rtlCol="0">
                <a:spAutoFit/>
              </a:bodyPr>
              <a:lstStyle/>
              <a:p>
                <a:pPr algn="ctr"/>
                <a:r>
                  <a:rPr lang="en-US" sz="2800">
                    <a:latin typeface="UGent Panno Text" panose="02000506040000040003" pitchFamily="50" charset="0"/>
                  </a:rPr>
                  <a:t>HOW</a:t>
                </a:r>
                <a:endParaRPr lang="en-US" sz="2000">
                  <a:latin typeface="UGent Panno Text" panose="02000506040000040003" pitchFamily="50" charset="0"/>
                </a:endParaRPr>
              </a:p>
            </p:txBody>
          </p:sp>
        </p:grpSp>
      </p:grpSp>
      <p:pic>
        <p:nvPicPr>
          <p:cNvPr id="1026" name="Picture 2" descr="FAIR data principles.jpg">
            <a:extLst>
              <a:ext uri="{FF2B5EF4-FFF2-40B4-BE49-F238E27FC236}">
                <a16:creationId xmlns:a16="http://schemas.microsoft.com/office/drawing/2014/main" id="{C802C6BA-7874-4300-BD3D-C2FA6F071BC9}"/>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2679811" y="327823"/>
            <a:ext cx="3668553" cy="1245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885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19ACC-64B7-4989-8496-5A9E9885C837}"/>
              </a:ext>
            </a:extLst>
          </p:cNvPr>
          <p:cNvSpPr>
            <a:spLocks noGrp="1"/>
          </p:cNvSpPr>
          <p:nvPr>
            <p:ph type="title"/>
          </p:nvPr>
        </p:nvSpPr>
        <p:spPr>
          <a:xfrm>
            <a:off x="830596" y="136315"/>
            <a:ext cx="15704323" cy="863640"/>
          </a:xfrm>
        </p:spPr>
        <p:txBody>
          <a:bodyPr/>
          <a:lstStyle/>
          <a:p>
            <a:r>
              <a:rPr lang="en-US">
                <a:latin typeface="UGent Panno Text" panose="02000506040000040003" pitchFamily="2" charset="0"/>
              </a:rPr>
              <a:t>Levels of data documentation</a:t>
            </a:r>
            <a:endParaRPr lang="nl-BE">
              <a:latin typeface="UGent Panno Text" panose="02000506040000040003" pitchFamily="2" charset="0"/>
            </a:endParaRPr>
          </a:p>
        </p:txBody>
      </p:sp>
      <p:sp>
        <p:nvSpPr>
          <p:cNvPr id="8" name="TextBox 7">
            <a:extLst>
              <a:ext uri="{FF2B5EF4-FFF2-40B4-BE49-F238E27FC236}">
                <a16:creationId xmlns:a16="http://schemas.microsoft.com/office/drawing/2014/main" id="{3A9CD7AF-2E3E-493E-A18A-3257F0140EFC}"/>
              </a:ext>
            </a:extLst>
          </p:cNvPr>
          <p:cNvSpPr txBox="1"/>
          <p:nvPr/>
        </p:nvSpPr>
        <p:spPr>
          <a:xfrm>
            <a:off x="4145408" y="2127206"/>
            <a:ext cx="1186542" cy="954107"/>
          </a:xfrm>
          <a:prstGeom prst="rect">
            <a:avLst/>
          </a:prstGeom>
          <a:noFill/>
        </p:spPr>
        <p:txBody>
          <a:bodyPr wrap="none" rtlCol="0">
            <a:spAutoFit/>
          </a:bodyPr>
          <a:lstStyle/>
          <a:p>
            <a:pPr algn="ctr"/>
            <a:r>
              <a:rPr lang="en-US" sz="2800">
                <a:latin typeface="UGent Panno Text" panose="02000506040000040003" pitchFamily="2" charset="0"/>
              </a:rPr>
              <a:t>Item</a:t>
            </a:r>
          </a:p>
          <a:p>
            <a:pPr algn="ctr"/>
            <a:r>
              <a:rPr lang="en-US" sz="2800">
                <a:latin typeface="UGent Panno Text" panose="02000506040000040003" pitchFamily="2" charset="0"/>
              </a:rPr>
              <a:t>Variable</a:t>
            </a:r>
          </a:p>
        </p:txBody>
      </p:sp>
      <p:sp>
        <p:nvSpPr>
          <p:cNvPr id="19" name="TextBox 18">
            <a:extLst>
              <a:ext uri="{FF2B5EF4-FFF2-40B4-BE49-F238E27FC236}">
                <a16:creationId xmlns:a16="http://schemas.microsoft.com/office/drawing/2014/main" id="{8B55CA72-1F0A-4430-AF2E-4BB4B900C636}"/>
              </a:ext>
            </a:extLst>
          </p:cNvPr>
          <p:cNvSpPr txBox="1"/>
          <p:nvPr/>
        </p:nvSpPr>
        <p:spPr>
          <a:xfrm>
            <a:off x="3898544" y="3912125"/>
            <a:ext cx="1680268" cy="954107"/>
          </a:xfrm>
          <a:prstGeom prst="rect">
            <a:avLst/>
          </a:prstGeom>
          <a:noFill/>
        </p:spPr>
        <p:txBody>
          <a:bodyPr wrap="none" rtlCol="0">
            <a:spAutoFit/>
          </a:bodyPr>
          <a:lstStyle/>
          <a:p>
            <a:pPr algn="ctr"/>
            <a:r>
              <a:rPr lang="en-US" sz="2800">
                <a:latin typeface="UGent Panno Text" panose="02000506040000040003" pitchFamily="2" charset="0"/>
              </a:rPr>
              <a:t>Sample</a:t>
            </a:r>
          </a:p>
          <a:p>
            <a:pPr algn="ctr"/>
            <a:r>
              <a:rPr lang="en-US" sz="2800">
                <a:latin typeface="UGent Panno Text" panose="02000506040000040003" pitchFamily="2" charset="0"/>
              </a:rPr>
              <a:t>Study object</a:t>
            </a:r>
            <a:endParaRPr lang="nl-BE" sz="2800">
              <a:latin typeface="UGent Panno Text" panose="02000506040000040003" pitchFamily="2" charset="0"/>
            </a:endParaRPr>
          </a:p>
        </p:txBody>
      </p:sp>
      <p:sp>
        <p:nvSpPr>
          <p:cNvPr id="20" name="TextBox 19">
            <a:extLst>
              <a:ext uri="{FF2B5EF4-FFF2-40B4-BE49-F238E27FC236}">
                <a16:creationId xmlns:a16="http://schemas.microsoft.com/office/drawing/2014/main" id="{01A542FE-9D3B-4BAF-99FD-B0DAC2D25A91}"/>
              </a:ext>
            </a:extLst>
          </p:cNvPr>
          <p:cNvSpPr txBox="1"/>
          <p:nvPr/>
        </p:nvSpPr>
        <p:spPr>
          <a:xfrm>
            <a:off x="4017092" y="5735229"/>
            <a:ext cx="1443172" cy="954107"/>
          </a:xfrm>
          <a:prstGeom prst="rect">
            <a:avLst/>
          </a:prstGeom>
          <a:noFill/>
        </p:spPr>
        <p:txBody>
          <a:bodyPr wrap="square" rtlCol="0">
            <a:spAutoFit/>
          </a:bodyPr>
          <a:lstStyle/>
          <a:p>
            <a:pPr algn="ctr"/>
            <a:r>
              <a:rPr lang="nl-BE" sz="2800">
                <a:latin typeface="UGent Panno Text" panose="02000506040000040003" pitchFamily="2" charset="0"/>
              </a:rPr>
              <a:t>File or database</a:t>
            </a:r>
          </a:p>
        </p:txBody>
      </p:sp>
      <p:sp>
        <p:nvSpPr>
          <p:cNvPr id="21" name="TextBox 20">
            <a:extLst>
              <a:ext uri="{FF2B5EF4-FFF2-40B4-BE49-F238E27FC236}">
                <a16:creationId xmlns:a16="http://schemas.microsoft.com/office/drawing/2014/main" id="{7E1E5AB1-D494-419C-8B0D-3AD4D9F8FACB}"/>
              </a:ext>
            </a:extLst>
          </p:cNvPr>
          <p:cNvSpPr txBox="1"/>
          <p:nvPr/>
        </p:nvSpPr>
        <p:spPr>
          <a:xfrm>
            <a:off x="4088517" y="7476774"/>
            <a:ext cx="1300322" cy="954107"/>
          </a:xfrm>
          <a:prstGeom prst="rect">
            <a:avLst/>
          </a:prstGeom>
          <a:noFill/>
        </p:spPr>
        <p:txBody>
          <a:bodyPr wrap="square" rtlCol="0">
            <a:spAutoFit/>
          </a:bodyPr>
          <a:lstStyle/>
          <a:p>
            <a:pPr algn="ctr"/>
            <a:r>
              <a:rPr lang="en-US" sz="2800">
                <a:latin typeface="UGent Panno Text" panose="02000506040000040003" pitchFamily="2" charset="0"/>
              </a:rPr>
              <a:t>Project or study</a:t>
            </a:r>
            <a:endParaRPr lang="nl-BE" sz="2800">
              <a:latin typeface="UGent Panno Text" panose="02000506040000040003" pitchFamily="2" charset="0"/>
            </a:endParaRPr>
          </a:p>
        </p:txBody>
      </p:sp>
      <p:pic>
        <p:nvPicPr>
          <p:cNvPr id="30" name="Graphic 29" descr="Workflow">
            <a:extLst>
              <a:ext uri="{FF2B5EF4-FFF2-40B4-BE49-F238E27FC236}">
                <a16:creationId xmlns:a16="http://schemas.microsoft.com/office/drawing/2014/main" id="{7F6CAA81-C5D4-4C2A-84FF-369D4F1B4B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70028" y="7413831"/>
            <a:ext cx="1079934" cy="1079933"/>
          </a:xfrm>
          <a:prstGeom prst="rect">
            <a:avLst/>
          </a:prstGeom>
        </p:spPr>
      </p:pic>
      <p:grpSp>
        <p:nvGrpSpPr>
          <p:cNvPr id="32" name="Group 31">
            <a:extLst>
              <a:ext uri="{FF2B5EF4-FFF2-40B4-BE49-F238E27FC236}">
                <a16:creationId xmlns:a16="http://schemas.microsoft.com/office/drawing/2014/main" id="{B97F7E2D-9857-47B3-AB42-08AD001CB6D1}"/>
              </a:ext>
            </a:extLst>
          </p:cNvPr>
          <p:cNvGrpSpPr/>
          <p:nvPr/>
        </p:nvGrpSpPr>
        <p:grpSpPr>
          <a:xfrm>
            <a:off x="2170037" y="5672285"/>
            <a:ext cx="1079935" cy="1079934"/>
            <a:chOff x="8170623" y="3180995"/>
            <a:chExt cx="813913" cy="817394"/>
          </a:xfrm>
          <a:solidFill>
            <a:schemeClr val="tx2"/>
          </a:solidFill>
        </p:grpSpPr>
        <p:pic>
          <p:nvPicPr>
            <p:cNvPr id="34" name="Graphic 33" descr="Folder">
              <a:extLst>
                <a:ext uri="{FF2B5EF4-FFF2-40B4-BE49-F238E27FC236}">
                  <a16:creationId xmlns:a16="http://schemas.microsoft.com/office/drawing/2014/main" id="{723512CC-4B36-4E1C-AE6B-2EB26E24DFD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22624" y="3180995"/>
              <a:ext cx="288000" cy="287999"/>
            </a:xfrm>
            <a:prstGeom prst="rect">
              <a:avLst/>
            </a:prstGeom>
          </p:spPr>
        </p:pic>
        <p:sp>
          <p:nvSpPr>
            <p:cNvPr id="35" name="Freeform: Shape 34">
              <a:extLst>
                <a:ext uri="{FF2B5EF4-FFF2-40B4-BE49-F238E27FC236}">
                  <a16:creationId xmlns:a16="http://schemas.microsoft.com/office/drawing/2014/main" id="{C93DB6D9-176B-4050-9A9D-8E1A7A6650E9}"/>
                </a:ext>
              </a:extLst>
            </p:cNvPr>
            <p:cNvSpPr/>
            <p:nvPr/>
          </p:nvSpPr>
          <p:spPr>
            <a:xfrm>
              <a:off x="8249432" y="3438506"/>
              <a:ext cx="619125" cy="314325"/>
            </a:xfrm>
            <a:custGeom>
              <a:avLst/>
              <a:gdLst>
                <a:gd name="connsiteX0" fmla="*/ 373856 w 619125"/>
                <a:gd name="connsiteY0" fmla="*/ 140494 h 314325"/>
                <a:gd name="connsiteX1" fmla="*/ 330994 w 619125"/>
                <a:gd name="connsiteY1" fmla="*/ 97631 h 314325"/>
                <a:gd name="connsiteX2" fmla="*/ 330994 w 619125"/>
                <a:gd name="connsiteY2" fmla="*/ 7144 h 314325"/>
                <a:gd name="connsiteX3" fmla="*/ 292894 w 619125"/>
                <a:gd name="connsiteY3" fmla="*/ 7144 h 314325"/>
                <a:gd name="connsiteX4" fmla="*/ 292894 w 619125"/>
                <a:gd name="connsiteY4" fmla="*/ 97631 h 314325"/>
                <a:gd name="connsiteX5" fmla="*/ 250031 w 619125"/>
                <a:gd name="connsiteY5" fmla="*/ 140494 h 314325"/>
                <a:gd name="connsiteX6" fmla="*/ 7144 w 619125"/>
                <a:gd name="connsiteY6" fmla="*/ 140494 h 314325"/>
                <a:gd name="connsiteX7" fmla="*/ 7144 w 619125"/>
                <a:gd name="connsiteY7" fmla="*/ 311944 h 314325"/>
                <a:gd name="connsiteX8" fmla="*/ 45244 w 619125"/>
                <a:gd name="connsiteY8" fmla="*/ 311944 h 314325"/>
                <a:gd name="connsiteX9" fmla="*/ 45244 w 619125"/>
                <a:gd name="connsiteY9" fmla="*/ 178594 h 314325"/>
                <a:gd name="connsiteX10" fmla="*/ 250031 w 619125"/>
                <a:gd name="connsiteY10" fmla="*/ 178594 h 314325"/>
                <a:gd name="connsiteX11" fmla="*/ 292894 w 619125"/>
                <a:gd name="connsiteY11" fmla="*/ 221456 h 314325"/>
                <a:gd name="connsiteX12" fmla="*/ 292894 w 619125"/>
                <a:gd name="connsiteY12" fmla="*/ 311944 h 314325"/>
                <a:gd name="connsiteX13" fmla="*/ 330994 w 619125"/>
                <a:gd name="connsiteY13" fmla="*/ 311944 h 314325"/>
                <a:gd name="connsiteX14" fmla="*/ 330994 w 619125"/>
                <a:gd name="connsiteY14" fmla="*/ 221456 h 314325"/>
                <a:gd name="connsiteX15" fmla="*/ 373856 w 619125"/>
                <a:gd name="connsiteY15" fmla="*/ 178594 h 314325"/>
                <a:gd name="connsiteX16" fmla="*/ 578644 w 619125"/>
                <a:gd name="connsiteY16" fmla="*/ 178594 h 314325"/>
                <a:gd name="connsiteX17" fmla="*/ 578644 w 619125"/>
                <a:gd name="connsiteY17" fmla="*/ 311944 h 314325"/>
                <a:gd name="connsiteX18" fmla="*/ 616744 w 619125"/>
                <a:gd name="connsiteY18" fmla="*/ 311944 h 314325"/>
                <a:gd name="connsiteX19" fmla="*/ 616744 w 619125"/>
                <a:gd name="connsiteY19" fmla="*/ 140494 h 314325"/>
                <a:gd name="connsiteX20" fmla="*/ 311944 w 619125"/>
                <a:gd name="connsiteY20" fmla="*/ 207169 h 314325"/>
                <a:gd name="connsiteX21" fmla="*/ 264319 w 619125"/>
                <a:gd name="connsiteY21" fmla="*/ 159544 h 314325"/>
                <a:gd name="connsiteX22" fmla="*/ 311944 w 619125"/>
                <a:gd name="connsiteY22" fmla="*/ 111919 h 314325"/>
                <a:gd name="connsiteX23" fmla="*/ 359569 w 619125"/>
                <a:gd name="connsiteY23" fmla="*/ 159544 h 314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19125" h="314325">
                  <a:moveTo>
                    <a:pt x="373856" y="140494"/>
                  </a:moveTo>
                  <a:lnTo>
                    <a:pt x="330994" y="97631"/>
                  </a:lnTo>
                  <a:lnTo>
                    <a:pt x="330994" y="7144"/>
                  </a:lnTo>
                  <a:lnTo>
                    <a:pt x="292894" y="7144"/>
                  </a:lnTo>
                  <a:lnTo>
                    <a:pt x="292894" y="97631"/>
                  </a:lnTo>
                  <a:lnTo>
                    <a:pt x="250031" y="140494"/>
                  </a:lnTo>
                  <a:lnTo>
                    <a:pt x="7144" y="140494"/>
                  </a:lnTo>
                  <a:lnTo>
                    <a:pt x="7144" y="311944"/>
                  </a:lnTo>
                  <a:lnTo>
                    <a:pt x="45244" y="311944"/>
                  </a:lnTo>
                  <a:lnTo>
                    <a:pt x="45244" y="178594"/>
                  </a:lnTo>
                  <a:lnTo>
                    <a:pt x="250031" y="178594"/>
                  </a:lnTo>
                  <a:lnTo>
                    <a:pt x="292894" y="221456"/>
                  </a:lnTo>
                  <a:lnTo>
                    <a:pt x="292894" y="311944"/>
                  </a:lnTo>
                  <a:lnTo>
                    <a:pt x="330994" y="311944"/>
                  </a:lnTo>
                  <a:lnTo>
                    <a:pt x="330994" y="221456"/>
                  </a:lnTo>
                  <a:lnTo>
                    <a:pt x="373856" y="178594"/>
                  </a:lnTo>
                  <a:lnTo>
                    <a:pt x="578644" y="178594"/>
                  </a:lnTo>
                  <a:lnTo>
                    <a:pt x="578644" y="311944"/>
                  </a:lnTo>
                  <a:lnTo>
                    <a:pt x="616744" y="311944"/>
                  </a:lnTo>
                  <a:lnTo>
                    <a:pt x="616744" y="140494"/>
                  </a:lnTo>
                  <a:close/>
                  <a:moveTo>
                    <a:pt x="311944" y="207169"/>
                  </a:moveTo>
                  <a:lnTo>
                    <a:pt x="264319" y="159544"/>
                  </a:lnTo>
                  <a:lnTo>
                    <a:pt x="311944" y="111919"/>
                  </a:lnTo>
                  <a:lnTo>
                    <a:pt x="359569" y="159544"/>
                  </a:lnTo>
                  <a:close/>
                </a:path>
              </a:pathLst>
            </a:custGeom>
            <a:grpFill/>
            <a:ln w="9525" cap="flat">
              <a:noFill/>
              <a:prstDash val="solid"/>
              <a:miter/>
            </a:ln>
          </p:spPr>
          <p:txBody>
            <a:bodyPr rtlCol="0" anchor="ctr"/>
            <a:lstStyle/>
            <a:p>
              <a:endParaRPr lang="en-US" sz="3641"/>
            </a:p>
          </p:txBody>
        </p:sp>
        <p:pic>
          <p:nvPicPr>
            <p:cNvPr id="36" name="Graphic 35" descr="Folder">
              <a:extLst>
                <a:ext uri="{FF2B5EF4-FFF2-40B4-BE49-F238E27FC236}">
                  <a16:creationId xmlns:a16="http://schemas.microsoft.com/office/drawing/2014/main" id="{ACC050D2-95DE-4C00-AFF0-C2617D9971D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52486" y="3739946"/>
              <a:ext cx="252001" cy="252000"/>
            </a:xfrm>
            <a:prstGeom prst="rect">
              <a:avLst/>
            </a:prstGeom>
          </p:spPr>
        </p:pic>
        <p:pic>
          <p:nvPicPr>
            <p:cNvPr id="37" name="Graphic 36" descr="Folder">
              <a:extLst>
                <a:ext uri="{FF2B5EF4-FFF2-40B4-BE49-F238E27FC236}">
                  <a16:creationId xmlns:a16="http://schemas.microsoft.com/office/drawing/2014/main" id="{957940E2-E26B-4C1E-978F-F275C6B67C1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70623" y="3739946"/>
              <a:ext cx="252001" cy="252000"/>
            </a:xfrm>
            <a:prstGeom prst="rect">
              <a:avLst/>
            </a:prstGeom>
          </p:spPr>
        </p:pic>
        <p:pic>
          <p:nvPicPr>
            <p:cNvPr id="38" name="Graphic 37" descr="Folder">
              <a:extLst>
                <a:ext uri="{FF2B5EF4-FFF2-40B4-BE49-F238E27FC236}">
                  <a16:creationId xmlns:a16="http://schemas.microsoft.com/office/drawing/2014/main" id="{BDF43C98-D05E-46E4-A69D-0FB48F0AC15B}"/>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32535" y="3746389"/>
              <a:ext cx="252001" cy="252000"/>
            </a:xfrm>
            <a:prstGeom prst="rect">
              <a:avLst/>
            </a:prstGeom>
          </p:spPr>
        </p:pic>
      </p:grpSp>
      <p:pic>
        <p:nvPicPr>
          <p:cNvPr id="39" name="Graphic 38" descr="Table">
            <a:extLst>
              <a:ext uri="{FF2B5EF4-FFF2-40B4-BE49-F238E27FC236}">
                <a16:creationId xmlns:a16="http://schemas.microsoft.com/office/drawing/2014/main" id="{6693705D-E328-4A31-8F58-49F8E2E957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170028" y="2064263"/>
            <a:ext cx="1079934" cy="1079934"/>
          </a:xfrm>
          <a:prstGeom prst="rect">
            <a:avLst/>
          </a:prstGeom>
        </p:spPr>
      </p:pic>
      <p:pic>
        <p:nvPicPr>
          <p:cNvPr id="4" name="Graphic 3" descr="Test tubes with solid fill">
            <a:extLst>
              <a:ext uri="{FF2B5EF4-FFF2-40B4-BE49-F238E27FC236}">
                <a16:creationId xmlns:a16="http://schemas.microsoft.com/office/drawing/2014/main" id="{853300E8-D3A6-4C46-81A4-3F6FFE699A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p:blipFill>
        <p:spPr>
          <a:xfrm>
            <a:off x="2170028" y="3849183"/>
            <a:ext cx="1079934" cy="1079934"/>
          </a:xfrm>
          <a:prstGeom prst="rect">
            <a:avLst/>
          </a:prstGeom>
        </p:spPr>
      </p:pic>
      <p:sp>
        <p:nvSpPr>
          <p:cNvPr id="56" name="TextBox 55">
            <a:extLst>
              <a:ext uri="{FF2B5EF4-FFF2-40B4-BE49-F238E27FC236}">
                <a16:creationId xmlns:a16="http://schemas.microsoft.com/office/drawing/2014/main" id="{0F68A1ED-28AD-4B89-AFF0-099032F63A28}"/>
              </a:ext>
            </a:extLst>
          </p:cNvPr>
          <p:cNvSpPr txBox="1"/>
          <p:nvPr/>
        </p:nvSpPr>
        <p:spPr>
          <a:xfrm>
            <a:off x="11926119" y="1168657"/>
            <a:ext cx="3483937" cy="567784"/>
          </a:xfrm>
          <a:prstGeom prst="rect">
            <a:avLst/>
          </a:prstGeom>
          <a:noFill/>
        </p:spPr>
        <p:txBody>
          <a:bodyPr wrap="square" rtlCol="0">
            <a:spAutoFit/>
          </a:bodyPr>
          <a:lstStyle/>
          <a:p>
            <a:pPr>
              <a:lnSpc>
                <a:spcPct val="120000"/>
              </a:lnSpc>
            </a:pPr>
            <a:r>
              <a:rPr lang="en-US" sz="2800" b="1">
                <a:solidFill>
                  <a:schemeClr val="tx2"/>
                </a:solidFill>
                <a:latin typeface="UGent Panno Text" panose="02000506040000040003" pitchFamily="2" charset="0"/>
              </a:rPr>
              <a:t>WHERE TO DOCUMENT</a:t>
            </a:r>
            <a:endParaRPr lang="nl-BE" sz="2800" b="1">
              <a:solidFill>
                <a:schemeClr val="tx2"/>
              </a:solidFill>
              <a:latin typeface="UGent Panno Text" panose="02000506040000040003" pitchFamily="2" charset="0"/>
            </a:endParaRPr>
          </a:p>
        </p:txBody>
      </p:sp>
      <p:sp>
        <p:nvSpPr>
          <p:cNvPr id="57" name="TextBox 56">
            <a:extLst>
              <a:ext uri="{FF2B5EF4-FFF2-40B4-BE49-F238E27FC236}">
                <a16:creationId xmlns:a16="http://schemas.microsoft.com/office/drawing/2014/main" id="{4967CC75-91F6-4156-A323-FC6BFB53C513}"/>
              </a:ext>
            </a:extLst>
          </p:cNvPr>
          <p:cNvSpPr txBox="1"/>
          <p:nvPr/>
        </p:nvSpPr>
        <p:spPr>
          <a:xfrm>
            <a:off x="11917296" y="2127206"/>
            <a:ext cx="3334567" cy="523220"/>
          </a:xfrm>
          <a:prstGeom prst="rect">
            <a:avLst/>
          </a:prstGeom>
          <a:noFill/>
        </p:spPr>
        <p:txBody>
          <a:bodyPr wrap="none" rtlCol="0">
            <a:spAutoFit/>
          </a:bodyPr>
          <a:lstStyle/>
          <a:p>
            <a:r>
              <a:rPr lang="en-US" sz="2800">
                <a:latin typeface="UGent Panno Text" panose="02000506040000040003" pitchFamily="2" charset="0"/>
              </a:rPr>
              <a:t>Codebook, data dictionary</a:t>
            </a:r>
            <a:endParaRPr lang="en-US" sz="3641">
              <a:latin typeface="UGent Panno Text" panose="02000506040000040003" pitchFamily="2" charset="0"/>
            </a:endParaRPr>
          </a:p>
        </p:txBody>
      </p:sp>
      <p:sp>
        <p:nvSpPr>
          <p:cNvPr id="58" name="TextBox 57">
            <a:extLst>
              <a:ext uri="{FF2B5EF4-FFF2-40B4-BE49-F238E27FC236}">
                <a16:creationId xmlns:a16="http://schemas.microsoft.com/office/drawing/2014/main" id="{2720CC3C-D9CC-4AB8-97FB-8A0AB809294C}"/>
              </a:ext>
            </a:extLst>
          </p:cNvPr>
          <p:cNvSpPr txBox="1"/>
          <p:nvPr/>
        </p:nvSpPr>
        <p:spPr>
          <a:xfrm>
            <a:off x="11920858" y="3912126"/>
            <a:ext cx="4523995" cy="523220"/>
          </a:xfrm>
          <a:prstGeom prst="rect">
            <a:avLst/>
          </a:prstGeom>
          <a:noFill/>
        </p:spPr>
        <p:txBody>
          <a:bodyPr wrap="none" rtlCol="0">
            <a:spAutoFit/>
          </a:bodyPr>
          <a:lstStyle/>
          <a:p>
            <a:r>
              <a:rPr lang="en-US" sz="2800">
                <a:latin typeface="UGent Panno Text" panose="02000506040000040003" pitchFamily="2" charset="0"/>
              </a:rPr>
              <a:t>(Register) table, protocol, notebook</a:t>
            </a:r>
            <a:endParaRPr lang="nl-BE" sz="2800">
              <a:latin typeface="UGent Panno Text" panose="02000506040000040003" pitchFamily="2" charset="0"/>
            </a:endParaRPr>
          </a:p>
        </p:txBody>
      </p:sp>
      <p:sp>
        <p:nvSpPr>
          <p:cNvPr id="59" name="TextBox 58">
            <a:extLst>
              <a:ext uri="{FF2B5EF4-FFF2-40B4-BE49-F238E27FC236}">
                <a16:creationId xmlns:a16="http://schemas.microsoft.com/office/drawing/2014/main" id="{F255D933-9A4A-4C47-BB28-27CA6F8F9EAB}"/>
              </a:ext>
            </a:extLst>
          </p:cNvPr>
          <p:cNvSpPr txBox="1"/>
          <p:nvPr/>
        </p:nvSpPr>
        <p:spPr>
          <a:xfrm>
            <a:off x="11917295" y="5743122"/>
            <a:ext cx="3911273" cy="954107"/>
          </a:xfrm>
          <a:prstGeom prst="rect">
            <a:avLst/>
          </a:prstGeom>
          <a:noFill/>
        </p:spPr>
        <p:txBody>
          <a:bodyPr wrap="square" rtlCol="0">
            <a:spAutoFit/>
          </a:bodyPr>
          <a:lstStyle/>
          <a:p>
            <a:r>
              <a:rPr lang="en-US" sz="2800">
                <a:latin typeface="UGent Panno Text" panose="02000506040000040003" pitchFamily="2" charset="0"/>
              </a:rPr>
              <a:t>Readme, database schema, </a:t>
            </a:r>
          </a:p>
          <a:p>
            <a:r>
              <a:rPr lang="en-US" sz="2800">
                <a:latin typeface="UGent Panno Text" panose="02000506040000040003" pitchFamily="2" charset="0"/>
              </a:rPr>
              <a:t>data listings (qualitative data)</a:t>
            </a:r>
          </a:p>
        </p:txBody>
      </p:sp>
      <p:sp>
        <p:nvSpPr>
          <p:cNvPr id="60" name="TextBox 59">
            <a:extLst>
              <a:ext uri="{FF2B5EF4-FFF2-40B4-BE49-F238E27FC236}">
                <a16:creationId xmlns:a16="http://schemas.microsoft.com/office/drawing/2014/main" id="{BC588DE1-ECFC-4E25-AEB7-30CF1A890458}"/>
              </a:ext>
            </a:extLst>
          </p:cNvPr>
          <p:cNvSpPr txBox="1"/>
          <p:nvPr/>
        </p:nvSpPr>
        <p:spPr>
          <a:xfrm>
            <a:off x="11926117" y="7476774"/>
            <a:ext cx="4804440" cy="1384995"/>
          </a:xfrm>
          <a:prstGeom prst="rect">
            <a:avLst/>
          </a:prstGeom>
          <a:noFill/>
        </p:spPr>
        <p:txBody>
          <a:bodyPr wrap="square" numCol="1" rtlCol="0">
            <a:spAutoFit/>
          </a:bodyPr>
          <a:lstStyle/>
          <a:p>
            <a:r>
              <a:rPr lang="en-US" sz="2800">
                <a:latin typeface="UGent Panno Text" panose="02000506040000040003" pitchFamily="2" charset="0"/>
              </a:rPr>
              <a:t>Notebook (e-, code), document, protocol, readme, data inventory table</a:t>
            </a:r>
            <a:endParaRPr lang="nl-BE" sz="2800">
              <a:latin typeface="UGent Panno Text" panose="02000506040000040003" pitchFamily="2" charset="0"/>
            </a:endParaRPr>
          </a:p>
        </p:txBody>
      </p:sp>
      <p:sp>
        <p:nvSpPr>
          <p:cNvPr id="65" name="TextBox 64">
            <a:extLst>
              <a:ext uri="{FF2B5EF4-FFF2-40B4-BE49-F238E27FC236}">
                <a16:creationId xmlns:a16="http://schemas.microsoft.com/office/drawing/2014/main" id="{40A88F84-68D6-46F6-9498-E241C702EE21}"/>
              </a:ext>
            </a:extLst>
          </p:cNvPr>
          <p:cNvSpPr txBox="1"/>
          <p:nvPr/>
        </p:nvSpPr>
        <p:spPr>
          <a:xfrm>
            <a:off x="1769814" y="1136231"/>
            <a:ext cx="4257561" cy="567784"/>
          </a:xfrm>
          <a:prstGeom prst="rect">
            <a:avLst/>
          </a:prstGeom>
          <a:noFill/>
        </p:spPr>
        <p:txBody>
          <a:bodyPr wrap="square" rtlCol="0">
            <a:spAutoFit/>
          </a:bodyPr>
          <a:lstStyle/>
          <a:p>
            <a:pPr algn="ctr">
              <a:lnSpc>
                <a:spcPct val="120000"/>
              </a:lnSpc>
            </a:pPr>
            <a:r>
              <a:rPr lang="en-US" sz="2800" b="1">
                <a:solidFill>
                  <a:schemeClr val="tx2"/>
                </a:solidFill>
                <a:latin typeface="UGent Panno Text" panose="02000506040000040003" pitchFamily="2" charset="0"/>
              </a:rPr>
              <a:t>DOCUMENTATION LEVEL</a:t>
            </a:r>
            <a:endParaRPr lang="nl-BE" sz="2800" b="1">
              <a:solidFill>
                <a:schemeClr val="tx2"/>
              </a:solidFill>
              <a:latin typeface="UGent Panno Text" panose="02000506040000040003" pitchFamily="2" charset="0"/>
            </a:endParaRPr>
          </a:p>
        </p:txBody>
      </p:sp>
      <p:sp>
        <p:nvSpPr>
          <p:cNvPr id="66" name="TextBox 65">
            <a:extLst>
              <a:ext uri="{FF2B5EF4-FFF2-40B4-BE49-F238E27FC236}">
                <a16:creationId xmlns:a16="http://schemas.microsoft.com/office/drawing/2014/main" id="{63B79952-5F82-442C-8CC0-A7B97F2DB7D7}"/>
              </a:ext>
            </a:extLst>
          </p:cNvPr>
          <p:cNvSpPr txBox="1"/>
          <p:nvPr/>
        </p:nvSpPr>
        <p:spPr>
          <a:xfrm>
            <a:off x="7013995" y="2127206"/>
            <a:ext cx="4004622" cy="954107"/>
          </a:xfrm>
          <a:prstGeom prst="rect">
            <a:avLst/>
          </a:prstGeom>
          <a:noFill/>
        </p:spPr>
        <p:txBody>
          <a:bodyPr wrap="none" rtlCol="0">
            <a:spAutoFit/>
          </a:bodyPr>
          <a:lstStyle/>
          <a:p>
            <a:r>
              <a:rPr lang="en-US" sz="2800">
                <a:latin typeface="UGent Panno Text" panose="02000506040000040003" pitchFamily="2" charset="0"/>
              </a:rPr>
              <a:t>Methods, units, possible values,</a:t>
            </a:r>
          </a:p>
          <a:p>
            <a:r>
              <a:rPr lang="en-US" sz="2800">
                <a:latin typeface="UGent Panno Text" panose="02000506040000040003" pitchFamily="2" charset="0"/>
              </a:rPr>
              <a:t>synonyms, abbreviations</a:t>
            </a:r>
            <a:endParaRPr lang="en-US" sz="3641">
              <a:latin typeface="UGent Panno Text" panose="02000506040000040003" pitchFamily="2" charset="0"/>
            </a:endParaRPr>
          </a:p>
        </p:txBody>
      </p:sp>
      <p:sp>
        <p:nvSpPr>
          <p:cNvPr id="67" name="TextBox 66">
            <a:extLst>
              <a:ext uri="{FF2B5EF4-FFF2-40B4-BE49-F238E27FC236}">
                <a16:creationId xmlns:a16="http://schemas.microsoft.com/office/drawing/2014/main" id="{8D7D8EF2-329C-48DA-BCB1-8ED545C7565D}"/>
              </a:ext>
            </a:extLst>
          </p:cNvPr>
          <p:cNvSpPr txBox="1"/>
          <p:nvPr/>
        </p:nvSpPr>
        <p:spPr>
          <a:xfrm>
            <a:off x="7046677" y="3912125"/>
            <a:ext cx="4224233" cy="954107"/>
          </a:xfrm>
          <a:prstGeom prst="rect">
            <a:avLst/>
          </a:prstGeom>
          <a:noFill/>
        </p:spPr>
        <p:txBody>
          <a:bodyPr wrap="none" rtlCol="0">
            <a:spAutoFit/>
          </a:bodyPr>
          <a:lstStyle/>
          <a:p>
            <a:r>
              <a:rPr lang="en-US" sz="2800">
                <a:latin typeface="UGent Panno Text" panose="02000506040000040003" pitchFamily="2" charset="0"/>
              </a:rPr>
              <a:t>Study object, method, instrument</a:t>
            </a:r>
          </a:p>
          <a:p>
            <a:r>
              <a:rPr lang="en-US" sz="2800">
                <a:latin typeface="UGent Panno Text" panose="02000506040000040003" pitchFamily="2" charset="0"/>
              </a:rPr>
              <a:t>settings, time, place</a:t>
            </a:r>
            <a:endParaRPr lang="nl-BE" sz="2800">
              <a:latin typeface="UGent Panno Text" panose="02000506040000040003" pitchFamily="2" charset="0"/>
            </a:endParaRPr>
          </a:p>
        </p:txBody>
      </p:sp>
      <p:sp>
        <p:nvSpPr>
          <p:cNvPr id="68" name="TextBox 67">
            <a:extLst>
              <a:ext uri="{FF2B5EF4-FFF2-40B4-BE49-F238E27FC236}">
                <a16:creationId xmlns:a16="http://schemas.microsoft.com/office/drawing/2014/main" id="{572EBB57-9A3A-4C53-ACC9-C094AF6F4498}"/>
              </a:ext>
            </a:extLst>
          </p:cNvPr>
          <p:cNvSpPr txBox="1"/>
          <p:nvPr/>
        </p:nvSpPr>
        <p:spPr>
          <a:xfrm>
            <a:off x="7046678" y="5735229"/>
            <a:ext cx="4319736" cy="954107"/>
          </a:xfrm>
          <a:prstGeom prst="rect">
            <a:avLst/>
          </a:prstGeom>
          <a:noFill/>
        </p:spPr>
        <p:txBody>
          <a:bodyPr wrap="square" rtlCol="0">
            <a:spAutoFit/>
          </a:bodyPr>
          <a:lstStyle/>
          <a:p>
            <a:r>
              <a:rPr lang="en-US" sz="2800">
                <a:latin typeface="UGent Panno Text" panose="02000506040000040003" pitchFamily="2" charset="0"/>
              </a:rPr>
              <a:t>File inventory and relations, database structure</a:t>
            </a:r>
          </a:p>
        </p:txBody>
      </p:sp>
      <p:sp>
        <p:nvSpPr>
          <p:cNvPr id="69" name="TextBox 68">
            <a:extLst>
              <a:ext uri="{FF2B5EF4-FFF2-40B4-BE49-F238E27FC236}">
                <a16:creationId xmlns:a16="http://schemas.microsoft.com/office/drawing/2014/main" id="{9BFBCCA5-6BC6-48FA-9042-E61EE0ED003E}"/>
              </a:ext>
            </a:extLst>
          </p:cNvPr>
          <p:cNvSpPr txBox="1"/>
          <p:nvPr/>
        </p:nvSpPr>
        <p:spPr>
          <a:xfrm>
            <a:off x="7051935" y="7476774"/>
            <a:ext cx="4319736" cy="954107"/>
          </a:xfrm>
          <a:prstGeom prst="rect">
            <a:avLst/>
          </a:prstGeom>
          <a:noFill/>
        </p:spPr>
        <p:txBody>
          <a:bodyPr wrap="square" numCol="1" rtlCol="0">
            <a:spAutoFit/>
          </a:bodyPr>
          <a:lstStyle/>
          <a:p>
            <a:r>
              <a:rPr lang="en-US" sz="2800">
                <a:latin typeface="UGent Panno Text" panose="02000506040000040003" pitchFamily="2" charset="0"/>
              </a:rPr>
              <a:t>Subject, grant, contributors, methods, process, workflow </a:t>
            </a:r>
            <a:endParaRPr lang="nl-BE" sz="2800">
              <a:latin typeface="UGent Panno Text" panose="02000506040000040003" pitchFamily="2" charset="0"/>
            </a:endParaRPr>
          </a:p>
        </p:txBody>
      </p:sp>
      <p:sp>
        <p:nvSpPr>
          <p:cNvPr id="74" name="TextBox 73">
            <a:extLst>
              <a:ext uri="{FF2B5EF4-FFF2-40B4-BE49-F238E27FC236}">
                <a16:creationId xmlns:a16="http://schemas.microsoft.com/office/drawing/2014/main" id="{DD08B373-6897-424B-929F-1C5312A6F413}"/>
              </a:ext>
            </a:extLst>
          </p:cNvPr>
          <p:cNvSpPr txBox="1"/>
          <p:nvPr/>
        </p:nvSpPr>
        <p:spPr>
          <a:xfrm>
            <a:off x="7046676" y="1134784"/>
            <a:ext cx="3328406" cy="567784"/>
          </a:xfrm>
          <a:prstGeom prst="rect">
            <a:avLst/>
          </a:prstGeom>
          <a:noFill/>
        </p:spPr>
        <p:txBody>
          <a:bodyPr wrap="square" rtlCol="0">
            <a:spAutoFit/>
          </a:bodyPr>
          <a:lstStyle/>
          <a:p>
            <a:pPr>
              <a:lnSpc>
                <a:spcPct val="120000"/>
              </a:lnSpc>
            </a:pPr>
            <a:r>
              <a:rPr lang="en-US" sz="2800" b="1">
                <a:solidFill>
                  <a:schemeClr val="tx2"/>
                </a:solidFill>
                <a:latin typeface="UGent Panno Text" panose="02000506040000040003" pitchFamily="2" charset="0"/>
              </a:rPr>
              <a:t>WHAT TO DOCUMENT</a:t>
            </a:r>
            <a:endParaRPr lang="nl-BE" sz="2800" b="1">
              <a:solidFill>
                <a:schemeClr val="tx2"/>
              </a:solidFill>
              <a:latin typeface="UGent Panno Text" panose="02000506040000040003" pitchFamily="2" charset="0"/>
            </a:endParaRPr>
          </a:p>
        </p:txBody>
      </p:sp>
      <p:sp>
        <p:nvSpPr>
          <p:cNvPr id="5" name="Rectangle 4">
            <a:extLst>
              <a:ext uri="{FF2B5EF4-FFF2-40B4-BE49-F238E27FC236}">
                <a16:creationId xmlns:a16="http://schemas.microsoft.com/office/drawing/2014/main" id="{3D76D51E-6DFA-B045-48D2-6EA9EDE66873}"/>
              </a:ext>
            </a:extLst>
          </p:cNvPr>
          <p:cNvSpPr/>
          <p:nvPr/>
        </p:nvSpPr>
        <p:spPr>
          <a:xfrm>
            <a:off x="3947813" y="9043793"/>
            <a:ext cx="10802508" cy="486287"/>
          </a:xfrm>
          <a:prstGeom prst="rect">
            <a:avLst/>
          </a:prstGeom>
        </p:spPr>
        <p:txBody>
          <a:bodyPr wrap="square">
            <a:spAutoFit/>
          </a:bodyPr>
          <a:lstStyle/>
          <a:p>
            <a:r>
              <a:rPr lang="en-GB">
                <a:latin typeface="UGent Panno Text" panose="02000506040000040003" pitchFamily="2" charset="0"/>
                <a:hlinkClick r:id="rId10"/>
              </a:rPr>
              <a:t>https://www.ugent.be/en/research/datamanagement/during-research/documentation.htm</a:t>
            </a:r>
            <a:r>
              <a:rPr lang="en-GB">
                <a:latin typeface="UGent Panno Text" panose="02000506040000040003" pitchFamily="2" charset="0"/>
              </a:rPr>
              <a:t> </a:t>
            </a:r>
          </a:p>
        </p:txBody>
      </p:sp>
    </p:spTree>
    <p:extLst>
      <p:ext uri="{BB962C8B-B14F-4D97-AF65-F5344CB8AC3E}">
        <p14:creationId xmlns:p14="http://schemas.microsoft.com/office/powerpoint/2010/main" val="197901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134BD-3B35-42D5-A33D-341D6E69BDBD}"/>
              </a:ext>
            </a:extLst>
          </p:cNvPr>
          <p:cNvSpPr>
            <a:spLocks noGrp="1"/>
          </p:cNvSpPr>
          <p:nvPr>
            <p:ph type="title"/>
          </p:nvPr>
        </p:nvSpPr>
        <p:spPr/>
        <p:txBody>
          <a:bodyPr/>
          <a:lstStyle/>
          <a:p>
            <a:r>
              <a:rPr lang="nl-BE" err="1">
                <a:latin typeface="UGent Panno Text" panose="02000506040000040003" pitchFamily="2" charset="0"/>
              </a:rPr>
              <a:t>Codebook</a:t>
            </a:r>
            <a:r>
              <a:rPr lang="nl-BE">
                <a:latin typeface="UGent Panno Text" panose="02000506040000040003" pitchFamily="2" charset="0"/>
              </a:rPr>
              <a:t> </a:t>
            </a:r>
            <a:r>
              <a:rPr lang="nl-BE" err="1">
                <a:latin typeface="UGent Panno Text" panose="02000506040000040003" pitchFamily="2" charset="0"/>
              </a:rPr>
              <a:t>example</a:t>
            </a:r>
            <a:endParaRPr lang="en-GB">
              <a:latin typeface="UGent Panno Text" panose="02000506040000040003" pitchFamily="2" charset="0"/>
            </a:endParaRPr>
          </a:p>
        </p:txBody>
      </p:sp>
      <p:sp>
        <p:nvSpPr>
          <p:cNvPr id="3" name="Content Placeholder 2">
            <a:extLst>
              <a:ext uri="{FF2B5EF4-FFF2-40B4-BE49-F238E27FC236}">
                <a16:creationId xmlns:a16="http://schemas.microsoft.com/office/drawing/2014/main" id="{DC31511A-2D78-4767-9852-904E34439124}"/>
              </a:ext>
            </a:extLst>
          </p:cNvPr>
          <p:cNvSpPr>
            <a:spLocks noGrp="1"/>
          </p:cNvSpPr>
          <p:nvPr>
            <p:ph idx="1"/>
          </p:nvPr>
        </p:nvSpPr>
        <p:spPr/>
        <p:txBody>
          <a:bodyPr vert="horz" lIns="91440" tIns="45720" rIns="91440" bIns="45720" rtlCol="0" anchor="t">
            <a:normAutofit/>
          </a:bodyPr>
          <a:lstStyle/>
          <a:p>
            <a:r>
              <a:rPr lang="nl-BE" sz="3950" dirty="0">
                <a:latin typeface="UGent Panno Text"/>
              </a:rPr>
              <a:t>Covid data: </a:t>
            </a:r>
            <a:r>
              <a:rPr lang="nl-BE" sz="3950" dirty="0">
                <a:latin typeface="UGent Panno Text"/>
                <a:hlinkClick r:id="rId2"/>
              </a:rPr>
              <a:t>https://epistat.wiv-isp.be/covid/</a:t>
            </a:r>
            <a:endParaRPr lang="en-GB" sz="3950" dirty="0">
              <a:latin typeface="UGent Panno Text"/>
              <a:hlinkClick r:id="" action="ppaction://noaction"/>
            </a:endParaRPr>
          </a:p>
          <a:p>
            <a:r>
              <a:rPr lang="en-GB" sz="3950" dirty="0">
                <a:latin typeface="UGent Panno Text"/>
                <a:hlinkClick r:id="rId3"/>
              </a:rPr>
              <a:t>https://epistat.sciensano.be/docs/COVID19BE_codebook.pdf</a:t>
            </a:r>
            <a:r>
              <a:rPr lang="en-GB" sz="3950" dirty="0">
                <a:latin typeface="UGent Panno Text"/>
                <a:hlinkClick r:id="" action="ppaction://noaction"/>
              </a:rPr>
              <a:t> </a:t>
            </a:r>
            <a:endParaRPr lang="en-GB" sz="3950" dirty="0">
              <a:latin typeface="UGent Panno Text"/>
            </a:endParaRPr>
          </a:p>
        </p:txBody>
      </p:sp>
      <p:sp>
        <p:nvSpPr>
          <p:cNvPr id="4" name="Slide Number Placeholder 3">
            <a:extLst>
              <a:ext uri="{FF2B5EF4-FFF2-40B4-BE49-F238E27FC236}">
                <a16:creationId xmlns:a16="http://schemas.microsoft.com/office/drawing/2014/main" id="{C566D564-4943-4BBA-AD5D-6C0C8EC40E42}"/>
              </a:ext>
            </a:extLst>
          </p:cNvPr>
          <p:cNvSpPr>
            <a:spLocks noGrp="1"/>
          </p:cNvSpPr>
          <p:nvPr>
            <p:ph type="sldNum" sz="quarter" idx="12"/>
          </p:nvPr>
        </p:nvSpPr>
        <p:spPr/>
        <p:txBody>
          <a:bodyPr/>
          <a:lstStyle/>
          <a:p>
            <a:fld id="{7AE184E0-0BD4-4705-A12B-9B71DDE63301}" type="slidenum">
              <a:rPr lang="nl-BE" smtClean="0">
                <a:latin typeface="UGent Panno Text" panose="02000506040000040003" pitchFamily="2" charset="0"/>
              </a:rPr>
              <a:pPr/>
              <a:t>5</a:t>
            </a:fld>
            <a:endParaRPr lang="nl-BE">
              <a:latin typeface="UGent Panno Text" panose="02000506040000040003" pitchFamily="2" charset="0"/>
            </a:endParaRPr>
          </a:p>
        </p:txBody>
      </p:sp>
      <p:pic>
        <p:nvPicPr>
          <p:cNvPr id="5" name="Picture 4">
            <a:extLst>
              <a:ext uri="{FF2B5EF4-FFF2-40B4-BE49-F238E27FC236}">
                <a16:creationId xmlns:a16="http://schemas.microsoft.com/office/drawing/2014/main" id="{F62C0EA7-754B-42C9-A099-ECC7C098C1D1}"/>
              </a:ext>
            </a:extLst>
          </p:cNvPr>
          <p:cNvPicPr>
            <a:picLocks noChangeAspect="1"/>
          </p:cNvPicPr>
          <p:nvPr/>
        </p:nvPicPr>
        <p:blipFill>
          <a:blip r:embed="rId4"/>
          <a:stretch>
            <a:fillRect/>
          </a:stretch>
        </p:blipFill>
        <p:spPr>
          <a:xfrm>
            <a:off x="2858578" y="3269464"/>
            <a:ext cx="11648363" cy="5805982"/>
          </a:xfrm>
          <a:prstGeom prst="rect">
            <a:avLst/>
          </a:prstGeom>
        </p:spPr>
      </p:pic>
    </p:spTree>
    <p:extLst>
      <p:ext uri="{BB962C8B-B14F-4D97-AF65-F5344CB8AC3E}">
        <p14:creationId xmlns:p14="http://schemas.microsoft.com/office/powerpoint/2010/main" val="1951157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6CD04-17A9-0F52-BD99-ADEA67191FD3}"/>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9BC51CEE-BE93-8A06-51E6-B60A3483BF37}"/>
              </a:ext>
            </a:extLst>
          </p:cNvPr>
          <p:cNvSpPr/>
          <p:nvPr/>
        </p:nvSpPr>
        <p:spPr>
          <a:xfrm>
            <a:off x="25741" y="9094326"/>
            <a:ext cx="1184683" cy="6830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endParaRPr lang="en-BE" sz="3641"/>
          </a:p>
        </p:txBody>
      </p:sp>
      <p:sp>
        <p:nvSpPr>
          <p:cNvPr id="3" name="Content Placeholder 2">
            <a:extLst>
              <a:ext uri="{FF2B5EF4-FFF2-40B4-BE49-F238E27FC236}">
                <a16:creationId xmlns:a16="http://schemas.microsoft.com/office/drawing/2014/main" id="{CDE2D5AD-5528-88F4-220D-E4CF5508D191}"/>
              </a:ext>
            </a:extLst>
          </p:cNvPr>
          <p:cNvSpPr>
            <a:spLocks noGrp="1"/>
          </p:cNvSpPr>
          <p:nvPr>
            <p:ph sz="quarter" idx="10"/>
          </p:nvPr>
        </p:nvSpPr>
        <p:spPr>
          <a:xfrm>
            <a:off x="9124849" y="632438"/>
            <a:ext cx="7029143" cy="8601608"/>
          </a:xfrm>
        </p:spPr>
        <p:txBody>
          <a:bodyPr lIns="91440" tIns="45720" rIns="91440" bIns="45720" anchor="t"/>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r>
              <a:rPr lang="en-US" sz="3400" dirty="0">
                <a:solidFill>
                  <a:schemeClr val="bg1"/>
                </a:solidFill>
              </a:rPr>
              <a:t>Originally Dutch (</a:t>
            </a:r>
            <a:r>
              <a:rPr lang="en-US" sz="3400" err="1">
                <a:solidFill>
                  <a:schemeClr val="bg1"/>
                </a:solidFill>
              </a:rPr>
              <a:t>eLabNext</a:t>
            </a:r>
            <a:r>
              <a:rPr lang="en-US" sz="3400" dirty="0">
                <a:solidFill>
                  <a:schemeClr val="bg1"/>
                </a:solidFill>
              </a:rPr>
              <a:t> merged with </a:t>
            </a:r>
            <a:r>
              <a:rPr lang="en-US" sz="3400" err="1">
                <a:solidFill>
                  <a:schemeClr val="bg1"/>
                </a:solidFill>
              </a:rPr>
              <a:t>SciShield</a:t>
            </a:r>
            <a:r>
              <a:rPr lang="en-US" sz="3400" dirty="0">
                <a:solidFill>
                  <a:schemeClr val="bg1"/>
                </a:solidFill>
              </a:rPr>
              <a:t> to form </a:t>
            </a:r>
            <a:r>
              <a:rPr lang="en-US" sz="3400" err="1">
                <a:solidFill>
                  <a:schemeClr val="bg1"/>
                </a:solidFill>
              </a:rPr>
              <a:t>SciSure</a:t>
            </a:r>
            <a:r>
              <a:rPr lang="en-US" sz="3400" dirty="0">
                <a:solidFill>
                  <a:schemeClr val="bg1"/>
                </a:solidFill>
              </a:rPr>
              <a:t>)</a:t>
            </a:r>
          </a:p>
          <a:p>
            <a:r>
              <a:rPr lang="en-US" sz="3400" dirty="0">
                <a:solidFill>
                  <a:schemeClr val="bg1"/>
                </a:solidFill>
                <a:hlinkClick r:id="rId4">
                  <a:extLst>
                    <a:ext uri="{A12FA001-AC4F-418D-AE19-62706E023703}">
                      <ahyp:hlinkClr xmlns:ahyp="http://schemas.microsoft.com/office/drawing/2018/hyperlinkcolor" val="tx"/>
                    </a:ext>
                  </a:extLst>
                </a:hlinkClick>
              </a:rPr>
              <a:t>SciSure</a:t>
            </a:r>
            <a:r>
              <a:rPr lang="en-US" sz="3400" dirty="0">
                <a:solidFill>
                  <a:schemeClr val="bg1"/>
                </a:solidFill>
              </a:rPr>
              <a:t> is the world’s first Scientific Management Platform (SMP)</a:t>
            </a:r>
          </a:p>
          <a:p>
            <a:r>
              <a:rPr lang="en-US" sz="3400" dirty="0">
                <a:solidFill>
                  <a:schemeClr val="bg1"/>
                </a:solidFill>
              </a:rPr>
              <a:t>Created by scientists, for scientists (our input is taken by the company to update their services)</a:t>
            </a:r>
          </a:p>
          <a:p>
            <a:r>
              <a:rPr lang="en-US" sz="3400" dirty="0">
                <a:solidFill>
                  <a:schemeClr val="bg1"/>
                </a:solidFill>
              </a:rPr>
              <a:t>Support over 800 organizations with more than 550,000 users globally.</a:t>
            </a:r>
            <a:endParaRPr lang="en-BE" sz="3400" dirty="0">
              <a:solidFill>
                <a:schemeClr val="bg1"/>
              </a:solidFill>
            </a:endParaRPr>
          </a:p>
        </p:txBody>
      </p:sp>
      <p:pic>
        <p:nvPicPr>
          <p:cNvPr id="7" name="Picture 6">
            <a:extLst>
              <a:ext uri="{FF2B5EF4-FFF2-40B4-BE49-F238E27FC236}">
                <a16:creationId xmlns:a16="http://schemas.microsoft.com/office/drawing/2014/main" id="{42661D24-DB89-2106-1C5C-772A2821E284}"/>
              </a:ext>
            </a:extLst>
          </p:cNvPr>
          <p:cNvPicPr>
            <a:picLocks noChangeAspect="1"/>
          </p:cNvPicPr>
          <p:nvPr/>
        </p:nvPicPr>
        <p:blipFill>
          <a:blip r:embed="rId5"/>
          <a:srcRect l="1418" t="775" r="83662" b="72869"/>
          <a:stretch>
            <a:fillRect/>
          </a:stretch>
        </p:blipFill>
        <p:spPr>
          <a:xfrm>
            <a:off x="1375641" y="3222262"/>
            <a:ext cx="2069258" cy="888465"/>
          </a:xfrm>
          <a:prstGeom prst="rect">
            <a:avLst/>
          </a:prstGeom>
        </p:spPr>
      </p:pic>
      <p:pic>
        <p:nvPicPr>
          <p:cNvPr id="12" name="Picture 11">
            <a:extLst>
              <a:ext uri="{FF2B5EF4-FFF2-40B4-BE49-F238E27FC236}">
                <a16:creationId xmlns:a16="http://schemas.microsoft.com/office/drawing/2014/main" id="{01B347F0-F5ED-7D7E-5C36-944462F17A9C}"/>
              </a:ext>
            </a:extLst>
          </p:cNvPr>
          <p:cNvPicPr>
            <a:picLocks noChangeAspect="1"/>
          </p:cNvPicPr>
          <p:nvPr/>
        </p:nvPicPr>
        <p:blipFill>
          <a:blip r:embed="rId5"/>
          <a:srcRect t="58672" r="82862" b="14972"/>
          <a:stretch>
            <a:fillRect/>
          </a:stretch>
        </p:blipFill>
        <p:spPr>
          <a:xfrm>
            <a:off x="1221825" y="5140270"/>
            <a:ext cx="2376893" cy="888465"/>
          </a:xfrm>
          <a:prstGeom prst="rect">
            <a:avLst/>
          </a:prstGeom>
        </p:spPr>
      </p:pic>
      <p:pic>
        <p:nvPicPr>
          <p:cNvPr id="13" name="Picture 12">
            <a:extLst>
              <a:ext uri="{FF2B5EF4-FFF2-40B4-BE49-F238E27FC236}">
                <a16:creationId xmlns:a16="http://schemas.microsoft.com/office/drawing/2014/main" id="{9FEF1113-A25B-3E73-F102-1BEF94F28F0A}"/>
              </a:ext>
            </a:extLst>
          </p:cNvPr>
          <p:cNvPicPr>
            <a:picLocks noChangeAspect="1"/>
          </p:cNvPicPr>
          <p:nvPr/>
        </p:nvPicPr>
        <p:blipFill>
          <a:blip r:embed="rId5"/>
          <a:srcRect l="62436" t="58817" r="19334" b="14827"/>
          <a:stretch>
            <a:fillRect/>
          </a:stretch>
        </p:blipFill>
        <p:spPr>
          <a:xfrm>
            <a:off x="4437773" y="8488685"/>
            <a:ext cx="2528304" cy="888465"/>
          </a:xfrm>
          <a:prstGeom prst="rect">
            <a:avLst/>
          </a:prstGeom>
        </p:spPr>
      </p:pic>
      <p:pic>
        <p:nvPicPr>
          <p:cNvPr id="1026" name="Picture 2" descr="Registration Now Open for Memorial Sloan-Kettering Cancer Center's ...">
            <a:extLst>
              <a:ext uri="{FF2B5EF4-FFF2-40B4-BE49-F238E27FC236}">
                <a16:creationId xmlns:a16="http://schemas.microsoft.com/office/drawing/2014/main" id="{75CA5759-11E2-BB93-B891-4E3C77691D8C}"/>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8939" y="5403293"/>
            <a:ext cx="2465971" cy="81203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619E2A8-90E6-1636-6EB9-87123D2B1D81}"/>
              </a:ext>
            </a:extLst>
          </p:cNvPr>
          <p:cNvPicPr>
            <a:picLocks noChangeAspect="1"/>
          </p:cNvPicPr>
          <p:nvPr/>
        </p:nvPicPr>
        <p:blipFill>
          <a:blip r:embed="rId5">
            <a:clrChange>
              <a:clrFrom>
                <a:srgbClr val="FFFFFF"/>
              </a:clrFrom>
              <a:clrTo>
                <a:srgbClr val="FFFFFF">
                  <a:alpha val="0"/>
                </a:srgbClr>
              </a:clrTo>
            </a:clrChange>
          </a:blip>
          <a:srcRect l="41869" t="774" r="40993" b="72870"/>
          <a:stretch>
            <a:fillRect/>
          </a:stretch>
        </p:blipFill>
        <p:spPr>
          <a:xfrm>
            <a:off x="1221825" y="6276767"/>
            <a:ext cx="2376893" cy="888465"/>
          </a:xfrm>
          <a:prstGeom prst="rect">
            <a:avLst/>
          </a:prstGeom>
        </p:spPr>
      </p:pic>
      <p:pic>
        <p:nvPicPr>
          <p:cNvPr id="1028" name="Picture 4" descr="NIH Logo, symbol, meaning, history, PNG, brand">
            <a:extLst>
              <a:ext uri="{FF2B5EF4-FFF2-40B4-BE49-F238E27FC236}">
                <a16:creationId xmlns:a16="http://schemas.microsoft.com/office/drawing/2014/main" id="{51AE2F39-B12E-C359-819C-49A0274E69CB}"/>
              </a:ext>
            </a:extLst>
          </p:cNvPr>
          <p:cNvPicPr>
            <a:picLocks noChangeAspect="1" noChangeArrowheads="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31151" b="28947"/>
          <a:stretch>
            <a:fillRect/>
          </a:stretch>
        </p:blipFill>
        <p:spPr bwMode="auto">
          <a:xfrm>
            <a:off x="4513479" y="7682083"/>
            <a:ext cx="2376892" cy="5334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Centre for Cancer Biology - Centre for Cancer Biology">
            <a:extLst>
              <a:ext uri="{FF2B5EF4-FFF2-40B4-BE49-F238E27FC236}">
                <a16:creationId xmlns:a16="http://schemas.microsoft.com/office/drawing/2014/main" id="{004EC607-771F-5B10-9E42-49EBB69F16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3402" y="7413265"/>
            <a:ext cx="2613737" cy="82647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oehringer Ingelheim logo | Thames Valley Chamber of Commerce">
            <a:extLst>
              <a:ext uri="{FF2B5EF4-FFF2-40B4-BE49-F238E27FC236}">
                <a16:creationId xmlns:a16="http://schemas.microsoft.com/office/drawing/2014/main" id="{E9474B2E-F644-6532-CDBF-46648A01D20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46921" y="4383850"/>
            <a:ext cx="3110008" cy="74632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MS Logo (Bristol Myers Squibb Logo), symbol, meaning, history, PNG, brand">
            <a:extLst>
              <a:ext uri="{FF2B5EF4-FFF2-40B4-BE49-F238E27FC236}">
                <a16:creationId xmlns:a16="http://schemas.microsoft.com/office/drawing/2014/main" id="{D9931FA3-1182-65A6-38D9-68A0BBB174E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83695" y="6488452"/>
            <a:ext cx="1636460" cy="92050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anofi logo in transparent PNG and vectorized SVG formats">
            <a:extLst>
              <a:ext uri="{FF2B5EF4-FFF2-40B4-BE49-F238E27FC236}">
                <a16:creationId xmlns:a16="http://schemas.microsoft.com/office/drawing/2014/main" id="{7DE3EE74-58F3-EE73-CDD7-7D3931BE91B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5643" y="4358759"/>
            <a:ext cx="2069257" cy="5334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6" descr="eLabNext and SciShield merge to create SciSure | Kimi Brown, ARM, NRCC ...">
            <a:extLst>
              <a:ext uri="{FF2B5EF4-FFF2-40B4-BE49-F238E27FC236}">
                <a16:creationId xmlns:a16="http://schemas.microsoft.com/office/drawing/2014/main" id="{3307D52E-34AD-A734-9CC1-722DE87898BE}"/>
              </a:ext>
            </a:extLst>
          </p:cNvPr>
          <p:cNvPicPr>
            <a:picLocks noChangeAspect="1" noChangeArrowheads="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24511" t="53775" r="26099" b="23726"/>
          <a:stretch>
            <a:fillRect/>
          </a:stretch>
        </p:blipFill>
        <p:spPr bwMode="auto">
          <a:xfrm>
            <a:off x="311697" y="399505"/>
            <a:ext cx="7439891" cy="177360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eLabNext and SciShield merge to create SciSure | Kimi Brown, ARM, NRCC ...">
            <a:extLst>
              <a:ext uri="{FF2B5EF4-FFF2-40B4-BE49-F238E27FC236}">
                <a16:creationId xmlns:a16="http://schemas.microsoft.com/office/drawing/2014/main" id="{42BE273E-8AE0-FB59-C74C-C2B0AE0D3E3B}"/>
              </a:ext>
            </a:extLst>
          </p:cNvPr>
          <p:cNvPicPr>
            <a:picLocks noChangeAspect="1" noChangeArrowheads="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24406" t="26537" r="26204" b="61448"/>
          <a:stretch>
            <a:fillRect/>
          </a:stretch>
        </p:blipFill>
        <p:spPr bwMode="auto">
          <a:xfrm>
            <a:off x="1604411" y="2055822"/>
            <a:ext cx="4854462" cy="61804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E80BAD99-3B2D-6E37-6890-ACC358C0ED1F}"/>
              </a:ext>
            </a:extLst>
          </p:cNvPr>
          <p:cNvPicPr>
            <a:picLocks noChangeAspect="1"/>
          </p:cNvPicPr>
          <p:nvPr/>
        </p:nvPicPr>
        <p:blipFill>
          <a:blip r:embed="rId5"/>
          <a:srcRect l="22509" t="775" r="62571" b="72869"/>
          <a:stretch>
            <a:fillRect/>
          </a:stretch>
        </p:blipFill>
        <p:spPr>
          <a:xfrm>
            <a:off x="4667296" y="3222262"/>
            <a:ext cx="2069258" cy="888465"/>
          </a:xfrm>
          <a:prstGeom prst="rect">
            <a:avLst/>
          </a:prstGeom>
        </p:spPr>
      </p:pic>
      <p:pic>
        <p:nvPicPr>
          <p:cNvPr id="18" name="Picture 17">
            <a:extLst>
              <a:ext uri="{FF2B5EF4-FFF2-40B4-BE49-F238E27FC236}">
                <a16:creationId xmlns:a16="http://schemas.microsoft.com/office/drawing/2014/main" id="{95E6CD1E-7C53-2F74-C86D-B3103A7371F5}"/>
              </a:ext>
            </a:extLst>
          </p:cNvPr>
          <p:cNvPicPr>
            <a:picLocks noChangeAspect="1"/>
          </p:cNvPicPr>
          <p:nvPr/>
        </p:nvPicPr>
        <p:blipFill>
          <a:blip r:embed="rId5"/>
          <a:srcRect l="63527" t="774" r="19334" b="72870"/>
          <a:stretch>
            <a:fillRect/>
          </a:stretch>
        </p:blipFill>
        <p:spPr>
          <a:xfrm>
            <a:off x="1221825" y="8487774"/>
            <a:ext cx="2376893" cy="888465"/>
          </a:xfrm>
          <a:prstGeom prst="rect">
            <a:avLst/>
          </a:prstGeom>
        </p:spPr>
      </p:pic>
      <p:cxnSp>
        <p:nvCxnSpPr>
          <p:cNvPr id="6" name="Straight Connector 5">
            <a:extLst>
              <a:ext uri="{FF2B5EF4-FFF2-40B4-BE49-F238E27FC236}">
                <a16:creationId xmlns:a16="http://schemas.microsoft.com/office/drawing/2014/main" id="{A4D1B8C1-275D-4F2C-E503-742D9ADA76F3}"/>
              </a:ext>
            </a:extLst>
          </p:cNvPr>
          <p:cNvCxnSpPr/>
          <p:nvPr/>
        </p:nvCxnSpPr>
        <p:spPr>
          <a:xfrm>
            <a:off x="1103402" y="3061657"/>
            <a:ext cx="6046506" cy="0"/>
          </a:xfrm>
          <a:prstGeom prst="line">
            <a:avLst/>
          </a:prstGeom>
          <a:ln w="3175">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854377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4ECE-1578-2E8F-AEAA-8546603D327D}"/>
              </a:ext>
            </a:extLst>
          </p:cNvPr>
          <p:cNvSpPr>
            <a:spLocks noGrp="1"/>
          </p:cNvSpPr>
          <p:nvPr>
            <p:ph type="title"/>
          </p:nvPr>
        </p:nvSpPr>
        <p:spPr>
          <a:xfrm>
            <a:off x="1192033" y="519556"/>
            <a:ext cx="15180010" cy="1885130"/>
          </a:xfrm>
        </p:spPr>
        <p:txBody>
          <a:bodyPr>
            <a:normAutofit/>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r>
              <a:rPr lang="en-US" sz="4800" dirty="0">
                <a:solidFill>
                  <a:schemeClr val="tx2"/>
                </a:solidFill>
              </a:rPr>
              <a:t>The platform in 3 key modules</a:t>
            </a:r>
          </a:p>
        </p:txBody>
      </p:sp>
      <p:grpSp>
        <p:nvGrpSpPr>
          <p:cNvPr id="10" name="Group 9">
            <a:extLst>
              <a:ext uri="{FF2B5EF4-FFF2-40B4-BE49-F238E27FC236}">
                <a16:creationId xmlns:a16="http://schemas.microsoft.com/office/drawing/2014/main" id="{05232C56-F500-505C-A36F-B86287721655}"/>
              </a:ext>
            </a:extLst>
          </p:cNvPr>
          <p:cNvGrpSpPr/>
          <p:nvPr/>
        </p:nvGrpSpPr>
        <p:grpSpPr>
          <a:xfrm>
            <a:off x="4347340" y="2404685"/>
            <a:ext cx="8643996" cy="5099698"/>
            <a:chOff x="3102117" y="1690688"/>
            <a:chExt cx="6078181" cy="3585944"/>
          </a:xfrm>
        </p:grpSpPr>
        <p:pic>
          <p:nvPicPr>
            <p:cNvPr id="5" name="Picture 6" descr="eLabNext – Lab Innovations UK">
              <a:extLst>
                <a:ext uri="{FF2B5EF4-FFF2-40B4-BE49-F238E27FC236}">
                  <a16:creationId xmlns:a16="http://schemas.microsoft.com/office/drawing/2014/main" id="{2CEDB486-6572-23E7-6FBD-DCAF00A879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3174" r="72117" b="22624"/>
            <a:stretch>
              <a:fillRect/>
            </a:stretch>
          </p:blipFill>
          <p:spPr bwMode="auto">
            <a:xfrm>
              <a:off x="5244305" y="2770077"/>
              <a:ext cx="1851956" cy="20240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028A7FF-DD69-EFFA-2DED-1313A2158230}"/>
                </a:ext>
              </a:extLst>
            </p:cNvPr>
            <p:cNvSpPr txBox="1"/>
            <p:nvPr/>
          </p:nvSpPr>
          <p:spPr>
            <a:xfrm>
              <a:off x="5205882" y="1690688"/>
              <a:ext cx="1780235"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r>
                <a:rPr lang="en-US" sz="5120">
                  <a:solidFill>
                    <a:schemeClr val="bg1"/>
                  </a:solidFill>
                </a:rPr>
                <a:t>Journal</a:t>
              </a:r>
              <a:endParaRPr lang="en-BE" sz="5120">
                <a:solidFill>
                  <a:schemeClr val="bg1"/>
                </a:solidFill>
              </a:endParaRPr>
            </a:p>
          </p:txBody>
        </p:sp>
        <p:sp>
          <p:nvSpPr>
            <p:cNvPr id="7" name="TextBox 6">
              <a:extLst>
                <a:ext uri="{FF2B5EF4-FFF2-40B4-BE49-F238E27FC236}">
                  <a16:creationId xmlns:a16="http://schemas.microsoft.com/office/drawing/2014/main" id="{8CE2AD30-1449-D4C3-4D2B-DE15C2329E37}"/>
                </a:ext>
              </a:extLst>
            </p:cNvPr>
            <p:cNvSpPr txBox="1"/>
            <p:nvPr/>
          </p:nvSpPr>
          <p:spPr>
            <a:xfrm>
              <a:off x="6986117" y="4561543"/>
              <a:ext cx="2194181"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r>
                <a:rPr lang="en-US" sz="5120">
                  <a:solidFill>
                    <a:schemeClr val="bg1"/>
                  </a:solidFill>
                </a:rPr>
                <a:t>Inventory</a:t>
              </a:r>
              <a:endParaRPr lang="en-BE" sz="5120">
                <a:solidFill>
                  <a:schemeClr val="bg1"/>
                </a:solidFill>
              </a:endParaRPr>
            </a:p>
          </p:txBody>
        </p:sp>
        <p:sp>
          <p:nvSpPr>
            <p:cNvPr id="8" name="TextBox 7">
              <a:extLst>
                <a:ext uri="{FF2B5EF4-FFF2-40B4-BE49-F238E27FC236}">
                  <a16:creationId xmlns:a16="http://schemas.microsoft.com/office/drawing/2014/main" id="{5A5773D3-431B-8045-A5AB-30F1DD775F6F}"/>
                </a:ext>
              </a:extLst>
            </p:cNvPr>
            <p:cNvSpPr txBox="1"/>
            <p:nvPr/>
          </p:nvSpPr>
          <p:spPr>
            <a:xfrm>
              <a:off x="3102117" y="4561543"/>
              <a:ext cx="2142188" cy="715089"/>
            </a:xfrm>
            <a:prstGeom prst="roundRect">
              <a:avLst/>
            </a:prstGeom>
            <a:solidFill>
              <a:schemeClr val="accent1"/>
            </a:solidFill>
          </p:spPr>
          <p:style>
            <a:lnRef idx="2">
              <a:schemeClr val="accent1"/>
            </a:lnRef>
            <a:fillRef idx="1">
              <a:schemeClr val="lt1"/>
            </a:fillRef>
            <a:effectRef idx="0">
              <a:schemeClr val="accent1"/>
            </a:effectRef>
            <a:fontRef idx="minor">
              <a:schemeClr val="dk1"/>
            </a:fontRef>
          </p:style>
          <p:txBody>
            <a:bodyPr wrap="none" rtlCol="0">
              <a:spAutoFit/>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r>
                <a:rPr lang="en-US" sz="5120">
                  <a:solidFill>
                    <a:schemeClr val="bg1"/>
                  </a:solidFill>
                </a:rPr>
                <a:t>Protocols</a:t>
              </a:r>
              <a:endParaRPr lang="en-BE" sz="5120">
                <a:solidFill>
                  <a:schemeClr val="bg1"/>
                </a:solidFill>
              </a:endParaRPr>
            </a:p>
          </p:txBody>
        </p:sp>
      </p:grpSp>
      <p:sp>
        <p:nvSpPr>
          <p:cNvPr id="3" name="TextBox 2">
            <a:extLst>
              <a:ext uri="{FF2B5EF4-FFF2-40B4-BE49-F238E27FC236}">
                <a16:creationId xmlns:a16="http://schemas.microsoft.com/office/drawing/2014/main" id="{6ABF2ECB-C45D-CFDD-1574-591CA3789186}"/>
              </a:ext>
            </a:extLst>
          </p:cNvPr>
          <p:cNvSpPr txBox="1"/>
          <p:nvPr/>
        </p:nvSpPr>
        <p:spPr>
          <a:xfrm>
            <a:off x="3244302" y="9250913"/>
            <a:ext cx="10850283" cy="48474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550" dirty="0">
                <a:ea typeface="+mn-lt"/>
                <a:cs typeface="+mn-lt"/>
                <a:hlinkClick r:id="rId3"/>
              </a:rPr>
              <a:t>VIB Training &amp; Conferences - Events</a:t>
            </a:r>
            <a:endParaRPr lang="en-US"/>
          </a:p>
        </p:txBody>
      </p:sp>
    </p:spTree>
    <p:extLst>
      <p:ext uri="{BB962C8B-B14F-4D97-AF65-F5344CB8AC3E}">
        <p14:creationId xmlns:p14="http://schemas.microsoft.com/office/powerpoint/2010/main" val="2615162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42AD8C-5BF3-9EBC-6E7B-CFF2AACF59E8}"/>
              </a:ext>
            </a:extLst>
          </p:cNvPr>
          <p:cNvSpPr/>
          <p:nvPr/>
        </p:nvSpPr>
        <p:spPr>
          <a:xfrm>
            <a:off x="6096503" y="298"/>
            <a:ext cx="11242172" cy="9753005"/>
          </a:xfrm>
          <a:prstGeom prst="rect">
            <a:avLst/>
          </a:prstGeom>
          <a:solidFill>
            <a:schemeClr val="bg1"/>
          </a:solidFill>
          <a:ln>
            <a:solidFill>
              <a:schemeClr val="bg1"/>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BE"/>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endParaRPr lang="en-BE" sz="3641"/>
          </a:p>
        </p:txBody>
      </p:sp>
      <p:sp>
        <p:nvSpPr>
          <p:cNvPr id="2" name="Title 1">
            <a:extLst>
              <a:ext uri="{FF2B5EF4-FFF2-40B4-BE49-F238E27FC236}">
                <a16:creationId xmlns:a16="http://schemas.microsoft.com/office/drawing/2014/main" id="{855B01CA-6F2B-BA05-26D6-FE657167FD2B}"/>
              </a:ext>
            </a:extLst>
          </p:cNvPr>
          <p:cNvSpPr>
            <a:spLocks noGrp="1"/>
          </p:cNvSpPr>
          <p:nvPr>
            <p:ph type="title"/>
          </p:nvPr>
        </p:nvSpPr>
        <p:spPr>
          <a:xfrm>
            <a:off x="223724" y="2041788"/>
            <a:ext cx="5467277" cy="5005841"/>
          </a:xfrm>
        </p:spPr>
        <p:txBody>
          <a:bodyPr>
            <a:noAutofit/>
          </a:bodyPr>
          <a:lstStyle>
            <a:defPPr>
              <a:defRPr lang="en-BE"/>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r>
              <a:rPr lang="en-US" sz="3413" b="0" dirty="0"/>
              <a:t>Structured documentation platform, with different access rights and embedded versioning at all levels</a:t>
            </a:r>
            <a:endParaRPr lang="en-BE" sz="3413" b="0" dirty="0"/>
          </a:p>
        </p:txBody>
      </p:sp>
      <p:grpSp>
        <p:nvGrpSpPr>
          <p:cNvPr id="10" name="Group 9">
            <a:extLst>
              <a:ext uri="{FF2B5EF4-FFF2-40B4-BE49-F238E27FC236}">
                <a16:creationId xmlns:a16="http://schemas.microsoft.com/office/drawing/2014/main" id="{1B192A95-0DE7-24F5-4E78-067808BB3B8F}"/>
              </a:ext>
            </a:extLst>
          </p:cNvPr>
          <p:cNvGrpSpPr/>
          <p:nvPr/>
        </p:nvGrpSpPr>
        <p:grpSpPr>
          <a:xfrm>
            <a:off x="6252681" y="1067289"/>
            <a:ext cx="11085994" cy="7006184"/>
            <a:chOff x="2912014" y="724092"/>
            <a:chExt cx="9279985" cy="5864813"/>
          </a:xfrm>
        </p:grpSpPr>
        <p:pic>
          <p:nvPicPr>
            <p:cNvPr id="7" name="Picture 6">
              <a:extLst>
                <a:ext uri="{FF2B5EF4-FFF2-40B4-BE49-F238E27FC236}">
                  <a16:creationId xmlns:a16="http://schemas.microsoft.com/office/drawing/2014/main" id="{F3AAE158-FC55-3068-E3FE-639D98BA856D}"/>
                </a:ext>
              </a:extLst>
            </p:cNvPr>
            <p:cNvPicPr>
              <a:picLocks noChangeAspect="1"/>
            </p:cNvPicPr>
            <p:nvPr/>
          </p:nvPicPr>
          <p:blipFill>
            <a:blip r:embed="rId2"/>
            <a:stretch>
              <a:fillRect/>
            </a:stretch>
          </p:blipFill>
          <p:spPr>
            <a:xfrm>
              <a:off x="2912014" y="1778558"/>
              <a:ext cx="9279985" cy="4810347"/>
            </a:xfrm>
            <a:prstGeom prst="rect">
              <a:avLst/>
            </a:prstGeom>
          </p:spPr>
        </p:pic>
        <p:pic>
          <p:nvPicPr>
            <p:cNvPr id="9" name="Picture 8">
              <a:extLst>
                <a:ext uri="{FF2B5EF4-FFF2-40B4-BE49-F238E27FC236}">
                  <a16:creationId xmlns:a16="http://schemas.microsoft.com/office/drawing/2014/main" id="{A8897839-8B41-8318-2490-9D48950D7499}"/>
                </a:ext>
              </a:extLst>
            </p:cNvPr>
            <p:cNvPicPr>
              <a:picLocks noChangeAspect="1"/>
            </p:cNvPicPr>
            <p:nvPr/>
          </p:nvPicPr>
          <p:blipFill>
            <a:blip r:embed="rId3"/>
            <a:stretch>
              <a:fillRect/>
            </a:stretch>
          </p:blipFill>
          <p:spPr>
            <a:xfrm>
              <a:off x="2912014" y="724092"/>
              <a:ext cx="9206298" cy="1054466"/>
            </a:xfrm>
            <a:prstGeom prst="rect">
              <a:avLst/>
            </a:prstGeom>
          </p:spPr>
        </p:pic>
      </p:grpSp>
      <p:sp>
        <p:nvSpPr>
          <p:cNvPr id="3" name="Rectangle 2">
            <a:extLst>
              <a:ext uri="{FF2B5EF4-FFF2-40B4-BE49-F238E27FC236}">
                <a16:creationId xmlns:a16="http://schemas.microsoft.com/office/drawing/2014/main" id="{5A8F24D4-8A45-3E49-C438-13634EFEBF93}"/>
              </a:ext>
            </a:extLst>
          </p:cNvPr>
          <p:cNvSpPr/>
          <p:nvPr/>
        </p:nvSpPr>
        <p:spPr>
          <a:xfrm>
            <a:off x="16003030" y="3097746"/>
            <a:ext cx="1136239" cy="13156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0E302D5-6E8C-C277-C0EA-E58EA8868A57}"/>
              </a:ext>
            </a:extLst>
          </p:cNvPr>
          <p:cNvSpPr/>
          <p:nvPr/>
        </p:nvSpPr>
        <p:spPr>
          <a:xfrm>
            <a:off x="16004232" y="3314160"/>
            <a:ext cx="1136239" cy="13156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7558CB8-59B1-1F05-F883-980B0C1A2284}"/>
              </a:ext>
            </a:extLst>
          </p:cNvPr>
          <p:cNvSpPr/>
          <p:nvPr/>
        </p:nvSpPr>
        <p:spPr>
          <a:xfrm>
            <a:off x="14384059" y="3453361"/>
            <a:ext cx="1136239" cy="13156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EF6952E-3878-1A83-23D8-FD9A8F906A65}"/>
              </a:ext>
            </a:extLst>
          </p:cNvPr>
          <p:cNvSpPr/>
          <p:nvPr/>
        </p:nvSpPr>
        <p:spPr>
          <a:xfrm>
            <a:off x="12840995" y="5831742"/>
            <a:ext cx="1136239" cy="13156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1601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B62D8-BC37-8C4F-79E4-FB6049A5768E}"/>
              </a:ext>
            </a:extLst>
          </p:cNvPr>
          <p:cNvSpPr>
            <a:spLocks noGrp="1"/>
          </p:cNvSpPr>
          <p:nvPr>
            <p:ph type="title"/>
          </p:nvPr>
        </p:nvSpPr>
        <p:spPr/>
        <p:txBody>
          <a:bodyPr/>
          <a:lstStyle/>
          <a:p>
            <a:r>
              <a:rPr lang="en-GB" sz="4800">
                <a:latin typeface="UGent Panno Text" panose="02000506040000040003" pitchFamily="2" charset="0"/>
              </a:rPr>
              <a:t>Electronic lab notebook (ELN): </a:t>
            </a:r>
            <a:r>
              <a:rPr lang="en-US" sz="5333" err="1">
                <a:latin typeface="UGent Panno Text" panose="02000506040000040003" pitchFamily="2" charset="0"/>
                <a:cs typeface="Arial"/>
              </a:rPr>
              <a:t>RSpace</a:t>
            </a:r>
            <a:endParaRPr lang="en-US">
              <a:latin typeface="UGent Panno Text" panose="02000506040000040003" pitchFamily="2" charset="0"/>
            </a:endParaRPr>
          </a:p>
        </p:txBody>
      </p:sp>
      <p:sp>
        <p:nvSpPr>
          <p:cNvPr id="3" name="Content Placeholder 2">
            <a:extLst>
              <a:ext uri="{FF2B5EF4-FFF2-40B4-BE49-F238E27FC236}">
                <a16:creationId xmlns:a16="http://schemas.microsoft.com/office/drawing/2014/main" id="{14003097-5B77-14B0-F7CF-F214E084317F}"/>
              </a:ext>
            </a:extLst>
          </p:cNvPr>
          <p:cNvSpPr>
            <a:spLocks noGrp="1"/>
          </p:cNvSpPr>
          <p:nvPr>
            <p:ph idx="1"/>
          </p:nvPr>
        </p:nvSpPr>
        <p:spPr>
          <a:xfrm>
            <a:off x="835825" y="1194363"/>
            <a:ext cx="9327093" cy="7553851"/>
          </a:xfrm>
        </p:spPr>
        <p:txBody>
          <a:bodyPr vert="horz" lIns="130040" tIns="65020" rIns="130040" bIns="65020" rtlCol="0" anchor="t">
            <a:normAutofit lnSpcReduction="10000"/>
          </a:bodyPr>
          <a:lstStyle/>
          <a:p>
            <a:pPr marL="535305" indent="-449580"/>
            <a:r>
              <a:rPr lang="en-US" sz="3200">
                <a:latin typeface="UGent Panno Text" panose="02000506040000040003" pitchFamily="2" charset="0"/>
                <a:cs typeface="Arial"/>
              </a:rPr>
              <a:t>Flexible note keeping tool, incl. API</a:t>
            </a:r>
            <a:endParaRPr lang="en-US"/>
          </a:p>
          <a:p>
            <a:pPr marL="535305" indent="-449580"/>
            <a:r>
              <a:rPr lang="en-US" sz="3200">
                <a:latin typeface="UGent Panno Text" panose="02000506040000040003" pitchFamily="2" charset="0"/>
                <a:cs typeface="Arial"/>
              </a:rPr>
              <a:t>Suitable for multiple disciplines</a:t>
            </a:r>
            <a:endParaRPr lang="en-US" sz="3200">
              <a:cs typeface="Arial"/>
            </a:endParaRPr>
          </a:p>
          <a:p>
            <a:pPr marL="535305" indent="-449580"/>
            <a:r>
              <a:rPr lang="en-US" sz="3200">
                <a:latin typeface="UGent Panno Text" panose="02000506040000040003" pitchFamily="2" charset="0"/>
                <a:cs typeface="Arial"/>
              </a:rPr>
              <a:t>Integrated inventory management</a:t>
            </a:r>
          </a:p>
          <a:p>
            <a:pPr marL="535305" indent="-449580"/>
            <a:r>
              <a:rPr lang="en-US" sz="3200">
                <a:cs typeface="Arial"/>
                <a:hlinkClick r:id="rId4"/>
              </a:rPr>
              <a:t>https://onderzoektips.ugent.be/en/tips/00002245/</a:t>
            </a:r>
            <a:r>
              <a:rPr lang="en-US" sz="3200">
                <a:cs typeface="Arial"/>
              </a:rPr>
              <a:t> </a:t>
            </a:r>
          </a:p>
          <a:p>
            <a:pPr marL="535305" indent="-449580"/>
            <a:endParaRPr lang="en-US" sz="3200">
              <a:cs typeface="Arial"/>
            </a:endParaRPr>
          </a:p>
          <a:p>
            <a:pPr marL="86360" indent="0">
              <a:lnSpc>
                <a:spcPct val="120000"/>
              </a:lnSpc>
              <a:buNone/>
            </a:pPr>
            <a:r>
              <a:rPr lang="en-GB" sz="3200" b="1">
                <a:latin typeface="UGent Panno Text" panose="02000506040000040003" pitchFamily="2" charset="0"/>
              </a:rPr>
              <a:t>UGent setup</a:t>
            </a:r>
            <a:endParaRPr lang="en-GB" sz="3200" b="1"/>
          </a:p>
          <a:p>
            <a:pPr marL="457200" indent="-457200">
              <a:lnSpc>
                <a:spcPct val="120000"/>
              </a:lnSpc>
              <a:buFontTx/>
              <a:buChar char="-"/>
            </a:pPr>
            <a:r>
              <a:rPr lang="en-GB" sz="3200">
                <a:latin typeface="UGent Panno Text" panose="02000506040000040003" pitchFamily="2" charset="0"/>
              </a:rPr>
              <a:t>access anywhere via browser</a:t>
            </a:r>
          </a:p>
          <a:p>
            <a:pPr marL="457200" indent="-457200">
              <a:lnSpc>
                <a:spcPct val="120000"/>
              </a:lnSpc>
              <a:buFontTx/>
              <a:buChar char="-"/>
            </a:pPr>
            <a:r>
              <a:rPr lang="en-GB" sz="3200">
                <a:latin typeface="UGent Panno Text" panose="02000506040000040003" pitchFamily="2" charset="0"/>
              </a:rPr>
              <a:t>login via single sign-on</a:t>
            </a:r>
          </a:p>
          <a:p>
            <a:pPr marL="457200" indent="-457200">
              <a:lnSpc>
                <a:spcPct val="120000"/>
              </a:lnSpc>
              <a:buFontTx/>
              <a:buChar char="-"/>
            </a:pPr>
            <a:r>
              <a:rPr lang="en-GB" sz="3200">
                <a:latin typeface="UGent Panno Text" panose="02000506040000040003" pitchFamily="2" charset="0"/>
              </a:rPr>
              <a:t>no cost for researchers</a:t>
            </a:r>
          </a:p>
          <a:p>
            <a:pPr marL="457200" indent="-457200">
              <a:lnSpc>
                <a:spcPct val="120000"/>
              </a:lnSpc>
              <a:buFontTx/>
              <a:buChar char="-"/>
            </a:pPr>
            <a:r>
              <a:rPr lang="en-GB" sz="3200">
                <a:latin typeface="UGent Panno Text" panose="02000506040000040003" pitchFamily="2" charset="0"/>
              </a:rPr>
              <a:t>Legal, IT security and privacy requirements covered (</a:t>
            </a:r>
            <a:r>
              <a:rPr lang="en-US" sz="3200">
                <a:latin typeface="UGent Panno Text" panose="02000506040000040003" pitchFamily="2" charset="0"/>
                <a:cs typeface="Arial"/>
              </a:rPr>
              <a:t>Compliance GDPR, 21 CFR part 11, SOC 2 Type II...)</a:t>
            </a:r>
          </a:p>
          <a:p>
            <a:pPr marL="535305" indent="-449580"/>
            <a:endParaRPr lang="en-US" sz="3200">
              <a:cs typeface="Arial"/>
            </a:endParaRPr>
          </a:p>
          <a:p>
            <a:pPr marL="535305" indent="-449580"/>
            <a:endParaRPr lang="en-US" sz="3200">
              <a:cs typeface="Arial"/>
            </a:endParaRPr>
          </a:p>
        </p:txBody>
      </p:sp>
      <p:sp>
        <p:nvSpPr>
          <p:cNvPr id="4" name="Slide Number Placeholder 3">
            <a:extLst>
              <a:ext uri="{FF2B5EF4-FFF2-40B4-BE49-F238E27FC236}">
                <a16:creationId xmlns:a16="http://schemas.microsoft.com/office/drawing/2014/main" id="{C67176EA-750F-CAF0-AFB2-220DC9CB41C1}"/>
              </a:ext>
            </a:extLst>
          </p:cNvPr>
          <p:cNvSpPr>
            <a:spLocks noGrp="1"/>
          </p:cNvSpPr>
          <p:nvPr>
            <p:ph type="sldNum" sz="quarter" idx="12"/>
          </p:nvPr>
        </p:nvSpPr>
        <p:spPr/>
        <p:txBody>
          <a:bodyPr/>
          <a:lstStyle/>
          <a:p>
            <a:fld id="{5B0BF23A-3FC4-4355-98EE-5E2FEA3B42B5}" type="slidenum">
              <a:rPr lang="nl-BE" smtClean="0"/>
              <a:t>9</a:t>
            </a:fld>
            <a:endParaRPr lang="nl-BE"/>
          </a:p>
        </p:txBody>
      </p:sp>
      <p:pic>
        <p:nvPicPr>
          <p:cNvPr id="7" name="Picture 6">
            <a:extLst>
              <a:ext uri="{FF2B5EF4-FFF2-40B4-BE49-F238E27FC236}">
                <a16:creationId xmlns:a16="http://schemas.microsoft.com/office/drawing/2014/main" id="{6DEF8DA3-A6EA-95A1-40AA-3BBC30FA0767}"/>
              </a:ext>
            </a:extLst>
          </p:cNvPr>
          <p:cNvPicPr>
            <a:picLocks noChangeAspect="1"/>
          </p:cNvPicPr>
          <p:nvPr/>
        </p:nvPicPr>
        <p:blipFill>
          <a:blip r:embed="rId5"/>
          <a:stretch>
            <a:fillRect/>
          </a:stretch>
        </p:blipFill>
        <p:spPr>
          <a:xfrm>
            <a:off x="10453606" y="943203"/>
            <a:ext cx="6594382" cy="4375566"/>
          </a:xfrm>
          <a:prstGeom prst="rect">
            <a:avLst/>
          </a:prstGeom>
        </p:spPr>
      </p:pic>
      <p:pic>
        <p:nvPicPr>
          <p:cNvPr id="13" name="Picture 12">
            <a:extLst>
              <a:ext uri="{FF2B5EF4-FFF2-40B4-BE49-F238E27FC236}">
                <a16:creationId xmlns:a16="http://schemas.microsoft.com/office/drawing/2014/main" id="{368CB60F-3232-0342-A1E2-08755CCFAB80}"/>
              </a:ext>
            </a:extLst>
          </p:cNvPr>
          <p:cNvPicPr>
            <a:picLocks noChangeAspect="1"/>
          </p:cNvPicPr>
          <p:nvPr/>
        </p:nvPicPr>
        <p:blipFill>
          <a:blip r:embed="rId6"/>
          <a:stretch>
            <a:fillRect/>
          </a:stretch>
        </p:blipFill>
        <p:spPr>
          <a:xfrm>
            <a:off x="8721052" y="5579543"/>
            <a:ext cx="8326936" cy="4056263"/>
          </a:xfrm>
          <a:prstGeom prst="rect">
            <a:avLst/>
          </a:prstGeom>
        </p:spPr>
      </p:pic>
      <p:pic>
        <p:nvPicPr>
          <p:cNvPr id="3074" name="Picture 2" descr="RSpace notebooks | The University of Edinburgh">
            <a:extLst>
              <a:ext uri="{FF2B5EF4-FFF2-40B4-BE49-F238E27FC236}">
                <a16:creationId xmlns:a16="http://schemas.microsoft.com/office/drawing/2014/main" id="{E158C0FD-0357-98CA-51C0-164E2B8F5E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34809" y="98989"/>
            <a:ext cx="3203866" cy="1023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379374"/>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4"/>
          <p:cNvSpPr txBox="1">
            <a:spLocks noGrp="1"/>
          </p:cNvSpPr>
          <p:nvPr>
            <p:ph type="title"/>
          </p:nvPr>
        </p:nvSpPr>
        <p:spPr>
          <a:xfrm>
            <a:off x="797568" y="846338"/>
            <a:ext cx="15705282" cy="863693"/>
          </a:xfrm>
          <a:prstGeom prst="rect">
            <a:avLst/>
          </a:prstGeom>
        </p:spPr>
        <p:txBody>
          <a:bodyPr spcFirstLastPara="1" vert="horz" wrap="square" lIns="173358" tIns="173358" rIns="173358" bIns="173358" rtlCol="0" anchor="ctr" anchorCtr="0">
            <a:noAutofit/>
          </a:bodyPr>
          <a:lstStyle/>
          <a:p>
            <a:pPr>
              <a:lnSpc>
                <a:spcPct val="115000"/>
              </a:lnSpc>
              <a:spcAft>
                <a:spcPts val="3033"/>
              </a:spcAft>
            </a:pPr>
            <a:r>
              <a:rPr lang="nl">
                <a:solidFill>
                  <a:schemeClr val="tx2"/>
                </a:solidFill>
              </a:rPr>
              <a:t>REDCAP: data collection and management</a:t>
            </a:r>
            <a:br>
              <a:rPr lang="nl">
                <a:solidFill>
                  <a:schemeClr val="tx2"/>
                </a:solidFill>
              </a:rPr>
            </a:br>
            <a:r>
              <a:rPr lang="nl">
                <a:solidFill>
                  <a:schemeClr val="tx2"/>
                </a:solidFill>
              </a:rPr>
              <a:t>Instrument / Form and Survey</a:t>
            </a:r>
            <a:endParaRPr>
              <a:solidFill>
                <a:schemeClr val="tx2"/>
              </a:solidFill>
            </a:endParaRPr>
          </a:p>
        </p:txBody>
      </p:sp>
      <p:pic>
        <p:nvPicPr>
          <p:cNvPr id="287" name="Google Shape;287;p34"/>
          <p:cNvPicPr preferRelativeResize="0"/>
          <p:nvPr/>
        </p:nvPicPr>
        <p:blipFill>
          <a:blip r:embed="rId4">
            <a:alphaModFix/>
          </a:blip>
          <a:stretch>
            <a:fillRect/>
          </a:stretch>
        </p:blipFill>
        <p:spPr>
          <a:xfrm>
            <a:off x="11818215" y="3739486"/>
            <a:ext cx="5520460" cy="5489299"/>
          </a:xfrm>
          <a:prstGeom prst="rect">
            <a:avLst/>
          </a:prstGeom>
          <a:noFill/>
          <a:ln>
            <a:noFill/>
          </a:ln>
          <a:effectLst>
            <a:outerShdw blurRad="57150" dist="19050" dir="5400000" algn="bl" rotWithShape="0">
              <a:srgbClr val="000000">
                <a:alpha val="50000"/>
              </a:srgbClr>
            </a:outerShdw>
          </a:effectLst>
        </p:spPr>
      </p:pic>
      <p:sp>
        <p:nvSpPr>
          <p:cNvPr id="304" name="Google Shape;304;p34"/>
          <p:cNvSpPr txBox="1"/>
          <p:nvPr/>
        </p:nvSpPr>
        <p:spPr>
          <a:xfrm>
            <a:off x="13602291" y="2884998"/>
            <a:ext cx="1952308" cy="1052949"/>
          </a:xfrm>
          <a:prstGeom prst="rect">
            <a:avLst/>
          </a:prstGeom>
          <a:noFill/>
          <a:ln>
            <a:noFill/>
          </a:ln>
          <a:effectLst>
            <a:outerShdw blurRad="57150" dist="19050" dir="5400000" algn="bl" rotWithShape="0">
              <a:srgbClr val="000000">
                <a:alpha val="50000"/>
              </a:srgbClr>
            </a:outerShdw>
          </a:effectLst>
        </p:spPr>
        <p:txBody>
          <a:bodyPr spcFirstLastPara="1" wrap="square" lIns="173358" tIns="173358" rIns="173358" bIns="173358" anchor="t" anchorCtr="0">
            <a:noAutofit/>
          </a:bodyPr>
          <a:lstStyle/>
          <a:p>
            <a:pPr algn="ctr" defTabSz="1733782">
              <a:buClr>
                <a:srgbClr val="000000"/>
              </a:buClr>
            </a:pPr>
            <a:r>
              <a:rPr lang="nl" sz="3793" kern="0">
                <a:solidFill>
                  <a:srgbClr val="000000"/>
                </a:solidFill>
                <a:latin typeface="UGent Panno Text" panose="02000506040000040003" pitchFamily="2" charset="0"/>
                <a:cs typeface="Arial"/>
                <a:sym typeface="Arial"/>
              </a:rPr>
              <a:t>Survey</a:t>
            </a:r>
            <a:endParaRPr sz="3793" kern="0">
              <a:solidFill>
                <a:srgbClr val="000000"/>
              </a:solidFill>
              <a:latin typeface="UGent Panno Text" panose="02000506040000040003" pitchFamily="2" charset="0"/>
              <a:cs typeface="Arial"/>
              <a:sym typeface="Arial"/>
            </a:endParaRPr>
          </a:p>
        </p:txBody>
      </p:sp>
      <p:pic>
        <p:nvPicPr>
          <p:cNvPr id="3" name="Google Shape;173;p24">
            <a:extLst>
              <a:ext uri="{FF2B5EF4-FFF2-40B4-BE49-F238E27FC236}">
                <a16:creationId xmlns:a16="http://schemas.microsoft.com/office/drawing/2014/main" id="{4E78101A-C022-10BD-B05E-6F8D8DEC3485}"/>
              </a:ext>
            </a:extLst>
          </p:cNvPr>
          <p:cNvPicPr preferRelativeResize="0"/>
          <p:nvPr/>
        </p:nvPicPr>
        <p:blipFill>
          <a:blip r:embed="rId5">
            <a:alphaModFix/>
          </a:blip>
          <a:stretch>
            <a:fillRect/>
          </a:stretch>
        </p:blipFill>
        <p:spPr>
          <a:xfrm>
            <a:off x="310767" y="2132150"/>
            <a:ext cx="8222435" cy="5489300"/>
          </a:xfrm>
          <a:prstGeom prst="rect">
            <a:avLst/>
          </a:prstGeom>
          <a:noFill/>
          <a:ln>
            <a:noFill/>
          </a:ln>
          <a:effectLst>
            <a:outerShdw blurRad="57150" dist="19050" dir="5400000" algn="bl" rotWithShape="0">
              <a:srgbClr val="000000">
                <a:alpha val="50000"/>
              </a:srgbClr>
            </a:outerShdw>
          </a:effectLst>
        </p:spPr>
      </p:pic>
      <p:pic>
        <p:nvPicPr>
          <p:cNvPr id="5" name="Google Shape;712;p85">
            <a:extLst>
              <a:ext uri="{FF2B5EF4-FFF2-40B4-BE49-F238E27FC236}">
                <a16:creationId xmlns:a16="http://schemas.microsoft.com/office/drawing/2014/main" id="{577768B9-22F7-2770-9630-9E79B3690158}"/>
              </a:ext>
            </a:extLst>
          </p:cNvPr>
          <p:cNvPicPr preferRelativeResize="0"/>
          <p:nvPr/>
        </p:nvPicPr>
        <p:blipFill>
          <a:blip r:embed="rId6">
            <a:alphaModFix/>
          </a:blip>
          <a:srcRect l="1147" r="81816" b="94801"/>
          <a:stretch/>
        </p:blipFill>
        <p:spPr>
          <a:xfrm>
            <a:off x="13727977" y="333326"/>
            <a:ext cx="3018117" cy="863693"/>
          </a:xfrm>
          <a:prstGeom prst="rect">
            <a:avLst/>
          </a:prstGeom>
          <a:noFill/>
          <a:ln>
            <a:noFill/>
          </a:ln>
        </p:spPr>
      </p:pic>
      <p:grpSp>
        <p:nvGrpSpPr>
          <p:cNvPr id="282" name="Google Shape;282;p34"/>
          <p:cNvGrpSpPr/>
          <p:nvPr/>
        </p:nvGrpSpPr>
        <p:grpSpPr>
          <a:xfrm>
            <a:off x="6496334" y="3739487"/>
            <a:ext cx="5157294" cy="5476923"/>
            <a:chOff x="540600" y="753150"/>
            <a:chExt cx="3495400" cy="3569051"/>
          </a:xfrm>
        </p:grpSpPr>
        <p:pic>
          <p:nvPicPr>
            <p:cNvPr id="283" name="Google Shape;283;p34"/>
            <p:cNvPicPr preferRelativeResize="0"/>
            <p:nvPr/>
          </p:nvPicPr>
          <p:blipFill rotWithShape="1">
            <a:blip r:embed="rId7">
              <a:alphaModFix/>
            </a:blip>
            <a:srcRect l="2070" t="9748" r="2537" b="78371"/>
            <a:stretch/>
          </p:blipFill>
          <p:spPr>
            <a:xfrm>
              <a:off x="540600" y="753150"/>
              <a:ext cx="3495400" cy="550500"/>
            </a:xfrm>
            <a:prstGeom prst="rect">
              <a:avLst/>
            </a:prstGeom>
            <a:noFill/>
            <a:ln>
              <a:noFill/>
            </a:ln>
            <a:effectLst>
              <a:outerShdw blurRad="57150" dist="19050" dir="5400000" algn="bl" rotWithShape="0">
                <a:srgbClr val="000000">
                  <a:alpha val="50000"/>
                </a:srgbClr>
              </a:outerShdw>
            </a:effectLst>
          </p:spPr>
        </p:pic>
        <p:pic>
          <p:nvPicPr>
            <p:cNvPr id="284" name="Google Shape;284;p34"/>
            <p:cNvPicPr preferRelativeResize="0"/>
            <p:nvPr/>
          </p:nvPicPr>
          <p:blipFill rotWithShape="1">
            <a:blip r:embed="rId7">
              <a:alphaModFix/>
            </a:blip>
            <a:srcRect l="2070" t="33930" r="2537" b="1142"/>
            <a:stretch/>
          </p:blipFill>
          <p:spPr>
            <a:xfrm>
              <a:off x="540600" y="1313575"/>
              <a:ext cx="3495400" cy="3008626"/>
            </a:xfrm>
            <a:prstGeom prst="rect">
              <a:avLst/>
            </a:prstGeom>
            <a:noFill/>
            <a:ln>
              <a:noFill/>
            </a:ln>
            <a:effectLst>
              <a:outerShdw blurRad="57150" dist="19050" dir="5400000" algn="bl" rotWithShape="0">
                <a:srgbClr val="000000">
                  <a:alpha val="50000"/>
                </a:srgbClr>
              </a:outerShdw>
            </a:effectLst>
          </p:spPr>
        </p:pic>
      </p:grpSp>
      <p:sp>
        <p:nvSpPr>
          <p:cNvPr id="303" name="Google Shape;303;p34"/>
          <p:cNvSpPr txBox="1"/>
          <p:nvPr/>
        </p:nvSpPr>
        <p:spPr>
          <a:xfrm>
            <a:off x="8650209" y="2884999"/>
            <a:ext cx="1799286" cy="1052949"/>
          </a:xfrm>
          <a:prstGeom prst="rect">
            <a:avLst/>
          </a:prstGeom>
          <a:noFill/>
          <a:ln>
            <a:noFill/>
          </a:ln>
          <a:effectLst>
            <a:outerShdw blurRad="57150" dist="19050" dir="5400000" algn="bl" rotWithShape="0">
              <a:srgbClr val="000000">
                <a:alpha val="50000"/>
              </a:srgbClr>
            </a:outerShdw>
          </a:effectLst>
        </p:spPr>
        <p:txBody>
          <a:bodyPr spcFirstLastPara="1" wrap="square" lIns="173358" tIns="173358" rIns="173358" bIns="173358" anchor="t" anchorCtr="0">
            <a:noAutofit/>
          </a:bodyPr>
          <a:lstStyle/>
          <a:p>
            <a:pPr defTabSz="1733782">
              <a:buClr>
                <a:srgbClr val="000000"/>
              </a:buClr>
            </a:pPr>
            <a:r>
              <a:rPr lang="nl" sz="3793" kern="0">
                <a:solidFill>
                  <a:srgbClr val="000000"/>
                </a:solidFill>
                <a:latin typeface="UGent Panno Text" panose="02000506040000040003" pitchFamily="2" charset="0"/>
                <a:cs typeface="Arial"/>
                <a:sym typeface="Arial"/>
              </a:rPr>
              <a:t>eCRF</a:t>
            </a:r>
            <a:endParaRPr sz="3793" kern="0">
              <a:solidFill>
                <a:srgbClr val="000000"/>
              </a:solidFill>
              <a:latin typeface="UGent Panno Text" panose="02000506040000040003" pitchFamily="2" charset="0"/>
              <a:cs typeface="Arial"/>
              <a:sym typeface="Arial"/>
            </a:endParaRPr>
          </a:p>
        </p:txBody>
      </p:sp>
      <p:sp>
        <p:nvSpPr>
          <p:cNvPr id="7" name="TextBox 6">
            <a:extLst>
              <a:ext uri="{FF2B5EF4-FFF2-40B4-BE49-F238E27FC236}">
                <a16:creationId xmlns:a16="http://schemas.microsoft.com/office/drawing/2014/main" id="{C61390C7-BA77-0C3D-D918-1CAA84C771E8}"/>
              </a:ext>
            </a:extLst>
          </p:cNvPr>
          <p:cNvSpPr txBox="1"/>
          <p:nvPr/>
        </p:nvSpPr>
        <p:spPr>
          <a:xfrm>
            <a:off x="2953180" y="9164619"/>
            <a:ext cx="8700448" cy="486287"/>
          </a:xfrm>
          <a:prstGeom prst="rect">
            <a:avLst/>
          </a:prstGeom>
          <a:noFill/>
        </p:spPr>
        <p:txBody>
          <a:bodyPr wrap="square">
            <a:spAutoFit/>
          </a:bodyPr>
          <a:lstStyle/>
          <a:p>
            <a:r>
              <a:rPr lang="en-BE">
                <a:latin typeface="UGent Panno Text" panose="02000506040000040003" pitchFamily="2" charset="0"/>
                <a:hlinkClick r:id="rId8"/>
              </a:rPr>
              <a:t>https://hiruz.be/dmu/</a:t>
            </a:r>
            <a:r>
              <a:rPr lang="fr-BE">
                <a:latin typeface="UGent Panno Text" panose="02000506040000040003" pitchFamily="2" charset="0"/>
              </a:rPr>
              <a:t> </a:t>
            </a:r>
            <a:endParaRPr lang="en-BE">
              <a:latin typeface="UGent Panno Text" panose="02000506040000040003" pitchFamily="2" charset="0"/>
            </a:endParaRPr>
          </a:p>
        </p:txBody>
      </p:sp>
    </p:spTree>
    <p:extLst>
      <p:ext uri="{BB962C8B-B14F-4D97-AF65-F5344CB8AC3E}">
        <p14:creationId xmlns:p14="http://schemas.microsoft.com/office/powerpoint/2010/main" val="3866214241"/>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420C-4AEC-478B-9A2C-D25A2D092E9E}"/>
              </a:ext>
            </a:extLst>
          </p:cNvPr>
          <p:cNvSpPr>
            <a:spLocks noGrp="1"/>
          </p:cNvSpPr>
          <p:nvPr>
            <p:ph type="title"/>
          </p:nvPr>
        </p:nvSpPr>
        <p:spPr/>
        <p:txBody>
          <a:bodyPr/>
          <a:lstStyle/>
          <a:p>
            <a:r>
              <a:rPr lang="en-US"/>
              <a:t>Processing &amp; analysis scripts</a:t>
            </a:r>
          </a:p>
        </p:txBody>
      </p:sp>
      <p:sp>
        <p:nvSpPr>
          <p:cNvPr id="4" name="Slide Number Placeholder 3">
            <a:extLst>
              <a:ext uri="{FF2B5EF4-FFF2-40B4-BE49-F238E27FC236}">
                <a16:creationId xmlns:a16="http://schemas.microsoft.com/office/drawing/2014/main" id="{DF3AF0E2-D0D1-4351-9808-C5C5E53676E5}"/>
              </a:ext>
            </a:extLst>
          </p:cNvPr>
          <p:cNvSpPr>
            <a:spLocks noGrp="1"/>
          </p:cNvSpPr>
          <p:nvPr>
            <p:ph type="sldNum" sz="quarter" idx="12"/>
          </p:nvPr>
        </p:nvSpPr>
        <p:spPr/>
        <p:txBody>
          <a:bodyPr/>
          <a:lstStyle/>
          <a:p>
            <a:fld id="{7AE184E0-0BD4-4705-A12B-9B71DDE63301}" type="slidenum">
              <a:rPr lang="en-GB" noProof="0" smtClean="0"/>
              <a:t>11</a:t>
            </a:fld>
            <a:endParaRPr lang="en-GB" noProof="0"/>
          </a:p>
        </p:txBody>
      </p:sp>
      <p:sp>
        <p:nvSpPr>
          <p:cNvPr id="8" name="Rectangle 7">
            <a:extLst>
              <a:ext uri="{FF2B5EF4-FFF2-40B4-BE49-F238E27FC236}">
                <a16:creationId xmlns:a16="http://schemas.microsoft.com/office/drawing/2014/main" id="{D9A60A29-ACF5-4984-B78D-A7141E5ECE86}"/>
              </a:ext>
            </a:extLst>
          </p:cNvPr>
          <p:cNvSpPr/>
          <p:nvPr/>
        </p:nvSpPr>
        <p:spPr>
          <a:xfrm>
            <a:off x="10017733" y="1427339"/>
            <a:ext cx="6517667" cy="2677656"/>
          </a:xfrm>
          <a:prstGeom prst="rect">
            <a:avLst/>
          </a:prstGeom>
        </p:spPr>
        <p:txBody>
          <a:bodyPr wrap="square">
            <a:spAutoFit/>
          </a:bodyPr>
          <a:lstStyle/>
          <a:p>
            <a:pPr marL="255108" indent="-255108">
              <a:buFontTx/>
              <a:buChar char="-"/>
            </a:pPr>
            <a:r>
              <a:rPr lang="en-US" sz="3200">
                <a:latin typeface="UGent Panno Text" panose="02000506040000040003" pitchFamily="50" charset="0"/>
              </a:rPr>
              <a:t>Code annotations</a:t>
            </a:r>
          </a:p>
          <a:p>
            <a:pPr marL="255108" indent="-255108">
              <a:buFontTx/>
              <a:buChar char="-"/>
            </a:pPr>
            <a:r>
              <a:rPr lang="en-US" sz="3200">
                <a:latin typeface="UGent Panno Text" panose="02000506040000040003" pitchFamily="50" charset="0"/>
              </a:rPr>
              <a:t>(Online) code notebooks (e.g. </a:t>
            </a:r>
            <a:r>
              <a:rPr lang="en-US" sz="3200">
                <a:latin typeface="UGent Panno Text" panose="02000506040000040003" pitchFamily="50" charset="0"/>
                <a:hlinkClick r:id="rId2"/>
              </a:rPr>
              <a:t>Jupyter</a:t>
            </a:r>
            <a:r>
              <a:rPr lang="en-US" sz="3200">
                <a:latin typeface="UGent Panno Text" panose="02000506040000040003" pitchFamily="50" charset="0"/>
              </a:rPr>
              <a:t> notebook, </a:t>
            </a:r>
            <a:r>
              <a:rPr lang="en-US" sz="3200">
                <a:latin typeface="UGent Panno Text" panose="02000506040000040003" pitchFamily="50" charset="0"/>
                <a:hlinkClick r:id="rId3"/>
              </a:rPr>
              <a:t>R markdown</a:t>
            </a:r>
            <a:r>
              <a:rPr lang="en-US" sz="3200">
                <a:latin typeface="UGent Panno Text" panose="02000506040000040003" pitchFamily="50" charset="0"/>
              </a:rPr>
              <a:t>)</a:t>
            </a:r>
          </a:p>
          <a:p>
            <a:pPr marL="905292" lvl="1" indent="-255108">
              <a:buFontTx/>
              <a:buChar char="-"/>
            </a:pPr>
            <a:r>
              <a:rPr lang="en-US" sz="2400">
                <a:solidFill>
                  <a:srgbClr val="2B313A"/>
                </a:solidFill>
                <a:latin typeface="UGent Panno Text" panose="02000506040000040003" pitchFamily="50" charset="0"/>
              </a:rPr>
              <a:t>Create and share documents that contain live code, equations, visualizations and explanatory text</a:t>
            </a:r>
          </a:p>
          <a:p>
            <a:pPr marL="905292" lvl="1" indent="-255108">
              <a:buFontTx/>
              <a:buChar char="-"/>
            </a:pPr>
            <a:r>
              <a:rPr lang="en-US" sz="2400">
                <a:solidFill>
                  <a:srgbClr val="2B313A"/>
                </a:solidFill>
                <a:latin typeface="UGent Panno Text" panose="02000506040000040003" pitchFamily="50" charset="0"/>
              </a:rPr>
              <a:t>Open, reproducible research</a:t>
            </a:r>
            <a:endParaRPr lang="en-US" sz="2400">
              <a:latin typeface="UGent Panno Text" panose="02000506040000040003" pitchFamily="50" charset="0"/>
            </a:endParaRPr>
          </a:p>
        </p:txBody>
      </p:sp>
      <p:pic>
        <p:nvPicPr>
          <p:cNvPr id="3" name="Picture 2">
            <a:extLst>
              <a:ext uri="{FF2B5EF4-FFF2-40B4-BE49-F238E27FC236}">
                <a16:creationId xmlns:a16="http://schemas.microsoft.com/office/drawing/2014/main" id="{7F8A5F63-13EC-4D5B-BD4C-FEF4742C6060}"/>
              </a:ext>
            </a:extLst>
          </p:cNvPr>
          <p:cNvPicPr>
            <a:picLocks noChangeAspect="1"/>
          </p:cNvPicPr>
          <p:nvPr/>
        </p:nvPicPr>
        <p:blipFill>
          <a:blip r:embed="rId4"/>
          <a:stretch>
            <a:fillRect/>
          </a:stretch>
        </p:blipFill>
        <p:spPr>
          <a:xfrm>
            <a:off x="272246" y="2504771"/>
            <a:ext cx="9036854" cy="7156592"/>
          </a:xfrm>
          <a:prstGeom prst="rect">
            <a:avLst/>
          </a:prstGeom>
          <a:effectLst>
            <a:outerShdw blurRad="50800" dist="38100" dir="2700000" algn="tl" rotWithShape="0">
              <a:prstClr val="black">
                <a:alpha val="40000"/>
              </a:prstClr>
            </a:outerShdw>
          </a:effectLst>
        </p:spPr>
      </p:pic>
      <p:sp>
        <p:nvSpPr>
          <p:cNvPr id="10" name="Rectangle 9">
            <a:extLst>
              <a:ext uri="{FF2B5EF4-FFF2-40B4-BE49-F238E27FC236}">
                <a16:creationId xmlns:a16="http://schemas.microsoft.com/office/drawing/2014/main" id="{4F3FCA9A-D535-44F2-9960-C46781DB0048}"/>
              </a:ext>
            </a:extLst>
          </p:cNvPr>
          <p:cNvSpPr/>
          <p:nvPr/>
        </p:nvSpPr>
        <p:spPr>
          <a:xfrm>
            <a:off x="8337550" y="6464300"/>
            <a:ext cx="469900" cy="2921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pic>
        <p:nvPicPr>
          <p:cNvPr id="11" name="Picture 10">
            <a:extLst>
              <a:ext uri="{FF2B5EF4-FFF2-40B4-BE49-F238E27FC236}">
                <a16:creationId xmlns:a16="http://schemas.microsoft.com/office/drawing/2014/main" id="{F7ACE81D-3365-4D74-BBF4-62F191A2B74E}"/>
              </a:ext>
            </a:extLst>
          </p:cNvPr>
          <p:cNvPicPr>
            <a:picLocks noChangeAspect="1"/>
          </p:cNvPicPr>
          <p:nvPr/>
        </p:nvPicPr>
        <p:blipFill rotWithShape="1">
          <a:blip r:embed="rId5"/>
          <a:srcRect t="7207" b="24921"/>
          <a:stretch/>
        </p:blipFill>
        <p:spPr>
          <a:xfrm>
            <a:off x="10278094" y="5236698"/>
            <a:ext cx="6234306" cy="4231294"/>
          </a:xfrm>
          <a:prstGeom prst="rect">
            <a:avLst/>
          </a:prstGeom>
          <a:effectLst>
            <a:outerShdw blurRad="50800" dist="38100" dir="2700000" algn="tl" rotWithShape="0">
              <a:prstClr val="black">
                <a:alpha val="40000"/>
              </a:prstClr>
            </a:outerShdw>
          </a:effectLst>
        </p:spPr>
      </p:pic>
      <p:cxnSp>
        <p:nvCxnSpPr>
          <p:cNvPr id="13" name="Straight Connector 12">
            <a:extLst>
              <a:ext uri="{FF2B5EF4-FFF2-40B4-BE49-F238E27FC236}">
                <a16:creationId xmlns:a16="http://schemas.microsoft.com/office/drawing/2014/main" id="{0C5A4F12-8CF9-4F1D-BB89-C8590C36AAEF}"/>
              </a:ext>
            </a:extLst>
          </p:cNvPr>
          <p:cNvCxnSpPr>
            <a:cxnSpLocks/>
          </p:cNvCxnSpPr>
          <p:nvPr/>
        </p:nvCxnSpPr>
        <p:spPr>
          <a:xfrm flipV="1">
            <a:off x="8807450" y="5236698"/>
            <a:ext cx="1470644" cy="1227604"/>
          </a:xfrm>
          <a:prstGeom prst="line">
            <a:avLst/>
          </a:prstGeom>
          <a:ln w="3175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D8629F4-9949-43E6-999A-EAD978AE879F}"/>
              </a:ext>
            </a:extLst>
          </p:cNvPr>
          <p:cNvCxnSpPr>
            <a:cxnSpLocks/>
          </p:cNvCxnSpPr>
          <p:nvPr/>
        </p:nvCxnSpPr>
        <p:spPr>
          <a:xfrm>
            <a:off x="8807450" y="6756400"/>
            <a:ext cx="1470644" cy="2711592"/>
          </a:xfrm>
          <a:prstGeom prst="line">
            <a:avLst/>
          </a:prstGeom>
          <a:ln w="31750">
            <a:solidFill>
              <a:srgbClr val="FF0000"/>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26AAB45-3A1F-4761-AC73-724F78CD1B92}"/>
              </a:ext>
            </a:extLst>
          </p:cNvPr>
          <p:cNvSpPr/>
          <p:nvPr/>
        </p:nvSpPr>
        <p:spPr>
          <a:xfrm>
            <a:off x="272246" y="1637232"/>
            <a:ext cx="4581524" cy="707886"/>
          </a:xfrm>
          <a:prstGeom prst="rect">
            <a:avLst/>
          </a:prstGeom>
        </p:spPr>
        <p:txBody>
          <a:bodyPr wrap="square">
            <a:spAutoFit/>
          </a:bodyPr>
          <a:lstStyle/>
          <a:p>
            <a:r>
              <a:rPr lang="en-US" sz="2000" u="sng">
                <a:latin typeface="UGent Panno Text" panose="02000506040000040003" pitchFamily="50" charset="0"/>
              </a:rPr>
              <a:t>From DMP Example 2 (supplementary material): </a:t>
            </a:r>
            <a:r>
              <a:rPr lang="en-US" sz="2000">
                <a:latin typeface="UGent Panno Text" panose="02000506040000040003" pitchFamily="50" charset="0"/>
                <a:hlinkClick r:id="rId6"/>
              </a:rPr>
              <a:t>https://doi.org/10.5061/dryad.5vg70</a:t>
            </a:r>
            <a:endParaRPr lang="en-US" sz="2400"/>
          </a:p>
        </p:txBody>
      </p:sp>
    </p:spTree>
    <p:extLst>
      <p:ext uri="{BB962C8B-B14F-4D97-AF65-F5344CB8AC3E}">
        <p14:creationId xmlns:p14="http://schemas.microsoft.com/office/powerpoint/2010/main" val="593210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E000-FD53-4763-8D0E-B6B2F7B8A800}"/>
              </a:ext>
            </a:extLst>
          </p:cNvPr>
          <p:cNvSpPr>
            <a:spLocks noGrp="1"/>
          </p:cNvSpPr>
          <p:nvPr>
            <p:ph type="title"/>
          </p:nvPr>
        </p:nvSpPr>
        <p:spPr/>
        <p:txBody>
          <a:bodyPr/>
          <a:lstStyle/>
          <a:p>
            <a:r>
              <a:rPr lang="en-US"/>
              <a:t>Documentation guidelines</a:t>
            </a:r>
            <a:br>
              <a:rPr lang="en-US"/>
            </a:br>
            <a:r>
              <a:rPr lang="en-US"/>
              <a:t>Minimal information about a … experiment</a:t>
            </a:r>
            <a:endParaRPr lang="en-GB"/>
          </a:p>
        </p:txBody>
      </p:sp>
      <p:sp>
        <p:nvSpPr>
          <p:cNvPr id="3" name="Content Placeholder 2">
            <a:extLst>
              <a:ext uri="{FF2B5EF4-FFF2-40B4-BE49-F238E27FC236}">
                <a16:creationId xmlns:a16="http://schemas.microsoft.com/office/drawing/2014/main" id="{39E07D11-55F4-45D6-97E6-083493E66840}"/>
              </a:ext>
            </a:extLst>
          </p:cNvPr>
          <p:cNvSpPr>
            <a:spLocks noGrp="1"/>
          </p:cNvSpPr>
          <p:nvPr>
            <p:ph idx="1"/>
          </p:nvPr>
        </p:nvSpPr>
        <p:spPr>
          <a:xfrm>
            <a:off x="819549" y="1829364"/>
            <a:ext cx="15699575" cy="6696000"/>
          </a:xfrm>
        </p:spPr>
        <p:txBody>
          <a:bodyPr>
            <a:normAutofit/>
          </a:bodyPr>
          <a:lstStyle/>
          <a:p>
            <a:pPr marL="85725" indent="0">
              <a:lnSpc>
                <a:spcPct val="100000"/>
              </a:lnSpc>
              <a:buNone/>
            </a:pPr>
            <a:r>
              <a:rPr lang="nl-BE" sz="3200"/>
              <a:t>For </a:t>
            </a:r>
            <a:r>
              <a:rPr lang="nl-BE" sz="3200" err="1"/>
              <a:t>example</a:t>
            </a:r>
            <a:r>
              <a:rPr lang="nl-BE" sz="3200"/>
              <a:t> </a:t>
            </a:r>
            <a:r>
              <a:rPr lang="nl-BE" sz="3200">
                <a:hlinkClick r:id="rId2"/>
              </a:rPr>
              <a:t>MINSEQE (Minimum Information </a:t>
            </a:r>
            <a:r>
              <a:rPr lang="nl-BE" sz="3200" err="1">
                <a:hlinkClick r:id="rId2"/>
              </a:rPr>
              <a:t>About</a:t>
            </a:r>
            <a:r>
              <a:rPr lang="nl-BE" sz="3200">
                <a:hlinkClick r:id="rId2"/>
              </a:rPr>
              <a:t> a Next-</a:t>
            </a:r>
            <a:r>
              <a:rPr lang="nl-BE" sz="3200" err="1">
                <a:hlinkClick r:id="rId2"/>
              </a:rPr>
              <a:t>generation</a:t>
            </a:r>
            <a:r>
              <a:rPr lang="nl-BE" sz="3200">
                <a:hlinkClick r:id="rId2"/>
              </a:rPr>
              <a:t> </a:t>
            </a:r>
            <a:r>
              <a:rPr lang="nl-BE" sz="3200" err="1">
                <a:hlinkClick r:id="rId2"/>
              </a:rPr>
              <a:t>Sequencing</a:t>
            </a:r>
            <a:r>
              <a:rPr lang="nl-BE" sz="3200">
                <a:hlinkClick r:id="rId2"/>
              </a:rPr>
              <a:t> Experiment) </a:t>
            </a:r>
            <a:r>
              <a:rPr lang="nl-BE" sz="3200" err="1">
                <a:hlinkClick r:id="rId2"/>
              </a:rPr>
              <a:t>guidelines</a:t>
            </a:r>
            <a:endParaRPr lang="nl-BE" sz="3200"/>
          </a:p>
          <a:p>
            <a:pPr marL="85725" indent="0">
              <a:lnSpc>
                <a:spcPct val="100000"/>
              </a:lnSpc>
              <a:buNone/>
            </a:pPr>
            <a:r>
              <a:rPr lang="nl-BE" sz="3200" err="1"/>
              <a:t>This</a:t>
            </a:r>
            <a:r>
              <a:rPr lang="nl-BE" sz="3200"/>
              <a:t> </a:t>
            </a:r>
            <a:r>
              <a:rPr lang="nl-BE" sz="3200" err="1"/>
              <a:t>includes</a:t>
            </a:r>
            <a:r>
              <a:rPr lang="nl-BE" sz="3200"/>
              <a:t>:</a:t>
            </a:r>
          </a:p>
          <a:p>
            <a:pPr fontAlgn="ctr">
              <a:lnSpc>
                <a:spcPct val="100000"/>
              </a:lnSpc>
            </a:pPr>
            <a:r>
              <a:rPr lang="nl-BE" sz="2800" err="1"/>
              <a:t>Raw</a:t>
            </a:r>
            <a:r>
              <a:rPr lang="nl-BE" sz="2800"/>
              <a:t> data </a:t>
            </a:r>
            <a:r>
              <a:rPr lang="nl-BE" sz="2800" err="1"/>
              <a:t>for</a:t>
            </a:r>
            <a:r>
              <a:rPr lang="nl-BE" sz="2800"/>
              <a:t> </a:t>
            </a:r>
            <a:r>
              <a:rPr lang="nl-BE" sz="2800" err="1"/>
              <a:t>each</a:t>
            </a:r>
            <a:r>
              <a:rPr lang="nl-BE" sz="2800"/>
              <a:t> assay (e.g., FASTQ files)</a:t>
            </a:r>
          </a:p>
          <a:p>
            <a:pPr fontAlgn="ctr">
              <a:lnSpc>
                <a:spcPct val="100000"/>
              </a:lnSpc>
            </a:pPr>
            <a:r>
              <a:rPr lang="nl-BE" sz="2800" err="1"/>
              <a:t>Final</a:t>
            </a:r>
            <a:r>
              <a:rPr lang="nl-BE" sz="2800"/>
              <a:t> </a:t>
            </a:r>
            <a:r>
              <a:rPr lang="nl-BE" sz="2800" err="1"/>
              <a:t>processed</a:t>
            </a:r>
            <a:r>
              <a:rPr lang="nl-BE" sz="2800"/>
              <a:t> (</a:t>
            </a:r>
            <a:r>
              <a:rPr lang="nl-BE" sz="2800" err="1"/>
              <a:t>normalized</a:t>
            </a:r>
            <a:r>
              <a:rPr lang="nl-BE" sz="2800"/>
              <a:t>) data </a:t>
            </a:r>
            <a:r>
              <a:rPr lang="nl-BE" sz="2800" err="1"/>
              <a:t>for</a:t>
            </a:r>
            <a:r>
              <a:rPr lang="nl-BE" sz="2800"/>
              <a:t> </a:t>
            </a:r>
            <a:r>
              <a:rPr lang="nl-BE" sz="2800" err="1"/>
              <a:t>the</a:t>
            </a:r>
            <a:r>
              <a:rPr lang="nl-BE" sz="2800"/>
              <a:t> set of </a:t>
            </a:r>
            <a:r>
              <a:rPr lang="nl-BE" sz="2800" err="1"/>
              <a:t>assays</a:t>
            </a:r>
            <a:r>
              <a:rPr lang="nl-BE" sz="2800"/>
              <a:t> in </a:t>
            </a:r>
            <a:r>
              <a:rPr lang="nl-BE" sz="2800" err="1"/>
              <a:t>the</a:t>
            </a:r>
            <a:r>
              <a:rPr lang="nl-BE" sz="2800"/>
              <a:t> </a:t>
            </a:r>
            <a:r>
              <a:rPr lang="nl-BE" sz="2800" err="1"/>
              <a:t>study</a:t>
            </a:r>
            <a:r>
              <a:rPr lang="nl-BE" sz="2800"/>
              <a:t> (e.g., </a:t>
            </a:r>
            <a:r>
              <a:rPr lang="nl-BE" sz="2800" err="1"/>
              <a:t>the</a:t>
            </a:r>
            <a:r>
              <a:rPr lang="nl-BE" sz="2800"/>
              <a:t> gene </a:t>
            </a:r>
            <a:r>
              <a:rPr lang="nl-BE" sz="2800" err="1"/>
              <a:t>expression</a:t>
            </a:r>
            <a:r>
              <a:rPr lang="nl-BE" sz="2800"/>
              <a:t> data </a:t>
            </a:r>
            <a:r>
              <a:rPr lang="nl-BE" sz="2800" err="1"/>
              <a:t>count</a:t>
            </a:r>
            <a:r>
              <a:rPr lang="nl-BE" sz="2800"/>
              <a:t> matrix </a:t>
            </a:r>
            <a:r>
              <a:rPr lang="nl-BE" sz="2800" err="1"/>
              <a:t>used</a:t>
            </a:r>
            <a:r>
              <a:rPr lang="nl-BE" sz="2800"/>
              <a:t> </a:t>
            </a:r>
            <a:r>
              <a:rPr lang="nl-BE" sz="2800" err="1"/>
              <a:t>to</a:t>
            </a:r>
            <a:r>
              <a:rPr lang="nl-BE" sz="2800"/>
              <a:t> draw </a:t>
            </a:r>
            <a:r>
              <a:rPr lang="nl-BE" sz="2800" err="1"/>
              <a:t>the</a:t>
            </a:r>
            <a:r>
              <a:rPr lang="nl-BE" sz="2800"/>
              <a:t> </a:t>
            </a:r>
            <a:r>
              <a:rPr lang="nl-BE" sz="2800" err="1"/>
              <a:t>conclusions</a:t>
            </a:r>
            <a:r>
              <a:rPr lang="nl-BE" sz="2800"/>
              <a:t> in </a:t>
            </a:r>
            <a:r>
              <a:rPr lang="nl-BE" sz="2800" err="1"/>
              <a:t>the</a:t>
            </a:r>
            <a:r>
              <a:rPr lang="nl-BE" sz="2800"/>
              <a:t> </a:t>
            </a:r>
            <a:r>
              <a:rPr lang="nl-BE" sz="2800" err="1"/>
              <a:t>study</a:t>
            </a:r>
            <a:r>
              <a:rPr lang="nl-BE" sz="2800"/>
              <a:t>)</a:t>
            </a:r>
          </a:p>
          <a:p>
            <a:pPr fontAlgn="ctr">
              <a:lnSpc>
                <a:spcPct val="100000"/>
              </a:lnSpc>
            </a:pPr>
            <a:r>
              <a:rPr lang="nl-BE" sz="2800" err="1"/>
              <a:t>Essential</a:t>
            </a:r>
            <a:r>
              <a:rPr lang="nl-BE" sz="2800"/>
              <a:t> sample </a:t>
            </a:r>
            <a:r>
              <a:rPr lang="nl-BE" sz="2800" err="1"/>
              <a:t>annotation</a:t>
            </a:r>
            <a:r>
              <a:rPr lang="nl-BE" sz="2800"/>
              <a:t> (e.g., tissue, </a:t>
            </a:r>
            <a:r>
              <a:rPr lang="nl-BE" sz="2800" err="1"/>
              <a:t>sex</a:t>
            </a:r>
            <a:r>
              <a:rPr lang="nl-BE" sz="2800"/>
              <a:t> </a:t>
            </a:r>
            <a:r>
              <a:rPr lang="nl-BE" sz="2800" err="1"/>
              <a:t>and</a:t>
            </a:r>
            <a:r>
              <a:rPr lang="nl-BE" sz="2800"/>
              <a:t> </a:t>
            </a:r>
            <a:r>
              <a:rPr lang="nl-BE" sz="2800" err="1"/>
              <a:t>age</a:t>
            </a:r>
            <a:r>
              <a:rPr lang="nl-BE" sz="2800"/>
              <a:t>) </a:t>
            </a:r>
            <a:r>
              <a:rPr lang="nl-BE" sz="2800" err="1"/>
              <a:t>and</a:t>
            </a:r>
            <a:r>
              <a:rPr lang="nl-BE" sz="2800"/>
              <a:t> </a:t>
            </a:r>
            <a:r>
              <a:rPr lang="nl-BE" sz="2800" err="1"/>
              <a:t>the</a:t>
            </a:r>
            <a:r>
              <a:rPr lang="nl-BE" sz="2800"/>
              <a:t> </a:t>
            </a:r>
            <a:r>
              <a:rPr lang="nl-BE" sz="2800" err="1"/>
              <a:t>experimental</a:t>
            </a:r>
            <a:r>
              <a:rPr lang="nl-BE" sz="2800"/>
              <a:t> factors </a:t>
            </a:r>
            <a:r>
              <a:rPr lang="nl-BE" sz="2800" err="1"/>
              <a:t>and</a:t>
            </a:r>
            <a:r>
              <a:rPr lang="nl-BE" sz="2800"/>
              <a:t> </a:t>
            </a:r>
            <a:r>
              <a:rPr lang="nl-BE" sz="2800" err="1"/>
              <a:t>their</a:t>
            </a:r>
            <a:r>
              <a:rPr lang="nl-BE" sz="2800"/>
              <a:t> </a:t>
            </a:r>
            <a:r>
              <a:rPr lang="nl-BE" sz="2800" err="1"/>
              <a:t>values</a:t>
            </a:r>
            <a:r>
              <a:rPr lang="nl-BE" sz="2800"/>
              <a:t> (e.g., compound </a:t>
            </a:r>
            <a:r>
              <a:rPr lang="nl-BE" sz="2800" err="1"/>
              <a:t>and</a:t>
            </a:r>
            <a:r>
              <a:rPr lang="nl-BE" sz="2800"/>
              <a:t> </a:t>
            </a:r>
            <a:r>
              <a:rPr lang="nl-BE" sz="2800" err="1"/>
              <a:t>dose</a:t>
            </a:r>
            <a:r>
              <a:rPr lang="nl-BE" sz="2800"/>
              <a:t> in a </a:t>
            </a:r>
            <a:r>
              <a:rPr lang="nl-BE" sz="2800" err="1"/>
              <a:t>dose</a:t>
            </a:r>
            <a:r>
              <a:rPr lang="nl-BE" sz="2800"/>
              <a:t> response </a:t>
            </a:r>
            <a:r>
              <a:rPr lang="nl-BE" sz="2800" err="1"/>
              <a:t>study</a:t>
            </a:r>
            <a:r>
              <a:rPr lang="nl-BE" sz="2800"/>
              <a:t>)</a:t>
            </a:r>
          </a:p>
          <a:p>
            <a:pPr fontAlgn="ctr">
              <a:lnSpc>
                <a:spcPct val="100000"/>
              </a:lnSpc>
            </a:pPr>
            <a:r>
              <a:rPr lang="nl-BE" sz="2800" err="1"/>
              <a:t>Experimental</a:t>
            </a:r>
            <a:r>
              <a:rPr lang="nl-BE" sz="2800"/>
              <a:t> design </a:t>
            </a:r>
            <a:r>
              <a:rPr lang="nl-BE" sz="2800" err="1"/>
              <a:t>including</a:t>
            </a:r>
            <a:r>
              <a:rPr lang="nl-BE" sz="2800"/>
              <a:t> sample data </a:t>
            </a:r>
            <a:r>
              <a:rPr lang="nl-BE" sz="2800" err="1"/>
              <a:t>relationships</a:t>
            </a:r>
            <a:r>
              <a:rPr lang="nl-BE" sz="2800"/>
              <a:t> (e.g., </a:t>
            </a:r>
            <a:r>
              <a:rPr lang="nl-BE" sz="2800" err="1"/>
              <a:t>which</a:t>
            </a:r>
            <a:r>
              <a:rPr lang="nl-BE" sz="2800"/>
              <a:t> </a:t>
            </a:r>
            <a:r>
              <a:rPr lang="nl-BE" sz="2800" err="1"/>
              <a:t>raw</a:t>
            </a:r>
            <a:r>
              <a:rPr lang="nl-BE" sz="2800"/>
              <a:t> data file </a:t>
            </a:r>
            <a:r>
              <a:rPr lang="nl-BE" sz="2800" err="1"/>
              <a:t>relates</a:t>
            </a:r>
            <a:r>
              <a:rPr lang="nl-BE" sz="2800"/>
              <a:t> </a:t>
            </a:r>
            <a:r>
              <a:rPr lang="nl-BE" sz="2800" err="1"/>
              <a:t>to</a:t>
            </a:r>
            <a:r>
              <a:rPr lang="nl-BE" sz="2800"/>
              <a:t> </a:t>
            </a:r>
            <a:r>
              <a:rPr lang="nl-BE" sz="2800" err="1"/>
              <a:t>which</a:t>
            </a:r>
            <a:r>
              <a:rPr lang="nl-BE" sz="2800"/>
              <a:t> sample, </a:t>
            </a:r>
            <a:r>
              <a:rPr lang="nl-BE" sz="2800" err="1"/>
              <a:t>which</a:t>
            </a:r>
            <a:r>
              <a:rPr lang="nl-BE" sz="2800"/>
              <a:t> </a:t>
            </a:r>
            <a:r>
              <a:rPr lang="nl-BE" sz="2800" err="1"/>
              <a:t>assays</a:t>
            </a:r>
            <a:r>
              <a:rPr lang="nl-BE" sz="2800"/>
              <a:t> are </a:t>
            </a:r>
            <a:r>
              <a:rPr lang="nl-BE" sz="2800" err="1"/>
              <a:t>technical</a:t>
            </a:r>
            <a:r>
              <a:rPr lang="nl-BE" sz="2800"/>
              <a:t>, </a:t>
            </a:r>
            <a:r>
              <a:rPr lang="nl-BE" sz="2800" err="1"/>
              <a:t>which</a:t>
            </a:r>
            <a:r>
              <a:rPr lang="nl-BE" sz="2800"/>
              <a:t> are </a:t>
            </a:r>
            <a:r>
              <a:rPr lang="nl-BE" sz="2800" err="1"/>
              <a:t>biological</a:t>
            </a:r>
            <a:r>
              <a:rPr lang="nl-BE" sz="2800"/>
              <a:t> </a:t>
            </a:r>
            <a:r>
              <a:rPr lang="nl-BE" sz="2800" err="1"/>
              <a:t>replicates</a:t>
            </a:r>
            <a:r>
              <a:rPr lang="nl-BE" sz="2800"/>
              <a:t>)</a:t>
            </a:r>
          </a:p>
          <a:p>
            <a:pPr fontAlgn="ctr">
              <a:lnSpc>
                <a:spcPct val="100000"/>
              </a:lnSpc>
            </a:pPr>
            <a:r>
              <a:rPr lang="nl-BE" sz="2800" err="1"/>
              <a:t>Sufficient</a:t>
            </a:r>
            <a:r>
              <a:rPr lang="nl-BE" sz="2800"/>
              <a:t> </a:t>
            </a:r>
            <a:r>
              <a:rPr lang="nl-BE" sz="2800" err="1"/>
              <a:t>annotation</a:t>
            </a:r>
            <a:r>
              <a:rPr lang="nl-BE" sz="2800"/>
              <a:t> of </a:t>
            </a:r>
            <a:r>
              <a:rPr lang="nl-BE" sz="2800" err="1"/>
              <a:t>the</a:t>
            </a:r>
            <a:r>
              <a:rPr lang="nl-BE" sz="2800"/>
              <a:t> array or </a:t>
            </a:r>
            <a:r>
              <a:rPr lang="nl-BE" sz="2800" err="1"/>
              <a:t>sequence</a:t>
            </a:r>
            <a:r>
              <a:rPr lang="nl-BE" sz="2800"/>
              <a:t> features </a:t>
            </a:r>
            <a:r>
              <a:rPr lang="nl-BE" sz="2800" err="1"/>
              <a:t>examined</a:t>
            </a:r>
            <a:r>
              <a:rPr lang="nl-BE" sz="2800"/>
              <a:t> (e.g., gene </a:t>
            </a:r>
            <a:r>
              <a:rPr lang="nl-BE" sz="2800" err="1"/>
              <a:t>identifiers</a:t>
            </a:r>
            <a:r>
              <a:rPr lang="nl-BE" sz="2800"/>
              <a:t>, </a:t>
            </a:r>
            <a:r>
              <a:rPr lang="nl-BE" sz="2800" err="1"/>
              <a:t>genomic</a:t>
            </a:r>
            <a:r>
              <a:rPr lang="nl-BE" sz="2800"/>
              <a:t> </a:t>
            </a:r>
            <a:r>
              <a:rPr lang="nl-BE" sz="2800" err="1"/>
              <a:t>coordinates</a:t>
            </a:r>
            <a:r>
              <a:rPr lang="nl-BE" sz="2800"/>
              <a:t>)</a:t>
            </a:r>
          </a:p>
          <a:p>
            <a:pPr fontAlgn="ctr">
              <a:lnSpc>
                <a:spcPct val="100000"/>
              </a:lnSpc>
            </a:pPr>
            <a:r>
              <a:rPr lang="nl-BE" sz="2800" err="1"/>
              <a:t>Essential</a:t>
            </a:r>
            <a:r>
              <a:rPr lang="nl-BE" sz="2800"/>
              <a:t> </a:t>
            </a:r>
            <a:r>
              <a:rPr lang="nl-BE" sz="2800" err="1"/>
              <a:t>laboratory</a:t>
            </a:r>
            <a:r>
              <a:rPr lang="nl-BE" sz="2800"/>
              <a:t> </a:t>
            </a:r>
            <a:r>
              <a:rPr lang="nl-BE" sz="2800" err="1"/>
              <a:t>and</a:t>
            </a:r>
            <a:r>
              <a:rPr lang="nl-BE" sz="2800"/>
              <a:t> data processing </a:t>
            </a:r>
            <a:r>
              <a:rPr lang="nl-BE" sz="2800" err="1"/>
              <a:t>protocols</a:t>
            </a:r>
            <a:r>
              <a:rPr lang="nl-BE" sz="2800"/>
              <a:t> (e.g., </a:t>
            </a:r>
            <a:r>
              <a:rPr lang="nl-BE" sz="2800" err="1"/>
              <a:t>what</a:t>
            </a:r>
            <a:r>
              <a:rPr lang="nl-BE" sz="2800"/>
              <a:t> </a:t>
            </a:r>
            <a:r>
              <a:rPr lang="nl-BE" sz="2800" err="1"/>
              <a:t>normalization</a:t>
            </a:r>
            <a:r>
              <a:rPr lang="nl-BE" sz="2800"/>
              <a:t> </a:t>
            </a:r>
            <a:r>
              <a:rPr lang="nl-BE" sz="2800" err="1"/>
              <a:t>method</a:t>
            </a:r>
            <a:r>
              <a:rPr lang="nl-BE" sz="2800"/>
              <a:t> has been </a:t>
            </a:r>
            <a:r>
              <a:rPr lang="nl-BE" sz="2800" err="1"/>
              <a:t>used</a:t>
            </a:r>
            <a:r>
              <a:rPr lang="nl-BE" sz="2800"/>
              <a:t> </a:t>
            </a:r>
            <a:r>
              <a:rPr lang="nl-BE" sz="2800" err="1"/>
              <a:t>to</a:t>
            </a:r>
            <a:r>
              <a:rPr lang="nl-BE" sz="2800"/>
              <a:t> </a:t>
            </a:r>
            <a:r>
              <a:rPr lang="nl-BE" sz="2800" err="1"/>
              <a:t>obtain</a:t>
            </a:r>
            <a:r>
              <a:rPr lang="nl-BE" sz="2800"/>
              <a:t> </a:t>
            </a:r>
            <a:r>
              <a:rPr lang="nl-BE" sz="2800" err="1"/>
              <a:t>the</a:t>
            </a:r>
            <a:r>
              <a:rPr lang="nl-BE" sz="2800"/>
              <a:t> </a:t>
            </a:r>
            <a:r>
              <a:rPr lang="nl-BE" sz="2800" err="1"/>
              <a:t>final</a:t>
            </a:r>
            <a:r>
              <a:rPr lang="nl-BE" sz="2800"/>
              <a:t> </a:t>
            </a:r>
            <a:r>
              <a:rPr lang="nl-BE" sz="2800" err="1"/>
              <a:t>processed</a:t>
            </a:r>
            <a:r>
              <a:rPr lang="nl-BE" sz="2800"/>
              <a:t> data)</a:t>
            </a:r>
          </a:p>
          <a:p>
            <a:pPr>
              <a:lnSpc>
                <a:spcPct val="100000"/>
              </a:lnSpc>
            </a:pPr>
            <a:endParaRPr lang="en-GB" sz="3200"/>
          </a:p>
        </p:txBody>
      </p:sp>
      <p:sp>
        <p:nvSpPr>
          <p:cNvPr id="4" name="Slide Number Placeholder 3">
            <a:extLst>
              <a:ext uri="{FF2B5EF4-FFF2-40B4-BE49-F238E27FC236}">
                <a16:creationId xmlns:a16="http://schemas.microsoft.com/office/drawing/2014/main" id="{8E23C2A6-5A0D-4CF4-81D2-2699AC6FB181}"/>
              </a:ext>
            </a:extLst>
          </p:cNvPr>
          <p:cNvSpPr>
            <a:spLocks noGrp="1"/>
          </p:cNvSpPr>
          <p:nvPr>
            <p:ph type="sldNum" sz="quarter" idx="12"/>
          </p:nvPr>
        </p:nvSpPr>
        <p:spPr/>
        <p:txBody>
          <a:bodyPr/>
          <a:lstStyle/>
          <a:p>
            <a:fld id="{7AE184E0-0BD4-4705-A12B-9B71DDE63301}" type="slidenum">
              <a:rPr lang="nl-BE" smtClean="0"/>
              <a:pPr/>
              <a:t>12</a:t>
            </a:fld>
            <a:endParaRPr lang="nl-BE"/>
          </a:p>
        </p:txBody>
      </p:sp>
      <p:sp>
        <p:nvSpPr>
          <p:cNvPr id="6" name="TextBox 5">
            <a:extLst>
              <a:ext uri="{FF2B5EF4-FFF2-40B4-BE49-F238E27FC236}">
                <a16:creationId xmlns:a16="http://schemas.microsoft.com/office/drawing/2014/main" id="{4A8D9167-EAD6-C0A4-2377-ABBCCCBD576C}"/>
              </a:ext>
            </a:extLst>
          </p:cNvPr>
          <p:cNvSpPr txBox="1"/>
          <p:nvPr/>
        </p:nvSpPr>
        <p:spPr>
          <a:xfrm>
            <a:off x="3750396" y="8880152"/>
            <a:ext cx="9864725" cy="486287"/>
          </a:xfrm>
          <a:prstGeom prst="rect">
            <a:avLst/>
          </a:prstGeom>
          <a:noFill/>
        </p:spPr>
        <p:txBody>
          <a:bodyPr wrap="square">
            <a:spAutoFit/>
          </a:bodyPr>
          <a:lstStyle/>
          <a:p>
            <a:pPr algn="ctr"/>
            <a:r>
              <a:rPr lang="en-BE">
                <a:latin typeface="UGent Panno Text" panose="02000506040000040003" pitchFamily="2" charset="0"/>
                <a:hlinkClick r:id="rId3"/>
              </a:rPr>
              <a:t>https://en.wikipedia.org/wiki/Minimum_information_standard</a:t>
            </a:r>
            <a:r>
              <a:rPr lang="en-GB">
                <a:latin typeface="UGent Panno Text" panose="02000506040000040003" pitchFamily="2" charset="0"/>
              </a:rPr>
              <a:t> </a:t>
            </a:r>
            <a:endParaRPr lang="en-BE">
              <a:latin typeface="UGent Panno Text" panose="02000506040000040003" pitchFamily="2" charset="0"/>
            </a:endParaRPr>
          </a:p>
        </p:txBody>
      </p:sp>
    </p:spTree>
    <p:extLst>
      <p:ext uri="{BB962C8B-B14F-4D97-AF65-F5344CB8AC3E}">
        <p14:creationId xmlns:p14="http://schemas.microsoft.com/office/powerpoint/2010/main" val="2339906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C5FD-E043-4067-863B-6F897097A88D}"/>
              </a:ext>
            </a:extLst>
          </p:cNvPr>
          <p:cNvSpPr>
            <a:spLocks noGrp="1"/>
          </p:cNvSpPr>
          <p:nvPr>
            <p:ph type="title"/>
          </p:nvPr>
        </p:nvSpPr>
        <p:spPr>
          <a:xfrm>
            <a:off x="749938" y="296658"/>
            <a:ext cx="15647289" cy="863693"/>
          </a:xfrm>
        </p:spPr>
        <p:txBody>
          <a:bodyPr/>
          <a:lstStyle/>
          <a:p>
            <a:r>
              <a:rPr lang="en-US">
                <a:latin typeface="UGent Panno Text" panose="02000506040000040003" pitchFamily="2" charset="0"/>
              </a:rPr>
              <a:t>Documentation vs. Metadata</a:t>
            </a:r>
            <a:br>
              <a:rPr lang="en-US">
                <a:latin typeface="UGent Panno Text" panose="02000506040000040003" pitchFamily="2" charset="0"/>
              </a:rPr>
            </a:br>
            <a:endParaRPr lang="nl-BE">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99DF40CB-A7F5-44BE-A60F-8FDF77B32092}"/>
              </a:ext>
            </a:extLst>
          </p:cNvPr>
          <p:cNvSpPr>
            <a:spLocks noGrp="1"/>
          </p:cNvSpPr>
          <p:nvPr>
            <p:ph type="sldNum" sz="quarter" idx="12"/>
          </p:nvPr>
        </p:nvSpPr>
        <p:spPr/>
        <p:txBody>
          <a:bodyPr/>
          <a:lstStyle/>
          <a:p>
            <a:pPr marL="0" marR="0" lvl="0" indent="0" algn="r" defTabSz="1300368" rtl="0" eaLnBrk="1" fontAlgn="auto" latinLnBrk="0" hangingPunct="1">
              <a:lnSpc>
                <a:spcPct val="100000"/>
              </a:lnSpc>
              <a:spcBef>
                <a:spcPts val="0"/>
              </a:spcBef>
              <a:spcAft>
                <a:spcPts val="0"/>
              </a:spcAft>
              <a:buClrTx/>
              <a:buSzTx/>
              <a:buFontTx/>
              <a:buNone/>
              <a:tabLst/>
              <a:defRPr/>
            </a:pPr>
            <a:fld id="{7AE184E0-0BD4-4705-A12B-9B71DDE63301}" type="slidenum">
              <a:rPr kumimoji="0" lang="en-GB" sz="1707" b="0" i="0" u="none" strike="noStrike" kern="1200" cap="none" spc="0" normalizeH="0" baseline="0" noProof="0" smtClean="0">
                <a:ln>
                  <a:noFill/>
                </a:ln>
                <a:solidFill>
                  <a:srgbClr val="1E64C8"/>
                </a:solidFill>
                <a:effectLst/>
                <a:uLnTx/>
                <a:uFillTx/>
                <a:latin typeface="Arial"/>
                <a:ea typeface="+mn-ea"/>
                <a:cs typeface="+mn-cs"/>
              </a:rPr>
              <a:pPr marL="0" marR="0" lvl="0" indent="0" algn="r" defTabSz="1300368" rtl="0" eaLnBrk="1" fontAlgn="auto" latinLnBrk="0" hangingPunct="1">
                <a:lnSpc>
                  <a:spcPct val="100000"/>
                </a:lnSpc>
                <a:spcBef>
                  <a:spcPts val="0"/>
                </a:spcBef>
                <a:spcAft>
                  <a:spcPts val="0"/>
                </a:spcAft>
                <a:buClrTx/>
                <a:buSzTx/>
                <a:buFontTx/>
                <a:buNone/>
                <a:tabLst/>
                <a:defRPr/>
              </a:pPr>
              <a:t>13</a:t>
            </a:fld>
            <a:endParaRPr kumimoji="0" lang="en-GB" sz="1707" b="0" i="0" u="none" strike="noStrike" kern="1200" cap="none" spc="0" normalizeH="0" baseline="0" noProof="0">
              <a:ln>
                <a:noFill/>
              </a:ln>
              <a:solidFill>
                <a:srgbClr val="1E64C8"/>
              </a:solidFill>
              <a:effectLst/>
              <a:uLnTx/>
              <a:uFillTx/>
              <a:latin typeface="Arial"/>
              <a:ea typeface="+mn-ea"/>
              <a:cs typeface="+mn-cs"/>
            </a:endParaRPr>
          </a:p>
        </p:txBody>
      </p:sp>
      <p:sp>
        <p:nvSpPr>
          <p:cNvPr id="3" name="Content Placeholder 2">
            <a:extLst>
              <a:ext uri="{FF2B5EF4-FFF2-40B4-BE49-F238E27FC236}">
                <a16:creationId xmlns:a16="http://schemas.microsoft.com/office/drawing/2014/main" id="{CB47E1F6-11E1-AA6B-1562-A6D2E655C641}"/>
              </a:ext>
            </a:extLst>
          </p:cNvPr>
          <p:cNvSpPr>
            <a:spLocks noGrp="1"/>
          </p:cNvSpPr>
          <p:nvPr>
            <p:ph idx="1"/>
          </p:nvPr>
        </p:nvSpPr>
        <p:spPr>
          <a:xfrm>
            <a:off x="7462302" y="3532656"/>
            <a:ext cx="9126663" cy="1509071"/>
          </a:xfrm>
        </p:spPr>
        <p:txBody>
          <a:bodyPr>
            <a:noAutofit/>
          </a:bodyPr>
          <a:lstStyle/>
          <a:p>
            <a:pPr marL="86400" indent="0">
              <a:lnSpc>
                <a:spcPct val="110000"/>
              </a:lnSpc>
              <a:buNone/>
            </a:pPr>
            <a:r>
              <a:rPr lang="en-US" sz="3600" b="1">
                <a:solidFill>
                  <a:schemeClr val="tx2"/>
                </a:solidFill>
                <a:latin typeface="UGent Panno Text" panose="02000506040000040003"/>
              </a:rPr>
              <a:t>METADATA</a:t>
            </a:r>
            <a:r>
              <a:rPr lang="en-US" sz="3600">
                <a:latin typeface="UGent Panno Text" panose="02000506040000040003"/>
              </a:rPr>
              <a:t>: information about data, in a </a:t>
            </a:r>
            <a:r>
              <a:rPr lang="en-US" sz="3600" b="1">
                <a:latin typeface="UGent Panno Text" panose="02000506040000040003"/>
              </a:rPr>
              <a:t>highly structured </a:t>
            </a:r>
            <a:r>
              <a:rPr lang="en-US" sz="3600">
                <a:latin typeface="UGent Panno Text" panose="02000506040000040003"/>
              </a:rPr>
              <a:t>way, using a set of defined fields to be </a:t>
            </a:r>
            <a:r>
              <a:rPr lang="en-US" sz="3600" b="1">
                <a:latin typeface="UGent Panno Text" panose="02000506040000040003"/>
              </a:rPr>
              <a:t>machine readable</a:t>
            </a:r>
            <a:r>
              <a:rPr lang="en-US" sz="3600">
                <a:latin typeface="UGent Panno Text" panose="02000506040000040003"/>
              </a:rPr>
              <a:t>.</a:t>
            </a:r>
          </a:p>
        </p:txBody>
      </p:sp>
      <p:sp>
        <p:nvSpPr>
          <p:cNvPr id="5" name="Content Placeholder 2">
            <a:extLst>
              <a:ext uri="{FF2B5EF4-FFF2-40B4-BE49-F238E27FC236}">
                <a16:creationId xmlns:a16="http://schemas.microsoft.com/office/drawing/2014/main" id="{F030401E-7D3D-59F8-6EBD-806E8C486F84}"/>
              </a:ext>
            </a:extLst>
          </p:cNvPr>
          <p:cNvSpPr txBox="1">
            <a:spLocks/>
          </p:cNvSpPr>
          <p:nvPr/>
        </p:nvSpPr>
        <p:spPr>
          <a:xfrm>
            <a:off x="1040535" y="3532656"/>
            <a:ext cx="6001815" cy="1856525"/>
          </a:xfrm>
          <a:prstGeom prst="rect">
            <a:avLst/>
          </a:prstGeom>
        </p:spPr>
        <p:txBody>
          <a:bodyPr vert="horz" lIns="91440" tIns="45720" rIns="91440" bIns="45720" rtlCol="0">
            <a:normAutofit/>
          </a:bodyPr>
          <a:lstStyle>
            <a:lvl1pPr marL="86400" indent="0" defTabSz="457200">
              <a:lnSpc>
                <a:spcPct val="120000"/>
              </a:lnSpc>
              <a:spcBef>
                <a:spcPts val="0"/>
              </a:spcBef>
              <a:buFont typeface="Arial" panose="020B0604020202020204" pitchFamily="34" charset="0"/>
              <a:buNone/>
              <a:defRPr sz="4800">
                <a:latin typeface="UGent Panno Text" panose="02000506040000040003" pitchFamily="50" charset="0"/>
              </a:defRPr>
            </a:lvl1pPr>
            <a:lvl2pPr marL="1170000" indent="-450000" defTabSz="457200">
              <a:lnSpc>
                <a:spcPct val="120000"/>
              </a:lnSpc>
              <a:spcBef>
                <a:spcPts val="0"/>
              </a:spcBef>
              <a:buFont typeface="Arial" panose="020B0604020202020204" pitchFamily="34" charset="0"/>
              <a:buChar char="̶"/>
              <a:tabLst/>
              <a:defRPr sz="4800">
                <a:latin typeface="UGent Panno Text" panose="02000506040000040003" pitchFamily="50" charset="0"/>
              </a:defRPr>
            </a:lvl2pPr>
            <a:lvl3pPr marL="1756800" indent="-450000" defTabSz="457200">
              <a:lnSpc>
                <a:spcPct val="120000"/>
              </a:lnSpc>
              <a:spcBef>
                <a:spcPts val="0"/>
              </a:spcBef>
              <a:buFont typeface="Arial" panose="020B0604020202020204" pitchFamily="34" charset="0"/>
              <a:buChar char="‒"/>
              <a:defRPr sz="4800">
                <a:latin typeface="UGent Panno Text" panose="02000506040000040003" pitchFamily="50" charset="0"/>
              </a:defRPr>
            </a:lvl3pPr>
            <a:lvl4pPr marL="2329200" indent="-550800" defTabSz="457200">
              <a:lnSpc>
                <a:spcPct val="120000"/>
              </a:lnSpc>
              <a:spcBef>
                <a:spcPts val="0"/>
              </a:spcBef>
              <a:buFont typeface="Arial" panose="020B0604020202020204" pitchFamily="34" charset="0"/>
              <a:buChar char="‒"/>
              <a:defRPr sz="4800">
                <a:latin typeface="UGent Panno Text" panose="02000506040000040003" pitchFamily="50" charset="0"/>
              </a:defRPr>
            </a:lvl4pPr>
            <a:lvl5pPr marL="2962800" indent="-442800" defTabSz="457200">
              <a:lnSpc>
                <a:spcPct val="120000"/>
              </a:lnSpc>
              <a:spcBef>
                <a:spcPts val="0"/>
              </a:spcBef>
              <a:buFont typeface="Arial" panose="020B0604020202020204" pitchFamily="34" charset="0"/>
              <a:buChar char="̶"/>
              <a:defRPr sz="4800">
                <a:latin typeface="UGent Panno Text" panose="02000506040000040003" pitchFamily="50" charset="0"/>
              </a:defRPr>
            </a:lvl5pPr>
            <a:lvl6pPr marL="3576013" indent="-325092">
              <a:lnSpc>
                <a:spcPct val="90000"/>
              </a:lnSpc>
              <a:spcBef>
                <a:spcPts val="711"/>
              </a:spcBef>
              <a:buFont typeface="Arial" panose="020B0604020202020204" pitchFamily="34" charset="0"/>
              <a:buChar char="•"/>
            </a:lvl6pPr>
            <a:lvl7pPr marL="4226197" indent="-325092">
              <a:lnSpc>
                <a:spcPct val="90000"/>
              </a:lnSpc>
              <a:spcBef>
                <a:spcPts val="711"/>
              </a:spcBef>
              <a:buFont typeface="Arial" panose="020B0604020202020204" pitchFamily="34" charset="0"/>
              <a:buChar char="•"/>
            </a:lvl7pPr>
            <a:lvl8pPr marL="4876381" indent="-325092">
              <a:lnSpc>
                <a:spcPct val="90000"/>
              </a:lnSpc>
              <a:spcBef>
                <a:spcPts val="711"/>
              </a:spcBef>
              <a:buFont typeface="Arial" panose="020B0604020202020204" pitchFamily="34" charset="0"/>
              <a:buChar char="•"/>
            </a:lvl8pPr>
            <a:lvl9pPr marL="5526565" indent="-325092">
              <a:lnSpc>
                <a:spcPct val="90000"/>
              </a:lnSpc>
              <a:spcBef>
                <a:spcPts val="711"/>
              </a:spcBef>
              <a:buFont typeface="Arial" panose="020B0604020202020204" pitchFamily="34" charset="0"/>
              <a:buChar char="•"/>
            </a:lvl9pPr>
          </a:lstStyle>
          <a:p>
            <a:pPr>
              <a:lnSpc>
                <a:spcPct val="100000"/>
              </a:lnSpc>
            </a:pPr>
            <a:r>
              <a:rPr lang="en-US" sz="3600" b="1">
                <a:solidFill>
                  <a:schemeClr val="tx2"/>
                </a:solidFill>
                <a:latin typeface="UGent Panno Text" panose="02000506040000040003"/>
              </a:rPr>
              <a:t>DOCUMENTATION</a:t>
            </a:r>
            <a:r>
              <a:rPr lang="en-US" sz="3600">
                <a:latin typeface="UGent Panno Text" panose="02000506040000040003"/>
              </a:rPr>
              <a:t>: any contextual information that allows data to be understandable and reusable.</a:t>
            </a:r>
          </a:p>
        </p:txBody>
      </p:sp>
      <p:grpSp>
        <p:nvGrpSpPr>
          <p:cNvPr id="6" name="Group 5">
            <a:extLst>
              <a:ext uri="{FF2B5EF4-FFF2-40B4-BE49-F238E27FC236}">
                <a16:creationId xmlns:a16="http://schemas.microsoft.com/office/drawing/2014/main" id="{FB52E221-C3C1-08FC-A069-72A817B130A3}"/>
              </a:ext>
            </a:extLst>
          </p:cNvPr>
          <p:cNvGrpSpPr/>
          <p:nvPr/>
        </p:nvGrpSpPr>
        <p:grpSpPr>
          <a:xfrm>
            <a:off x="1253129" y="5625843"/>
            <a:ext cx="5432032" cy="1256468"/>
            <a:chOff x="3883559" y="2614963"/>
            <a:chExt cx="3293112" cy="761721"/>
          </a:xfrm>
        </p:grpSpPr>
        <p:sp>
          <p:nvSpPr>
            <p:cNvPr id="7" name="TextBox 6">
              <a:extLst>
                <a:ext uri="{FF2B5EF4-FFF2-40B4-BE49-F238E27FC236}">
                  <a16:creationId xmlns:a16="http://schemas.microsoft.com/office/drawing/2014/main" id="{3BDC0D58-14F6-B543-0E90-19F3E7028C51}"/>
                </a:ext>
              </a:extLst>
            </p:cNvPr>
            <p:cNvSpPr txBox="1"/>
            <p:nvPr/>
          </p:nvSpPr>
          <p:spPr>
            <a:xfrm>
              <a:off x="5563031" y="3040827"/>
              <a:ext cx="1613640" cy="335856"/>
            </a:xfrm>
            <a:prstGeom prst="rect">
              <a:avLst/>
            </a:prstGeom>
            <a:noFill/>
          </p:spPr>
          <p:txBody>
            <a:bodyPr wrap="square" lIns="0" tIns="0" rIns="0" bIns="0" rtlCol="0">
              <a:spAutoFit/>
            </a:bodyPr>
            <a:lstStyle/>
            <a:p>
              <a:r>
                <a:rPr lang="en-US" sz="3600" spc="-260" err="1">
                  <a:solidFill>
                    <a:schemeClr val="accent2">
                      <a:lumMod val="90000"/>
                    </a:schemeClr>
                  </a:solidFill>
                  <a:latin typeface="UGent Panno Text" panose="02000506040000040003"/>
                  <a:ea typeface="Yu Gothic UI Semibold" panose="020B0700000000000000" pitchFamily="34" charset="-128"/>
                </a:rPr>
                <a:t>llllllllll</a:t>
              </a:r>
              <a:r>
                <a:rPr lang="en-US" sz="3600" spc="-260">
                  <a:solidFill>
                    <a:schemeClr val="accent2">
                      <a:lumMod val="90000"/>
                    </a:schemeClr>
                  </a:solidFill>
                  <a:latin typeface="UGent Panno Text" panose="02000506040000040003"/>
                  <a:ea typeface="Yu Gothic UI Semibold" panose="020B0700000000000000" pitchFamily="34" charset="-128"/>
                </a:rPr>
                <a:t> </a:t>
              </a:r>
              <a:r>
                <a:rPr lang="en-US" sz="3600" spc="-260" err="1">
                  <a:solidFill>
                    <a:schemeClr val="accent2">
                      <a:lumMod val="90000"/>
                    </a:schemeClr>
                  </a:solidFill>
                  <a:latin typeface="UGent Panno Text" panose="02000506040000040003"/>
                  <a:ea typeface="Yu Gothic UI Semibold" panose="020B0700000000000000" pitchFamily="34" charset="-128"/>
                </a:rPr>
                <a:t>llllllllllllllllll</a:t>
              </a:r>
              <a:endParaRPr lang="en-US" sz="3600" spc="-260">
                <a:solidFill>
                  <a:schemeClr val="accent2">
                    <a:lumMod val="90000"/>
                  </a:schemeClr>
                </a:solidFill>
                <a:latin typeface="UGent Panno Text" panose="02000506040000040003"/>
                <a:ea typeface="Yu Gothic UI Semibold" panose="020B0700000000000000" pitchFamily="34" charset="-128"/>
              </a:endParaRPr>
            </a:p>
          </p:txBody>
        </p:sp>
        <p:sp>
          <p:nvSpPr>
            <p:cNvPr id="8" name="TextBox 7">
              <a:extLst>
                <a:ext uri="{FF2B5EF4-FFF2-40B4-BE49-F238E27FC236}">
                  <a16:creationId xmlns:a16="http://schemas.microsoft.com/office/drawing/2014/main" id="{55BE3925-F589-E9B4-7231-7FE6487860AF}"/>
                </a:ext>
              </a:extLst>
            </p:cNvPr>
            <p:cNvSpPr txBox="1"/>
            <p:nvPr/>
          </p:nvSpPr>
          <p:spPr>
            <a:xfrm>
              <a:off x="3883559" y="3040828"/>
              <a:ext cx="1846448" cy="335856"/>
            </a:xfrm>
            <a:prstGeom prst="rect">
              <a:avLst/>
            </a:prstGeom>
            <a:noFill/>
          </p:spPr>
          <p:txBody>
            <a:bodyPr wrap="square" lIns="0" tIns="0" rIns="0" bIns="0" rtlCol="0">
              <a:spAutoFit/>
            </a:bodyPr>
            <a:lstStyle/>
            <a:p>
              <a:r>
                <a:rPr lang="en-US" sz="3600" spc="-260" err="1">
                  <a:solidFill>
                    <a:schemeClr val="accent2">
                      <a:lumMod val="90000"/>
                    </a:schemeClr>
                  </a:solidFill>
                  <a:latin typeface="UGent Panno Text" panose="02000506040000040003"/>
                  <a:ea typeface="Yu Gothic UI Semibold" panose="020B0700000000000000" pitchFamily="34" charset="-128"/>
                </a:rPr>
                <a:t>lllllllllllllllllllllllllllllllllll</a:t>
              </a:r>
              <a:endParaRPr lang="en-US" sz="3600" spc="-260">
                <a:solidFill>
                  <a:schemeClr val="accent2">
                    <a:lumMod val="90000"/>
                  </a:schemeClr>
                </a:solidFill>
                <a:latin typeface="UGent Panno Text" panose="02000506040000040003"/>
                <a:ea typeface="Yu Gothic UI Semibold" panose="020B0700000000000000" pitchFamily="34" charset="-128"/>
              </a:endParaRPr>
            </a:p>
          </p:txBody>
        </p:sp>
        <p:sp>
          <p:nvSpPr>
            <p:cNvPr id="9" name="TextBox 8">
              <a:extLst>
                <a:ext uri="{FF2B5EF4-FFF2-40B4-BE49-F238E27FC236}">
                  <a16:creationId xmlns:a16="http://schemas.microsoft.com/office/drawing/2014/main" id="{99674C81-23EB-A514-4DD2-498E11EB2195}"/>
                </a:ext>
              </a:extLst>
            </p:cNvPr>
            <p:cNvSpPr txBox="1"/>
            <p:nvPr/>
          </p:nvSpPr>
          <p:spPr>
            <a:xfrm>
              <a:off x="5559090" y="2614963"/>
              <a:ext cx="1613640" cy="335856"/>
            </a:xfrm>
            <a:prstGeom prst="rect">
              <a:avLst/>
            </a:prstGeom>
            <a:noFill/>
          </p:spPr>
          <p:txBody>
            <a:bodyPr wrap="square" lIns="0" tIns="0" rIns="0" bIns="0" rtlCol="0">
              <a:spAutoFit/>
            </a:bodyPr>
            <a:lstStyle/>
            <a:p>
              <a:r>
                <a:rPr lang="en-US" sz="3600" spc="-260" err="1">
                  <a:solidFill>
                    <a:schemeClr val="accent2">
                      <a:lumMod val="90000"/>
                    </a:schemeClr>
                  </a:solidFill>
                  <a:latin typeface="UGent Panno Text" panose="02000506040000040003"/>
                  <a:ea typeface="Yu Gothic UI Semibold" panose="020B0700000000000000" pitchFamily="34" charset="-128"/>
                </a:rPr>
                <a:t>llllllllllllllll</a:t>
              </a:r>
              <a:r>
                <a:rPr lang="en-US" sz="3600" spc="-260">
                  <a:solidFill>
                    <a:schemeClr val="accent2">
                      <a:lumMod val="90000"/>
                    </a:schemeClr>
                  </a:solidFill>
                  <a:latin typeface="UGent Panno Text" panose="02000506040000040003"/>
                  <a:ea typeface="Yu Gothic UI Semibold" panose="020B0700000000000000" pitchFamily="34" charset="-128"/>
                </a:rPr>
                <a:t> </a:t>
              </a:r>
              <a:r>
                <a:rPr lang="en-US" sz="3600" spc="-260" err="1">
                  <a:solidFill>
                    <a:schemeClr val="accent2">
                      <a:lumMod val="90000"/>
                    </a:schemeClr>
                  </a:solidFill>
                  <a:latin typeface="UGent Panno Text" panose="02000506040000040003"/>
                  <a:ea typeface="Yu Gothic UI Semibold" panose="020B0700000000000000" pitchFamily="34" charset="-128"/>
                </a:rPr>
                <a:t>lllllllllllll</a:t>
              </a:r>
              <a:endParaRPr lang="en-US" sz="3600" spc="-260">
                <a:solidFill>
                  <a:schemeClr val="accent2">
                    <a:lumMod val="90000"/>
                  </a:schemeClr>
                </a:solidFill>
                <a:latin typeface="UGent Panno Text" panose="02000506040000040003"/>
                <a:ea typeface="Yu Gothic UI Semibold" panose="020B0700000000000000" pitchFamily="34" charset="-128"/>
              </a:endParaRPr>
            </a:p>
          </p:txBody>
        </p:sp>
        <p:sp>
          <p:nvSpPr>
            <p:cNvPr id="10" name="TextBox 9">
              <a:extLst>
                <a:ext uri="{FF2B5EF4-FFF2-40B4-BE49-F238E27FC236}">
                  <a16:creationId xmlns:a16="http://schemas.microsoft.com/office/drawing/2014/main" id="{F1DFAD0B-920F-6E4D-395F-CB1716220CE4}"/>
                </a:ext>
              </a:extLst>
            </p:cNvPr>
            <p:cNvSpPr txBox="1"/>
            <p:nvPr/>
          </p:nvSpPr>
          <p:spPr>
            <a:xfrm>
              <a:off x="3883559" y="2664794"/>
              <a:ext cx="1971463" cy="298539"/>
            </a:xfrm>
            <a:prstGeom prst="rect">
              <a:avLst/>
            </a:prstGeom>
            <a:noFill/>
          </p:spPr>
          <p:txBody>
            <a:bodyPr wrap="square" lIns="0" tIns="0" rIns="0" bIns="0" rtlCol="0">
              <a:spAutoFit/>
            </a:bodyPr>
            <a:lstStyle/>
            <a:p>
              <a:r>
                <a:rPr lang="en-US" sz="3200">
                  <a:solidFill>
                    <a:schemeClr val="accent2">
                      <a:lumMod val="90000"/>
                    </a:schemeClr>
                  </a:solidFill>
                  <a:latin typeface="UGent Panno Text" panose="02000506040000040003"/>
                  <a:ea typeface="Yu Gothic UI Semibold" panose="020B0700000000000000" pitchFamily="34" charset="-128"/>
                </a:rPr>
                <a:t>The dataset…</a:t>
              </a:r>
            </a:p>
          </p:txBody>
        </p:sp>
      </p:grpSp>
      <p:grpSp>
        <p:nvGrpSpPr>
          <p:cNvPr id="11" name="Group 10">
            <a:extLst>
              <a:ext uri="{FF2B5EF4-FFF2-40B4-BE49-F238E27FC236}">
                <a16:creationId xmlns:a16="http://schemas.microsoft.com/office/drawing/2014/main" id="{0FD96950-D227-0472-6239-3F568570D35E}"/>
              </a:ext>
            </a:extLst>
          </p:cNvPr>
          <p:cNvGrpSpPr/>
          <p:nvPr/>
        </p:nvGrpSpPr>
        <p:grpSpPr>
          <a:xfrm>
            <a:off x="9467826" y="5290552"/>
            <a:ext cx="4603953" cy="3707569"/>
            <a:chOff x="9519820" y="5510572"/>
            <a:chExt cx="5321540" cy="4145906"/>
          </a:xfrm>
        </p:grpSpPr>
        <p:grpSp>
          <p:nvGrpSpPr>
            <p:cNvPr id="12" name="Group 11">
              <a:extLst>
                <a:ext uri="{FF2B5EF4-FFF2-40B4-BE49-F238E27FC236}">
                  <a16:creationId xmlns:a16="http://schemas.microsoft.com/office/drawing/2014/main" id="{DEA0CB8A-5782-B86C-0877-E70CFCD98D9D}"/>
                </a:ext>
              </a:extLst>
            </p:cNvPr>
            <p:cNvGrpSpPr/>
            <p:nvPr/>
          </p:nvGrpSpPr>
          <p:grpSpPr>
            <a:xfrm>
              <a:off x="9519820" y="5510572"/>
              <a:ext cx="5321540" cy="4145906"/>
              <a:chOff x="427404" y="1730829"/>
              <a:chExt cx="6016939" cy="4687678"/>
            </a:xfrm>
          </p:grpSpPr>
          <p:sp>
            <p:nvSpPr>
              <p:cNvPr id="35" name="Rectangle: Rounded Corners 34">
                <a:extLst>
                  <a:ext uri="{FF2B5EF4-FFF2-40B4-BE49-F238E27FC236}">
                    <a16:creationId xmlns:a16="http://schemas.microsoft.com/office/drawing/2014/main" id="{7DB99283-FA20-04C0-37A0-36AF12F01F9C}"/>
                  </a:ext>
                </a:extLst>
              </p:cNvPr>
              <p:cNvSpPr>
                <a:spLocks/>
              </p:cNvSpPr>
              <p:nvPr/>
            </p:nvSpPr>
            <p:spPr>
              <a:xfrm>
                <a:off x="537873" y="1817375"/>
                <a:ext cx="5796000" cy="3852000"/>
              </a:xfrm>
              <a:prstGeom prst="roundRect">
                <a:avLst>
                  <a:gd name="adj" fmla="val 3485"/>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UGent Panno Text" panose="02000506040000040003"/>
                </a:endParaRPr>
              </a:p>
            </p:txBody>
          </p:sp>
          <p:sp>
            <p:nvSpPr>
              <p:cNvPr id="36" name="Rectangle: Rounded Corners 35">
                <a:extLst>
                  <a:ext uri="{FF2B5EF4-FFF2-40B4-BE49-F238E27FC236}">
                    <a16:creationId xmlns:a16="http://schemas.microsoft.com/office/drawing/2014/main" id="{E44EFE89-0167-CFE7-70DA-AE487AFF9F7D}"/>
                  </a:ext>
                </a:extLst>
              </p:cNvPr>
              <p:cNvSpPr/>
              <p:nvPr/>
            </p:nvSpPr>
            <p:spPr>
              <a:xfrm>
                <a:off x="427404" y="1730829"/>
                <a:ext cx="6016939" cy="4065546"/>
              </a:xfrm>
              <a:prstGeom prst="roundRect">
                <a:avLst>
                  <a:gd name="adj" fmla="val 6311"/>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UGent Panno Text" panose="02000506040000040003"/>
                </a:endParaRPr>
              </a:p>
            </p:txBody>
          </p:sp>
          <p:sp>
            <p:nvSpPr>
              <p:cNvPr id="37" name="Rectangle 36">
                <a:extLst>
                  <a:ext uri="{FF2B5EF4-FFF2-40B4-BE49-F238E27FC236}">
                    <a16:creationId xmlns:a16="http://schemas.microsoft.com/office/drawing/2014/main" id="{187418B9-7506-4DDC-443B-F25022256C09}"/>
                  </a:ext>
                </a:extLst>
              </p:cNvPr>
              <p:cNvSpPr/>
              <p:nvPr/>
            </p:nvSpPr>
            <p:spPr>
              <a:xfrm>
                <a:off x="3036305" y="5796375"/>
                <a:ext cx="941519" cy="622132"/>
              </a:xfrm>
              <a:prstGeom prst="rect">
                <a:avLst/>
              </a:prstGeom>
              <a:solidFill>
                <a:schemeClr val="accent3"/>
              </a:solid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latin typeface="UGent Panno Text" panose="02000506040000040003"/>
                </a:endParaRPr>
              </a:p>
            </p:txBody>
          </p:sp>
          <p:cxnSp>
            <p:nvCxnSpPr>
              <p:cNvPr id="38" name="Straight Connector 37">
                <a:extLst>
                  <a:ext uri="{FF2B5EF4-FFF2-40B4-BE49-F238E27FC236}">
                    <a16:creationId xmlns:a16="http://schemas.microsoft.com/office/drawing/2014/main" id="{F9C64655-1732-FE2D-D1F1-3A463E50A015}"/>
                  </a:ext>
                </a:extLst>
              </p:cNvPr>
              <p:cNvCxnSpPr/>
              <p:nvPr/>
            </p:nvCxnSpPr>
            <p:spPr>
              <a:xfrm>
                <a:off x="1670437" y="6418507"/>
                <a:ext cx="3699777" cy="0"/>
              </a:xfrm>
              <a:prstGeom prst="line">
                <a:avLst/>
              </a:prstGeom>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grpSp>
        <p:sp>
          <p:nvSpPr>
            <p:cNvPr id="13" name="TextBox 12">
              <a:extLst>
                <a:ext uri="{FF2B5EF4-FFF2-40B4-BE49-F238E27FC236}">
                  <a16:creationId xmlns:a16="http://schemas.microsoft.com/office/drawing/2014/main" id="{582DADEB-C127-5F74-79F8-1FAF36A7DE2C}"/>
                </a:ext>
              </a:extLst>
            </p:cNvPr>
            <p:cNvSpPr txBox="1"/>
            <p:nvPr/>
          </p:nvSpPr>
          <p:spPr>
            <a:xfrm>
              <a:off x="13042537" y="8455941"/>
              <a:ext cx="1296088"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llllllllllllllll</a:t>
              </a:r>
              <a:r>
                <a:rPr lang="en-US" sz="1800" spc="-260">
                  <a:solidFill>
                    <a:schemeClr val="accent2">
                      <a:lumMod val="90000"/>
                    </a:schemeClr>
                  </a:solidFill>
                  <a:latin typeface="UGent Panno Text" panose="02000506040000040003"/>
                  <a:ea typeface="Yu Gothic UI Semibold" panose="020B0700000000000000" pitchFamily="34" charset="-128"/>
                </a:rPr>
                <a:t> </a:t>
              </a:r>
              <a:r>
                <a:rPr lang="en-US" sz="1800" spc="-260" err="1">
                  <a:solidFill>
                    <a:schemeClr val="accent2">
                      <a:lumMod val="90000"/>
                    </a:schemeClr>
                  </a:solidFill>
                  <a:latin typeface="UGent Panno Text" panose="02000506040000040003"/>
                  <a:ea typeface="Yu Gothic UI Semibold" panose="020B0700000000000000" pitchFamily="34" charset="-128"/>
                </a:rPr>
                <a:t>llllllllllllll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14" name="TextBox 13">
              <a:extLst>
                <a:ext uri="{FF2B5EF4-FFF2-40B4-BE49-F238E27FC236}">
                  <a16:creationId xmlns:a16="http://schemas.microsoft.com/office/drawing/2014/main" id="{7A8ADC05-FC19-887D-CF20-6CE95C1F1223}"/>
                </a:ext>
              </a:extLst>
            </p:cNvPr>
            <p:cNvSpPr txBox="1"/>
            <p:nvPr/>
          </p:nvSpPr>
          <p:spPr>
            <a:xfrm>
              <a:off x="13096529" y="6856344"/>
              <a:ext cx="1323418"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a:t>
              </a:r>
              <a:r>
                <a:rPr lang="en-US" sz="1800" spc="-260">
                  <a:solidFill>
                    <a:schemeClr val="accent2">
                      <a:lumMod val="90000"/>
                    </a:schemeClr>
                  </a:solidFill>
                  <a:latin typeface="UGent Panno Text" panose="02000506040000040003"/>
                  <a:ea typeface="Yu Gothic UI Semibold" panose="020B0700000000000000" pitchFamily="34" charset="-128"/>
                </a:rPr>
                <a:t> </a:t>
              </a:r>
              <a:r>
                <a:rPr lang="en-US" sz="1800" spc="-260" err="1">
                  <a:solidFill>
                    <a:schemeClr val="accent2">
                      <a:lumMod val="90000"/>
                    </a:schemeClr>
                  </a:solidFill>
                  <a:latin typeface="UGent Panno Text" panose="02000506040000040003"/>
                  <a:ea typeface="Yu Gothic UI Semibold" panose="020B0700000000000000" pitchFamily="34" charset="-128"/>
                </a:rPr>
                <a:t>llllllllllllllllll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15" name="TextBox 14">
              <a:extLst>
                <a:ext uri="{FF2B5EF4-FFF2-40B4-BE49-F238E27FC236}">
                  <a16:creationId xmlns:a16="http://schemas.microsoft.com/office/drawing/2014/main" id="{3B3DDB59-CC9A-319D-9181-DE3E6D985B41}"/>
                </a:ext>
              </a:extLst>
            </p:cNvPr>
            <p:cNvSpPr txBox="1"/>
            <p:nvPr/>
          </p:nvSpPr>
          <p:spPr>
            <a:xfrm>
              <a:off x="11719119" y="6856346"/>
              <a:ext cx="1514354"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lllllllllllllllllllllllllllllllllll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16" name="TextBox 15">
              <a:extLst>
                <a:ext uri="{FF2B5EF4-FFF2-40B4-BE49-F238E27FC236}">
                  <a16:creationId xmlns:a16="http://schemas.microsoft.com/office/drawing/2014/main" id="{5EFEEA44-C01B-B1A8-4CB6-F07066BF1CA5}"/>
                </a:ext>
              </a:extLst>
            </p:cNvPr>
            <p:cNvSpPr txBox="1"/>
            <p:nvPr/>
          </p:nvSpPr>
          <p:spPr>
            <a:xfrm>
              <a:off x="11719119" y="6196403"/>
              <a:ext cx="1323418"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llllllllllllllll</a:t>
              </a:r>
              <a:r>
                <a:rPr lang="en-US" sz="1800" spc="-260">
                  <a:solidFill>
                    <a:schemeClr val="accent2">
                      <a:lumMod val="90000"/>
                    </a:schemeClr>
                  </a:solidFill>
                  <a:latin typeface="UGent Panno Text" panose="02000506040000040003"/>
                  <a:ea typeface="Yu Gothic UI Semibold" panose="020B0700000000000000" pitchFamily="34" charset="-128"/>
                </a:rPr>
                <a:t> </a:t>
              </a:r>
              <a:r>
                <a:rPr lang="en-US" sz="1800" spc="-260" err="1">
                  <a:solidFill>
                    <a:schemeClr val="accent2">
                      <a:lumMod val="90000"/>
                    </a:schemeClr>
                  </a:solidFill>
                  <a:latin typeface="UGent Panno Text" panose="02000506040000040003"/>
                  <a:ea typeface="Yu Gothic UI Semibold" panose="020B0700000000000000" pitchFamily="34" charset="-128"/>
                </a:rPr>
                <a:t>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17" name="TextBox 16">
              <a:extLst>
                <a:ext uri="{FF2B5EF4-FFF2-40B4-BE49-F238E27FC236}">
                  <a16:creationId xmlns:a16="http://schemas.microsoft.com/office/drawing/2014/main" id="{87FE1566-C0EB-D45F-EF23-F1FD41814A4F}"/>
                </a:ext>
              </a:extLst>
            </p:cNvPr>
            <p:cNvSpPr txBox="1"/>
            <p:nvPr/>
          </p:nvSpPr>
          <p:spPr>
            <a:xfrm>
              <a:off x="11727351" y="6523091"/>
              <a:ext cx="1072226"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a:t>
              </a:r>
              <a:r>
                <a:rPr lang="en-US" sz="1800" spc="-260">
                  <a:solidFill>
                    <a:schemeClr val="accent2">
                      <a:lumMod val="90000"/>
                    </a:schemeClr>
                  </a:solidFill>
                  <a:latin typeface="UGent Panno Text" panose="02000506040000040003"/>
                  <a:ea typeface="Yu Gothic UI Semibold" panose="020B0700000000000000" pitchFamily="34" charset="-128"/>
                </a:rPr>
                <a:t> </a:t>
              </a:r>
              <a:r>
                <a:rPr lang="en-US" sz="1800" spc="-260" err="1">
                  <a:solidFill>
                    <a:schemeClr val="accent2">
                      <a:lumMod val="90000"/>
                    </a:schemeClr>
                  </a:solidFill>
                  <a:latin typeface="UGent Panno Text" panose="02000506040000040003"/>
                  <a:ea typeface="Yu Gothic UI Semibold" panose="020B0700000000000000" pitchFamily="34" charset="-128"/>
                </a:rPr>
                <a:t>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18" name="TextBox 17">
              <a:extLst>
                <a:ext uri="{FF2B5EF4-FFF2-40B4-BE49-F238E27FC236}">
                  <a16:creationId xmlns:a16="http://schemas.microsoft.com/office/drawing/2014/main" id="{9C4021AF-2C26-0D66-FD57-C4B15C7C4877}"/>
                </a:ext>
              </a:extLst>
            </p:cNvPr>
            <p:cNvSpPr txBox="1"/>
            <p:nvPr/>
          </p:nvSpPr>
          <p:spPr>
            <a:xfrm>
              <a:off x="11726764" y="7165128"/>
              <a:ext cx="1583301"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llllllllllllllllllll</a:t>
              </a:r>
              <a:r>
                <a:rPr lang="en-US" sz="1800" spc="-260">
                  <a:solidFill>
                    <a:schemeClr val="accent2">
                      <a:lumMod val="90000"/>
                    </a:schemeClr>
                  </a:solidFill>
                  <a:latin typeface="UGent Panno Text" panose="02000506040000040003"/>
                  <a:ea typeface="Yu Gothic UI Semibold" panose="020B0700000000000000" pitchFamily="34" charset="-128"/>
                </a:rPr>
                <a:t> </a:t>
              </a:r>
              <a:r>
                <a:rPr lang="en-US" sz="1800" spc="-260" err="1">
                  <a:solidFill>
                    <a:schemeClr val="accent2">
                      <a:lumMod val="90000"/>
                    </a:schemeClr>
                  </a:solidFill>
                  <a:latin typeface="UGent Panno Text" panose="02000506040000040003"/>
                  <a:ea typeface="Yu Gothic UI Semibold" panose="020B0700000000000000" pitchFamily="34" charset="-128"/>
                </a:rPr>
                <a:t>lllllllllllllll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19" name="TextBox 18">
              <a:extLst>
                <a:ext uri="{FF2B5EF4-FFF2-40B4-BE49-F238E27FC236}">
                  <a16:creationId xmlns:a16="http://schemas.microsoft.com/office/drawing/2014/main" id="{7C608CEE-2E50-8AFF-E486-13F260A3C7F5}"/>
                </a:ext>
              </a:extLst>
            </p:cNvPr>
            <p:cNvSpPr txBox="1"/>
            <p:nvPr/>
          </p:nvSpPr>
          <p:spPr>
            <a:xfrm>
              <a:off x="11726764" y="7488447"/>
              <a:ext cx="1156096"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20" name="TextBox 19">
              <a:extLst>
                <a:ext uri="{FF2B5EF4-FFF2-40B4-BE49-F238E27FC236}">
                  <a16:creationId xmlns:a16="http://schemas.microsoft.com/office/drawing/2014/main" id="{E510A797-2D1F-5A25-98F7-5C92AB3C03FA}"/>
                </a:ext>
              </a:extLst>
            </p:cNvPr>
            <p:cNvSpPr txBox="1"/>
            <p:nvPr/>
          </p:nvSpPr>
          <p:spPr>
            <a:xfrm>
              <a:off x="11718559" y="8455941"/>
              <a:ext cx="1408543"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llllllllllllllllllllllllllllllllll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21" name="TextBox 20">
              <a:extLst>
                <a:ext uri="{FF2B5EF4-FFF2-40B4-BE49-F238E27FC236}">
                  <a16:creationId xmlns:a16="http://schemas.microsoft.com/office/drawing/2014/main" id="{6C006FDD-DC20-0A70-92E4-3F315DAA34F5}"/>
                </a:ext>
              </a:extLst>
            </p:cNvPr>
            <p:cNvSpPr txBox="1"/>
            <p:nvPr/>
          </p:nvSpPr>
          <p:spPr>
            <a:xfrm>
              <a:off x="10214590" y="6207381"/>
              <a:ext cx="1406828" cy="287797"/>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Title</a:t>
              </a:r>
            </a:p>
          </p:txBody>
        </p:sp>
        <p:sp>
          <p:nvSpPr>
            <p:cNvPr id="22" name="TextBox 21">
              <a:extLst>
                <a:ext uri="{FF2B5EF4-FFF2-40B4-BE49-F238E27FC236}">
                  <a16:creationId xmlns:a16="http://schemas.microsoft.com/office/drawing/2014/main" id="{37544C53-331D-20C2-4AED-A51F98AC6FD4}"/>
                </a:ext>
              </a:extLst>
            </p:cNvPr>
            <p:cNvSpPr txBox="1"/>
            <p:nvPr/>
          </p:nvSpPr>
          <p:spPr>
            <a:xfrm>
              <a:off x="10214592" y="6530288"/>
              <a:ext cx="1406828" cy="287797"/>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Creator</a:t>
              </a:r>
            </a:p>
          </p:txBody>
        </p:sp>
        <p:sp>
          <p:nvSpPr>
            <p:cNvPr id="23" name="TextBox 22">
              <a:extLst>
                <a:ext uri="{FF2B5EF4-FFF2-40B4-BE49-F238E27FC236}">
                  <a16:creationId xmlns:a16="http://schemas.microsoft.com/office/drawing/2014/main" id="{796A4CA6-4737-4DDF-0ECC-F714DC40E21D}"/>
                </a:ext>
              </a:extLst>
            </p:cNvPr>
            <p:cNvSpPr txBox="1"/>
            <p:nvPr/>
          </p:nvSpPr>
          <p:spPr>
            <a:xfrm>
              <a:off x="10214589" y="7176105"/>
              <a:ext cx="1406828" cy="287797"/>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Keywords</a:t>
              </a:r>
            </a:p>
          </p:txBody>
        </p:sp>
        <p:sp>
          <p:nvSpPr>
            <p:cNvPr id="24" name="TextBox 23">
              <a:extLst>
                <a:ext uri="{FF2B5EF4-FFF2-40B4-BE49-F238E27FC236}">
                  <a16:creationId xmlns:a16="http://schemas.microsoft.com/office/drawing/2014/main" id="{7EF112E7-8D38-481A-9847-BECB2AD525F9}"/>
                </a:ext>
              </a:extLst>
            </p:cNvPr>
            <p:cNvSpPr txBox="1"/>
            <p:nvPr/>
          </p:nvSpPr>
          <p:spPr>
            <a:xfrm>
              <a:off x="10214587" y="7499012"/>
              <a:ext cx="1406828" cy="287797"/>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Temporal scope</a:t>
              </a:r>
            </a:p>
          </p:txBody>
        </p:sp>
        <p:sp>
          <p:nvSpPr>
            <p:cNvPr id="25" name="TextBox 24">
              <a:extLst>
                <a:ext uri="{FF2B5EF4-FFF2-40B4-BE49-F238E27FC236}">
                  <a16:creationId xmlns:a16="http://schemas.microsoft.com/office/drawing/2014/main" id="{27B529D2-A2D1-9E9B-AF24-1102695714B7}"/>
                </a:ext>
              </a:extLst>
            </p:cNvPr>
            <p:cNvSpPr txBox="1"/>
            <p:nvPr/>
          </p:nvSpPr>
          <p:spPr>
            <a:xfrm>
              <a:off x="10214591" y="6853197"/>
              <a:ext cx="1406828" cy="287797"/>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Abstract</a:t>
              </a:r>
            </a:p>
          </p:txBody>
        </p:sp>
        <p:sp>
          <p:nvSpPr>
            <p:cNvPr id="26" name="TextBox 25">
              <a:extLst>
                <a:ext uri="{FF2B5EF4-FFF2-40B4-BE49-F238E27FC236}">
                  <a16:creationId xmlns:a16="http://schemas.microsoft.com/office/drawing/2014/main" id="{657D2962-2926-6A44-C539-6BF976528330}"/>
                </a:ext>
              </a:extLst>
            </p:cNvPr>
            <p:cNvSpPr txBox="1"/>
            <p:nvPr/>
          </p:nvSpPr>
          <p:spPr>
            <a:xfrm>
              <a:off x="10214587" y="7821921"/>
              <a:ext cx="1406828" cy="287797"/>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File type</a:t>
              </a:r>
            </a:p>
          </p:txBody>
        </p:sp>
        <p:sp>
          <p:nvSpPr>
            <p:cNvPr id="27" name="TextBox 26">
              <a:extLst>
                <a:ext uri="{FF2B5EF4-FFF2-40B4-BE49-F238E27FC236}">
                  <a16:creationId xmlns:a16="http://schemas.microsoft.com/office/drawing/2014/main" id="{A6CA78D3-FBDA-C162-9393-3D40D3A211CF}"/>
                </a:ext>
              </a:extLst>
            </p:cNvPr>
            <p:cNvSpPr txBox="1"/>
            <p:nvPr/>
          </p:nvSpPr>
          <p:spPr>
            <a:xfrm>
              <a:off x="10214592" y="8144830"/>
              <a:ext cx="1406828" cy="287797"/>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License</a:t>
              </a:r>
            </a:p>
          </p:txBody>
        </p:sp>
        <p:sp>
          <p:nvSpPr>
            <p:cNvPr id="28" name="TextBox 27">
              <a:extLst>
                <a:ext uri="{FF2B5EF4-FFF2-40B4-BE49-F238E27FC236}">
                  <a16:creationId xmlns:a16="http://schemas.microsoft.com/office/drawing/2014/main" id="{728EE87D-9D4D-302D-E929-8F8B708B897B}"/>
                </a:ext>
              </a:extLst>
            </p:cNvPr>
            <p:cNvSpPr txBox="1"/>
            <p:nvPr/>
          </p:nvSpPr>
          <p:spPr>
            <a:xfrm>
              <a:off x="10214589" y="8360463"/>
              <a:ext cx="1406835" cy="494296"/>
            </a:xfrm>
            <a:prstGeom prst="rect">
              <a:avLst/>
            </a:prstGeom>
            <a:solidFill>
              <a:schemeClr val="accent2"/>
            </a:solidFill>
          </p:spPr>
          <p:txBody>
            <a:bodyPr wrap="square" tIns="36000" bIns="36000" rtlCol="0" anchor="ctr" anchorCtr="0">
              <a:spAutoFit/>
            </a:bodyPr>
            <a:lstStyle/>
            <a:p>
              <a:r>
                <a:rPr lang="en-US" sz="1200">
                  <a:latin typeface="UGent Panno Text" panose="02000506040000040003"/>
                </a:rPr>
                <a:t>Related publication</a:t>
              </a:r>
            </a:p>
          </p:txBody>
        </p:sp>
        <p:grpSp>
          <p:nvGrpSpPr>
            <p:cNvPr id="29" name="Group 28">
              <a:extLst>
                <a:ext uri="{FF2B5EF4-FFF2-40B4-BE49-F238E27FC236}">
                  <a16:creationId xmlns:a16="http://schemas.microsoft.com/office/drawing/2014/main" id="{5D4C6ACE-FA4A-C47E-9D6C-50FA11E197E9}"/>
                </a:ext>
              </a:extLst>
            </p:cNvPr>
            <p:cNvGrpSpPr/>
            <p:nvPr/>
          </p:nvGrpSpPr>
          <p:grpSpPr>
            <a:xfrm>
              <a:off x="9994814" y="5710555"/>
              <a:ext cx="4353888" cy="265727"/>
              <a:chOff x="787316" y="2190011"/>
              <a:chExt cx="5308684" cy="324000"/>
            </a:xfrm>
          </p:grpSpPr>
          <p:sp>
            <p:nvSpPr>
              <p:cNvPr id="32" name="Rectangle: Rounded Corners 31">
                <a:extLst>
                  <a:ext uri="{FF2B5EF4-FFF2-40B4-BE49-F238E27FC236}">
                    <a16:creationId xmlns:a16="http://schemas.microsoft.com/office/drawing/2014/main" id="{352B20EE-B5A5-1869-6F93-218E6A6119D6}"/>
                  </a:ext>
                </a:extLst>
              </p:cNvPr>
              <p:cNvSpPr/>
              <p:nvPr/>
            </p:nvSpPr>
            <p:spPr>
              <a:xfrm>
                <a:off x="787316" y="2190011"/>
                <a:ext cx="5308684" cy="324000"/>
              </a:xfrm>
              <a:prstGeom prst="roundRect">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UGent Panno Text" panose="02000506040000040003"/>
                </a:endParaRPr>
              </a:p>
            </p:txBody>
          </p:sp>
          <p:sp>
            <p:nvSpPr>
              <p:cNvPr id="33" name="Freeform: Shape 32">
                <a:extLst>
                  <a:ext uri="{FF2B5EF4-FFF2-40B4-BE49-F238E27FC236}">
                    <a16:creationId xmlns:a16="http://schemas.microsoft.com/office/drawing/2014/main" id="{22D37C40-24F9-4D4C-936D-281F38501B9C}"/>
                  </a:ext>
                </a:extLst>
              </p:cNvPr>
              <p:cNvSpPr/>
              <p:nvPr/>
            </p:nvSpPr>
            <p:spPr>
              <a:xfrm>
                <a:off x="926668" y="2420196"/>
                <a:ext cx="4680000" cy="31226"/>
              </a:xfrm>
              <a:custGeom>
                <a:avLst/>
                <a:gdLst>
                  <a:gd name="connsiteX0" fmla="*/ 450308 w 450829"/>
                  <a:gd name="connsiteY0" fmla="*/ 16101 h 31226"/>
                  <a:gd name="connsiteX1" fmla="*/ 435671 w 450829"/>
                  <a:gd name="connsiteY1" fmla="*/ 1464 h 31226"/>
                  <a:gd name="connsiteX2" fmla="*/ 16101 w 450829"/>
                  <a:gd name="connsiteY2" fmla="*/ 1464 h 31226"/>
                  <a:gd name="connsiteX3" fmla="*/ 1464 w 450829"/>
                  <a:gd name="connsiteY3" fmla="*/ 16101 h 31226"/>
                  <a:gd name="connsiteX4" fmla="*/ 16101 w 450829"/>
                  <a:gd name="connsiteY4" fmla="*/ 30738 h 31226"/>
                  <a:gd name="connsiteX5" fmla="*/ 435671 w 450829"/>
                  <a:gd name="connsiteY5" fmla="*/ 30738 h 31226"/>
                  <a:gd name="connsiteX6" fmla="*/ 450308 w 450829"/>
                  <a:gd name="connsiteY6" fmla="*/ 16101 h 31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0829" h="31226">
                    <a:moveTo>
                      <a:pt x="450308" y="16101"/>
                    </a:moveTo>
                    <a:cubicBezTo>
                      <a:pt x="450308" y="8015"/>
                      <a:pt x="443757" y="1464"/>
                      <a:pt x="435671" y="1464"/>
                    </a:cubicBezTo>
                    <a:lnTo>
                      <a:pt x="16101" y="1464"/>
                    </a:lnTo>
                    <a:cubicBezTo>
                      <a:pt x="8015" y="1464"/>
                      <a:pt x="1464" y="8015"/>
                      <a:pt x="1464" y="16101"/>
                    </a:cubicBezTo>
                    <a:cubicBezTo>
                      <a:pt x="1464" y="24187"/>
                      <a:pt x="8015" y="30738"/>
                      <a:pt x="16101" y="30738"/>
                    </a:cubicBezTo>
                    <a:lnTo>
                      <a:pt x="435671" y="30738"/>
                    </a:lnTo>
                    <a:cubicBezTo>
                      <a:pt x="443757" y="30738"/>
                      <a:pt x="450308" y="24185"/>
                      <a:pt x="450308" y="16101"/>
                    </a:cubicBezTo>
                    <a:close/>
                  </a:path>
                </a:pathLst>
              </a:custGeom>
              <a:solidFill>
                <a:schemeClr val="accent2"/>
              </a:solidFill>
              <a:ln w="9525" cap="flat">
                <a:noFill/>
                <a:prstDash val="solid"/>
                <a:miter/>
              </a:ln>
            </p:spPr>
            <p:txBody>
              <a:bodyPr rtlCol="0" anchor="ctr"/>
              <a:lstStyle/>
              <a:p>
                <a:endParaRPr lang="en-US" sz="2000">
                  <a:latin typeface="UGent Panno Text" panose="02000506040000040003"/>
                </a:endParaRPr>
              </a:p>
            </p:txBody>
          </p:sp>
          <p:sp>
            <p:nvSpPr>
              <p:cNvPr id="34" name="Freeform: Shape 33">
                <a:extLst>
                  <a:ext uri="{FF2B5EF4-FFF2-40B4-BE49-F238E27FC236}">
                    <a16:creationId xmlns:a16="http://schemas.microsoft.com/office/drawing/2014/main" id="{32B8EAE8-C603-855A-7172-86EA5CBF66AB}"/>
                  </a:ext>
                </a:extLst>
              </p:cNvPr>
              <p:cNvSpPr>
                <a:spLocks noChangeAspect="1"/>
              </p:cNvSpPr>
              <p:nvPr/>
            </p:nvSpPr>
            <p:spPr>
              <a:xfrm>
                <a:off x="5748111" y="2245181"/>
                <a:ext cx="216000" cy="216000"/>
              </a:xfrm>
              <a:custGeom>
                <a:avLst/>
                <a:gdLst>
                  <a:gd name="connsiteX0" fmla="*/ 22323 w 175647"/>
                  <a:gd name="connsiteY0" fmla="*/ 22324 h 175647"/>
                  <a:gd name="connsiteX1" fmla="*/ 22323 w 175647"/>
                  <a:gd name="connsiteY1" fmla="*/ 123212 h 175647"/>
                  <a:gd name="connsiteX2" fmla="*/ 72767 w 175647"/>
                  <a:gd name="connsiteY2" fmla="*/ 144071 h 175647"/>
                  <a:gd name="connsiteX3" fmla="*/ 111789 w 175647"/>
                  <a:gd name="connsiteY3" fmla="*/ 132490 h 175647"/>
                  <a:gd name="connsiteX4" fmla="*/ 149906 w 175647"/>
                  <a:gd name="connsiteY4" fmla="*/ 170608 h 175647"/>
                  <a:gd name="connsiteX5" fmla="*/ 160258 w 175647"/>
                  <a:gd name="connsiteY5" fmla="*/ 174894 h 175647"/>
                  <a:gd name="connsiteX6" fmla="*/ 170609 w 175647"/>
                  <a:gd name="connsiteY6" fmla="*/ 170608 h 175647"/>
                  <a:gd name="connsiteX7" fmla="*/ 170609 w 175647"/>
                  <a:gd name="connsiteY7" fmla="*/ 149907 h 175647"/>
                  <a:gd name="connsiteX8" fmla="*/ 132492 w 175647"/>
                  <a:gd name="connsiteY8" fmla="*/ 111789 h 175647"/>
                  <a:gd name="connsiteX9" fmla="*/ 123214 w 175647"/>
                  <a:gd name="connsiteY9" fmla="*/ 22326 h 175647"/>
                  <a:gd name="connsiteX10" fmla="*/ 22323 w 175647"/>
                  <a:gd name="connsiteY10" fmla="*/ 22324 h 175647"/>
                  <a:gd name="connsiteX11" fmla="*/ 102511 w 175647"/>
                  <a:gd name="connsiteY11" fmla="*/ 102511 h 175647"/>
                  <a:gd name="connsiteX12" fmla="*/ 43026 w 175647"/>
                  <a:gd name="connsiteY12" fmla="*/ 102511 h 175647"/>
                  <a:gd name="connsiteX13" fmla="*/ 43026 w 175647"/>
                  <a:gd name="connsiteY13" fmla="*/ 43025 h 175647"/>
                  <a:gd name="connsiteX14" fmla="*/ 102511 w 175647"/>
                  <a:gd name="connsiteY14" fmla="*/ 43025 h 175647"/>
                  <a:gd name="connsiteX15" fmla="*/ 102511 w 175647"/>
                  <a:gd name="connsiteY15" fmla="*/ 102511 h 17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5647" h="175647">
                    <a:moveTo>
                      <a:pt x="22323" y="22324"/>
                    </a:moveTo>
                    <a:cubicBezTo>
                      <a:pt x="-5489" y="50139"/>
                      <a:pt x="-5489" y="95397"/>
                      <a:pt x="22323" y="123212"/>
                    </a:cubicBezTo>
                    <a:cubicBezTo>
                      <a:pt x="36231" y="137119"/>
                      <a:pt x="54498" y="144071"/>
                      <a:pt x="72767" y="144071"/>
                    </a:cubicBezTo>
                    <a:cubicBezTo>
                      <a:pt x="86378" y="144071"/>
                      <a:pt x="99983" y="140207"/>
                      <a:pt x="111789" y="132490"/>
                    </a:cubicBezTo>
                    <a:lnTo>
                      <a:pt x="149906" y="170608"/>
                    </a:lnTo>
                    <a:cubicBezTo>
                      <a:pt x="152765" y="173465"/>
                      <a:pt x="156512" y="174894"/>
                      <a:pt x="160258" y="174894"/>
                    </a:cubicBezTo>
                    <a:cubicBezTo>
                      <a:pt x="164003" y="174894"/>
                      <a:pt x="167750" y="173465"/>
                      <a:pt x="170609" y="170608"/>
                    </a:cubicBezTo>
                    <a:cubicBezTo>
                      <a:pt x="176326" y="164889"/>
                      <a:pt x="176326" y="155623"/>
                      <a:pt x="170609" y="149907"/>
                    </a:cubicBezTo>
                    <a:lnTo>
                      <a:pt x="132492" y="111789"/>
                    </a:lnTo>
                    <a:cubicBezTo>
                      <a:pt x="150568" y="84134"/>
                      <a:pt x="147478" y="46593"/>
                      <a:pt x="123214" y="22326"/>
                    </a:cubicBezTo>
                    <a:cubicBezTo>
                      <a:pt x="95399" y="-5491"/>
                      <a:pt x="50138" y="-5489"/>
                      <a:pt x="22323" y="22324"/>
                    </a:cubicBezTo>
                    <a:close/>
                    <a:moveTo>
                      <a:pt x="102511" y="102511"/>
                    </a:moveTo>
                    <a:cubicBezTo>
                      <a:pt x="86115" y="118913"/>
                      <a:pt x="59426" y="118915"/>
                      <a:pt x="43026" y="102511"/>
                    </a:cubicBezTo>
                    <a:cubicBezTo>
                      <a:pt x="26627" y="86111"/>
                      <a:pt x="26627" y="59427"/>
                      <a:pt x="43026" y="43025"/>
                    </a:cubicBezTo>
                    <a:cubicBezTo>
                      <a:pt x="59426" y="26623"/>
                      <a:pt x="86113" y="26623"/>
                      <a:pt x="102511" y="43025"/>
                    </a:cubicBezTo>
                    <a:cubicBezTo>
                      <a:pt x="118912" y="59427"/>
                      <a:pt x="118912" y="86111"/>
                      <a:pt x="102511" y="102511"/>
                    </a:cubicBezTo>
                    <a:close/>
                  </a:path>
                </a:pathLst>
              </a:custGeom>
              <a:solidFill>
                <a:schemeClr val="accent2"/>
              </a:solidFill>
              <a:ln w="9525" cap="flat">
                <a:noFill/>
                <a:prstDash val="solid"/>
                <a:miter/>
              </a:ln>
            </p:spPr>
            <p:txBody>
              <a:bodyPr rtlCol="0" anchor="ctr"/>
              <a:lstStyle/>
              <a:p>
                <a:endParaRPr lang="en-US" sz="2000">
                  <a:latin typeface="UGent Panno Text" panose="02000506040000040003"/>
                </a:endParaRPr>
              </a:p>
            </p:txBody>
          </p:sp>
        </p:grpSp>
        <p:sp>
          <p:nvSpPr>
            <p:cNvPr id="30" name="TextBox 29">
              <a:extLst>
                <a:ext uri="{FF2B5EF4-FFF2-40B4-BE49-F238E27FC236}">
                  <a16:creationId xmlns:a16="http://schemas.microsoft.com/office/drawing/2014/main" id="{5F251B5B-8929-9C59-C508-F594A089F6EF}"/>
                </a:ext>
              </a:extLst>
            </p:cNvPr>
            <p:cNvSpPr txBox="1"/>
            <p:nvPr/>
          </p:nvSpPr>
          <p:spPr>
            <a:xfrm>
              <a:off x="11718559" y="8133443"/>
              <a:ext cx="604980"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sp>
          <p:nvSpPr>
            <p:cNvPr id="31" name="TextBox 30">
              <a:extLst>
                <a:ext uri="{FF2B5EF4-FFF2-40B4-BE49-F238E27FC236}">
                  <a16:creationId xmlns:a16="http://schemas.microsoft.com/office/drawing/2014/main" id="{AB112E42-16E6-99C4-0D31-EE75A98E2877}"/>
                </a:ext>
              </a:extLst>
            </p:cNvPr>
            <p:cNvSpPr txBox="1"/>
            <p:nvPr/>
          </p:nvSpPr>
          <p:spPr>
            <a:xfrm>
              <a:off x="11719117" y="7810945"/>
              <a:ext cx="408759" cy="309748"/>
            </a:xfrm>
            <a:prstGeom prst="rect">
              <a:avLst/>
            </a:prstGeom>
            <a:noFill/>
          </p:spPr>
          <p:txBody>
            <a:bodyPr wrap="square" lIns="0" tIns="0" rIns="0" bIns="0" rtlCol="0" anchor="ctr" anchorCtr="0">
              <a:spAutoFit/>
            </a:bodyPr>
            <a:lstStyle/>
            <a:p>
              <a:r>
                <a:rPr lang="en-US" sz="1800" spc="-260" err="1">
                  <a:solidFill>
                    <a:schemeClr val="accent2">
                      <a:lumMod val="90000"/>
                    </a:schemeClr>
                  </a:solidFill>
                  <a:latin typeface="UGent Panno Text" panose="02000506040000040003"/>
                  <a:ea typeface="Yu Gothic UI Semibold" panose="020B0700000000000000" pitchFamily="34" charset="-128"/>
                </a:rPr>
                <a:t>llllllll</a:t>
              </a:r>
              <a:endParaRPr lang="en-US" sz="1800" spc="-260">
                <a:solidFill>
                  <a:schemeClr val="accent2">
                    <a:lumMod val="90000"/>
                  </a:schemeClr>
                </a:solidFill>
                <a:latin typeface="UGent Panno Text" panose="02000506040000040003"/>
                <a:ea typeface="Yu Gothic UI Semibold" panose="020B0700000000000000" pitchFamily="34" charset="-128"/>
              </a:endParaRPr>
            </a:p>
          </p:txBody>
        </p:sp>
      </p:grpSp>
      <p:grpSp>
        <p:nvGrpSpPr>
          <p:cNvPr id="39" name="Group 38">
            <a:extLst>
              <a:ext uri="{FF2B5EF4-FFF2-40B4-BE49-F238E27FC236}">
                <a16:creationId xmlns:a16="http://schemas.microsoft.com/office/drawing/2014/main" id="{220B64C9-5019-10A8-F34B-8CD700E3D3FC}"/>
              </a:ext>
            </a:extLst>
          </p:cNvPr>
          <p:cNvGrpSpPr/>
          <p:nvPr/>
        </p:nvGrpSpPr>
        <p:grpSpPr>
          <a:xfrm>
            <a:off x="4717894" y="1496321"/>
            <a:ext cx="7877548" cy="1953572"/>
            <a:chOff x="3639535" y="2222891"/>
            <a:chExt cx="9163583" cy="2272497"/>
          </a:xfrm>
        </p:grpSpPr>
        <p:grpSp>
          <p:nvGrpSpPr>
            <p:cNvPr id="40" name="Group 39">
              <a:extLst>
                <a:ext uri="{FF2B5EF4-FFF2-40B4-BE49-F238E27FC236}">
                  <a16:creationId xmlns:a16="http://schemas.microsoft.com/office/drawing/2014/main" id="{8AC659B9-6769-D153-5CB3-AC0ED212AEA4}"/>
                </a:ext>
              </a:extLst>
            </p:cNvPr>
            <p:cNvGrpSpPr/>
            <p:nvPr/>
          </p:nvGrpSpPr>
          <p:grpSpPr>
            <a:xfrm>
              <a:off x="3639535" y="2222891"/>
              <a:ext cx="1397677" cy="1691734"/>
              <a:chOff x="811513" y="2817063"/>
              <a:chExt cx="1397677" cy="1691734"/>
            </a:xfrm>
          </p:grpSpPr>
          <p:sp>
            <p:nvSpPr>
              <p:cNvPr id="98" name="TextBox 97">
                <a:extLst>
                  <a:ext uri="{FF2B5EF4-FFF2-40B4-BE49-F238E27FC236}">
                    <a16:creationId xmlns:a16="http://schemas.microsoft.com/office/drawing/2014/main" id="{4A832755-24A3-9030-27F0-51336486E319}"/>
                  </a:ext>
                </a:extLst>
              </p:cNvPr>
              <p:cNvSpPr txBox="1"/>
              <p:nvPr/>
            </p:nvSpPr>
            <p:spPr>
              <a:xfrm>
                <a:off x="811513" y="3803585"/>
                <a:ext cx="1397677" cy="705212"/>
              </a:xfrm>
              <a:prstGeom prst="rect">
                <a:avLst/>
              </a:prstGeom>
              <a:noFill/>
            </p:spPr>
            <p:txBody>
              <a:bodyPr wrap="square" rtlCol="0">
                <a:spAutoFit/>
              </a:bodyPr>
              <a:lstStyle/>
              <a:p>
                <a:pPr algn="ctr"/>
                <a:r>
                  <a:rPr lang="en-US" sz="2800">
                    <a:latin typeface="UGent Panno Text" panose="02000506040000040003"/>
                  </a:rPr>
                  <a:t>WHAT</a:t>
                </a:r>
                <a:endParaRPr lang="en-US" sz="2000">
                  <a:latin typeface="UGent Panno Text" panose="02000506040000040003"/>
                </a:endParaRPr>
              </a:p>
            </p:txBody>
          </p:sp>
          <p:pic>
            <p:nvPicPr>
              <p:cNvPr id="99" name="Graphic 98" descr="Question mark">
                <a:extLst>
                  <a:ext uri="{FF2B5EF4-FFF2-40B4-BE49-F238E27FC236}">
                    <a16:creationId xmlns:a16="http://schemas.microsoft.com/office/drawing/2014/main" id="{EBF3D224-514B-DAED-2303-C9C446CA11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3152" y="2817063"/>
                <a:ext cx="914400" cy="914400"/>
              </a:xfrm>
              <a:prstGeom prst="rect">
                <a:avLst/>
              </a:prstGeom>
            </p:spPr>
          </p:pic>
        </p:grpSp>
        <p:grpSp>
          <p:nvGrpSpPr>
            <p:cNvPr id="41" name="Group 40">
              <a:extLst>
                <a:ext uri="{FF2B5EF4-FFF2-40B4-BE49-F238E27FC236}">
                  <a16:creationId xmlns:a16="http://schemas.microsoft.com/office/drawing/2014/main" id="{532856C6-4275-9FB5-10DF-3314894C9093}"/>
                </a:ext>
              </a:extLst>
            </p:cNvPr>
            <p:cNvGrpSpPr/>
            <p:nvPr/>
          </p:nvGrpSpPr>
          <p:grpSpPr>
            <a:xfrm>
              <a:off x="9852259" y="2222891"/>
              <a:ext cx="1397677" cy="1691734"/>
              <a:chOff x="2323506" y="2817063"/>
              <a:chExt cx="1397677" cy="1691734"/>
            </a:xfrm>
          </p:grpSpPr>
          <p:pic>
            <p:nvPicPr>
              <p:cNvPr id="96" name="Graphic 95" descr="User">
                <a:extLst>
                  <a:ext uri="{FF2B5EF4-FFF2-40B4-BE49-F238E27FC236}">
                    <a16:creationId xmlns:a16="http://schemas.microsoft.com/office/drawing/2014/main" id="{CBD7C151-28DA-A113-6F8A-ADDBC35BC9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10770" y="2817063"/>
                <a:ext cx="914400" cy="914400"/>
              </a:xfrm>
              <a:prstGeom prst="rect">
                <a:avLst/>
              </a:prstGeom>
            </p:spPr>
          </p:pic>
          <p:sp>
            <p:nvSpPr>
              <p:cNvPr id="97" name="TextBox 96">
                <a:extLst>
                  <a:ext uri="{FF2B5EF4-FFF2-40B4-BE49-F238E27FC236}">
                    <a16:creationId xmlns:a16="http://schemas.microsoft.com/office/drawing/2014/main" id="{F707C3F3-3322-6C93-319E-44277A55609C}"/>
                  </a:ext>
                </a:extLst>
              </p:cNvPr>
              <p:cNvSpPr txBox="1"/>
              <p:nvPr/>
            </p:nvSpPr>
            <p:spPr>
              <a:xfrm>
                <a:off x="2323506" y="3803585"/>
                <a:ext cx="1397677" cy="705212"/>
              </a:xfrm>
              <a:prstGeom prst="rect">
                <a:avLst/>
              </a:prstGeom>
              <a:noFill/>
            </p:spPr>
            <p:txBody>
              <a:bodyPr wrap="square" rtlCol="0">
                <a:spAutoFit/>
              </a:bodyPr>
              <a:lstStyle/>
              <a:p>
                <a:pPr algn="ctr"/>
                <a:r>
                  <a:rPr lang="en-US" sz="2800">
                    <a:latin typeface="UGent Panno Text" panose="02000506040000040003"/>
                  </a:rPr>
                  <a:t>WHO</a:t>
                </a:r>
                <a:endParaRPr lang="en-US" sz="2000">
                  <a:latin typeface="UGent Panno Text" panose="02000506040000040003"/>
                </a:endParaRPr>
              </a:p>
            </p:txBody>
          </p:sp>
        </p:grpSp>
        <p:grpSp>
          <p:nvGrpSpPr>
            <p:cNvPr id="42" name="Group 41">
              <a:extLst>
                <a:ext uri="{FF2B5EF4-FFF2-40B4-BE49-F238E27FC236}">
                  <a16:creationId xmlns:a16="http://schemas.microsoft.com/office/drawing/2014/main" id="{27837278-3474-8F87-4496-990BF1C79B1D}"/>
                </a:ext>
              </a:extLst>
            </p:cNvPr>
            <p:cNvGrpSpPr/>
            <p:nvPr/>
          </p:nvGrpSpPr>
          <p:grpSpPr>
            <a:xfrm>
              <a:off x="11405441" y="2222891"/>
              <a:ext cx="1397677" cy="1691734"/>
              <a:chOff x="3916246" y="2817063"/>
              <a:chExt cx="1397677" cy="1691734"/>
            </a:xfrm>
          </p:grpSpPr>
          <p:pic>
            <p:nvPicPr>
              <p:cNvPr id="89" name="Graphic 88" descr="Lightbulb and gear">
                <a:extLst>
                  <a:ext uri="{FF2B5EF4-FFF2-40B4-BE49-F238E27FC236}">
                    <a16:creationId xmlns:a16="http://schemas.microsoft.com/office/drawing/2014/main" id="{A028DAC1-F0AB-B68C-CD50-F7078FF942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157885" y="2817063"/>
                <a:ext cx="914400" cy="914400"/>
              </a:xfrm>
              <a:prstGeom prst="rect">
                <a:avLst/>
              </a:prstGeom>
            </p:spPr>
          </p:pic>
          <p:sp>
            <p:nvSpPr>
              <p:cNvPr id="90" name="TextBox 89">
                <a:extLst>
                  <a:ext uri="{FF2B5EF4-FFF2-40B4-BE49-F238E27FC236}">
                    <a16:creationId xmlns:a16="http://schemas.microsoft.com/office/drawing/2014/main" id="{BD25CA09-09E3-43B3-81A0-89C3BCDE8DEA}"/>
                  </a:ext>
                </a:extLst>
              </p:cNvPr>
              <p:cNvSpPr txBox="1"/>
              <p:nvPr/>
            </p:nvSpPr>
            <p:spPr>
              <a:xfrm>
                <a:off x="3916246" y="3803585"/>
                <a:ext cx="1397677" cy="705212"/>
              </a:xfrm>
              <a:prstGeom prst="rect">
                <a:avLst/>
              </a:prstGeom>
              <a:noFill/>
            </p:spPr>
            <p:txBody>
              <a:bodyPr wrap="square" rtlCol="0">
                <a:spAutoFit/>
              </a:bodyPr>
              <a:lstStyle/>
              <a:p>
                <a:pPr algn="ctr"/>
                <a:r>
                  <a:rPr lang="en-US" sz="2800">
                    <a:latin typeface="UGent Panno Text" panose="02000506040000040003"/>
                  </a:rPr>
                  <a:t>WHY</a:t>
                </a:r>
                <a:endParaRPr lang="en-US" sz="2000">
                  <a:latin typeface="UGent Panno Text" panose="02000506040000040003"/>
                </a:endParaRPr>
              </a:p>
            </p:txBody>
          </p:sp>
        </p:grpSp>
        <p:grpSp>
          <p:nvGrpSpPr>
            <p:cNvPr id="43" name="Group 42">
              <a:extLst>
                <a:ext uri="{FF2B5EF4-FFF2-40B4-BE49-F238E27FC236}">
                  <a16:creationId xmlns:a16="http://schemas.microsoft.com/office/drawing/2014/main" id="{74AA872F-763C-630D-D79C-6BB1FBC2E49E}"/>
                </a:ext>
              </a:extLst>
            </p:cNvPr>
            <p:cNvGrpSpPr/>
            <p:nvPr/>
          </p:nvGrpSpPr>
          <p:grpSpPr>
            <a:xfrm>
              <a:off x="6745897" y="2222891"/>
              <a:ext cx="1397677" cy="2272497"/>
              <a:chOff x="5625536" y="2817063"/>
              <a:chExt cx="1397677" cy="2272497"/>
            </a:xfrm>
          </p:grpSpPr>
          <p:pic>
            <p:nvPicPr>
              <p:cNvPr id="87" name="Graphic 86" descr="Map with pin">
                <a:extLst>
                  <a:ext uri="{FF2B5EF4-FFF2-40B4-BE49-F238E27FC236}">
                    <a16:creationId xmlns:a16="http://schemas.microsoft.com/office/drawing/2014/main" id="{EB610F51-54AB-FA9E-4EB8-40AA10A1C61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7175" y="2817063"/>
                <a:ext cx="914400" cy="914400"/>
              </a:xfrm>
              <a:prstGeom prst="rect">
                <a:avLst/>
              </a:prstGeom>
            </p:spPr>
          </p:pic>
          <p:sp>
            <p:nvSpPr>
              <p:cNvPr id="88" name="TextBox 87">
                <a:extLst>
                  <a:ext uri="{FF2B5EF4-FFF2-40B4-BE49-F238E27FC236}">
                    <a16:creationId xmlns:a16="http://schemas.microsoft.com/office/drawing/2014/main" id="{4D2C5BF5-EE63-438D-BBC8-35985384F2E0}"/>
                  </a:ext>
                </a:extLst>
              </p:cNvPr>
              <p:cNvSpPr txBox="1"/>
              <p:nvPr/>
            </p:nvSpPr>
            <p:spPr>
              <a:xfrm>
                <a:off x="5625536" y="3803585"/>
                <a:ext cx="1397677" cy="1285975"/>
              </a:xfrm>
              <a:prstGeom prst="rect">
                <a:avLst/>
              </a:prstGeom>
              <a:noFill/>
            </p:spPr>
            <p:txBody>
              <a:bodyPr wrap="square" rtlCol="0">
                <a:spAutoFit/>
              </a:bodyPr>
              <a:lstStyle/>
              <a:p>
                <a:pPr algn="ctr"/>
                <a:r>
                  <a:rPr lang="en-US" sz="2800">
                    <a:latin typeface="UGent Panno Text" panose="02000506040000040003"/>
                  </a:rPr>
                  <a:t>WHERE</a:t>
                </a:r>
                <a:endParaRPr lang="en-US" sz="2000">
                  <a:latin typeface="UGent Panno Text" panose="02000506040000040003"/>
                </a:endParaRPr>
              </a:p>
            </p:txBody>
          </p:sp>
        </p:grpSp>
        <p:grpSp>
          <p:nvGrpSpPr>
            <p:cNvPr id="44" name="Group 43">
              <a:extLst>
                <a:ext uri="{FF2B5EF4-FFF2-40B4-BE49-F238E27FC236}">
                  <a16:creationId xmlns:a16="http://schemas.microsoft.com/office/drawing/2014/main" id="{8D027961-08B7-0811-6A08-0DB1C3B30BDD}"/>
                </a:ext>
              </a:extLst>
            </p:cNvPr>
            <p:cNvGrpSpPr/>
            <p:nvPr/>
          </p:nvGrpSpPr>
          <p:grpSpPr>
            <a:xfrm>
              <a:off x="5192716" y="2222891"/>
              <a:ext cx="1397677" cy="1691734"/>
              <a:chOff x="7607848" y="2817063"/>
              <a:chExt cx="1397677" cy="1691734"/>
            </a:xfrm>
          </p:grpSpPr>
          <p:pic>
            <p:nvPicPr>
              <p:cNvPr id="85" name="Graphic 84" descr="Monthly calendar">
                <a:extLst>
                  <a:ext uri="{FF2B5EF4-FFF2-40B4-BE49-F238E27FC236}">
                    <a16:creationId xmlns:a16="http://schemas.microsoft.com/office/drawing/2014/main" id="{235273FC-4734-77C8-0747-31F0E27D04B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849487" y="2817063"/>
                <a:ext cx="914400" cy="914400"/>
              </a:xfrm>
              <a:prstGeom prst="rect">
                <a:avLst/>
              </a:prstGeom>
            </p:spPr>
          </p:pic>
          <p:sp>
            <p:nvSpPr>
              <p:cNvPr id="86" name="TextBox 85">
                <a:extLst>
                  <a:ext uri="{FF2B5EF4-FFF2-40B4-BE49-F238E27FC236}">
                    <a16:creationId xmlns:a16="http://schemas.microsoft.com/office/drawing/2014/main" id="{482A3EA3-056E-6B03-A62E-DACEFC847E93}"/>
                  </a:ext>
                </a:extLst>
              </p:cNvPr>
              <p:cNvSpPr txBox="1"/>
              <p:nvPr/>
            </p:nvSpPr>
            <p:spPr>
              <a:xfrm>
                <a:off x="7607848" y="3803585"/>
                <a:ext cx="1397677" cy="705212"/>
              </a:xfrm>
              <a:prstGeom prst="rect">
                <a:avLst/>
              </a:prstGeom>
              <a:noFill/>
            </p:spPr>
            <p:txBody>
              <a:bodyPr wrap="square" rtlCol="0">
                <a:spAutoFit/>
              </a:bodyPr>
              <a:lstStyle/>
              <a:p>
                <a:pPr algn="ctr"/>
                <a:r>
                  <a:rPr lang="en-US" sz="2800">
                    <a:latin typeface="UGent Panno Text" panose="02000506040000040003"/>
                  </a:rPr>
                  <a:t>WHEN</a:t>
                </a:r>
                <a:endParaRPr lang="en-US" sz="2000">
                  <a:latin typeface="UGent Panno Text" panose="02000506040000040003"/>
                </a:endParaRPr>
              </a:p>
            </p:txBody>
          </p:sp>
        </p:grpSp>
        <p:grpSp>
          <p:nvGrpSpPr>
            <p:cNvPr id="45" name="Group 44">
              <a:extLst>
                <a:ext uri="{FF2B5EF4-FFF2-40B4-BE49-F238E27FC236}">
                  <a16:creationId xmlns:a16="http://schemas.microsoft.com/office/drawing/2014/main" id="{32997EEC-4423-5E5A-15E0-2CF1A66108A5}"/>
                </a:ext>
              </a:extLst>
            </p:cNvPr>
            <p:cNvGrpSpPr/>
            <p:nvPr/>
          </p:nvGrpSpPr>
          <p:grpSpPr>
            <a:xfrm>
              <a:off x="8299078" y="2222891"/>
              <a:ext cx="1397677" cy="1691734"/>
              <a:chOff x="9590160" y="2817063"/>
              <a:chExt cx="1397677" cy="1691734"/>
            </a:xfrm>
          </p:grpSpPr>
          <p:pic>
            <p:nvPicPr>
              <p:cNvPr id="46" name="Graphic 45" descr="Microscope">
                <a:extLst>
                  <a:ext uri="{FF2B5EF4-FFF2-40B4-BE49-F238E27FC236}">
                    <a16:creationId xmlns:a16="http://schemas.microsoft.com/office/drawing/2014/main" id="{60634213-383C-0C3C-0367-D7A4896B827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831799" y="2817063"/>
                <a:ext cx="914400" cy="914400"/>
              </a:xfrm>
              <a:prstGeom prst="rect">
                <a:avLst/>
              </a:prstGeom>
            </p:spPr>
          </p:pic>
          <p:sp>
            <p:nvSpPr>
              <p:cNvPr id="51" name="TextBox 50">
                <a:extLst>
                  <a:ext uri="{FF2B5EF4-FFF2-40B4-BE49-F238E27FC236}">
                    <a16:creationId xmlns:a16="http://schemas.microsoft.com/office/drawing/2014/main" id="{4657174C-E10A-3A1E-2F00-7EE9F34F4339}"/>
                  </a:ext>
                </a:extLst>
              </p:cNvPr>
              <p:cNvSpPr txBox="1"/>
              <p:nvPr/>
            </p:nvSpPr>
            <p:spPr>
              <a:xfrm>
                <a:off x="9590160" y="3803585"/>
                <a:ext cx="1397677" cy="705212"/>
              </a:xfrm>
              <a:prstGeom prst="rect">
                <a:avLst/>
              </a:prstGeom>
              <a:noFill/>
            </p:spPr>
            <p:txBody>
              <a:bodyPr wrap="square" rtlCol="0">
                <a:spAutoFit/>
              </a:bodyPr>
              <a:lstStyle/>
              <a:p>
                <a:pPr algn="ctr"/>
                <a:r>
                  <a:rPr lang="en-US" sz="2800">
                    <a:latin typeface="UGent Panno Text" panose="02000506040000040003"/>
                  </a:rPr>
                  <a:t>HOW</a:t>
                </a:r>
                <a:endParaRPr lang="en-US" sz="2000">
                  <a:latin typeface="UGent Panno Text" panose="02000506040000040003"/>
                </a:endParaRPr>
              </a:p>
            </p:txBody>
          </p:sp>
        </p:grpSp>
      </p:grpSp>
    </p:spTree>
    <p:extLst>
      <p:ext uri="{BB962C8B-B14F-4D97-AF65-F5344CB8AC3E}">
        <p14:creationId xmlns:p14="http://schemas.microsoft.com/office/powerpoint/2010/main" val="317557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BBBC9-9328-4D59-A841-B3E3162C196F}"/>
              </a:ext>
            </a:extLst>
          </p:cNvPr>
          <p:cNvSpPr>
            <a:spLocks noGrp="1"/>
          </p:cNvSpPr>
          <p:nvPr>
            <p:ph type="title"/>
          </p:nvPr>
        </p:nvSpPr>
        <p:spPr/>
        <p:txBody>
          <a:bodyPr/>
          <a:lstStyle/>
          <a:p>
            <a:r>
              <a:rPr lang="en-US">
                <a:latin typeface="UGent Panno Text" panose="02000506040000040003" pitchFamily="2" charset="0"/>
              </a:rPr>
              <a:t>TAGGING AND </a:t>
            </a:r>
            <a:r>
              <a:rPr lang="en-US" err="1">
                <a:latin typeface="UGent Panno Text" panose="02000506040000040003" pitchFamily="2" charset="0"/>
              </a:rPr>
              <a:t>FiLTERING</a:t>
            </a:r>
            <a:endParaRPr lang="nl-BE"/>
          </a:p>
        </p:txBody>
      </p:sp>
      <p:sp>
        <p:nvSpPr>
          <p:cNvPr id="4" name="Slide Number Placeholder 3">
            <a:extLst>
              <a:ext uri="{FF2B5EF4-FFF2-40B4-BE49-F238E27FC236}">
                <a16:creationId xmlns:a16="http://schemas.microsoft.com/office/drawing/2014/main" id="{9757F84B-C4FC-451A-A0A0-4F5490C91009}"/>
              </a:ext>
            </a:extLst>
          </p:cNvPr>
          <p:cNvSpPr>
            <a:spLocks noGrp="1"/>
          </p:cNvSpPr>
          <p:nvPr>
            <p:ph type="sldNum" sz="quarter" idx="12"/>
          </p:nvPr>
        </p:nvSpPr>
        <p:spPr/>
        <p:txBody>
          <a:bodyPr/>
          <a:lstStyle/>
          <a:p>
            <a:fld id="{7AE184E0-0BD4-4705-A12B-9B71DDE63301}" type="slidenum">
              <a:rPr lang="en-GB" noProof="0" smtClean="0"/>
              <a:t>14</a:t>
            </a:fld>
            <a:endParaRPr lang="en-GB" noProof="0"/>
          </a:p>
        </p:txBody>
      </p:sp>
      <p:pic>
        <p:nvPicPr>
          <p:cNvPr id="4098" name="Picture 2" descr="Stel Ingrediënt Waarschuwingslabel Pictogrammen. Voorkomende Allergenen  (gluten, Lactose, Soja, Maïs En Nog Veel Meer), Suiker En Transvet,  Vegetarische En Biologische Symbolen. Royalty Vrije Cliparts, Vectoren, En  Stock Illustratie. Image 43128970.">
            <a:extLst>
              <a:ext uri="{FF2B5EF4-FFF2-40B4-BE49-F238E27FC236}">
                <a16:creationId xmlns:a16="http://schemas.microsoft.com/office/drawing/2014/main" id="{4EDD1948-7681-4EE8-A949-ECE1B71D71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306" y="5492155"/>
            <a:ext cx="5452637" cy="426144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Boodschapp' helpt bij keuze in supermarkt | Sleutelstad">
            <a:extLst>
              <a:ext uri="{FF2B5EF4-FFF2-40B4-BE49-F238E27FC236}">
                <a16:creationId xmlns:a16="http://schemas.microsoft.com/office/drawing/2014/main" id="{BDC79E6B-B105-492B-8454-6FD2EAA031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306" y="1137148"/>
            <a:ext cx="5556088" cy="421757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8D7A211A-C514-4853-B034-6D0183C8B788}"/>
              </a:ext>
            </a:extLst>
          </p:cNvPr>
          <p:cNvPicPr>
            <a:picLocks noChangeAspect="1"/>
          </p:cNvPicPr>
          <p:nvPr/>
        </p:nvPicPr>
        <p:blipFill>
          <a:blip r:embed="rId5"/>
          <a:stretch>
            <a:fillRect/>
          </a:stretch>
        </p:blipFill>
        <p:spPr>
          <a:xfrm>
            <a:off x="7373690" y="1297987"/>
            <a:ext cx="8583223" cy="7535327"/>
          </a:xfrm>
          <a:prstGeom prst="rect">
            <a:avLst/>
          </a:prstGeom>
        </p:spPr>
      </p:pic>
    </p:spTree>
    <p:extLst>
      <p:ext uri="{BB962C8B-B14F-4D97-AF65-F5344CB8AC3E}">
        <p14:creationId xmlns:p14="http://schemas.microsoft.com/office/powerpoint/2010/main" val="1741584353"/>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715A0-5D29-4C73-B845-DEBC26C9D21E}"/>
              </a:ext>
            </a:extLst>
          </p:cNvPr>
          <p:cNvSpPr>
            <a:spLocks noGrp="1"/>
          </p:cNvSpPr>
          <p:nvPr>
            <p:ph type="title"/>
          </p:nvPr>
        </p:nvSpPr>
        <p:spPr>
          <a:xfrm>
            <a:off x="830118" y="252000"/>
            <a:ext cx="15705282" cy="863693"/>
          </a:xfrm>
        </p:spPr>
        <p:txBody>
          <a:bodyPr/>
          <a:lstStyle/>
          <a:p>
            <a:r>
              <a:rPr lang="en-US"/>
              <a:t>Metadata standards: generic vs. discipline specific</a:t>
            </a:r>
          </a:p>
        </p:txBody>
      </p:sp>
      <p:sp>
        <p:nvSpPr>
          <p:cNvPr id="4" name="Slide Number Placeholder 3">
            <a:extLst>
              <a:ext uri="{FF2B5EF4-FFF2-40B4-BE49-F238E27FC236}">
                <a16:creationId xmlns:a16="http://schemas.microsoft.com/office/drawing/2014/main" id="{011C3FE7-9FF5-4821-BD58-CA2CDA87126E}"/>
              </a:ext>
            </a:extLst>
          </p:cNvPr>
          <p:cNvSpPr>
            <a:spLocks noGrp="1"/>
          </p:cNvSpPr>
          <p:nvPr>
            <p:ph type="sldNum" sz="quarter" idx="12"/>
          </p:nvPr>
        </p:nvSpPr>
        <p:spPr/>
        <p:txBody>
          <a:bodyPr/>
          <a:lstStyle/>
          <a:p>
            <a:fld id="{7AE184E0-0BD4-4705-A12B-9B71DDE63301}" type="slidenum">
              <a:rPr lang="en-GB" noProof="0" smtClean="0"/>
              <a:t>15</a:t>
            </a:fld>
            <a:endParaRPr lang="en-GB" noProof="0"/>
          </a:p>
        </p:txBody>
      </p:sp>
      <p:sp>
        <p:nvSpPr>
          <p:cNvPr id="9" name="Rectangle 8">
            <a:extLst>
              <a:ext uri="{FF2B5EF4-FFF2-40B4-BE49-F238E27FC236}">
                <a16:creationId xmlns:a16="http://schemas.microsoft.com/office/drawing/2014/main" id="{407C56F8-E249-4B53-A1EB-6DE184B8E207}"/>
              </a:ext>
            </a:extLst>
          </p:cNvPr>
          <p:cNvSpPr/>
          <p:nvPr/>
        </p:nvSpPr>
        <p:spPr>
          <a:xfrm>
            <a:off x="4809433" y="4917950"/>
            <a:ext cx="3273426" cy="863694"/>
          </a:xfrm>
          <a:prstGeom prst="rect">
            <a:avLst/>
          </a:prstGeom>
          <a:solidFill>
            <a:schemeClr val="tx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a:solidFill>
                  <a:schemeClr val="bg1"/>
                </a:solidFill>
                <a:latin typeface="UGent Panno Text" panose="02000506040000040003" pitchFamily="2" charset="0"/>
              </a:rPr>
              <a:t>DataCite</a:t>
            </a:r>
          </a:p>
        </p:txBody>
      </p:sp>
      <p:sp>
        <p:nvSpPr>
          <p:cNvPr id="13" name="Rectangle 12">
            <a:extLst>
              <a:ext uri="{FF2B5EF4-FFF2-40B4-BE49-F238E27FC236}">
                <a16:creationId xmlns:a16="http://schemas.microsoft.com/office/drawing/2014/main" id="{E3919032-D7D1-4145-B0DC-1FB45AA5AB52}"/>
              </a:ext>
            </a:extLst>
          </p:cNvPr>
          <p:cNvSpPr/>
          <p:nvPr/>
        </p:nvSpPr>
        <p:spPr>
          <a:xfrm>
            <a:off x="4809433" y="5933974"/>
            <a:ext cx="3273426" cy="432000"/>
          </a:xfrm>
          <a:prstGeom prst="rect">
            <a:avLst/>
          </a:prstGeom>
          <a:solidFill>
            <a:schemeClr val="bg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FF0000"/>
                </a:solidFill>
                <a:latin typeface="UGent Panno Text" panose="02000506040000040003" pitchFamily="2" charset="0"/>
              </a:rPr>
              <a:t>*</a:t>
            </a:r>
            <a:r>
              <a:rPr lang="en-US" sz="2400">
                <a:solidFill>
                  <a:schemeClr val="tx1"/>
                </a:solidFill>
                <a:latin typeface="UGent Panno Text" panose="02000506040000040003" pitchFamily="2" charset="0"/>
              </a:rPr>
              <a:t>Identifier</a:t>
            </a:r>
          </a:p>
        </p:txBody>
      </p:sp>
      <p:sp>
        <p:nvSpPr>
          <p:cNvPr id="14" name="Rectangle 13">
            <a:extLst>
              <a:ext uri="{FF2B5EF4-FFF2-40B4-BE49-F238E27FC236}">
                <a16:creationId xmlns:a16="http://schemas.microsoft.com/office/drawing/2014/main" id="{DE14DF0A-7ED2-49DF-9EBF-62D8AA843A67}"/>
              </a:ext>
            </a:extLst>
          </p:cNvPr>
          <p:cNvSpPr/>
          <p:nvPr/>
        </p:nvSpPr>
        <p:spPr>
          <a:xfrm>
            <a:off x="4809433" y="6468711"/>
            <a:ext cx="3273426" cy="432000"/>
          </a:xfrm>
          <a:prstGeom prst="rect">
            <a:avLst/>
          </a:prstGeom>
          <a:solidFill>
            <a:schemeClr val="bg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FF0000"/>
                </a:solidFill>
                <a:latin typeface="UGent Panno Text" panose="02000506040000040003" pitchFamily="2" charset="0"/>
              </a:rPr>
              <a:t>*</a:t>
            </a:r>
            <a:r>
              <a:rPr lang="en-US" sz="2400">
                <a:solidFill>
                  <a:schemeClr val="tx1"/>
                </a:solidFill>
                <a:latin typeface="UGent Panno Text" panose="02000506040000040003" pitchFamily="2" charset="0"/>
              </a:rPr>
              <a:t>Creator</a:t>
            </a:r>
          </a:p>
        </p:txBody>
      </p:sp>
      <p:sp>
        <p:nvSpPr>
          <p:cNvPr id="15" name="Rectangle 14">
            <a:extLst>
              <a:ext uri="{FF2B5EF4-FFF2-40B4-BE49-F238E27FC236}">
                <a16:creationId xmlns:a16="http://schemas.microsoft.com/office/drawing/2014/main" id="{B28DE236-F48E-43CF-81AB-0842100C1856}"/>
              </a:ext>
            </a:extLst>
          </p:cNvPr>
          <p:cNvSpPr/>
          <p:nvPr/>
        </p:nvSpPr>
        <p:spPr>
          <a:xfrm>
            <a:off x="4809433" y="7003448"/>
            <a:ext cx="3273426" cy="432000"/>
          </a:xfrm>
          <a:prstGeom prst="rect">
            <a:avLst/>
          </a:prstGeom>
          <a:solidFill>
            <a:schemeClr val="bg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FF0000"/>
                </a:solidFill>
                <a:latin typeface="UGent Panno Text" panose="02000506040000040003" pitchFamily="2" charset="0"/>
              </a:rPr>
              <a:t>*</a:t>
            </a:r>
            <a:r>
              <a:rPr lang="en-US" sz="2400">
                <a:solidFill>
                  <a:schemeClr val="tx1"/>
                </a:solidFill>
                <a:latin typeface="UGent Panno Text" panose="02000506040000040003" pitchFamily="2" charset="0"/>
              </a:rPr>
              <a:t>Title</a:t>
            </a:r>
          </a:p>
        </p:txBody>
      </p:sp>
      <p:sp>
        <p:nvSpPr>
          <p:cNvPr id="16" name="Rectangle 15">
            <a:extLst>
              <a:ext uri="{FF2B5EF4-FFF2-40B4-BE49-F238E27FC236}">
                <a16:creationId xmlns:a16="http://schemas.microsoft.com/office/drawing/2014/main" id="{21B3230C-05E7-499A-9F33-C3008B524D70}"/>
              </a:ext>
            </a:extLst>
          </p:cNvPr>
          <p:cNvSpPr/>
          <p:nvPr/>
        </p:nvSpPr>
        <p:spPr>
          <a:xfrm>
            <a:off x="4809433" y="7538185"/>
            <a:ext cx="3273426" cy="432000"/>
          </a:xfrm>
          <a:prstGeom prst="rect">
            <a:avLst/>
          </a:prstGeom>
          <a:solidFill>
            <a:schemeClr val="bg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FF0000"/>
                </a:solidFill>
                <a:latin typeface="UGent Panno Text" panose="02000506040000040003" pitchFamily="2" charset="0"/>
              </a:rPr>
              <a:t>*</a:t>
            </a:r>
            <a:r>
              <a:rPr lang="en-US" sz="2400" err="1">
                <a:solidFill>
                  <a:schemeClr val="tx1"/>
                </a:solidFill>
                <a:latin typeface="UGent Panno Text" panose="02000506040000040003" pitchFamily="2" charset="0"/>
              </a:rPr>
              <a:t>PublicationYear</a:t>
            </a:r>
            <a:endParaRPr lang="en-US" sz="2400">
              <a:solidFill>
                <a:schemeClr val="tx1"/>
              </a:solidFill>
              <a:latin typeface="UGent Panno Text" panose="02000506040000040003" pitchFamily="2" charset="0"/>
            </a:endParaRPr>
          </a:p>
        </p:txBody>
      </p:sp>
      <p:sp>
        <p:nvSpPr>
          <p:cNvPr id="17" name="Rectangle 16">
            <a:extLst>
              <a:ext uri="{FF2B5EF4-FFF2-40B4-BE49-F238E27FC236}">
                <a16:creationId xmlns:a16="http://schemas.microsoft.com/office/drawing/2014/main" id="{F9683D73-2C05-485E-8117-7FBF64B418BB}"/>
              </a:ext>
            </a:extLst>
          </p:cNvPr>
          <p:cNvSpPr/>
          <p:nvPr/>
        </p:nvSpPr>
        <p:spPr>
          <a:xfrm>
            <a:off x="4809433" y="8072922"/>
            <a:ext cx="3273426" cy="432000"/>
          </a:xfrm>
          <a:prstGeom prst="rect">
            <a:avLst/>
          </a:prstGeom>
          <a:solidFill>
            <a:schemeClr val="bg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latin typeface="UGent Panno Text" panose="02000506040000040003" pitchFamily="2" charset="0"/>
              </a:rPr>
              <a:t>GeoLocation</a:t>
            </a:r>
            <a:endParaRPr lang="en-US" sz="2400">
              <a:solidFill>
                <a:schemeClr val="tx1"/>
              </a:solidFill>
              <a:latin typeface="UGent Panno Text" panose="02000506040000040003" pitchFamily="2" charset="0"/>
            </a:endParaRPr>
          </a:p>
        </p:txBody>
      </p:sp>
      <p:sp>
        <p:nvSpPr>
          <p:cNvPr id="57" name="Content Placeholder 6">
            <a:extLst>
              <a:ext uri="{FF2B5EF4-FFF2-40B4-BE49-F238E27FC236}">
                <a16:creationId xmlns:a16="http://schemas.microsoft.com/office/drawing/2014/main" id="{0206EF13-92CC-4141-A40E-8D008E3A3575}"/>
              </a:ext>
            </a:extLst>
          </p:cNvPr>
          <p:cNvSpPr>
            <a:spLocks noGrp="1"/>
          </p:cNvSpPr>
          <p:nvPr>
            <p:ph idx="1"/>
          </p:nvPr>
        </p:nvSpPr>
        <p:spPr>
          <a:xfrm>
            <a:off x="835825" y="1194364"/>
            <a:ext cx="15699575" cy="2625262"/>
          </a:xfrm>
        </p:spPr>
        <p:txBody>
          <a:bodyPr>
            <a:normAutofit/>
          </a:bodyPr>
          <a:lstStyle/>
          <a:p>
            <a:pPr marL="457200" lvl="1" indent="-457200"/>
            <a:r>
              <a:rPr lang="en-US" sz="3200"/>
              <a:t>Metadata standard: when a community agrees on a set of </a:t>
            </a:r>
            <a:r>
              <a:rPr lang="en-US" sz="3200" b="1"/>
              <a:t>metadata fields or elements</a:t>
            </a:r>
            <a:r>
              <a:rPr lang="en-US" sz="3200"/>
              <a:t>, obligatoriness &amp; cardinality, their meaning, allowed values (e.g. from a list of controlled vocabularies) &amp; formats. </a:t>
            </a:r>
          </a:p>
          <a:p>
            <a:pPr marL="457200" lvl="1" indent="-457200"/>
            <a:r>
              <a:rPr lang="en-US" sz="3200"/>
              <a:t>Discipline standards: to satisfy the needs of a particular scientific domain.</a:t>
            </a:r>
          </a:p>
          <a:p>
            <a:pPr marL="1042987" lvl="2" indent="-457200"/>
            <a:r>
              <a:rPr lang="en-US" sz="3200"/>
              <a:t>Typically contain additional elements &amp; rules. </a:t>
            </a:r>
          </a:p>
        </p:txBody>
      </p:sp>
      <p:sp>
        <p:nvSpPr>
          <p:cNvPr id="41" name="Rectangle 40">
            <a:extLst>
              <a:ext uri="{FF2B5EF4-FFF2-40B4-BE49-F238E27FC236}">
                <a16:creationId xmlns:a16="http://schemas.microsoft.com/office/drawing/2014/main" id="{4A1DC90C-65B2-40BA-86DC-017F66AB2E11}"/>
              </a:ext>
            </a:extLst>
          </p:cNvPr>
          <p:cNvSpPr/>
          <p:nvPr/>
        </p:nvSpPr>
        <p:spPr>
          <a:xfrm>
            <a:off x="608049" y="6109890"/>
            <a:ext cx="2768116" cy="1384995"/>
          </a:xfrm>
          <a:prstGeom prst="rect">
            <a:avLst/>
          </a:prstGeom>
        </p:spPr>
        <p:txBody>
          <a:bodyPr wrap="square">
            <a:spAutoFit/>
          </a:bodyPr>
          <a:lstStyle/>
          <a:p>
            <a:pPr algn="r"/>
            <a:r>
              <a:rPr lang="en-US" sz="2800">
                <a:latin typeface="UGent Panno Text" panose="02000506040000040003" pitchFamily="2" charset="0"/>
              </a:rPr>
              <a:t>Generic fields used in domain-agnostic data repositories</a:t>
            </a:r>
          </a:p>
        </p:txBody>
      </p:sp>
      <p:cxnSp>
        <p:nvCxnSpPr>
          <p:cNvPr id="42" name="Straight Arrow Connector 41">
            <a:extLst>
              <a:ext uri="{FF2B5EF4-FFF2-40B4-BE49-F238E27FC236}">
                <a16:creationId xmlns:a16="http://schemas.microsoft.com/office/drawing/2014/main" id="{C1D45B51-ABF3-402E-8936-0AB1D64770E9}"/>
              </a:ext>
            </a:extLst>
          </p:cNvPr>
          <p:cNvCxnSpPr>
            <a:cxnSpLocks/>
            <a:stCxn id="41" idx="3"/>
          </p:cNvCxnSpPr>
          <p:nvPr/>
        </p:nvCxnSpPr>
        <p:spPr>
          <a:xfrm flipV="1">
            <a:off x="3376165" y="6775128"/>
            <a:ext cx="1155315" cy="27260"/>
          </a:xfrm>
          <a:prstGeom prst="straightConnector1">
            <a:avLst/>
          </a:prstGeom>
          <a:ln w="31750">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3D93483F-C418-7011-D1CC-2BA35EDEE7A3}"/>
              </a:ext>
            </a:extLst>
          </p:cNvPr>
          <p:cNvGrpSpPr/>
          <p:nvPr/>
        </p:nvGrpSpPr>
        <p:grpSpPr>
          <a:xfrm>
            <a:off x="8450893" y="4917950"/>
            <a:ext cx="8682239" cy="3586972"/>
            <a:chOff x="8450893" y="4917950"/>
            <a:chExt cx="8682239" cy="3586972"/>
          </a:xfrm>
        </p:grpSpPr>
        <p:sp>
          <p:nvSpPr>
            <p:cNvPr id="11" name="Rectangle 10">
              <a:extLst>
                <a:ext uri="{FF2B5EF4-FFF2-40B4-BE49-F238E27FC236}">
                  <a16:creationId xmlns:a16="http://schemas.microsoft.com/office/drawing/2014/main" id="{21CA8A5D-F6DA-4D82-A76C-BA5D39182C7A}"/>
                </a:ext>
              </a:extLst>
            </p:cNvPr>
            <p:cNvSpPr/>
            <p:nvPr/>
          </p:nvSpPr>
          <p:spPr>
            <a:xfrm>
              <a:off x="9238174" y="4917950"/>
              <a:ext cx="3273426" cy="863694"/>
            </a:xfrm>
            <a:prstGeom prst="rect">
              <a:avLst/>
            </a:prstGeom>
            <a:solidFill>
              <a:schemeClr val="accent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bg1"/>
                  </a:solidFill>
                  <a:latin typeface="UGent Panno Text" panose="02000506040000040003" pitchFamily="2" charset="0"/>
                </a:rPr>
                <a:t>EML (Ecologic Metadata Language)</a:t>
              </a:r>
            </a:p>
          </p:txBody>
        </p:sp>
        <p:sp>
          <p:nvSpPr>
            <p:cNvPr id="25" name="Rectangle 24">
              <a:extLst>
                <a:ext uri="{FF2B5EF4-FFF2-40B4-BE49-F238E27FC236}">
                  <a16:creationId xmlns:a16="http://schemas.microsoft.com/office/drawing/2014/main" id="{A069E61B-E603-49C9-AB90-A68F0BD13AA1}"/>
                </a:ext>
              </a:extLst>
            </p:cNvPr>
            <p:cNvSpPr/>
            <p:nvPr/>
          </p:nvSpPr>
          <p:spPr>
            <a:xfrm>
              <a:off x="9238173" y="5933974"/>
              <a:ext cx="3273426" cy="432000"/>
            </a:xfrm>
            <a:prstGeom prst="rect">
              <a:avLst/>
            </a:prstGeom>
            <a:solidFill>
              <a:schemeClr val="accent2">
                <a:lumMod val="20000"/>
                <a:lumOff val="8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latin typeface="UGent Panno Text" panose="02000506040000040003" pitchFamily="2" charset="0"/>
                </a:rPr>
                <a:t>packageID</a:t>
              </a:r>
              <a:endParaRPr lang="en-US" sz="2400">
                <a:solidFill>
                  <a:schemeClr val="tx1"/>
                </a:solidFill>
                <a:latin typeface="UGent Panno Text" panose="02000506040000040003" pitchFamily="2" charset="0"/>
              </a:endParaRPr>
            </a:p>
          </p:txBody>
        </p:sp>
        <p:sp>
          <p:nvSpPr>
            <p:cNvPr id="26" name="Rectangle 25">
              <a:extLst>
                <a:ext uri="{FF2B5EF4-FFF2-40B4-BE49-F238E27FC236}">
                  <a16:creationId xmlns:a16="http://schemas.microsoft.com/office/drawing/2014/main" id="{2FF3E97C-B236-4250-88F1-DE5F83079DA7}"/>
                </a:ext>
              </a:extLst>
            </p:cNvPr>
            <p:cNvSpPr/>
            <p:nvPr/>
          </p:nvSpPr>
          <p:spPr>
            <a:xfrm>
              <a:off x="9238174" y="6468711"/>
              <a:ext cx="3273426" cy="432000"/>
            </a:xfrm>
            <a:prstGeom prst="rect">
              <a:avLst/>
            </a:prstGeom>
            <a:solidFill>
              <a:schemeClr val="accent2">
                <a:lumMod val="20000"/>
                <a:lumOff val="8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UGent Panno Text" panose="02000506040000040003" pitchFamily="2" charset="0"/>
                </a:rPr>
                <a:t>creator</a:t>
              </a:r>
            </a:p>
          </p:txBody>
        </p:sp>
        <p:sp>
          <p:nvSpPr>
            <p:cNvPr id="27" name="Rectangle 26">
              <a:extLst>
                <a:ext uri="{FF2B5EF4-FFF2-40B4-BE49-F238E27FC236}">
                  <a16:creationId xmlns:a16="http://schemas.microsoft.com/office/drawing/2014/main" id="{8BC2134A-0DF6-49CF-8BB0-2E3FAC43372D}"/>
                </a:ext>
              </a:extLst>
            </p:cNvPr>
            <p:cNvSpPr/>
            <p:nvPr/>
          </p:nvSpPr>
          <p:spPr>
            <a:xfrm>
              <a:off x="9238174" y="7003448"/>
              <a:ext cx="3273426" cy="432000"/>
            </a:xfrm>
            <a:prstGeom prst="rect">
              <a:avLst/>
            </a:prstGeom>
            <a:solidFill>
              <a:schemeClr val="accent2">
                <a:lumMod val="20000"/>
                <a:lumOff val="8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UGent Panno Text" panose="02000506040000040003" pitchFamily="2" charset="0"/>
                </a:rPr>
                <a:t>title</a:t>
              </a:r>
            </a:p>
          </p:txBody>
        </p:sp>
        <p:sp>
          <p:nvSpPr>
            <p:cNvPr id="28" name="Rectangle 27">
              <a:extLst>
                <a:ext uri="{FF2B5EF4-FFF2-40B4-BE49-F238E27FC236}">
                  <a16:creationId xmlns:a16="http://schemas.microsoft.com/office/drawing/2014/main" id="{C60821EC-C5BA-462D-AD0D-18F6330015B8}"/>
                </a:ext>
              </a:extLst>
            </p:cNvPr>
            <p:cNvSpPr/>
            <p:nvPr/>
          </p:nvSpPr>
          <p:spPr>
            <a:xfrm>
              <a:off x="9238174" y="7538185"/>
              <a:ext cx="3273426" cy="432000"/>
            </a:xfrm>
            <a:prstGeom prst="rect">
              <a:avLst/>
            </a:prstGeom>
            <a:solidFill>
              <a:schemeClr val="accent2">
                <a:lumMod val="20000"/>
                <a:lumOff val="8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latin typeface="UGent Panno Text" panose="02000506040000040003" pitchFamily="2" charset="0"/>
                </a:rPr>
                <a:t>pubDate</a:t>
              </a:r>
              <a:endParaRPr lang="en-US" sz="2400">
                <a:solidFill>
                  <a:schemeClr val="tx1"/>
                </a:solidFill>
                <a:latin typeface="UGent Panno Text" panose="02000506040000040003" pitchFamily="2" charset="0"/>
              </a:endParaRPr>
            </a:p>
          </p:txBody>
        </p:sp>
        <p:sp>
          <p:nvSpPr>
            <p:cNvPr id="29" name="Rectangle 28">
              <a:extLst>
                <a:ext uri="{FF2B5EF4-FFF2-40B4-BE49-F238E27FC236}">
                  <a16:creationId xmlns:a16="http://schemas.microsoft.com/office/drawing/2014/main" id="{D1550066-6BA1-4AA8-9116-CE2DC0D08197}"/>
                </a:ext>
              </a:extLst>
            </p:cNvPr>
            <p:cNvSpPr/>
            <p:nvPr/>
          </p:nvSpPr>
          <p:spPr>
            <a:xfrm>
              <a:off x="9238174" y="8072922"/>
              <a:ext cx="3273426" cy="432000"/>
            </a:xfrm>
            <a:prstGeom prst="rect">
              <a:avLst/>
            </a:prstGeom>
            <a:solidFill>
              <a:schemeClr val="accent2">
                <a:lumMod val="20000"/>
                <a:lumOff val="8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latin typeface="UGent Panno Text" panose="02000506040000040003" pitchFamily="2" charset="0"/>
                </a:rPr>
                <a:t>geographicCoverage</a:t>
              </a:r>
              <a:endParaRPr lang="en-US" sz="2400">
                <a:solidFill>
                  <a:schemeClr val="tx1"/>
                </a:solidFill>
                <a:latin typeface="UGent Panno Text" panose="02000506040000040003" pitchFamily="2" charset="0"/>
              </a:endParaRPr>
            </a:p>
          </p:txBody>
        </p:sp>
        <p:sp>
          <p:nvSpPr>
            <p:cNvPr id="3" name="Arrow: Left-Right 2">
              <a:extLst>
                <a:ext uri="{FF2B5EF4-FFF2-40B4-BE49-F238E27FC236}">
                  <a16:creationId xmlns:a16="http://schemas.microsoft.com/office/drawing/2014/main" id="{0DB92C0F-BDC9-4FDD-B674-45C88ACAEB06}"/>
                </a:ext>
              </a:extLst>
            </p:cNvPr>
            <p:cNvSpPr/>
            <p:nvPr/>
          </p:nvSpPr>
          <p:spPr>
            <a:xfrm>
              <a:off x="8450893" y="6802739"/>
              <a:ext cx="463731" cy="261258"/>
            </a:xfrm>
            <a:prstGeom prst="leftRightArrow">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1" name="Rectangle 50">
              <a:extLst>
                <a:ext uri="{FF2B5EF4-FFF2-40B4-BE49-F238E27FC236}">
                  <a16:creationId xmlns:a16="http://schemas.microsoft.com/office/drawing/2014/main" id="{3BABEA9C-F845-4B13-9F19-1A1FADD6C8DA}"/>
                </a:ext>
              </a:extLst>
            </p:cNvPr>
            <p:cNvSpPr/>
            <p:nvPr/>
          </p:nvSpPr>
          <p:spPr>
            <a:xfrm>
              <a:off x="13989352" y="5836752"/>
              <a:ext cx="3143780" cy="1384995"/>
            </a:xfrm>
            <a:prstGeom prst="rect">
              <a:avLst/>
            </a:prstGeom>
          </p:spPr>
          <p:txBody>
            <a:bodyPr wrap="square">
              <a:spAutoFit/>
            </a:bodyPr>
            <a:lstStyle/>
            <a:p>
              <a:r>
                <a:rPr lang="en-US" sz="2800">
                  <a:latin typeface="UGent Panno Text" panose="02000506040000040003" pitchFamily="2" charset="0"/>
                </a:rPr>
                <a:t>Used in discipline- specific data repositories (e.g. GBIF)</a:t>
              </a:r>
            </a:p>
          </p:txBody>
        </p:sp>
        <p:cxnSp>
          <p:nvCxnSpPr>
            <p:cNvPr id="54" name="Straight Arrow Connector 53">
              <a:extLst>
                <a:ext uri="{FF2B5EF4-FFF2-40B4-BE49-F238E27FC236}">
                  <a16:creationId xmlns:a16="http://schemas.microsoft.com/office/drawing/2014/main" id="{2BB8B99E-F890-461C-981B-6BA7F753DF43}"/>
                </a:ext>
              </a:extLst>
            </p:cNvPr>
            <p:cNvCxnSpPr>
              <a:cxnSpLocks/>
            </p:cNvCxnSpPr>
            <p:nvPr/>
          </p:nvCxnSpPr>
          <p:spPr>
            <a:xfrm>
              <a:off x="12704392" y="6297755"/>
              <a:ext cx="1216264" cy="245879"/>
            </a:xfrm>
            <a:prstGeom prst="straightConnector1">
              <a:avLst/>
            </a:prstGeom>
            <a:ln w="31750">
              <a:headEnd type="none" w="lg" len="lg"/>
              <a:tailEnd type="triangle"/>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5FFEDF82-C23F-392E-6189-7F87EF380553}"/>
              </a:ext>
            </a:extLst>
          </p:cNvPr>
          <p:cNvSpPr/>
          <p:nvPr/>
        </p:nvSpPr>
        <p:spPr>
          <a:xfrm>
            <a:off x="4306957" y="3233530"/>
            <a:ext cx="2862469" cy="586096"/>
          </a:xfrm>
          <a:prstGeom prst="rect">
            <a:avLst/>
          </a:prstGeom>
          <a:noFill/>
          <a:ln w="317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grpSp>
        <p:nvGrpSpPr>
          <p:cNvPr id="8" name="Group 7">
            <a:extLst>
              <a:ext uri="{FF2B5EF4-FFF2-40B4-BE49-F238E27FC236}">
                <a16:creationId xmlns:a16="http://schemas.microsoft.com/office/drawing/2014/main" id="{94E019F9-5490-8A7F-47F4-ADA36AE0993E}"/>
              </a:ext>
            </a:extLst>
          </p:cNvPr>
          <p:cNvGrpSpPr/>
          <p:nvPr/>
        </p:nvGrpSpPr>
        <p:grpSpPr>
          <a:xfrm>
            <a:off x="4809432" y="8530611"/>
            <a:ext cx="7894960" cy="586096"/>
            <a:chOff x="4809432" y="8530611"/>
            <a:chExt cx="7894960" cy="586096"/>
          </a:xfrm>
        </p:grpSpPr>
        <p:sp>
          <p:nvSpPr>
            <p:cNvPr id="30" name="Rectangle 29">
              <a:extLst>
                <a:ext uri="{FF2B5EF4-FFF2-40B4-BE49-F238E27FC236}">
                  <a16:creationId xmlns:a16="http://schemas.microsoft.com/office/drawing/2014/main" id="{3CE3D856-7A40-4787-8D1F-A4513B65621F}"/>
                </a:ext>
              </a:extLst>
            </p:cNvPr>
            <p:cNvSpPr/>
            <p:nvPr/>
          </p:nvSpPr>
          <p:spPr>
            <a:xfrm>
              <a:off x="9238173" y="8607659"/>
              <a:ext cx="3273426" cy="432000"/>
            </a:xfrm>
            <a:prstGeom prst="rect">
              <a:avLst/>
            </a:prstGeom>
            <a:solidFill>
              <a:schemeClr val="accent2">
                <a:lumMod val="20000"/>
                <a:lumOff val="8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err="1">
                  <a:solidFill>
                    <a:schemeClr val="tx1"/>
                  </a:solidFill>
                  <a:latin typeface="UGent Panno Text" panose="02000506040000040003" pitchFamily="2" charset="0"/>
                </a:rPr>
                <a:t>taxonomicCoverage</a:t>
              </a:r>
              <a:endParaRPr lang="en-US" sz="2400">
                <a:solidFill>
                  <a:schemeClr val="tx1"/>
                </a:solidFill>
                <a:latin typeface="UGent Panno Text" panose="02000506040000040003" pitchFamily="2" charset="0"/>
              </a:endParaRPr>
            </a:p>
          </p:txBody>
        </p:sp>
        <p:sp>
          <p:nvSpPr>
            <p:cNvPr id="48" name="Rectangle 47">
              <a:extLst>
                <a:ext uri="{FF2B5EF4-FFF2-40B4-BE49-F238E27FC236}">
                  <a16:creationId xmlns:a16="http://schemas.microsoft.com/office/drawing/2014/main" id="{2F5EAA19-47D9-4534-8002-F0085936DAA2}"/>
                </a:ext>
              </a:extLst>
            </p:cNvPr>
            <p:cNvSpPr/>
            <p:nvPr/>
          </p:nvSpPr>
          <p:spPr>
            <a:xfrm>
              <a:off x="4809432" y="8607659"/>
              <a:ext cx="3273426" cy="432000"/>
            </a:xfrm>
            <a:prstGeom prst="rect">
              <a:avLst/>
            </a:prstGeom>
            <a:solidFill>
              <a:schemeClr val="bg2"/>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chemeClr val="tx1"/>
                  </a:solidFill>
                  <a:latin typeface="UGent Panno Text" panose="02000506040000040003" pitchFamily="2" charset="0"/>
                </a:rPr>
                <a:t>n/a</a:t>
              </a:r>
            </a:p>
          </p:txBody>
        </p:sp>
        <p:sp>
          <p:nvSpPr>
            <p:cNvPr id="6" name="Rectangle 5">
              <a:extLst>
                <a:ext uri="{FF2B5EF4-FFF2-40B4-BE49-F238E27FC236}">
                  <a16:creationId xmlns:a16="http://schemas.microsoft.com/office/drawing/2014/main" id="{60427BE8-5568-EF31-A27D-6AE4CE40C07D}"/>
                </a:ext>
              </a:extLst>
            </p:cNvPr>
            <p:cNvSpPr/>
            <p:nvPr/>
          </p:nvSpPr>
          <p:spPr>
            <a:xfrm>
              <a:off x="9071113" y="8530611"/>
              <a:ext cx="3633279" cy="586096"/>
            </a:xfrm>
            <a:prstGeom prst="rect">
              <a:avLst/>
            </a:prstGeom>
            <a:noFill/>
            <a:ln w="317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grpSp>
    </p:spTree>
    <p:extLst>
      <p:ext uri="{BB962C8B-B14F-4D97-AF65-F5344CB8AC3E}">
        <p14:creationId xmlns:p14="http://schemas.microsoft.com/office/powerpoint/2010/main" val="377653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346CDD5-B10D-462B-B714-417710FB20B1}"/>
              </a:ext>
            </a:extLst>
          </p:cNvPr>
          <p:cNvSpPr>
            <a:spLocks noGrp="1"/>
          </p:cNvSpPr>
          <p:nvPr>
            <p:ph type="ctrTitle"/>
          </p:nvPr>
        </p:nvSpPr>
        <p:spPr/>
        <p:txBody>
          <a:bodyPr/>
          <a:lstStyle/>
          <a:p>
            <a:r>
              <a:rPr lang="en-US"/>
              <a:t>Standards &amp; Controlled vocabularies</a:t>
            </a:r>
          </a:p>
        </p:txBody>
      </p:sp>
      <p:sp>
        <p:nvSpPr>
          <p:cNvPr id="4" name="Slide Number Placeholder 3">
            <a:extLst>
              <a:ext uri="{FF2B5EF4-FFF2-40B4-BE49-F238E27FC236}">
                <a16:creationId xmlns:a16="http://schemas.microsoft.com/office/drawing/2014/main" id="{3FB43FCB-D5C7-4C4C-81BE-6D8CD871820E}"/>
              </a:ext>
            </a:extLst>
          </p:cNvPr>
          <p:cNvSpPr>
            <a:spLocks noGrp="1"/>
          </p:cNvSpPr>
          <p:nvPr>
            <p:ph type="sldNum" sz="quarter" idx="4"/>
          </p:nvPr>
        </p:nvSpPr>
        <p:spPr/>
        <p:txBody>
          <a:bodyPr/>
          <a:lstStyle/>
          <a:p>
            <a:fld id="{7AE184E0-0BD4-4705-A12B-9B71DDE63301}" type="slidenum">
              <a:rPr lang="nl-BE" smtClean="0"/>
              <a:pPr/>
              <a:t>16</a:t>
            </a:fld>
            <a:endParaRPr lang="nl-BE"/>
          </a:p>
        </p:txBody>
      </p:sp>
    </p:spTree>
    <p:extLst>
      <p:ext uri="{BB962C8B-B14F-4D97-AF65-F5344CB8AC3E}">
        <p14:creationId xmlns:p14="http://schemas.microsoft.com/office/powerpoint/2010/main" val="2158396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B25EA-DB8C-F0B7-9C71-E51FB526EA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BCAB7-C76E-17FD-232C-F8E962873704}"/>
              </a:ext>
            </a:extLst>
          </p:cNvPr>
          <p:cNvSpPr>
            <a:spLocks noGrp="1"/>
          </p:cNvSpPr>
          <p:nvPr>
            <p:ph type="title"/>
          </p:nvPr>
        </p:nvSpPr>
        <p:spPr/>
        <p:txBody>
          <a:bodyPr/>
          <a:lstStyle/>
          <a:p>
            <a:r>
              <a:rPr lang="en-US">
                <a:latin typeface="UGent Panno Text" panose="02000506040000040003" pitchFamily="2" charset="0"/>
              </a:rPr>
              <a:t>FAIR data principles</a:t>
            </a:r>
          </a:p>
        </p:txBody>
      </p:sp>
      <p:sp>
        <p:nvSpPr>
          <p:cNvPr id="165" name="TextBox 164">
            <a:extLst>
              <a:ext uri="{FF2B5EF4-FFF2-40B4-BE49-F238E27FC236}">
                <a16:creationId xmlns:a16="http://schemas.microsoft.com/office/drawing/2014/main" id="{E23B8BDD-AEE9-DF07-A84C-F185B81E2E85}"/>
              </a:ext>
            </a:extLst>
          </p:cNvPr>
          <p:cNvSpPr txBox="1"/>
          <p:nvPr/>
        </p:nvSpPr>
        <p:spPr>
          <a:xfrm>
            <a:off x="2223191" y="1489235"/>
            <a:ext cx="6198924" cy="523220"/>
          </a:xfrm>
          <a:prstGeom prst="rect">
            <a:avLst/>
          </a:prstGeom>
          <a:noFill/>
        </p:spPr>
        <p:txBody>
          <a:bodyPr wrap="square" rtlCol="0">
            <a:spAutoFit/>
          </a:bodyPr>
          <a:lstStyle/>
          <a:p>
            <a:pPr algn="r"/>
            <a:r>
              <a:rPr lang="en-GB" sz="2800">
                <a:latin typeface="UGent Panno Text" panose="02000506040000040003" pitchFamily="2" charset="0"/>
              </a:rPr>
              <a:t>Can people (and machines) easily find my data?</a:t>
            </a:r>
            <a:endParaRPr lang="nl-BE" sz="2800">
              <a:latin typeface="UGent Panno Text" panose="02000506040000040003" pitchFamily="2" charset="0"/>
            </a:endParaRPr>
          </a:p>
        </p:txBody>
      </p:sp>
      <p:sp>
        <p:nvSpPr>
          <p:cNvPr id="166" name="TextBox 165">
            <a:extLst>
              <a:ext uri="{FF2B5EF4-FFF2-40B4-BE49-F238E27FC236}">
                <a16:creationId xmlns:a16="http://schemas.microsoft.com/office/drawing/2014/main" id="{92C6FBE3-267C-9311-465D-D9C380CCD3C8}"/>
              </a:ext>
            </a:extLst>
          </p:cNvPr>
          <p:cNvSpPr txBox="1"/>
          <p:nvPr/>
        </p:nvSpPr>
        <p:spPr>
          <a:xfrm>
            <a:off x="2223191" y="3294690"/>
            <a:ext cx="6198924" cy="523220"/>
          </a:xfrm>
          <a:prstGeom prst="rect">
            <a:avLst/>
          </a:prstGeom>
          <a:noFill/>
        </p:spPr>
        <p:txBody>
          <a:bodyPr wrap="square" rtlCol="0">
            <a:spAutoFit/>
          </a:bodyPr>
          <a:lstStyle/>
          <a:p>
            <a:pPr algn="r"/>
            <a:r>
              <a:rPr lang="en-US" sz="2800">
                <a:latin typeface="UGent Panno Text" panose="02000506040000040003" pitchFamily="2" charset="0"/>
              </a:rPr>
              <a:t>Once found, is it clear who can access it and how?</a:t>
            </a:r>
          </a:p>
        </p:txBody>
      </p:sp>
      <p:sp>
        <p:nvSpPr>
          <p:cNvPr id="167" name="TextBox 166">
            <a:extLst>
              <a:ext uri="{FF2B5EF4-FFF2-40B4-BE49-F238E27FC236}">
                <a16:creationId xmlns:a16="http://schemas.microsoft.com/office/drawing/2014/main" id="{3F234C55-CC73-EA60-53C9-EDE5BC820670}"/>
              </a:ext>
            </a:extLst>
          </p:cNvPr>
          <p:cNvSpPr txBox="1"/>
          <p:nvPr/>
        </p:nvSpPr>
        <p:spPr>
          <a:xfrm>
            <a:off x="787779" y="4998122"/>
            <a:ext cx="7634336" cy="954107"/>
          </a:xfrm>
          <a:prstGeom prst="rect">
            <a:avLst/>
          </a:prstGeom>
          <a:noFill/>
        </p:spPr>
        <p:txBody>
          <a:bodyPr wrap="square" rtlCol="0">
            <a:spAutoFit/>
          </a:bodyPr>
          <a:lstStyle/>
          <a:p>
            <a:pPr algn="r"/>
            <a:r>
              <a:rPr lang="en-US" sz="2800">
                <a:latin typeface="UGent Panno Text" panose="02000506040000040003" pitchFamily="2" charset="0"/>
              </a:rPr>
              <a:t>Can it be easily integrated with other data? I</a:t>
            </a:r>
            <a:r>
              <a:rPr lang="en-GB" sz="2800">
                <a:latin typeface="UGent Panno Text" panose="02000506040000040003" pitchFamily="2" charset="0"/>
              </a:rPr>
              <a:t>s my data in common formats and uses terms everyone understands?</a:t>
            </a:r>
            <a:endParaRPr lang="nl-BE" sz="2800">
              <a:latin typeface="UGent Panno Text" panose="02000506040000040003" pitchFamily="2" charset="0"/>
            </a:endParaRPr>
          </a:p>
        </p:txBody>
      </p:sp>
      <p:sp>
        <p:nvSpPr>
          <p:cNvPr id="168" name="TextBox 167">
            <a:extLst>
              <a:ext uri="{FF2B5EF4-FFF2-40B4-BE49-F238E27FC236}">
                <a16:creationId xmlns:a16="http://schemas.microsoft.com/office/drawing/2014/main" id="{04BB6B3F-8127-587F-1D54-59EDB8EB01E2}"/>
              </a:ext>
            </a:extLst>
          </p:cNvPr>
          <p:cNvSpPr txBox="1"/>
          <p:nvPr/>
        </p:nvSpPr>
        <p:spPr>
          <a:xfrm>
            <a:off x="787779" y="6874879"/>
            <a:ext cx="7634336" cy="954107"/>
          </a:xfrm>
          <a:prstGeom prst="rect">
            <a:avLst/>
          </a:prstGeom>
          <a:noFill/>
        </p:spPr>
        <p:txBody>
          <a:bodyPr wrap="square" rtlCol="0">
            <a:spAutoFit/>
          </a:bodyPr>
          <a:lstStyle/>
          <a:p>
            <a:pPr algn="r"/>
            <a:r>
              <a:rPr lang="en-GB" sz="2800">
                <a:latin typeface="UGent Panno Text" panose="02000506040000040003" pitchFamily="2" charset="0"/>
              </a:rPr>
              <a:t>Can someone else understand and use my data? Did I provide clear descriptions, instructions, and license for reuse?</a:t>
            </a:r>
            <a:endParaRPr lang="nl-BE" sz="2800">
              <a:latin typeface="UGent Panno Text" panose="02000506040000040003" pitchFamily="2" charset="0"/>
            </a:endParaRPr>
          </a:p>
        </p:txBody>
      </p:sp>
      <p:grpSp>
        <p:nvGrpSpPr>
          <p:cNvPr id="4" name="Group 3">
            <a:extLst>
              <a:ext uri="{FF2B5EF4-FFF2-40B4-BE49-F238E27FC236}">
                <a16:creationId xmlns:a16="http://schemas.microsoft.com/office/drawing/2014/main" id="{BEE36FEF-081F-B466-2AFF-89D241CA1529}"/>
              </a:ext>
            </a:extLst>
          </p:cNvPr>
          <p:cNvGrpSpPr/>
          <p:nvPr/>
        </p:nvGrpSpPr>
        <p:grpSpPr>
          <a:xfrm>
            <a:off x="12573943" y="2800650"/>
            <a:ext cx="1689497" cy="1689497"/>
            <a:chOff x="4994537" y="2210334"/>
            <a:chExt cx="1188000" cy="1188000"/>
          </a:xfrm>
        </p:grpSpPr>
        <p:sp>
          <p:nvSpPr>
            <p:cNvPr id="5" name="Rectangle: Rounded Corners 4">
              <a:extLst>
                <a:ext uri="{FF2B5EF4-FFF2-40B4-BE49-F238E27FC236}">
                  <a16:creationId xmlns:a16="http://schemas.microsoft.com/office/drawing/2014/main" id="{4D995859-BAE7-E9BC-A0AB-AE2E09FBB53C}"/>
                </a:ext>
              </a:extLst>
            </p:cNvPr>
            <p:cNvSpPr/>
            <p:nvPr/>
          </p:nvSpPr>
          <p:spPr>
            <a:xfrm>
              <a:off x="4994537" y="2210334"/>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6" name="TextBox 5">
              <a:extLst>
                <a:ext uri="{FF2B5EF4-FFF2-40B4-BE49-F238E27FC236}">
                  <a16:creationId xmlns:a16="http://schemas.microsoft.com/office/drawing/2014/main" id="{A18A4B1D-2551-3605-EA48-58DA98A8ACA9}"/>
                </a:ext>
              </a:extLst>
            </p:cNvPr>
            <p:cNvSpPr txBox="1"/>
            <p:nvPr/>
          </p:nvSpPr>
          <p:spPr>
            <a:xfrm>
              <a:off x="5060670" y="2248975"/>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Data access via PID &amp; standard comm. protocol</a:t>
              </a:r>
            </a:p>
          </p:txBody>
        </p:sp>
        <p:pic>
          <p:nvPicPr>
            <p:cNvPr id="7" name="Picture 6">
              <a:extLst>
                <a:ext uri="{FF2B5EF4-FFF2-40B4-BE49-F238E27FC236}">
                  <a16:creationId xmlns:a16="http://schemas.microsoft.com/office/drawing/2014/main" id="{2EF3082B-F905-DF19-6E17-8DD234C239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8366" y="2808377"/>
              <a:ext cx="468000" cy="468000"/>
            </a:xfrm>
            <a:prstGeom prst="rect">
              <a:avLst/>
            </a:prstGeom>
          </p:spPr>
        </p:pic>
      </p:grpSp>
      <p:grpSp>
        <p:nvGrpSpPr>
          <p:cNvPr id="8" name="Group 7">
            <a:extLst>
              <a:ext uri="{FF2B5EF4-FFF2-40B4-BE49-F238E27FC236}">
                <a16:creationId xmlns:a16="http://schemas.microsoft.com/office/drawing/2014/main" id="{6E98236C-158F-016A-9D54-CBAF80666B05}"/>
              </a:ext>
            </a:extLst>
          </p:cNvPr>
          <p:cNvGrpSpPr/>
          <p:nvPr/>
        </p:nvGrpSpPr>
        <p:grpSpPr>
          <a:xfrm>
            <a:off x="14395513" y="2800650"/>
            <a:ext cx="1689497" cy="1689497"/>
            <a:chOff x="6283729" y="2211094"/>
            <a:chExt cx="1188000" cy="1188000"/>
          </a:xfrm>
        </p:grpSpPr>
        <p:sp>
          <p:nvSpPr>
            <p:cNvPr id="9" name="Rectangle: Rounded Corners 8">
              <a:extLst>
                <a:ext uri="{FF2B5EF4-FFF2-40B4-BE49-F238E27FC236}">
                  <a16:creationId xmlns:a16="http://schemas.microsoft.com/office/drawing/2014/main" id="{0616A59C-0CAB-C2E4-035F-CCD770D44BAB}"/>
                </a:ext>
              </a:extLst>
            </p:cNvPr>
            <p:cNvSpPr/>
            <p:nvPr/>
          </p:nvSpPr>
          <p:spPr>
            <a:xfrm>
              <a:off x="6283729" y="2211094"/>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0" name="TextBox 9">
              <a:extLst>
                <a:ext uri="{FF2B5EF4-FFF2-40B4-BE49-F238E27FC236}">
                  <a16:creationId xmlns:a16="http://schemas.microsoft.com/office/drawing/2014/main" id="{82D5B72F-13C9-94B8-2336-467155D72AEF}"/>
                </a:ext>
              </a:extLst>
            </p:cNvPr>
            <p:cNvSpPr txBox="1"/>
            <p:nvPr/>
          </p:nvSpPr>
          <p:spPr>
            <a:xfrm>
              <a:off x="6342574" y="2248975"/>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is always available</a:t>
              </a:r>
            </a:p>
          </p:txBody>
        </p:sp>
        <p:pic>
          <p:nvPicPr>
            <p:cNvPr id="11" name="Picture 10">
              <a:extLst>
                <a:ext uri="{FF2B5EF4-FFF2-40B4-BE49-F238E27FC236}">
                  <a16:creationId xmlns:a16="http://schemas.microsoft.com/office/drawing/2014/main" id="{875ABD1B-973F-763C-6543-2320CFCC74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6303" y="2742443"/>
              <a:ext cx="435935" cy="435935"/>
            </a:xfrm>
            <a:prstGeom prst="rect">
              <a:avLst/>
            </a:prstGeom>
          </p:spPr>
        </p:pic>
      </p:grpSp>
      <p:grpSp>
        <p:nvGrpSpPr>
          <p:cNvPr id="12" name="Group 11">
            <a:extLst>
              <a:ext uri="{FF2B5EF4-FFF2-40B4-BE49-F238E27FC236}">
                <a16:creationId xmlns:a16="http://schemas.microsoft.com/office/drawing/2014/main" id="{1825492D-21C9-61D3-1968-13F3CFA6180F}"/>
              </a:ext>
            </a:extLst>
          </p:cNvPr>
          <p:cNvGrpSpPr/>
          <p:nvPr/>
        </p:nvGrpSpPr>
        <p:grpSpPr>
          <a:xfrm>
            <a:off x="10741480" y="2800650"/>
            <a:ext cx="1689497" cy="1689497"/>
            <a:chOff x="3689818" y="2206869"/>
            <a:chExt cx="1188000" cy="1188000"/>
          </a:xfrm>
        </p:grpSpPr>
        <p:sp>
          <p:nvSpPr>
            <p:cNvPr id="13" name="Rectangle: Rounded Corners 12">
              <a:extLst>
                <a:ext uri="{FF2B5EF4-FFF2-40B4-BE49-F238E27FC236}">
                  <a16:creationId xmlns:a16="http://schemas.microsoft.com/office/drawing/2014/main" id="{2EB51236-D6A9-E9B5-3D65-BA8FB372EF43}"/>
                </a:ext>
              </a:extLst>
            </p:cNvPr>
            <p:cNvSpPr/>
            <p:nvPr/>
          </p:nvSpPr>
          <p:spPr>
            <a:xfrm>
              <a:off x="3689818" y="2206869"/>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4" name="TextBox 13">
              <a:extLst>
                <a:ext uri="{FF2B5EF4-FFF2-40B4-BE49-F238E27FC236}">
                  <a16:creationId xmlns:a16="http://schemas.microsoft.com/office/drawing/2014/main" id="{6EA2DE80-997D-7FD5-29A5-D523B0066F8E}"/>
                </a:ext>
              </a:extLst>
            </p:cNvPr>
            <p:cNvSpPr txBox="1"/>
            <p:nvPr/>
          </p:nvSpPr>
          <p:spPr>
            <a:xfrm>
              <a:off x="3743600" y="2248975"/>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Authentication &amp; authorization procedures</a:t>
              </a:r>
            </a:p>
          </p:txBody>
        </p:sp>
        <p:pic>
          <p:nvPicPr>
            <p:cNvPr id="15" name="Picture 14">
              <a:extLst>
                <a:ext uri="{FF2B5EF4-FFF2-40B4-BE49-F238E27FC236}">
                  <a16:creationId xmlns:a16="http://schemas.microsoft.com/office/drawing/2014/main" id="{0D3D1D6E-1CA1-AB6F-4ADD-130F4237B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53157" y="2793347"/>
              <a:ext cx="464278" cy="464278"/>
            </a:xfrm>
            <a:prstGeom prst="rect">
              <a:avLst/>
            </a:prstGeom>
          </p:spPr>
        </p:pic>
      </p:grpSp>
      <p:grpSp>
        <p:nvGrpSpPr>
          <p:cNvPr id="16" name="Group 15">
            <a:extLst>
              <a:ext uri="{FF2B5EF4-FFF2-40B4-BE49-F238E27FC236}">
                <a16:creationId xmlns:a16="http://schemas.microsoft.com/office/drawing/2014/main" id="{D6E9054A-E8A3-DB1D-DB96-A186EC549AA7}"/>
              </a:ext>
            </a:extLst>
          </p:cNvPr>
          <p:cNvGrpSpPr/>
          <p:nvPr/>
        </p:nvGrpSpPr>
        <p:grpSpPr>
          <a:xfrm>
            <a:off x="10741817" y="6515630"/>
            <a:ext cx="1689497" cy="1689497"/>
            <a:chOff x="5026198" y="4882271"/>
            <a:chExt cx="1188000" cy="1188000"/>
          </a:xfrm>
        </p:grpSpPr>
        <p:sp>
          <p:nvSpPr>
            <p:cNvPr id="17" name="Rectangle: Rounded Corners 16">
              <a:extLst>
                <a:ext uri="{FF2B5EF4-FFF2-40B4-BE49-F238E27FC236}">
                  <a16:creationId xmlns:a16="http://schemas.microsoft.com/office/drawing/2014/main" id="{DEABDAF2-6F90-55C3-C820-AEA77640FD56}"/>
                </a:ext>
              </a:extLst>
            </p:cNvPr>
            <p:cNvSpPr/>
            <p:nvPr/>
          </p:nvSpPr>
          <p:spPr>
            <a:xfrm>
              <a:off x="5026198" y="4882271"/>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18" name="TextBox 17">
              <a:extLst>
                <a:ext uri="{FF2B5EF4-FFF2-40B4-BE49-F238E27FC236}">
                  <a16:creationId xmlns:a16="http://schemas.microsoft.com/office/drawing/2014/main" id="{0EDFA970-A5F1-5C62-F16B-B2D718F50E8F}"/>
                </a:ext>
              </a:extLst>
            </p:cNvPr>
            <p:cNvSpPr txBox="1"/>
            <p:nvPr/>
          </p:nvSpPr>
          <p:spPr>
            <a:xfrm>
              <a:off x="5074750" y="4914313"/>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includes license</a:t>
              </a:r>
            </a:p>
          </p:txBody>
        </p:sp>
        <p:pic>
          <p:nvPicPr>
            <p:cNvPr id="19" name="Picture 18">
              <a:extLst>
                <a:ext uri="{FF2B5EF4-FFF2-40B4-BE49-F238E27FC236}">
                  <a16:creationId xmlns:a16="http://schemas.microsoft.com/office/drawing/2014/main" id="{D0EEB7F9-E743-78EC-312B-ED791C0CC9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81125" y="5406245"/>
              <a:ext cx="470643" cy="470643"/>
            </a:xfrm>
            <a:prstGeom prst="rect">
              <a:avLst/>
            </a:prstGeom>
          </p:spPr>
        </p:pic>
      </p:grpSp>
      <p:grpSp>
        <p:nvGrpSpPr>
          <p:cNvPr id="20" name="Group 19">
            <a:extLst>
              <a:ext uri="{FF2B5EF4-FFF2-40B4-BE49-F238E27FC236}">
                <a16:creationId xmlns:a16="http://schemas.microsoft.com/office/drawing/2014/main" id="{DC05CB70-F597-D65C-B0E2-8457DBEECDB6}"/>
              </a:ext>
            </a:extLst>
          </p:cNvPr>
          <p:cNvGrpSpPr/>
          <p:nvPr/>
        </p:nvGrpSpPr>
        <p:grpSpPr>
          <a:xfrm>
            <a:off x="12570475" y="6515630"/>
            <a:ext cx="1689497" cy="1689497"/>
            <a:chOff x="6344346" y="4880736"/>
            <a:chExt cx="1188000" cy="1188000"/>
          </a:xfrm>
        </p:grpSpPr>
        <p:sp>
          <p:nvSpPr>
            <p:cNvPr id="21" name="Rectangle: Rounded Corners 20">
              <a:extLst>
                <a:ext uri="{FF2B5EF4-FFF2-40B4-BE49-F238E27FC236}">
                  <a16:creationId xmlns:a16="http://schemas.microsoft.com/office/drawing/2014/main" id="{61F5C76E-29E6-3EDE-C23D-0EB90BC8118C}"/>
                </a:ext>
              </a:extLst>
            </p:cNvPr>
            <p:cNvSpPr/>
            <p:nvPr/>
          </p:nvSpPr>
          <p:spPr>
            <a:xfrm>
              <a:off x="6344346" y="4880736"/>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22" name="TextBox 21">
              <a:extLst>
                <a:ext uri="{FF2B5EF4-FFF2-40B4-BE49-F238E27FC236}">
                  <a16:creationId xmlns:a16="http://schemas.microsoft.com/office/drawing/2014/main" id="{B63C3390-8900-9386-2410-F21E9DA57CEB}"/>
                </a:ext>
              </a:extLst>
            </p:cNvPr>
            <p:cNvSpPr txBox="1"/>
            <p:nvPr/>
          </p:nvSpPr>
          <p:spPr>
            <a:xfrm>
              <a:off x="6375986" y="4914313"/>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includes provenance</a:t>
              </a:r>
            </a:p>
          </p:txBody>
        </p:sp>
        <p:pic>
          <p:nvPicPr>
            <p:cNvPr id="23" name="Picture 22">
              <a:extLst>
                <a:ext uri="{FF2B5EF4-FFF2-40B4-BE49-F238E27FC236}">
                  <a16:creationId xmlns:a16="http://schemas.microsoft.com/office/drawing/2014/main" id="{642AD5FB-263A-19EC-AC01-1ABC91E597B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5682" y="5437609"/>
              <a:ext cx="504000" cy="504000"/>
            </a:xfrm>
            <a:prstGeom prst="rect">
              <a:avLst/>
            </a:prstGeom>
          </p:spPr>
        </p:pic>
      </p:grpSp>
      <p:grpSp>
        <p:nvGrpSpPr>
          <p:cNvPr id="24" name="Group 23">
            <a:extLst>
              <a:ext uri="{FF2B5EF4-FFF2-40B4-BE49-F238E27FC236}">
                <a16:creationId xmlns:a16="http://schemas.microsoft.com/office/drawing/2014/main" id="{8BE0F60B-FCF6-0BAB-231A-28FC35866163}"/>
              </a:ext>
            </a:extLst>
          </p:cNvPr>
          <p:cNvGrpSpPr/>
          <p:nvPr/>
        </p:nvGrpSpPr>
        <p:grpSpPr>
          <a:xfrm>
            <a:off x="14398070" y="6515630"/>
            <a:ext cx="1689497" cy="1689497"/>
            <a:chOff x="7624917" y="4886118"/>
            <a:chExt cx="1188000" cy="1188000"/>
          </a:xfrm>
        </p:grpSpPr>
        <p:sp>
          <p:nvSpPr>
            <p:cNvPr id="25" name="Rectangle: Rounded Corners 24">
              <a:extLst>
                <a:ext uri="{FF2B5EF4-FFF2-40B4-BE49-F238E27FC236}">
                  <a16:creationId xmlns:a16="http://schemas.microsoft.com/office/drawing/2014/main" id="{1811B934-E862-8B54-F20E-80C76C332DEA}"/>
                </a:ext>
              </a:extLst>
            </p:cNvPr>
            <p:cNvSpPr/>
            <p:nvPr/>
          </p:nvSpPr>
          <p:spPr>
            <a:xfrm>
              <a:off x="7624917" y="4886118"/>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26" name="TextBox 25">
              <a:extLst>
                <a:ext uri="{FF2B5EF4-FFF2-40B4-BE49-F238E27FC236}">
                  <a16:creationId xmlns:a16="http://schemas.microsoft.com/office/drawing/2014/main" id="{1E2BBD14-19EA-74E6-693D-04E94936DE30}"/>
                </a:ext>
              </a:extLst>
            </p:cNvPr>
            <p:cNvSpPr txBox="1"/>
            <p:nvPr/>
          </p:nvSpPr>
          <p:spPr>
            <a:xfrm>
              <a:off x="7677221" y="4914313"/>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community standards</a:t>
              </a:r>
            </a:p>
          </p:txBody>
        </p:sp>
        <p:pic>
          <p:nvPicPr>
            <p:cNvPr id="27" name="Picture 26">
              <a:extLst>
                <a:ext uri="{FF2B5EF4-FFF2-40B4-BE49-F238E27FC236}">
                  <a16:creationId xmlns:a16="http://schemas.microsoft.com/office/drawing/2014/main" id="{C6589533-65C1-84E2-347C-D1B026220E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83596" y="5460929"/>
              <a:ext cx="470643" cy="470643"/>
            </a:xfrm>
            <a:prstGeom prst="rect">
              <a:avLst/>
            </a:prstGeom>
          </p:spPr>
        </p:pic>
      </p:grpSp>
      <p:grpSp>
        <p:nvGrpSpPr>
          <p:cNvPr id="28" name="Group 27">
            <a:extLst>
              <a:ext uri="{FF2B5EF4-FFF2-40B4-BE49-F238E27FC236}">
                <a16:creationId xmlns:a16="http://schemas.microsoft.com/office/drawing/2014/main" id="{EB75B301-E157-7919-60AE-A7AD2DE73C56}"/>
              </a:ext>
            </a:extLst>
          </p:cNvPr>
          <p:cNvGrpSpPr/>
          <p:nvPr/>
        </p:nvGrpSpPr>
        <p:grpSpPr>
          <a:xfrm>
            <a:off x="10736678" y="936364"/>
            <a:ext cx="1689497" cy="1689497"/>
            <a:chOff x="5092402" y="688801"/>
            <a:chExt cx="1188000" cy="1188000"/>
          </a:xfrm>
        </p:grpSpPr>
        <p:sp>
          <p:nvSpPr>
            <p:cNvPr id="29" name="Rectangle: Rounded Corners 28">
              <a:extLst>
                <a:ext uri="{FF2B5EF4-FFF2-40B4-BE49-F238E27FC236}">
                  <a16:creationId xmlns:a16="http://schemas.microsoft.com/office/drawing/2014/main" id="{FAD200C3-A121-FF86-E329-F5F944C6554C}"/>
                </a:ext>
              </a:extLst>
            </p:cNvPr>
            <p:cNvSpPr/>
            <p:nvPr/>
          </p:nvSpPr>
          <p:spPr>
            <a:xfrm>
              <a:off x="5092402" y="688801"/>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30" name="Picture 29">
              <a:extLst>
                <a:ext uri="{FF2B5EF4-FFF2-40B4-BE49-F238E27FC236}">
                  <a16:creationId xmlns:a16="http://schemas.microsoft.com/office/drawing/2014/main" id="{30A038DC-D7D0-BE72-E902-997A4783B4B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12635" y="1182636"/>
              <a:ext cx="547534" cy="547534"/>
            </a:xfrm>
            <a:prstGeom prst="rect">
              <a:avLst/>
            </a:prstGeom>
          </p:spPr>
        </p:pic>
        <p:sp>
          <p:nvSpPr>
            <p:cNvPr id="31" name="TextBox 30">
              <a:extLst>
                <a:ext uri="{FF2B5EF4-FFF2-40B4-BE49-F238E27FC236}">
                  <a16:creationId xmlns:a16="http://schemas.microsoft.com/office/drawing/2014/main" id="{589262FE-3950-FD8F-6B12-14B8751D2985}"/>
                </a:ext>
              </a:extLst>
            </p:cNvPr>
            <p:cNvSpPr txBox="1"/>
            <p:nvPr/>
          </p:nvSpPr>
          <p:spPr>
            <a:xfrm>
              <a:off x="5144706" y="724207"/>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Persistent identifiers (PIDs)</a:t>
              </a:r>
            </a:p>
          </p:txBody>
        </p:sp>
      </p:grpSp>
      <p:grpSp>
        <p:nvGrpSpPr>
          <p:cNvPr id="32" name="Group 31">
            <a:extLst>
              <a:ext uri="{FF2B5EF4-FFF2-40B4-BE49-F238E27FC236}">
                <a16:creationId xmlns:a16="http://schemas.microsoft.com/office/drawing/2014/main" id="{9125BC00-6EFE-5882-5CDA-E3BFA5BED684}"/>
              </a:ext>
            </a:extLst>
          </p:cNvPr>
          <p:cNvGrpSpPr/>
          <p:nvPr/>
        </p:nvGrpSpPr>
        <p:grpSpPr>
          <a:xfrm>
            <a:off x="14398070" y="936364"/>
            <a:ext cx="1689497" cy="1689497"/>
            <a:chOff x="8954855" y="677207"/>
            <a:chExt cx="1188000" cy="1188000"/>
          </a:xfrm>
        </p:grpSpPr>
        <p:sp>
          <p:nvSpPr>
            <p:cNvPr id="33" name="Rectangle: Rounded Corners 32">
              <a:extLst>
                <a:ext uri="{FF2B5EF4-FFF2-40B4-BE49-F238E27FC236}">
                  <a16:creationId xmlns:a16="http://schemas.microsoft.com/office/drawing/2014/main" id="{9AF3E0AE-C750-E410-89B1-694B096030C7}"/>
                </a:ext>
              </a:extLst>
            </p:cNvPr>
            <p:cNvSpPr/>
            <p:nvPr/>
          </p:nvSpPr>
          <p:spPr>
            <a:xfrm>
              <a:off x="8954855" y="677207"/>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34" name="TextBox 33">
              <a:extLst>
                <a:ext uri="{FF2B5EF4-FFF2-40B4-BE49-F238E27FC236}">
                  <a16:creationId xmlns:a16="http://schemas.microsoft.com/office/drawing/2014/main" id="{57E29A42-013B-E527-32A1-75D9D5B0E72B}"/>
                </a:ext>
              </a:extLst>
            </p:cNvPr>
            <p:cNvSpPr txBox="1"/>
            <p:nvPr/>
          </p:nvSpPr>
          <p:spPr>
            <a:xfrm>
              <a:off x="9007159" y="724207"/>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Machine readable metadata</a:t>
              </a:r>
            </a:p>
          </p:txBody>
        </p:sp>
        <p:pic>
          <p:nvPicPr>
            <p:cNvPr id="35" name="Picture 34">
              <a:extLst>
                <a:ext uri="{FF2B5EF4-FFF2-40B4-BE49-F238E27FC236}">
                  <a16:creationId xmlns:a16="http://schemas.microsoft.com/office/drawing/2014/main" id="{D984BA82-7C57-543E-E180-60E705B7030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278855" y="1225404"/>
              <a:ext cx="540000" cy="540000"/>
            </a:xfrm>
            <a:prstGeom prst="rect">
              <a:avLst/>
            </a:prstGeom>
          </p:spPr>
        </p:pic>
      </p:grpSp>
      <p:grpSp>
        <p:nvGrpSpPr>
          <p:cNvPr id="36" name="Group 35">
            <a:extLst>
              <a:ext uri="{FF2B5EF4-FFF2-40B4-BE49-F238E27FC236}">
                <a16:creationId xmlns:a16="http://schemas.microsoft.com/office/drawing/2014/main" id="{398B3932-F055-34D8-4C7D-E93E2C4188CD}"/>
              </a:ext>
            </a:extLst>
          </p:cNvPr>
          <p:cNvGrpSpPr/>
          <p:nvPr/>
        </p:nvGrpSpPr>
        <p:grpSpPr>
          <a:xfrm>
            <a:off x="12570475" y="936364"/>
            <a:ext cx="1689497" cy="1689497"/>
            <a:chOff x="7679042" y="677207"/>
            <a:chExt cx="1188000" cy="1188000"/>
          </a:xfrm>
        </p:grpSpPr>
        <p:sp>
          <p:nvSpPr>
            <p:cNvPr id="37" name="Rectangle: Rounded Corners 36">
              <a:extLst>
                <a:ext uri="{FF2B5EF4-FFF2-40B4-BE49-F238E27FC236}">
                  <a16:creationId xmlns:a16="http://schemas.microsoft.com/office/drawing/2014/main" id="{164A6805-086F-AD43-4C1B-7411F655C8DE}"/>
                </a:ext>
              </a:extLst>
            </p:cNvPr>
            <p:cNvSpPr/>
            <p:nvPr/>
          </p:nvSpPr>
          <p:spPr>
            <a:xfrm>
              <a:off x="7679042" y="677207"/>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38" name="TextBox 37">
              <a:extLst>
                <a:ext uri="{FF2B5EF4-FFF2-40B4-BE49-F238E27FC236}">
                  <a16:creationId xmlns:a16="http://schemas.microsoft.com/office/drawing/2014/main" id="{F553DD37-C1F4-786D-9624-28348C471270}"/>
                </a:ext>
              </a:extLst>
            </p:cNvPr>
            <p:cNvSpPr txBox="1"/>
            <p:nvPr/>
          </p:nvSpPr>
          <p:spPr>
            <a:xfrm>
              <a:off x="7731346" y="733732"/>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Rich metadata, includes PID</a:t>
              </a:r>
            </a:p>
          </p:txBody>
        </p:sp>
        <p:grpSp>
          <p:nvGrpSpPr>
            <p:cNvPr id="39" name="Group 38">
              <a:extLst>
                <a:ext uri="{FF2B5EF4-FFF2-40B4-BE49-F238E27FC236}">
                  <a16:creationId xmlns:a16="http://schemas.microsoft.com/office/drawing/2014/main" id="{06135999-7EB6-4B16-FA75-02023B02A281}"/>
                </a:ext>
              </a:extLst>
            </p:cNvPr>
            <p:cNvGrpSpPr/>
            <p:nvPr/>
          </p:nvGrpSpPr>
          <p:grpSpPr>
            <a:xfrm>
              <a:off x="7880695" y="1125024"/>
              <a:ext cx="784694" cy="625887"/>
              <a:chOff x="4290440" y="999663"/>
              <a:chExt cx="784694" cy="625887"/>
            </a:xfrm>
          </p:grpSpPr>
          <p:pic>
            <p:nvPicPr>
              <p:cNvPr id="40" name="Picture 39">
                <a:extLst>
                  <a:ext uri="{FF2B5EF4-FFF2-40B4-BE49-F238E27FC236}">
                    <a16:creationId xmlns:a16="http://schemas.microsoft.com/office/drawing/2014/main" id="{DFBBE43D-6138-CF35-42E8-60FC71BA10E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90440" y="999663"/>
                <a:ext cx="249801" cy="249801"/>
              </a:xfrm>
              <a:prstGeom prst="rect">
                <a:avLst/>
              </a:prstGeom>
            </p:spPr>
          </p:pic>
          <p:cxnSp>
            <p:nvCxnSpPr>
              <p:cNvPr id="41" name="Connector: Elbow 40">
                <a:extLst>
                  <a:ext uri="{FF2B5EF4-FFF2-40B4-BE49-F238E27FC236}">
                    <a16:creationId xmlns:a16="http://schemas.microsoft.com/office/drawing/2014/main" id="{E4412BCD-C373-F694-356D-CFA4BD800D8B}"/>
                  </a:ext>
                </a:extLst>
              </p:cNvPr>
              <p:cNvCxnSpPr>
                <a:cxnSpLocks/>
              </p:cNvCxnSpPr>
              <p:nvPr/>
            </p:nvCxnSpPr>
            <p:spPr>
              <a:xfrm>
                <a:off x="4540241" y="1096295"/>
                <a:ext cx="320916" cy="153170"/>
              </a:xfrm>
              <a:prstGeom prst="bentConnector2">
                <a:avLst/>
              </a:prstGeom>
              <a:ln cap="rnd">
                <a:solidFill>
                  <a:schemeClr val="tx1"/>
                </a:solidFill>
                <a:bevel/>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4FD83648-7954-6BF2-A825-12A5AFE98762}"/>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l="56623" t="34688" r="4196" b="24385"/>
              <a:stretch/>
            </p:blipFill>
            <p:spPr>
              <a:xfrm>
                <a:off x="4742998" y="1278602"/>
                <a:ext cx="332136" cy="346948"/>
              </a:xfrm>
              <a:prstGeom prst="rect">
                <a:avLst/>
              </a:prstGeom>
            </p:spPr>
          </p:pic>
        </p:grpSp>
      </p:grpSp>
      <p:grpSp>
        <p:nvGrpSpPr>
          <p:cNvPr id="43" name="Group 42">
            <a:extLst>
              <a:ext uri="{FF2B5EF4-FFF2-40B4-BE49-F238E27FC236}">
                <a16:creationId xmlns:a16="http://schemas.microsoft.com/office/drawing/2014/main" id="{4BDCA75C-6464-E82E-7D21-3230E61E8B23}"/>
              </a:ext>
            </a:extLst>
          </p:cNvPr>
          <p:cNvGrpSpPr/>
          <p:nvPr/>
        </p:nvGrpSpPr>
        <p:grpSpPr>
          <a:xfrm>
            <a:off x="10738154" y="4656841"/>
            <a:ext cx="1689497" cy="1689497"/>
            <a:chOff x="3677863" y="3543662"/>
            <a:chExt cx="1188000" cy="1188000"/>
          </a:xfrm>
        </p:grpSpPr>
        <p:sp>
          <p:nvSpPr>
            <p:cNvPr id="44" name="Rectangle: Rounded Corners 43">
              <a:extLst>
                <a:ext uri="{FF2B5EF4-FFF2-40B4-BE49-F238E27FC236}">
                  <a16:creationId xmlns:a16="http://schemas.microsoft.com/office/drawing/2014/main" id="{7890878B-AB64-D024-0A20-44B0E181945C}"/>
                </a:ext>
              </a:extLst>
            </p:cNvPr>
            <p:cNvSpPr/>
            <p:nvPr/>
          </p:nvSpPr>
          <p:spPr>
            <a:xfrm>
              <a:off x="3677863" y="3543662"/>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45" name="TextBox 44">
              <a:extLst>
                <a:ext uri="{FF2B5EF4-FFF2-40B4-BE49-F238E27FC236}">
                  <a16:creationId xmlns:a16="http://schemas.microsoft.com/office/drawing/2014/main" id="{A83E7DBA-FA90-D6C7-AF51-B2944127F882}"/>
                </a:ext>
              </a:extLst>
            </p:cNvPr>
            <p:cNvSpPr txBox="1"/>
            <p:nvPr/>
          </p:nvSpPr>
          <p:spPr>
            <a:xfrm>
              <a:off x="3744288" y="3585678"/>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Metadata standards</a:t>
              </a:r>
            </a:p>
          </p:txBody>
        </p:sp>
        <p:pic>
          <p:nvPicPr>
            <p:cNvPr id="46" name="Picture 45">
              <a:extLst>
                <a:ext uri="{FF2B5EF4-FFF2-40B4-BE49-F238E27FC236}">
                  <a16:creationId xmlns:a16="http://schemas.microsoft.com/office/drawing/2014/main" id="{9ECC4FF5-DD97-01A3-A6A3-3CEFD96D762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081414" y="4179403"/>
              <a:ext cx="409140" cy="409140"/>
            </a:xfrm>
            <a:prstGeom prst="rect">
              <a:avLst/>
            </a:prstGeom>
          </p:spPr>
        </p:pic>
      </p:grpSp>
      <p:grpSp>
        <p:nvGrpSpPr>
          <p:cNvPr id="47" name="Group 46">
            <a:extLst>
              <a:ext uri="{FF2B5EF4-FFF2-40B4-BE49-F238E27FC236}">
                <a16:creationId xmlns:a16="http://schemas.microsoft.com/office/drawing/2014/main" id="{6C9D019B-0589-CBD8-ADCA-B9A62AEE7A49}"/>
              </a:ext>
            </a:extLst>
          </p:cNvPr>
          <p:cNvGrpSpPr/>
          <p:nvPr/>
        </p:nvGrpSpPr>
        <p:grpSpPr>
          <a:xfrm>
            <a:off x="12570617" y="4656841"/>
            <a:ext cx="1689497" cy="1689497"/>
            <a:chOff x="5005972" y="3536727"/>
            <a:chExt cx="1188000" cy="1188000"/>
          </a:xfrm>
        </p:grpSpPr>
        <p:sp>
          <p:nvSpPr>
            <p:cNvPr id="48" name="Rectangle: Rounded Corners 47">
              <a:extLst>
                <a:ext uri="{FF2B5EF4-FFF2-40B4-BE49-F238E27FC236}">
                  <a16:creationId xmlns:a16="http://schemas.microsoft.com/office/drawing/2014/main" id="{AA766B00-9C8C-3EE0-12CF-2E3A45A81226}"/>
                </a:ext>
              </a:extLst>
            </p:cNvPr>
            <p:cNvSpPr/>
            <p:nvPr/>
          </p:nvSpPr>
          <p:spPr>
            <a:xfrm>
              <a:off x="5005972" y="3536727"/>
              <a:ext cx="1188000" cy="1188000"/>
            </a:xfrm>
            <a:prstGeom prst="roundRect">
              <a:avLst>
                <a:gd name="adj" fmla="val 4955"/>
              </a:avLst>
            </a:prstGeom>
            <a:solidFill>
              <a:srgbClr val="FBC1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49" name="TextBox 48">
              <a:extLst>
                <a:ext uri="{FF2B5EF4-FFF2-40B4-BE49-F238E27FC236}">
                  <a16:creationId xmlns:a16="http://schemas.microsoft.com/office/drawing/2014/main" id="{6B5B641D-30E0-BD31-318E-9716158D7EA4}"/>
                </a:ext>
              </a:extLst>
            </p:cNvPr>
            <p:cNvSpPr txBox="1"/>
            <p:nvPr/>
          </p:nvSpPr>
          <p:spPr>
            <a:xfrm>
              <a:off x="5054524" y="3585678"/>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Vocabularies &amp; ontologies</a:t>
              </a:r>
            </a:p>
          </p:txBody>
        </p:sp>
        <p:pic>
          <p:nvPicPr>
            <p:cNvPr id="50" name="Picture 49">
              <a:extLst>
                <a:ext uri="{FF2B5EF4-FFF2-40B4-BE49-F238E27FC236}">
                  <a16:creationId xmlns:a16="http://schemas.microsoft.com/office/drawing/2014/main" id="{498E7674-DF9D-78F7-C0BB-A6367C03FDF4}"/>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326220" y="4036199"/>
              <a:ext cx="540000" cy="540000"/>
            </a:xfrm>
            <a:prstGeom prst="rect">
              <a:avLst/>
            </a:prstGeom>
          </p:spPr>
        </p:pic>
      </p:grpSp>
      <p:grpSp>
        <p:nvGrpSpPr>
          <p:cNvPr id="51" name="Group 50">
            <a:extLst>
              <a:ext uri="{FF2B5EF4-FFF2-40B4-BE49-F238E27FC236}">
                <a16:creationId xmlns:a16="http://schemas.microsoft.com/office/drawing/2014/main" id="{01BDB11B-4B1A-58F2-FDF0-6F19BB5B23FF}"/>
              </a:ext>
            </a:extLst>
          </p:cNvPr>
          <p:cNvGrpSpPr/>
          <p:nvPr/>
        </p:nvGrpSpPr>
        <p:grpSpPr>
          <a:xfrm>
            <a:off x="14399275" y="4656841"/>
            <a:ext cx="1689497" cy="1689497"/>
            <a:chOff x="6318300" y="3542868"/>
            <a:chExt cx="1188000" cy="1188000"/>
          </a:xfrm>
        </p:grpSpPr>
        <p:sp>
          <p:nvSpPr>
            <p:cNvPr id="52" name="Rectangle: Rounded Corners 51">
              <a:extLst>
                <a:ext uri="{FF2B5EF4-FFF2-40B4-BE49-F238E27FC236}">
                  <a16:creationId xmlns:a16="http://schemas.microsoft.com/office/drawing/2014/main" id="{E7C0155C-AFA6-A880-4B95-267C04395733}"/>
                </a:ext>
              </a:extLst>
            </p:cNvPr>
            <p:cNvSpPr/>
            <p:nvPr/>
          </p:nvSpPr>
          <p:spPr>
            <a:xfrm>
              <a:off x="6318300" y="3542868"/>
              <a:ext cx="1188000" cy="1188000"/>
            </a:xfrm>
            <a:prstGeom prst="roundRect">
              <a:avLst>
                <a:gd name="adj" fmla="val 495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53" name="TextBox 52">
              <a:extLst>
                <a:ext uri="{FF2B5EF4-FFF2-40B4-BE49-F238E27FC236}">
                  <a16:creationId xmlns:a16="http://schemas.microsoft.com/office/drawing/2014/main" id="{603CE5E8-A0C4-523B-BFF1-05AAF4353E73}"/>
                </a:ext>
              </a:extLst>
            </p:cNvPr>
            <p:cNvSpPr txBox="1"/>
            <p:nvPr/>
          </p:nvSpPr>
          <p:spPr>
            <a:xfrm>
              <a:off x="6367852" y="3585678"/>
              <a:ext cx="1083393" cy="366559"/>
            </a:xfrm>
            <a:prstGeom prst="rect">
              <a:avLst/>
            </a:prstGeom>
            <a:noFill/>
          </p:spPr>
          <p:txBody>
            <a:bodyPr wrap="square" lIns="51197" tIns="51197" rIns="51197" bIns="51197" rtlCol="0" anchor="t" anchorCtr="0">
              <a:noAutofit/>
            </a:bodyPr>
            <a:lstStyle/>
            <a:p>
              <a:pPr algn="ctr"/>
              <a:r>
                <a:rPr lang="en-US" sz="1422">
                  <a:latin typeface="Open Sans SemiBold" panose="020B0706030804020204" pitchFamily="34" charset="0"/>
                  <a:ea typeface="Open Sans SemiBold" panose="020B0706030804020204" pitchFamily="34" charset="0"/>
                  <a:cs typeface="Open Sans SemiBold" panose="020B0706030804020204" pitchFamily="34" charset="0"/>
                </a:rPr>
                <a:t>Linked metadata</a:t>
              </a:r>
            </a:p>
          </p:txBody>
        </p:sp>
        <p:grpSp>
          <p:nvGrpSpPr>
            <p:cNvPr id="54" name="Group 53">
              <a:extLst>
                <a:ext uri="{FF2B5EF4-FFF2-40B4-BE49-F238E27FC236}">
                  <a16:creationId xmlns:a16="http://schemas.microsoft.com/office/drawing/2014/main" id="{AC3A31DE-4328-48BB-BD47-48DAB9DAAC33}"/>
                </a:ext>
              </a:extLst>
            </p:cNvPr>
            <p:cNvGrpSpPr/>
            <p:nvPr/>
          </p:nvGrpSpPr>
          <p:grpSpPr>
            <a:xfrm>
              <a:off x="6476595" y="3965616"/>
              <a:ext cx="865907" cy="701656"/>
              <a:chOff x="4323272" y="3611655"/>
              <a:chExt cx="865907" cy="701656"/>
            </a:xfrm>
          </p:grpSpPr>
          <p:pic>
            <p:nvPicPr>
              <p:cNvPr id="55" name="Picture 54">
                <a:extLst>
                  <a:ext uri="{FF2B5EF4-FFF2-40B4-BE49-F238E27FC236}">
                    <a16:creationId xmlns:a16="http://schemas.microsoft.com/office/drawing/2014/main" id="{19BD27AD-F032-252F-42A3-5C50E57473C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323272" y="3611655"/>
                <a:ext cx="307805" cy="307805"/>
              </a:xfrm>
              <a:prstGeom prst="rect">
                <a:avLst/>
              </a:prstGeom>
            </p:spPr>
          </p:pic>
          <p:pic>
            <p:nvPicPr>
              <p:cNvPr id="56" name="Picture 55">
                <a:extLst>
                  <a:ext uri="{FF2B5EF4-FFF2-40B4-BE49-F238E27FC236}">
                    <a16:creationId xmlns:a16="http://schemas.microsoft.com/office/drawing/2014/main" id="{9B17AAE8-02DC-8A75-1849-AE43FA80924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881374" y="3755485"/>
                <a:ext cx="307805" cy="307805"/>
              </a:xfrm>
              <a:prstGeom prst="rect">
                <a:avLst/>
              </a:prstGeom>
            </p:spPr>
          </p:pic>
          <p:pic>
            <p:nvPicPr>
              <p:cNvPr id="57" name="Picture 56">
                <a:extLst>
                  <a:ext uri="{FF2B5EF4-FFF2-40B4-BE49-F238E27FC236}">
                    <a16:creationId xmlns:a16="http://schemas.microsoft.com/office/drawing/2014/main" id="{047FB173-E673-FC9C-8AAD-FBC0C6682F31}"/>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02484" y="4005506"/>
                <a:ext cx="307805" cy="307805"/>
              </a:xfrm>
              <a:prstGeom prst="rect">
                <a:avLst/>
              </a:prstGeom>
            </p:spPr>
          </p:pic>
          <p:cxnSp>
            <p:nvCxnSpPr>
              <p:cNvPr id="58" name="Connector: Elbow 57">
                <a:extLst>
                  <a:ext uri="{FF2B5EF4-FFF2-40B4-BE49-F238E27FC236}">
                    <a16:creationId xmlns:a16="http://schemas.microsoft.com/office/drawing/2014/main" id="{084279DA-A2B9-8950-CC72-B8F1728F1248}"/>
                  </a:ext>
                </a:extLst>
              </p:cNvPr>
              <p:cNvCxnSpPr>
                <a:cxnSpLocks/>
                <a:endCxn id="56" idx="2"/>
              </p:cNvCxnSpPr>
              <p:nvPr/>
            </p:nvCxnSpPr>
            <p:spPr>
              <a:xfrm flipV="1">
                <a:off x="4731632" y="4063290"/>
                <a:ext cx="303645" cy="9546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B5913750-13CA-6F33-A140-C6C536400EE0}"/>
                  </a:ext>
                </a:extLst>
              </p:cNvPr>
              <p:cNvCxnSpPr>
                <a:cxnSpLocks/>
                <a:stCxn id="55" idx="3"/>
                <a:endCxn id="56" idx="1"/>
              </p:cNvCxnSpPr>
              <p:nvPr/>
            </p:nvCxnSpPr>
            <p:spPr>
              <a:xfrm>
                <a:off x="4631077" y="3765558"/>
                <a:ext cx="250297" cy="14383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24A15B79-6B09-6155-FCAF-921A76A05381}"/>
                  </a:ext>
                </a:extLst>
              </p:cNvPr>
              <p:cNvCxnSpPr>
                <a:cxnSpLocks/>
                <a:stCxn id="55" idx="2"/>
                <a:endCxn id="57" idx="0"/>
              </p:cNvCxnSpPr>
              <p:nvPr/>
            </p:nvCxnSpPr>
            <p:spPr>
              <a:xfrm rot="16200000" flipH="1">
                <a:off x="4523758" y="3872877"/>
                <a:ext cx="86046" cy="179212"/>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61" name="Group 60">
            <a:extLst>
              <a:ext uri="{FF2B5EF4-FFF2-40B4-BE49-F238E27FC236}">
                <a16:creationId xmlns:a16="http://schemas.microsoft.com/office/drawing/2014/main" id="{902BF5DD-28AC-EE6C-01CF-D40D40F11BDC}"/>
              </a:ext>
            </a:extLst>
          </p:cNvPr>
          <p:cNvGrpSpPr/>
          <p:nvPr/>
        </p:nvGrpSpPr>
        <p:grpSpPr>
          <a:xfrm>
            <a:off x="8881003" y="936364"/>
            <a:ext cx="1689498" cy="1689497"/>
            <a:chOff x="2809669" y="696257"/>
            <a:chExt cx="1188001" cy="1188000"/>
          </a:xfrm>
        </p:grpSpPr>
        <p:sp>
          <p:nvSpPr>
            <p:cNvPr id="62" name="Oval 61">
              <a:extLst>
                <a:ext uri="{FF2B5EF4-FFF2-40B4-BE49-F238E27FC236}">
                  <a16:creationId xmlns:a16="http://schemas.microsoft.com/office/drawing/2014/main" id="{05EF9F05-89B0-C84D-B422-3551C9E602C7}"/>
                </a:ext>
              </a:extLst>
            </p:cNvPr>
            <p:cNvSpPr>
              <a:spLocks noChangeAspect="1"/>
            </p:cNvSpPr>
            <p:nvPr/>
          </p:nvSpPr>
          <p:spPr>
            <a:xfrm>
              <a:off x="3061669" y="854212"/>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63" name="Picture 62">
              <a:extLst>
                <a:ext uri="{FF2B5EF4-FFF2-40B4-BE49-F238E27FC236}">
                  <a16:creationId xmlns:a16="http://schemas.microsoft.com/office/drawing/2014/main" id="{512A0BA4-5F0E-293A-E7C0-8A66B595141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187669" y="980212"/>
              <a:ext cx="432000" cy="432000"/>
            </a:xfrm>
            <a:prstGeom prst="rect">
              <a:avLst/>
            </a:prstGeom>
          </p:spPr>
        </p:pic>
        <p:sp>
          <p:nvSpPr>
            <p:cNvPr id="64" name="TextBox 63">
              <a:extLst>
                <a:ext uri="{FF2B5EF4-FFF2-40B4-BE49-F238E27FC236}">
                  <a16:creationId xmlns:a16="http://schemas.microsoft.com/office/drawing/2014/main" id="{8298D239-3DC7-2BF6-3253-D37ADDD2EB72}"/>
                </a:ext>
              </a:extLst>
            </p:cNvPr>
            <p:cNvSpPr txBox="1"/>
            <p:nvPr/>
          </p:nvSpPr>
          <p:spPr>
            <a:xfrm>
              <a:off x="2809669" y="1636980"/>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FINDABLE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65" name="Rectangle: Rounded Corners 64">
              <a:extLst>
                <a:ext uri="{FF2B5EF4-FFF2-40B4-BE49-F238E27FC236}">
                  <a16:creationId xmlns:a16="http://schemas.microsoft.com/office/drawing/2014/main" id="{243BA70D-9F2F-5C7A-D589-68746EF5DDC4}"/>
                </a:ext>
              </a:extLst>
            </p:cNvPr>
            <p:cNvSpPr/>
            <p:nvPr/>
          </p:nvSpPr>
          <p:spPr>
            <a:xfrm>
              <a:off x="2809669" y="696257"/>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grpSp>
      <p:grpSp>
        <p:nvGrpSpPr>
          <p:cNvPr id="66" name="Group 65">
            <a:extLst>
              <a:ext uri="{FF2B5EF4-FFF2-40B4-BE49-F238E27FC236}">
                <a16:creationId xmlns:a16="http://schemas.microsoft.com/office/drawing/2014/main" id="{11AB6208-3474-C6A8-7A06-1F703DFFFCE5}"/>
              </a:ext>
            </a:extLst>
          </p:cNvPr>
          <p:cNvGrpSpPr/>
          <p:nvPr/>
        </p:nvGrpSpPr>
        <p:grpSpPr>
          <a:xfrm>
            <a:off x="8881003" y="2800462"/>
            <a:ext cx="1689498" cy="1689497"/>
            <a:chOff x="2829653" y="2007163"/>
            <a:chExt cx="1188001" cy="1188000"/>
          </a:xfrm>
        </p:grpSpPr>
        <p:sp>
          <p:nvSpPr>
            <p:cNvPr id="67" name="Oval 66">
              <a:extLst>
                <a:ext uri="{FF2B5EF4-FFF2-40B4-BE49-F238E27FC236}">
                  <a16:creationId xmlns:a16="http://schemas.microsoft.com/office/drawing/2014/main" id="{AA0D8AE4-1B30-FF3E-1BE8-9414D865162B}"/>
                </a:ext>
              </a:extLst>
            </p:cNvPr>
            <p:cNvSpPr>
              <a:spLocks noChangeAspect="1"/>
            </p:cNvSpPr>
            <p:nvPr/>
          </p:nvSpPr>
          <p:spPr>
            <a:xfrm>
              <a:off x="3081653" y="2153161"/>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68" name="TextBox 67">
              <a:extLst>
                <a:ext uri="{FF2B5EF4-FFF2-40B4-BE49-F238E27FC236}">
                  <a16:creationId xmlns:a16="http://schemas.microsoft.com/office/drawing/2014/main" id="{4099A811-6B91-2341-45C4-BC625C836CED}"/>
                </a:ext>
              </a:extLst>
            </p:cNvPr>
            <p:cNvSpPr txBox="1"/>
            <p:nvPr/>
          </p:nvSpPr>
          <p:spPr>
            <a:xfrm>
              <a:off x="2829653" y="2935928"/>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ACCESSIBLE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pic>
          <p:nvPicPr>
            <p:cNvPr id="69" name="Picture 68">
              <a:extLst>
                <a:ext uri="{FF2B5EF4-FFF2-40B4-BE49-F238E27FC236}">
                  <a16:creationId xmlns:a16="http://schemas.microsoft.com/office/drawing/2014/main" id="{4A28BA9A-8F53-C54A-E2D4-90E513E0EF02}"/>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3207653" y="2290974"/>
              <a:ext cx="432000" cy="432000"/>
            </a:xfrm>
            <a:prstGeom prst="rect">
              <a:avLst/>
            </a:prstGeom>
          </p:spPr>
        </p:pic>
        <p:sp>
          <p:nvSpPr>
            <p:cNvPr id="70" name="Rectangle: Rounded Corners 69">
              <a:extLst>
                <a:ext uri="{FF2B5EF4-FFF2-40B4-BE49-F238E27FC236}">
                  <a16:creationId xmlns:a16="http://schemas.microsoft.com/office/drawing/2014/main" id="{E9E962AE-FD8A-ED8A-6676-AF74D08D8D84}"/>
                </a:ext>
              </a:extLst>
            </p:cNvPr>
            <p:cNvSpPr/>
            <p:nvPr/>
          </p:nvSpPr>
          <p:spPr>
            <a:xfrm>
              <a:off x="2829653" y="2007163"/>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grpSp>
      <p:grpSp>
        <p:nvGrpSpPr>
          <p:cNvPr id="71" name="Group 70">
            <a:extLst>
              <a:ext uri="{FF2B5EF4-FFF2-40B4-BE49-F238E27FC236}">
                <a16:creationId xmlns:a16="http://schemas.microsoft.com/office/drawing/2014/main" id="{5FF48E49-26EE-A4A1-190A-590AACD557F3}"/>
              </a:ext>
            </a:extLst>
          </p:cNvPr>
          <p:cNvGrpSpPr/>
          <p:nvPr/>
        </p:nvGrpSpPr>
        <p:grpSpPr>
          <a:xfrm>
            <a:off x="8896131" y="6520457"/>
            <a:ext cx="1689498" cy="1689497"/>
            <a:chOff x="2827185" y="4622463"/>
            <a:chExt cx="1188001" cy="1188000"/>
          </a:xfrm>
        </p:grpSpPr>
        <p:sp>
          <p:nvSpPr>
            <p:cNvPr id="72" name="Oval 71">
              <a:extLst>
                <a:ext uri="{FF2B5EF4-FFF2-40B4-BE49-F238E27FC236}">
                  <a16:creationId xmlns:a16="http://schemas.microsoft.com/office/drawing/2014/main" id="{9AFDC04D-6FF8-167B-5E3A-3DC19474E26C}"/>
                </a:ext>
              </a:extLst>
            </p:cNvPr>
            <p:cNvSpPr>
              <a:spLocks noChangeAspect="1"/>
            </p:cNvSpPr>
            <p:nvPr/>
          </p:nvSpPr>
          <p:spPr>
            <a:xfrm>
              <a:off x="3079185" y="4768461"/>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73" name="TextBox 72">
              <a:extLst>
                <a:ext uri="{FF2B5EF4-FFF2-40B4-BE49-F238E27FC236}">
                  <a16:creationId xmlns:a16="http://schemas.microsoft.com/office/drawing/2014/main" id="{9FD206B7-2096-81E7-D594-6FF54E94EC59}"/>
                </a:ext>
              </a:extLst>
            </p:cNvPr>
            <p:cNvSpPr txBox="1"/>
            <p:nvPr/>
          </p:nvSpPr>
          <p:spPr>
            <a:xfrm>
              <a:off x="2827185" y="5551228"/>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REUSABLE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74" name="Rectangle: Rounded Corners 73">
              <a:extLst>
                <a:ext uri="{FF2B5EF4-FFF2-40B4-BE49-F238E27FC236}">
                  <a16:creationId xmlns:a16="http://schemas.microsoft.com/office/drawing/2014/main" id="{92EF1CBF-D099-9EBB-872E-DE7C71762ADF}"/>
                </a:ext>
              </a:extLst>
            </p:cNvPr>
            <p:cNvSpPr/>
            <p:nvPr/>
          </p:nvSpPr>
          <p:spPr>
            <a:xfrm>
              <a:off x="2827185" y="4622463"/>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75" name="Picture 74">
              <a:extLst>
                <a:ext uri="{FF2B5EF4-FFF2-40B4-BE49-F238E27FC236}">
                  <a16:creationId xmlns:a16="http://schemas.microsoft.com/office/drawing/2014/main" id="{9E6F8F0A-912F-A3D2-A6A9-F83ED0DCD9E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3205185" y="4894461"/>
              <a:ext cx="432000" cy="432000"/>
            </a:xfrm>
            <a:prstGeom prst="rect">
              <a:avLst/>
            </a:prstGeom>
          </p:spPr>
        </p:pic>
      </p:grpSp>
      <p:grpSp>
        <p:nvGrpSpPr>
          <p:cNvPr id="76" name="Group 75">
            <a:extLst>
              <a:ext uri="{FF2B5EF4-FFF2-40B4-BE49-F238E27FC236}">
                <a16:creationId xmlns:a16="http://schemas.microsoft.com/office/drawing/2014/main" id="{561B21EA-1D85-C6E1-1BCC-F0F4EC172953}"/>
              </a:ext>
            </a:extLst>
          </p:cNvPr>
          <p:cNvGrpSpPr/>
          <p:nvPr/>
        </p:nvGrpSpPr>
        <p:grpSpPr>
          <a:xfrm>
            <a:off x="8896131" y="4655862"/>
            <a:ext cx="1689498" cy="1689496"/>
            <a:chOff x="2823178" y="3311340"/>
            <a:chExt cx="1188001" cy="1188000"/>
          </a:xfrm>
        </p:grpSpPr>
        <p:sp>
          <p:nvSpPr>
            <p:cNvPr id="77" name="TextBox 76">
              <a:extLst>
                <a:ext uri="{FF2B5EF4-FFF2-40B4-BE49-F238E27FC236}">
                  <a16:creationId xmlns:a16="http://schemas.microsoft.com/office/drawing/2014/main" id="{88536E39-090F-8099-F0D0-3149965A207D}"/>
                </a:ext>
              </a:extLst>
            </p:cNvPr>
            <p:cNvSpPr txBox="1"/>
            <p:nvPr/>
          </p:nvSpPr>
          <p:spPr>
            <a:xfrm>
              <a:off x="2823178" y="4228127"/>
              <a:ext cx="1188001" cy="161548"/>
            </a:xfrm>
            <a:prstGeom prst="rect">
              <a:avLst/>
            </a:prstGeom>
            <a:noFill/>
          </p:spPr>
          <p:txBody>
            <a:bodyPr wrap="square" lIns="0" tIns="0" rIns="0" bIns="0" rtlCol="0" anchor="ctr" anchorCtr="0">
              <a:spAutoFit/>
            </a:bodyPr>
            <a:lstStyle/>
            <a:p>
              <a:pPr algn="ctr"/>
              <a:r>
                <a:rPr lang="en-US" sz="1493">
                  <a:latin typeface="Open Sans ExtraBold" panose="020B0906030804020204" pitchFamily="34" charset="0"/>
                  <a:ea typeface="Open Sans ExtraBold" panose="020B0906030804020204" pitchFamily="34" charset="0"/>
                  <a:cs typeface="Open Sans ExtraBold" panose="020B0906030804020204" pitchFamily="34" charset="0"/>
                </a:rPr>
                <a:t>INTEROPERABLE</a:t>
              </a:r>
              <a:endParaRPr lang="en-US" sz="3641">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78" name="Oval 77">
              <a:extLst>
                <a:ext uri="{FF2B5EF4-FFF2-40B4-BE49-F238E27FC236}">
                  <a16:creationId xmlns:a16="http://schemas.microsoft.com/office/drawing/2014/main" id="{6CFEB2A5-A213-0486-34A3-7FE60BCDBEB3}"/>
                </a:ext>
              </a:extLst>
            </p:cNvPr>
            <p:cNvSpPr>
              <a:spLocks noChangeAspect="1"/>
            </p:cNvSpPr>
            <p:nvPr/>
          </p:nvSpPr>
          <p:spPr>
            <a:xfrm>
              <a:off x="3075178" y="3434463"/>
              <a:ext cx="684000" cy="684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sp>
          <p:nvSpPr>
            <p:cNvPr id="79" name="Rectangle: Rounded Corners 78">
              <a:extLst>
                <a:ext uri="{FF2B5EF4-FFF2-40B4-BE49-F238E27FC236}">
                  <a16:creationId xmlns:a16="http://schemas.microsoft.com/office/drawing/2014/main" id="{35B8208B-D087-066F-F655-9DE6A4AC9AD8}"/>
                </a:ext>
              </a:extLst>
            </p:cNvPr>
            <p:cNvSpPr/>
            <p:nvPr/>
          </p:nvSpPr>
          <p:spPr>
            <a:xfrm>
              <a:off x="2823178" y="3311340"/>
              <a:ext cx="1188000" cy="1188000"/>
            </a:xfrm>
            <a:prstGeom prst="roundRect">
              <a:avLst>
                <a:gd name="adj" fmla="val 4955"/>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41"/>
            </a:p>
          </p:txBody>
        </p:sp>
        <p:pic>
          <p:nvPicPr>
            <p:cNvPr id="80" name="Picture 79">
              <a:extLst>
                <a:ext uri="{FF2B5EF4-FFF2-40B4-BE49-F238E27FC236}">
                  <a16:creationId xmlns:a16="http://schemas.microsoft.com/office/drawing/2014/main" id="{2CB69DE8-1393-32FE-0455-7805725A4163}"/>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201178" y="3566899"/>
              <a:ext cx="432000" cy="432000"/>
            </a:xfrm>
            <a:prstGeom prst="rect">
              <a:avLst/>
            </a:prstGeom>
          </p:spPr>
        </p:pic>
      </p:grpSp>
    </p:spTree>
    <p:extLst>
      <p:ext uri="{BB962C8B-B14F-4D97-AF65-F5344CB8AC3E}">
        <p14:creationId xmlns:p14="http://schemas.microsoft.com/office/powerpoint/2010/main" val="1483106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500"/>
                                        <p:tgtEl>
                                          <p:spTgt spid="1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6"/>
                                        </p:tgtEl>
                                        <p:attrNameLst>
                                          <p:attrName>style.visibility</p:attrName>
                                        </p:attrNameLst>
                                      </p:cBhvr>
                                      <p:to>
                                        <p:strVal val="visible"/>
                                      </p:to>
                                    </p:set>
                                    <p:animEffect transition="in" filter="fade">
                                      <p:cBhvr>
                                        <p:cTn id="10" dur="500"/>
                                        <p:tgtEl>
                                          <p:spTgt spid="16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7"/>
                                        </p:tgtEl>
                                        <p:attrNameLst>
                                          <p:attrName>style.visibility</p:attrName>
                                        </p:attrNameLst>
                                      </p:cBhvr>
                                      <p:to>
                                        <p:strVal val="visible"/>
                                      </p:to>
                                    </p:set>
                                    <p:animEffect transition="in" filter="fade">
                                      <p:cBhvr>
                                        <p:cTn id="13" dur="500"/>
                                        <p:tgtEl>
                                          <p:spTgt spid="16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8"/>
                                        </p:tgtEl>
                                        <p:attrNameLst>
                                          <p:attrName>style.visibility</p:attrName>
                                        </p:attrNameLst>
                                      </p:cBhvr>
                                      <p:to>
                                        <p:strVal val="visible"/>
                                      </p:to>
                                    </p:set>
                                    <p:animEffect transition="in" filter="fade">
                                      <p:cBhvr>
                                        <p:cTn id="16"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P spid="166" grpId="0"/>
      <p:bldP spid="167" grpId="0"/>
      <p:bldP spid="16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3BDBE-EC46-4DF1-B29F-ADFEFAE1A784}"/>
              </a:ext>
            </a:extLst>
          </p:cNvPr>
          <p:cNvSpPr>
            <a:spLocks noGrp="1"/>
          </p:cNvSpPr>
          <p:nvPr>
            <p:ph type="title"/>
          </p:nvPr>
        </p:nvSpPr>
        <p:spPr/>
        <p:txBody>
          <a:bodyPr/>
          <a:lstStyle/>
          <a:p>
            <a:r>
              <a:rPr lang="en-US">
                <a:latin typeface="UGent Panno Text" panose="02000506040000040003" pitchFamily="2" charset="0"/>
              </a:rPr>
              <a:t>Common issues on understandability</a:t>
            </a:r>
            <a:endParaRPr lang="nl-BE">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A8BC0B09-15A0-4371-ABD6-E47292A59435}"/>
              </a:ext>
            </a:extLst>
          </p:cNvPr>
          <p:cNvSpPr>
            <a:spLocks noGrp="1"/>
          </p:cNvSpPr>
          <p:nvPr>
            <p:ph type="sldNum" sz="quarter" idx="12"/>
          </p:nvPr>
        </p:nvSpPr>
        <p:spPr/>
        <p:txBody>
          <a:bodyPr/>
          <a:lstStyle/>
          <a:p>
            <a:fld id="{7AE184E0-0BD4-4705-A12B-9B71DDE63301}" type="slidenum">
              <a:rPr lang="en-GB" noProof="0" smtClean="0"/>
              <a:t>18</a:t>
            </a:fld>
            <a:endParaRPr lang="en-GB" noProof="0"/>
          </a:p>
        </p:txBody>
      </p:sp>
      <p:pic>
        <p:nvPicPr>
          <p:cNvPr id="9" name="Picture 2">
            <a:extLst>
              <a:ext uri="{FF2B5EF4-FFF2-40B4-BE49-F238E27FC236}">
                <a16:creationId xmlns:a16="http://schemas.microsoft.com/office/drawing/2014/main" id="{4104709D-FA99-1590-0C41-78E319D60F48}"/>
              </a:ext>
            </a:extLst>
          </p:cNvPr>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ackgroundRemoval t="53210" b="94877" l="36250" r="97882">
                        <a14:foregroundMark x1="46319" y1="79198" x2="43229" y2="78210"/>
                        <a14:foregroundMark x1="43229" y1="78210" x2="39375" y2="79012"/>
                        <a14:foregroundMark x1="39375" y1="79012" x2="36701" y2="86420"/>
                        <a14:foregroundMark x1="36701" y1="86420" x2="36597" y2="92840"/>
                        <a14:foregroundMark x1="36597" y1="92840" x2="39444" y2="98272"/>
                        <a14:foregroundMark x1="39444" y1="98272" x2="48889" y2="91728"/>
                        <a14:foregroundMark x1="48889" y1="91728" x2="66493" y2="94630"/>
                        <a14:foregroundMark x1="66493" y1="94630" x2="69236" y2="96975"/>
                        <a14:foregroundMark x1="69236" y1="96975" x2="74826" y2="96667"/>
                        <a14:foregroundMark x1="74826" y1="96667" x2="84479" y2="97654"/>
                        <a14:foregroundMark x1="84479" y1="97654" x2="94236" y2="97222"/>
                        <a14:foregroundMark x1="94236" y1="97222" x2="97292" y2="86914"/>
                        <a14:foregroundMark x1="97292" y1="86914" x2="98542" y2="61667"/>
                        <a14:foregroundMark x1="98542" y1="61667" x2="96667" y2="55000"/>
                        <a14:foregroundMark x1="96667" y1="55000" x2="85417" y2="50802"/>
                        <a14:foregroundMark x1="85417" y1="50802" x2="63542" y2="53210"/>
                        <a14:foregroundMark x1="63542" y1="53210" x2="60347" y2="60432"/>
                        <a14:foregroundMark x1="60347" y1="60432" x2="46076" y2="57778"/>
                        <a14:foregroundMark x1="46076" y1="57778" x2="43160" y2="61852"/>
                        <a14:foregroundMark x1="43160" y1="61852" x2="42431" y2="75185"/>
                        <a14:foregroundMark x1="42431" y1="75185" x2="42882" y2="78333"/>
                        <a14:foregroundMark x1="47813" y1="80864" x2="37986" y2="82346"/>
                        <a14:foregroundMark x1="37986" y1="82346" x2="36458" y2="87963"/>
                        <a14:foregroundMark x1="36458" y1="87963" x2="39167" y2="94691"/>
                        <a14:foregroundMark x1="39167" y1="94691" x2="44097" y2="90556"/>
                        <a14:foregroundMark x1="44097" y1="90556" x2="48993" y2="79074"/>
                        <a14:foregroundMark x1="36632" y1="87840" x2="36250" y2="93580"/>
                        <a14:foregroundMark x1="36250" y1="93580" x2="37396" y2="92901"/>
                        <a14:foregroundMark x1="66111" y1="95123" x2="66146" y2="87346"/>
                        <a14:foregroundMark x1="66146" y1="87346" x2="69688" y2="86111"/>
                        <a14:foregroundMark x1="69688" y1="86111" x2="71875" y2="83519"/>
                        <a14:foregroundMark x1="71875" y1="83519" x2="77465" y2="86296"/>
                        <a14:foregroundMark x1="77465" y1="86296" x2="81146" y2="77901"/>
                        <a14:foregroundMark x1="81146" y1="77901" x2="81250" y2="60000"/>
                        <a14:foregroundMark x1="81250" y1="60000" x2="86840" y2="55062"/>
                        <a14:foregroundMark x1="86840" y1="55062" x2="92535" y2="60617"/>
                        <a14:foregroundMark x1="92535" y1="60617" x2="95590" y2="72346"/>
                        <a14:foregroundMark x1="95590" y1="72346" x2="94097" y2="84691"/>
                        <a14:foregroundMark x1="94097" y1="84691" x2="80347" y2="93086"/>
                        <a14:foregroundMark x1="80347" y1="93086" x2="77083" y2="93642"/>
                        <a14:foregroundMark x1="72569" y1="83395" x2="66944" y2="88889"/>
                        <a14:foregroundMark x1="66944" y1="88889" x2="68056" y2="92901"/>
                        <a14:foregroundMark x1="68056" y1="92901" x2="73403" y2="93951"/>
                        <a14:foregroundMark x1="73403" y1="93951" x2="76701" y2="91481"/>
                        <a14:foregroundMark x1="76701" y1="91481" x2="73229" y2="87654"/>
                        <a14:foregroundMark x1="73229" y1="87654" x2="73056" y2="87654"/>
                        <a14:foregroundMark x1="84931" y1="90370" x2="87326" y2="85926"/>
                        <a14:foregroundMark x1="87326" y1="85926" x2="90868" y2="71914"/>
                        <a14:foregroundMark x1="90868" y1="71914" x2="89688" y2="64074"/>
                        <a14:foregroundMark x1="89688" y1="64074" x2="83160" y2="57531"/>
                        <a14:foregroundMark x1="83160" y1="57531" x2="79375" y2="57222"/>
                        <a14:foregroundMark x1="79375" y1="57222" x2="81250" y2="77840"/>
                        <a14:foregroundMark x1="81250" y1="77840" x2="79167" y2="91111"/>
                        <a14:foregroundMark x1="79167" y1="91111" x2="79236" y2="92716"/>
                        <a14:foregroundMark x1="84931" y1="62160" x2="82604" y2="64691"/>
                        <a14:foregroundMark x1="82604" y1="64691" x2="81424" y2="70494"/>
                        <a14:foregroundMark x1="81424" y1="70494" x2="84167" y2="76420"/>
                        <a14:foregroundMark x1="84167" y1="76420" x2="86806" y2="79074"/>
                        <a14:foregroundMark x1="86806" y1="79074" x2="88403" y2="71358"/>
                        <a14:foregroundMark x1="88403" y1="71358" x2="86701" y2="64630"/>
                        <a14:foregroundMark x1="86701" y1="64630" x2="85764" y2="64383"/>
                        <a14:foregroundMark x1="91944" y1="60185" x2="94444" y2="57901"/>
                        <a14:foregroundMark x1="94444" y1="57901" x2="98021" y2="61728"/>
                        <a14:foregroundMark x1="98021" y1="61728" x2="95729" y2="68395"/>
                        <a14:foregroundMark x1="95729" y1="68395" x2="95208" y2="69136"/>
                        <a14:foregroundMark x1="97813" y1="61111" x2="97882" y2="63951"/>
                        <a14:backgroundMark x1="41424" y1="61728" x2="41493" y2="65123"/>
                      </a14:backgroundRemoval>
                    </a14:imgEffect>
                  </a14:imgLayer>
                </a14:imgProps>
              </a:ext>
              <a:ext uri="{28A0092B-C50C-407E-A947-70E740481C1C}">
                <a14:useLocalDpi xmlns:a14="http://schemas.microsoft.com/office/drawing/2010/main" val="0"/>
              </a:ext>
            </a:extLst>
          </a:blip>
          <a:srcRect l="35894" t="49547"/>
          <a:stretch/>
        </p:blipFill>
        <p:spPr bwMode="auto">
          <a:xfrm>
            <a:off x="631142" y="5250681"/>
            <a:ext cx="6906975" cy="305786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BB38EA3-82CA-0F74-A056-CEBAF8D8A9F9}"/>
              </a:ext>
            </a:extLst>
          </p:cNvPr>
          <p:cNvSpPr txBox="1"/>
          <p:nvPr/>
        </p:nvSpPr>
        <p:spPr>
          <a:xfrm>
            <a:off x="2717792" y="3720972"/>
            <a:ext cx="3200486" cy="492443"/>
          </a:xfrm>
          <a:prstGeom prst="rect">
            <a:avLst/>
          </a:prstGeom>
          <a:noFill/>
        </p:spPr>
        <p:txBody>
          <a:bodyPr wrap="square" lIns="0" tIns="0" rIns="0" bIns="0" rtlCol="0">
            <a:spAutoFit/>
          </a:bodyPr>
          <a:lstStyle/>
          <a:p>
            <a:pPr algn="ctr"/>
            <a:r>
              <a:rPr lang="en-US" sz="3200" spc="-100">
                <a:latin typeface="OCR A Extended" panose="02010509020102010303" pitchFamily="50" charset="0"/>
              </a:rPr>
              <a:t>05/04/85</a:t>
            </a:r>
          </a:p>
        </p:txBody>
      </p:sp>
      <p:grpSp>
        <p:nvGrpSpPr>
          <p:cNvPr id="11" name="Group 10">
            <a:extLst>
              <a:ext uri="{FF2B5EF4-FFF2-40B4-BE49-F238E27FC236}">
                <a16:creationId xmlns:a16="http://schemas.microsoft.com/office/drawing/2014/main" id="{840398D2-D78E-E2BF-0336-C39673B699DF}"/>
              </a:ext>
            </a:extLst>
          </p:cNvPr>
          <p:cNvGrpSpPr/>
          <p:nvPr/>
        </p:nvGrpSpPr>
        <p:grpSpPr>
          <a:xfrm>
            <a:off x="4011602" y="1695614"/>
            <a:ext cx="2765496" cy="2028365"/>
            <a:chOff x="10046636" y="1791989"/>
            <a:chExt cx="1340795" cy="983412"/>
          </a:xfrm>
        </p:grpSpPr>
        <p:pic>
          <p:nvPicPr>
            <p:cNvPr id="13" name="Graphic 12" descr="Speech">
              <a:extLst>
                <a:ext uri="{FF2B5EF4-FFF2-40B4-BE49-F238E27FC236}">
                  <a16:creationId xmlns:a16="http://schemas.microsoft.com/office/drawing/2014/main" id="{74BDEFE9-EDBA-C28D-1C72-77B5D02A15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75767" flipH="1">
              <a:off x="10046636" y="1791989"/>
              <a:ext cx="1340795" cy="983412"/>
            </a:xfrm>
            <a:prstGeom prst="rect">
              <a:avLst/>
            </a:prstGeom>
          </p:spPr>
        </p:pic>
        <p:sp>
          <p:nvSpPr>
            <p:cNvPr id="14" name="TextBox 13">
              <a:extLst>
                <a:ext uri="{FF2B5EF4-FFF2-40B4-BE49-F238E27FC236}">
                  <a16:creationId xmlns:a16="http://schemas.microsoft.com/office/drawing/2014/main" id="{CF5A3707-DBE0-9688-FE79-533321744DC6}"/>
                </a:ext>
              </a:extLst>
            </p:cNvPr>
            <p:cNvSpPr txBox="1"/>
            <p:nvPr/>
          </p:nvSpPr>
          <p:spPr>
            <a:xfrm rot="294184">
              <a:off x="10324160" y="2092542"/>
              <a:ext cx="795938" cy="238751"/>
            </a:xfrm>
            <a:prstGeom prst="rect">
              <a:avLst/>
            </a:prstGeom>
            <a:noFill/>
          </p:spPr>
          <p:txBody>
            <a:bodyPr wrap="square" lIns="0" tIns="0" rIns="0" bIns="0" rtlCol="0">
              <a:spAutoFit/>
            </a:bodyPr>
            <a:lstStyle/>
            <a:p>
              <a:pPr algn="ctr"/>
              <a:r>
                <a:rPr lang="en-US" sz="3200">
                  <a:solidFill>
                    <a:schemeClr val="bg1"/>
                  </a:solidFill>
                  <a:latin typeface="UGent Panno Text" panose="02000506040000040003" pitchFamily="50" charset="0"/>
                </a:rPr>
                <a:t>May, 4</a:t>
              </a:r>
              <a:r>
                <a:rPr lang="en-US" sz="3200" baseline="30000">
                  <a:solidFill>
                    <a:schemeClr val="bg1"/>
                  </a:solidFill>
                  <a:latin typeface="UGent Panno Text" panose="02000506040000040003" pitchFamily="50" charset="0"/>
                </a:rPr>
                <a:t>th</a:t>
              </a:r>
              <a:r>
                <a:rPr lang="en-US" sz="3200">
                  <a:solidFill>
                    <a:schemeClr val="bg1"/>
                  </a:solidFill>
                  <a:latin typeface="UGent Panno Text" panose="02000506040000040003" pitchFamily="50" charset="0"/>
                </a:rPr>
                <a:t>?</a:t>
              </a:r>
            </a:p>
          </p:txBody>
        </p:sp>
      </p:grpSp>
      <p:grpSp>
        <p:nvGrpSpPr>
          <p:cNvPr id="19" name="Group 18">
            <a:extLst>
              <a:ext uri="{FF2B5EF4-FFF2-40B4-BE49-F238E27FC236}">
                <a16:creationId xmlns:a16="http://schemas.microsoft.com/office/drawing/2014/main" id="{93B57700-D60C-2664-406B-4CB9348CB95E}"/>
              </a:ext>
            </a:extLst>
          </p:cNvPr>
          <p:cNvGrpSpPr/>
          <p:nvPr/>
        </p:nvGrpSpPr>
        <p:grpSpPr>
          <a:xfrm>
            <a:off x="1854027" y="1803155"/>
            <a:ext cx="2765496" cy="2028365"/>
            <a:chOff x="8295284" y="1584032"/>
            <a:chExt cx="1340795" cy="983412"/>
          </a:xfrm>
          <a:solidFill>
            <a:schemeClr val="tx1"/>
          </a:solidFill>
        </p:grpSpPr>
        <p:pic>
          <p:nvPicPr>
            <p:cNvPr id="21" name="Graphic 20" descr="Speech">
              <a:extLst>
                <a:ext uri="{FF2B5EF4-FFF2-40B4-BE49-F238E27FC236}">
                  <a16:creationId xmlns:a16="http://schemas.microsoft.com/office/drawing/2014/main" id="{C9781AA9-7019-9DB2-60A0-F364DCF279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1324233">
              <a:off x="8295284" y="1584032"/>
              <a:ext cx="1340795" cy="983412"/>
            </a:xfrm>
            <a:prstGeom prst="rect">
              <a:avLst/>
            </a:prstGeom>
          </p:spPr>
        </p:pic>
        <p:sp>
          <p:nvSpPr>
            <p:cNvPr id="26" name="TextBox 25">
              <a:extLst>
                <a:ext uri="{FF2B5EF4-FFF2-40B4-BE49-F238E27FC236}">
                  <a16:creationId xmlns:a16="http://schemas.microsoft.com/office/drawing/2014/main" id="{E9877386-40B8-D700-4E31-1AFCE742A7E0}"/>
                </a:ext>
              </a:extLst>
            </p:cNvPr>
            <p:cNvSpPr txBox="1"/>
            <p:nvPr/>
          </p:nvSpPr>
          <p:spPr>
            <a:xfrm rot="21335395">
              <a:off x="8572808" y="1884585"/>
              <a:ext cx="795938" cy="238751"/>
            </a:xfrm>
            <a:prstGeom prst="rect">
              <a:avLst/>
            </a:prstGeom>
            <a:solidFill>
              <a:schemeClr val="tx1">
                <a:lumMod val="50000"/>
                <a:lumOff val="50000"/>
              </a:schemeClr>
            </a:solidFill>
          </p:spPr>
          <p:txBody>
            <a:bodyPr wrap="square" lIns="0" tIns="0" rIns="0" bIns="0" rtlCol="0">
              <a:spAutoFit/>
            </a:bodyPr>
            <a:lstStyle/>
            <a:p>
              <a:pPr algn="ctr"/>
              <a:r>
                <a:rPr lang="en-US" sz="3200">
                  <a:solidFill>
                    <a:schemeClr val="bg1"/>
                  </a:solidFill>
                  <a:latin typeface="UGent Panno Text" panose="02000506040000040003" pitchFamily="50" charset="0"/>
                </a:rPr>
                <a:t>April,5</a:t>
              </a:r>
              <a:r>
                <a:rPr lang="en-US" sz="3200" baseline="30000">
                  <a:solidFill>
                    <a:schemeClr val="bg1"/>
                  </a:solidFill>
                  <a:latin typeface="UGent Panno Text" panose="02000506040000040003" pitchFamily="50" charset="0"/>
                </a:rPr>
                <a:t>th</a:t>
              </a:r>
              <a:r>
                <a:rPr lang="en-US" sz="3200">
                  <a:solidFill>
                    <a:schemeClr val="bg1"/>
                  </a:solidFill>
                  <a:latin typeface="UGent Panno Text" panose="02000506040000040003" pitchFamily="50" charset="0"/>
                </a:rPr>
                <a:t>?</a:t>
              </a:r>
            </a:p>
          </p:txBody>
        </p:sp>
      </p:grpSp>
      <p:pic>
        <p:nvPicPr>
          <p:cNvPr id="27" name="Picture 2">
            <a:extLst>
              <a:ext uri="{FF2B5EF4-FFF2-40B4-BE49-F238E27FC236}">
                <a16:creationId xmlns:a16="http://schemas.microsoft.com/office/drawing/2014/main" id="{D4D05C4C-82B4-B636-9F91-B376D09095D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45699" b="52200"/>
          <a:stretch/>
        </p:blipFill>
        <p:spPr bwMode="auto">
          <a:xfrm>
            <a:off x="8769719" y="4463681"/>
            <a:ext cx="8568956" cy="4243226"/>
          </a:xfrm>
          <a:prstGeom prst="rect">
            <a:avLst/>
          </a:prstGeom>
          <a:noFill/>
          <a:extLst>
            <a:ext uri="{909E8E84-426E-40DD-AFC4-6F175D3DCCD1}">
              <a14:hiddenFill xmlns:a14="http://schemas.microsoft.com/office/drawing/2010/main">
                <a:solidFill>
                  <a:srgbClr val="FFFFFF"/>
                </a:solidFill>
              </a14:hiddenFill>
            </a:ext>
          </a:extLst>
        </p:spPr>
      </p:pic>
      <p:sp>
        <p:nvSpPr>
          <p:cNvPr id="28" name="Arrow: Right 27">
            <a:extLst>
              <a:ext uri="{FF2B5EF4-FFF2-40B4-BE49-F238E27FC236}">
                <a16:creationId xmlns:a16="http://schemas.microsoft.com/office/drawing/2014/main" id="{4B6EEB60-5D5F-E496-1556-B72B4E551DCB}"/>
              </a:ext>
            </a:extLst>
          </p:cNvPr>
          <p:cNvSpPr/>
          <p:nvPr/>
        </p:nvSpPr>
        <p:spPr>
          <a:xfrm>
            <a:off x="7726488" y="6585294"/>
            <a:ext cx="579929" cy="532682"/>
          </a:xfrm>
          <a:prstGeom prst="rightArrow">
            <a:avLst/>
          </a:prstGeom>
          <a:solidFill>
            <a:schemeClr val="tx1">
              <a:lumMod val="50000"/>
              <a:lumOff val="5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1"/>
              </a:solidFill>
            </a:endParaRPr>
          </a:p>
        </p:txBody>
      </p:sp>
      <p:sp>
        <p:nvSpPr>
          <p:cNvPr id="37" name="TextBox 36">
            <a:extLst>
              <a:ext uri="{FF2B5EF4-FFF2-40B4-BE49-F238E27FC236}">
                <a16:creationId xmlns:a16="http://schemas.microsoft.com/office/drawing/2014/main" id="{BF60FD22-1494-EDF7-382C-73C5BF0862D2}"/>
              </a:ext>
            </a:extLst>
          </p:cNvPr>
          <p:cNvSpPr txBox="1"/>
          <p:nvPr/>
        </p:nvSpPr>
        <p:spPr>
          <a:xfrm>
            <a:off x="8378761" y="2153953"/>
            <a:ext cx="8668870" cy="1446550"/>
          </a:xfrm>
          <a:prstGeom prst="rect">
            <a:avLst/>
          </a:prstGeom>
          <a:noFill/>
        </p:spPr>
        <p:txBody>
          <a:bodyPr wrap="square">
            <a:spAutoFit/>
          </a:bodyPr>
          <a:lstStyle/>
          <a:p>
            <a:pPr algn="ctr"/>
            <a:r>
              <a:rPr lang="en-GB" sz="4400" b="0" i="0">
                <a:solidFill>
                  <a:srgbClr val="040C28"/>
                </a:solidFill>
                <a:effectLst/>
                <a:latin typeface="UGent Panno Text" panose="02000506040000040003" pitchFamily="2" charset="0"/>
              </a:rPr>
              <a:t>ISO standard (YYYYMMDD or YYYY-MM-DD</a:t>
            </a:r>
            <a:r>
              <a:rPr lang="en-GB" sz="4400">
                <a:solidFill>
                  <a:srgbClr val="040C28"/>
                </a:solidFill>
                <a:latin typeface="UGent Panno Text" panose="02000506040000040003" pitchFamily="2" charset="0"/>
              </a:rPr>
              <a:t>)</a:t>
            </a:r>
          </a:p>
          <a:p>
            <a:pPr algn="ctr"/>
            <a:r>
              <a:rPr lang="en-GB" sz="4400">
                <a:solidFill>
                  <a:srgbClr val="040C28"/>
                </a:solidFill>
                <a:latin typeface="UGent Panno Text" panose="02000506040000040003" pitchFamily="2" charset="0"/>
              </a:rPr>
              <a:t>1985-04-05</a:t>
            </a:r>
            <a:endParaRPr lang="en-GB" sz="4400">
              <a:latin typeface="UGent Panno Text" panose="02000506040000040003" pitchFamily="2" charset="0"/>
            </a:endParaRPr>
          </a:p>
        </p:txBody>
      </p:sp>
      <p:sp>
        <p:nvSpPr>
          <p:cNvPr id="38" name="Arrow: Right 37">
            <a:extLst>
              <a:ext uri="{FF2B5EF4-FFF2-40B4-BE49-F238E27FC236}">
                <a16:creationId xmlns:a16="http://schemas.microsoft.com/office/drawing/2014/main" id="{42B6A175-0465-81AE-7C3D-15CD56FC5FF3}"/>
              </a:ext>
            </a:extLst>
          </p:cNvPr>
          <p:cNvSpPr/>
          <p:nvPr/>
        </p:nvSpPr>
        <p:spPr>
          <a:xfrm>
            <a:off x="7726729" y="2360679"/>
            <a:ext cx="579929" cy="532682"/>
          </a:xfrm>
          <a:prstGeom prst="rightArrow">
            <a:avLst/>
          </a:prstGeom>
          <a:solidFill>
            <a:schemeClr val="tx1">
              <a:lumMod val="50000"/>
              <a:lumOff val="5000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solidFill>
                <a:schemeClr val="tx1"/>
              </a:solidFill>
            </a:endParaRPr>
          </a:p>
        </p:txBody>
      </p:sp>
    </p:spTree>
    <p:extLst>
      <p:ext uri="{BB962C8B-B14F-4D97-AF65-F5344CB8AC3E}">
        <p14:creationId xmlns:p14="http://schemas.microsoft.com/office/powerpoint/2010/main" val="19744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8" grpId="0" animBg="1"/>
      <p:bldP spid="37" grpId="0"/>
      <p:bldP spid="3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C5FD-E043-4067-863B-6F897097A88D}"/>
              </a:ext>
            </a:extLst>
          </p:cNvPr>
          <p:cNvSpPr>
            <a:spLocks noGrp="1"/>
          </p:cNvSpPr>
          <p:nvPr>
            <p:ph type="title"/>
          </p:nvPr>
        </p:nvSpPr>
        <p:spPr/>
        <p:txBody>
          <a:bodyPr/>
          <a:lstStyle/>
          <a:p>
            <a:r>
              <a:rPr lang="en-US">
                <a:latin typeface="UGent Panno Text" panose="02000506040000040003" pitchFamily="2" charset="0"/>
              </a:rPr>
              <a:t>Standards &amp; Controlled vocabularies</a:t>
            </a:r>
            <a:endParaRPr lang="nl-BE">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99DF40CB-A7F5-44BE-A60F-8FDF77B32092}"/>
              </a:ext>
            </a:extLst>
          </p:cNvPr>
          <p:cNvSpPr>
            <a:spLocks noGrp="1"/>
          </p:cNvSpPr>
          <p:nvPr>
            <p:ph type="sldNum" sz="quarter" idx="12"/>
          </p:nvPr>
        </p:nvSpPr>
        <p:spPr>
          <a:xfrm>
            <a:off x="15590520" y="8948703"/>
            <a:ext cx="921880" cy="519289"/>
          </a:xfrm>
        </p:spPr>
        <p:txBody>
          <a:bodyPr/>
          <a:lstStyle/>
          <a:p>
            <a:fld id="{7AE184E0-0BD4-4705-A12B-9B71DDE63301}" type="slidenum">
              <a:rPr lang="en-GB" noProof="0" smtClean="0"/>
              <a:t>19</a:t>
            </a:fld>
            <a:endParaRPr lang="en-GB" noProof="0"/>
          </a:p>
        </p:txBody>
      </p:sp>
      <p:sp>
        <p:nvSpPr>
          <p:cNvPr id="81" name="Content Placeholder 2">
            <a:extLst>
              <a:ext uri="{FF2B5EF4-FFF2-40B4-BE49-F238E27FC236}">
                <a16:creationId xmlns:a16="http://schemas.microsoft.com/office/drawing/2014/main" id="{38D9370A-9614-201B-0F43-054C0EC2C672}"/>
              </a:ext>
            </a:extLst>
          </p:cNvPr>
          <p:cNvSpPr>
            <a:spLocks noGrp="1"/>
          </p:cNvSpPr>
          <p:nvPr>
            <p:ph idx="1"/>
          </p:nvPr>
        </p:nvSpPr>
        <p:spPr>
          <a:xfrm>
            <a:off x="835825" y="1194364"/>
            <a:ext cx="15699575" cy="4123594"/>
          </a:xfrm>
        </p:spPr>
        <p:txBody>
          <a:bodyPr>
            <a:normAutofit fontScale="92500" lnSpcReduction="10000"/>
          </a:bodyPr>
          <a:lstStyle/>
          <a:p>
            <a:r>
              <a:rPr lang="en-GB" b="1">
                <a:solidFill>
                  <a:srgbClr val="1E64C8"/>
                </a:solidFill>
              </a:rPr>
              <a:t>Standards</a:t>
            </a:r>
            <a:r>
              <a:rPr lang="en-GB"/>
              <a:t>: Rules that govern how data is structured, formatted, shared, and exchanged across systems.</a:t>
            </a:r>
          </a:p>
          <a:p>
            <a:r>
              <a:rPr lang="en-GB" b="1">
                <a:solidFill>
                  <a:srgbClr val="1E64C8"/>
                </a:solidFill>
              </a:rPr>
              <a:t>Controlled vocabularies</a:t>
            </a:r>
            <a:r>
              <a:rPr lang="en-GB"/>
              <a:t>: Define agreed-upon terms to ensure consistency in describing variables, values, units, etc.</a:t>
            </a:r>
          </a:p>
          <a:p>
            <a:r>
              <a:rPr lang="en-GB"/>
              <a:t>Why?</a:t>
            </a:r>
          </a:p>
        </p:txBody>
      </p:sp>
      <p:grpSp>
        <p:nvGrpSpPr>
          <p:cNvPr id="82" name="Group 81">
            <a:extLst>
              <a:ext uri="{FF2B5EF4-FFF2-40B4-BE49-F238E27FC236}">
                <a16:creationId xmlns:a16="http://schemas.microsoft.com/office/drawing/2014/main" id="{949B7ED0-BB15-5B43-6182-1A60E775EB83}"/>
              </a:ext>
            </a:extLst>
          </p:cNvPr>
          <p:cNvGrpSpPr/>
          <p:nvPr/>
        </p:nvGrpSpPr>
        <p:grpSpPr>
          <a:xfrm>
            <a:off x="2049336" y="5077343"/>
            <a:ext cx="13090041" cy="2515417"/>
            <a:chOff x="2049336" y="5077343"/>
            <a:chExt cx="13090041" cy="2515417"/>
          </a:xfrm>
        </p:grpSpPr>
        <p:grpSp>
          <p:nvGrpSpPr>
            <p:cNvPr id="83" name="Group 82">
              <a:extLst>
                <a:ext uri="{FF2B5EF4-FFF2-40B4-BE49-F238E27FC236}">
                  <a16:creationId xmlns:a16="http://schemas.microsoft.com/office/drawing/2014/main" id="{AC1987A0-0EB6-8C4D-A780-B1667CCAF03E}"/>
                </a:ext>
              </a:extLst>
            </p:cNvPr>
            <p:cNvGrpSpPr/>
            <p:nvPr/>
          </p:nvGrpSpPr>
          <p:grpSpPr>
            <a:xfrm>
              <a:off x="2730716" y="5077343"/>
              <a:ext cx="2278539" cy="1425633"/>
              <a:chOff x="1540625" y="5789555"/>
              <a:chExt cx="2405280" cy="1504932"/>
            </a:xfrm>
          </p:grpSpPr>
          <p:pic>
            <p:nvPicPr>
              <p:cNvPr id="95" name="Graphic 94" descr="Speech with solid fill">
                <a:extLst>
                  <a:ext uri="{FF2B5EF4-FFF2-40B4-BE49-F238E27FC236}">
                    <a16:creationId xmlns:a16="http://schemas.microsoft.com/office/drawing/2014/main" id="{9500AB7A-3EB1-4DB9-35B5-9F43A8700A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40625" y="6006188"/>
                <a:ext cx="1288299" cy="1288299"/>
              </a:xfrm>
              <a:prstGeom prst="rect">
                <a:avLst/>
              </a:prstGeom>
            </p:spPr>
          </p:pic>
          <p:pic>
            <p:nvPicPr>
              <p:cNvPr id="96" name="Graphic 95" descr="Speech with solid fill">
                <a:extLst>
                  <a:ext uri="{FF2B5EF4-FFF2-40B4-BE49-F238E27FC236}">
                    <a16:creationId xmlns:a16="http://schemas.microsoft.com/office/drawing/2014/main" id="{31CBDBC5-191B-801C-053C-DDBEA6BE0D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2657606" y="5789555"/>
                <a:ext cx="1288299" cy="1288299"/>
              </a:xfrm>
              <a:prstGeom prst="rect">
                <a:avLst/>
              </a:prstGeom>
            </p:spPr>
          </p:pic>
          <p:sp>
            <p:nvSpPr>
              <p:cNvPr id="97" name="TextBox 96">
                <a:extLst>
                  <a:ext uri="{FF2B5EF4-FFF2-40B4-BE49-F238E27FC236}">
                    <a16:creationId xmlns:a16="http://schemas.microsoft.com/office/drawing/2014/main" id="{97E66645-949E-4EAE-7BB2-4D4C0A65E230}"/>
                  </a:ext>
                </a:extLst>
              </p:cNvPr>
              <p:cNvSpPr txBox="1"/>
              <p:nvPr/>
            </p:nvSpPr>
            <p:spPr>
              <a:xfrm>
                <a:off x="2963960" y="6004118"/>
                <a:ext cx="687136" cy="624595"/>
              </a:xfrm>
              <a:prstGeom prst="rect">
                <a:avLst/>
              </a:prstGeom>
              <a:noFill/>
            </p:spPr>
            <p:txBody>
              <a:bodyPr wrap="square" rtlCol="0">
                <a:spAutoFit/>
              </a:bodyPr>
              <a:lstStyle/>
              <a:p>
                <a:pPr algn="ctr">
                  <a:lnSpc>
                    <a:spcPct val="120000"/>
                  </a:lnSpc>
                </a:pPr>
                <a:r>
                  <a:rPr lang="ja-JP" altLang="en-US" sz="1600" b="0" i="0">
                    <a:solidFill>
                      <a:srgbClr val="040C28"/>
                    </a:solidFill>
                    <a:effectLst/>
                    <a:latin typeface="Google Sans"/>
                  </a:rPr>
                  <a:t> </a:t>
                </a:r>
                <a:r>
                  <a:rPr lang="ja-JP" altLang="en-US" sz="3200" b="1" i="0">
                    <a:solidFill>
                      <a:schemeClr val="bg1"/>
                    </a:solidFill>
                    <a:effectLst/>
                    <a:latin typeface="Google Sans"/>
                  </a:rPr>
                  <a:t>兩</a:t>
                </a:r>
                <a:endParaRPr lang="en-GB" sz="2500" b="1">
                  <a:solidFill>
                    <a:schemeClr val="bg1"/>
                  </a:solidFill>
                </a:endParaRPr>
              </a:p>
            </p:txBody>
          </p:sp>
          <p:sp>
            <p:nvSpPr>
              <p:cNvPr id="98" name="TextBox 97">
                <a:extLst>
                  <a:ext uri="{FF2B5EF4-FFF2-40B4-BE49-F238E27FC236}">
                    <a16:creationId xmlns:a16="http://schemas.microsoft.com/office/drawing/2014/main" id="{C3306CD9-4C8C-49B6-2EA9-80FD2041EA21}"/>
                  </a:ext>
                </a:extLst>
              </p:cNvPr>
              <p:cNvSpPr txBox="1"/>
              <p:nvPr/>
            </p:nvSpPr>
            <p:spPr>
              <a:xfrm>
                <a:off x="1803993" y="6208473"/>
                <a:ext cx="687136" cy="640688"/>
              </a:xfrm>
              <a:prstGeom prst="rect">
                <a:avLst/>
              </a:prstGeom>
              <a:noFill/>
            </p:spPr>
            <p:txBody>
              <a:bodyPr wrap="square" rtlCol="0">
                <a:spAutoFit/>
              </a:bodyPr>
              <a:lstStyle/>
              <a:p>
                <a:pPr algn="ctr">
                  <a:lnSpc>
                    <a:spcPct val="120000"/>
                  </a:lnSpc>
                </a:pPr>
                <a:r>
                  <a:rPr lang="ja-JP" altLang="en-US" sz="1600" b="0" i="0">
                    <a:solidFill>
                      <a:srgbClr val="040C28"/>
                    </a:solidFill>
                    <a:effectLst/>
                    <a:latin typeface="Google Sans"/>
                  </a:rPr>
                  <a:t> </a:t>
                </a:r>
                <a:r>
                  <a:rPr lang="en-GB" altLang="ja-JP" sz="3200" b="1" i="0">
                    <a:solidFill>
                      <a:schemeClr val="bg1"/>
                    </a:solidFill>
                    <a:effectLst/>
                    <a:latin typeface="Google Sans"/>
                  </a:rPr>
                  <a:t>2</a:t>
                </a:r>
                <a:endParaRPr lang="en-GB" sz="2500" b="1">
                  <a:solidFill>
                    <a:schemeClr val="bg1"/>
                  </a:solidFill>
                </a:endParaRPr>
              </a:p>
            </p:txBody>
          </p:sp>
        </p:grpSp>
        <p:grpSp>
          <p:nvGrpSpPr>
            <p:cNvPr id="84" name="Group 83">
              <a:extLst>
                <a:ext uri="{FF2B5EF4-FFF2-40B4-BE49-F238E27FC236}">
                  <a16:creationId xmlns:a16="http://schemas.microsoft.com/office/drawing/2014/main" id="{A7BC96CB-8F1D-E153-6C5D-88C1EDDBC4DC}"/>
                </a:ext>
              </a:extLst>
            </p:cNvPr>
            <p:cNvGrpSpPr/>
            <p:nvPr/>
          </p:nvGrpSpPr>
          <p:grpSpPr>
            <a:xfrm>
              <a:off x="7456615" y="5077343"/>
              <a:ext cx="2003863" cy="1168362"/>
              <a:chOff x="5330107" y="5849523"/>
              <a:chExt cx="2003863" cy="1168362"/>
            </a:xfrm>
          </p:grpSpPr>
          <p:pic>
            <p:nvPicPr>
              <p:cNvPr id="92" name="Graphic 91" descr="Gears with solid fill">
                <a:extLst>
                  <a:ext uri="{FF2B5EF4-FFF2-40B4-BE49-F238E27FC236}">
                    <a16:creationId xmlns:a16="http://schemas.microsoft.com/office/drawing/2014/main" id="{B3F5B787-2642-0251-FCCD-3E9BBDF8214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63249" y="6103485"/>
                <a:ext cx="660438" cy="660438"/>
              </a:xfrm>
              <a:prstGeom prst="rect">
                <a:avLst/>
              </a:prstGeom>
            </p:spPr>
          </p:pic>
          <p:pic>
            <p:nvPicPr>
              <p:cNvPr id="93" name="Graphic 92" descr="Table with solid fill">
                <a:extLst>
                  <a:ext uri="{FF2B5EF4-FFF2-40B4-BE49-F238E27FC236}">
                    <a16:creationId xmlns:a16="http://schemas.microsoft.com/office/drawing/2014/main" id="{BAF21B39-1188-00E3-3791-853CD019296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30107" y="6103485"/>
                <a:ext cx="914400" cy="914400"/>
              </a:xfrm>
              <a:prstGeom prst="rect">
                <a:avLst/>
              </a:prstGeom>
            </p:spPr>
          </p:pic>
          <p:pic>
            <p:nvPicPr>
              <p:cNvPr id="94" name="Graphic 93" descr="Table with solid fill">
                <a:extLst>
                  <a:ext uri="{FF2B5EF4-FFF2-40B4-BE49-F238E27FC236}">
                    <a16:creationId xmlns:a16="http://schemas.microsoft.com/office/drawing/2014/main" id="{4ACBBFC3-5944-3CB5-A241-E9F12015F86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9570" y="5849523"/>
                <a:ext cx="914400" cy="914400"/>
              </a:xfrm>
              <a:prstGeom prst="rect">
                <a:avLst/>
              </a:prstGeom>
            </p:spPr>
          </p:pic>
        </p:grpSp>
        <p:grpSp>
          <p:nvGrpSpPr>
            <p:cNvPr id="85" name="Group 84">
              <a:extLst>
                <a:ext uri="{FF2B5EF4-FFF2-40B4-BE49-F238E27FC236}">
                  <a16:creationId xmlns:a16="http://schemas.microsoft.com/office/drawing/2014/main" id="{ED6B0450-DA37-26D6-C372-BB1BD5B2B5AF}"/>
                </a:ext>
              </a:extLst>
            </p:cNvPr>
            <p:cNvGrpSpPr/>
            <p:nvPr/>
          </p:nvGrpSpPr>
          <p:grpSpPr>
            <a:xfrm>
              <a:off x="12267547" y="5317958"/>
              <a:ext cx="2334082" cy="916471"/>
              <a:chOff x="11677232" y="6004118"/>
              <a:chExt cx="2334082" cy="916471"/>
            </a:xfrm>
          </p:grpSpPr>
          <p:pic>
            <p:nvPicPr>
              <p:cNvPr id="89" name="Graphic 88" descr="Monitor with solid fill">
                <a:extLst>
                  <a:ext uri="{FF2B5EF4-FFF2-40B4-BE49-F238E27FC236}">
                    <a16:creationId xmlns:a16="http://schemas.microsoft.com/office/drawing/2014/main" id="{8834C174-A6DA-1A6E-D9A4-2D5251948A5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677232" y="6006189"/>
                <a:ext cx="914400" cy="914400"/>
              </a:xfrm>
              <a:prstGeom prst="rect">
                <a:avLst/>
              </a:prstGeom>
            </p:spPr>
          </p:pic>
          <p:pic>
            <p:nvPicPr>
              <p:cNvPr id="90" name="Graphic 89" descr="Laptop with solid fill">
                <a:extLst>
                  <a:ext uri="{FF2B5EF4-FFF2-40B4-BE49-F238E27FC236}">
                    <a16:creationId xmlns:a16="http://schemas.microsoft.com/office/drawing/2014/main" id="{2C8F3C7B-A662-FE1E-5DC9-E20A23FE28F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096914" y="6004118"/>
                <a:ext cx="914400" cy="914400"/>
              </a:xfrm>
              <a:prstGeom prst="rect">
                <a:avLst/>
              </a:prstGeom>
            </p:spPr>
          </p:pic>
          <p:pic>
            <p:nvPicPr>
              <p:cNvPr id="91" name="Graphic 90" descr="Gears with solid fill">
                <a:extLst>
                  <a:ext uri="{FF2B5EF4-FFF2-40B4-BE49-F238E27FC236}">
                    <a16:creationId xmlns:a16="http://schemas.microsoft.com/office/drawing/2014/main" id="{3B336ADC-6D50-8C76-B6A5-5FC1149F3A7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2479340" y="6093526"/>
                <a:ext cx="660438" cy="660438"/>
              </a:xfrm>
              <a:prstGeom prst="rect">
                <a:avLst/>
              </a:prstGeom>
            </p:spPr>
          </p:pic>
        </p:grpSp>
        <p:sp>
          <p:nvSpPr>
            <p:cNvPr id="86" name="TextBox 85">
              <a:extLst>
                <a:ext uri="{FF2B5EF4-FFF2-40B4-BE49-F238E27FC236}">
                  <a16:creationId xmlns:a16="http://schemas.microsoft.com/office/drawing/2014/main" id="{2C5D880D-B52D-52BC-A132-86FBDA2C2EEC}"/>
                </a:ext>
              </a:extLst>
            </p:cNvPr>
            <p:cNvSpPr txBox="1"/>
            <p:nvPr/>
          </p:nvSpPr>
          <p:spPr>
            <a:xfrm>
              <a:off x="2049336" y="6453987"/>
              <a:ext cx="3479007" cy="1138773"/>
            </a:xfrm>
            <a:prstGeom prst="rect">
              <a:avLst/>
            </a:prstGeom>
            <a:noFill/>
          </p:spPr>
          <p:txBody>
            <a:bodyPr wrap="square">
              <a:spAutoFit/>
            </a:bodyPr>
            <a:lstStyle/>
            <a:p>
              <a:pPr algn="ctr"/>
              <a:r>
                <a:rPr lang="en-GB" sz="2800" b="1">
                  <a:latin typeface="UGent Panno Text" panose="02000506040000040003" pitchFamily="2" charset="0"/>
                </a:rPr>
                <a:t>Unambiguity</a:t>
              </a:r>
              <a:endParaRPr lang="en-GB" b="1">
                <a:latin typeface="UGent Panno Text" panose="02000506040000040003" pitchFamily="2" charset="0"/>
              </a:endParaRPr>
            </a:p>
            <a:p>
              <a:pPr algn="ctr"/>
              <a:r>
                <a:rPr lang="en-GB" sz="2000">
                  <a:latin typeface="UGent Panno Text" panose="02000506040000040003" pitchFamily="2" charset="0"/>
                </a:rPr>
                <a:t>Everyone uses the same terms for the same concepts</a:t>
              </a:r>
            </a:p>
          </p:txBody>
        </p:sp>
        <p:sp>
          <p:nvSpPr>
            <p:cNvPr id="87" name="TextBox 86">
              <a:extLst>
                <a:ext uri="{FF2B5EF4-FFF2-40B4-BE49-F238E27FC236}">
                  <a16:creationId xmlns:a16="http://schemas.microsoft.com/office/drawing/2014/main" id="{CEADFFAF-55C2-4695-9517-E42E1D50F90B}"/>
                </a:ext>
              </a:extLst>
            </p:cNvPr>
            <p:cNvSpPr txBox="1"/>
            <p:nvPr/>
          </p:nvSpPr>
          <p:spPr>
            <a:xfrm>
              <a:off x="6680472" y="6453986"/>
              <a:ext cx="3479007" cy="1138773"/>
            </a:xfrm>
            <a:prstGeom prst="rect">
              <a:avLst/>
            </a:prstGeom>
            <a:noFill/>
          </p:spPr>
          <p:txBody>
            <a:bodyPr wrap="square">
              <a:spAutoFit/>
            </a:bodyPr>
            <a:lstStyle/>
            <a:p>
              <a:pPr algn="ctr"/>
              <a:r>
                <a:rPr lang="en-GB" sz="2800" b="1">
                  <a:latin typeface="UGent Panno Text" panose="02000506040000040003" pitchFamily="2" charset="0"/>
                </a:rPr>
                <a:t>Interoperability</a:t>
              </a:r>
              <a:endParaRPr lang="en-GB" b="1">
                <a:latin typeface="UGent Panno Text" panose="02000506040000040003" pitchFamily="2" charset="0"/>
              </a:endParaRPr>
            </a:p>
            <a:p>
              <a:pPr algn="ctr"/>
              <a:r>
                <a:rPr lang="en-GB" sz="2000">
                  <a:latin typeface="UGent Panno Text" panose="02000506040000040003" pitchFamily="2" charset="0"/>
                </a:rPr>
                <a:t>Data from different researchers and disciplines can be easily integrated</a:t>
              </a:r>
            </a:p>
          </p:txBody>
        </p:sp>
        <p:sp>
          <p:nvSpPr>
            <p:cNvPr id="88" name="TextBox 87">
              <a:extLst>
                <a:ext uri="{FF2B5EF4-FFF2-40B4-BE49-F238E27FC236}">
                  <a16:creationId xmlns:a16="http://schemas.microsoft.com/office/drawing/2014/main" id="{A8B56E8D-0F1E-2B26-F91D-F014DD1E29CD}"/>
                </a:ext>
              </a:extLst>
            </p:cNvPr>
            <p:cNvSpPr txBox="1"/>
            <p:nvPr/>
          </p:nvSpPr>
          <p:spPr>
            <a:xfrm>
              <a:off x="11660370" y="6453985"/>
              <a:ext cx="3479007" cy="1138773"/>
            </a:xfrm>
            <a:prstGeom prst="rect">
              <a:avLst/>
            </a:prstGeom>
            <a:noFill/>
          </p:spPr>
          <p:txBody>
            <a:bodyPr wrap="square">
              <a:spAutoFit/>
            </a:bodyPr>
            <a:lstStyle/>
            <a:p>
              <a:pPr algn="ctr"/>
              <a:r>
                <a:rPr lang="en-GB" sz="2800" b="1">
                  <a:latin typeface="UGent Panno Text" panose="02000506040000040003" pitchFamily="2" charset="0"/>
                </a:rPr>
                <a:t>Machine actionability</a:t>
              </a:r>
              <a:endParaRPr lang="en-GB" b="1">
                <a:latin typeface="UGent Panno Text" panose="02000506040000040003" pitchFamily="2" charset="0"/>
              </a:endParaRPr>
            </a:p>
            <a:p>
              <a:pPr algn="ctr"/>
              <a:r>
                <a:rPr lang="en-GB" sz="2000">
                  <a:latin typeface="UGent Panno Text" panose="02000506040000040003" pitchFamily="2" charset="0"/>
                </a:rPr>
                <a:t>Computers can process data more effectively when data is standardized</a:t>
              </a:r>
            </a:p>
          </p:txBody>
        </p:sp>
      </p:grpSp>
    </p:spTree>
    <p:extLst>
      <p:ext uri="{BB962C8B-B14F-4D97-AF65-F5344CB8AC3E}">
        <p14:creationId xmlns:p14="http://schemas.microsoft.com/office/powerpoint/2010/main" val="390709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
                                            <p:txEl>
                                              <p:pRg st="2" end="2"/>
                                            </p:txEl>
                                          </p:spTgt>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82"/>
                                        </p:tgtEl>
                                        <p:attrNameLst>
                                          <p:attrName>style.visibility</p:attrName>
                                        </p:attrNameLst>
                                      </p:cBhvr>
                                      <p:to>
                                        <p:strVal val="visible"/>
                                      </p:to>
                                    </p:set>
                                    <p:animEffect transition="in" filter="fade">
                                      <p:cBhvr>
                                        <p:cTn id="1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420C-4AEC-478B-9A2C-D25A2D092E9E}"/>
              </a:ext>
            </a:extLst>
          </p:cNvPr>
          <p:cNvSpPr>
            <a:spLocks noGrp="1"/>
          </p:cNvSpPr>
          <p:nvPr>
            <p:ph type="title"/>
          </p:nvPr>
        </p:nvSpPr>
        <p:spPr/>
        <p:txBody>
          <a:bodyPr/>
          <a:lstStyle/>
          <a:p>
            <a:r>
              <a:rPr lang="en-US" u="none">
                <a:latin typeface="UGent Panno Text" panose="02000506040000040003" pitchFamily="50" charset="0"/>
              </a:rPr>
              <a:t>Standard vocabularies &amp; ontologies</a:t>
            </a:r>
          </a:p>
        </p:txBody>
      </p:sp>
      <p:sp>
        <p:nvSpPr>
          <p:cNvPr id="4" name="Slide Number Placeholder 3">
            <a:extLst>
              <a:ext uri="{FF2B5EF4-FFF2-40B4-BE49-F238E27FC236}">
                <a16:creationId xmlns:a16="http://schemas.microsoft.com/office/drawing/2014/main" id="{DF3AF0E2-D0D1-4351-9808-C5C5E53676E5}"/>
              </a:ext>
            </a:extLst>
          </p:cNvPr>
          <p:cNvSpPr>
            <a:spLocks noGrp="1"/>
          </p:cNvSpPr>
          <p:nvPr>
            <p:ph type="sldNum" sz="quarter" idx="12"/>
          </p:nvPr>
        </p:nvSpPr>
        <p:spPr/>
        <p:txBody>
          <a:bodyPr/>
          <a:lstStyle/>
          <a:p>
            <a:fld id="{7AE184E0-0BD4-4705-A12B-9B71DDE63301}" type="slidenum">
              <a:rPr lang="en-GB" noProof="0" smtClean="0"/>
              <a:t>20</a:t>
            </a:fld>
            <a:endParaRPr lang="en-GB" noProof="0"/>
          </a:p>
        </p:txBody>
      </p:sp>
      <p:pic>
        <p:nvPicPr>
          <p:cNvPr id="3" name="Picture 2">
            <a:extLst>
              <a:ext uri="{FF2B5EF4-FFF2-40B4-BE49-F238E27FC236}">
                <a16:creationId xmlns:a16="http://schemas.microsoft.com/office/drawing/2014/main" id="{5491F66A-A636-4324-BF31-CC981D2155E9}"/>
              </a:ext>
            </a:extLst>
          </p:cNvPr>
          <p:cNvPicPr>
            <a:picLocks noChangeAspect="1"/>
          </p:cNvPicPr>
          <p:nvPr/>
        </p:nvPicPr>
        <p:blipFill>
          <a:blip r:embed="rId2"/>
          <a:stretch>
            <a:fillRect/>
          </a:stretch>
        </p:blipFill>
        <p:spPr>
          <a:xfrm>
            <a:off x="2842368" y="2800094"/>
            <a:ext cx="11653939" cy="5339052"/>
          </a:xfrm>
          <a:prstGeom prst="rect">
            <a:avLst/>
          </a:prstGeom>
        </p:spPr>
      </p:pic>
      <p:sp>
        <p:nvSpPr>
          <p:cNvPr id="10" name="Rectangle 9">
            <a:extLst>
              <a:ext uri="{FF2B5EF4-FFF2-40B4-BE49-F238E27FC236}">
                <a16:creationId xmlns:a16="http://schemas.microsoft.com/office/drawing/2014/main" id="{33131F22-54B6-43F5-B5FF-6CC06852793A}"/>
              </a:ext>
            </a:extLst>
          </p:cNvPr>
          <p:cNvSpPr/>
          <p:nvPr/>
        </p:nvSpPr>
        <p:spPr>
          <a:xfrm>
            <a:off x="2701790" y="8216414"/>
            <a:ext cx="11794517" cy="954107"/>
          </a:xfrm>
          <a:prstGeom prst="rect">
            <a:avLst/>
          </a:prstGeom>
        </p:spPr>
        <p:txBody>
          <a:bodyPr wrap="square">
            <a:spAutoFit/>
          </a:bodyPr>
          <a:lstStyle/>
          <a:p>
            <a:r>
              <a:rPr lang="en-US" sz="2800">
                <a:latin typeface="UGent Panno Text" panose="02000506040000040003" pitchFamily="50" charset="0"/>
              </a:rPr>
              <a:t>MS Excel recognizes </a:t>
            </a:r>
            <a:r>
              <a:rPr lang="en-US" sz="2800">
                <a:latin typeface="UGent Panno Text" panose="02000506040000040003" pitchFamily="50" charset="0"/>
                <a:hlinkClick r:id="rId3"/>
              </a:rPr>
              <a:t>ISO Country codes </a:t>
            </a:r>
            <a:r>
              <a:rPr lang="en-US" sz="2800">
                <a:latin typeface="UGent Panno Text" panose="02000506040000040003" pitchFamily="50" charset="0"/>
              </a:rPr>
              <a:t>(or other place names in geonames.org) to automatically create maps</a:t>
            </a:r>
          </a:p>
        </p:txBody>
      </p:sp>
      <p:sp>
        <p:nvSpPr>
          <p:cNvPr id="5" name="Rectangle 4">
            <a:extLst>
              <a:ext uri="{FF2B5EF4-FFF2-40B4-BE49-F238E27FC236}">
                <a16:creationId xmlns:a16="http://schemas.microsoft.com/office/drawing/2014/main" id="{013AFAF9-E424-4C93-9ECA-470450787ACF}"/>
              </a:ext>
            </a:extLst>
          </p:cNvPr>
          <p:cNvSpPr/>
          <p:nvPr/>
        </p:nvSpPr>
        <p:spPr>
          <a:xfrm>
            <a:off x="1053480" y="1402197"/>
            <a:ext cx="13627719" cy="1031051"/>
          </a:xfrm>
          <a:prstGeom prst="rect">
            <a:avLst/>
          </a:prstGeom>
        </p:spPr>
        <p:txBody>
          <a:bodyPr wrap="square">
            <a:spAutoFit/>
          </a:bodyPr>
          <a:lstStyle/>
          <a:p>
            <a:pPr marL="457200" lvl="1" indent="-457200">
              <a:spcAft>
                <a:spcPts val="600"/>
              </a:spcAft>
              <a:buFont typeface="Arial" panose="020B0604020202020204" pitchFamily="34" charset="0"/>
              <a:buChar char="•"/>
            </a:pPr>
            <a:r>
              <a:rPr lang="en-US" sz="2800">
                <a:latin typeface="UGent Panno Text" panose="02000506040000040003" pitchFamily="50" charset="0"/>
              </a:rPr>
              <a:t>Enable machine readability (use might be required in some domain repositories)</a:t>
            </a:r>
          </a:p>
          <a:p>
            <a:pPr marL="457200" lvl="1" indent="-457200">
              <a:spcAft>
                <a:spcPts val="600"/>
              </a:spcAft>
              <a:buFont typeface="Arial" panose="020B0604020202020204" pitchFamily="34" charset="0"/>
              <a:buChar char="•"/>
            </a:pPr>
            <a:r>
              <a:rPr lang="en-US" sz="2800">
                <a:latin typeface="UGent Panno Text" panose="02000506040000040003" pitchFamily="50" charset="0"/>
              </a:rPr>
              <a:t>Day-to-day example:</a:t>
            </a:r>
          </a:p>
        </p:txBody>
      </p:sp>
      <p:pic>
        <p:nvPicPr>
          <p:cNvPr id="6" name="Picture 5">
            <a:extLst>
              <a:ext uri="{FF2B5EF4-FFF2-40B4-BE49-F238E27FC236}">
                <a16:creationId xmlns:a16="http://schemas.microsoft.com/office/drawing/2014/main" id="{D852D30B-D378-4A3F-AFBE-5FF0248F3788}"/>
              </a:ext>
            </a:extLst>
          </p:cNvPr>
          <p:cNvPicPr>
            <a:picLocks noChangeAspect="1"/>
          </p:cNvPicPr>
          <p:nvPr/>
        </p:nvPicPr>
        <p:blipFill>
          <a:blip r:embed="rId4"/>
          <a:stretch>
            <a:fillRect/>
          </a:stretch>
        </p:blipFill>
        <p:spPr>
          <a:xfrm>
            <a:off x="9804400" y="7104064"/>
            <a:ext cx="309031" cy="309031"/>
          </a:xfrm>
          <a:prstGeom prst="rect">
            <a:avLst/>
          </a:prstGeom>
        </p:spPr>
      </p:pic>
    </p:spTree>
    <p:extLst>
      <p:ext uri="{BB962C8B-B14F-4D97-AF65-F5344CB8AC3E}">
        <p14:creationId xmlns:p14="http://schemas.microsoft.com/office/powerpoint/2010/main" val="1825583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63FF6-9C41-4E02-8A04-2F08649F9CAB}"/>
              </a:ext>
            </a:extLst>
          </p:cNvPr>
          <p:cNvSpPr>
            <a:spLocks noGrp="1"/>
          </p:cNvSpPr>
          <p:nvPr>
            <p:ph type="title"/>
          </p:nvPr>
        </p:nvSpPr>
        <p:spPr/>
        <p:txBody>
          <a:bodyPr/>
          <a:lstStyle/>
          <a:p>
            <a:r>
              <a:rPr lang="en-US">
                <a:latin typeface="UGent Panno Text" panose="02000506040000040003" pitchFamily="2" charset="0"/>
              </a:rPr>
              <a:t>Vocabularies and standards</a:t>
            </a:r>
            <a:endParaRPr lang="nl-BE">
              <a:latin typeface="UGent Panno Text" panose="02000506040000040003" pitchFamily="2" charset="0"/>
            </a:endParaRPr>
          </a:p>
        </p:txBody>
      </p:sp>
      <p:sp>
        <p:nvSpPr>
          <p:cNvPr id="3" name="TextBox 2">
            <a:extLst>
              <a:ext uri="{FF2B5EF4-FFF2-40B4-BE49-F238E27FC236}">
                <a16:creationId xmlns:a16="http://schemas.microsoft.com/office/drawing/2014/main" id="{1048344A-2CDB-45AC-8E89-B2EE4301C2E6}"/>
              </a:ext>
            </a:extLst>
          </p:cNvPr>
          <p:cNvSpPr txBox="1"/>
          <p:nvPr/>
        </p:nvSpPr>
        <p:spPr>
          <a:xfrm>
            <a:off x="6187147" y="1217801"/>
            <a:ext cx="3328155" cy="567784"/>
          </a:xfrm>
          <a:prstGeom prst="rect">
            <a:avLst/>
          </a:prstGeom>
          <a:noFill/>
        </p:spPr>
        <p:txBody>
          <a:bodyPr wrap="none" rtlCol="0">
            <a:spAutoFit/>
          </a:bodyPr>
          <a:lstStyle/>
          <a:p>
            <a:pPr>
              <a:lnSpc>
                <a:spcPct val="120000"/>
              </a:lnSpc>
            </a:pPr>
            <a:r>
              <a:rPr lang="en-US" sz="2800">
                <a:latin typeface="UGent Panno Text" panose="02000506040000040003" pitchFamily="2" charset="0"/>
              </a:rPr>
              <a:t>STANDARDIZED METADATA</a:t>
            </a:r>
            <a:endParaRPr lang="nl-BE" sz="2800">
              <a:latin typeface="UGent Panno Text" panose="02000506040000040003" pitchFamily="2" charset="0"/>
            </a:endParaRPr>
          </a:p>
        </p:txBody>
      </p:sp>
      <p:grpSp>
        <p:nvGrpSpPr>
          <p:cNvPr id="95" name="Group 94">
            <a:extLst>
              <a:ext uri="{FF2B5EF4-FFF2-40B4-BE49-F238E27FC236}">
                <a16:creationId xmlns:a16="http://schemas.microsoft.com/office/drawing/2014/main" id="{A3478E5A-23C2-49E5-AAC8-C87107DFC51E}"/>
              </a:ext>
            </a:extLst>
          </p:cNvPr>
          <p:cNvGrpSpPr/>
          <p:nvPr/>
        </p:nvGrpSpPr>
        <p:grpSpPr>
          <a:xfrm>
            <a:off x="3870478" y="2087046"/>
            <a:ext cx="9227581" cy="7530529"/>
            <a:chOff x="427404" y="1730829"/>
            <a:chExt cx="6016939" cy="4687678"/>
          </a:xfrm>
        </p:grpSpPr>
        <p:sp>
          <p:nvSpPr>
            <p:cNvPr id="96" name="Rectangle: Rounded Corners 95">
              <a:extLst>
                <a:ext uri="{FF2B5EF4-FFF2-40B4-BE49-F238E27FC236}">
                  <a16:creationId xmlns:a16="http://schemas.microsoft.com/office/drawing/2014/main" id="{D58454B6-E079-4F9E-BF1C-BE3DF30089A9}"/>
                </a:ext>
              </a:extLst>
            </p:cNvPr>
            <p:cNvSpPr>
              <a:spLocks/>
            </p:cNvSpPr>
            <p:nvPr/>
          </p:nvSpPr>
          <p:spPr>
            <a:xfrm>
              <a:off x="537873" y="1817375"/>
              <a:ext cx="5796000" cy="3852000"/>
            </a:xfrm>
            <a:prstGeom prst="roundRect">
              <a:avLst>
                <a:gd name="adj" fmla="val 3485"/>
              </a:avLst>
            </a:prstGeom>
            <a:solidFill>
              <a:sysClr val="window" lastClr="FFFFFF"/>
            </a:solidFill>
            <a:ln w="762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7" name="Rectangle: Rounded Corners 96">
              <a:extLst>
                <a:ext uri="{FF2B5EF4-FFF2-40B4-BE49-F238E27FC236}">
                  <a16:creationId xmlns:a16="http://schemas.microsoft.com/office/drawing/2014/main" id="{CD966866-474F-4F76-AB86-A5D149CB7365}"/>
                </a:ext>
              </a:extLst>
            </p:cNvPr>
            <p:cNvSpPr/>
            <p:nvPr/>
          </p:nvSpPr>
          <p:spPr>
            <a:xfrm>
              <a:off x="427404" y="1730829"/>
              <a:ext cx="6016939" cy="4065546"/>
            </a:xfrm>
            <a:prstGeom prst="roundRect">
              <a:avLst>
                <a:gd name="adj" fmla="val 6311"/>
              </a:avLst>
            </a:prstGeom>
            <a:solidFill>
              <a:schemeClr val="bg1"/>
            </a:solidFill>
            <a:ln w="76200" cap="flat" cmpd="sng" algn="ctr">
              <a:solidFill>
                <a:srgbClr val="FFD2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E8120114-4E55-4F07-BCE4-7122A2CA211B}"/>
                </a:ext>
              </a:extLst>
            </p:cNvPr>
            <p:cNvSpPr/>
            <p:nvPr/>
          </p:nvSpPr>
          <p:spPr>
            <a:xfrm>
              <a:off x="3036305" y="5796375"/>
              <a:ext cx="941519" cy="622132"/>
            </a:xfrm>
            <a:prstGeom prst="rect">
              <a:avLst/>
            </a:prstGeom>
            <a:solidFill>
              <a:srgbClr val="FFD200"/>
            </a:solidFill>
            <a:ln w="76200" cap="flat" cmpd="sng" algn="ctr">
              <a:solidFill>
                <a:srgbClr val="FFD200"/>
              </a:solidFill>
              <a:prstDash val="solid"/>
              <a:miter lim="800000"/>
            </a:ln>
            <a:effectLst/>
          </p:spPr>
          <p:txBody>
            <a:bodyPr rot="0" spcFirstLastPara="0" vertOverflow="overflow" horzOverflow="overflow" vert="horz" wrap="square" lIns="130040" tIns="65020" rIns="130040" bIns="650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99" name="Straight Connector 98">
              <a:extLst>
                <a:ext uri="{FF2B5EF4-FFF2-40B4-BE49-F238E27FC236}">
                  <a16:creationId xmlns:a16="http://schemas.microsoft.com/office/drawing/2014/main" id="{A302642F-C0F4-4777-858A-6D1FE2351FF9}"/>
                </a:ext>
              </a:extLst>
            </p:cNvPr>
            <p:cNvCxnSpPr/>
            <p:nvPr/>
          </p:nvCxnSpPr>
          <p:spPr>
            <a:xfrm>
              <a:off x="1670437" y="6418507"/>
              <a:ext cx="3699777" cy="0"/>
            </a:xfrm>
            <a:prstGeom prst="line">
              <a:avLst/>
            </a:prstGeom>
            <a:solidFill>
              <a:srgbClr val="1E64C8"/>
            </a:solidFill>
            <a:ln w="76200" cap="flat" cmpd="sng" algn="ctr">
              <a:solidFill>
                <a:srgbClr val="FFD200"/>
              </a:solidFill>
              <a:prstDash val="solid"/>
              <a:miter lim="800000"/>
            </a:ln>
            <a:effectLst/>
          </p:spPr>
        </p:cxnSp>
      </p:grpSp>
      <p:sp>
        <p:nvSpPr>
          <p:cNvPr id="100" name="TextBox 99">
            <a:extLst>
              <a:ext uri="{FF2B5EF4-FFF2-40B4-BE49-F238E27FC236}">
                <a16:creationId xmlns:a16="http://schemas.microsoft.com/office/drawing/2014/main" id="{B2C136D4-F3A0-4F12-B81C-A36C08448AB1}"/>
              </a:ext>
            </a:extLst>
          </p:cNvPr>
          <p:cNvSpPr txBox="1"/>
          <p:nvPr/>
        </p:nvSpPr>
        <p:spPr>
          <a:xfrm>
            <a:off x="9978889" y="7541784"/>
            <a:ext cx="2247425"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llllllllllllllll</a:t>
            </a:r>
            <a:r>
              <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rPr>
              <a:t> </a:t>
            </a: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sp>
        <p:nvSpPr>
          <p:cNvPr id="101" name="TextBox 100">
            <a:extLst>
              <a:ext uri="{FF2B5EF4-FFF2-40B4-BE49-F238E27FC236}">
                <a16:creationId xmlns:a16="http://schemas.microsoft.com/office/drawing/2014/main" id="{58CB1156-7424-48B5-8B8E-AF4BCF41354F}"/>
              </a:ext>
            </a:extLst>
          </p:cNvPr>
          <p:cNvSpPr txBox="1"/>
          <p:nvPr/>
        </p:nvSpPr>
        <p:spPr>
          <a:xfrm>
            <a:off x="10072510" y="4768075"/>
            <a:ext cx="2294815"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a:t>
            </a:r>
            <a:r>
              <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rPr>
              <a:t> </a:t>
            </a: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sp>
        <p:nvSpPr>
          <p:cNvPr id="102" name="TextBox 101">
            <a:extLst>
              <a:ext uri="{FF2B5EF4-FFF2-40B4-BE49-F238E27FC236}">
                <a16:creationId xmlns:a16="http://schemas.microsoft.com/office/drawing/2014/main" id="{AA86778D-4EE6-4514-B812-63BA47E8E57C}"/>
              </a:ext>
            </a:extLst>
          </p:cNvPr>
          <p:cNvSpPr txBox="1"/>
          <p:nvPr/>
        </p:nvSpPr>
        <p:spPr>
          <a:xfrm>
            <a:off x="7684074" y="4768077"/>
            <a:ext cx="2625899"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lllllllllllllllllllllllllllllllllll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sp>
        <p:nvSpPr>
          <p:cNvPr id="103" name="TextBox 102">
            <a:extLst>
              <a:ext uri="{FF2B5EF4-FFF2-40B4-BE49-F238E27FC236}">
                <a16:creationId xmlns:a16="http://schemas.microsoft.com/office/drawing/2014/main" id="{C117D4D0-00F0-4948-9A64-BF684E1B8D51}"/>
              </a:ext>
            </a:extLst>
          </p:cNvPr>
          <p:cNvSpPr txBox="1"/>
          <p:nvPr/>
        </p:nvSpPr>
        <p:spPr>
          <a:xfrm>
            <a:off x="7684074" y="3623734"/>
            <a:ext cx="2294815"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llllllllllllllll</a:t>
            </a:r>
            <a:r>
              <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rPr>
              <a:t> </a:t>
            </a: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sp>
        <p:nvSpPr>
          <p:cNvPr id="105" name="TextBox 104">
            <a:extLst>
              <a:ext uri="{FF2B5EF4-FFF2-40B4-BE49-F238E27FC236}">
                <a16:creationId xmlns:a16="http://schemas.microsoft.com/office/drawing/2014/main" id="{27BD2337-5E50-4977-A154-AC7440A5C92D}"/>
              </a:ext>
            </a:extLst>
          </p:cNvPr>
          <p:cNvSpPr txBox="1"/>
          <p:nvPr/>
        </p:nvSpPr>
        <p:spPr>
          <a:xfrm>
            <a:off x="7697332" y="5303508"/>
            <a:ext cx="2745454"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llllllllllllllllllll</a:t>
            </a:r>
            <a:r>
              <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rPr>
              <a:t> </a:t>
            </a: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sp>
        <p:nvSpPr>
          <p:cNvPr id="107" name="TextBox 106">
            <a:extLst>
              <a:ext uri="{FF2B5EF4-FFF2-40B4-BE49-F238E27FC236}">
                <a16:creationId xmlns:a16="http://schemas.microsoft.com/office/drawing/2014/main" id="{E8A439C5-10F4-4FBC-9EA7-F77E67FD12A4}"/>
              </a:ext>
            </a:extLst>
          </p:cNvPr>
          <p:cNvSpPr txBox="1"/>
          <p:nvPr/>
        </p:nvSpPr>
        <p:spPr>
          <a:xfrm>
            <a:off x="7683103" y="7541784"/>
            <a:ext cx="2442422"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llllllllllllllllllllllllllllllllll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sp>
        <p:nvSpPr>
          <p:cNvPr id="108" name="TextBox 107">
            <a:extLst>
              <a:ext uri="{FF2B5EF4-FFF2-40B4-BE49-F238E27FC236}">
                <a16:creationId xmlns:a16="http://schemas.microsoft.com/office/drawing/2014/main" id="{E84F97EC-0458-4608-9646-17702ADFBC68}"/>
              </a:ext>
            </a:extLst>
          </p:cNvPr>
          <p:cNvSpPr txBox="1"/>
          <p:nvPr/>
        </p:nvSpPr>
        <p:spPr>
          <a:xfrm>
            <a:off x="5075213" y="3659594"/>
            <a:ext cx="2439447"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75" b="0" i="0" u="none" strike="noStrike" kern="0" cap="none" spc="0" normalizeH="0" baseline="0" noProof="0">
                <a:ln>
                  <a:noFill/>
                </a:ln>
                <a:solidFill>
                  <a:prstClr val="black"/>
                </a:solidFill>
                <a:effectLst/>
                <a:uLnTx/>
                <a:uFillTx/>
                <a:latin typeface="UGent Panno Text" panose="02000506040000040003" pitchFamily="50" charset="0"/>
              </a:rPr>
              <a:t>Title</a:t>
            </a:r>
          </a:p>
        </p:txBody>
      </p:sp>
      <p:sp>
        <p:nvSpPr>
          <p:cNvPr id="109" name="TextBox 108">
            <a:extLst>
              <a:ext uri="{FF2B5EF4-FFF2-40B4-BE49-F238E27FC236}">
                <a16:creationId xmlns:a16="http://schemas.microsoft.com/office/drawing/2014/main" id="{CDFE7C0C-7A03-433D-A4BC-9B3859BF3CE0}"/>
              </a:ext>
            </a:extLst>
          </p:cNvPr>
          <p:cNvSpPr txBox="1"/>
          <p:nvPr/>
        </p:nvSpPr>
        <p:spPr>
          <a:xfrm>
            <a:off x="5075216" y="4219519"/>
            <a:ext cx="2439447"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75" b="0" i="0" u="none" strike="noStrike" kern="0" cap="none" spc="0" normalizeH="0" baseline="0" noProof="0">
                <a:ln>
                  <a:noFill/>
                </a:ln>
                <a:solidFill>
                  <a:prstClr val="black"/>
                </a:solidFill>
                <a:effectLst/>
                <a:uLnTx/>
                <a:uFillTx/>
                <a:latin typeface="UGent Panno Text" panose="02000506040000040003" pitchFamily="50" charset="0"/>
              </a:rPr>
              <a:t>Creator</a:t>
            </a:r>
          </a:p>
        </p:txBody>
      </p:sp>
      <p:sp>
        <p:nvSpPr>
          <p:cNvPr id="110" name="TextBox 109">
            <a:extLst>
              <a:ext uri="{FF2B5EF4-FFF2-40B4-BE49-F238E27FC236}">
                <a16:creationId xmlns:a16="http://schemas.microsoft.com/office/drawing/2014/main" id="{8F7CCFC8-EC8B-4587-B84E-7743C09F8007}"/>
              </a:ext>
            </a:extLst>
          </p:cNvPr>
          <p:cNvSpPr txBox="1"/>
          <p:nvPr/>
        </p:nvSpPr>
        <p:spPr>
          <a:xfrm>
            <a:off x="5075211" y="5339368"/>
            <a:ext cx="2439447"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75" b="0" i="0" u="none" strike="noStrike" kern="0" cap="none" spc="0" normalizeH="0" baseline="0" noProof="0">
                <a:ln>
                  <a:noFill/>
                </a:ln>
                <a:solidFill>
                  <a:prstClr val="black"/>
                </a:solidFill>
                <a:effectLst/>
                <a:uLnTx/>
                <a:uFillTx/>
                <a:latin typeface="UGent Panno Text" panose="02000506040000040003" pitchFamily="50" charset="0"/>
              </a:rPr>
              <a:t>Subject</a:t>
            </a:r>
          </a:p>
        </p:txBody>
      </p:sp>
      <p:sp>
        <p:nvSpPr>
          <p:cNvPr id="111" name="TextBox 110">
            <a:extLst>
              <a:ext uri="{FF2B5EF4-FFF2-40B4-BE49-F238E27FC236}">
                <a16:creationId xmlns:a16="http://schemas.microsoft.com/office/drawing/2014/main" id="{FBC007DC-6E8E-4F97-BF7A-2C368584D974}"/>
              </a:ext>
            </a:extLst>
          </p:cNvPr>
          <p:cNvSpPr txBox="1"/>
          <p:nvPr/>
        </p:nvSpPr>
        <p:spPr>
          <a:xfrm>
            <a:off x="5075210" y="5899292"/>
            <a:ext cx="2439447"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275" kern="0" noProof="0">
                <a:solidFill>
                  <a:prstClr val="black"/>
                </a:solidFill>
                <a:latin typeface="UGent Panno Text" panose="02000506040000040003" pitchFamily="50" charset="0"/>
              </a:rPr>
              <a:t>Date</a:t>
            </a:r>
            <a:endParaRPr kumimoji="0" lang="en-US" sz="2275" b="0" i="0" u="none" strike="noStrike" kern="0" cap="none" spc="0" normalizeH="0" baseline="0" noProof="0">
              <a:ln>
                <a:noFill/>
              </a:ln>
              <a:solidFill>
                <a:prstClr val="black"/>
              </a:solidFill>
              <a:effectLst/>
              <a:uLnTx/>
              <a:uFillTx/>
              <a:latin typeface="UGent Panno Text" panose="02000506040000040003" pitchFamily="50" charset="0"/>
            </a:endParaRPr>
          </a:p>
        </p:txBody>
      </p:sp>
      <p:sp>
        <p:nvSpPr>
          <p:cNvPr id="112" name="TextBox 111">
            <a:extLst>
              <a:ext uri="{FF2B5EF4-FFF2-40B4-BE49-F238E27FC236}">
                <a16:creationId xmlns:a16="http://schemas.microsoft.com/office/drawing/2014/main" id="{08478671-AE5D-4827-83CE-10EDD08DCDB5}"/>
              </a:ext>
            </a:extLst>
          </p:cNvPr>
          <p:cNvSpPr txBox="1"/>
          <p:nvPr/>
        </p:nvSpPr>
        <p:spPr>
          <a:xfrm>
            <a:off x="5075214" y="4779443"/>
            <a:ext cx="2439447"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75" b="0" i="0" u="none" strike="noStrike" kern="0" cap="none" spc="0" normalizeH="0" baseline="0" noProof="0">
                <a:ln>
                  <a:noFill/>
                </a:ln>
                <a:solidFill>
                  <a:prstClr val="black"/>
                </a:solidFill>
                <a:effectLst/>
                <a:uLnTx/>
                <a:uFillTx/>
                <a:latin typeface="UGent Panno Text" panose="02000506040000040003" pitchFamily="50" charset="0"/>
              </a:rPr>
              <a:t>Description</a:t>
            </a:r>
          </a:p>
        </p:txBody>
      </p:sp>
      <p:sp>
        <p:nvSpPr>
          <p:cNvPr id="113" name="TextBox 112">
            <a:extLst>
              <a:ext uri="{FF2B5EF4-FFF2-40B4-BE49-F238E27FC236}">
                <a16:creationId xmlns:a16="http://schemas.microsoft.com/office/drawing/2014/main" id="{E8D373B2-DA2A-45FD-90D1-152D8CF499D0}"/>
              </a:ext>
            </a:extLst>
          </p:cNvPr>
          <p:cNvSpPr txBox="1"/>
          <p:nvPr/>
        </p:nvSpPr>
        <p:spPr>
          <a:xfrm>
            <a:off x="5075210" y="6459217"/>
            <a:ext cx="2439447"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275" kern="0">
                <a:solidFill>
                  <a:prstClr val="black"/>
                </a:solidFill>
                <a:latin typeface="UGent Panno Text" panose="02000506040000040003" pitchFamily="50" charset="0"/>
              </a:rPr>
              <a:t>Format</a:t>
            </a:r>
            <a:endParaRPr kumimoji="0" lang="en-US" sz="2275" b="0" i="0" u="none" strike="noStrike" kern="0" cap="none" spc="0" normalizeH="0" baseline="0" noProof="0">
              <a:ln>
                <a:noFill/>
              </a:ln>
              <a:solidFill>
                <a:prstClr val="black"/>
              </a:solidFill>
              <a:effectLst/>
              <a:uLnTx/>
              <a:uFillTx/>
              <a:latin typeface="UGent Panno Text" panose="02000506040000040003" pitchFamily="50" charset="0"/>
            </a:endParaRPr>
          </a:p>
        </p:txBody>
      </p:sp>
      <p:sp>
        <p:nvSpPr>
          <p:cNvPr id="114" name="TextBox 113">
            <a:extLst>
              <a:ext uri="{FF2B5EF4-FFF2-40B4-BE49-F238E27FC236}">
                <a16:creationId xmlns:a16="http://schemas.microsoft.com/office/drawing/2014/main" id="{99FEBA5A-CCD6-4C48-B276-4DFC64E8691B}"/>
              </a:ext>
            </a:extLst>
          </p:cNvPr>
          <p:cNvSpPr txBox="1"/>
          <p:nvPr/>
        </p:nvSpPr>
        <p:spPr>
          <a:xfrm>
            <a:off x="5075216" y="7019141"/>
            <a:ext cx="2439447"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75" b="0" i="0" u="none" strike="noStrike" kern="0" cap="none" spc="0" normalizeH="0" baseline="0" noProof="0">
                <a:ln>
                  <a:noFill/>
                </a:ln>
                <a:solidFill>
                  <a:prstClr val="black"/>
                </a:solidFill>
                <a:effectLst/>
                <a:uLnTx/>
                <a:uFillTx/>
                <a:latin typeface="UGent Panno Text" panose="02000506040000040003" pitchFamily="50" charset="0"/>
              </a:rPr>
              <a:t>Rights</a:t>
            </a:r>
          </a:p>
        </p:txBody>
      </p:sp>
      <p:sp>
        <p:nvSpPr>
          <p:cNvPr id="115" name="TextBox 114">
            <a:extLst>
              <a:ext uri="{FF2B5EF4-FFF2-40B4-BE49-F238E27FC236}">
                <a16:creationId xmlns:a16="http://schemas.microsoft.com/office/drawing/2014/main" id="{7B346E01-A0E0-45E7-84EB-C4C5D68A5334}"/>
              </a:ext>
            </a:extLst>
          </p:cNvPr>
          <p:cNvSpPr txBox="1"/>
          <p:nvPr/>
        </p:nvSpPr>
        <p:spPr>
          <a:xfrm>
            <a:off x="5075211" y="7572089"/>
            <a:ext cx="2439460" cy="453490"/>
          </a:xfrm>
          <a:prstGeom prst="rect">
            <a:avLst/>
          </a:prstGeom>
          <a:solidFill>
            <a:srgbClr val="D4E3F8"/>
          </a:solidFill>
        </p:spPr>
        <p:txBody>
          <a:bodyPr wrap="square" tIns="51197" bIns="51197" rtlCol="0" anchor="ctr" anchorCtr="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275" b="0" i="0" u="none" strike="noStrike" kern="0" cap="none" spc="0" normalizeH="0" baseline="0" noProof="0">
                <a:ln>
                  <a:noFill/>
                </a:ln>
                <a:solidFill>
                  <a:prstClr val="black"/>
                </a:solidFill>
                <a:effectLst/>
                <a:uLnTx/>
                <a:uFillTx/>
                <a:latin typeface="UGent Panno Text" panose="02000506040000040003" pitchFamily="50" charset="0"/>
              </a:rPr>
              <a:t>Related identifier</a:t>
            </a:r>
          </a:p>
        </p:txBody>
      </p:sp>
      <p:sp>
        <p:nvSpPr>
          <p:cNvPr id="120" name="TextBox 119">
            <a:extLst>
              <a:ext uri="{FF2B5EF4-FFF2-40B4-BE49-F238E27FC236}">
                <a16:creationId xmlns:a16="http://schemas.microsoft.com/office/drawing/2014/main" id="{1E5ACE6D-E0A1-42CF-B70B-C91B07643338}"/>
              </a:ext>
            </a:extLst>
          </p:cNvPr>
          <p:cNvSpPr txBox="1"/>
          <p:nvPr/>
        </p:nvSpPr>
        <p:spPr>
          <a:xfrm>
            <a:off x="7683103" y="6982570"/>
            <a:ext cx="1049040"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sp>
        <p:nvSpPr>
          <p:cNvPr id="121" name="TextBox 120">
            <a:extLst>
              <a:ext uri="{FF2B5EF4-FFF2-40B4-BE49-F238E27FC236}">
                <a16:creationId xmlns:a16="http://schemas.microsoft.com/office/drawing/2014/main" id="{CE15E991-4F05-4CD2-8EC3-248D1A9AECE3}"/>
              </a:ext>
            </a:extLst>
          </p:cNvPr>
          <p:cNvSpPr txBox="1"/>
          <p:nvPr/>
        </p:nvSpPr>
        <p:spPr>
          <a:xfrm>
            <a:off x="7684071" y="6423357"/>
            <a:ext cx="708792" cy="525208"/>
          </a:xfrm>
          <a:prstGeom prst="rect">
            <a:avLst/>
          </a:prstGeom>
          <a:noFill/>
        </p:spPr>
        <p:txBody>
          <a:bodyPr wrap="square" lIns="0" tIns="0" rIns="0" bIns="0" rtlCol="0" anchor="ctr" anchorCtr="0">
            <a:spAutoFit/>
          </a:bodyPr>
          <a:lstStyle/>
          <a:p>
            <a:pPr>
              <a:defRPr/>
            </a:pPr>
            <a:r>
              <a:rPr lang="en-US" sz="3413" spc="-370" err="1">
                <a:solidFill>
                  <a:prstClr val="black">
                    <a:lumMod val="50000"/>
                    <a:lumOff val="50000"/>
                  </a:prstClr>
                </a:solidFill>
                <a:latin typeface="Yu Gothic UI Semibold" panose="020B0700000000000000" pitchFamily="34" charset="-128"/>
                <a:ea typeface="Yu Gothic UI Semibold" panose="020B0700000000000000" pitchFamily="34" charset="-128"/>
              </a:rPr>
              <a:t>llllllll</a:t>
            </a:r>
            <a:endPar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endParaRPr>
          </a:p>
        </p:txBody>
      </p:sp>
      <p:grpSp>
        <p:nvGrpSpPr>
          <p:cNvPr id="122" name="Group 121">
            <a:extLst>
              <a:ext uri="{FF2B5EF4-FFF2-40B4-BE49-F238E27FC236}">
                <a16:creationId xmlns:a16="http://schemas.microsoft.com/office/drawing/2014/main" id="{CE5956F5-E449-4D50-A5A4-3C305EBDF48C}"/>
              </a:ext>
            </a:extLst>
          </p:cNvPr>
          <p:cNvGrpSpPr/>
          <p:nvPr/>
        </p:nvGrpSpPr>
        <p:grpSpPr>
          <a:xfrm>
            <a:off x="5107145" y="2268654"/>
            <a:ext cx="2431872" cy="1196173"/>
            <a:chOff x="1627612" y="2348042"/>
            <a:chExt cx="2638313" cy="1314155"/>
          </a:xfrm>
        </p:grpSpPr>
        <p:sp>
          <p:nvSpPr>
            <p:cNvPr id="123" name="Rectangle: Rounded Corners 122">
              <a:extLst>
                <a:ext uri="{FF2B5EF4-FFF2-40B4-BE49-F238E27FC236}">
                  <a16:creationId xmlns:a16="http://schemas.microsoft.com/office/drawing/2014/main" id="{E8AE23D3-0B5E-463E-90A5-A80401548BC6}"/>
                </a:ext>
              </a:extLst>
            </p:cNvPr>
            <p:cNvSpPr/>
            <p:nvPr/>
          </p:nvSpPr>
          <p:spPr>
            <a:xfrm>
              <a:off x="1627612" y="2348042"/>
              <a:ext cx="2638313" cy="1314155"/>
            </a:xfrm>
            <a:prstGeom prst="roundRect">
              <a:avLst/>
            </a:prstGeom>
            <a:solidFill>
              <a:sysClr val="window" lastClr="FFFFFF"/>
            </a:solidFill>
            <a:ln w="3175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BE"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4" name="TextBox 123">
              <a:extLst>
                <a:ext uri="{FF2B5EF4-FFF2-40B4-BE49-F238E27FC236}">
                  <a16:creationId xmlns:a16="http://schemas.microsoft.com/office/drawing/2014/main" id="{14B833C3-BBCD-4FDE-B500-D546DD7F1B28}"/>
                </a:ext>
              </a:extLst>
            </p:cNvPr>
            <p:cNvSpPr txBox="1"/>
            <p:nvPr/>
          </p:nvSpPr>
          <p:spPr>
            <a:xfrm>
              <a:off x="1819696" y="2468506"/>
              <a:ext cx="2198038" cy="978538"/>
            </a:xfrm>
            <a:prstGeom prst="rect">
              <a:avLst/>
            </a:prstGeom>
            <a:noFill/>
          </p:spPr>
          <p:txBody>
            <a:bodyPr wrap="non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sz="2500" b="1" i="0" u="none" strike="noStrike" kern="0" cap="none" spc="0" normalizeH="0" baseline="0" noProof="0">
                  <a:ln>
                    <a:noFill/>
                  </a:ln>
                  <a:solidFill>
                    <a:prstClr val="black"/>
                  </a:solidFill>
                  <a:effectLst/>
                  <a:uLnTx/>
                  <a:uFillTx/>
                  <a:latin typeface="UGent Panno Text" panose="02000506040000040003" pitchFamily="2" charset="0"/>
                </a:rPr>
                <a:t>Metadata fields or </a:t>
              </a:r>
            </a:p>
            <a:p>
              <a:pPr marL="0" marR="0" lvl="0" indent="0" defTabSz="914400" eaLnBrk="1" fontAlgn="auto" latinLnBrk="0" hangingPunct="1">
                <a:lnSpc>
                  <a:spcPct val="120000"/>
                </a:lnSpc>
                <a:spcBef>
                  <a:spcPts val="0"/>
                </a:spcBef>
                <a:spcAft>
                  <a:spcPts val="0"/>
                </a:spcAft>
                <a:buClrTx/>
                <a:buSzTx/>
                <a:buFontTx/>
                <a:buNone/>
                <a:tabLst/>
                <a:defRPr/>
              </a:pPr>
              <a:r>
                <a:rPr kumimoji="0" lang="en-US" sz="2500" b="1" i="0" u="none" strike="noStrike" kern="0" cap="none" spc="0" normalizeH="0" baseline="0" noProof="0">
                  <a:ln>
                    <a:noFill/>
                  </a:ln>
                  <a:solidFill>
                    <a:prstClr val="black"/>
                  </a:solidFill>
                  <a:effectLst/>
                  <a:uLnTx/>
                  <a:uFillTx/>
                  <a:latin typeface="UGent Panno Text" panose="02000506040000040003" pitchFamily="2" charset="0"/>
                </a:rPr>
                <a:t>elements</a:t>
              </a:r>
              <a:endParaRPr kumimoji="0" lang="nl-BE" sz="2500" b="1" i="0" u="none" strike="noStrike" kern="0" cap="none" spc="0" normalizeH="0" baseline="0" noProof="0">
                <a:ln>
                  <a:noFill/>
                </a:ln>
                <a:solidFill>
                  <a:prstClr val="black"/>
                </a:solidFill>
                <a:effectLst/>
                <a:uLnTx/>
                <a:uFillTx/>
                <a:latin typeface="UGent Panno Text" panose="02000506040000040003" pitchFamily="2" charset="0"/>
              </a:endParaRPr>
            </a:p>
          </p:txBody>
        </p:sp>
      </p:grpSp>
      <p:grpSp>
        <p:nvGrpSpPr>
          <p:cNvPr id="125" name="Group 124">
            <a:extLst>
              <a:ext uri="{FF2B5EF4-FFF2-40B4-BE49-F238E27FC236}">
                <a16:creationId xmlns:a16="http://schemas.microsoft.com/office/drawing/2014/main" id="{20AD90A2-F8C0-4FB3-9526-22C42FA8D89B}"/>
              </a:ext>
            </a:extLst>
          </p:cNvPr>
          <p:cNvGrpSpPr/>
          <p:nvPr/>
        </p:nvGrpSpPr>
        <p:grpSpPr>
          <a:xfrm>
            <a:off x="7683103" y="2281816"/>
            <a:ext cx="4973117" cy="1221023"/>
            <a:chOff x="4027360" y="1797075"/>
            <a:chExt cx="5689807" cy="1314155"/>
          </a:xfrm>
        </p:grpSpPr>
        <p:sp>
          <p:nvSpPr>
            <p:cNvPr id="126" name="Rectangle: Rounded Corners 125">
              <a:extLst>
                <a:ext uri="{FF2B5EF4-FFF2-40B4-BE49-F238E27FC236}">
                  <a16:creationId xmlns:a16="http://schemas.microsoft.com/office/drawing/2014/main" id="{3A998E14-46CB-4C0D-AE47-7B6607C3356C}"/>
                </a:ext>
              </a:extLst>
            </p:cNvPr>
            <p:cNvSpPr/>
            <p:nvPr/>
          </p:nvSpPr>
          <p:spPr>
            <a:xfrm>
              <a:off x="4027360" y="1797075"/>
              <a:ext cx="5689807" cy="1314155"/>
            </a:xfrm>
            <a:prstGeom prst="roundRect">
              <a:avLst/>
            </a:prstGeom>
            <a:solidFill>
              <a:sysClr val="window" lastClr="FFFFFF"/>
            </a:solidFill>
            <a:ln w="3175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nl-BE"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7" name="TextBox 126">
              <a:extLst>
                <a:ext uri="{FF2B5EF4-FFF2-40B4-BE49-F238E27FC236}">
                  <a16:creationId xmlns:a16="http://schemas.microsoft.com/office/drawing/2014/main" id="{7FA8B72A-0A61-49A8-8713-642915B95B68}"/>
                </a:ext>
              </a:extLst>
            </p:cNvPr>
            <p:cNvSpPr txBox="1"/>
            <p:nvPr/>
          </p:nvSpPr>
          <p:spPr>
            <a:xfrm>
              <a:off x="4654348" y="1921295"/>
              <a:ext cx="4435830" cy="978538"/>
            </a:xfrm>
            <a:prstGeom prst="rect">
              <a:avLst/>
            </a:prstGeom>
            <a:noFill/>
          </p:spPr>
          <p:txBody>
            <a:bodyPr wrap="none" rtlCol="0">
              <a:spAutoFit/>
            </a:bodyPr>
            <a:lstStyle/>
            <a:p>
              <a:pPr marL="0" marR="0" lvl="0" indent="0" defTabSz="914400" eaLnBrk="1" fontAlgn="auto" latinLnBrk="0" hangingPunct="1">
                <a:lnSpc>
                  <a:spcPct val="120000"/>
                </a:lnSpc>
                <a:spcBef>
                  <a:spcPts val="0"/>
                </a:spcBef>
                <a:spcAft>
                  <a:spcPts val="0"/>
                </a:spcAft>
                <a:buClrTx/>
                <a:buSzTx/>
                <a:buFontTx/>
                <a:buNone/>
                <a:tabLst/>
                <a:defRPr/>
              </a:pPr>
              <a:r>
                <a:rPr kumimoji="0" lang="en-US" sz="2500" b="1" i="0" u="none" strike="noStrike" kern="0" cap="none" spc="0" normalizeH="0" baseline="0" noProof="0">
                  <a:ln>
                    <a:noFill/>
                  </a:ln>
                  <a:solidFill>
                    <a:prstClr val="black"/>
                  </a:solidFill>
                  <a:effectLst/>
                  <a:uLnTx/>
                  <a:uFillTx/>
                  <a:latin typeface="UGent Panno Text" panose="02000506040000040003" pitchFamily="2" charset="0"/>
                </a:rPr>
                <a:t>Metadata values</a:t>
              </a:r>
            </a:p>
            <a:p>
              <a:pPr marL="0" marR="0" lvl="0" indent="0" defTabSz="914400" eaLnBrk="1" fontAlgn="auto" latinLnBrk="0" hangingPunct="1">
                <a:lnSpc>
                  <a:spcPct val="120000"/>
                </a:lnSpc>
                <a:spcBef>
                  <a:spcPts val="0"/>
                </a:spcBef>
                <a:spcAft>
                  <a:spcPts val="0"/>
                </a:spcAft>
                <a:buClrTx/>
                <a:buSzTx/>
                <a:buFontTx/>
                <a:buNone/>
                <a:tabLst/>
                <a:defRPr/>
              </a:pPr>
              <a:r>
                <a:rPr kumimoji="0" lang="en-US" sz="2500" b="0" i="0" u="none" strike="noStrike" kern="0" cap="none" spc="0" normalizeH="0" baseline="0" noProof="0">
                  <a:ln>
                    <a:noFill/>
                  </a:ln>
                  <a:solidFill>
                    <a:prstClr val="black"/>
                  </a:solidFill>
                  <a:effectLst/>
                  <a:uLnTx/>
                  <a:uFillTx/>
                  <a:latin typeface="UGent Panno Text" panose="02000506040000040003" pitchFamily="2" charset="0"/>
                </a:rPr>
                <a:t>Vocabularies, ontologies, ISO standards</a:t>
              </a:r>
              <a:endParaRPr kumimoji="0" lang="nl-BE" sz="2500" b="0" i="0" u="none" strike="noStrike" kern="0" cap="none" spc="0" normalizeH="0" baseline="0" noProof="0">
                <a:ln>
                  <a:noFill/>
                </a:ln>
                <a:solidFill>
                  <a:prstClr val="black"/>
                </a:solidFill>
                <a:effectLst/>
                <a:uLnTx/>
                <a:uFillTx/>
                <a:latin typeface="UGent Panno Text" panose="02000506040000040003" pitchFamily="2" charset="0"/>
              </a:endParaRPr>
            </a:p>
          </p:txBody>
        </p:sp>
      </p:grpSp>
      <p:pic>
        <p:nvPicPr>
          <p:cNvPr id="128" name="Picture 2" descr="DataCite - Outreach material">
            <a:extLst>
              <a:ext uri="{FF2B5EF4-FFF2-40B4-BE49-F238E27FC236}">
                <a16:creationId xmlns:a16="http://schemas.microsoft.com/office/drawing/2014/main" id="{B068E04F-679A-43C6-B5E5-57148B2D19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2032" y="3681562"/>
            <a:ext cx="1150924" cy="334764"/>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2" descr="DataCite - Outreach material">
            <a:extLst>
              <a:ext uri="{FF2B5EF4-FFF2-40B4-BE49-F238E27FC236}">
                <a16:creationId xmlns:a16="http://schemas.microsoft.com/office/drawing/2014/main" id="{73BCB588-35FF-4BEF-8C3A-202FFFA290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9733" y="4294703"/>
            <a:ext cx="1150924" cy="334764"/>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2" descr="DataCite - Outreach material">
            <a:extLst>
              <a:ext uri="{FF2B5EF4-FFF2-40B4-BE49-F238E27FC236}">
                <a16:creationId xmlns:a16="http://schemas.microsoft.com/office/drawing/2014/main" id="{B433894B-B867-4296-B081-2A58BCEE52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9163" y="5973514"/>
            <a:ext cx="1150924" cy="334764"/>
          </a:xfrm>
          <a:prstGeom prst="rect">
            <a:avLst/>
          </a:prstGeom>
          <a:noFill/>
          <a:extLst>
            <a:ext uri="{909E8E84-426E-40DD-AFC4-6F175D3DCCD1}">
              <a14:hiddenFill xmlns:a14="http://schemas.microsoft.com/office/drawing/2010/main">
                <a:solidFill>
                  <a:srgbClr val="FFFFFF"/>
                </a:solidFill>
              </a14:hiddenFill>
            </a:ext>
          </a:extLst>
        </p:spPr>
      </p:pic>
      <p:sp>
        <p:nvSpPr>
          <p:cNvPr id="136" name="TextBox 135">
            <a:extLst>
              <a:ext uri="{FF2B5EF4-FFF2-40B4-BE49-F238E27FC236}">
                <a16:creationId xmlns:a16="http://schemas.microsoft.com/office/drawing/2014/main" id="{44EDA56D-C223-4A96-BD46-004C0BECC277}"/>
              </a:ext>
            </a:extLst>
          </p:cNvPr>
          <p:cNvSpPr txBox="1"/>
          <p:nvPr/>
        </p:nvSpPr>
        <p:spPr>
          <a:xfrm>
            <a:off x="7696875" y="4188079"/>
            <a:ext cx="1859246" cy="525208"/>
          </a:xfrm>
          <a:prstGeom prst="rect">
            <a:avLst/>
          </a:prstGeom>
          <a:noFill/>
        </p:spPr>
        <p:txBody>
          <a:bodyPr wrap="square" lIns="0" tIns="0" rIns="0" bIns="0" rtlCol="0" anchor="ctr" anchorCtr="0">
            <a:spAutoFit/>
          </a:bodyPr>
          <a:lstStyle/>
          <a:p>
            <a:r>
              <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rPr>
              <a:t>ORCID</a:t>
            </a:r>
          </a:p>
        </p:txBody>
      </p:sp>
      <p:sp>
        <p:nvSpPr>
          <p:cNvPr id="137" name="TextBox 136">
            <a:extLst>
              <a:ext uri="{FF2B5EF4-FFF2-40B4-BE49-F238E27FC236}">
                <a16:creationId xmlns:a16="http://schemas.microsoft.com/office/drawing/2014/main" id="{03E80033-3956-495E-A561-7E9A55E38117}"/>
              </a:ext>
            </a:extLst>
          </p:cNvPr>
          <p:cNvSpPr txBox="1"/>
          <p:nvPr/>
        </p:nvSpPr>
        <p:spPr>
          <a:xfrm>
            <a:off x="7695858" y="5862010"/>
            <a:ext cx="2004676" cy="525208"/>
          </a:xfrm>
          <a:prstGeom prst="rect">
            <a:avLst/>
          </a:prstGeom>
          <a:noFill/>
        </p:spPr>
        <p:txBody>
          <a:bodyPr wrap="square" lIns="0" tIns="0" rIns="0" bIns="0" rtlCol="0" anchor="ctr" anchorCtr="0">
            <a:spAutoFit/>
          </a:bodyPr>
          <a:lstStyle/>
          <a:p>
            <a:r>
              <a:rPr lang="en-US" sz="3413" spc="-370">
                <a:solidFill>
                  <a:prstClr val="black">
                    <a:lumMod val="50000"/>
                    <a:lumOff val="50000"/>
                  </a:prstClr>
                </a:solidFill>
                <a:latin typeface="Yu Gothic UI Semibold" panose="020B0700000000000000" pitchFamily="34" charset="-128"/>
                <a:ea typeface="Yu Gothic UI Semibold" panose="020B0700000000000000" pitchFamily="34" charset="-128"/>
              </a:rPr>
              <a:t>ISO-…</a:t>
            </a:r>
          </a:p>
        </p:txBody>
      </p:sp>
      <p:pic>
        <p:nvPicPr>
          <p:cNvPr id="138" name="Picture 2" descr="DataCite - Outreach material">
            <a:extLst>
              <a:ext uri="{FF2B5EF4-FFF2-40B4-BE49-F238E27FC236}">
                <a16:creationId xmlns:a16="http://schemas.microsoft.com/office/drawing/2014/main" id="{4E979E3E-1AFE-45C9-9376-D752B887CB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9733" y="4832383"/>
            <a:ext cx="1150924" cy="334764"/>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DataCite - Outreach material">
            <a:extLst>
              <a:ext uri="{FF2B5EF4-FFF2-40B4-BE49-F238E27FC236}">
                <a16:creationId xmlns:a16="http://schemas.microsoft.com/office/drawing/2014/main" id="{3430A24D-0CBE-4624-A06F-4FAC3D5ADD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9733" y="5370063"/>
            <a:ext cx="1150924" cy="334764"/>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DataCite - Outreach material">
            <a:extLst>
              <a:ext uri="{FF2B5EF4-FFF2-40B4-BE49-F238E27FC236}">
                <a16:creationId xmlns:a16="http://schemas.microsoft.com/office/drawing/2014/main" id="{994449C4-2E97-4E2E-9F8F-016A54E551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9733" y="6525633"/>
            <a:ext cx="1150924" cy="334764"/>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DataCite - Outreach material">
            <a:extLst>
              <a:ext uri="{FF2B5EF4-FFF2-40B4-BE49-F238E27FC236}">
                <a16:creationId xmlns:a16="http://schemas.microsoft.com/office/drawing/2014/main" id="{88740EE5-2369-4DD8-B5C3-2ADB76CA17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9733" y="7095397"/>
            <a:ext cx="1150924" cy="334764"/>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 descr="DataCite - Outreach material">
            <a:extLst>
              <a:ext uri="{FF2B5EF4-FFF2-40B4-BE49-F238E27FC236}">
                <a16:creationId xmlns:a16="http://schemas.microsoft.com/office/drawing/2014/main" id="{6DC2BC69-7104-448D-AD41-6A7AE8DEE8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19733" y="7633077"/>
            <a:ext cx="1150924" cy="334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57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40252-FA71-42B4-8AE8-CFCF777F7542}"/>
              </a:ext>
            </a:extLst>
          </p:cNvPr>
          <p:cNvSpPr>
            <a:spLocks noGrp="1"/>
          </p:cNvSpPr>
          <p:nvPr>
            <p:ph type="title"/>
          </p:nvPr>
        </p:nvSpPr>
        <p:spPr/>
        <p:txBody>
          <a:bodyPr/>
          <a:lstStyle/>
          <a:p>
            <a:r>
              <a:rPr lang="nl-BE" err="1"/>
              <a:t>Vocabularies</a:t>
            </a:r>
            <a:r>
              <a:rPr lang="nl-BE"/>
              <a:t> in life </a:t>
            </a:r>
            <a:r>
              <a:rPr lang="nl-BE" err="1"/>
              <a:t>sciences</a:t>
            </a:r>
            <a:endParaRPr lang="en-GB"/>
          </a:p>
        </p:txBody>
      </p:sp>
      <p:sp>
        <p:nvSpPr>
          <p:cNvPr id="3" name="Content Placeholder 2">
            <a:extLst>
              <a:ext uri="{FF2B5EF4-FFF2-40B4-BE49-F238E27FC236}">
                <a16:creationId xmlns:a16="http://schemas.microsoft.com/office/drawing/2014/main" id="{472DAFA8-60ED-4F2B-BC00-3097B16ECD9B}"/>
              </a:ext>
            </a:extLst>
          </p:cNvPr>
          <p:cNvSpPr>
            <a:spLocks noGrp="1"/>
          </p:cNvSpPr>
          <p:nvPr>
            <p:ph idx="1"/>
          </p:nvPr>
        </p:nvSpPr>
        <p:spPr>
          <a:xfrm>
            <a:off x="1580104" y="903740"/>
            <a:ext cx="15699575" cy="6696000"/>
          </a:xfrm>
        </p:spPr>
        <p:txBody>
          <a:bodyPr>
            <a:noAutofit/>
          </a:bodyPr>
          <a:lstStyle/>
          <a:p>
            <a:pPr marL="86400" indent="0" fontAlgn="ctr">
              <a:buNone/>
            </a:pPr>
            <a:r>
              <a:rPr lang="nl-BE" sz="3600"/>
              <a:t>In </a:t>
            </a:r>
            <a:r>
              <a:rPr lang="nl-BE" sz="3600" err="1"/>
              <a:t>clinical</a:t>
            </a:r>
            <a:r>
              <a:rPr lang="nl-BE" sz="3600"/>
              <a:t> context </a:t>
            </a:r>
            <a:r>
              <a:rPr lang="nl-BE" sz="3600" err="1"/>
              <a:t>often</a:t>
            </a:r>
            <a:r>
              <a:rPr lang="nl-BE" sz="3600"/>
              <a:t> </a:t>
            </a:r>
            <a:r>
              <a:rPr lang="nl-BE" sz="3600" err="1"/>
              <a:t>referred</a:t>
            </a:r>
            <a:r>
              <a:rPr lang="nl-BE" sz="3600"/>
              <a:t> </a:t>
            </a:r>
            <a:r>
              <a:rPr lang="nl-BE" sz="3600" err="1"/>
              <a:t>to</a:t>
            </a:r>
            <a:r>
              <a:rPr lang="nl-BE" sz="3600"/>
              <a:t> as '</a:t>
            </a:r>
            <a:r>
              <a:rPr lang="nl-BE" sz="3600" err="1"/>
              <a:t>coding</a:t>
            </a:r>
            <a:r>
              <a:rPr lang="nl-BE" sz="3600"/>
              <a:t>'</a:t>
            </a:r>
          </a:p>
          <a:p>
            <a:pPr marL="86400" indent="0" fontAlgn="ctr">
              <a:buNone/>
            </a:pPr>
            <a:r>
              <a:rPr lang="nl-BE" sz="3600" err="1"/>
              <a:t>Clinical</a:t>
            </a:r>
            <a:r>
              <a:rPr lang="nl-BE" sz="3600"/>
              <a:t> </a:t>
            </a:r>
            <a:r>
              <a:rPr lang="nl-BE" sz="3600" err="1"/>
              <a:t>medicine</a:t>
            </a:r>
            <a:r>
              <a:rPr lang="nl-BE" sz="3600"/>
              <a:t>: </a:t>
            </a:r>
            <a:r>
              <a:rPr lang="nl-BE" sz="3600">
                <a:hlinkClick r:id="rId2"/>
              </a:rPr>
              <a:t>https://prsinfo.clinicaltrials.gov/definitions.html</a:t>
            </a:r>
            <a:endParaRPr lang="nl-BE" sz="3600"/>
          </a:p>
          <a:p>
            <a:pPr marL="86400" indent="0" fontAlgn="ctr">
              <a:buNone/>
            </a:pPr>
            <a:r>
              <a:rPr lang="nl-BE" sz="3600" err="1"/>
              <a:t>Clinical</a:t>
            </a:r>
            <a:r>
              <a:rPr lang="nl-BE" sz="3600"/>
              <a:t> </a:t>
            </a:r>
            <a:r>
              <a:rPr lang="nl-BE" sz="3600" err="1"/>
              <a:t>ontologies</a:t>
            </a:r>
            <a:r>
              <a:rPr lang="nl-BE" sz="3600"/>
              <a:t> in </a:t>
            </a:r>
            <a:r>
              <a:rPr lang="nl-BE" sz="3600" err="1"/>
              <a:t>REDCap</a:t>
            </a:r>
            <a:r>
              <a:rPr lang="nl-BE" sz="3600"/>
              <a:t>: </a:t>
            </a:r>
            <a:r>
              <a:rPr lang="nl-BE" sz="3600">
                <a:hlinkClick r:id="rId3"/>
              </a:rPr>
              <a:t>http://bioportal.bioontology.org/ </a:t>
            </a:r>
            <a:endParaRPr lang="nl-BE" sz="3600"/>
          </a:p>
          <a:p>
            <a:pPr marL="86400" indent="0" fontAlgn="ctr">
              <a:buNone/>
            </a:pPr>
            <a:r>
              <a:rPr lang="en-US" sz="3600"/>
              <a:t>Clinical established vocabularies or ontologies </a:t>
            </a:r>
          </a:p>
          <a:p>
            <a:pPr marL="720000" lvl="1" indent="0" fontAlgn="ctr">
              <a:buNone/>
            </a:pPr>
            <a:r>
              <a:rPr lang="en-US" sz="3600"/>
              <a:t>e.g. as listed in </a:t>
            </a:r>
            <a:r>
              <a:rPr lang="en-US" sz="3600">
                <a:hlinkClick r:id="rId4"/>
              </a:rPr>
              <a:t>https://www.ebi.ac.uk/ols/index</a:t>
            </a:r>
            <a:r>
              <a:rPr lang="en-US" sz="3600"/>
              <a:t> </a:t>
            </a:r>
          </a:p>
          <a:p>
            <a:pPr marL="720000" lvl="1" indent="0" fontAlgn="ctr">
              <a:buNone/>
            </a:pPr>
            <a:r>
              <a:rPr lang="en-US" sz="3600"/>
              <a:t>or agreed terminology such as ICD-10</a:t>
            </a:r>
            <a:r>
              <a:rPr lang="nl-BE" sz="3600"/>
              <a:t>, SNOMED, …</a:t>
            </a:r>
          </a:p>
          <a:p>
            <a:pPr marL="86400" indent="0" fontAlgn="ctr">
              <a:buNone/>
            </a:pPr>
            <a:r>
              <a:rPr lang="nl-BE" sz="3600" err="1"/>
              <a:t>Bioassay</a:t>
            </a:r>
            <a:r>
              <a:rPr lang="nl-BE" sz="3600"/>
              <a:t> </a:t>
            </a:r>
            <a:r>
              <a:rPr lang="nl-BE" sz="3600" err="1"/>
              <a:t>ontology</a:t>
            </a:r>
            <a:r>
              <a:rPr lang="nl-BE" sz="3600"/>
              <a:t>, eg </a:t>
            </a:r>
            <a:r>
              <a:rPr lang="nl-BE" sz="3600" err="1"/>
              <a:t>for</a:t>
            </a:r>
            <a:r>
              <a:rPr lang="nl-BE" sz="3600"/>
              <a:t> small molecule screening </a:t>
            </a:r>
          </a:p>
          <a:p>
            <a:pPr marL="720000" lvl="1" indent="0" fontAlgn="ctr">
              <a:buNone/>
            </a:pPr>
            <a:r>
              <a:rPr lang="nl-BE" sz="3600">
                <a:hlinkClick r:id="rId5"/>
              </a:rPr>
              <a:t>https://bioportal.bioontology.org/ontologies/BAO</a:t>
            </a:r>
            <a:r>
              <a:rPr lang="nl-BE" sz="3600"/>
              <a:t> </a:t>
            </a:r>
          </a:p>
          <a:p>
            <a:pPr marL="86400" indent="0" fontAlgn="ctr">
              <a:buNone/>
            </a:pPr>
            <a:r>
              <a:rPr lang="nl-BE" sz="3600"/>
              <a:t>The EGA </a:t>
            </a:r>
            <a:r>
              <a:rPr lang="nl-BE" sz="3600" err="1"/>
              <a:t>recommends</a:t>
            </a:r>
            <a:r>
              <a:rPr lang="nl-BE" sz="3600"/>
              <a:t> </a:t>
            </a:r>
            <a:r>
              <a:rPr lang="nl-BE" sz="3600" err="1"/>
              <a:t>using</a:t>
            </a:r>
            <a:r>
              <a:rPr lang="nl-BE" sz="3600"/>
              <a:t> </a:t>
            </a:r>
            <a:r>
              <a:rPr lang="nl-BE" sz="3600" err="1"/>
              <a:t>the</a:t>
            </a:r>
            <a:r>
              <a:rPr lang="nl-BE" sz="3600"/>
              <a:t> </a:t>
            </a:r>
            <a:r>
              <a:rPr lang="nl-BE" sz="3600" err="1">
                <a:hlinkClick r:id="rId6"/>
              </a:rPr>
              <a:t>Experimental</a:t>
            </a:r>
            <a:r>
              <a:rPr lang="nl-BE" sz="3600">
                <a:hlinkClick r:id="rId6"/>
              </a:rPr>
              <a:t> Factor </a:t>
            </a:r>
            <a:r>
              <a:rPr lang="nl-BE" sz="3600" err="1">
                <a:hlinkClick r:id="rId6"/>
              </a:rPr>
              <a:t>Ontology</a:t>
            </a:r>
            <a:r>
              <a:rPr lang="nl-BE" sz="3600">
                <a:hlinkClick r:id="rId6"/>
              </a:rPr>
              <a:t> Database</a:t>
            </a:r>
            <a:r>
              <a:rPr lang="nl-BE" sz="3600"/>
              <a:t> </a:t>
            </a:r>
            <a:r>
              <a:rPr lang="nl-BE" sz="3600" err="1"/>
              <a:t>for</a:t>
            </a:r>
            <a:r>
              <a:rPr lang="nl-BE" sz="3600"/>
              <a:t> </a:t>
            </a:r>
            <a:r>
              <a:rPr lang="nl-BE" sz="3600" err="1"/>
              <a:t>describing</a:t>
            </a:r>
            <a:r>
              <a:rPr lang="nl-BE" sz="3600"/>
              <a:t> </a:t>
            </a:r>
            <a:r>
              <a:rPr lang="nl-BE" sz="3600" err="1"/>
              <a:t>your</a:t>
            </a:r>
            <a:r>
              <a:rPr lang="nl-BE" sz="3600"/>
              <a:t> sample </a:t>
            </a:r>
            <a:r>
              <a:rPr lang="nl-BE" sz="3600" err="1"/>
              <a:t>phenotypes</a:t>
            </a:r>
            <a:r>
              <a:rPr lang="nl-BE" sz="3600"/>
              <a:t> </a:t>
            </a:r>
            <a:r>
              <a:rPr lang="nl-BE" sz="3600" err="1"/>
              <a:t>and</a:t>
            </a:r>
            <a:r>
              <a:rPr lang="nl-BE" sz="3600"/>
              <a:t> </a:t>
            </a:r>
            <a:r>
              <a:rPr lang="nl-BE" sz="3600">
                <a:hlinkClick r:id="rId7"/>
              </a:rPr>
              <a:t>MONDO</a:t>
            </a:r>
            <a:r>
              <a:rPr lang="nl-BE" sz="3600"/>
              <a:t> </a:t>
            </a:r>
            <a:r>
              <a:rPr lang="nl-BE" sz="3600" err="1"/>
              <a:t>for</a:t>
            </a:r>
            <a:r>
              <a:rPr lang="nl-BE" sz="3600"/>
              <a:t> </a:t>
            </a:r>
            <a:r>
              <a:rPr lang="nl-BE" sz="3600" err="1"/>
              <a:t>disease</a:t>
            </a:r>
            <a:r>
              <a:rPr lang="nl-BE" sz="3600"/>
              <a:t> </a:t>
            </a:r>
            <a:r>
              <a:rPr lang="nl-BE" sz="3600" err="1"/>
              <a:t>classification</a:t>
            </a:r>
            <a:endParaRPr lang="nl-BE" sz="3600"/>
          </a:p>
          <a:p>
            <a:pPr marL="720000" lvl="1" indent="0" fontAlgn="ctr">
              <a:buNone/>
            </a:pPr>
            <a:r>
              <a:rPr lang="nl-BE" sz="3600" err="1"/>
              <a:t>Example</a:t>
            </a:r>
            <a:r>
              <a:rPr lang="nl-BE" sz="3600"/>
              <a:t> dataset on EGA: </a:t>
            </a:r>
            <a:r>
              <a:rPr lang="nl-BE" sz="3600">
                <a:hlinkClick r:id="rId8"/>
              </a:rPr>
              <a:t>https://ega-archive.org/datasets/EGAD00001000002</a:t>
            </a:r>
            <a:r>
              <a:rPr lang="nl-BE" sz="3600"/>
              <a:t> </a:t>
            </a:r>
          </a:p>
          <a:p>
            <a:pPr marL="86400" indent="0">
              <a:buNone/>
            </a:pPr>
            <a:endParaRPr lang="en-GB" sz="3600"/>
          </a:p>
        </p:txBody>
      </p:sp>
      <p:sp>
        <p:nvSpPr>
          <p:cNvPr id="4" name="Slide Number Placeholder 3">
            <a:extLst>
              <a:ext uri="{FF2B5EF4-FFF2-40B4-BE49-F238E27FC236}">
                <a16:creationId xmlns:a16="http://schemas.microsoft.com/office/drawing/2014/main" id="{26113955-2A0C-4144-B1E0-A3A2BDBB3CD5}"/>
              </a:ext>
            </a:extLst>
          </p:cNvPr>
          <p:cNvSpPr>
            <a:spLocks noGrp="1"/>
          </p:cNvSpPr>
          <p:nvPr>
            <p:ph type="sldNum" sz="quarter" idx="12"/>
          </p:nvPr>
        </p:nvSpPr>
        <p:spPr/>
        <p:txBody>
          <a:bodyPr/>
          <a:lstStyle/>
          <a:p>
            <a:fld id="{7AE184E0-0BD4-4705-A12B-9B71DDE63301}" type="slidenum">
              <a:rPr lang="en-GB" smtClean="0"/>
              <a:pPr/>
              <a:t>22</a:t>
            </a:fld>
            <a:endParaRPr lang="en-GB"/>
          </a:p>
        </p:txBody>
      </p:sp>
    </p:spTree>
    <p:extLst>
      <p:ext uri="{BB962C8B-B14F-4D97-AF65-F5344CB8AC3E}">
        <p14:creationId xmlns:p14="http://schemas.microsoft.com/office/powerpoint/2010/main" val="807794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BDDC3-7E21-CFC4-6641-F5619247D35D}"/>
              </a:ext>
            </a:extLst>
          </p:cNvPr>
          <p:cNvSpPr>
            <a:spLocks noGrp="1"/>
          </p:cNvSpPr>
          <p:nvPr>
            <p:ph type="ctrTitle"/>
          </p:nvPr>
        </p:nvSpPr>
        <p:spPr/>
        <p:txBody>
          <a:bodyPr/>
          <a:lstStyle/>
          <a:p>
            <a:r>
              <a:rPr lang="en-GB"/>
              <a:t>Registering output</a:t>
            </a:r>
            <a:endParaRPr lang="en-BE"/>
          </a:p>
        </p:txBody>
      </p:sp>
      <p:sp>
        <p:nvSpPr>
          <p:cNvPr id="3" name="Slide Number Placeholder 2">
            <a:extLst>
              <a:ext uri="{FF2B5EF4-FFF2-40B4-BE49-F238E27FC236}">
                <a16:creationId xmlns:a16="http://schemas.microsoft.com/office/drawing/2014/main" id="{5F9D1DC6-E5D0-167A-8234-62FC1301194A}"/>
              </a:ext>
            </a:extLst>
          </p:cNvPr>
          <p:cNvSpPr>
            <a:spLocks noGrp="1"/>
          </p:cNvSpPr>
          <p:nvPr>
            <p:ph type="sldNum" sz="quarter" idx="4"/>
          </p:nvPr>
        </p:nvSpPr>
        <p:spPr/>
        <p:txBody>
          <a:bodyPr/>
          <a:lstStyle/>
          <a:p>
            <a:fld id="{7AE184E0-0BD4-4705-A12B-9B71DDE63301}" type="slidenum">
              <a:rPr lang="nl-BE" smtClean="0"/>
              <a:pPr/>
              <a:t>23</a:t>
            </a:fld>
            <a:endParaRPr lang="nl-BE"/>
          </a:p>
        </p:txBody>
      </p:sp>
    </p:spTree>
    <p:extLst>
      <p:ext uri="{BB962C8B-B14F-4D97-AF65-F5344CB8AC3E}">
        <p14:creationId xmlns:p14="http://schemas.microsoft.com/office/powerpoint/2010/main" val="2481580172"/>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E71D8-D4FA-419D-92A6-5D919A177F16}"/>
              </a:ext>
            </a:extLst>
          </p:cNvPr>
          <p:cNvSpPr>
            <a:spLocks noGrp="1"/>
          </p:cNvSpPr>
          <p:nvPr>
            <p:ph type="title"/>
          </p:nvPr>
        </p:nvSpPr>
        <p:spPr/>
        <p:txBody>
          <a:bodyPr/>
          <a:lstStyle/>
          <a:p>
            <a:r>
              <a:rPr lang="en-US"/>
              <a:t>UGEnt policy on scholarly publishing (as of Jan 2023)</a:t>
            </a:r>
          </a:p>
        </p:txBody>
      </p:sp>
      <p:sp>
        <p:nvSpPr>
          <p:cNvPr id="17" name="Content Placeholder 16">
            <a:extLst>
              <a:ext uri="{FF2B5EF4-FFF2-40B4-BE49-F238E27FC236}">
                <a16:creationId xmlns:a16="http://schemas.microsoft.com/office/drawing/2014/main" id="{B5644D18-863D-41F3-8886-D6E796779EFF}"/>
              </a:ext>
            </a:extLst>
          </p:cNvPr>
          <p:cNvSpPr>
            <a:spLocks noGrp="1"/>
          </p:cNvSpPr>
          <p:nvPr>
            <p:ph idx="1"/>
          </p:nvPr>
        </p:nvSpPr>
        <p:spPr>
          <a:xfrm>
            <a:off x="917007" y="1194364"/>
            <a:ext cx="15699575" cy="6696000"/>
          </a:xfrm>
        </p:spPr>
        <p:txBody>
          <a:bodyPr/>
          <a:lstStyle/>
          <a:p>
            <a:r>
              <a:rPr lang="en-US" sz="4000">
                <a:latin typeface="UGent Panno Text" panose="02000506040000040003" pitchFamily="2" charset="0"/>
              </a:rPr>
              <a:t>Mandatory </a:t>
            </a:r>
            <a:r>
              <a:rPr lang="en-US" sz="4000" b="1">
                <a:latin typeface="UGent Panno Text" panose="02000506040000040003" pitchFamily="2" charset="0"/>
              </a:rPr>
              <a:t>registration</a:t>
            </a:r>
            <a:r>
              <a:rPr lang="en-US" sz="4000">
                <a:latin typeface="UGent Panno Text" panose="02000506040000040003" pitchFamily="2" charset="0"/>
              </a:rPr>
              <a:t> of published research datasets, i.e. entering and/or validating the required bibliographic details ('metadata') of your published research output.</a:t>
            </a:r>
          </a:p>
          <a:p>
            <a:r>
              <a:rPr lang="en-US" sz="4000">
                <a:latin typeface="UGent Panno Text" panose="02000506040000040003" pitchFamily="2" charset="0"/>
              </a:rPr>
              <a:t>Research datasets </a:t>
            </a:r>
            <a:r>
              <a:rPr lang="en-US" sz="4000"/>
              <a:t>published via a </a:t>
            </a:r>
            <a:r>
              <a:rPr lang="en-US" sz="4000" u="sng">
                <a:hlinkClick r:id="rId2"/>
              </a:rPr>
              <a:t>data repository</a:t>
            </a:r>
            <a:r>
              <a:rPr lang="en-US" sz="4000"/>
              <a:t>, with at least one Ghent University creator at the time of publication, and which support publications from 2023 or later.</a:t>
            </a:r>
            <a:endParaRPr lang="en-US" sz="4000">
              <a:latin typeface="UGent Panno Text" panose="02000506040000040003" pitchFamily="2" charset="0"/>
            </a:endParaRPr>
          </a:p>
          <a:p>
            <a:endParaRPr lang="en-US"/>
          </a:p>
        </p:txBody>
      </p:sp>
      <p:sp>
        <p:nvSpPr>
          <p:cNvPr id="4" name="Slide Number Placeholder 3">
            <a:extLst>
              <a:ext uri="{FF2B5EF4-FFF2-40B4-BE49-F238E27FC236}">
                <a16:creationId xmlns:a16="http://schemas.microsoft.com/office/drawing/2014/main" id="{15719872-6A9C-42ED-9B5C-42205ABC46E8}"/>
              </a:ext>
            </a:extLst>
          </p:cNvPr>
          <p:cNvSpPr>
            <a:spLocks noGrp="1"/>
          </p:cNvSpPr>
          <p:nvPr>
            <p:ph type="sldNum" sz="quarter" idx="12"/>
          </p:nvPr>
        </p:nvSpPr>
        <p:spPr/>
        <p:txBody>
          <a:bodyPr/>
          <a:lstStyle/>
          <a:p>
            <a:fld id="{7AE184E0-0BD4-4705-A12B-9B71DDE63301}" type="slidenum">
              <a:rPr lang="nl-BE" smtClean="0"/>
              <a:pPr/>
              <a:t>24</a:t>
            </a:fld>
            <a:endParaRPr lang="nl-BE"/>
          </a:p>
        </p:txBody>
      </p:sp>
      <p:sp>
        <p:nvSpPr>
          <p:cNvPr id="5" name="Rectangle 4">
            <a:extLst>
              <a:ext uri="{FF2B5EF4-FFF2-40B4-BE49-F238E27FC236}">
                <a16:creationId xmlns:a16="http://schemas.microsoft.com/office/drawing/2014/main" id="{4368E891-B8EB-47D8-A94C-AFA05E11D2B3}"/>
              </a:ext>
            </a:extLst>
          </p:cNvPr>
          <p:cNvSpPr/>
          <p:nvPr/>
        </p:nvSpPr>
        <p:spPr>
          <a:xfrm>
            <a:off x="4200992" y="8992425"/>
            <a:ext cx="10227702" cy="486287"/>
          </a:xfrm>
          <a:prstGeom prst="rect">
            <a:avLst/>
          </a:prstGeom>
        </p:spPr>
        <p:txBody>
          <a:bodyPr wrap="square">
            <a:spAutoFit/>
          </a:bodyPr>
          <a:lstStyle/>
          <a:p>
            <a:r>
              <a:rPr lang="en-US">
                <a:latin typeface="UGent Panno Text" panose="02000506040000040003" pitchFamily="2" charset="0"/>
                <a:hlinkClick r:id="rId3"/>
              </a:rPr>
              <a:t>https://www.ugent.be/intranet/en/research/impact/schol-publishing/policy-ugent.htm</a:t>
            </a:r>
            <a:r>
              <a:rPr lang="en-US">
                <a:latin typeface="UGent Panno Text" panose="02000506040000040003" pitchFamily="2" charset="0"/>
              </a:rPr>
              <a:t> </a:t>
            </a:r>
          </a:p>
        </p:txBody>
      </p:sp>
      <p:grpSp>
        <p:nvGrpSpPr>
          <p:cNvPr id="18" name="Group 17">
            <a:extLst>
              <a:ext uri="{FF2B5EF4-FFF2-40B4-BE49-F238E27FC236}">
                <a16:creationId xmlns:a16="http://schemas.microsoft.com/office/drawing/2014/main" id="{3BB229B9-C3A1-4EAF-9FA2-113F4E07988D}"/>
              </a:ext>
            </a:extLst>
          </p:cNvPr>
          <p:cNvGrpSpPr/>
          <p:nvPr/>
        </p:nvGrpSpPr>
        <p:grpSpPr>
          <a:xfrm>
            <a:off x="4175670" y="4903252"/>
            <a:ext cx="8717152" cy="3398255"/>
            <a:chOff x="4834576" y="5320109"/>
            <a:chExt cx="8717152" cy="3398255"/>
          </a:xfrm>
        </p:grpSpPr>
        <p:sp>
          <p:nvSpPr>
            <p:cNvPr id="6" name="Freeform: Shape 5">
              <a:extLst>
                <a:ext uri="{FF2B5EF4-FFF2-40B4-BE49-F238E27FC236}">
                  <a16:creationId xmlns:a16="http://schemas.microsoft.com/office/drawing/2014/main" id="{4EEC0604-D223-4849-B0CA-2CEF3316B187}"/>
                </a:ext>
              </a:extLst>
            </p:cNvPr>
            <p:cNvSpPr/>
            <p:nvPr/>
          </p:nvSpPr>
          <p:spPr>
            <a:xfrm>
              <a:off x="4834576" y="5335284"/>
              <a:ext cx="3564000" cy="828000"/>
            </a:xfrm>
            <a:custGeom>
              <a:avLst/>
              <a:gdLst>
                <a:gd name="connsiteX0" fmla="*/ 0 w 4774091"/>
                <a:gd name="connsiteY0" fmla="*/ 119352 h 1193522"/>
                <a:gd name="connsiteX1" fmla="*/ 119352 w 4774091"/>
                <a:gd name="connsiteY1" fmla="*/ 0 h 1193522"/>
                <a:gd name="connsiteX2" fmla="*/ 4654739 w 4774091"/>
                <a:gd name="connsiteY2" fmla="*/ 0 h 1193522"/>
                <a:gd name="connsiteX3" fmla="*/ 4774091 w 4774091"/>
                <a:gd name="connsiteY3" fmla="*/ 119352 h 1193522"/>
                <a:gd name="connsiteX4" fmla="*/ 4774091 w 4774091"/>
                <a:gd name="connsiteY4" fmla="*/ 1074170 h 1193522"/>
                <a:gd name="connsiteX5" fmla="*/ 4654739 w 4774091"/>
                <a:gd name="connsiteY5" fmla="*/ 1193522 h 1193522"/>
                <a:gd name="connsiteX6" fmla="*/ 119352 w 4774091"/>
                <a:gd name="connsiteY6" fmla="*/ 1193522 h 1193522"/>
                <a:gd name="connsiteX7" fmla="*/ 0 w 4774091"/>
                <a:gd name="connsiteY7" fmla="*/ 1074170 h 1193522"/>
                <a:gd name="connsiteX8" fmla="*/ 0 w 4774091"/>
                <a:gd name="connsiteY8" fmla="*/ 119352 h 1193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4091" h="1193522">
                  <a:moveTo>
                    <a:pt x="0" y="119352"/>
                  </a:moveTo>
                  <a:cubicBezTo>
                    <a:pt x="0" y="53436"/>
                    <a:pt x="53436" y="0"/>
                    <a:pt x="119352" y="0"/>
                  </a:cubicBezTo>
                  <a:lnTo>
                    <a:pt x="4654739" y="0"/>
                  </a:lnTo>
                  <a:cubicBezTo>
                    <a:pt x="4720655" y="0"/>
                    <a:pt x="4774091" y="53436"/>
                    <a:pt x="4774091" y="119352"/>
                  </a:cubicBezTo>
                  <a:lnTo>
                    <a:pt x="4774091" y="1074170"/>
                  </a:lnTo>
                  <a:cubicBezTo>
                    <a:pt x="4774091" y="1140086"/>
                    <a:pt x="4720655" y="1193522"/>
                    <a:pt x="4654739" y="1193522"/>
                  </a:cubicBezTo>
                  <a:lnTo>
                    <a:pt x="119352" y="1193522"/>
                  </a:lnTo>
                  <a:cubicBezTo>
                    <a:pt x="53436" y="1193522"/>
                    <a:pt x="0" y="1140086"/>
                    <a:pt x="0" y="1074170"/>
                  </a:cubicBezTo>
                  <a:lnTo>
                    <a:pt x="0" y="11935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537" tIns="103537" rIns="103537" bIns="103537" numCol="1" spcCol="1270" anchor="ctr" anchorCtr="0">
              <a:noAutofit/>
            </a:bodyPr>
            <a:lstStyle/>
            <a:p>
              <a:pPr marL="0" lvl="0" indent="0" algn="ctr" defTabSz="2400300">
                <a:lnSpc>
                  <a:spcPct val="90000"/>
                </a:lnSpc>
                <a:spcBef>
                  <a:spcPct val="0"/>
                </a:spcBef>
                <a:spcAft>
                  <a:spcPct val="35000"/>
                </a:spcAft>
                <a:buNone/>
              </a:pPr>
              <a:r>
                <a:rPr lang="en-US" sz="4400" kern="1200">
                  <a:latin typeface="UGent Panno Text" panose="02000506040000040003" pitchFamily="2" charset="0"/>
                </a:rPr>
                <a:t>Journal article</a:t>
              </a:r>
            </a:p>
          </p:txBody>
        </p:sp>
        <p:sp>
          <p:nvSpPr>
            <p:cNvPr id="7" name="Arrow: Right 6">
              <a:extLst>
                <a:ext uri="{FF2B5EF4-FFF2-40B4-BE49-F238E27FC236}">
                  <a16:creationId xmlns:a16="http://schemas.microsoft.com/office/drawing/2014/main" id="{74CCBDD5-C314-4814-B535-30A7B5BA2BEC}"/>
                </a:ext>
              </a:extLst>
            </p:cNvPr>
            <p:cNvSpPr/>
            <p:nvPr/>
          </p:nvSpPr>
          <p:spPr>
            <a:xfrm>
              <a:off x="8895887" y="5624182"/>
              <a:ext cx="731520" cy="250205"/>
            </a:xfrm>
            <a:prstGeom prst="rightArrow">
              <a:avLst>
                <a:gd name="adj1" fmla="val 66700"/>
                <a:gd name="adj2" fmla="val 50000"/>
              </a:avLst>
            </a:prstGeom>
            <a:solidFill>
              <a:schemeClr val="bg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471CBBBE-30A5-4E83-8A66-97C4DD00C339}"/>
                </a:ext>
              </a:extLst>
            </p:cNvPr>
            <p:cNvSpPr/>
            <p:nvPr/>
          </p:nvSpPr>
          <p:spPr>
            <a:xfrm>
              <a:off x="9987728" y="5320109"/>
              <a:ext cx="3564000" cy="828000"/>
            </a:xfrm>
            <a:custGeom>
              <a:avLst/>
              <a:gdLst>
                <a:gd name="connsiteX0" fmla="*/ 0 w 4774091"/>
                <a:gd name="connsiteY0" fmla="*/ 119352 h 1193522"/>
                <a:gd name="connsiteX1" fmla="*/ 119352 w 4774091"/>
                <a:gd name="connsiteY1" fmla="*/ 0 h 1193522"/>
                <a:gd name="connsiteX2" fmla="*/ 4654739 w 4774091"/>
                <a:gd name="connsiteY2" fmla="*/ 0 h 1193522"/>
                <a:gd name="connsiteX3" fmla="*/ 4774091 w 4774091"/>
                <a:gd name="connsiteY3" fmla="*/ 119352 h 1193522"/>
                <a:gd name="connsiteX4" fmla="*/ 4774091 w 4774091"/>
                <a:gd name="connsiteY4" fmla="*/ 1074170 h 1193522"/>
                <a:gd name="connsiteX5" fmla="*/ 4654739 w 4774091"/>
                <a:gd name="connsiteY5" fmla="*/ 1193522 h 1193522"/>
                <a:gd name="connsiteX6" fmla="*/ 119352 w 4774091"/>
                <a:gd name="connsiteY6" fmla="*/ 1193522 h 1193522"/>
                <a:gd name="connsiteX7" fmla="*/ 0 w 4774091"/>
                <a:gd name="connsiteY7" fmla="*/ 1074170 h 1193522"/>
                <a:gd name="connsiteX8" fmla="*/ 0 w 4774091"/>
                <a:gd name="connsiteY8" fmla="*/ 119352 h 1193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4091" h="1193522">
                  <a:moveTo>
                    <a:pt x="0" y="119352"/>
                  </a:moveTo>
                  <a:cubicBezTo>
                    <a:pt x="0" y="53436"/>
                    <a:pt x="53436" y="0"/>
                    <a:pt x="119352" y="0"/>
                  </a:cubicBezTo>
                  <a:lnTo>
                    <a:pt x="4654739" y="0"/>
                  </a:lnTo>
                  <a:cubicBezTo>
                    <a:pt x="4720655" y="0"/>
                    <a:pt x="4774091" y="53436"/>
                    <a:pt x="4774091" y="119352"/>
                  </a:cubicBezTo>
                  <a:lnTo>
                    <a:pt x="4774091" y="1074170"/>
                  </a:lnTo>
                  <a:cubicBezTo>
                    <a:pt x="4774091" y="1140086"/>
                    <a:pt x="4720655" y="1193522"/>
                    <a:pt x="4654739" y="1193522"/>
                  </a:cubicBezTo>
                  <a:lnTo>
                    <a:pt x="119352" y="1193522"/>
                  </a:lnTo>
                  <a:cubicBezTo>
                    <a:pt x="53436" y="1193522"/>
                    <a:pt x="0" y="1140086"/>
                    <a:pt x="0" y="1074170"/>
                  </a:cubicBezTo>
                  <a:lnTo>
                    <a:pt x="0" y="11935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3537" tIns="103537" rIns="103537" bIns="103537" numCol="1" spcCol="1270" anchor="ctr" anchorCtr="0">
              <a:noAutofit/>
            </a:bodyPr>
            <a:lstStyle/>
            <a:p>
              <a:pPr marL="0" lvl="0" indent="0" algn="ctr" defTabSz="2400300">
                <a:lnSpc>
                  <a:spcPct val="90000"/>
                </a:lnSpc>
                <a:spcBef>
                  <a:spcPct val="0"/>
                </a:spcBef>
                <a:spcAft>
                  <a:spcPct val="35000"/>
                </a:spcAft>
                <a:buNone/>
              </a:pPr>
              <a:r>
                <a:rPr lang="en-US" sz="4400" kern="1200">
                  <a:latin typeface="UGent Panno Text" panose="02000506040000040003" pitchFamily="2" charset="0"/>
                </a:rPr>
                <a:t>Research dataset</a:t>
              </a:r>
            </a:p>
          </p:txBody>
        </p:sp>
        <p:sp>
          <p:nvSpPr>
            <p:cNvPr id="10" name="Arrow: Right 9">
              <a:extLst>
                <a:ext uri="{FF2B5EF4-FFF2-40B4-BE49-F238E27FC236}">
                  <a16:creationId xmlns:a16="http://schemas.microsoft.com/office/drawing/2014/main" id="{5F37A21E-F50F-431D-A5ED-A1851D30E709}"/>
                </a:ext>
              </a:extLst>
            </p:cNvPr>
            <p:cNvSpPr/>
            <p:nvPr/>
          </p:nvSpPr>
          <p:spPr>
            <a:xfrm rot="5400000">
              <a:off x="11665295" y="6322666"/>
              <a:ext cx="208866" cy="208866"/>
            </a:xfrm>
            <a:prstGeom prst="rightArrow">
              <a:avLst>
                <a:gd name="adj1" fmla="val 66700"/>
                <a:gd name="adj2" fmla="val 50000"/>
              </a:avLst>
            </a:prstGeom>
            <a:solidFill>
              <a:schemeClr val="bg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3C8FB26D-39ED-4D90-B546-D304015D2A93}"/>
                </a:ext>
              </a:extLst>
            </p:cNvPr>
            <p:cNvSpPr/>
            <p:nvPr/>
          </p:nvSpPr>
          <p:spPr>
            <a:xfrm>
              <a:off x="9987728" y="6625407"/>
              <a:ext cx="3564000" cy="828000"/>
            </a:xfrm>
            <a:custGeom>
              <a:avLst/>
              <a:gdLst>
                <a:gd name="connsiteX0" fmla="*/ 0 w 4774091"/>
                <a:gd name="connsiteY0" fmla="*/ 119352 h 1193522"/>
                <a:gd name="connsiteX1" fmla="*/ 119352 w 4774091"/>
                <a:gd name="connsiteY1" fmla="*/ 0 h 1193522"/>
                <a:gd name="connsiteX2" fmla="*/ 4654739 w 4774091"/>
                <a:gd name="connsiteY2" fmla="*/ 0 h 1193522"/>
                <a:gd name="connsiteX3" fmla="*/ 4774091 w 4774091"/>
                <a:gd name="connsiteY3" fmla="*/ 119352 h 1193522"/>
                <a:gd name="connsiteX4" fmla="*/ 4774091 w 4774091"/>
                <a:gd name="connsiteY4" fmla="*/ 1074170 h 1193522"/>
                <a:gd name="connsiteX5" fmla="*/ 4654739 w 4774091"/>
                <a:gd name="connsiteY5" fmla="*/ 1193522 h 1193522"/>
                <a:gd name="connsiteX6" fmla="*/ 119352 w 4774091"/>
                <a:gd name="connsiteY6" fmla="*/ 1193522 h 1193522"/>
                <a:gd name="connsiteX7" fmla="*/ 0 w 4774091"/>
                <a:gd name="connsiteY7" fmla="*/ 1074170 h 1193522"/>
                <a:gd name="connsiteX8" fmla="*/ 0 w 4774091"/>
                <a:gd name="connsiteY8" fmla="*/ 119352 h 1193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4091" h="1193522">
                  <a:moveTo>
                    <a:pt x="0" y="119352"/>
                  </a:moveTo>
                  <a:cubicBezTo>
                    <a:pt x="0" y="53436"/>
                    <a:pt x="53436" y="0"/>
                    <a:pt x="119352" y="0"/>
                  </a:cubicBezTo>
                  <a:lnTo>
                    <a:pt x="4654739" y="0"/>
                  </a:lnTo>
                  <a:cubicBezTo>
                    <a:pt x="4720655" y="0"/>
                    <a:pt x="4774091" y="53436"/>
                    <a:pt x="4774091" y="119352"/>
                  </a:cubicBezTo>
                  <a:lnTo>
                    <a:pt x="4774091" y="1074170"/>
                  </a:lnTo>
                  <a:cubicBezTo>
                    <a:pt x="4774091" y="1140086"/>
                    <a:pt x="4720655" y="1193522"/>
                    <a:pt x="4654739" y="1193522"/>
                  </a:cubicBezTo>
                  <a:lnTo>
                    <a:pt x="119352" y="1193522"/>
                  </a:lnTo>
                  <a:cubicBezTo>
                    <a:pt x="53436" y="1193522"/>
                    <a:pt x="0" y="1140086"/>
                    <a:pt x="0" y="1074170"/>
                  </a:cubicBezTo>
                  <a:lnTo>
                    <a:pt x="0" y="119352"/>
                  </a:lnTo>
                  <a:close/>
                </a:path>
              </a:pathLst>
            </a:custGeom>
            <a:solidFill>
              <a:schemeClr val="bg2"/>
            </a:solidFill>
            <a:ln>
              <a:solidFill>
                <a:schemeClr val="bg2">
                  <a:alpha val="90000"/>
                </a:scheme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6707" tIns="66707" rIns="66707" bIns="66707" numCol="1" spcCol="1270" anchor="ctr" anchorCtr="0">
              <a:noAutofit/>
            </a:bodyPr>
            <a:lstStyle/>
            <a:p>
              <a:pPr marL="0" lvl="0" indent="0" algn="ctr" defTabSz="1111250">
                <a:lnSpc>
                  <a:spcPct val="90000"/>
                </a:lnSpc>
                <a:spcBef>
                  <a:spcPct val="0"/>
                </a:spcBef>
                <a:spcAft>
                  <a:spcPct val="35000"/>
                </a:spcAft>
                <a:buNone/>
              </a:pPr>
              <a:r>
                <a:rPr lang="en-US" sz="2800" kern="1200">
                  <a:latin typeface="UGent Panno Text" panose="02000506040000040003" pitchFamily="2" charset="0"/>
                </a:rPr>
                <a:t>Deposit in a data repository</a:t>
              </a:r>
            </a:p>
          </p:txBody>
        </p:sp>
        <p:sp>
          <p:nvSpPr>
            <p:cNvPr id="12" name="Arrow: Right 11">
              <a:extLst>
                <a:ext uri="{FF2B5EF4-FFF2-40B4-BE49-F238E27FC236}">
                  <a16:creationId xmlns:a16="http://schemas.microsoft.com/office/drawing/2014/main" id="{A606268E-60A6-48E3-9223-92EB0F11F04C}"/>
                </a:ext>
              </a:extLst>
            </p:cNvPr>
            <p:cNvSpPr/>
            <p:nvPr/>
          </p:nvSpPr>
          <p:spPr>
            <a:xfrm rot="5400000">
              <a:off x="11665295" y="7587623"/>
              <a:ext cx="208866" cy="208866"/>
            </a:xfrm>
            <a:prstGeom prst="rightArrow">
              <a:avLst>
                <a:gd name="adj1" fmla="val 66700"/>
                <a:gd name="adj2" fmla="val 50000"/>
              </a:avLst>
            </a:prstGeom>
            <a:solidFill>
              <a:schemeClr val="bg2"/>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49D55AE8-5A1E-41E6-883E-854BE65969E4}"/>
                </a:ext>
              </a:extLst>
            </p:cNvPr>
            <p:cNvSpPr/>
            <p:nvPr/>
          </p:nvSpPr>
          <p:spPr>
            <a:xfrm>
              <a:off x="9987728" y="7890364"/>
              <a:ext cx="3564000" cy="828000"/>
            </a:xfrm>
            <a:custGeom>
              <a:avLst/>
              <a:gdLst>
                <a:gd name="connsiteX0" fmla="*/ 0 w 4774091"/>
                <a:gd name="connsiteY0" fmla="*/ 119352 h 1193522"/>
                <a:gd name="connsiteX1" fmla="*/ 119352 w 4774091"/>
                <a:gd name="connsiteY1" fmla="*/ 0 h 1193522"/>
                <a:gd name="connsiteX2" fmla="*/ 4654739 w 4774091"/>
                <a:gd name="connsiteY2" fmla="*/ 0 h 1193522"/>
                <a:gd name="connsiteX3" fmla="*/ 4774091 w 4774091"/>
                <a:gd name="connsiteY3" fmla="*/ 119352 h 1193522"/>
                <a:gd name="connsiteX4" fmla="*/ 4774091 w 4774091"/>
                <a:gd name="connsiteY4" fmla="*/ 1074170 h 1193522"/>
                <a:gd name="connsiteX5" fmla="*/ 4654739 w 4774091"/>
                <a:gd name="connsiteY5" fmla="*/ 1193522 h 1193522"/>
                <a:gd name="connsiteX6" fmla="*/ 119352 w 4774091"/>
                <a:gd name="connsiteY6" fmla="*/ 1193522 h 1193522"/>
                <a:gd name="connsiteX7" fmla="*/ 0 w 4774091"/>
                <a:gd name="connsiteY7" fmla="*/ 1074170 h 1193522"/>
                <a:gd name="connsiteX8" fmla="*/ 0 w 4774091"/>
                <a:gd name="connsiteY8" fmla="*/ 119352 h 1193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4091" h="1193522">
                  <a:moveTo>
                    <a:pt x="0" y="119352"/>
                  </a:moveTo>
                  <a:cubicBezTo>
                    <a:pt x="0" y="53436"/>
                    <a:pt x="53436" y="0"/>
                    <a:pt x="119352" y="0"/>
                  </a:cubicBezTo>
                  <a:lnTo>
                    <a:pt x="4654739" y="0"/>
                  </a:lnTo>
                  <a:cubicBezTo>
                    <a:pt x="4720655" y="0"/>
                    <a:pt x="4774091" y="53436"/>
                    <a:pt x="4774091" y="119352"/>
                  </a:cubicBezTo>
                  <a:lnTo>
                    <a:pt x="4774091" y="1074170"/>
                  </a:lnTo>
                  <a:cubicBezTo>
                    <a:pt x="4774091" y="1140086"/>
                    <a:pt x="4720655" y="1193522"/>
                    <a:pt x="4654739" y="1193522"/>
                  </a:cubicBezTo>
                  <a:lnTo>
                    <a:pt x="119352" y="1193522"/>
                  </a:lnTo>
                  <a:cubicBezTo>
                    <a:pt x="53436" y="1193522"/>
                    <a:pt x="0" y="1140086"/>
                    <a:pt x="0" y="1074170"/>
                  </a:cubicBezTo>
                  <a:lnTo>
                    <a:pt x="0" y="119352"/>
                  </a:lnTo>
                  <a:close/>
                </a:path>
              </a:pathLst>
            </a:custGeom>
            <a:solidFill>
              <a:schemeClr val="bg2"/>
            </a:solidFill>
            <a:ln>
              <a:solidFill>
                <a:schemeClr val="bg2">
                  <a:alpha val="90000"/>
                </a:schemeClr>
              </a:solid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6707" tIns="66707" rIns="66707" bIns="66707" numCol="1" spcCol="1270" anchor="ctr" anchorCtr="0">
              <a:noAutofit/>
            </a:bodyPr>
            <a:lstStyle/>
            <a:p>
              <a:pPr marL="0" lvl="0" indent="0" algn="ctr" defTabSz="1111250">
                <a:lnSpc>
                  <a:spcPct val="90000"/>
                </a:lnSpc>
                <a:spcBef>
                  <a:spcPct val="0"/>
                </a:spcBef>
                <a:spcAft>
                  <a:spcPct val="35000"/>
                </a:spcAft>
                <a:buNone/>
              </a:pPr>
              <a:r>
                <a:rPr lang="en-US" sz="2800" kern="1200">
                  <a:latin typeface="UGent Panno Text" panose="02000506040000040003" pitchFamily="2" charset="0"/>
                </a:rPr>
                <a:t>Registration in </a:t>
              </a:r>
              <a:r>
                <a:rPr lang="en-US" sz="2800" kern="1200" err="1">
                  <a:latin typeface="UGent Panno Text" panose="02000506040000040003" pitchFamily="2" charset="0"/>
                </a:rPr>
                <a:t>Biblio</a:t>
              </a:r>
              <a:r>
                <a:rPr lang="en-US" sz="2800" kern="1200">
                  <a:latin typeface="UGent Panno Text" panose="02000506040000040003" pitchFamily="2" charset="0"/>
                </a:rPr>
                <a:t> data register </a:t>
              </a:r>
            </a:p>
          </p:txBody>
        </p:sp>
      </p:grpSp>
      <p:sp>
        <p:nvSpPr>
          <p:cNvPr id="15" name="Rectangle 14">
            <a:extLst>
              <a:ext uri="{FF2B5EF4-FFF2-40B4-BE49-F238E27FC236}">
                <a16:creationId xmlns:a16="http://schemas.microsoft.com/office/drawing/2014/main" id="{13924D00-BA5B-4FD9-A108-A530AD485470}"/>
              </a:ext>
            </a:extLst>
          </p:cNvPr>
          <p:cNvSpPr/>
          <p:nvPr/>
        </p:nvSpPr>
        <p:spPr>
          <a:xfrm>
            <a:off x="830117" y="1133559"/>
            <a:ext cx="14760403" cy="567784"/>
          </a:xfrm>
          <a:prstGeom prst="rect">
            <a:avLst/>
          </a:prstGeom>
        </p:spPr>
        <p:txBody>
          <a:bodyPr wrap="square">
            <a:spAutoFit/>
          </a:bodyPr>
          <a:lstStyle/>
          <a:p>
            <a:pPr marL="457200" indent="-457200">
              <a:lnSpc>
                <a:spcPct val="120000"/>
              </a:lnSpc>
              <a:buFont typeface="Arial" panose="020B0604020202020204" pitchFamily="34" charset="0"/>
              <a:buChar char="•"/>
            </a:pPr>
            <a:endParaRPr lang="en-US" sz="2800">
              <a:latin typeface="UGent Panno Text" panose="02000506040000040003" pitchFamily="2" charset="0"/>
            </a:endParaRPr>
          </a:p>
        </p:txBody>
      </p:sp>
    </p:spTree>
    <p:extLst>
      <p:ext uri="{BB962C8B-B14F-4D97-AF65-F5344CB8AC3E}">
        <p14:creationId xmlns:p14="http://schemas.microsoft.com/office/powerpoint/2010/main" val="3357704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34B9C-119C-4504-AB95-852417A21642}"/>
              </a:ext>
            </a:extLst>
          </p:cNvPr>
          <p:cNvSpPr>
            <a:spLocks noGrp="1"/>
          </p:cNvSpPr>
          <p:nvPr>
            <p:ph type="title"/>
          </p:nvPr>
        </p:nvSpPr>
        <p:spPr/>
        <p:txBody>
          <a:bodyPr/>
          <a:lstStyle/>
          <a:p>
            <a:r>
              <a:rPr lang="en-US">
                <a:latin typeface="UGent Panno Text"/>
                <a:cs typeface="Segoe UI Semibold"/>
              </a:rPr>
              <a:t>Sharing and registering research data</a:t>
            </a:r>
            <a:endParaRPr lang="nl-BE">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779A9922-5702-4489-B50A-7BADBBB636C3}"/>
              </a:ext>
            </a:extLst>
          </p:cNvPr>
          <p:cNvSpPr>
            <a:spLocks noGrp="1"/>
          </p:cNvSpPr>
          <p:nvPr>
            <p:ph type="sldNum" sz="quarter" idx="12"/>
          </p:nvPr>
        </p:nvSpPr>
        <p:spPr/>
        <p:txBody>
          <a:bodyPr/>
          <a:lstStyle/>
          <a:p>
            <a:fld id="{7AE184E0-0BD4-4705-A12B-9B71DDE63301}" type="slidenum">
              <a:rPr lang="en-GB" noProof="0" smtClean="0"/>
              <a:t>25</a:t>
            </a:fld>
            <a:endParaRPr lang="en-GB" noProof="0"/>
          </a:p>
        </p:txBody>
      </p:sp>
      <p:sp>
        <p:nvSpPr>
          <p:cNvPr id="5" name="TextBox 4">
            <a:extLst>
              <a:ext uri="{FF2B5EF4-FFF2-40B4-BE49-F238E27FC236}">
                <a16:creationId xmlns:a16="http://schemas.microsoft.com/office/drawing/2014/main" id="{703A3A59-7730-4FDB-8DA9-1C196F937292}"/>
              </a:ext>
            </a:extLst>
          </p:cNvPr>
          <p:cNvSpPr txBox="1"/>
          <p:nvPr/>
        </p:nvSpPr>
        <p:spPr>
          <a:xfrm>
            <a:off x="950834" y="3045170"/>
            <a:ext cx="2680542" cy="1817613"/>
          </a:xfrm>
          <a:prstGeom prst="rect">
            <a:avLst/>
          </a:prstGeom>
          <a:noFill/>
        </p:spPr>
        <p:txBody>
          <a:bodyPr wrap="none" rtlCol="0">
            <a:spAutoFit/>
          </a:bodyPr>
          <a:lstStyle/>
          <a:p>
            <a:pPr algn="ctr">
              <a:lnSpc>
                <a:spcPct val="120000"/>
              </a:lnSpc>
            </a:pPr>
            <a:r>
              <a:rPr lang="en-US" sz="3200">
                <a:latin typeface="UGent Panno Text" panose="02000506040000040003" pitchFamily="2" charset="0"/>
              </a:rPr>
              <a:t>DATA AND </a:t>
            </a:r>
          </a:p>
          <a:p>
            <a:pPr algn="ctr">
              <a:lnSpc>
                <a:spcPct val="120000"/>
              </a:lnSpc>
            </a:pPr>
            <a:r>
              <a:rPr lang="en-US" sz="3200">
                <a:latin typeface="UGent Panno Text" panose="02000506040000040003" pitchFamily="2" charset="0"/>
              </a:rPr>
              <a:t>OTHER RESEARCH </a:t>
            </a:r>
          </a:p>
          <a:p>
            <a:pPr algn="ctr">
              <a:lnSpc>
                <a:spcPct val="120000"/>
              </a:lnSpc>
            </a:pPr>
            <a:r>
              <a:rPr lang="en-US" sz="3200">
                <a:latin typeface="UGent Panno Text" panose="02000506040000040003" pitchFamily="2" charset="0"/>
              </a:rPr>
              <a:t>OUTPUT</a:t>
            </a:r>
          </a:p>
        </p:txBody>
      </p:sp>
      <p:pic>
        <p:nvPicPr>
          <p:cNvPr id="32" name="Picture 31">
            <a:extLst>
              <a:ext uri="{FF2B5EF4-FFF2-40B4-BE49-F238E27FC236}">
                <a16:creationId xmlns:a16="http://schemas.microsoft.com/office/drawing/2014/main" id="{DC0E6596-5515-44DD-89FB-4B31ACBD4E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6248" y="3235958"/>
            <a:ext cx="1498524" cy="584287"/>
          </a:xfrm>
          <a:prstGeom prst="rect">
            <a:avLst/>
          </a:prstGeom>
        </p:spPr>
      </p:pic>
      <p:pic>
        <p:nvPicPr>
          <p:cNvPr id="33" name="Picture 32">
            <a:extLst>
              <a:ext uri="{FF2B5EF4-FFF2-40B4-BE49-F238E27FC236}">
                <a16:creationId xmlns:a16="http://schemas.microsoft.com/office/drawing/2014/main" id="{8E1FAC49-0573-4D89-B1A9-6D935A7612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21551" y="3989854"/>
            <a:ext cx="1992412" cy="584242"/>
          </a:xfrm>
          <a:prstGeom prst="rect">
            <a:avLst/>
          </a:prstGeom>
        </p:spPr>
      </p:pic>
      <p:pic>
        <p:nvPicPr>
          <p:cNvPr id="34" name="Picture 33">
            <a:extLst>
              <a:ext uri="{FF2B5EF4-FFF2-40B4-BE49-F238E27FC236}">
                <a16:creationId xmlns:a16="http://schemas.microsoft.com/office/drawing/2014/main" id="{016DACF4-121C-4660-96C7-60BC807E1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82476" y="3157368"/>
            <a:ext cx="1187449" cy="616669"/>
          </a:xfrm>
          <a:prstGeom prst="rect">
            <a:avLst/>
          </a:prstGeom>
        </p:spPr>
      </p:pic>
      <p:sp>
        <p:nvSpPr>
          <p:cNvPr id="40" name="TextBox 39">
            <a:extLst>
              <a:ext uri="{FF2B5EF4-FFF2-40B4-BE49-F238E27FC236}">
                <a16:creationId xmlns:a16="http://schemas.microsoft.com/office/drawing/2014/main" id="{FB52A389-67FC-431B-A7A2-31149BDBDE09}"/>
              </a:ext>
            </a:extLst>
          </p:cNvPr>
          <p:cNvSpPr txBox="1"/>
          <p:nvPr/>
        </p:nvSpPr>
        <p:spPr>
          <a:xfrm>
            <a:off x="6349936" y="1311575"/>
            <a:ext cx="3212624" cy="861774"/>
          </a:xfrm>
          <a:prstGeom prst="rect">
            <a:avLst/>
          </a:prstGeom>
          <a:noFill/>
        </p:spPr>
        <p:txBody>
          <a:bodyPr wrap="square" rtlCol="0">
            <a:spAutoFit/>
          </a:bodyPr>
          <a:lstStyle/>
          <a:p>
            <a:pPr algn="ctr"/>
            <a:r>
              <a:rPr lang="en-US" sz="2500">
                <a:latin typeface="UGent Panno Text SemiBold" panose="02000706040000040003" pitchFamily="2" charset="0"/>
              </a:rPr>
              <a:t>Option 1: Domain-specific repository (preferred)</a:t>
            </a:r>
            <a:endParaRPr lang="nl-BE" sz="2500">
              <a:latin typeface="UGent Panno Text SemiBold" panose="02000706040000040003" pitchFamily="2" charset="0"/>
            </a:endParaRPr>
          </a:p>
        </p:txBody>
      </p:sp>
      <p:pic>
        <p:nvPicPr>
          <p:cNvPr id="41" name="Picture 2" descr="Social Sciences and Digital Humanities Archive – SODHA">
            <a:extLst>
              <a:ext uri="{FF2B5EF4-FFF2-40B4-BE49-F238E27FC236}">
                <a16:creationId xmlns:a16="http://schemas.microsoft.com/office/drawing/2014/main" id="{12137C44-65DC-4C34-9590-C1EDAE17368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76199" y="2307305"/>
            <a:ext cx="2177537" cy="81783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265DE73-BF8F-4F03-B8A8-71B108A18DF0}"/>
              </a:ext>
            </a:extLst>
          </p:cNvPr>
          <p:cNvSpPr txBox="1"/>
          <p:nvPr/>
        </p:nvSpPr>
        <p:spPr>
          <a:xfrm>
            <a:off x="305188" y="7221380"/>
            <a:ext cx="4989578" cy="2382191"/>
          </a:xfrm>
          <a:prstGeom prst="rect">
            <a:avLst/>
          </a:prstGeom>
          <a:solidFill>
            <a:schemeClr val="bg2"/>
          </a:solidFill>
        </p:spPr>
        <p:txBody>
          <a:bodyPr wrap="square" rtlCol="0">
            <a:spAutoFit/>
          </a:bodyPr>
          <a:lstStyle/>
          <a:p>
            <a:pPr>
              <a:lnSpc>
                <a:spcPct val="120000"/>
              </a:lnSpc>
            </a:pPr>
            <a:r>
              <a:rPr lang="en-US" sz="2400">
                <a:latin typeface="UGent Panno Text" panose="02000506040000040003" pitchFamily="2" charset="0"/>
              </a:rPr>
              <a:t>Recommendations: </a:t>
            </a:r>
          </a:p>
          <a:p>
            <a:pPr marL="457144" indent="-457144">
              <a:buFont typeface="Arial" panose="020B0604020202020204" pitchFamily="34" charset="0"/>
              <a:buChar char="•"/>
            </a:pPr>
            <a:r>
              <a:rPr lang="en-US" sz="2000">
                <a:latin typeface="UGent Panno Text" panose="02000506040000040003" pitchFamily="2" charset="0"/>
              </a:rPr>
              <a:t>Share within UGent for scientific review and more widely if possible (RDM policy framework)</a:t>
            </a:r>
          </a:p>
          <a:p>
            <a:pPr marL="457144" indent="-457144">
              <a:buFont typeface="Arial" panose="020B0604020202020204" pitchFamily="34" charset="0"/>
              <a:buChar char="•"/>
            </a:pPr>
            <a:r>
              <a:rPr lang="en-US" sz="2000">
                <a:latin typeface="UGent Panno Text" panose="02000506040000040003" pitchFamily="2" charset="0"/>
              </a:rPr>
              <a:t>Share as openly as possible, as closed as necessary, in line with the FAIR principles (ALLEA)</a:t>
            </a:r>
          </a:p>
          <a:p>
            <a:pPr marL="457144" indent="-457144">
              <a:buFont typeface="Arial" panose="020B0604020202020204" pitchFamily="34" charset="0"/>
              <a:buChar char="•"/>
            </a:pPr>
            <a:r>
              <a:rPr lang="en-US" sz="2000">
                <a:latin typeface="UGent Panno Text" panose="02000506040000040003" pitchFamily="2" charset="0"/>
              </a:rPr>
              <a:t>Use domain-specific repository for sharing outside of UGent when available</a:t>
            </a:r>
            <a:endParaRPr lang="nl-BE" sz="2000">
              <a:latin typeface="UGent Panno Text" panose="02000506040000040003" pitchFamily="2" charset="0"/>
            </a:endParaRPr>
          </a:p>
        </p:txBody>
      </p:sp>
      <p:sp>
        <p:nvSpPr>
          <p:cNvPr id="43" name="TextBox 42">
            <a:extLst>
              <a:ext uri="{FF2B5EF4-FFF2-40B4-BE49-F238E27FC236}">
                <a16:creationId xmlns:a16="http://schemas.microsoft.com/office/drawing/2014/main" id="{1DA0EA29-6E55-4628-8053-2AEB1FF9451B}"/>
              </a:ext>
            </a:extLst>
          </p:cNvPr>
          <p:cNvSpPr txBox="1"/>
          <p:nvPr/>
        </p:nvSpPr>
        <p:spPr>
          <a:xfrm>
            <a:off x="1009939" y="4781815"/>
            <a:ext cx="2553904" cy="1817613"/>
          </a:xfrm>
          <a:prstGeom prst="rect">
            <a:avLst/>
          </a:prstGeom>
          <a:noFill/>
        </p:spPr>
        <p:txBody>
          <a:bodyPr wrap="none" rtlCol="0">
            <a:spAutoFit/>
          </a:bodyPr>
          <a:lstStyle/>
          <a:p>
            <a:pPr algn="ctr">
              <a:lnSpc>
                <a:spcPct val="120000"/>
              </a:lnSpc>
            </a:pPr>
            <a:r>
              <a:rPr lang="en-US" sz="3200">
                <a:latin typeface="UGent Panno Text" panose="02000506040000040003" pitchFamily="2" charset="0"/>
              </a:rPr>
              <a:t>+</a:t>
            </a:r>
          </a:p>
          <a:p>
            <a:pPr algn="ctr">
              <a:lnSpc>
                <a:spcPct val="120000"/>
              </a:lnSpc>
            </a:pPr>
            <a:r>
              <a:rPr lang="en-US" sz="3200">
                <a:latin typeface="UGent Panno Text" panose="02000506040000040003" pitchFamily="2" charset="0"/>
              </a:rPr>
              <a:t>DOCUMENTATION</a:t>
            </a:r>
          </a:p>
          <a:p>
            <a:pPr algn="ctr">
              <a:lnSpc>
                <a:spcPct val="120000"/>
              </a:lnSpc>
            </a:pPr>
            <a:r>
              <a:rPr lang="en-US" sz="3200">
                <a:latin typeface="UGent Panno Text" panose="02000506040000040003" pitchFamily="2" charset="0"/>
              </a:rPr>
              <a:t>METADATA</a:t>
            </a:r>
          </a:p>
        </p:txBody>
      </p:sp>
      <p:sp>
        <p:nvSpPr>
          <p:cNvPr id="7" name="Rectangle: Rounded Corners 6">
            <a:extLst>
              <a:ext uri="{FF2B5EF4-FFF2-40B4-BE49-F238E27FC236}">
                <a16:creationId xmlns:a16="http://schemas.microsoft.com/office/drawing/2014/main" id="{2FE2AD2F-157C-4F4C-96DD-E5ECE89588CA}"/>
              </a:ext>
            </a:extLst>
          </p:cNvPr>
          <p:cNvSpPr/>
          <p:nvPr/>
        </p:nvSpPr>
        <p:spPr>
          <a:xfrm>
            <a:off x="472783" y="2852131"/>
            <a:ext cx="3630083" cy="4217628"/>
          </a:xfrm>
          <a:prstGeom prst="roundRect">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45" name="Rectangle: Rounded Corners 44">
            <a:extLst>
              <a:ext uri="{FF2B5EF4-FFF2-40B4-BE49-F238E27FC236}">
                <a16:creationId xmlns:a16="http://schemas.microsoft.com/office/drawing/2014/main" id="{17DAA12E-D2A4-4C86-BB97-37BEA78D0068}"/>
              </a:ext>
            </a:extLst>
          </p:cNvPr>
          <p:cNvSpPr/>
          <p:nvPr/>
        </p:nvSpPr>
        <p:spPr>
          <a:xfrm>
            <a:off x="6159112" y="1177568"/>
            <a:ext cx="3630083" cy="3667811"/>
          </a:xfrm>
          <a:prstGeom prst="roundRect">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grpSp>
        <p:nvGrpSpPr>
          <p:cNvPr id="9" name="Group 8">
            <a:extLst>
              <a:ext uri="{FF2B5EF4-FFF2-40B4-BE49-F238E27FC236}">
                <a16:creationId xmlns:a16="http://schemas.microsoft.com/office/drawing/2014/main" id="{D5E2592C-34E4-4954-BDD5-52B88E1BA9E8}"/>
              </a:ext>
            </a:extLst>
          </p:cNvPr>
          <p:cNvGrpSpPr/>
          <p:nvPr/>
        </p:nvGrpSpPr>
        <p:grpSpPr>
          <a:xfrm>
            <a:off x="12414798" y="3250954"/>
            <a:ext cx="3630083" cy="3667811"/>
            <a:chOff x="6159112" y="5043277"/>
            <a:chExt cx="3630083" cy="3667811"/>
          </a:xfrm>
        </p:grpSpPr>
        <p:sp>
          <p:nvSpPr>
            <p:cNvPr id="38" name="TextBox 37">
              <a:extLst>
                <a:ext uri="{FF2B5EF4-FFF2-40B4-BE49-F238E27FC236}">
                  <a16:creationId xmlns:a16="http://schemas.microsoft.com/office/drawing/2014/main" id="{1AC12678-8821-4509-BC32-82CE975A6867}"/>
                </a:ext>
              </a:extLst>
            </p:cNvPr>
            <p:cNvSpPr txBox="1"/>
            <p:nvPr/>
          </p:nvSpPr>
          <p:spPr>
            <a:xfrm>
              <a:off x="6382477" y="5166076"/>
              <a:ext cx="3104836" cy="978538"/>
            </a:xfrm>
            <a:prstGeom prst="rect">
              <a:avLst/>
            </a:prstGeom>
            <a:noFill/>
          </p:spPr>
          <p:txBody>
            <a:bodyPr wrap="square" rtlCol="0">
              <a:spAutoFit/>
            </a:bodyPr>
            <a:lstStyle/>
            <a:p>
              <a:pPr algn="ctr">
                <a:lnSpc>
                  <a:spcPct val="120000"/>
                </a:lnSpc>
              </a:pPr>
              <a:r>
                <a:rPr lang="en-US" sz="2500">
                  <a:latin typeface="UGent Panno Text SemiBold" panose="02000706040000040003" pitchFamily="2" charset="0"/>
                </a:rPr>
                <a:t>Institutional data register</a:t>
              </a:r>
              <a:endParaRPr lang="nl-BE" sz="2500">
                <a:latin typeface="UGent Panno Text SemiBold" panose="02000706040000040003" pitchFamily="2" charset="0"/>
              </a:endParaRPr>
            </a:p>
          </p:txBody>
        </p:sp>
        <p:sp>
          <p:nvSpPr>
            <p:cNvPr id="50" name="Rectangle: Rounded Corners 49">
              <a:extLst>
                <a:ext uri="{FF2B5EF4-FFF2-40B4-BE49-F238E27FC236}">
                  <a16:creationId xmlns:a16="http://schemas.microsoft.com/office/drawing/2014/main" id="{E137ABE9-868D-40D8-BF02-947C5C42D593}"/>
                </a:ext>
              </a:extLst>
            </p:cNvPr>
            <p:cNvSpPr/>
            <p:nvPr/>
          </p:nvSpPr>
          <p:spPr>
            <a:xfrm>
              <a:off x="6159112" y="5043277"/>
              <a:ext cx="3630083" cy="3667811"/>
            </a:xfrm>
            <a:prstGeom prst="roundRect">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3" name="TextBox 12">
              <a:extLst>
                <a:ext uri="{FF2B5EF4-FFF2-40B4-BE49-F238E27FC236}">
                  <a16:creationId xmlns:a16="http://schemas.microsoft.com/office/drawing/2014/main" id="{FF29B1EA-C98A-4D4D-8109-6E7B009327B6}"/>
                </a:ext>
              </a:extLst>
            </p:cNvPr>
            <p:cNvSpPr txBox="1"/>
            <p:nvPr/>
          </p:nvSpPr>
          <p:spPr>
            <a:xfrm>
              <a:off x="6426833" y="6356939"/>
              <a:ext cx="3212623" cy="1817613"/>
            </a:xfrm>
            <a:prstGeom prst="rect">
              <a:avLst/>
            </a:prstGeom>
            <a:noFill/>
          </p:spPr>
          <p:txBody>
            <a:bodyPr wrap="square" rtlCol="0">
              <a:spAutoFit/>
            </a:bodyPr>
            <a:lstStyle/>
            <a:p>
              <a:pPr>
                <a:lnSpc>
                  <a:spcPct val="120000"/>
                </a:lnSpc>
              </a:pPr>
              <a:r>
                <a:rPr lang="en-US" sz="3200">
                  <a:latin typeface="UGent Panno Text" panose="02000506040000040003" pitchFamily="2" charset="0"/>
                </a:rPr>
                <a:t>Register </a:t>
              </a:r>
              <a:r>
                <a:rPr lang="en-US" sz="3200" b="1">
                  <a:latin typeface="UGent Panno Text" panose="02000506040000040003" pitchFamily="2" charset="0"/>
                </a:rPr>
                <a:t>metadata</a:t>
              </a:r>
              <a:r>
                <a:rPr lang="en-US" sz="3200">
                  <a:latin typeface="UGent Panno Text" panose="02000506040000040003" pitchFamily="2" charset="0"/>
                </a:rPr>
                <a:t> of published datasets in </a:t>
              </a:r>
            </a:p>
            <a:p>
              <a:pPr>
                <a:lnSpc>
                  <a:spcPct val="120000"/>
                </a:lnSpc>
              </a:pPr>
              <a:r>
                <a:rPr lang="en-US" sz="3200">
                  <a:latin typeface="UGent Panno Text" panose="02000506040000040003" pitchFamily="2" charset="0"/>
                </a:rPr>
                <a:t>Biblio</a:t>
              </a:r>
            </a:p>
          </p:txBody>
        </p:sp>
      </p:grpSp>
      <p:grpSp>
        <p:nvGrpSpPr>
          <p:cNvPr id="10" name="Group 9">
            <a:extLst>
              <a:ext uri="{FF2B5EF4-FFF2-40B4-BE49-F238E27FC236}">
                <a16:creationId xmlns:a16="http://schemas.microsoft.com/office/drawing/2014/main" id="{C7D0FB40-FE16-46DD-8B8C-57CBAB670EEA}"/>
              </a:ext>
            </a:extLst>
          </p:cNvPr>
          <p:cNvGrpSpPr/>
          <p:nvPr/>
        </p:nvGrpSpPr>
        <p:grpSpPr>
          <a:xfrm>
            <a:off x="6159112" y="5114367"/>
            <a:ext cx="3630083" cy="3667811"/>
            <a:chOff x="9918457" y="1264652"/>
            <a:chExt cx="3630083" cy="3667811"/>
          </a:xfrm>
        </p:grpSpPr>
        <p:pic>
          <p:nvPicPr>
            <p:cNvPr id="29" name="Picture 28">
              <a:extLst>
                <a:ext uri="{FF2B5EF4-FFF2-40B4-BE49-F238E27FC236}">
                  <a16:creationId xmlns:a16="http://schemas.microsoft.com/office/drawing/2014/main" id="{BAA13A68-C468-45E4-BC64-48A7DFBF8A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81734" y="2486899"/>
              <a:ext cx="1923815" cy="657145"/>
            </a:xfrm>
            <a:prstGeom prst="rect">
              <a:avLst/>
            </a:prstGeom>
          </p:spPr>
        </p:pic>
        <p:pic>
          <p:nvPicPr>
            <p:cNvPr id="30" name="Picture 29">
              <a:extLst>
                <a:ext uri="{FF2B5EF4-FFF2-40B4-BE49-F238E27FC236}">
                  <a16:creationId xmlns:a16="http://schemas.microsoft.com/office/drawing/2014/main" id="{46E9AAE4-C9A4-40FA-AEB8-9A8A6F83699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998593" y="3244452"/>
              <a:ext cx="1419052" cy="904764"/>
            </a:xfrm>
            <a:prstGeom prst="rect">
              <a:avLst/>
            </a:prstGeom>
          </p:spPr>
        </p:pic>
        <p:sp>
          <p:nvSpPr>
            <p:cNvPr id="37" name="TextBox 36">
              <a:extLst>
                <a:ext uri="{FF2B5EF4-FFF2-40B4-BE49-F238E27FC236}">
                  <a16:creationId xmlns:a16="http://schemas.microsoft.com/office/drawing/2014/main" id="{032D5CA2-19D0-47AD-B59C-B0DB8966CA03}"/>
                </a:ext>
              </a:extLst>
            </p:cNvPr>
            <p:cNvSpPr txBox="1"/>
            <p:nvPr/>
          </p:nvSpPr>
          <p:spPr>
            <a:xfrm>
              <a:off x="10174515" y="1339166"/>
              <a:ext cx="2873479" cy="861774"/>
            </a:xfrm>
            <a:prstGeom prst="rect">
              <a:avLst/>
            </a:prstGeom>
            <a:noFill/>
          </p:spPr>
          <p:txBody>
            <a:bodyPr wrap="square" rtlCol="0">
              <a:spAutoFit/>
            </a:bodyPr>
            <a:lstStyle/>
            <a:p>
              <a:pPr algn="ctr"/>
              <a:r>
                <a:rPr lang="en-US" sz="2500">
                  <a:latin typeface="UGent Panno Text SemiBold" panose="02000706040000040003" pitchFamily="2" charset="0"/>
                </a:rPr>
                <a:t>Option 2: Generic repository</a:t>
              </a:r>
              <a:endParaRPr lang="nl-BE" sz="2500">
                <a:latin typeface="UGent Panno Text SemiBold" panose="02000706040000040003" pitchFamily="2" charset="0"/>
              </a:endParaRPr>
            </a:p>
          </p:txBody>
        </p:sp>
        <p:sp>
          <p:nvSpPr>
            <p:cNvPr id="46" name="Rectangle: Rounded Corners 45">
              <a:extLst>
                <a:ext uri="{FF2B5EF4-FFF2-40B4-BE49-F238E27FC236}">
                  <a16:creationId xmlns:a16="http://schemas.microsoft.com/office/drawing/2014/main" id="{142B70D6-BBFA-4F1E-8C90-DD38925B8401}"/>
                </a:ext>
              </a:extLst>
            </p:cNvPr>
            <p:cNvSpPr/>
            <p:nvPr/>
          </p:nvSpPr>
          <p:spPr>
            <a:xfrm>
              <a:off x="9918457" y="1264652"/>
              <a:ext cx="3630083" cy="3667811"/>
            </a:xfrm>
            <a:prstGeom prst="roundRect">
              <a:avLst/>
            </a:prstGeom>
            <a:no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48" name="Picture 24" descr="figshare">
              <a:extLst>
                <a:ext uri="{FF2B5EF4-FFF2-40B4-BE49-F238E27FC236}">
                  <a16:creationId xmlns:a16="http://schemas.microsoft.com/office/drawing/2014/main" id="{58EB6CDA-FECD-4249-8CAF-E394BDBA20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29033" y="3360738"/>
              <a:ext cx="1590577" cy="49527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SF Guides">
              <a:extLst>
                <a:ext uri="{FF2B5EF4-FFF2-40B4-BE49-F238E27FC236}">
                  <a16:creationId xmlns:a16="http://schemas.microsoft.com/office/drawing/2014/main" id="{0D49B39C-5A09-485D-8A69-44A40396208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203303" y="4303895"/>
              <a:ext cx="1590579" cy="598410"/>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extBox 10">
            <a:extLst>
              <a:ext uri="{FF2B5EF4-FFF2-40B4-BE49-F238E27FC236}">
                <a16:creationId xmlns:a16="http://schemas.microsoft.com/office/drawing/2014/main" id="{1D2E1DEC-634B-3CD3-F6A5-FE75A2B177B7}"/>
              </a:ext>
            </a:extLst>
          </p:cNvPr>
          <p:cNvSpPr txBox="1"/>
          <p:nvPr/>
        </p:nvSpPr>
        <p:spPr>
          <a:xfrm>
            <a:off x="3521758" y="4434941"/>
            <a:ext cx="3212624" cy="477054"/>
          </a:xfrm>
          <a:prstGeom prst="rect">
            <a:avLst/>
          </a:prstGeom>
          <a:noFill/>
        </p:spPr>
        <p:txBody>
          <a:bodyPr wrap="square" lIns="91440" tIns="45720" rIns="91440" bIns="45720" rtlCol="0" anchor="t">
            <a:spAutoFit/>
          </a:bodyPr>
          <a:lstStyle/>
          <a:p>
            <a:pPr algn="ctr"/>
            <a:r>
              <a:rPr lang="en-US" sz="2500">
                <a:latin typeface="UGent Panno Text SemiBold"/>
              </a:rPr>
              <a:t>Step 1</a:t>
            </a:r>
            <a:endParaRPr lang="en-US"/>
          </a:p>
        </p:txBody>
      </p:sp>
      <p:cxnSp>
        <p:nvCxnSpPr>
          <p:cNvPr id="15" name="Straight Arrow Connector 14">
            <a:extLst>
              <a:ext uri="{FF2B5EF4-FFF2-40B4-BE49-F238E27FC236}">
                <a16:creationId xmlns:a16="http://schemas.microsoft.com/office/drawing/2014/main" id="{629D519A-319C-430E-B29D-5A608B06FC3A}"/>
              </a:ext>
            </a:extLst>
          </p:cNvPr>
          <p:cNvCxnSpPr/>
          <p:nvPr/>
        </p:nvCxnSpPr>
        <p:spPr>
          <a:xfrm>
            <a:off x="4258491" y="4960945"/>
            <a:ext cx="1698172" cy="0"/>
          </a:xfrm>
          <a:prstGeom prst="straightConnector1">
            <a:avLst/>
          </a:prstGeom>
          <a:ln w="31750">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75F7627-DE5B-47CD-86A6-CA833645AC77}"/>
              </a:ext>
            </a:extLst>
          </p:cNvPr>
          <p:cNvSpPr txBox="1"/>
          <p:nvPr/>
        </p:nvSpPr>
        <p:spPr>
          <a:xfrm>
            <a:off x="9562560" y="4482634"/>
            <a:ext cx="3212624" cy="477054"/>
          </a:xfrm>
          <a:prstGeom prst="rect">
            <a:avLst/>
          </a:prstGeom>
          <a:noFill/>
        </p:spPr>
        <p:txBody>
          <a:bodyPr wrap="square" lIns="91440" tIns="45720" rIns="91440" bIns="45720" rtlCol="0" anchor="t">
            <a:spAutoFit/>
          </a:bodyPr>
          <a:lstStyle/>
          <a:p>
            <a:pPr algn="ctr"/>
            <a:r>
              <a:rPr lang="en-US" sz="2500">
                <a:latin typeface="UGent Panno Text SemiBold"/>
              </a:rPr>
              <a:t>Step 2</a:t>
            </a:r>
            <a:endParaRPr lang="en-US"/>
          </a:p>
        </p:txBody>
      </p:sp>
      <p:cxnSp>
        <p:nvCxnSpPr>
          <p:cNvPr id="35" name="Straight Arrow Connector 34">
            <a:extLst>
              <a:ext uri="{FF2B5EF4-FFF2-40B4-BE49-F238E27FC236}">
                <a16:creationId xmlns:a16="http://schemas.microsoft.com/office/drawing/2014/main" id="{1731F5C0-597B-4F4D-A0D5-48D73A1B5CC0}"/>
              </a:ext>
            </a:extLst>
          </p:cNvPr>
          <p:cNvCxnSpPr/>
          <p:nvPr/>
        </p:nvCxnSpPr>
        <p:spPr>
          <a:xfrm>
            <a:off x="10299293" y="5008638"/>
            <a:ext cx="1698172" cy="0"/>
          </a:xfrm>
          <a:prstGeom prst="straightConnector1">
            <a:avLst/>
          </a:prstGeom>
          <a:ln w="31750">
            <a:headEnd type="none"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09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1F86B-D047-0D06-4E05-069AD34FD2A5}"/>
              </a:ext>
            </a:extLst>
          </p:cNvPr>
          <p:cNvSpPr>
            <a:spLocks noGrp="1"/>
          </p:cNvSpPr>
          <p:nvPr>
            <p:ph type="title"/>
          </p:nvPr>
        </p:nvSpPr>
        <p:spPr/>
        <p:txBody>
          <a:bodyPr>
            <a:noAutofit/>
          </a:bodyPr>
          <a:lstStyle/>
          <a:p>
            <a:r>
              <a:rPr lang="en-GB"/>
              <a:t>REGISTRATION OF PUBLISHED RESEARCH DATA AND SOFTWARE </a:t>
            </a:r>
            <a:br>
              <a:rPr lang="en-GB"/>
            </a:br>
            <a:r>
              <a:rPr lang="en-GB"/>
              <a:t>IN BIBLIO</a:t>
            </a:r>
            <a:endParaRPr lang="en-US"/>
          </a:p>
        </p:txBody>
      </p:sp>
      <p:sp>
        <p:nvSpPr>
          <p:cNvPr id="4" name="TextBox 4">
            <a:extLst>
              <a:ext uri="{FF2B5EF4-FFF2-40B4-BE49-F238E27FC236}">
                <a16:creationId xmlns:a16="http://schemas.microsoft.com/office/drawing/2014/main" id="{69DD3C6B-34B7-4D6A-2E8E-7130CB3D0E1E}"/>
              </a:ext>
            </a:extLst>
          </p:cNvPr>
          <p:cNvSpPr txBox="1"/>
          <p:nvPr/>
        </p:nvSpPr>
        <p:spPr>
          <a:xfrm>
            <a:off x="10413922" y="9125769"/>
            <a:ext cx="4278767" cy="408654"/>
          </a:xfrm>
          <a:prstGeom prst="rect">
            <a:avLst/>
          </a:prstGeom>
          <a:noFill/>
        </p:spPr>
        <p:txBody>
          <a:bodyPr wrap="none" lIns="86693" tIns="43347" rIns="86693" bIns="43347" rtlCol="0" anchor="t">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nSpc>
                <a:spcPct val="120000"/>
              </a:lnSpc>
            </a:pPr>
            <a:r>
              <a:rPr lang="en-BE" sz="1896">
                <a:latin typeface="UGent Panno Text" panose="02000506040000040003" pitchFamily="2" charset="0"/>
                <a:ea typeface="Calibri"/>
                <a:cs typeface="Calibri"/>
              </a:rPr>
              <a:t>👉 More on </a:t>
            </a:r>
            <a:r>
              <a:rPr lang="en-US" sz="1896">
                <a:latin typeface="UGent Panno Text" panose="02000506040000040003" pitchFamily="2" charset="0"/>
                <a:ea typeface="Calibri"/>
                <a:cs typeface="Calibri"/>
                <a:hlinkClick r:id="rId2"/>
              </a:rPr>
              <a:t>UGent policy on scholarly publishing</a:t>
            </a:r>
            <a:endParaRPr lang="en-US" sz="1896">
              <a:latin typeface="UGent Panno Text" panose="02000506040000040003" pitchFamily="2" charset="0"/>
              <a:ea typeface="Calibri"/>
              <a:cs typeface="Calibri"/>
            </a:endParaRPr>
          </a:p>
        </p:txBody>
      </p:sp>
      <p:sp>
        <p:nvSpPr>
          <p:cNvPr id="5" name="Content Placeholder 5">
            <a:extLst>
              <a:ext uri="{FF2B5EF4-FFF2-40B4-BE49-F238E27FC236}">
                <a16:creationId xmlns:a16="http://schemas.microsoft.com/office/drawing/2014/main" id="{29FBF5FF-ADB3-4244-1B65-3E41CDFB173C}"/>
              </a:ext>
            </a:extLst>
          </p:cNvPr>
          <p:cNvSpPr>
            <a:spLocks noGrp="1"/>
          </p:cNvSpPr>
          <p:nvPr>
            <p:ph idx="1"/>
          </p:nvPr>
        </p:nvSpPr>
        <p:spPr>
          <a:xfrm>
            <a:off x="410037" y="1443856"/>
            <a:ext cx="6033365" cy="5982168"/>
          </a:xfrm>
          <a:prstGeom prst="rect">
            <a:avLst/>
          </a:prstGeom>
          <a:noFill/>
        </p:spPr>
        <p:txBody>
          <a:bodyPr vert="horz" wrap="square" lIns="86693" tIns="43347" rIns="86693" bIns="43347" rtlCol="0" anchor="t">
            <a:spAutoFit/>
          </a:bodyPr>
          <a:lstStyle/>
          <a:p>
            <a:pPr>
              <a:lnSpc>
                <a:spcPct val="110000"/>
              </a:lnSpc>
              <a:spcAft>
                <a:spcPts val="758"/>
              </a:spcAft>
              <a:buFont typeface="Arial"/>
              <a:buChar char="•"/>
            </a:pPr>
            <a:endParaRPr lang="en-US" sz="3200">
              <a:latin typeface="UGent Panno Text" panose="02000506040000040003" pitchFamily="2" charset="0"/>
              <a:ea typeface="Calibri"/>
              <a:cs typeface="Calibri"/>
            </a:endParaRPr>
          </a:p>
          <a:p>
            <a:pPr>
              <a:lnSpc>
                <a:spcPct val="110000"/>
              </a:lnSpc>
              <a:spcAft>
                <a:spcPts val="758"/>
              </a:spcAft>
              <a:buFont typeface="Arial"/>
              <a:buChar char="•"/>
            </a:pPr>
            <a:r>
              <a:rPr lang="en-US" sz="3200">
                <a:latin typeface="UGent Panno Text" panose="02000506040000040003" pitchFamily="2" charset="0"/>
                <a:ea typeface="Calibri"/>
                <a:cs typeface="Calibri"/>
              </a:rPr>
              <a:t>Register</a:t>
            </a:r>
            <a:r>
              <a:rPr lang="en-US" sz="3200">
                <a:solidFill>
                  <a:srgbClr val="000000"/>
                </a:solidFill>
                <a:latin typeface="UGent Panno Text" panose="02000506040000040003" pitchFamily="2" charset="0"/>
                <a:ea typeface="Calibri"/>
                <a:cs typeface="Calibri"/>
              </a:rPr>
              <a:t> published research datasets </a:t>
            </a:r>
            <a:r>
              <a:rPr lang="en-US" sz="3200">
                <a:latin typeface="UGent Panno Text" panose="02000506040000040003" pitchFamily="2" charset="0"/>
                <a:ea typeface="Calibri"/>
                <a:cs typeface="Calibri"/>
              </a:rPr>
              <a:t>in Biblio</a:t>
            </a:r>
          </a:p>
          <a:p>
            <a:pPr>
              <a:lnSpc>
                <a:spcPct val="110000"/>
              </a:lnSpc>
              <a:spcAft>
                <a:spcPts val="758"/>
              </a:spcAft>
              <a:buFont typeface="Arial"/>
              <a:buChar char="•"/>
            </a:pPr>
            <a:r>
              <a:rPr lang="en-US" sz="3200">
                <a:latin typeface="UGent Panno Text" panose="02000506040000040003" pitchFamily="2" charset="0"/>
                <a:ea typeface="Calibri"/>
                <a:cs typeface="Calibri"/>
              </a:rPr>
              <a:t>Mandatory with new </a:t>
            </a:r>
            <a:br>
              <a:rPr lang="en-US" sz="3200">
                <a:latin typeface="UGent Panno Text" panose="02000506040000040003" pitchFamily="2" charset="0"/>
              </a:rPr>
            </a:br>
            <a:r>
              <a:rPr lang="en-US" sz="3200">
                <a:latin typeface="UGent Panno Text" panose="02000506040000040003" pitchFamily="2" charset="0"/>
                <a:ea typeface="Calibri"/>
                <a:cs typeface="Calibri"/>
              </a:rPr>
              <a:t>UGent policy</a:t>
            </a:r>
            <a:r>
              <a:rPr lang="en-US" sz="3200">
                <a:solidFill>
                  <a:srgbClr val="000000"/>
                </a:solidFill>
                <a:latin typeface="UGent Panno Text" panose="02000506040000040003" pitchFamily="2" charset="0"/>
                <a:ea typeface="Calibri"/>
                <a:cs typeface="Calibri"/>
              </a:rPr>
              <a:t> </a:t>
            </a:r>
            <a:endParaRPr lang="en-US" sz="3200">
              <a:latin typeface="UGent Panno Text" panose="02000506040000040003" pitchFamily="2" charset="0"/>
              <a:ea typeface="Calibri"/>
              <a:cs typeface="Calibri"/>
            </a:endParaRPr>
          </a:p>
          <a:p>
            <a:pPr>
              <a:lnSpc>
                <a:spcPct val="110000"/>
              </a:lnSpc>
              <a:spcAft>
                <a:spcPts val="758"/>
              </a:spcAft>
              <a:buFont typeface="Arial"/>
              <a:buChar char="•"/>
            </a:pPr>
            <a:r>
              <a:rPr lang="en-US" sz="3200">
                <a:latin typeface="UGent Panno Text" panose="02000506040000040003" pitchFamily="2" charset="0"/>
                <a:ea typeface="Calibri"/>
                <a:cs typeface="Calibri"/>
              </a:rPr>
              <a:t>Link your research project</a:t>
            </a:r>
            <a:endParaRPr lang="en-US" sz="6000">
              <a:latin typeface="UGent Panno Text" panose="02000506040000040003" pitchFamily="2" charset="0"/>
            </a:endParaRPr>
          </a:p>
          <a:p>
            <a:pPr>
              <a:lnSpc>
                <a:spcPct val="110000"/>
              </a:lnSpc>
              <a:spcAft>
                <a:spcPts val="758"/>
              </a:spcAft>
              <a:buFont typeface="Arial"/>
              <a:buChar char="•"/>
            </a:pPr>
            <a:r>
              <a:rPr lang="en-US" sz="3200">
                <a:latin typeface="UGent Panno Text" panose="02000506040000040003" pitchFamily="2" charset="0"/>
                <a:ea typeface="Calibri"/>
                <a:cs typeface="Calibri"/>
              </a:rPr>
              <a:t>Enhance findability of </a:t>
            </a:r>
            <a:br>
              <a:rPr lang="en-US" sz="3200">
                <a:latin typeface="UGent Panno Text" panose="02000506040000040003" pitchFamily="2" charset="0"/>
              </a:rPr>
            </a:br>
            <a:r>
              <a:rPr lang="en-US" sz="3200">
                <a:latin typeface="UGent Panno Text" panose="02000506040000040003" pitchFamily="2" charset="0"/>
                <a:ea typeface="Calibri"/>
                <a:cs typeface="Calibri"/>
              </a:rPr>
              <a:t>your research outputs by linking datasets to publications</a:t>
            </a:r>
          </a:p>
          <a:p>
            <a:pPr>
              <a:lnSpc>
                <a:spcPct val="110000"/>
              </a:lnSpc>
              <a:spcAft>
                <a:spcPts val="758"/>
              </a:spcAft>
              <a:buFont typeface="Arial"/>
              <a:buChar char="•"/>
            </a:pPr>
            <a:endParaRPr lang="en-US" sz="3200">
              <a:latin typeface="UGent Panno Text" panose="02000506040000040003" pitchFamily="2" charset="0"/>
              <a:ea typeface="Calibri"/>
              <a:cs typeface="Calibri"/>
            </a:endParaRPr>
          </a:p>
        </p:txBody>
      </p:sp>
      <p:grpSp>
        <p:nvGrpSpPr>
          <p:cNvPr id="3" name="Group 2">
            <a:extLst>
              <a:ext uri="{FF2B5EF4-FFF2-40B4-BE49-F238E27FC236}">
                <a16:creationId xmlns:a16="http://schemas.microsoft.com/office/drawing/2014/main" id="{D4EA2C63-CD48-1014-FAA0-D4F85F7EB8DF}"/>
              </a:ext>
            </a:extLst>
          </p:cNvPr>
          <p:cNvGrpSpPr/>
          <p:nvPr/>
        </p:nvGrpSpPr>
        <p:grpSpPr>
          <a:xfrm>
            <a:off x="6682449" y="2144559"/>
            <a:ext cx="10128960" cy="4481365"/>
            <a:chOff x="6682449" y="2144559"/>
            <a:chExt cx="10128960" cy="4481365"/>
          </a:xfrm>
        </p:grpSpPr>
        <p:pic>
          <p:nvPicPr>
            <p:cNvPr id="6" name="Picture 5" descr="A screenshot of a computer&#10;&#10;Description automatically generated">
              <a:extLst>
                <a:ext uri="{FF2B5EF4-FFF2-40B4-BE49-F238E27FC236}">
                  <a16:creationId xmlns:a16="http://schemas.microsoft.com/office/drawing/2014/main" id="{FF90191D-88E6-3AED-C94B-D12675B81C24}"/>
                </a:ext>
              </a:extLst>
            </p:cNvPr>
            <p:cNvPicPr>
              <a:picLocks noChangeAspect="1"/>
            </p:cNvPicPr>
            <p:nvPr/>
          </p:nvPicPr>
          <p:blipFill>
            <a:blip r:embed="rId3">
              <a:extLst>
                <a:ext uri="{28A0092B-C50C-407E-A947-70E740481C1C}">
                  <a14:useLocalDpi xmlns:a14="http://schemas.microsoft.com/office/drawing/2010/main" val="0"/>
                </a:ext>
              </a:extLst>
            </a:blip>
            <a:srcRect t="8811" r="28585"/>
            <a:stretch/>
          </p:blipFill>
          <p:spPr>
            <a:xfrm>
              <a:off x="6682449" y="3408807"/>
              <a:ext cx="10015618" cy="3217117"/>
            </a:xfrm>
            <a:prstGeom prst="rect">
              <a:avLst/>
            </a:prstGeom>
          </p:spPr>
        </p:pic>
        <p:pic>
          <p:nvPicPr>
            <p:cNvPr id="7" name="Picture 6">
              <a:extLst>
                <a:ext uri="{FF2B5EF4-FFF2-40B4-BE49-F238E27FC236}">
                  <a16:creationId xmlns:a16="http://schemas.microsoft.com/office/drawing/2014/main" id="{EBB3295F-1CD6-EE39-FD2A-D2EBFE7613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82449" y="2144559"/>
              <a:ext cx="10128960" cy="1109808"/>
            </a:xfrm>
            <a:prstGeom prst="rect">
              <a:avLst/>
            </a:prstGeom>
          </p:spPr>
        </p:pic>
      </p:grpSp>
    </p:spTree>
    <p:extLst>
      <p:ext uri="{BB962C8B-B14F-4D97-AF65-F5344CB8AC3E}">
        <p14:creationId xmlns:p14="http://schemas.microsoft.com/office/powerpoint/2010/main" val="3697723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E1D02-20F5-23C9-AACF-75CAE62BD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17C4B-BAE0-0FD1-7020-506AD9C05381}"/>
              </a:ext>
            </a:extLst>
          </p:cNvPr>
          <p:cNvSpPr>
            <a:spLocks noGrp="1"/>
          </p:cNvSpPr>
          <p:nvPr>
            <p:ph type="title"/>
          </p:nvPr>
        </p:nvSpPr>
        <p:spPr>
          <a:xfrm>
            <a:off x="830118" y="136025"/>
            <a:ext cx="16314882" cy="863693"/>
          </a:xfrm>
        </p:spPr>
        <p:txBody>
          <a:bodyPr>
            <a:noAutofit/>
          </a:bodyPr>
          <a:lstStyle/>
          <a:p>
            <a:r>
              <a:rPr lang="en-GB">
                <a:ea typeface="+mj-lt"/>
                <a:cs typeface="+mj-lt"/>
              </a:rPr>
              <a:t>TWO METHODS FOR REGISTRATION OF PUBLISHED RESEARCH DATASETS</a:t>
            </a:r>
            <a:endParaRPr lang="en-US"/>
          </a:p>
        </p:txBody>
      </p:sp>
      <p:sp>
        <p:nvSpPr>
          <p:cNvPr id="5" name="Content Placeholder 2">
            <a:extLst>
              <a:ext uri="{FF2B5EF4-FFF2-40B4-BE49-F238E27FC236}">
                <a16:creationId xmlns:a16="http://schemas.microsoft.com/office/drawing/2014/main" id="{D060D286-DBBE-AA1E-33A8-2A2BD9F63579}"/>
              </a:ext>
            </a:extLst>
          </p:cNvPr>
          <p:cNvSpPr txBox="1">
            <a:spLocks/>
          </p:cNvSpPr>
          <p:nvPr/>
        </p:nvSpPr>
        <p:spPr>
          <a:xfrm>
            <a:off x="732047" y="1579481"/>
            <a:ext cx="5420679" cy="6218780"/>
          </a:xfrm>
          <a:prstGeom prst="rect">
            <a:avLst/>
          </a:prstGeom>
          <a:noFill/>
        </p:spPr>
        <p:txBody>
          <a:bodyPr vert="horz" lIns="86693" tIns="43347" rIns="86693" bIns="43347" rtlCol="0" anchor="t">
            <a:normAutofit/>
          </a:bodyPr>
          <a:lstStyle>
            <a:defPPr>
              <a:defRPr lang="en-US"/>
            </a:defPPr>
            <a:lvl1pPr marL="536575" indent="-450850" algn="l" defTabSz="457200" rtl="0" eaLnBrk="1" latinLnBrk="0" hangingPunct="1">
              <a:lnSpc>
                <a:spcPct val="120000"/>
              </a:lnSpc>
              <a:spcBef>
                <a:spcPts val="0"/>
              </a:spcBef>
              <a:spcAft>
                <a:spcPts val="800"/>
              </a:spcAft>
              <a:buFont typeface="Arial" panose="020B0604020202020204" pitchFamily="34" charset="0"/>
              <a:buChar char="̶"/>
              <a:defRPr sz="4800" kern="1200">
                <a:solidFill>
                  <a:schemeClr val="tx1"/>
                </a:solidFill>
                <a:latin typeface="UGent Panno Text" panose="02000506040000040003" pitchFamily="50" charset="0"/>
                <a:ea typeface="+mn-ea"/>
                <a:cs typeface="+mn-cs"/>
              </a:defRPr>
            </a:lvl1pPr>
            <a:lvl2pPr marL="1169988" indent="-450850" algn="l" defTabSz="457200" rtl="0" eaLnBrk="1" latinLnBrk="0" hangingPunct="1">
              <a:lnSpc>
                <a:spcPct val="120000"/>
              </a:lnSpc>
              <a:spcBef>
                <a:spcPts val="0"/>
              </a:spcBef>
              <a:spcAft>
                <a:spcPts val="800"/>
              </a:spcAft>
              <a:buFont typeface="Arial" panose="020B0604020202020204" pitchFamily="34" charset="0"/>
              <a:buChar char="̶"/>
              <a:tabLst/>
              <a:defRPr sz="4800" kern="1200">
                <a:solidFill>
                  <a:schemeClr val="tx1"/>
                </a:solidFill>
                <a:latin typeface="UGent Panno Text" panose="02000506040000040003" pitchFamily="50" charset="0"/>
                <a:ea typeface="+mn-ea"/>
                <a:cs typeface="+mn-cs"/>
              </a:defRPr>
            </a:lvl2pPr>
            <a:lvl3pPr marL="1755775"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UGent Panno Text" panose="02000506040000040003" pitchFamily="50" charset="0"/>
                <a:ea typeface="+mn-ea"/>
                <a:cs typeface="+mn-cs"/>
              </a:defRPr>
            </a:lvl3pPr>
            <a:lvl4pPr marL="2328863" indent="-550863" algn="l" defTabSz="1912938" rtl="0" eaLnBrk="1" latinLnBrk="0" hangingPunct="1">
              <a:lnSpc>
                <a:spcPct val="120000"/>
              </a:lnSpc>
              <a:spcBef>
                <a:spcPts val="0"/>
              </a:spcBef>
              <a:buFont typeface="Arial" panose="020B0604020202020204" pitchFamily="34" charset="0"/>
              <a:buChar char="–"/>
              <a:tabLst/>
              <a:defRPr sz="4800" kern="1200">
                <a:solidFill>
                  <a:schemeClr val="tx1"/>
                </a:solidFill>
                <a:latin typeface="UGent Panno Text" panose="02000506040000040003" pitchFamily="50" charset="0"/>
                <a:ea typeface="+mn-ea"/>
                <a:cs typeface="+mn-cs"/>
              </a:defRPr>
            </a:lvl4pPr>
            <a:lvl5pPr marL="2962275" indent="-442913"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UGent Panno Text" panose="02000506040000040003" pitchFamily="50" charset="0"/>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800" b="1">
                <a:solidFill>
                  <a:srgbClr val="1E64C8"/>
                </a:solidFill>
                <a:highlight>
                  <a:srgbClr val="FFFFFF"/>
                </a:highlight>
                <a:latin typeface="UGent Panno Text" panose="02000506040000040003" pitchFamily="2" charset="0"/>
                <a:ea typeface="Calibri"/>
                <a:cs typeface="Calibri"/>
              </a:rPr>
              <a:t>Method 1</a:t>
            </a:r>
            <a:r>
              <a:rPr lang="en-US" sz="2800">
                <a:highlight>
                  <a:srgbClr val="FFFFFF"/>
                </a:highlight>
                <a:latin typeface="UGent Panno Text" panose="02000506040000040003" pitchFamily="2" charset="0"/>
                <a:ea typeface="Calibri"/>
                <a:cs typeface="Calibri"/>
              </a:rPr>
              <a:t> (recommended)</a:t>
            </a:r>
            <a:r>
              <a:rPr lang="en-US" sz="2800">
                <a:latin typeface="UGent Panno Text" panose="02000506040000040003" pitchFamily="2" charset="0"/>
                <a:ea typeface="Calibri"/>
                <a:cs typeface="Calibri"/>
              </a:rPr>
              <a:t>: Semi-</a:t>
            </a:r>
            <a:r>
              <a:rPr lang="en-US" sz="2800" b="1">
                <a:latin typeface="UGent Panno Text" panose="02000506040000040003" pitchFamily="2" charset="0"/>
                <a:ea typeface="Calibri"/>
                <a:cs typeface="Calibri"/>
              </a:rPr>
              <a:t>automated </a:t>
            </a:r>
            <a:r>
              <a:rPr lang="en-US" sz="2800">
                <a:latin typeface="UGent Panno Text" panose="02000506040000040003" pitchFamily="2" charset="0"/>
                <a:ea typeface="Calibri"/>
                <a:cs typeface="Calibri"/>
              </a:rPr>
              <a:t>registration using </a:t>
            </a:r>
            <a:r>
              <a:rPr lang="en-US" sz="2800" b="1">
                <a:latin typeface="UGent Panno Text" panose="02000506040000040003" pitchFamily="2" charset="0"/>
                <a:ea typeface="Calibri"/>
                <a:cs typeface="Calibri"/>
              </a:rPr>
              <a:t>DOI </a:t>
            </a:r>
            <a:r>
              <a:rPr lang="en-US" sz="2800">
                <a:latin typeface="UGent Panno Text" panose="02000506040000040003" pitchFamily="2" charset="0"/>
                <a:ea typeface="Calibri"/>
                <a:cs typeface="Calibri"/>
              </a:rPr>
              <a:t>as persistent identifier (demo)</a:t>
            </a:r>
          </a:p>
          <a:p>
            <a:pPr marL="1108964" lvl="1">
              <a:lnSpc>
                <a:spcPct val="110000"/>
              </a:lnSpc>
              <a:buFont typeface="Courier New" panose="020B0604020202020204" pitchFamily="34" charset="0"/>
              <a:buChar char="o"/>
            </a:pPr>
            <a:r>
              <a:rPr lang="en-US" sz="2800">
                <a:latin typeface="UGent Panno Text" panose="02000506040000040003" pitchFamily="2" charset="0"/>
                <a:ea typeface="Calibri"/>
                <a:cs typeface="Calibri"/>
              </a:rPr>
              <a:t>Automated harvesting of </a:t>
            </a:r>
            <a:br>
              <a:rPr lang="en-US" sz="2800">
                <a:latin typeface="UGent Panno Text" panose="02000506040000040003" pitchFamily="2" charset="0"/>
              </a:rPr>
            </a:br>
            <a:r>
              <a:rPr lang="en-US" sz="2800">
                <a:latin typeface="UGent Panno Text" panose="02000506040000040003" pitchFamily="2" charset="0"/>
                <a:ea typeface="Calibri"/>
                <a:cs typeface="Calibri"/>
              </a:rPr>
              <a:t>several metadata fields</a:t>
            </a:r>
          </a:p>
          <a:p>
            <a:pPr marL="1108964" lvl="1">
              <a:lnSpc>
                <a:spcPct val="110000"/>
              </a:lnSpc>
              <a:buFont typeface="Courier New" panose="020B0604020202020204" pitchFamily="34" charset="0"/>
              <a:buChar char="o"/>
            </a:pPr>
            <a:r>
              <a:rPr lang="en-US" sz="2800">
                <a:latin typeface="UGent Panno Text" panose="02000506040000040003" pitchFamily="2" charset="0"/>
                <a:ea typeface="Calibri"/>
                <a:cs typeface="Calibri"/>
              </a:rPr>
              <a:t>Complete/verify metadata</a:t>
            </a:r>
            <a:endParaRPr lang="en-US">
              <a:latin typeface="UGent Panno Text" panose="02000506040000040003" pitchFamily="2" charset="0"/>
              <a:ea typeface="Calibri"/>
              <a:cs typeface="Calibri"/>
            </a:endParaRPr>
          </a:p>
          <a:p>
            <a:pPr>
              <a:lnSpc>
                <a:spcPct val="110000"/>
              </a:lnSpc>
              <a:buFont typeface="Calibri" panose="020B0604020202020204" pitchFamily="34" charset="0"/>
              <a:buChar char="-"/>
            </a:pPr>
            <a:r>
              <a:rPr lang="en-US" sz="2800" b="1">
                <a:solidFill>
                  <a:srgbClr val="1E64C8"/>
                </a:solidFill>
                <a:latin typeface="UGent Panno Text" panose="02000506040000040003" pitchFamily="2" charset="0"/>
                <a:ea typeface="Calibri"/>
                <a:cs typeface="Calibri"/>
              </a:rPr>
              <a:t>Method 2</a:t>
            </a:r>
            <a:r>
              <a:rPr lang="en-US" sz="2800">
                <a:latin typeface="UGent Panno Text" panose="02000506040000040003" pitchFamily="2" charset="0"/>
                <a:ea typeface="Calibri"/>
                <a:cs typeface="Calibri"/>
              </a:rPr>
              <a:t>: </a:t>
            </a:r>
            <a:r>
              <a:rPr lang="en-US" sz="2800" b="1">
                <a:latin typeface="UGent Panno Text" panose="02000506040000040003" pitchFamily="2" charset="0"/>
                <a:ea typeface="Calibri"/>
                <a:cs typeface="Calibri"/>
              </a:rPr>
              <a:t>Manual </a:t>
            </a:r>
            <a:r>
              <a:rPr lang="en-US" sz="2800">
                <a:latin typeface="UGent Panno Text" panose="02000506040000040003" pitchFamily="2" charset="0"/>
                <a:ea typeface="Calibri"/>
                <a:cs typeface="Calibri"/>
              </a:rPr>
              <a:t>registration using an alternative persistent identifier or accession number</a:t>
            </a:r>
          </a:p>
          <a:p>
            <a:pPr marL="1108964" lvl="1">
              <a:lnSpc>
                <a:spcPct val="110000"/>
              </a:lnSpc>
              <a:buFont typeface="Courier New" panose="020B0604020202020204" pitchFamily="34" charset="0"/>
              <a:buChar char="o"/>
            </a:pPr>
            <a:r>
              <a:rPr lang="en-US" sz="2800">
                <a:latin typeface="UGent Panno Text" panose="02000506040000040003" pitchFamily="2" charset="0"/>
                <a:ea typeface="Calibri"/>
                <a:cs typeface="Calibri"/>
              </a:rPr>
              <a:t>Select persistent identifier type and provide identifier of dataset</a:t>
            </a:r>
          </a:p>
          <a:p>
            <a:pPr marL="1108964" lvl="1">
              <a:lnSpc>
                <a:spcPct val="110000"/>
              </a:lnSpc>
              <a:buFont typeface="Courier New" panose="020B0604020202020204" pitchFamily="34" charset="0"/>
              <a:buChar char="o"/>
            </a:pPr>
            <a:r>
              <a:rPr lang="en-US" sz="2800">
                <a:latin typeface="UGent Panno Text" panose="02000506040000040003" pitchFamily="2" charset="0"/>
                <a:ea typeface="Calibri"/>
                <a:cs typeface="Calibri"/>
              </a:rPr>
              <a:t>Complete all metadata manually</a:t>
            </a:r>
            <a:endParaRPr lang="en-US">
              <a:latin typeface="UGent Panno Text" panose="02000506040000040003" pitchFamily="2" charset="0"/>
              <a:ea typeface="Calibri"/>
              <a:cs typeface="Calibri"/>
            </a:endParaRPr>
          </a:p>
        </p:txBody>
      </p:sp>
      <p:sp>
        <p:nvSpPr>
          <p:cNvPr id="6" name="TextBox 5">
            <a:extLst>
              <a:ext uri="{FF2B5EF4-FFF2-40B4-BE49-F238E27FC236}">
                <a16:creationId xmlns:a16="http://schemas.microsoft.com/office/drawing/2014/main" id="{799939DD-E0B7-3136-D572-0BAA14B644D8}"/>
              </a:ext>
            </a:extLst>
          </p:cNvPr>
          <p:cNvSpPr txBox="1"/>
          <p:nvPr/>
        </p:nvSpPr>
        <p:spPr>
          <a:xfrm>
            <a:off x="7086559" y="8851786"/>
            <a:ext cx="7657897" cy="759584"/>
          </a:xfrm>
          <a:prstGeom prst="rect">
            <a:avLst/>
          </a:prstGeom>
          <a:noFill/>
        </p:spPr>
        <p:txBody>
          <a:bodyPr wrap="none" lIns="86693" tIns="43347" rIns="86693" bIns="43347" rtlCol="0" anchor="t">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nSpc>
                <a:spcPct val="120000"/>
              </a:lnSpc>
            </a:pPr>
            <a:r>
              <a:rPr lang="en-BE" sz="1896">
                <a:latin typeface="UGent Panno Text" panose="02000506040000040003" pitchFamily="2" charset="0"/>
                <a:ea typeface="Calibri"/>
                <a:cs typeface="Calibri"/>
              </a:rPr>
              <a:t>👉 </a:t>
            </a:r>
            <a:r>
              <a:rPr lang="en-US" sz="1896">
                <a:latin typeface="UGent Panno Text" panose="02000506040000040003" pitchFamily="2" charset="0"/>
                <a:ea typeface="Calibri"/>
                <a:cs typeface="Calibri"/>
              </a:rPr>
              <a:t>More on </a:t>
            </a:r>
            <a:r>
              <a:rPr lang="en-US" sz="1896">
                <a:latin typeface="UGent Panno Text" panose="02000506040000040003" pitchFamily="2" charset="0"/>
                <a:ea typeface="Calibri"/>
                <a:cs typeface="Calibri"/>
                <a:hlinkClick r:id="rId2"/>
              </a:rPr>
              <a:t>How to register my dataset?</a:t>
            </a:r>
            <a:r>
              <a:rPr lang="en-US" sz="1896">
                <a:latin typeface="UGent Panno Text" panose="02000506040000040003" pitchFamily="2" charset="0"/>
                <a:ea typeface="Calibri"/>
                <a:cs typeface="Calibri"/>
              </a:rPr>
              <a:t>, </a:t>
            </a:r>
            <a:r>
              <a:rPr lang="en-US" sz="1896">
                <a:latin typeface="UGent Panno Text" panose="02000506040000040003" pitchFamily="2" charset="0"/>
                <a:ea typeface="Calibri"/>
                <a:cs typeface="Calibri"/>
                <a:hlinkClick r:id="rId3"/>
              </a:rPr>
              <a:t>Step-by-step registration of published datasets</a:t>
            </a:r>
            <a:r>
              <a:rPr lang="en-US" sz="1896">
                <a:latin typeface="UGent Panno Text" panose="02000506040000040003" pitchFamily="2" charset="0"/>
                <a:ea typeface="Calibri"/>
                <a:cs typeface="Calibri"/>
              </a:rPr>
              <a:t> </a:t>
            </a:r>
          </a:p>
          <a:p>
            <a:pPr>
              <a:lnSpc>
                <a:spcPct val="120000"/>
              </a:lnSpc>
            </a:pPr>
            <a:r>
              <a:rPr lang="en-US" sz="1896">
                <a:latin typeface="UGent Panno Text" panose="02000506040000040003" pitchFamily="2" charset="0"/>
                <a:ea typeface="Calibri"/>
                <a:cs typeface="Calibri"/>
              </a:rPr>
              <a:t>and </a:t>
            </a:r>
            <a:r>
              <a:rPr lang="en-US" sz="1896">
                <a:latin typeface="UGent Panno Text" panose="02000506040000040003" pitchFamily="2" charset="0"/>
                <a:ea typeface="+mn-lt"/>
                <a:cs typeface="+mn-lt"/>
                <a:hlinkClick r:id="rId4"/>
              </a:rPr>
              <a:t>PID: What is a persistent identifier for publications and datasets?</a:t>
            </a:r>
            <a:endParaRPr lang="en-US" sz="1896">
              <a:latin typeface="UGent Panno Text" panose="02000506040000040003" pitchFamily="2" charset="0"/>
              <a:ea typeface="Calibri"/>
              <a:cs typeface="Arial"/>
            </a:endParaRPr>
          </a:p>
        </p:txBody>
      </p:sp>
      <p:grpSp>
        <p:nvGrpSpPr>
          <p:cNvPr id="3" name="Group 2">
            <a:extLst>
              <a:ext uri="{FF2B5EF4-FFF2-40B4-BE49-F238E27FC236}">
                <a16:creationId xmlns:a16="http://schemas.microsoft.com/office/drawing/2014/main" id="{376C4E09-295A-1BD6-31DA-1B9159D1C997}"/>
              </a:ext>
            </a:extLst>
          </p:cNvPr>
          <p:cNvGrpSpPr/>
          <p:nvPr/>
        </p:nvGrpSpPr>
        <p:grpSpPr>
          <a:xfrm>
            <a:off x="6721842" y="1832264"/>
            <a:ext cx="10128960" cy="4452612"/>
            <a:chOff x="6591010" y="2733964"/>
            <a:chExt cx="10128960" cy="4452612"/>
          </a:xfrm>
        </p:grpSpPr>
        <p:pic>
          <p:nvPicPr>
            <p:cNvPr id="4" name="Picture 3" descr="A screenshot of a computer&#10;&#10;Description automatically generated">
              <a:extLst>
                <a:ext uri="{FF2B5EF4-FFF2-40B4-BE49-F238E27FC236}">
                  <a16:creationId xmlns:a16="http://schemas.microsoft.com/office/drawing/2014/main" id="{7F507DA5-0822-F2D2-7C6C-65995F4ED086}"/>
                </a:ext>
              </a:extLst>
            </p:cNvPr>
            <p:cNvPicPr>
              <a:picLocks noChangeAspect="1"/>
            </p:cNvPicPr>
            <p:nvPr/>
          </p:nvPicPr>
          <p:blipFill>
            <a:blip r:embed="rId5">
              <a:extLst>
                <a:ext uri="{28A0092B-C50C-407E-A947-70E740481C1C}">
                  <a14:useLocalDpi xmlns:a14="http://schemas.microsoft.com/office/drawing/2010/main" val="0"/>
                </a:ext>
              </a:extLst>
            </a:blip>
            <a:srcRect t="8811" r="28585"/>
            <a:stretch/>
          </p:blipFill>
          <p:spPr>
            <a:xfrm>
              <a:off x="6591010" y="3969459"/>
              <a:ext cx="10015618" cy="3217117"/>
            </a:xfrm>
            <a:prstGeom prst="rect">
              <a:avLst/>
            </a:prstGeom>
          </p:spPr>
        </p:pic>
        <p:pic>
          <p:nvPicPr>
            <p:cNvPr id="7" name="Picture 6">
              <a:extLst>
                <a:ext uri="{FF2B5EF4-FFF2-40B4-BE49-F238E27FC236}">
                  <a16:creationId xmlns:a16="http://schemas.microsoft.com/office/drawing/2014/main" id="{791F2DAF-5313-999F-10EF-621ECFB4D8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91010" y="2733964"/>
              <a:ext cx="10128960" cy="1109808"/>
            </a:xfrm>
            <a:prstGeom prst="rect">
              <a:avLst/>
            </a:prstGeom>
          </p:spPr>
        </p:pic>
      </p:grpSp>
    </p:spTree>
    <p:extLst>
      <p:ext uri="{BB962C8B-B14F-4D97-AF65-F5344CB8AC3E}">
        <p14:creationId xmlns:p14="http://schemas.microsoft.com/office/powerpoint/2010/main" val="121542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87EE2-B723-8C4B-C411-35579B059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020C4-8CCC-7F28-BE8B-3639A1A02599}"/>
              </a:ext>
            </a:extLst>
          </p:cNvPr>
          <p:cNvSpPr>
            <a:spLocks noGrp="1"/>
          </p:cNvSpPr>
          <p:nvPr>
            <p:ph type="title"/>
          </p:nvPr>
        </p:nvSpPr>
        <p:spPr/>
        <p:txBody>
          <a:bodyPr>
            <a:normAutofit/>
          </a:bodyPr>
          <a:lstStyle/>
          <a:p>
            <a:r>
              <a:rPr lang="en-US"/>
              <a:t>LIFE SCIENCES DATASETS OFTEN DO NOT HAVE A DOI</a:t>
            </a:r>
          </a:p>
        </p:txBody>
      </p:sp>
      <p:pic>
        <p:nvPicPr>
          <p:cNvPr id="4" name="Picture 3">
            <a:extLst>
              <a:ext uri="{FF2B5EF4-FFF2-40B4-BE49-F238E27FC236}">
                <a16:creationId xmlns:a16="http://schemas.microsoft.com/office/drawing/2014/main" id="{736822E9-A71E-4FCE-EF1B-F199D13C9459}"/>
              </a:ext>
            </a:extLst>
          </p:cNvPr>
          <p:cNvPicPr>
            <a:picLocks noChangeAspect="1"/>
          </p:cNvPicPr>
          <p:nvPr/>
        </p:nvPicPr>
        <p:blipFill>
          <a:blip r:embed="rId2"/>
          <a:srcRect t="1" b="-4342"/>
          <a:stretch/>
        </p:blipFill>
        <p:spPr>
          <a:xfrm>
            <a:off x="8197265" y="1941247"/>
            <a:ext cx="8950533" cy="4931374"/>
          </a:xfrm>
          <a:prstGeom prst="rect">
            <a:avLst/>
          </a:prstGeom>
        </p:spPr>
      </p:pic>
      <p:pic>
        <p:nvPicPr>
          <p:cNvPr id="11" name="Picture 10">
            <a:extLst>
              <a:ext uri="{FF2B5EF4-FFF2-40B4-BE49-F238E27FC236}">
                <a16:creationId xmlns:a16="http://schemas.microsoft.com/office/drawing/2014/main" id="{CE25A530-C363-0B18-0E9B-BC553C78C9E9}"/>
              </a:ext>
            </a:extLst>
          </p:cNvPr>
          <p:cNvPicPr>
            <a:picLocks noChangeAspect="1"/>
          </p:cNvPicPr>
          <p:nvPr/>
        </p:nvPicPr>
        <p:blipFill>
          <a:blip r:embed="rId3"/>
          <a:stretch>
            <a:fillRect/>
          </a:stretch>
        </p:blipFill>
        <p:spPr>
          <a:xfrm>
            <a:off x="637187" y="1941247"/>
            <a:ext cx="7330954" cy="4774996"/>
          </a:xfrm>
          <a:prstGeom prst="rect">
            <a:avLst/>
          </a:prstGeom>
        </p:spPr>
      </p:pic>
    </p:spTree>
    <p:extLst>
      <p:ext uri="{BB962C8B-B14F-4D97-AF65-F5344CB8AC3E}">
        <p14:creationId xmlns:p14="http://schemas.microsoft.com/office/powerpoint/2010/main" val="860270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9399E-A1F7-5D4F-32A9-76B3F3D42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1173E-BFDF-9144-0AD5-9ED45E404A39}"/>
              </a:ext>
            </a:extLst>
          </p:cNvPr>
          <p:cNvSpPr>
            <a:spLocks noGrp="1"/>
          </p:cNvSpPr>
          <p:nvPr>
            <p:ph type="title"/>
          </p:nvPr>
        </p:nvSpPr>
        <p:spPr/>
        <p:txBody>
          <a:bodyPr>
            <a:noAutofit/>
          </a:bodyPr>
          <a:lstStyle/>
          <a:p>
            <a:r>
              <a:rPr lang="en-GB" sz="5120">
                <a:ea typeface="+mj-lt"/>
                <a:cs typeface="+mj-lt"/>
              </a:rPr>
              <a:t>MANUAL REGISTRATION OF LIFE SCIENCES DATASETS</a:t>
            </a:r>
            <a:br>
              <a:rPr lang="en-GB" sz="5120">
                <a:ea typeface="+mj-lt"/>
                <a:cs typeface="+mj-lt"/>
              </a:rPr>
            </a:br>
            <a:r>
              <a:rPr lang="en-GB" sz="3792">
                <a:ea typeface="+mj-lt"/>
                <a:cs typeface="+mj-lt"/>
              </a:rPr>
              <a:t>PERSISTENT IDENTIFIERS OR ACCESSION NUMBERS OTHER THAN DOI</a:t>
            </a:r>
            <a:endParaRPr lang="en-US" sz="5120"/>
          </a:p>
        </p:txBody>
      </p:sp>
      <p:sp>
        <p:nvSpPr>
          <p:cNvPr id="4" name="TextBox 5">
            <a:extLst>
              <a:ext uri="{FF2B5EF4-FFF2-40B4-BE49-F238E27FC236}">
                <a16:creationId xmlns:a16="http://schemas.microsoft.com/office/drawing/2014/main" id="{4CA728F9-A99C-9309-74CF-8323C6BE1543}"/>
              </a:ext>
            </a:extLst>
          </p:cNvPr>
          <p:cNvSpPr txBox="1"/>
          <p:nvPr/>
        </p:nvSpPr>
        <p:spPr>
          <a:xfrm>
            <a:off x="7122120" y="8851786"/>
            <a:ext cx="7657897" cy="759584"/>
          </a:xfrm>
          <a:prstGeom prst="rect">
            <a:avLst/>
          </a:prstGeom>
          <a:noFill/>
        </p:spPr>
        <p:txBody>
          <a:bodyPr wrap="none" lIns="86693" tIns="43347" rIns="86693" bIns="43347" rtlCol="0" anchor="t">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nSpc>
                <a:spcPct val="120000"/>
              </a:lnSpc>
            </a:pPr>
            <a:r>
              <a:rPr lang="en-BE" sz="1896">
                <a:latin typeface="UGent Panno Text" panose="02000506040000040003" pitchFamily="2" charset="0"/>
                <a:ea typeface="Calibri"/>
                <a:cs typeface="Calibri"/>
              </a:rPr>
              <a:t>👉 </a:t>
            </a:r>
            <a:r>
              <a:rPr lang="en-US" sz="1896">
                <a:latin typeface="UGent Panno Text" panose="02000506040000040003" pitchFamily="2" charset="0"/>
                <a:ea typeface="Calibri"/>
                <a:cs typeface="Calibri"/>
              </a:rPr>
              <a:t>More on </a:t>
            </a:r>
            <a:r>
              <a:rPr lang="en-US" sz="1896">
                <a:latin typeface="UGent Panno Text" panose="02000506040000040003" pitchFamily="2" charset="0"/>
                <a:ea typeface="Calibri"/>
                <a:cs typeface="Calibri"/>
                <a:hlinkClick r:id="rId2"/>
              </a:rPr>
              <a:t>How to register my dataset?</a:t>
            </a:r>
            <a:r>
              <a:rPr lang="en-US" sz="1896">
                <a:latin typeface="UGent Panno Text" panose="02000506040000040003" pitchFamily="2" charset="0"/>
                <a:ea typeface="Calibri"/>
                <a:cs typeface="Calibri"/>
              </a:rPr>
              <a:t>, </a:t>
            </a:r>
            <a:r>
              <a:rPr lang="en-US" sz="1896">
                <a:latin typeface="UGent Panno Text" panose="02000506040000040003" pitchFamily="2" charset="0"/>
                <a:ea typeface="Calibri"/>
                <a:cs typeface="Calibri"/>
                <a:hlinkClick r:id="rId3"/>
              </a:rPr>
              <a:t>Step-by-step registration of published datasets</a:t>
            </a:r>
            <a:r>
              <a:rPr lang="en-US" sz="1896">
                <a:latin typeface="UGent Panno Text" panose="02000506040000040003" pitchFamily="2" charset="0"/>
                <a:ea typeface="Calibri"/>
                <a:cs typeface="Calibri"/>
              </a:rPr>
              <a:t> </a:t>
            </a:r>
          </a:p>
          <a:p>
            <a:pPr>
              <a:lnSpc>
                <a:spcPct val="120000"/>
              </a:lnSpc>
            </a:pPr>
            <a:r>
              <a:rPr lang="en-US" sz="1896">
                <a:latin typeface="UGent Panno Text" panose="02000506040000040003" pitchFamily="2" charset="0"/>
                <a:ea typeface="Calibri"/>
                <a:cs typeface="Calibri"/>
              </a:rPr>
              <a:t>and </a:t>
            </a:r>
            <a:r>
              <a:rPr lang="en-US" sz="1896">
                <a:latin typeface="UGent Panno Text" panose="02000506040000040003" pitchFamily="2" charset="0"/>
                <a:ea typeface="+mn-lt"/>
                <a:cs typeface="+mn-lt"/>
                <a:hlinkClick r:id="rId4"/>
              </a:rPr>
              <a:t>PID: What is a persistent identifier for publications and datasets?</a:t>
            </a:r>
            <a:endParaRPr lang="en-US" sz="1896">
              <a:latin typeface="UGent Panno Text" panose="02000506040000040003" pitchFamily="2" charset="0"/>
              <a:ea typeface="Calibri"/>
              <a:cs typeface="Arial"/>
            </a:endParaRPr>
          </a:p>
        </p:txBody>
      </p:sp>
      <p:pic>
        <p:nvPicPr>
          <p:cNvPr id="5" name="Picture 4" descr="A screenshot of a computer&#10;&#10;Description automatically generated">
            <a:extLst>
              <a:ext uri="{FF2B5EF4-FFF2-40B4-BE49-F238E27FC236}">
                <a16:creationId xmlns:a16="http://schemas.microsoft.com/office/drawing/2014/main" id="{C664FAB4-3F23-6469-DA4D-5DC626CED5FE}"/>
              </a:ext>
            </a:extLst>
          </p:cNvPr>
          <p:cNvPicPr>
            <a:picLocks noChangeAspect="1"/>
          </p:cNvPicPr>
          <p:nvPr/>
        </p:nvPicPr>
        <p:blipFill>
          <a:blip r:embed="rId5"/>
          <a:stretch>
            <a:fillRect/>
          </a:stretch>
        </p:blipFill>
        <p:spPr>
          <a:xfrm>
            <a:off x="1884507" y="2404686"/>
            <a:ext cx="13283383" cy="5900689"/>
          </a:xfrm>
          <a:prstGeom prst="rect">
            <a:avLst/>
          </a:prstGeom>
        </p:spPr>
      </p:pic>
      <p:sp>
        <p:nvSpPr>
          <p:cNvPr id="6" name="TextBox 2">
            <a:extLst>
              <a:ext uri="{FF2B5EF4-FFF2-40B4-BE49-F238E27FC236}">
                <a16:creationId xmlns:a16="http://schemas.microsoft.com/office/drawing/2014/main" id="{90A03AD1-D665-F026-1D6F-2DB4284611E9}"/>
              </a:ext>
            </a:extLst>
          </p:cNvPr>
          <p:cNvSpPr txBox="1"/>
          <p:nvPr/>
        </p:nvSpPr>
        <p:spPr>
          <a:xfrm>
            <a:off x="11088780" y="4429810"/>
            <a:ext cx="5589644" cy="893980"/>
          </a:xfrm>
          <a:prstGeom prst="rect">
            <a:avLst/>
          </a:prstGeom>
          <a:solidFill>
            <a:schemeClr val="bg1"/>
          </a:solidFill>
          <a:ln>
            <a:solidFill>
              <a:schemeClr val="tx1"/>
            </a:solidFill>
          </a:ln>
        </p:spPr>
        <p:txBody>
          <a:bodyPr rot="0" spcFirstLastPara="0" vert="horz" wrap="square" lIns="86693" tIns="43347" rIns="86693" bIns="43347" numCol="1" spcCol="0" rtlCol="0" fromWordArt="0" anchor="t" anchorCtr="0" forceAA="0" compatLnSpc="1">
            <a:prstTxWarp prst="textNoShape">
              <a:avLst/>
            </a:prstTxWarp>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nSpc>
                <a:spcPct val="120000"/>
              </a:lnSpc>
            </a:pPr>
            <a:r>
              <a:rPr lang="en-GB" sz="2275">
                <a:latin typeface="UGent Panno Text" panose="02000506040000040003" pitchFamily="2" charset="0"/>
                <a:ea typeface="Calibri"/>
                <a:cs typeface="Arial"/>
              </a:rPr>
              <a:t>If your persistent identifier </a:t>
            </a:r>
            <a:r>
              <a:rPr lang="en-GB" sz="2275">
                <a:latin typeface="UGent Panno Text" panose="02000506040000040003" pitchFamily="2" charset="0"/>
                <a:ea typeface="+mn-lt"/>
                <a:cs typeface="+mn-lt"/>
              </a:rPr>
              <a:t>type is not available yet, contact the Data Curators at </a:t>
            </a:r>
            <a:r>
              <a:rPr lang="en-GB" sz="2275">
                <a:latin typeface="UGent Panno Text" panose="02000506040000040003" pitchFamily="2" charset="0"/>
                <a:ea typeface="+mn-lt"/>
                <a:cs typeface="+mn-lt"/>
                <a:hlinkClick r:id="rId6"/>
              </a:rPr>
              <a:t>rdm.support@ugent.be</a:t>
            </a:r>
            <a:r>
              <a:rPr lang="en-GB" sz="2275">
                <a:latin typeface="UGent Panno Text" panose="02000506040000040003" pitchFamily="2" charset="0"/>
                <a:ea typeface="Calibri"/>
                <a:cs typeface="Arial"/>
              </a:rPr>
              <a:t>.</a:t>
            </a:r>
          </a:p>
        </p:txBody>
      </p:sp>
    </p:spTree>
    <p:extLst>
      <p:ext uri="{BB962C8B-B14F-4D97-AF65-F5344CB8AC3E}">
        <p14:creationId xmlns:p14="http://schemas.microsoft.com/office/powerpoint/2010/main" val="19451661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D43A558-F478-A0B5-B0AF-49F83C49C29D}"/>
              </a:ext>
            </a:extLst>
          </p:cNvPr>
          <p:cNvSpPr/>
          <p:nvPr/>
        </p:nvSpPr>
        <p:spPr>
          <a:xfrm>
            <a:off x="-1" y="298"/>
            <a:ext cx="17338675" cy="97530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endParaRPr lang="en-BE" sz="3641"/>
          </a:p>
        </p:txBody>
      </p:sp>
      <p:pic>
        <p:nvPicPr>
          <p:cNvPr id="10" name="Graphic 9">
            <a:extLst>
              <a:ext uri="{FF2B5EF4-FFF2-40B4-BE49-F238E27FC236}">
                <a16:creationId xmlns:a16="http://schemas.microsoft.com/office/drawing/2014/main" id="{C80D94B6-36CB-6CDE-7F51-8955AA53D8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2" y="3294646"/>
            <a:ext cx="17438699" cy="6448938"/>
          </a:xfrm>
          <a:prstGeom prst="rect">
            <a:avLst/>
          </a:prstGeom>
        </p:spPr>
      </p:pic>
      <p:sp>
        <p:nvSpPr>
          <p:cNvPr id="2" name="Title 1">
            <a:extLst>
              <a:ext uri="{FF2B5EF4-FFF2-40B4-BE49-F238E27FC236}">
                <a16:creationId xmlns:a16="http://schemas.microsoft.com/office/drawing/2014/main" id="{FC73DFA2-1FE9-EFCD-097A-988BBD0420BA}"/>
              </a:ext>
            </a:extLst>
          </p:cNvPr>
          <p:cNvSpPr>
            <a:spLocks noGrp="1"/>
          </p:cNvSpPr>
          <p:nvPr>
            <p:ph type="title"/>
          </p:nvPr>
        </p:nvSpPr>
        <p:spPr>
          <a:xfrm>
            <a:off x="8567506" y="6979115"/>
            <a:ext cx="7986713" cy="1264689"/>
          </a:xfrm>
        </p:spPr>
        <p:txBody>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r"/>
            <a:r>
              <a:rPr lang="en-US"/>
              <a:t>Break</a:t>
            </a:r>
            <a:endParaRPr lang="en-BE"/>
          </a:p>
        </p:txBody>
      </p:sp>
      <p:sp>
        <p:nvSpPr>
          <p:cNvPr id="5" name="Text Placeholder 4">
            <a:extLst>
              <a:ext uri="{FF2B5EF4-FFF2-40B4-BE49-F238E27FC236}">
                <a16:creationId xmlns:a16="http://schemas.microsoft.com/office/drawing/2014/main" id="{BE3A6597-37F8-D622-CEC5-E39A199FDE79}"/>
              </a:ext>
            </a:extLst>
          </p:cNvPr>
          <p:cNvSpPr>
            <a:spLocks noGrp="1"/>
          </p:cNvSpPr>
          <p:nvPr>
            <p:ph type="body" sz="quarter" idx="14"/>
          </p:nvPr>
        </p:nvSpPr>
        <p:spPr>
          <a:xfrm>
            <a:off x="8567508" y="8387865"/>
            <a:ext cx="7987768" cy="988846"/>
          </a:xfrm>
        </p:spPr>
        <p:txBody>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r"/>
            <a:r>
              <a:rPr lang="en-US"/>
              <a:t>Disconnect for 10 mins</a:t>
            </a:r>
            <a:endParaRPr lang="en-BE"/>
          </a:p>
        </p:txBody>
      </p:sp>
    </p:spTree>
    <p:extLst>
      <p:ext uri="{BB962C8B-B14F-4D97-AF65-F5344CB8AC3E}">
        <p14:creationId xmlns:p14="http://schemas.microsoft.com/office/powerpoint/2010/main" val="1868282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3500">
                <a:latin typeface="UGent Panno Text"/>
              </a:rPr>
              <a:t>UGent Data Stewards</a:t>
            </a:r>
            <a:br>
              <a:rPr lang="en-GB"/>
            </a:br>
            <a:br>
              <a:rPr lang="en-GB"/>
            </a:br>
            <a:r>
              <a:rPr lang="en-GB">
                <a:uFill>
                  <a:solidFill>
                    <a:prstClr val="white"/>
                  </a:solidFill>
                </a:uFill>
                <a:latin typeface="UGent Panno Text"/>
              </a:rPr>
              <a:t>UNIVERSITY SERVICES – RESEARCH </a:t>
            </a:r>
            <a:br>
              <a:rPr lang="en-GB">
                <a:latin typeface="UGent Panno Text"/>
              </a:rPr>
            </a:br>
            <a:r>
              <a:rPr lang="en-GB">
                <a:latin typeface="UGent Panno Text"/>
              </a:rPr>
              <a:t>TEAM </a:t>
            </a:r>
            <a:r>
              <a:rPr lang="en-GB" cap="all" err="1">
                <a:uFill>
                  <a:solidFill>
                    <a:prstClr val="white"/>
                  </a:solidFill>
                </a:uFill>
                <a:latin typeface="UGent Panno Text"/>
              </a:rPr>
              <a:t>OPen</a:t>
            </a:r>
            <a:r>
              <a:rPr lang="en-GB" cap="all">
                <a:uFill>
                  <a:solidFill>
                    <a:prstClr val="white"/>
                  </a:solidFill>
                </a:uFill>
                <a:latin typeface="UGent Panno Text"/>
              </a:rPr>
              <a:t> Science </a:t>
            </a:r>
            <a:br>
              <a:rPr lang="en-GB" cap="all"/>
            </a:br>
            <a:br>
              <a:rPr lang="en-GB">
                <a:latin typeface="UGent Panno Text"/>
              </a:rPr>
            </a:br>
            <a:br>
              <a:rPr lang="en-GB"/>
            </a:br>
            <a:br>
              <a:rPr lang="en-GB"/>
            </a:br>
            <a:endParaRPr lang="en-GB">
              <a:uFill>
                <a:solidFill>
                  <a:prstClr val="white"/>
                </a:solidFill>
              </a:uFill>
            </a:endParaRPr>
          </a:p>
        </p:txBody>
      </p:sp>
      <p:sp>
        <p:nvSpPr>
          <p:cNvPr id="16" name="Tijdelijke aanduiding voor tekst 3">
            <a:extLst>
              <a:ext uri="{FF2B5EF4-FFF2-40B4-BE49-F238E27FC236}">
                <a16:creationId xmlns:a16="http://schemas.microsoft.com/office/drawing/2014/main" id="{12138BDE-24CF-164D-AEA4-B8A749842885}"/>
              </a:ext>
            </a:extLst>
          </p:cNvPr>
          <p:cNvSpPr>
            <a:spLocks noGrp="1"/>
          </p:cNvSpPr>
          <p:nvPr>
            <p:ph type="body" sz="quarter" idx="10"/>
          </p:nvPr>
        </p:nvSpPr>
        <p:spPr>
          <a:xfrm>
            <a:off x="9215999" y="3095999"/>
            <a:ext cx="7257600" cy="2628396"/>
          </a:xfrm>
        </p:spPr>
        <p:txBody>
          <a:bodyPr vert="horz" lIns="91440" tIns="45720" rIns="91440" bIns="45720" rtlCol="0" anchor="t">
            <a:normAutofit/>
          </a:bodyPr>
          <a:lstStyle/>
          <a:p>
            <a:r>
              <a:rPr lang="nl-NL">
                <a:latin typeface="UGent Panno Text"/>
              </a:rPr>
              <a:t>openscience@ugent.be / rdm.support@ugent.be / biblio@ugent.be</a:t>
            </a:r>
            <a:br>
              <a:rPr lang="nl-NL"/>
            </a:br>
            <a:r>
              <a:rPr lang="nl-NL">
                <a:latin typeface="UGent Panno Text"/>
              </a:rPr>
              <a:t>@ugentopenscience.bsky.social</a:t>
            </a:r>
          </a:p>
          <a:p>
            <a:r>
              <a:rPr lang="nl-NL">
                <a:latin typeface="UGent Panno Text"/>
                <a:cs typeface="Calibri"/>
                <a:hlinkClick r:id="rId2">
                  <a:extLst>
                    <a:ext uri="{A12FA001-AC4F-418D-AE19-62706E023703}">
                      <ahyp:hlinkClr xmlns:ahyp="http://schemas.microsoft.com/office/drawing/2018/hyperlinkcolor" val="tx"/>
                    </a:ext>
                  </a:extLst>
                </a:hlinkClick>
              </a:rPr>
              <a:t>boekentoren.gent/UGent_OS</a:t>
            </a:r>
            <a:br>
              <a:rPr lang="nl-NL"/>
            </a:br>
            <a:r>
              <a:rPr lang="da-DK">
                <a:latin typeface="UGent Panno Text"/>
                <a:hlinkClick r:id="rId3">
                  <a:extLst>
                    <a:ext uri="{A12FA001-AC4F-418D-AE19-62706E023703}">
                      <ahyp:hlinkClr xmlns:ahyp="http://schemas.microsoft.com/office/drawing/2018/hyperlinkcolor" val="tx"/>
                    </a:ext>
                  </a:extLst>
                </a:hlinkClick>
              </a:rPr>
              <a:t>ugentbe.sharepoint.com/UGent_OS_training</a:t>
            </a:r>
            <a:endParaRPr lang="da-DK">
              <a:hlinkClick r:id="" action="ppaction://noaction">
                <a:extLst>
                  <a:ext uri="{A12FA001-AC4F-418D-AE19-62706E023703}">
                    <ahyp:hlinkClr xmlns:ahyp="http://schemas.microsoft.com/office/drawing/2018/hyperlinkcolor" val="tx"/>
                  </a:ext>
                </a:extLst>
              </a:hlinkClick>
            </a:endParaRPr>
          </a:p>
          <a:p>
            <a:r>
              <a:rPr lang="nl-NL">
                <a:latin typeface="UGent Panno Text"/>
                <a:hlinkClick r:id="rId4">
                  <a:extLst>
                    <a:ext uri="{A12FA001-AC4F-418D-AE19-62706E023703}">
                      <ahyp:hlinkClr xmlns:ahyp="http://schemas.microsoft.com/office/drawing/2018/hyperlinkcolor" val="tx"/>
                    </a:ext>
                  </a:extLst>
                </a:hlinkClick>
              </a:rPr>
              <a:t>youtube.com/UGent_OS</a:t>
            </a:r>
          </a:p>
        </p:txBody>
      </p:sp>
      <p:pic>
        <p:nvPicPr>
          <p:cNvPr id="17" name="Graphic 16" descr="Email with solid fill">
            <a:extLst>
              <a:ext uri="{FF2B5EF4-FFF2-40B4-BE49-F238E27FC236}">
                <a16:creationId xmlns:a16="http://schemas.microsoft.com/office/drawing/2014/main" id="{35FD2734-14CA-6599-5E9F-6B2AF8D839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52559" y="3120220"/>
            <a:ext cx="396000" cy="396000"/>
          </a:xfrm>
          <a:prstGeom prst="rect">
            <a:avLst/>
          </a:prstGeom>
        </p:spPr>
      </p:pic>
      <p:pic>
        <p:nvPicPr>
          <p:cNvPr id="18" name="Graphic 17" descr="Internet with solid fill">
            <a:extLst>
              <a:ext uri="{FF2B5EF4-FFF2-40B4-BE49-F238E27FC236}">
                <a16:creationId xmlns:a16="http://schemas.microsoft.com/office/drawing/2014/main" id="{D12AB0A7-CFB0-2313-EBB2-A18CEEA65F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4559" y="4038945"/>
            <a:ext cx="432000" cy="432000"/>
          </a:xfrm>
          <a:prstGeom prst="rect">
            <a:avLst/>
          </a:prstGeom>
        </p:spPr>
      </p:pic>
      <p:pic>
        <p:nvPicPr>
          <p:cNvPr id="20" name="Graphic 19" descr="Presentation with pie chart">
            <a:extLst>
              <a:ext uri="{FF2B5EF4-FFF2-40B4-BE49-F238E27FC236}">
                <a16:creationId xmlns:a16="http://schemas.microsoft.com/office/drawing/2014/main" id="{BCD8671D-2C89-0BE2-FF03-C74E36E0228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29217" y="4522357"/>
            <a:ext cx="432000" cy="432000"/>
          </a:xfrm>
          <a:prstGeom prst="rect">
            <a:avLst/>
          </a:prstGeom>
        </p:spPr>
      </p:pic>
      <p:pic>
        <p:nvPicPr>
          <p:cNvPr id="21" name="Graphic 20">
            <a:extLst>
              <a:ext uri="{FF2B5EF4-FFF2-40B4-BE49-F238E27FC236}">
                <a16:creationId xmlns:a16="http://schemas.microsoft.com/office/drawing/2014/main" id="{F03EF252-0B33-05A7-4920-D02922E7049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88559" y="4990791"/>
            <a:ext cx="360000" cy="360000"/>
          </a:xfrm>
          <a:prstGeom prst="rect">
            <a:avLst/>
          </a:prstGeom>
        </p:spPr>
      </p:pic>
      <p:pic>
        <p:nvPicPr>
          <p:cNvPr id="22" name="Graphic 21">
            <a:extLst>
              <a:ext uri="{FF2B5EF4-FFF2-40B4-BE49-F238E27FC236}">
                <a16:creationId xmlns:a16="http://schemas.microsoft.com/office/drawing/2014/main" id="{CEAB6A04-E26B-4097-03A0-12EC68DDC5B7}"/>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flipH="1">
            <a:off x="8673213" y="3602919"/>
            <a:ext cx="402772" cy="434942"/>
          </a:xfrm>
          <a:prstGeom prst="rect">
            <a:avLst/>
          </a:prstGeom>
        </p:spPr>
      </p:pic>
    </p:spTree>
    <p:extLst>
      <p:ext uri="{BB962C8B-B14F-4D97-AF65-F5344CB8AC3E}">
        <p14:creationId xmlns:p14="http://schemas.microsoft.com/office/powerpoint/2010/main" val="3871603740"/>
      </p:ext>
    </p:extLst>
  </p:cSld>
  <p:clrMapOvr>
    <a:masterClrMapping/>
  </p:clrMapOvr>
</p:sld>
</file>

<file path=ppt/theme/theme1.xml><?xml version="1.0" encoding="utf-8"?>
<a:theme xmlns:a="http://schemas.openxmlformats.org/drawingml/2006/main" name="Office Theme">
  <a:themeElements>
    <a:clrScheme name="UGent Corporate">
      <a:dk1>
        <a:sysClr val="windowText" lastClr="000000"/>
      </a:dk1>
      <a:lt1>
        <a:sysClr val="window" lastClr="FFFFFF"/>
      </a:lt1>
      <a:dk2>
        <a:srgbClr val="1E64C8"/>
      </a:dk2>
      <a:lt2>
        <a:srgbClr val="E9F0FA"/>
      </a:lt2>
      <a:accent1>
        <a:srgbClr val="1E64C8"/>
      </a:accent1>
      <a:accent2>
        <a:srgbClr val="FFD200"/>
      </a:accent2>
      <a:accent3>
        <a:srgbClr val="3574CE"/>
      </a:accent3>
      <a:accent4>
        <a:srgbClr val="4B83D3"/>
      </a:accent4>
      <a:accent5>
        <a:srgbClr val="6293D9"/>
      </a:accent5>
      <a:accent6>
        <a:srgbClr val="78A2DE"/>
      </a:accent6>
      <a:hlink>
        <a:srgbClr val="1E64C8"/>
      </a:hlink>
      <a:folHlink>
        <a:srgbClr val="3574CE"/>
      </a:folHlink>
    </a:clrScheme>
    <a:fontScheme name="Universiteit Ge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1E64C8"/>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0">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342900" indent="-342900" algn="l">
          <a:lnSpc>
            <a:spcPct val="120000"/>
          </a:lnSpc>
          <a:buFont typeface="Arial" panose="020B0604020202020204" pitchFamily="34" charset="0"/>
          <a:buChar char="–"/>
          <a:defRPr sz="2500" smtClean="0"/>
        </a:defPPr>
      </a:lstStyle>
    </a:txDef>
  </a:objectDefaults>
  <a:extraClrSchemeLst/>
  <a:extLst>
    <a:ext uri="{05A4C25C-085E-4340-85A3-A5531E510DB2}">
      <thm15:themeFamily xmlns:thm15="http://schemas.microsoft.com/office/thememl/2012/main" name="PowerPoint_UGent_NL.potx" id="{CB7437A3-AF41-4FB5-A0AD-03A95F42239C}" vid="{CFCB6CCD-58ED-4028-89EA-51F8B0C9C388}"/>
    </a:ext>
  </a:extLst>
</a:theme>
</file>

<file path=ppt/theme/theme2.xml><?xml version="1.0" encoding="utf-8"?>
<a:theme xmlns:a="http://schemas.openxmlformats.org/drawingml/2006/main" name="4 - Dark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4625B343-1F57-425B-AFBF-7AC84AD49721}"/>
    </a:ext>
  </a:extLst>
</a:theme>
</file>

<file path=ppt/theme/theme3.xml><?xml version="1.0" encoding="utf-8"?>
<a:theme xmlns:a="http://schemas.openxmlformats.org/drawingml/2006/main" name="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84568548-CC5C-4BD0-BBFC-1327CA9E48EC}"/>
    </a:ext>
  </a:extLst>
</a:theme>
</file>

<file path=ppt/theme/theme4.xml><?xml version="1.0" encoding="utf-8"?>
<a:theme xmlns:a="http://schemas.openxmlformats.org/drawingml/2006/main" name="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84568548-CC5C-4BD0-BBFC-1327CA9E48E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08D042C8B98F4EAC07EAED7929CC0B" ma:contentTypeVersion="29" ma:contentTypeDescription="Create a new document." ma:contentTypeScope="" ma:versionID="c4d423602de6a8cfd3f2cd01e9719a5e">
  <xsd:schema xmlns:xsd="http://www.w3.org/2001/XMLSchema" xmlns:xs="http://www.w3.org/2001/XMLSchema" xmlns:p="http://schemas.microsoft.com/office/2006/metadata/properties" xmlns:ns2="d7671653-5777-4515-be6d-22c95294c830" xmlns:ns3="ed73d88f-2738-4c68-a2de-96dc89f05060" targetNamespace="http://schemas.microsoft.com/office/2006/metadata/properties" ma:root="true" ma:fieldsID="53c7e96fffe7db095a24aaffa850286b" ns2:_="" ns3:_="">
    <xsd:import namespace="d7671653-5777-4515-be6d-22c95294c830"/>
    <xsd:import namespace="ed73d88f-2738-4c68-a2de-96dc89f050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Descrip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ShortName" minOccurs="0"/>
                <xsd:element ref="ns2:MediaServiceDateTaken" minOccurs="0"/>
                <xsd:element ref="ns2:Domain" minOccurs="0"/>
                <xsd:element ref="ns2:Valuablesection" minOccurs="0"/>
                <xsd:element ref="ns2:DMPversion" minOccurs="0"/>
                <xsd:element ref="ns2:Shareable" minOccurs="0"/>
                <xsd:element ref="ns2:MediaLengthInSeconds" minOccurs="0"/>
                <xsd:element ref="ns2:WorkPackage"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671653-5777-4515-be6d-22c95294c8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description=""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Description" ma:index="12" nillable="true" ma:displayName="Description" ma:format="Dropdown" ma:internalName="Description">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ShortName" ma:index="19" nillable="true" ma:displayName="Short Name" ma:format="Dropdown" ma:internalName="ShortName">
      <xsd:simpleType>
        <xsd:restriction base="dms:Choice">
          <xsd:enumeration value="FWO"/>
          <xsd:enumeration value="H2020"/>
          <xsd:enumeration value="BELSPO"/>
          <xsd:enumeration value="UGent"/>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Domain" ma:index="21" nillable="true" ma:displayName="Domain" ma:format="Dropdown" ma:internalName="Domain">
      <xsd:complexType>
        <xsd:complexContent>
          <xsd:extension base="dms:MultiChoice">
            <xsd:sequence>
              <xsd:element name="Value" maxOccurs="unbounded" minOccurs="0" nillable="true">
                <xsd:simpleType>
                  <xsd:restriction base="dms:Choice">
                    <xsd:enumeration value="Social and Behavioral Scences"/>
                    <xsd:enumeration value="Life Sciences"/>
                    <xsd:enumeration value="(Bio)Engineering"/>
                    <xsd:enumeration value="Natural Sciences"/>
                    <xsd:enumeration value="Law, Art and Humanities"/>
                  </xsd:restriction>
                </xsd:simpleType>
              </xsd:element>
            </xsd:sequence>
          </xsd:extension>
        </xsd:complexContent>
      </xsd:complexType>
    </xsd:element>
    <xsd:element name="Valuablesection" ma:index="22" nillable="true" ma:displayName="Valuable section" ma:format="Dropdown" ma:internalName="Valuablesection">
      <xsd:complexType>
        <xsd:complexContent>
          <xsd:extension base="dms:MultiChoice">
            <xsd:sequence>
              <xsd:element name="Value" maxOccurs="unbounded" minOccurs="0" nillable="true">
                <xsd:simpleType>
                  <xsd:restriction base="dms:Choice">
                    <xsd:enumeration value="Data description"/>
                    <xsd:enumeration value="Metadata and documentation"/>
                    <xsd:enumeration value="Data storage and security"/>
                    <xsd:enumeration value="Preservation"/>
                    <xsd:enumeration value="Data sharing"/>
                    <xsd:enumeration value="Ethical and legal issues"/>
                    <xsd:enumeration value="Costs and resources"/>
                    <xsd:enumeration value="Responsibilities"/>
                  </xsd:restriction>
                </xsd:simpleType>
              </xsd:element>
            </xsd:sequence>
          </xsd:extension>
        </xsd:complexContent>
      </xsd:complexType>
    </xsd:element>
    <xsd:element name="DMPversion" ma:index="23" nillable="true" ma:displayName="DMP version" ma:format="Dropdown" ma:internalName="DMPversion">
      <xsd:simpleType>
        <xsd:restriction base="dms:Choice">
          <xsd:enumeration value="Proposal"/>
          <xsd:enumeration value="V1 (6M)"/>
          <xsd:enumeration value="Other"/>
          <xsd:enumeration value="Final"/>
        </xsd:restriction>
      </xsd:simpleType>
    </xsd:element>
    <xsd:element name="Shareable" ma:index="24" nillable="true" ma:displayName="Shareable" ma:description="Specify whether there is permission by the author(s) to share the DMP" ma:format="Dropdown" ma:internalName="Shareable">
      <xsd:simpleType>
        <xsd:restriction base="dms:Choice">
          <xsd:enumeration value="Not shareable"/>
          <xsd:enumeration value="Internally"/>
          <xsd:enumeration value="Externally"/>
          <xsd:enumeration value="Already public"/>
        </xsd:restriction>
      </xsd:simpleType>
    </xsd:element>
    <xsd:element name="MediaLengthInSeconds" ma:index="26" nillable="true" ma:displayName="Length (seconds)" ma:internalName="MediaLengthInSeconds" ma:readOnly="true">
      <xsd:simpleType>
        <xsd:restriction base="dms:Unknown"/>
      </xsd:simpleType>
    </xsd:element>
    <xsd:element name="WorkPackage" ma:index="27" nillable="true" ma:displayName="Work Package" ma:format="Dropdown" ma:internalName="WorkPackage">
      <xsd:simpleType>
        <xsd:restriction base="dms:Text">
          <xsd:maxLength value="255"/>
        </xsd:restriction>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3b9bb814-139f-4039-9463-697760f06ab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Location" ma:index="33" nillable="true" ma:displayName="Location" ma:indexed="true" ma:internalName="MediaServiceLocation" ma:readOnly="true">
      <xsd:simpleType>
        <xsd:restriction base="dms:Text"/>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d73d88f-2738-4c68-a2de-96dc89f0506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0" nillable="true" ma:displayName="Taxonomy Catch All Column" ma:hidden="true" ma:list="{e944e1ce-d024-48cd-a551-62c6bb5628b5}" ma:internalName="TaxCatchAll" ma:showField="CatchAllData" ma:web="ed73d88f-2738-4c68-a2de-96dc89f050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25"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escription xmlns="d7671653-5777-4515-be6d-22c95294c830" xsi:nil="true"/>
    <ShortName xmlns="d7671653-5777-4515-be6d-22c95294c830" xsi:nil="true"/>
    <Domain xmlns="d7671653-5777-4515-be6d-22c95294c830" xsi:nil="true"/>
    <Valuablesection xmlns="d7671653-5777-4515-be6d-22c95294c830" xsi:nil="true"/>
    <DMPversion xmlns="d7671653-5777-4515-be6d-22c95294c830" xsi:nil="true"/>
    <Shareable xmlns="d7671653-5777-4515-be6d-22c95294c830" xsi:nil="true"/>
    <WorkPackage xmlns="d7671653-5777-4515-be6d-22c95294c830" xsi:nil="true"/>
    <TaxCatchAll xmlns="ed73d88f-2738-4c68-a2de-96dc89f05060" xsi:nil="true"/>
    <lcf76f155ced4ddcb4097134ff3c332f xmlns="d7671653-5777-4515-be6d-22c95294c83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BD9AC93-B98E-4B05-BF1D-91BF5EB162B0}">
  <ds:schemaRefs>
    <ds:schemaRef ds:uri="http://schemas.microsoft.com/sharepoint/v3/contenttype/forms"/>
  </ds:schemaRefs>
</ds:datastoreItem>
</file>

<file path=customXml/itemProps2.xml><?xml version="1.0" encoding="utf-8"?>
<ds:datastoreItem xmlns:ds="http://schemas.openxmlformats.org/officeDocument/2006/customXml" ds:itemID="{0FD42373-5F9E-49FA-9972-A4DA24F93E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7671653-5777-4515-be6d-22c95294c830"/>
    <ds:schemaRef ds:uri="ed73d88f-2738-4c68-a2de-96dc89f05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1724947-ABC3-4966-97E8-E88CB6E98BAB}">
  <ds:schemaRefs>
    <ds:schemaRef ds:uri="ed73d88f-2738-4c68-a2de-96dc89f05060"/>
    <ds:schemaRef ds:uri="http://purl.org/dc/elements/1.1/"/>
    <ds:schemaRef ds:uri="http://purl.org/dc/dcmitype/"/>
    <ds:schemaRef ds:uri="http://purl.org/dc/terms/"/>
    <ds:schemaRef ds:uri="http://schemas.microsoft.com/office/infopath/2007/PartnerControls"/>
    <ds:schemaRef ds:uri="http://schemas.openxmlformats.org/package/2006/metadata/core-properties"/>
    <ds:schemaRef ds:uri="http://schemas.microsoft.com/office/2006/documentManagement/types"/>
    <ds:schemaRef ds:uri="d7671653-5777-4515-be6d-22c95294c830"/>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PowerPoint_UGent_NL</Template>
  <TotalTime>12</TotalTime>
  <Words>2098</Words>
  <Application>Microsoft Office PowerPoint</Application>
  <PresentationFormat>Custom</PresentationFormat>
  <Paragraphs>311</Paragraphs>
  <Slides>31</Slides>
  <Notes>6</Notes>
  <HiddenSlides>1</HiddenSlides>
  <MMClips>0</MMClips>
  <ScaleCrop>false</ScaleCrop>
  <HeadingPairs>
    <vt:vector size="4" baseType="variant">
      <vt:variant>
        <vt:lpstr>Theme</vt:lpstr>
      </vt:variant>
      <vt:variant>
        <vt:i4>4</vt:i4>
      </vt:variant>
      <vt:variant>
        <vt:lpstr>Slide Titles</vt:lpstr>
      </vt:variant>
      <vt:variant>
        <vt:i4>31</vt:i4>
      </vt:variant>
    </vt:vector>
  </HeadingPairs>
  <TitlesOfParts>
    <vt:vector size="35" baseType="lpstr">
      <vt:lpstr>Office Theme</vt:lpstr>
      <vt:lpstr>4 - Dark body slides</vt:lpstr>
      <vt:lpstr>3 - Light body slides</vt:lpstr>
      <vt:lpstr>3 - Light body slides</vt:lpstr>
      <vt:lpstr>Documentation and metadata</vt:lpstr>
      <vt:lpstr>FAIR data principles</vt:lpstr>
      <vt:lpstr>documentatioN</vt:lpstr>
      <vt:lpstr>Levels of data documentation</vt:lpstr>
      <vt:lpstr>Codebook example</vt:lpstr>
      <vt:lpstr>PowerPoint Presentation</vt:lpstr>
      <vt:lpstr>The platform in 3 key modules</vt:lpstr>
      <vt:lpstr>Structured documentation platform, with different access rights and embedded versioning at all levels</vt:lpstr>
      <vt:lpstr>Electronic lab notebook (ELN): RSpace</vt:lpstr>
      <vt:lpstr>REDCAP: data collection and management Instrument / Form and Survey</vt:lpstr>
      <vt:lpstr>Processing &amp; analysis scripts</vt:lpstr>
      <vt:lpstr>Documentation guidelines Minimal information about a … experiment</vt:lpstr>
      <vt:lpstr>Documentation vs. Metadata </vt:lpstr>
      <vt:lpstr>TAGGING AND FiLTERING</vt:lpstr>
      <vt:lpstr>Metadata standards: generic vs. discipline specific</vt:lpstr>
      <vt:lpstr>Standards &amp; Controlled vocabularies</vt:lpstr>
      <vt:lpstr>FAIR data principles</vt:lpstr>
      <vt:lpstr>Common issues on understandability</vt:lpstr>
      <vt:lpstr>Standards &amp; Controlled vocabularies</vt:lpstr>
      <vt:lpstr>Standard vocabularies &amp; ontologies</vt:lpstr>
      <vt:lpstr>Vocabularies and standards</vt:lpstr>
      <vt:lpstr>Vocabularies in life sciences</vt:lpstr>
      <vt:lpstr>Registering output</vt:lpstr>
      <vt:lpstr>UGEnt policy on scholarly publishing (as of Jan 2023)</vt:lpstr>
      <vt:lpstr>Sharing and registering research data</vt:lpstr>
      <vt:lpstr>REGISTRATION OF PUBLISHED RESEARCH DATA AND SOFTWARE  IN BIBLIO</vt:lpstr>
      <vt:lpstr>TWO METHODS FOR REGISTRATION OF PUBLISHED RESEARCH DATASETS</vt:lpstr>
      <vt:lpstr>LIFE SCIENCES DATASETS OFTEN DO NOT HAVE A DOI</vt:lpstr>
      <vt:lpstr>MANUAL REGISTRATION OF LIFE SCIENCES DATASETS PERSISTENT IDENTIFIERS OR ACCESSION NUMBERS OTHER THAN DOI</vt:lpstr>
      <vt:lpstr>Break</vt:lpstr>
      <vt:lpstr>UGent Data Stewards  UNIVERSITY SERVICES – RESEARCH  TEAM OPen Science     </vt:lpstr>
    </vt:vector>
  </TitlesOfParts>
  <Manager/>
  <Company>Universiteit 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Jan Lammertyn</dc:creator>
  <cp:keywords/>
  <dc:description/>
  <cp:lastModifiedBy>Laura Standaert</cp:lastModifiedBy>
  <cp:revision>51</cp:revision>
  <cp:lastPrinted>2016-10-27T14:59:04Z</cp:lastPrinted>
  <dcterms:created xsi:type="dcterms:W3CDTF">2019-10-04T08:58:30Z</dcterms:created>
  <dcterms:modified xsi:type="dcterms:W3CDTF">2025-10-17T10:48:19Z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censed to">
    <vt:lpwstr>Ghent University</vt:lpwstr>
  </property>
  <property fmtid="{D5CDD505-2E9C-101B-9397-08002B2CF9AE}" pid="3" name="Version">
    <vt:lpwstr>1.1</vt:lpwstr>
  </property>
  <property fmtid="{D5CDD505-2E9C-101B-9397-08002B2CF9AE}" pid="4" name="Date">
    <vt:filetime>2019-05-23T22:00:00Z</vt:filetime>
  </property>
  <property fmtid="{D5CDD505-2E9C-101B-9397-08002B2CF9AE}" pid="5" name="Build">
    <vt:lpwstr>20</vt:lpwstr>
  </property>
  <property fmtid="{D5CDD505-2E9C-101B-9397-08002B2CF9AE}" pid="6" name="ContentTypeId">
    <vt:lpwstr>0x010100E008D042C8B98F4EAC07EAED7929CC0B</vt:lpwstr>
  </property>
  <property fmtid="{D5CDD505-2E9C-101B-9397-08002B2CF9AE}" pid="7" name="MediaServiceImageTags">
    <vt:lpwstr/>
  </property>
</Properties>
</file>