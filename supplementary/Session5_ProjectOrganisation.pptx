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omments/modernComment_7BBF5AC9_33FA4669.xml" ContentType="application/vnd.ms-powerpoint.comments+xml"/>
  <Override PartName="/ppt/comments/modernComment_7BBF5ABD_F66B6409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9"/>
  </p:notesMasterIdLst>
  <p:sldIdLst>
    <p:sldId id="2076138171" r:id="rId5"/>
    <p:sldId id="2076138185" r:id="rId6"/>
    <p:sldId id="2076138173" r:id="rId7"/>
    <p:sldId id="2076138186" r:id="rId8"/>
    <p:sldId id="2076138187" r:id="rId9"/>
    <p:sldId id="3795" r:id="rId10"/>
    <p:sldId id="2076138175" r:id="rId11"/>
    <p:sldId id="2076138176" r:id="rId12"/>
    <p:sldId id="2076138177" r:id="rId13"/>
    <p:sldId id="2076138178" r:id="rId14"/>
    <p:sldId id="3796" r:id="rId15"/>
    <p:sldId id="2076138179" r:id="rId16"/>
    <p:sldId id="2076138180" r:id="rId17"/>
    <p:sldId id="2076138147" r:id="rId18"/>
    <p:sldId id="2076138141" r:id="rId19"/>
    <p:sldId id="2076138142" r:id="rId20"/>
    <p:sldId id="3798" r:id="rId21"/>
    <p:sldId id="389" r:id="rId22"/>
    <p:sldId id="3816" r:id="rId23"/>
    <p:sldId id="2076138181" r:id="rId24"/>
    <p:sldId id="2076138183" r:id="rId25"/>
    <p:sldId id="2076138184" r:id="rId26"/>
    <p:sldId id="3519" r:id="rId27"/>
    <p:sldId id="3467" r:id="rId28"/>
  </p:sldIdLst>
  <p:sldSz cx="12192000" cy="6858000"/>
  <p:notesSz cx="7315200" cy="9601200"/>
  <p:custDataLst>
    <p:tags r:id="rId30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851012E-0D0B-03A6-D324-3B8EFD84544F}" name="Sylvette Vanderstraeten" initials="SV" userId="S::sylvette.vanderstraeten@kuleuven.be::6f71c3ba-96a3-404d-bf65-d996c10ed4b8" providerId="AD"/>
  <p188:author id="{B6E7D863-8091-9885-931E-DB95B0CE8FAE}" name="Thomas Vandendriessche" initials="TV" userId="S::thomas.vandendriessche@kuleuven.be::0edddf14-2315-41fa-874e-b9401e92ed66" providerId="AD"/>
  <p188:author id="{425A266B-91A8-06DB-0AD7-B2603184A636}" name="Inge Mannaerts" initials="IM" userId="S::inge.mannaerts@kuleuven.be::2762d956-3ea5-4a4c-abd9-53d1d6532ed5" providerId="AD"/>
  <p188:author id="{55D22095-2F75-5BE7-3F3F-F96FD6230986}" name="Sylvette" initials="S" userId="Sylvette" providerId="None"/>
  <p188:author id="{E8E17AAC-5A01-F2DE-ED00-5B558CEB43EF}" name="Jef Scheepers" initials="JS" userId="S::jef.scheepers@kuleuven.be::d748e0ab-de9b-4300-9e22-3789d39ac2cd" providerId="AD"/>
  <p188:author id="{29BEBAC3-1CA9-8504-2BE8-45528591F437}" name="Matheus Pereira da Cruz Gomes Lourenço" initials="ML" userId="S::matheus.lourenco_vib.be#ext#@kuleuven.onmicrosoft.com::9147c616-8738-4209-b661-98fc7af49737" providerId="AD"/>
  <p188:author id="{F47F22CE-0C6F-7BA1-0C67-A81DCF15CEF1}" name="Anouk D'Hont" initials="AD" userId="S::anouk.dhont@kuleuven.be::72c70568-ce9e-4b63-99f5-9dc9ea50da7e" providerId="AD"/>
  <p188:author id="{DABD7BCE-C51D-109D-340A-ECF3ADFEA6E0}" name="Marleen Marynissen" initials="MM" userId="S::marleen.marynissen@kuleuven.be::270a49f6-b039-4287-8117-c9b0ad5029bf" providerId="AD"/>
  <p188:author id="{B93C8CDE-F7F1-BBA0-14AC-6FEB85B0C01A}" name="Maarten Jackers" initials="MJ" userId="S::maarten.jackers@kuleuven.be::31d4f685-751d-4163-a6c7-a746291daf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F7F"/>
    <a:srgbClr val="005E77"/>
    <a:srgbClr val="FF9999"/>
    <a:srgbClr val="7FD7F7"/>
    <a:srgbClr val="A8DEF5"/>
    <a:srgbClr val="FFFFFF"/>
    <a:srgbClr val="FDF4B1"/>
    <a:srgbClr val="FFC9C9"/>
    <a:srgbClr val="FFB3B3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C1A3FC-6DF6-E4A7-012C-68F8F904932C}" v="2" dt="2026-01-05T10:58:32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ags" Target="tags/tag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ham.benramdane@uantwerp.be" userId="S::urn:spo:guest#siham.benramdane@uantwerp.be::" providerId="AD" clId="Web-{4BC1A3FC-6DF6-E4A7-012C-68F8F904932C}"/>
    <pc:docChg chg="modSld">
      <pc:chgData name="siham.benramdane@uantwerp.be" userId="S::urn:spo:guest#siham.benramdane@uantwerp.be::" providerId="AD" clId="Web-{4BC1A3FC-6DF6-E4A7-012C-68F8F904932C}" dt="2026-01-05T10:58:32.787" v="1" actId="1076"/>
      <pc:docMkLst>
        <pc:docMk/>
      </pc:docMkLst>
      <pc:sldChg chg="modSp">
        <pc:chgData name="siham.benramdane@uantwerp.be" userId="S::urn:spo:guest#siham.benramdane@uantwerp.be::" providerId="AD" clId="Web-{4BC1A3FC-6DF6-E4A7-012C-68F8F904932C}" dt="2026-01-05T10:58:32.787" v="1" actId="1076"/>
        <pc:sldMkLst>
          <pc:docMk/>
          <pc:sldMk cId="1017553401" sldId="2076138141"/>
        </pc:sldMkLst>
        <pc:spChg chg="mod">
          <ac:chgData name="siham.benramdane@uantwerp.be" userId="S::urn:spo:guest#siham.benramdane@uantwerp.be::" providerId="AD" clId="Web-{4BC1A3FC-6DF6-E4A7-012C-68F8F904932C}" dt="2026-01-05T10:58:32.787" v="1" actId="1076"/>
          <ac:spMkLst>
            <pc:docMk/>
            <pc:sldMk cId="1017553401" sldId="2076138141"/>
            <ac:spMk id="5" creationId="{3CD527C9-C183-E2C3-3881-FBDF1BDE4F2A}"/>
          </ac:spMkLst>
        </pc:spChg>
      </pc:sldChg>
    </pc:docChg>
  </pc:docChgLst>
</pc:chgInfo>
</file>

<file path=ppt/comments/modernComment_7BBF5ABD_F66B640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979E9C-2495-4F6E-BE2E-5DEAB885F983}" authorId="{B851012E-0D0B-03A6-D324-3B8EFD84544F}" created="2025-11-21T14:46:40.011">
    <pc:sldMkLst xmlns:pc="http://schemas.microsoft.com/office/powerpoint/2013/main/command">
      <pc:docMk/>
      <pc:sldMk cId="4134233097" sldId="2076138173"/>
    </pc:sldMkLst>
    <p188:txBody>
      <a:bodyPr/>
      <a:lstStyle/>
      <a:p>
        <a:r>
          <a:rPr lang="nl-BE"/>
          <a:t>If accepted: 
3 use cases for organization, with seemingly simple tasks - each group gets to build one model of 4-5 DUPLO pieces
They all need a set of instructions and a location for their blocks (the blocks are hidden in the room). 
BUT
One has the blocks scattered in a big bag filled with blocks (only the same color). 
One has the instructions buried in a whole stack of papers
One has no clear location on where the blocks are stored. 
Extra: one has it hidden in a big set of blocks, but with mixed colors. </a:t>
        </a:r>
      </a:p>
    </p188:txBody>
  </p188:cm>
</p188:cmLst>
</file>

<file path=ppt/comments/modernComment_7BBF5AC9_33FA46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8BBC6D6-715C-4FE2-8253-E972CA7D2DD6}" authorId="{B851012E-0D0B-03A6-D324-3B8EFD84544F}" created="2025-11-21T14:46:40.011">
    <pc:sldMkLst xmlns:pc="http://schemas.microsoft.com/office/powerpoint/2013/main/command">
      <pc:docMk/>
      <pc:sldMk cId="4134233097" sldId="2076138173"/>
    </pc:sldMkLst>
    <p188:txBody>
      <a:bodyPr/>
      <a:lstStyle/>
      <a:p>
        <a:r>
          <a:rPr lang="nl-BE"/>
          <a:t>If accepted: 
3 use cases for organization, with seemingly simple tasks - each group gets to build one model of 4-5 DUPLO pieces
They all need a set of instructions and a location for their blocks (the blocks are hidden in the room). 
BUT
One has the blocks scattered in a big bag filled with blocks (only the same color). 
One has the instructions buried in a whole stack of papers
One has no clear location on where the blocks are stored. 
Extra: one has it hidden in a big set of blocks, but with mixed colors. 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348965-8387-4098-A73B-71B6BB9B44E4}" type="doc">
      <dgm:prSet loTypeId="urn:microsoft.com/office/officeart/2018/2/layout/IconCircleList" loCatId="icon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18CEF567-A446-43A7-AF1A-D2F6E0FB3E6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aseline="0"/>
            <a:t>Build a dataflow for rest of project</a:t>
          </a:r>
          <a:br>
            <a:rPr lang="en-GB" baseline="0"/>
          </a:br>
          <a:endParaRPr lang="en-US"/>
        </a:p>
      </dgm:t>
    </dgm:pt>
    <dgm:pt modelId="{F07820E7-A3C9-47F9-B425-2EEE1A2A85FD}" type="parTrans" cxnId="{8679D7E4-84C1-43D9-90B5-32AFC1AFB370}">
      <dgm:prSet/>
      <dgm:spPr/>
      <dgm:t>
        <a:bodyPr/>
        <a:lstStyle/>
        <a:p>
          <a:endParaRPr lang="en-US"/>
        </a:p>
      </dgm:t>
    </dgm:pt>
    <dgm:pt modelId="{90543940-2D9C-4104-A14B-7E535CBD1361}" type="sibTrans" cxnId="{8679D7E4-84C1-43D9-90B5-32AFC1AFB37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0D49EC1-5097-4F73-887A-3D8F0F4A1F1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aseline="0"/>
            <a:t>Adapt plan to accommodate the rest of your project</a:t>
          </a:r>
          <a:br>
            <a:rPr lang="en-GB" baseline="0"/>
          </a:br>
          <a:endParaRPr lang="en-US"/>
        </a:p>
      </dgm:t>
    </dgm:pt>
    <dgm:pt modelId="{A77CD5F5-AEF9-4692-8FC3-1E28678319DB}" type="parTrans" cxnId="{A2BDCB29-BA9B-47C9-95F3-8A060ECABFC3}">
      <dgm:prSet/>
      <dgm:spPr/>
      <dgm:t>
        <a:bodyPr/>
        <a:lstStyle/>
        <a:p>
          <a:endParaRPr lang="en-US"/>
        </a:p>
      </dgm:t>
    </dgm:pt>
    <dgm:pt modelId="{9CB15846-F893-45B9-A253-194453ECB2CB}" type="sibTrans" cxnId="{A2BDCB29-BA9B-47C9-95F3-8A060ECABF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9C24914-1117-44FF-9ADC-0995EAE720B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aseline="0"/>
            <a:t>Think about ethical &amp; legal considerations</a:t>
          </a:r>
          <a:br>
            <a:rPr lang="en-GB" baseline="0"/>
          </a:br>
          <a:endParaRPr lang="en-US"/>
        </a:p>
      </dgm:t>
    </dgm:pt>
    <dgm:pt modelId="{FFA65429-7435-4BAC-A7E4-45397FAB0BC8}" type="parTrans" cxnId="{DC305646-0FA7-4D1C-BE53-EB5209CB389F}">
      <dgm:prSet/>
      <dgm:spPr/>
      <dgm:t>
        <a:bodyPr/>
        <a:lstStyle/>
        <a:p>
          <a:endParaRPr lang="en-US"/>
        </a:p>
      </dgm:t>
    </dgm:pt>
    <dgm:pt modelId="{66983906-1164-4E0C-8319-47CEB130B48A}" type="sibTrans" cxnId="{DC305646-0FA7-4D1C-BE53-EB5209CB389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CEA89E8-278E-401B-9F14-63B38A5573A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aseline="0"/>
            <a:t>Think about archiving &amp; sharing</a:t>
          </a:r>
          <a:endParaRPr lang="en-US"/>
        </a:p>
      </dgm:t>
    </dgm:pt>
    <dgm:pt modelId="{F6E9A977-72A9-4090-8493-316098E52FAC}" type="parTrans" cxnId="{20293F64-F3B1-41D5-9EF2-6688E3EBC2D9}">
      <dgm:prSet/>
      <dgm:spPr/>
      <dgm:t>
        <a:bodyPr/>
        <a:lstStyle/>
        <a:p>
          <a:endParaRPr lang="en-US"/>
        </a:p>
      </dgm:t>
    </dgm:pt>
    <dgm:pt modelId="{D2DA52EB-6526-4053-B39D-4F800C5B1E2F}" type="sibTrans" cxnId="{20293F64-F3B1-41D5-9EF2-6688E3EBC2D9}">
      <dgm:prSet/>
      <dgm:spPr/>
      <dgm:t>
        <a:bodyPr/>
        <a:lstStyle/>
        <a:p>
          <a:endParaRPr lang="en-US"/>
        </a:p>
      </dgm:t>
    </dgm:pt>
    <dgm:pt modelId="{96A0787F-78F9-4A6C-82DA-03949DD2643C}" type="pres">
      <dgm:prSet presAssocID="{DF348965-8387-4098-A73B-71B6BB9B44E4}" presName="root" presStyleCnt="0">
        <dgm:presLayoutVars>
          <dgm:dir/>
          <dgm:resizeHandles val="exact"/>
        </dgm:presLayoutVars>
      </dgm:prSet>
      <dgm:spPr/>
    </dgm:pt>
    <dgm:pt modelId="{7CAC6BAB-448A-4F70-B1E3-DA6EAB3A755F}" type="pres">
      <dgm:prSet presAssocID="{DF348965-8387-4098-A73B-71B6BB9B44E4}" presName="container" presStyleCnt="0">
        <dgm:presLayoutVars>
          <dgm:dir/>
          <dgm:resizeHandles val="exact"/>
        </dgm:presLayoutVars>
      </dgm:prSet>
      <dgm:spPr/>
    </dgm:pt>
    <dgm:pt modelId="{E3F5F1FF-DD3C-484E-A0E3-609987FFBBAB}" type="pres">
      <dgm:prSet presAssocID="{18CEF567-A446-43A7-AF1A-D2F6E0FB3E6F}" presName="compNode" presStyleCnt="0"/>
      <dgm:spPr/>
    </dgm:pt>
    <dgm:pt modelId="{AB69A007-284E-481A-814A-4B27AD0FF780}" type="pres">
      <dgm:prSet presAssocID="{18CEF567-A446-43A7-AF1A-D2F6E0FB3E6F}" presName="iconBgRect" presStyleLbl="bgShp" presStyleIdx="0" presStyleCnt="4"/>
      <dgm:spPr/>
    </dgm:pt>
    <dgm:pt modelId="{80F9F252-49CD-44C7-B557-E03EF6A01411}" type="pres">
      <dgm:prSet presAssocID="{18CEF567-A446-43A7-AF1A-D2F6E0FB3E6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 with solid fill"/>
        </a:ext>
      </dgm:extLst>
    </dgm:pt>
    <dgm:pt modelId="{B7EC28B8-6626-4E68-AECE-104FEDD851ED}" type="pres">
      <dgm:prSet presAssocID="{18CEF567-A446-43A7-AF1A-D2F6E0FB3E6F}" presName="spaceRect" presStyleCnt="0"/>
      <dgm:spPr/>
    </dgm:pt>
    <dgm:pt modelId="{70FC610D-79EE-4595-8795-DCC06AEF5526}" type="pres">
      <dgm:prSet presAssocID="{18CEF567-A446-43A7-AF1A-D2F6E0FB3E6F}" presName="textRect" presStyleLbl="revTx" presStyleIdx="0" presStyleCnt="4">
        <dgm:presLayoutVars>
          <dgm:chMax val="1"/>
          <dgm:chPref val="1"/>
        </dgm:presLayoutVars>
      </dgm:prSet>
      <dgm:spPr/>
    </dgm:pt>
    <dgm:pt modelId="{6E4DAB1B-8246-4CF6-BD15-3129711E6E89}" type="pres">
      <dgm:prSet presAssocID="{90543940-2D9C-4104-A14B-7E535CBD1361}" presName="sibTrans" presStyleLbl="sibTrans2D1" presStyleIdx="0" presStyleCnt="0"/>
      <dgm:spPr/>
    </dgm:pt>
    <dgm:pt modelId="{72730EAC-5B33-4630-9637-9DF355FD9119}" type="pres">
      <dgm:prSet presAssocID="{10D49EC1-5097-4F73-887A-3D8F0F4A1F15}" presName="compNode" presStyleCnt="0"/>
      <dgm:spPr/>
    </dgm:pt>
    <dgm:pt modelId="{4D107108-6079-46FE-A66F-D6DE93ECA24B}" type="pres">
      <dgm:prSet presAssocID="{10D49EC1-5097-4F73-887A-3D8F0F4A1F15}" presName="iconBgRect" presStyleLbl="bgShp" presStyleIdx="1" presStyleCnt="4"/>
      <dgm:spPr/>
    </dgm:pt>
    <dgm:pt modelId="{0DCA496E-257A-4973-BF3A-9A2A6260669D}" type="pres">
      <dgm:prSet presAssocID="{10D49EC1-5097-4F73-887A-3D8F0F4A1F1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0147A4D-E6BF-485E-82E4-0211D1F139B0}" type="pres">
      <dgm:prSet presAssocID="{10D49EC1-5097-4F73-887A-3D8F0F4A1F15}" presName="spaceRect" presStyleCnt="0"/>
      <dgm:spPr/>
    </dgm:pt>
    <dgm:pt modelId="{90991C83-97B5-4DE3-A6DC-7E8FB70EFB99}" type="pres">
      <dgm:prSet presAssocID="{10D49EC1-5097-4F73-887A-3D8F0F4A1F15}" presName="textRect" presStyleLbl="revTx" presStyleIdx="1" presStyleCnt="4">
        <dgm:presLayoutVars>
          <dgm:chMax val="1"/>
          <dgm:chPref val="1"/>
        </dgm:presLayoutVars>
      </dgm:prSet>
      <dgm:spPr/>
    </dgm:pt>
    <dgm:pt modelId="{6A32C6A9-E48C-4399-9B89-A4A3A4599210}" type="pres">
      <dgm:prSet presAssocID="{9CB15846-F893-45B9-A253-194453ECB2CB}" presName="sibTrans" presStyleLbl="sibTrans2D1" presStyleIdx="0" presStyleCnt="0"/>
      <dgm:spPr/>
    </dgm:pt>
    <dgm:pt modelId="{E1B74416-BB49-4571-BA17-AFE0DAEA92BE}" type="pres">
      <dgm:prSet presAssocID="{C9C24914-1117-44FF-9ADC-0995EAE720B2}" presName="compNode" presStyleCnt="0"/>
      <dgm:spPr/>
    </dgm:pt>
    <dgm:pt modelId="{8FDCB41A-EF08-42CB-B643-8F4B4D14C3EC}" type="pres">
      <dgm:prSet presAssocID="{C9C24914-1117-44FF-9ADC-0995EAE720B2}" presName="iconBgRect" presStyleLbl="bgShp" presStyleIdx="2" presStyleCnt="4"/>
      <dgm:spPr/>
    </dgm:pt>
    <dgm:pt modelId="{20ED1F2E-0477-468C-8C5B-F6F32878932F}" type="pres">
      <dgm:prSet presAssocID="{C9C24914-1117-44FF-9ADC-0995EAE720B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C2ECA991-F4CF-48F8-A790-08BB014C6083}" type="pres">
      <dgm:prSet presAssocID="{C9C24914-1117-44FF-9ADC-0995EAE720B2}" presName="spaceRect" presStyleCnt="0"/>
      <dgm:spPr/>
    </dgm:pt>
    <dgm:pt modelId="{394F3B97-42B8-4D5A-81B3-F433573290DD}" type="pres">
      <dgm:prSet presAssocID="{C9C24914-1117-44FF-9ADC-0995EAE720B2}" presName="textRect" presStyleLbl="revTx" presStyleIdx="2" presStyleCnt="4">
        <dgm:presLayoutVars>
          <dgm:chMax val="1"/>
          <dgm:chPref val="1"/>
        </dgm:presLayoutVars>
      </dgm:prSet>
      <dgm:spPr/>
    </dgm:pt>
    <dgm:pt modelId="{D70F164E-6754-4A2D-AE54-2DCC77ED6BBD}" type="pres">
      <dgm:prSet presAssocID="{66983906-1164-4E0C-8319-47CEB130B48A}" presName="sibTrans" presStyleLbl="sibTrans2D1" presStyleIdx="0" presStyleCnt="0"/>
      <dgm:spPr/>
    </dgm:pt>
    <dgm:pt modelId="{E1ED2050-17A9-469D-8E70-037CFA014A6F}" type="pres">
      <dgm:prSet presAssocID="{8CEA89E8-278E-401B-9F14-63B38A5573A2}" presName="compNode" presStyleCnt="0"/>
      <dgm:spPr/>
    </dgm:pt>
    <dgm:pt modelId="{8B28183D-9230-4037-80A3-088CD07C6F1B}" type="pres">
      <dgm:prSet presAssocID="{8CEA89E8-278E-401B-9F14-63B38A5573A2}" presName="iconBgRect" presStyleLbl="bgShp" presStyleIdx="3" presStyleCnt="4"/>
      <dgm:spPr/>
    </dgm:pt>
    <dgm:pt modelId="{DECC6E2D-B3E7-481D-93F6-C7FF140D2E3C}" type="pres">
      <dgm:prSet presAssocID="{8CEA89E8-278E-401B-9F14-63B38A5573A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84E8E4C4-1FB7-437D-A82E-213EB41F7957}" type="pres">
      <dgm:prSet presAssocID="{8CEA89E8-278E-401B-9F14-63B38A5573A2}" presName="spaceRect" presStyleCnt="0"/>
      <dgm:spPr/>
    </dgm:pt>
    <dgm:pt modelId="{E5439475-24D5-4736-9C6A-E6122282E24C}" type="pres">
      <dgm:prSet presAssocID="{8CEA89E8-278E-401B-9F14-63B38A5573A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99FAB01-EB4D-4541-82A4-B3570F30D6C5}" type="presOf" srcId="{10D49EC1-5097-4F73-887A-3D8F0F4A1F15}" destId="{90991C83-97B5-4DE3-A6DC-7E8FB70EFB99}" srcOrd="0" destOrd="0" presId="urn:microsoft.com/office/officeart/2018/2/layout/IconCircleList"/>
    <dgm:cxn modelId="{6DD5180F-7897-40FC-A409-368F74819298}" type="presOf" srcId="{9CB15846-F893-45B9-A253-194453ECB2CB}" destId="{6A32C6A9-E48C-4399-9B89-A4A3A4599210}" srcOrd="0" destOrd="0" presId="urn:microsoft.com/office/officeart/2018/2/layout/IconCircleList"/>
    <dgm:cxn modelId="{A2BDCB29-BA9B-47C9-95F3-8A060ECABFC3}" srcId="{DF348965-8387-4098-A73B-71B6BB9B44E4}" destId="{10D49EC1-5097-4F73-887A-3D8F0F4A1F15}" srcOrd="1" destOrd="0" parTransId="{A77CD5F5-AEF9-4692-8FC3-1E28678319DB}" sibTransId="{9CB15846-F893-45B9-A253-194453ECB2CB}"/>
    <dgm:cxn modelId="{DF9F3A5D-E46B-43A8-95BF-F99081452D05}" type="presOf" srcId="{C9C24914-1117-44FF-9ADC-0995EAE720B2}" destId="{394F3B97-42B8-4D5A-81B3-F433573290DD}" srcOrd="0" destOrd="0" presId="urn:microsoft.com/office/officeart/2018/2/layout/IconCircleList"/>
    <dgm:cxn modelId="{20293F64-F3B1-41D5-9EF2-6688E3EBC2D9}" srcId="{DF348965-8387-4098-A73B-71B6BB9B44E4}" destId="{8CEA89E8-278E-401B-9F14-63B38A5573A2}" srcOrd="3" destOrd="0" parTransId="{F6E9A977-72A9-4090-8493-316098E52FAC}" sibTransId="{D2DA52EB-6526-4053-B39D-4F800C5B1E2F}"/>
    <dgm:cxn modelId="{DC305646-0FA7-4D1C-BE53-EB5209CB389F}" srcId="{DF348965-8387-4098-A73B-71B6BB9B44E4}" destId="{C9C24914-1117-44FF-9ADC-0995EAE720B2}" srcOrd="2" destOrd="0" parTransId="{FFA65429-7435-4BAC-A7E4-45397FAB0BC8}" sibTransId="{66983906-1164-4E0C-8319-47CEB130B48A}"/>
    <dgm:cxn modelId="{FFD90E50-6805-4F43-9948-530E0F6D8D41}" type="presOf" srcId="{DF348965-8387-4098-A73B-71B6BB9B44E4}" destId="{96A0787F-78F9-4A6C-82DA-03949DD2643C}" srcOrd="0" destOrd="0" presId="urn:microsoft.com/office/officeart/2018/2/layout/IconCircleList"/>
    <dgm:cxn modelId="{8A26C17B-129F-40A2-B00C-400390CBE3E4}" type="presOf" srcId="{18CEF567-A446-43A7-AF1A-D2F6E0FB3E6F}" destId="{70FC610D-79EE-4595-8795-DCC06AEF5526}" srcOrd="0" destOrd="0" presId="urn:microsoft.com/office/officeart/2018/2/layout/IconCircleList"/>
    <dgm:cxn modelId="{62CAF2B5-867B-4676-A3F8-93BD456356E9}" type="presOf" srcId="{8CEA89E8-278E-401B-9F14-63B38A5573A2}" destId="{E5439475-24D5-4736-9C6A-E6122282E24C}" srcOrd="0" destOrd="0" presId="urn:microsoft.com/office/officeart/2018/2/layout/IconCircleList"/>
    <dgm:cxn modelId="{F7DDE2C5-2ABF-49BC-829A-DC184224726F}" type="presOf" srcId="{90543940-2D9C-4104-A14B-7E535CBD1361}" destId="{6E4DAB1B-8246-4CF6-BD15-3129711E6E89}" srcOrd="0" destOrd="0" presId="urn:microsoft.com/office/officeart/2018/2/layout/IconCircleList"/>
    <dgm:cxn modelId="{3CDC0CCD-0EC8-46F7-9B54-AB352B653ED9}" type="presOf" srcId="{66983906-1164-4E0C-8319-47CEB130B48A}" destId="{D70F164E-6754-4A2D-AE54-2DCC77ED6BBD}" srcOrd="0" destOrd="0" presId="urn:microsoft.com/office/officeart/2018/2/layout/IconCircleList"/>
    <dgm:cxn modelId="{8679D7E4-84C1-43D9-90B5-32AFC1AFB370}" srcId="{DF348965-8387-4098-A73B-71B6BB9B44E4}" destId="{18CEF567-A446-43A7-AF1A-D2F6E0FB3E6F}" srcOrd="0" destOrd="0" parTransId="{F07820E7-A3C9-47F9-B425-2EEE1A2A85FD}" sibTransId="{90543940-2D9C-4104-A14B-7E535CBD1361}"/>
    <dgm:cxn modelId="{46966592-821B-46D5-8170-3B8E272257B7}" type="presParOf" srcId="{96A0787F-78F9-4A6C-82DA-03949DD2643C}" destId="{7CAC6BAB-448A-4F70-B1E3-DA6EAB3A755F}" srcOrd="0" destOrd="0" presId="urn:microsoft.com/office/officeart/2018/2/layout/IconCircleList"/>
    <dgm:cxn modelId="{DAA2AD57-D6E3-448D-87C9-6B2C6C10D43B}" type="presParOf" srcId="{7CAC6BAB-448A-4F70-B1E3-DA6EAB3A755F}" destId="{E3F5F1FF-DD3C-484E-A0E3-609987FFBBAB}" srcOrd="0" destOrd="0" presId="urn:microsoft.com/office/officeart/2018/2/layout/IconCircleList"/>
    <dgm:cxn modelId="{0223E2B9-43BC-4778-8065-39B31895121E}" type="presParOf" srcId="{E3F5F1FF-DD3C-484E-A0E3-609987FFBBAB}" destId="{AB69A007-284E-481A-814A-4B27AD0FF780}" srcOrd="0" destOrd="0" presId="urn:microsoft.com/office/officeart/2018/2/layout/IconCircleList"/>
    <dgm:cxn modelId="{022F7766-1FD6-4BDE-9FAA-7C5E9039084B}" type="presParOf" srcId="{E3F5F1FF-DD3C-484E-A0E3-609987FFBBAB}" destId="{80F9F252-49CD-44C7-B557-E03EF6A01411}" srcOrd="1" destOrd="0" presId="urn:microsoft.com/office/officeart/2018/2/layout/IconCircleList"/>
    <dgm:cxn modelId="{5F3A3228-33B9-417C-B94E-95021492072C}" type="presParOf" srcId="{E3F5F1FF-DD3C-484E-A0E3-609987FFBBAB}" destId="{B7EC28B8-6626-4E68-AECE-104FEDD851ED}" srcOrd="2" destOrd="0" presId="urn:microsoft.com/office/officeart/2018/2/layout/IconCircleList"/>
    <dgm:cxn modelId="{DFA1F1D5-5E0E-4F50-AB76-26C44C545BB7}" type="presParOf" srcId="{E3F5F1FF-DD3C-484E-A0E3-609987FFBBAB}" destId="{70FC610D-79EE-4595-8795-DCC06AEF5526}" srcOrd="3" destOrd="0" presId="urn:microsoft.com/office/officeart/2018/2/layout/IconCircleList"/>
    <dgm:cxn modelId="{8BF5862E-9B55-436C-8F39-60E6C5268D7C}" type="presParOf" srcId="{7CAC6BAB-448A-4F70-B1E3-DA6EAB3A755F}" destId="{6E4DAB1B-8246-4CF6-BD15-3129711E6E89}" srcOrd="1" destOrd="0" presId="urn:microsoft.com/office/officeart/2018/2/layout/IconCircleList"/>
    <dgm:cxn modelId="{8C4E6B9B-A1A7-4073-9172-9504D40D6492}" type="presParOf" srcId="{7CAC6BAB-448A-4F70-B1E3-DA6EAB3A755F}" destId="{72730EAC-5B33-4630-9637-9DF355FD9119}" srcOrd="2" destOrd="0" presId="urn:microsoft.com/office/officeart/2018/2/layout/IconCircleList"/>
    <dgm:cxn modelId="{36C9EAAD-7C6C-4AE5-8B71-CB9AFB2E6D46}" type="presParOf" srcId="{72730EAC-5B33-4630-9637-9DF355FD9119}" destId="{4D107108-6079-46FE-A66F-D6DE93ECA24B}" srcOrd="0" destOrd="0" presId="urn:microsoft.com/office/officeart/2018/2/layout/IconCircleList"/>
    <dgm:cxn modelId="{4C67384C-FE65-49E4-94D1-C9A65C4D5EA5}" type="presParOf" srcId="{72730EAC-5B33-4630-9637-9DF355FD9119}" destId="{0DCA496E-257A-4973-BF3A-9A2A6260669D}" srcOrd="1" destOrd="0" presId="urn:microsoft.com/office/officeart/2018/2/layout/IconCircleList"/>
    <dgm:cxn modelId="{5DB4B3C0-B57C-4A50-A7AE-59E27BFE4EB5}" type="presParOf" srcId="{72730EAC-5B33-4630-9637-9DF355FD9119}" destId="{20147A4D-E6BF-485E-82E4-0211D1F139B0}" srcOrd="2" destOrd="0" presId="urn:microsoft.com/office/officeart/2018/2/layout/IconCircleList"/>
    <dgm:cxn modelId="{A54A4C1F-BBD7-4C01-B580-667048D4258D}" type="presParOf" srcId="{72730EAC-5B33-4630-9637-9DF355FD9119}" destId="{90991C83-97B5-4DE3-A6DC-7E8FB70EFB99}" srcOrd="3" destOrd="0" presId="urn:microsoft.com/office/officeart/2018/2/layout/IconCircleList"/>
    <dgm:cxn modelId="{FE0A3647-8955-40F1-844E-3E36B1D5AE1E}" type="presParOf" srcId="{7CAC6BAB-448A-4F70-B1E3-DA6EAB3A755F}" destId="{6A32C6A9-E48C-4399-9B89-A4A3A4599210}" srcOrd="3" destOrd="0" presId="urn:microsoft.com/office/officeart/2018/2/layout/IconCircleList"/>
    <dgm:cxn modelId="{4AB7E5AC-AAF5-40F6-AA1B-E11859668549}" type="presParOf" srcId="{7CAC6BAB-448A-4F70-B1E3-DA6EAB3A755F}" destId="{E1B74416-BB49-4571-BA17-AFE0DAEA92BE}" srcOrd="4" destOrd="0" presId="urn:microsoft.com/office/officeart/2018/2/layout/IconCircleList"/>
    <dgm:cxn modelId="{D6D5F54E-75BA-47F1-88B2-F962A8EB90DC}" type="presParOf" srcId="{E1B74416-BB49-4571-BA17-AFE0DAEA92BE}" destId="{8FDCB41A-EF08-42CB-B643-8F4B4D14C3EC}" srcOrd="0" destOrd="0" presId="urn:microsoft.com/office/officeart/2018/2/layout/IconCircleList"/>
    <dgm:cxn modelId="{E2BBEBF8-0411-40A0-A4EF-16BB0E12CCD5}" type="presParOf" srcId="{E1B74416-BB49-4571-BA17-AFE0DAEA92BE}" destId="{20ED1F2E-0477-468C-8C5B-F6F32878932F}" srcOrd="1" destOrd="0" presId="urn:microsoft.com/office/officeart/2018/2/layout/IconCircleList"/>
    <dgm:cxn modelId="{A808050E-E825-408C-8158-0076CED47881}" type="presParOf" srcId="{E1B74416-BB49-4571-BA17-AFE0DAEA92BE}" destId="{C2ECA991-F4CF-48F8-A790-08BB014C6083}" srcOrd="2" destOrd="0" presId="urn:microsoft.com/office/officeart/2018/2/layout/IconCircleList"/>
    <dgm:cxn modelId="{415F5446-473B-482D-AD23-7CB94C727033}" type="presParOf" srcId="{E1B74416-BB49-4571-BA17-AFE0DAEA92BE}" destId="{394F3B97-42B8-4D5A-81B3-F433573290DD}" srcOrd="3" destOrd="0" presId="urn:microsoft.com/office/officeart/2018/2/layout/IconCircleList"/>
    <dgm:cxn modelId="{ACD315F4-4604-4CD1-AD41-8C95FA6D7624}" type="presParOf" srcId="{7CAC6BAB-448A-4F70-B1E3-DA6EAB3A755F}" destId="{D70F164E-6754-4A2D-AE54-2DCC77ED6BBD}" srcOrd="5" destOrd="0" presId="urn:microsoft.com/office/officeart/2018/2/layout/IconCircleList"/>
    <dgm:cxn modelId="{98292D44-3778-4451-AF41-E53E95C029D1}" type="presParOf" srcId="{7CAC6BAB-448A-4F70-B1E3-DA6EAB3A755F}" destId="{E1ED2050-17A9-469D-8E70-037CFA014A6F}" srcOrd="6" destOrd="0" presId="urn:microsoft.com/office/officeart/2018/2/layout/IconCircleList"/>
    <dgm:cxn modelId="{5829DBC7-868C-4905-B37C-9C9C911BB1F9}" type="presParOf" srcId="{E1ED2050-17A9-469D-8E70-037CFA014A6F}" destId="{8B28183D-9230-4037-80A3-088CD07C6F1B}" srcOrd="0" destOrd="0" presId="urn:microsoft.com/office/officeart/2018/2/layout/IconCircleList"/>
    <dgm:cxn modelId="{D26D0412-AF6E-4262-9EDC-41C81C795AA2}" type="presParOf" srcId="{E1ED2050-17A9-469D-8E70-037CFA014A6F}" destId="{DECC6E2D-B3E7-481D-93F6-C7FF140D2E3C}" srcOrd="1" destOrd="0" presId="urn:microsoft.com/office/officeart/2018/2/layout/IconCircleList"/>
    <dgm:cxn modelId="{6CBF7CCA-F4DF-4270-AADA-E87381C3DEB9}" type="presParOf" srcId="{E1ED2050-17A9-469D-8E70-037CFA014A6F}" destId="{84E8E4C4-1FB7-437D-A82E-213EB41F7957}" srcOrd="2" destOrd="0" presId="urn:microsoft.com/office/officeart/2018/2/layout/IconCircleList"/>
    <dgm:cxn modelId="{E97E6F55-89E2-4A1E-A47B-FF1A3A7F8313}" type="presParOf" srcId="{E1ED2050-17A9-469D-8E70-037CFA014A6F}" destId="{E5439475-24D5-4736-9C6A-E6122282E24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69A007-284E-481A-814A-4B27AD0FF780}">
      <dsp:nvSpPr>
        <dsp:cNvPr id="0" name=""/>
        <dsp:cNvSpPr/>
      </dsp:nvSpPr>
      <dsp:spPr>
        <a:xfrm>
          <a:off x="7945" y="174881"/>
          <a:ext cx="1459615" cy="1459615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F9F252-49CD-44C7-B557-E03EF6A01411}">
      <dsp:nvSpPr>
        <dsp:cNvPr id="0" name=""/>
        <dsp:cNvSpPr/>
      </dsp:nvSpPr>
      <dsp:spPr>
        <a:xfrm>
          <a:off x="314464" y="481401"/>
          <a:ext cx="846576" cy="846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C610D-79EE-4595-8795-DCC06AEF5526}">
      <dsp:nvSpPr>
        <dsp:cNvPr id="0" name=""/>
        <dsp:cNvSpPr/>
      </dsp:nvSpPr>
      <dsp:spPr>
        <a:xfrm>
          <a:off x="1780335" y="174881"/>
          <a:ext cx="3440522" cy="1459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baseline="0"/>
            <a:t>Build a dataflow for rest of project</a:t>
          </a:r>
          <a:br>
            <a:rPr lang="en-GB" sz="2300" kern="1200" baseline="0"/>
          </a:br>
          <a:endParaRPr lang="en-US" sz="2300" kern="1200"/>
        </a:p>
      </dsp:txBody>
      <dsp:txXfrm>
        <a:off x="1780335" y="174881"/>
        <a:ext cx="3440522" cy="1459615"/>
      </dsp:txXfrm>
    </dsp:sp>
    <dsp:sp modelId="{4D107108-6079-46FE-A66F-D6DE93ECA24B}">
      <dsp:nvSpPr>
        <dsp:cNvPr id="0" name=""/>
        <dsp:cNvSpPr/>
      </dsp:nvSpPr>
      <dsp:spPr>
        <a:xfrm>
          <a:off x="5820342" y="174881"/>
          <a:ext cx="1459615" cy="1459615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CA496E-257A-4973-BF3A-9A2A6260669D}">
      <dsp:nvSpPr>
        <dsp:cNvPr id="0" name=""/>
        <dsp:cNvSpPr/>
      </dsp:nvSpPr>
      <dsp:spPr>
        <a:xfrm>
          <a:off x="6126861" y="481401"/>
          <a:ext cx="846576" cy="846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91C83-97B5-4DE3-A6DC-7E8FB70EFB99}">
      <dsp:nvSpPr>
        <dsp:cNvPr id="0" name=""/>
        <dsp:cNvSpPr/>
      </dsp:nvSpPr>
      <dsp:spPr>
        <a:xfrm>
          <a:off x="7592732" y="174881"/>
          <a:ext cx="3440522" cy="1459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baseline="0"/>
            <a:t>Adapt plan to accommodate the rest of your project</a:t>
          </a:r>
          <a:br>
            <a:rPr lang="en-GB" sz="2300" kern="1200" baseline="0"/>
          </a:br>
          <a:endParaRPr lang="en-US" sz="2300" kern="1200"/>
        </a:p>
      </dsp:txBody>
      <dsp:txXfrm>
        <a:off x="7592732" y="174881"/>
        <a:ext cx="3440522" cy="1459615"/>
      </dsp:txXfrm>
    </dsp:sp>
    <dsp:sp modelId="{8FDCB41A-EF08-42CB-B643-8F4B4D14C3EC}">
      <dsp:nvSpPr>
        <dsp:cNvPr id="0" name=""/>
        <dsp:cNvSpPr/>
      </dsp:nvSpPr>
      <dsp:spPr>
        <a:xfrm>
          <a:off x="7945" y="2304050"/>
          <a:ext cx="1459615" cy="1459615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D1F2E-0477-468C-8C5B-F6F32878932F}">
      <dsp:nvSpPr>
        <dsp:cNvPr id="0" name=""/>
        <dsp:cNvSpPr/>
      </dsp:nvSpPr>
      <dsp:spPr>
        <a:xfrm>
          <a:off x="314464" y="2610569"/>
          <a:ext cx="846576" cy="846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4F3B97-42B8-4D5A-81B3-F433573290DD}">
      <dsp:nvSpPr>
        <dsp:cNvPr id="0" name=""/>
        <dsp:cNvSpPr/>
      </dsp:nvSpPr>
      <dsp:spPr>
        <a:xfrm>
          <a:off x="1780335" y="2304050"/>
          <a:ext cx="3440522" cy="1459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baseline="0"/>
            <a:t>Think about ethical &amp; legal considerations</a:t>
          </a:r>
          <a:br>
            <a:rPr lang="en-GB" sz="2300" kern="1200" baseline="0"/>
          </a:br>
          <a:endParaRPr lang="en-US" sz="2300" kern="1200"/>
        </a:p>
      </dsp:txBody>
      <dsp:txXfrm>
        <a:off x="1780335" y="2304050"/>
        <a:ext cx="3440522" cy="1459615"/>
      </dsp:txXfrm>
    </dsp:sp>
    <dsp:sp modelId="{8B28183D-9230-4037-80A3-088CD07C6F1B}">
      <dsp:nvSpPr>
        <dsp:cNvPr id="0" name=""/>
        <dsp:cNvSpPr/>
      </dsp:nvSpPr>
      <dsp:spPr>
        <a:xfrm>
          <a:off x="5820342" y="2304050"/>
          <a:ext cx="1459615" cy="1459615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CC6E2D-B3E7-481D-93F6-C7FF140D2E3C}">
      <dsp:nvSpPr>
        <dsp:cNvPr id="0" name=""/>
        <dsp:cNvSpPr/>
      </dsp:nvSpPr>
      <dsp:spPr>
        <a:xfrm>
          <a:off x="6126861" y="2610569"/>
          <a:ext cx="846576" cy="846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39475-24D5-4736-9C6A-E6122282E24C}">
      <dsp:nvSpPr>
        <dsp:cNvPr id="0" name=""/>
        <dsp:cNvSpPr/>
      </dsp:nvSpPr>
      <dsp:spPr>
        <a:xfrm>
          <a:off x="7592732" y="2304050"/>
          <a:ext cx="3440522" cy="1459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baseline="0"/>
            <a:t>Think about archiving &amp; sharing</a:t>
          </a:r>
          <a:endParaRPr lang="en-US" sz="2300" kern="1200"/>
        </a:p>
      </dsp:txBody>
      <dsp:txXfrm>
        <a:off x="7592732" y="2304050"/>
        <a:ext cx="3440522" cy="14596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2C3C195-1416-4737-BDB6-5C4135B78FB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6F3AD96-DE29-4307-90C2-798F20EDC7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962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30673 </a:t>
            </a:r>
            <a:r>
              <a:rPr lang="en-US" dirty="0" err="1"/>
              <a:t>duplo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3AD96-DE29-4307-90C2-798F20EDC7D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038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5C5F6-20AF-3DF2-A15B-324B9A839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03BAD-9536-C3AB-0927-513A40165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BC5ED8-FCBB-DF71-E8CB-8CBC808A4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30673 </a:t>
            </a:r>
            <a:r>
              <a:rPr lang="en-US" dirty="0" err="1"/>
              <a:t>duplo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EB5D2-A2E3-8725-B33F-0A2DFEEB8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3AD96-DE29-4307-90C2-798F20EDC7D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071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676FC-2CCC-35A2-D818-0DDA496F9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47DEB68-6403-3C78-C17E-27CFCF868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B5B4B92-2A0E-5169-CD61-259FCD1B8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>
                <a:ea typeface="Calibri"/>
                <a:cs typeface="Calibri"/>
              </a:rPr>
              <a:t>We weten nu op het "onderste niveau" hoe we ons werk moeten documenteren en bewaren. </a:t>
            </a:r>
            <a:br>
              <a:rPr lang="nl-BE">
                <a:ea typeface="Calibri"/>
                <a:cs typeface="+mn-lt"/>
              </a:rPr>
            </a:br>
            <a:r>
              <a:rPr lang="nl-BE">
                <a:ea typeface="Calibri"/>
                <a:cs typeface="Calibri"/>
              </a:rPr>
              <a:t>Maar het overzicht bewaren van alles in niet simpel, dus documenteren en organiseren op projectniveau is een must. </a:t>
            </a:r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1EF6E58-9B9B-FF26-C712-9577F773D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3AD96-DE29-4307-90C2-798F20EDC7D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601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50B4-281E-C442-C487-BB45D6277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0BE8EB9-7CC1-2821-2E82-584DD8676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3973665-7DF2-96C7-4A92-297908F63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>
                <a:ea typeface="Calibri"/>
                <a:cs typeface="Calibri"/>
              </a:rPr>
              <a:t>We weten nu op het "onderste niveau" hoe we ons werk moeten documenteren en bewaren. </a:t>
            </a:r>
            <a:br>
              <a:rPr lang="nl-BE">
                <a:ea typeface="Calibri"/>
                <a:cs typeface="+mn-lt"/>
              </a:rPr>
            </a:br>
            <a:r>
              <a:rPr lang="nl-BE">
                <a:ea typeface="Calibri"/>
                <a:cs typeface="Calibri"/>
              </a:rPr>
              <a:t>Maar het overzicht bewaren van alles in niet simpel, dus documenteren en organiseren op projectniveau is een must. </a:t>
            </a:r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2840A11-EB1C-FDA8-6BB6-D263E3360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3AD96-DE29-4307-90C2-798F20EDC7D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284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B1B3-7283-A12D-6154-CFEE6D942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A99ACF6-5D8A-9B6E-4D2C-13797EB34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102500D-378A-DE6E-8311-08C70B43A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>
                <a:ea typeface="Calibri"/>
                <a:cs typeface="Calibri"/>
              </a:rPr>
              <a:t>We weten nu op het "onderste niveau" hoe we ons werk moeten documenteren en bewaren. </a:t>
            </a:r>
            <a:br>
              <a:rPr lang="nl-BE">
                <a:ea typeface="Calibri"/>
                <a:cs typeface="+mn-lt"/>
              </a:rPr>
            </a:br>
            <a:r>
              <a:rPr lang="nl-BE">
                <a:ea typeface="Calibri"/>
                <a:cs typeface="Calibri"/>
              </a:rPr>
              <a:t>Maar het overzicht bewaren van alles in niet simpel, dus documenteren en organiseren op projectniveau is een must. </a:t>
            </a:r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A3ED311-4798-C642-3D46-D26C8713B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3AD96-DE29-4307-90C2-798F20EDC7D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848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F4FB6-5A9A-3963-5F65-97BB55D6A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6CE22C8-C654-94F6-C860-F3D4DAA95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173B01B-7ECC-8F0A-6603-D6F621BE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>
                <a:ea typeface="Calibri"/>
                <a:cs typeface="Calibri"/>
              </a:rPr>
              <a:t>We weten nu op het "onderste niveau" hoe we ons werk moeten documenteren en bewaren. </a:t>
            </a:r>
            <a:br>
              <a:rPr lang="nl-BE">
                <a:ea typeface="Calibri"/>
                <a:cs typeface="+mn-lt"/>
              </a:rPr>
            </a:br>
            <a:r>
              <a:rPr lang="nl-BE">
                <a:ea typeface="Calibri"/>
                <a:cs typeface="Calibri"/>
              </a:rPr>
              <a:t>Maar het overzicht bewaren van alles in niet simpel, dus documenteren en organiseren op projectniveau is een must. </a:t>
            </a:r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D3840DB-9C7C-8985-C67F-ABAE74B53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3AD96-DE29-4307-90C2-798F20EDC7D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08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E3450-9518-78DF-5914-9709F063B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CB493A7-736F-B7EE-83CF-5991618C5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8ABF7CF-620D-8996-8C94-6725052FB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>
                <a:ea typeface="Calibri"/>
                <a:cs typeface="Calibri"/>
              </a:rPr>
              <a:t>We weten nu op het "onderste niveau" hoe we ons werk moeten documenteren en bewaren. </a:t>
            </a:r>
            <a:br>
              <a:rPr lang="nl-BE">
                <a:ea typeface="Calibri"/>
                <a:cs typeface="+mn-lt"/>
              </a:rPr>
            </a:br>
            <a:r>
              <a:rPr lang="nl-BE">
                <a:ea typeface="Calibri"/>
                <a:cs typeface="Calibri"/>
              </a:rPr>
              <a:t>Maar het overzicht bewaren van alles in niet simpel, dus documenteren en organiseren op projectniveau is een must. </a:t>
            </a:r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AFAA042-9033-85CB-897D-06DA33375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3AD96-DE29-4307-90C2-798F20EDC7DA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803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err="1"/>
              <a:t>Easiest</a:t>
            </a:r>
            <a:r>
              <a:rPr lang="nl-BE"/>
              <a:t> </a:t>
            </a:r>
            <a:r>
              <a:rPr lang="nl-BE" err="1"/>
              <a:t>example</a:t>
            </a:r>
            <a:r>
              <a:rPr lang="nl-BE"/>
              <a:t> = metadata fields in </a:t>
            </a:r>
            <a:r>
              <a:rPr lang="nl-BE" err="1"/>
              <a:t>repository</a:t>
            </a:r>
            <a:r>
              <a:rPr lang="nl-BE"/>
              <a:t>: </a:t>
            </a:r>
          </a:p>
          <a:p>
            <a:r>
              <a:rPr lang="nl-BE" err="1"/>
              <a:t>structured</a:t>
            </a:r>
            <a:r>
              <a:rPr lang="nl-BE"/>
              <a:t>, machine </a:t>
            </a:r>
            <a:r>
              <a:rPr lang="nl-BE" err="1"/>
              <a:t>readable</a:t>
            </a:r>
            <a:r>
              <a:rPr lang="nl-BE"/>
              <a:t> (format XML, JSON): </a:t>
            </a:r>
            <a:r>
              <a:rPr lang="nl-BE" err="1"/>
              <a:t>makes</a:t>
            </a:r>
            <a:r>
              <a:rPr lang="nl-BE"/>
              <a:t> </a:t>
            </a:r>
            <a:r>
              <a:rPr lang="nl-BE" err="1"/>
              <a:t>it</a:t>
            </a:r>
            <a:r>
              <a:rPr lang="nl-BE"/>
              <a:t> more </a:t>
            </a:r>
            <a:r>
              <a:rPr lang="nl-BE" err="1"/>
              <a:t>exchangeable</a:t>
            </a:r>
            <a:r>
              <a:rPr lang="nl-BE"/>
              <a:t> </a:t>
            </a:r>
            <a:r>
              <a:rPr lang="nl-BE" err="1"/>
              <a:t>with</a:t>
            </a:r>
            <a:r>
              <a:rPr lang="nl-BE"/>
              <a:t> </a:t>
            </a:r>
            <a:r>
              <a:rPr lang="nl-BE" err="1"/>
              <a:t>other</a:t>
            </a:r>
            <a:r>
              <a:rPr lang="nl-BE"/>
              <a:t> systems &amp; platforms</a:t>
            </a:r>
          </a:p>
          <a:p>
            <a:r>
              <a:rPr lang="nl-BE" err="1"/>
              <a:t>Standardized</a:t>
            </a:r>
            <a:r>
              <a:rPr lang="nl-BE"/>
              <a:t> fields &amp; </a:t>
            </a:r>
            <a:r>
              <a:rPr lang="nl-BE" err="1"/>
              <a:t>terms</a:t>
            </a:r>
            <a:r>
              <a:rPr lang="nl-BE"/>
              <a:t>; </a:t>
            </a:r>
            <a:r>
              <a:rPr lang="nl-BE" err="1"/>
              <a:t>controlled</a:t>
            </a:r>
            <a:r>
              <a:rPr lang="nl-BE"/>
              <a:t> </a:t>
            </a:r>
            <a:r>
              <a:rPr lang="nl-BE" err="1"/>
              <a:t>vocabularies</a:t>
            </a:r>
            <a:r>
              <a:rPr lang="nl-BE"/>
              <a:t> </a:t>
            </a:r>
            <a:r>
              <a:rPr lang="nl-BE" err="1"/>
              <a:t>integrated</a:t>
            </a:r>
            <a:endParaRPr lang="nl-BE"/>
          </a:p>
          <a:p>
            <a:r>
              <a:rPr lang="nl-BE"/>
              <a:t>DOI </a:t>
            </a:r>
            <a:r>
              <a:rPr lang="nl-BE" err="1"/>
              <a:t>included</a:t>
            </a:r>
            <a:r>
              <a:rPr lang="nl-BE"/>
              <a:t> in </a:t>
            </a:r>
            <a:r>
              <a:rPr lang="nl-BE" err="1"/>
              <a:t>the</a:t>
            </a:r>
            <a:r>
              <a:rPr lang="nl-BE"/>
              <a:t> metadata</a:t>
            </a:r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E2983-8885-3341-8D67-D12EAE12B143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8789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D068E-3843-4D1D-8C37-9896159D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35277-24B6-A481-FA55-F0AF04B2D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770481-1C6D-5B9E-873E-5C8CC4093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Story:</a:t>
            </a:r>
          </a:p>
          <a:p>
            <a:pPr marL="171450" indent="-171450">
              <a:buFontTx/>
              <a:buChar char="-"/>
            </a:pPr>
            <a:r>
              <a:rPr lang="en-US"/>
              <a:t>We are pretty ambitious and want you guys to leave with some tangential – useful outputs that will serve you during your project. This is a pilot so we’ll have to see how it goes, but we are hopeful it will be worth your while</a:t>
            </a:r>
          </a:p>
          <a:p>
            <a:pPr marL="171450" indent="-171450">
              <a:buFontTx/>
              <a:buChar char="-"/>
            </a:pPr>
            <a:r>
              <a:rPr lang="en-US"/>
              <a:t>But we only have 1 day, so it will be for a subset of your project. But hopefully you’ll know enough by the end to do all this for the rest of your project as well</a:t>
            </a:r>
          </a:p>
          <a:p>
            <a:pPr marL="171450" indent="-171450">
              <a:buFontTx/>
              <a:buChar char="-"/>
            </a:pPr>
            <a:r>
              <a:rPr lang="en-US"/>
              <a:t>A visual overview of your project or dataflow, with a very detailed highlight on one part</a:t>
            </a:r>
          </a:p>
          <a:p>
            <a:pPr marL="171450" indent="-171450">
              <a:buFontTx/>
              <a:buChar char="-"/>
            </a:pPr>
            <a:r>
              <a:rPr lang="en-US"/>
              <a:t>With this, a very comprehensive documentation and storage plan</a:t>
            </a:r>
          </a:p>
          <a:p>
            <a:pPr marL="171450" indent="-171450">
              <a:buFontTx/>
              <a:buChar char="-"/>
            </a:pPr>
            <a:r>
              <a:rPr lang="en-US"/>
              <a:t>A file naming and folder structure scheme</a:t>
            </a:r>
          </a:p>
          <a:p>
            <a:pPr marL="171450" indent="-171450">
              <a:buFontTx/>
              <a:buChar char="-"/>
            </a:pPr>
            <a:r>
              <a:rPr lang="en-US"/>
              <a:t>And a partly filled in Project README file to document the high level stuff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And to make it so you are in line with the RDM requirements, we’ll translate and summarize all of that in a DMP also.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74AB3-885B-1C05-CF12-85C40075B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3AD96-DE29-4307-90C2-798F20EDC7D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920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B25F5-D8C5-306E-ED3B-FE2E48F2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02E4A-5D86-5A82-3486-7F405CAB9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6F1D8-DC3B-3D5E-6077-D5081441F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Story:</a:t>
            </a:r>
          </a:p>
          <a:p>
            <a:pPr marL="171450" indent="-171450">
              <a:buFontTx/>
              <a:buChar char="-"/>
            </a:pPr>
            <a:r>
              <a:rPr lang="en-US"/>
              <a:t>We are pretty ambitious and want you guys to leave with some tangential – useful outputs that will serve you during your project. This is a pilot so we’ll have to see how it goes, but we are hopeful it will be worth your while</a:t>
            </a:r>
          </a:p>
          <a:p>
            <a:pPr marL="171450" indent="-171450">
              <a:buFontTx/>
              <a:buChar char="-"/>
            </a:pPr>
            <a:r>
              <a:rPr lang="en-US"/>
              <a:t>But we only have 1 day, so it will be for a subset of your project. But hopefully you’ll know enough by the end to do all this for the rest of your project as well</a:t>
            </a:r>
          </a:p>
          <a:p>
            <a:pPr marL="171450" indent="-171450">
              <a:buFontTx/>
              <a:buChar char="-"/>
            </a:pPr>
            <a:r>
              <a:rPr lang="en-US"/>
              <a:t>A visual overview of your project or dataflow, with a very detailed highlight on one part</a:t>
            </a:r>
          </a:p>
          <a:p>
            <a:pPr marL="171450" indent="-171450">
              <a:buFontTx/>
              <a:buChar char="-"/>
            </a:pPr>
            <a:r>
              <a:rPr lang="en-US"/>
              <a:t>With this, a very comprehensive documentation and storage plan</a:t>
            </a:r>
          </a:p>
          <a:p>
            <a:pPr marL="171450" indent="-171450">
              <a:buFontTx/>
              <a:buChar char="-"/>
            </a:pPr>
            <a:r>
              <a:rPr lang="en-US"/>
              <a:t>A file naming and folder structure scheme</a:t>
            </a:r>
          </a:p>
          <a:p>
            <a:pPr marL="171450" indent="-171450">
              <a:buFontTx/>
              <a:buChar char="-"/>
            </a:pPr>
            <a:r>
              <a:rPr lang="en-US"/>
              <a:t>And a partly filled in Project README file to document the high level stuff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And to make it so you are in line with the RDM requirements, we’ll translate and summarize all of that in a DMP also.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E772A-7C5C-7DD5-985A-F268D8831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3AD96-DE29-4307-90C2-798F20EDC7DA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136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/>
        </p:nvSpPr>
        <p:spPr>
          <a:xfrm>
            <a:off x="0" y="648000"/>
            <a:ext cx="12193200" cy="5562000"/>
          </a:xfrm>
          <a:prstGeom prst="rect">
            <a:avLst/>
          </a:prstGeom>
          <a:solidFill>
            <a:srgbClr val="BAC1B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3" name="Titel 1"/>
          <p:cNvSpPr>
            <a:spLocks noGrp="1"/>
          </p:cNvSpPr>
          <p:nvPr>
            <p:ph type="ctrTitle"/>
          </p:nvPr>
        </p:nvSpPr>
        <p:spPr>
          <a:xfrm>
            <a:off x="576001" y="1440000"/>
            <a:ext cx="11030400" cy="2386800"/>
          </a:xfrm>
        </p:spPr>
        <p:txBody>
          <a:bodyPr anchor="b" anchorCtr="0"/>
          <a:lstStyle>
            <a:lvl1pPr algn="l">
              <a:defRPr sz="6000" baseline="0">
                <a:solidFill>
                  <a:srgbClr val="1D8DB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Ondertitel 2"/>
          <p:cNvSpPr>
            <a:spLocks noGrp="1"/>
          </p:cNvSpPr>
          <p:nvPr>
            <p:ph type="subTitle" idx="1"/>
          </p:nvPr>
        </p:nvSpPr>
        <p:spPr>
          <a:xfrm>
            <a:off x="575999" y="3960000"/>
            <a:ext cx="11041200" cy="1369868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rgbClr val="005E7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3663797" cy="720000"/>
          </a:xfrm>
          <a:prstGeom prst="rect">
            <a:avLst/>
          </a:prstGeom>
        </p:spPr>
      </p:pic>
      <p:pic>
        <p:nvPicPr>
          <p:cNvPr id="10" name="Afbeelding 9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" t="37987" r="381" b="37981"/>
          <a:stretch/>
        </p:blipFill>
        <p:spPr>
          <a:xfrm>
            <a:off x="0" y="6210000"/>
            <a:ext cx="12192000" cy="648000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00" y="5850000"/>
            <a:ext cx="1650337" cy="7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52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jdelijke aanduiding voor dianummer 5"/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576000" y="6218376"/>
            <a:ext cx="648000" cy="648002"/>
          </a:xfrm>
          <a:prstGeom prst="rect">
            <a:avLst/>
          </a:prstGeom>
        </p:spPr>
        <p:txBody>
          <a:bodyPr/>
          <a:lstStyle/>
          <a:p>
            <a:fld id="{CC571AF6-6671-4538-974D-3AEC00AC0B82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267A4DD-F7BA-3E0C-86D5-2A21BF4441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4000" y="6220496"/>
            <a:ext cx="5624914" cy="637504"/>
          </a:xfrm>
        </p:spPr>
        <p:txBody>
          <a:bodyPr anchor="ctr"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references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5207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1"/>
            <a:ext cx="12193200" cy="6227180"/>
          </a:xfrm>
          <a:prstGeom prst="rect">
            <a:avLst/>
          </a:prstGeom>
          <a:solidFill>
            <a:srgbClr val="BAC1B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6000" y="2613144"/>
            <a:ext cx="11041200" cy="1325563"/>
          </a:xfrm>
        </p:spPr>
        <p:txBody>
          <a:bodyPr>
            <a:noAutofit/>
          </a:bodyPr>
          <a:lstStyle>
            <a:lvl1pPr algn="ctr">
              <a:defRPr sz="8000" baseline="0">
                <a:solidFill>
                  <a:srgbClr val="1D8DB0"/>
                </a:solidFill>
              </a:defRPr>
            </a:lvl1pPr>
          </a:lstStyle>
          <a:p>
            <a:r>
              <a:rPr lang="nl-NL"/>
              <a:t>THANK YOU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576000" y="6218376"/>
            <a:ext cx="648000" cy="648002"/>
          </a:xfrm>
          <a:prstGeom prst="rect">
            <a:avLst/>
          </a:prstGeom>
        </p:spPr>
        <p:txBody>
          <a:bodyPr/>
          <a:lstStyle/>
          <a:p>
            <a:fld id="{85114D95-D6A6-084A-9D9C-617B45E258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8541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1"/>
            <a:ext cx="12193200" cy="6227180"/>
          </a:xfrm>
          <a:prstGeom prst="rect">
            <a:avLst/>
          </a:prstGeom>
          <a:solidFill>
            <a:srgbClr val="BAC1B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2" name="Titel 1"/>
          <p:cNvSpPr>
            <a:spLocks noGrp="1"/>
          </p:cNvSpPr>
          <p:nvPr>
            <p:ph type="ctrTitle"/>
          </p:nvPr>
        </p:nvSpPr>
        <p:spPr>
          <a:xfrm>
            <a:off x="575999" y="1068972"/>
            <a:ext cx="11041200" cy="2386800"/>
          </a:xfrm>
        </p:spPr>
        <p:txBody>
          <a:bodyPr anchor="b"/>
          <a:lstStyle>
            <a:lvl1pPr algn="l">
              <a:defRPr sz="6000" baseline="0">
                <a:solidFill>
                  <a:srgbClr val="1D8DB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23" name="Ondertitel 2"/>
          <p:cNvSpPr>
            <a:spLocks noGrp="1"/>
          </p:cNvSpPr>
          <p:nvPr>
            <p:ph type="subTitle" idx="1"/>
          </p:nvPr>
        </p:nvSpPr>
        <p:spPr>
          <a:xfrm>
            <a:off x="576001" y="3572521"/>
            <a:ext cx="11041200" cy="988941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rgbClr val="005E7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576000" y="6218376"/>
            <a:ext cx="648000" cy="648002"/>
          </a:xfrm>
          <a:prstGeom prst="rect">
            <a:avLst/>
          </a:prstGeom>
        </p:spPr>
        <p:txBody>
          <a:bodyPr/>
          <a:lstStyle/>
          <a:p>
            <a:fld id="{85114D95-D6A6-084A-9D9C-617B45E258A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675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576000" y="6218376"/>
            <a:ext cx="648000" cy="648002"/>
          </a:xfrm>
          <a:prstGeom prst="rect">
            <a:avLst/>
          </a:prstGeom>
        </p:spPr>
        <p:txBody>
          <a:bodyPr/>
          <a:lstStyle/>
          <a:p>
            <a:fld id="{325E1C3C-2FAA-47B3-A014-CAB7A4743402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13481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EED3-F90B-41BB-B53D-27A916E5E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922C9-9B20-DA88-3981-F6D8684CE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3EFBE-6EC3-9AAA-CB71-8F6093E78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571AF6-6671-4538-974D-3AEC00AC0B8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4D95-D6A6-084A-9D9C-617B45E258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732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" t="37987" r="381" b="37981"/>
          <a:stretch/>
        </p:blipFill>
        <p:spPr>
          <a:xfrm>
            <a:off x="0" y="6210000"/>
            <a:ext cx="12192000" cy="648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2045563"/>
            <a:ext cx="11041200" cy="39385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8376"/>
            <a:ext cx="648000" cy="64800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CC571AF6-6671-4538-974D-3AEC00AC0B82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Afbeelding 10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982" y="6358188"/>
            <a:ext cx="1831898" cy="360000"/>
          </a:xfrm>
          <a:prstGeom prst="rect">
            <a:avLst/>
          </a:prstGeom>
        </p:spPr>
      </p:pic>
      <p:sp>
        <p:nvSpPr>
          <p:cNvPr id="10" name="Tijdelijke aanduiding voor voettekst 4"/>
          <p:cNvSpPr txBox="1">
            <a:spLocks/>
          </p:cNvSpPr>
          <p:nvPr userDrawn="1"/>
        </p:nvSpPr>
        <p:spPr>
          <a:xfrm>
            <a:off x="6748041" y="6209998"/>
            <a:ext cx="3411159" cy="648002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000" b="1" i="0" baseline="0"/>
          </a:p>
          <a:p>
            <a:r>
              <a:rPr lang="nl-NL" sz="1000" b="1" i="0" baseline="0"/>
              <a:t>2Bergen</a:t>
            </a:r>
            <a:r>
              <a:rPr lang="nl-NL" sz="1000" b="0" i="0" baseline="0"/>
              <a:t>    </a:t>
            </a:r>
            <a:br>
              <a:rPr lang="nl-NL" sz="1000" b="1" baseline="0"/>
            </a:br>
            <a:endParaRPr lang="nl-NL" sz="1000" baseline="0"/>
          </a:p>
        </p:txBody>
      </p:sp>
    </p:spTree>
    <p:extLst>
      <p:ext uri="{BB962C8B-B14F-4D97-AF65-F5344CB8AC3E}">
        <p14:creationId xmlns:p14="http://schemas.microsoft.com/office/powerpoint/2010/main" val="60316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67" r:id="rId6"/>
    <p:sldLayoutId id="2147483681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0" kern="1200" baseline="0">
          <a:solidFill>
            <a:srgbClr val="52BDEC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 baseline="0">
          <a:solidFill>
            <a:srgbClr val="005E77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5E77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5E77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5E77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5E77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BBF5AC9_33FA4669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7BBF5ABD_F66B640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7907/z6czh-7zx60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rdm.pages.gitlab.kuleuven.be/repository-trustworthines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hyperlink" Target="https://rdr.kuleuven.be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kuleuven.be/rdm/en/rdr/full-metadata-model" TargetMode="External"/><Relationship Id="rId5" Type="http://schemas.openxmlformats.org/officeDocument/2006/relationships/image" Target="../media/image22.png"/><Relationship Id="rId4" Type="http://schemas.openxmlformats.org/officeDocument/2006/relationships/hyperlink" Target="https://doi.org/10.48804/DZ5XAG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CBF4-9A4F-B592-5F40-2FDD4A0D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49D4AF-39C5-64D2-90D9-B0DD5C2D9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999" y="1390305"/>
            <a:ext cx="11030400" cy="2150488"/>
          </a:xfrm>
        </p:spPr>
        <p:txBody>
          <a:bodyPr>
            <a:normAutofit/>
          </a:bodyPr>
          <a:lstStyle/>
          <a:p>
            <a:r>
              <a:rPr lang="en-US" sz="4000" b="1"/>
              <a:t>Introduction to RDM in Life Sciences</a:t>
            </a:r>
            <a:br>
              <a:rPr lang="en-US" sz="4000" b="1"/>
            </a:br>
            <a:r>
              <a:rPr lang="en-US" sz="4000" b="1"/>
              <a:t>Session 5: Plan for the macro-level</a:t>
            </a:r>
            <a:endParaRPr lang="en-GB" sz="4000" b="1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9019D96-986C-CDB0-D0C3-17F9FF1C9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99" y="3960000"/>
            <a:ext cx="11041200" cy="1774780"/>
          </a:xfrm>
        </p:spPr>
        <p:txBody>
          <a:bodyPr/>
          <a:lstStyle/>
          <a:p>
            <a:r>
              <a:rPr lang="en-US"/>
              <a:t>Audience: ECR from VIB @ </a:t>
            </a:r>
            <a:r>
              <a:rPr lang="en-US" err="1"/>
              <a:t>KULeuven</a:t>
            </a:r>
            <a:endParaRPr lang="en-US"/>
          </a:p>
          <a:p>
            <a:r>
              <a:rPr lang="en-US"/>
              <a:t>November 25</a:t>
            </a:r>
            <a:r>
              <a:rPr lang="en-US" baseline="30000"/>
              <a:t>th</a:t>
            </a:r>
            <a:r>
              <a:rPr lang="en-US"/>
              <a:t> 2025</a:t>
            </a:r>
          </a:p>
          <a:p>
            <a:endParaRPr lang="en-US"/>
          </a:p>
          <a:p>
            <a:r>
              <a:rPr lang="en-US"/>
              <a:t>Sylvette Vanderstraeten – Inge Mannaerts – Maarten Jackers</a:t>
            </a:r>
          </a:p>
        </p:txBody>
      </p: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9F97B9A4-E0B0-C408-900B-F7B502D13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679" y="3959999"/>
            <a:ext cx="2375735" cy="1774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8387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7556A-8546-1657-DCE3-1D301E0A2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32257-EF59-2624-F56A-7F6FB7C8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build with DUPLO</a:t>
            </a:r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EC199-13D3-380F-3AA9-E19932D7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1AF6-6671-4538-974D-3AEC00AC0B82}" type="slidenum">
              <a:rPr lang="en-GB" smtClean="0"/>
              <a:t>2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2AD74-F9FE-11A2-9F07-D6EBA42492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720400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DE22A-4182-5030-D434-0AC8924F4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4E754D39-1A6B-0A38-C7EE-27694D63CC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87" b="21858"/>
          <a:stretch>
            <a:fillRect/>
          </a:stretch>
        </p:blipFill>
        <p:spPr bwMode="auto">
          <a:xfrm>
            <a:off x="5677199" y="3935663"/>
            <a:ext cx="3724265" cy="2113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9DCA57-1F84-E465-8C35-C88951E945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22" t="7889" r="7925"/>
          <a:stretch>
            <a:fillRect/>
          </a:stretch>
        </p:blipFill>
        <p:spPr>
          <a:xfrm>
            <a:off x="4162503" y="474349"/>
            <a:ext cx="3724265" cy="38300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0B7D5-77A6-879D-B480-9F10007E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build with DUPLO</a:t>
            </a:r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D0B05-6C35-D1DB-6ABD-D6E1EABD8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1AF6-6671-4538-974D-3AEC00AC0B82}" type="slidenum">
              <a:rPr lang="en-GB" smtClean="0"/>
              <a:t>3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4A2BDD-A398-A063-3B91-78407B5D44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F7CC7A-49FD-045A-58D3-8FD902C7FC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7"/>
          <a:stretch>
            <a:fillRect/>
          </a:stretch>
        </p:blipFill>
        <p:spPr bwMode="auto">
          <a:xfrm>
            <a:off x="7927752" y="434989"/>
            <a:ext cx="3954062" cy="325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208DABA-55D1-FEC5-1536-E0CA29A54D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495" t="-399" r="36882" b="28620"/>
          <a:stretch>
            <a:fillRect/>
          </a:stretch>
        </p:blipFill>
        <p:spPr bwMode="auto">
          <a:xfrm>
            <a:off x="-1257060" y="1691519"/>
            <a:ext cx="5419563" cy="4252265"/>
          </a:xfrm>
          <a:prstGeom prst="flowChartOffpage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2330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B9B0D-2266-1651-5C55-8AC8E62A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B5818-F979-6600-E18C-D70326F1F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5469F-059D-329C-8FAB-6307B4C1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1AF6-6671-4538-974D-3AEC00AC0B82}" type="slidenum">
              <a:rPr lang="en-GB" smtClean="0"/>
              <a:t>4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DC1942-A62B-A48F-92FB-A0EFB77A03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088C74-6990-D894-3717-774B0C016B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62" b="26307"/>
          <a:stretch>
            <a:fillRect/>
          </a:stretch>
        </p:blipFill>
        <p:spPr>
          <a:xfrm>
            <a:off x="574800" y="3410496"/>
            <a:ext cx="4905375" cy="2689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43D7EE-842A-E485-3262-7E90149622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67" t="27728" r="15380" b="22807"/>
          <a:stretch>
            <a:fillRect/>
          </a:stretch>
        </p:blipFill>
        <p:spPr>
          <a:xfrm>
            <a:off x="7344697" y="2735778"/>
            <a:ext cx="4571060" cy="33923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AC509A-42AE-55EC-327F-7FFCA65E9D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9582" y="263031"/>
            <a:ext cx="3406435" cy="3048264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79EDC2F-6BA9-528C-45BA-76EED20A29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8354" b="83122" l="23207" r="72574">
                        <a14:foregroundMark x1="23207" y1="36709" x2="25738" y2="35443"/>
                        <a14:foregroundMark x1="32911" y1="21730" x2="41350" y2="19831"/>
                        <a14:foregroundMark x1="72574" y1="36709" x2="70675" y2="35021"/>
                        <a14:foregroundMark x1="48945" y1="79536" x2="62658" y2="79958"/>
                        <a14:foregroundMark x1="55696" y1="83333" x2="52532" y2="82489"/>
                        <a14:foregroundMark x1="35654" y1="18776" x2="38397" y2="183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189" t="14795" r="21711" b="15623"/>
          <a:stretch>
            <a:fillRect/>
          </a:stretch>
        </p:blipFill>
        <p:spPr bwMode="auto">
          <a:xfrm>
            <a:off x="5789763" y="43470"/>
            <a:ext cx="2692444" cy="316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7197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90EC29-8146-CB48-6969-8F9F513E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34FA4B5-1F6A-9203-C235-739ED4D15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427" y="2477563"/>
            <a:ext cx="3482642" cy="37341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C1C568-A5D7-3D9B-FACD-E577C907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64E1D-A42A-097F-912B-A4989BE95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1AF6-6671-4538-974D-3AEC00AC0B82}" type="slidenum">
              <a:rPr lang="en-GB" smtClean="0"/>
              <a:t>5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7149EC-702F-F6FF-2CCE-24E37BF76E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B2472B1-8B7F-4468-3C12-DC45359B50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7"/>
          <a:stretch>
            <a:fillRect/>
          </a:stretch>
        </p:blipFill>
        <p:spPr bwMode="auto">
          <a:xfrm>
            <a:off x="8428490" y="0"/>
            <a:ext cx="3575860" cy="294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2A76567-5CF7-6235-6326-389D815FB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50" y="2930162"/>
            <a:ext cx="2886075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C15A11-4AAD-A96B-CE6B-1DB63E70AB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220" y="98854"/>
            <a:ext cx="2953063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96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530C0-E7EC-07BB-46A9-ED1D9DC1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E08E-CD9A-418B-1A4C-AA75188E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Keep the overview</a:t>
            </a:r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4F5F4-7679-3D8B-CA49-585E694A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C571AF6-6671-4538-974D-3AEC00AC0B82}" type="slidenum">
              <a:rPr lang="en-GB" smtClean="0"/>
              <a:t>6</a:t>
            </a:fld>
            <a:endParaRPr lang="en-GB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701ED3C6-ECAA-B554-932D-0BEF87E21BE1}"/>
              </a:ext>
            </a:extLst>
          </p:cNvPr>
          <p:cNvSpPr txBox="1">
            <a:spLocks/>
          </p:cNvSpPr>
          <p:nvPr/>
        </p:nvSpPr>
        <p:spPr>
          <a:xfrm>
            <a:off x="576000" y="2045563"/>
            <a:ext cx="11041200" cy="39385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u="sng">
                <a:latin typeface="Arial"/>
                <a:cs typeface="Arial"/>
              </a:rPr>
              <a:t>Organize your project</a:t>
            </a:r>
          </a:p>
          <a:p>
            <a:pPr marL="457200" lvl="1" indent="0">
              <a:buFont typeface="Arial"/>
              <a:buNone/>
            </a:pPr>
            <a:endParaRPr lang="en-GB" sz="1050">
              <a:sym typeface="Wingdings" panose="05000000000000000000" pitchFamily="2" charset="2"/>
            </a:endParaRPr>
          </a:p>
          <a:p>
            <a:pPr lvl="1">
              <a:buFontTx/>
              <a:buChar char="–"/>
            </a:pPr>
            <a:r>
              <a:rPr lang="en-GB"/>
              <a:t>README file</a:t>
            </a:r>
          </a:p>
          <a:p>
            <a:pPr lvl="1">
              <a:buFontTx/>
              <a:buChar char="–"/>
            </a:pPr>
            <a:r>
              <a:rPr lang="en-GB"/>
              <a:t>File naming convention</a:t>
            </a:r>
          </a:p>
          <a:p>
            <a:pPr lvl="1">
              <a:buFontTx/>
              <a:buChar char="–"/>
            </a:pPr>
            <a:r>
              <a:rPr lang="en-GB"/>
              <a:t>Folder structure</a:t>
            </a:r>
          </a:p>
          <a:p>
            <a:pPr lvl="1">
              <a:buFontTx/>
              <a:buChar char="–"/>
            </a:pPr>
            <a:r>
              <a:rPr lang="en-GB"/>
              <a:t>Metadata</a:t>
            </a:r>
          </a:p>
          <a:p>
            <a:pPr lvl="1"/>
            <a:endParaRPr lang="en-GB"/>
          </a:p>
          <a:p>
            <a:endParaRPr lang="en-US" b="1" u="sng">
              <a:latin typeface="Arial"/>
              <a:cs typeface="Arial"/>
            </a:endParaRPr>
          </a:p>
          <a:p>
            <a:pPr marL="742950" lvl="2" indent="-285750">
              <a:lnSpc>
                <a:spcPct val="80000"/>
              </a:lnSpc>
              <a:spcBef>
                <a:spcPts val="1000"/>
              </a:spcBef>
              <a:buFont typeface="Calibri"/>
              <a:buChar char="-"/>
            </a:pPr>
            <a:endParaRPr lang="en-US"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0990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D7A1A-27FB-426E-1232-19EC30B45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961BB-7584-1BF7-8343-B162C40E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Keep the overview</a:t>
            </a:r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41A2F-5A0D-F104-72C1-876FF3056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C571AF6-6671-4538-974D-3AEC00AC0B82}" type="slidenum">
              <a:rPr lang="en-GB" smtClean="0"/>
              <a:t>7</a:t>
            </a:fld>
            <a:endParaRPr lang="en-GB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8409CC21-13FF-8A93-0690-20D24661D910}"/>
              </a:ext>
            </a:extLst>
          </p:cNvPr>
          <p:cNvSpPr txBox="1">
            <a:spLocks/>
          </p:cNvSpPr>
          <p:nvPr/>
        </p:nvSpPr>
        <p:spPr>
          <a:xfrm>
            <a:off x="576000" y="2045563"/>
            <a:ext cx="11041200" cy="39385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u="sng">
                <a:latin typeface="Arial"/>
                <a:cs typeface="Arial"/>
              </a:rPr>
              <a:t>Organize your project</a:t>
            </a:r>
          </a:p>
          <a:p>
            <a:pPr marL="457200" lvl="1" indent="0">
              <a:buFont typeface="Arial"/>
              <a:buNone/>
            </a:pPr>
            <a:endParaRPr lang="en-GB" sz="1050">
              <a:sym typeface="Wingdings" panose="05000000000000000000" pitchFamily="2" charset="2"/>
            </a:endParaRPr>
          </a:p>
          <a:p>
            <a:pPr lvl="1">
              <a:buFontTx/>
              <a:buChar char="–"/>
            </a:pPr>
            <a:r>
              <a:rPr lang="en-GB" b="1">
                <a:solidFill>
                  <a:srgbClr val="52BDEC"/>
                </a:solidFill>
              </a:rPr>
              <a:t>README file</a:t>
            </a:r>
          </a:p>
          <a:p>
            <a:pPr lvl="2">
              <a:buFontTx/>
              <a:buChar char="–"/>
            </a:pPr>
            <a:r>
              <a:rPr lang="en-US"/>
              <a:t>Open format (.txt .md)</a:t>
            </a:r>
          </a:p>
          <a:p>
            <a:pPr lvl="2">
              <a:buFontTx/>
              <a:buChar char="–"/>
            </a:pPr>
            <a:r>
              <a:rPr lang="en-US"/>
              <a:t>General information (funder, project description,…)</a:t>
            </a:r>
          </a:p>
          <a:p>
            <a:pPr lvl="2">
              <a:buFontTx/>
              <a:buChar char="–"/>
            </a:pPr>
            <a:r>
              <a:rPr lang="en-US"/>
              <a:t>Document Folder structure &amp; naming </a:t>
            </a:r>
          </a:p>
          <a:p>
            <a:pPr lvl="2">
              <a:buFontTx/>
              <a:buChar char="–"/>
            </a:pPr>
            <a:r>
              <a:rPr lang="en-US"/>
              <a:t>Necessary for repository (see later)</a:t>
            </a:r>
          </a:p>
          <a:p>
            <a:pPr lvl="2">
              <a:buFontTx/>
              <a:buChar char="–"/>
            </a:pPr>
            <a:r>
              <a:rPr lang="en-GB"/>
              <a:t>Use template!</a:t>
            </a:r>
          </a:p>
          <a:p>
            <a:pPr lvl="1">
              <a:buFontTx/>
              <a:buChar char="–"/>
            </a:pPr>
            <a:r>
              <a:rPr lang="en-GB"/>
              <a:t>File naming convention</a:t>
            </a:r>
          </a:p>
          <a:p>
            <a:pPr lvl="1">
              <a:buFontTx/>
              <a:buChar char="–"/>
            </a:pPr>
            <a:r>
              <a:rPr lang="en-GB"/>
              <a:t>Folder structure</a:t>
            </a:r>
          </a:p>
          <a:p>
            <a:pPr lvl="1">
              <a:buFontTx/>
              <a:buChar char="–"/>
            </a:pPr>
            <a:r>
              <a:rPr lang="en-GB"/>
              <a:t>Metadata</a:t>
            </a:r>
          </a:p>
          <a:p>
            <a:pPr lvl="1"/>
            <a:endParaRPr lang="en-GB"/>
          </a:p>
          <a:p>
            <a:endParaRPr lang="en-US" b="1" u="sng">
              <a:latin typeface="Arial"/>
              <a:cs typeface="Arial"/>
            </a:endParaRPr>
          </a:p>
          <a:p>
            <a:pPr marL="742950" lvl="2" indent="-285750">
              <a:lnSpc>
                <a:spcPct val="80000"/>
              </a:lnSpc>
              <a:spcBef>
                <a:spcPts val="1000"/>
              </a:spcBef>
              <a:buFont typeface="Calibri"/>
              <a:buChar char="-"/>
            </a:pPr>
            <a:endParaRPr lang="en-US"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8922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48FA-F2E4-796C-93F2-16C6ACD6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7: Make a README file for your project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AD73F-8EBF-5D79-6AA3-24B918DD7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Exercise bundle p.5</a:t>
            </a:r>
          </a:p>
          <a:p>
            <a:pPr marL="0" indent="0">
              <a:buNone/>
            </a:pPr>
            <a:r>
              <a:rPr lang="en-US" b="1"/>
              <a:t>Instruction: 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 sz="2400"/>
              <a:t>Open README_ProjectTemplate.txt</a:t>
            </a:r>
            <a:br>
              <a:rPr lang="en-US" sz="2400"/>
            </a:br>
            <a:endParaRPr lang="en-US" sz="2400"/>
          </a:p>
          <a:p>
            <a:pPr marL="514350" indent="-514350">
              <a:buFont typeface="+mj-lt"/>
              <a:buAutoNum type="arabicPeriod"/>
            </a:pPr>
            <a:r>
              <a:rPr lang="en-US" sz="2400"/>
              <a:t>Fill in the General Information about your project</a:t>
            </a:r>
            <a:br>
              <a:rPr lang="en-US" sz="2400"/>
            </a:br>
            <a:endParaRPr lang="en-US" sz="2400"/>
          </a:p>
          <a:p>
            <a:pPr marL="514350" indent="-514350">
              <a:buFont typeface="+mj-lt"/>
              <a:buAutoNum type="arabicPeriod"/>
            </a:pPr>
            <a:r>
              <a:rPr lang="en-US" sz="2400"/>
              <a:t>Rename: README_[YourProject].txt and save it in your project folder. </a:t>
            </a:r>
            <a:endParaRPr lang="nl-BE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814F3-0B88-D943-57E0-87BF5FA0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4D95-D6A6-084A-9D9C-617B45E258A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3119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3073-9B20-23A2-D82B-087F9894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6A7B-25E9-B52E-2963-11BC9566A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Keep the overview</a:t>
            </a:r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EB38B-FD56-4B0C-984D-0C0A0B0E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C571AF6-6671-4538-974D-3AEC00AC0B82}" type="slidenum">
              <a:rPr lang="en-GB" smtClean="0"/>
              <a:t>9</a:t>
            </a:fld>
            <a:endParaRPr lang="en-GB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A89C6AB7-5CCF-104E-0DDC-3CBC32E27F28}"/>
              </a:ext>
            </a:extLst>
          </p:cNvPr>
          <p:cNvSpPr txBox="1">
            <a:spLocks/>
          </p:cNvSpPr>
          <p:nvPr/>
        </p:nvSpPr>
        <p:spPr>
          <a:xfrm>
            <a:off x="576000" y="2045563"/>
            <a:ext cx="11041200" cy="39385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u="sng">
                <a:latin typeface="Arial"/>
                <a:cs typeface="Arial"/>
              </a:rPr>
              <a:t>Organize your project</a:t>
            </a:r>
          </a:p>
          <a:p>
            <a:pPr marL="457200" lvl="1" indent="0">
              <a:buFont typeface="Arial"/>
              <a:buNone/>
            </a:pPr>
            <a:endParaRPr lang="en-GB" sz="1050">
              <a:sym typeface="Wingdings" panose="05000000000000000000" pitchFamily="2" charset="2"/>
            </a:endParaRPr>
          </a:p>
          <a:p>
            <a:pPr lvl="1">
              <a:buFontTx/>
              <a:buChar char="–"/>
            </a:pPr>
            <a:r>
              <a:rPr lang="en-GB"/>
              <a:t>README file</a:t>
            </a:r>
          </a:p>
          <a:p>
            <a:pPr lvl="1">
              <a:buFontTx/>
              <a:buChar char="–"/>
            </a:pPr>
            <a:r>
              <a:rPr lang="en-GB" b="1">
                <a:solidFill>
                  <a:srgbClr val="52BDEC"/>
                </a:solidFill>
              </a:rPr>
              <a:t>File naming convention</a:t>
            </a:r>
          </a:p>
          <a:p>
            <a:pPr lvl="1">
              <a:buFontTx/>
              <a:buChar char="–"/>
            </a:pPr>
            <a:r>
              <a:rPr lang="en-GB"/>
              <a:t>Folder structure</a:t>
            </a:r>
          </a:p>
          <a:p>
            <a:pPr lvl="1">
              <a:buFontTx/>
              <a:buChar char="–"/>
            </a:pPr>
            <a:r>
              <a:rPr lang="en-GB"/>
              <a:t>Metadata</a:t>
            </a:r>
          </a:p>
          <a:p>
            <a:pPr lvl="1"/>
            <a:endParaRPr lang="en-GB"/>
          </a:p>
          <a:p>
            <a:endParaRPr lang="en-US" b="1" u="sng">
              <a:latin typeface="Arial"/>
              <a:cs typeface="Arial"/>
            </a:endParaRPr>
          </a:p>
          <a:p>
            <a:pPr marL="742950" lvl="2" indent="-285750">
              <a:lnSpc>
                <a:spcPct val="80000"/>
              </a:lnSpc>
              <a:spcBef>
                <a:spcPts val="1000"/>
              </a:spcBef>
              <a:buFont typeface="Calibri"/>
              <a:buChar char="-"/>
            </a:pPr>
            <a:endParaRPr lang="en-US" sz="1400">
              <a:latin typeface="Arial"/>
              <a:cs typeface="Arial"/>
            </a:endParaRPr>
          </a:p>
        </p:txBody>
      </p:sp>
      <p:pic>
        <p:nvPicPr>
          <p:cNvPr id="3" name="Tijdelijke aanduiding voor inhoud 5" descr="Afbeelding met tekst&#10;&#10;Automatisch gegenereerde beschrijving">
            <a:extLst>
              <a:ext uri="{FF2B5EF4-FFF2-40B4-BE49-F238E27FC236}">
                <a16:creationId xmlns:a16="http://schemas.microsoft.com/office/drawing/2014/main" id="{51D4A16B-3CF4-B516-38AE-A9F377A3B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395" y="0"/>
            <a:ext cx="4848605" cy="6858000"/>
          </a:xfrm>
          <a:prstGeom prst="rect">
            <a:avLst/>
          </a:prstGeom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F7BC50-FDC1-FA28-D443-C6B274CD885C}"/>
              </a:ext>
            </a:extLst>
          </p:cNvPr>
          <p:cNvSpPr/>
          <p:nvPr/>
        </p:nvSpPr>
        <p:spPr>
          <a:xfrm>
            <a:off x="9767696" y="873888"/>
            <a:ext cx="2363343" cy="3751451"/>
          </a:xfrm>
          <a:custGeom>
            <a:avLst/>
            <a:gdLst>
              <a:gd name="csX0" fmla="*/ 0 w 2363343"/>
              <a:gd name="csY0" fmla="*/ 0 h 3751451"/>
              <a:gd name="csX1" fmla="*/ 519935 w 2363343"/>
              <a:gd name="csY1" fmla="*/ 0 h 3751451"/>
              <a:gd name="csX2" fmla="*/ 1063504 w 2363343"/>
              <a:gd name="csY2" fmla="*/ 0 h 3751451"/>
              <a:gd name="csX3" fmla="*/ 1677974 w 2363343"/>
              <a:gd name="csY3" fmla="*/ 0 h 3751451"/>
              <a:gd name="csX4" fmla="*/ 2363343 w 2363343"/>
              <a:gd name="csY4" fmla="*/ 0 h 3751451"/>
              <a:gd name="csX5" fmla="*/ 2363343 w 2363343"/>
              <a:gd name="csY5" fmla="*/ 550213 h 3751451"/>
              <a:gd name="csX6" fmla="*/ 2363343 w 2363343"/>
              <a:gd name="csY6" fmla="*/ 1250484 h 3751451"/>
              <a:gd name="csX7" fmla="*/ 2363343 w 2363343"/>
              <a:gd name="csY7" fmla="*/ 1800696 h 3751451"/>
              <a:gd name="csX8" fmla="*/ 2363343 w 2363343"/>
              <a:gd name="csY8" fmla="*/ 2425938 h 3751451"/>
              <a:gd name="csX9" fmla="*/ 2363343 w 2363343"/>
              <a:gd name="csY9" fmla="*/ 2976151 h 3751451"/>
              <a:gd name="csX10" fmla="*/ 2363343 w 2363343"/>
              <a:gd name="csY10" fmla="*/ 3751451 h 3751451"/>
              <a:gd name="csX11" fmla="*/ 1725240 w 2363343"/>
              <a:gd name="csY11" fmla="*/ 3751451 h 3751451"/>
              <a:gd name="csX12" fmla="*/ 1205305 w 2363343"/>
              <a:gd name="csY12" fmla="*/ 3751451 h 3751451"/>
              <a:gd name="csX13" fmla="*/ 685369 w 2363343"/>
              <a:gd name="csY13" fmla="*/ 3751451 h 3751451"/>
              <a:gd name="csX14" fmla="*/ 0 w 2363343"/>
              <a:gd name="csY14" fmla="*/ 3751451 h 3751451"/>
              <a:gd name="csX15" fmla="*/ 0 w 2363343"/>
              <a:gd name="csY15" fmla="*/ 3051180 h 3751451"/>
              <a:gd name="csX16" fmla="*/ 0 w 2363343"/>
              <a:gd name="csY16" fmla="*/ 2425938 h 3751451"/>
              <a:gd name="csX17" fmla="*/ 0 w 2363343"/>
              <a:gd name="csY17" fmla="*/ 1875726 h 3751451"/>
              <a:gd name="csX18" fmla="*/ 0 w 2363343"/>
              <a:gd name="csY18" fmla="*/ 1325513 h 3751451"/>
              <a:gd name="csX19" fmla="*/ 0 w 2363343"/>
              <a:gd name="csY19" fmla="*/ 775300 h 3751451"/>
              <a:gd name="csX20" fmla="*/ 0 w 2363343"/>
              <a:gd name="csY20" fmla="*/ 0 h 3751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363343" h="3751451" extrusionOk="0">
                <a:moveTo>
                  <a:pt x="0" y="0"/>
                </a:moveTo>
                <a:cubicBezTo>
                  <a:pt x="204327" y="7048"/>
                  <a:pt x="356377" y="-8528"/>
                  <a:pt x="519935" y="0"/>
                </a:cubicBezTo>
                <a:cubicBezTo>
                  <a:pt x="683494" y="8528"/>
                  <a:pt x="892884" y="-1655"/>
                  <a:pt x="1063504" y="0"/>
                </a:cubicBezTo>
                <a:cubicBezTo>
                  <a:pt x="1234124" y="1655"/>
                  <a:pt x="1547429" y="-22534"/>
                  <a:pt x="1677974" y="0"/>
                </a:cubicBezTo>
                <a:cubicBezTo>
                  <a:pt x="1808519" y="22534"/>
                  <a:pt x="2209890" y="33072"/>
                  <a:pt x="2363343" y="0"/>
                </a:cubicBezTo>
                <a:cubicBezTo>
                  <a:pt x="2367249" y="150231"/>
                  <a:pt x="2357764" y="331496"/>
                  <a:pt x="2363343" y="550213"/>
                </a:cubicBezTo>
                <a:cubicBezTo>
                  <a:pt x="2368922" y="768930"/>
                  <a:pt x="2364920" y="1077153"/>
                  <a:pt x="2363343" y="1250484"/>
                </a:cubicBezTo>
                <a:cubicBezTo>
                  <a:pt x="2361766" y="1423815"/>
                  <a:pt x="2350344" y="1678573"/>
                  <a:pt x="2363343" y="1800696"/>
                </a:cubicBezTo>
                <a:cubicBezTo>
                  <a:pt x="2376342" y="1922819"/>
                  <a:pt x="2375350" y="2165387"/>
                  <a:pt x="2363343" y="2425938"/>
                </a:cubicBezTo>
                <a:cubicBezTo>
                  <a:pt x="2351336" y="2686489"/>
                  <a:pt x="2360116" y="2842023"/>
                  <a:pt x="2363343" y="2976151"/>
                </a:cubicBezTo>
                <a:cubicBezTo>
                  <a:pt x="2366570" y="3110279"/>
                  <a:pt x="2359429" y="3435502"/>
                  <a:pt x="2363343" y="3751451"/>
                </a:cubicBezTo>
                <a:cubicBezTo>
                  <a:pt x="2047954" y="3742511"/>
                  <a:pt x="1989233" y="3747134"/>
                  <a:pt x="1725240" y="3751451"/>
                </a:cubicBezTo>
                <a:cubicBezTo>
                  <a:pt x="1461247" y="3755768"/>
                  <a:pt x="1377844" y="3734608"/>
                  <a:pt x="1205305" y="3751451"/>
                </a:cubicBezTo>
                <a:cubicBezTo>
                  <a:pt x="1032767" y="3768294"/>
                  <a:pt x="912255" y="3742043"/>
                  <a:pt x="685369" y="3751451"/>
                </a:cubicBezTo>
                <a:cubicBezTo>
                  <a:pt x="458483" y="3760859"/>
                  <a:pt x="150643" y="3760147"/>
                  <a:pt x="0" y="3751451"/>
                </a:cubicBezTo>
                <a:cubicBezTo>
                  <a:pt x="-11500" y="3527088"/>
                  <a:pt x="-23055" y="3304680"/>
                  <a:pt x="0" y="3051180"/>
                </a:cubicBezTo>
                <a:cubicBezTo>
                  <a:pt x="23055" y="2797680"/>
                  <a:pt x="409" y="2728617"/>
                  <a:pt x="0" y="2425938"/>
                </a:cubicBezTo>
                <a:cubicBezTo>
                  <a:pt x="-409" y="2123259"/>
                  <a:pt x="26115" y="2078219"/>
                  <a:pt x="0" y="1875726"/>
                </a:cubicBezTo>
                <a:cubicBezTo>
                  <a:pt x="-26115" y="1673233"/>
                  <a:pt x="-19935" y="1510400"/>
                  <a:pt x="0" y="1325513"/>
                </a:cubicBezTo>
                <a:cubicBezTo>
                  <a:pt x="19935" y="1140626"/>
                  <a:pt x="21483" y="995327"/>
                  <a:pt x="0" y="775300"/>
                </a:cubicBezTo>
                <a:cubicBezTo>
                  <a:pt x="-21483" y="555273"/>
                  <a:pt x="34762" y="179633"/>
                  <a:pt x="0" y="0"/>
                </a:cubicBezTo>
                <a:close/>
              </a:path>
            </a:pathLst>
          </a:custGeom>
          <a:noFill/>
          <a:ln w="28575">
            <a:solidFill>
              <a:srgbClr val="FFDF7F"/>
            </a:solidFill>
            <a:extLst>
              <a:ext uri="{C807C97D-BFC1-408E-A445-0C87EB9F89A2}">
                <ask:lineSketchStyleProps xmlns:ask="http://schemas.microsoft.com/office/drawing/2018/sketchyshapes" sd="25614644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7391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E79F3-549B-B5E5-CDD3-AEB9C566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E6E09-2C8F-9F43-2B9B-0100063A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8: Build a file naming convention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B457-AC95-3204-3A09-69D68FB5C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Workbook p.5 – 8</a:t>
            </a:r>
          </a:p>
          <a:p>
            <a:pPr marL="0" indent="0">
              <a:buNone/>
            </a:pPr>
            <a:r>
              <a:rPr lang="en-US" sz="1800"/>
              <a:t>From: 	Briney, K. (2023). </a:t>
            </a:r>
            <a:r>
              <a:rPr lang="en-US" sz="1800" i="1"/>
              <a:t>The Research Data Management 					Workbook.</a:t>
            </a:r>
            <a:r>
              <a:rPr lang="en-US" sz="1800"/>
              <a:t> Caltech Library. </a:t>
            </a:r>
            <a:r>
              <a:rPr lang="en-US" sz="1800">
                <a:hlinkClick r:id="rId2"/>
              </a:rPr>
              <a:t>https://doi.org/10.7907/z6czh-7zx60</a:t>
            </a:r>
            <a:endParaRPr lang="en-US" sz="1800"/>
          </a:p>
          <a:p>
            <a:pPr marL="0" indent="0">
              <a:buNone/>
            </a:pPr>
            <a:r>
              <a:rPr lang="en-US" sz="2400" b="1"/>
              <a:t>In pairs:</a:t>
            </a:r>
          </a:p>
          <a:p>
            <a:r>
              <a:rPr lang="en-US" sz="2400"/>
              <a:t>Follow the 8 questions in your workbook.</a:t>
            </a:r>
          </a:p>
          <a:p>
            <a:r>
              <a:rPr lang="en-US" sz="2400"/>
              <a:t>Update your README file</a:t>
            </a:r>
          </a:p>
          <a:p>
            <a:r>
              <a:rPr lang="en-US" sz="2400"/>
              <a:t>Pair discussion:</a:t>
            </a:r>
          </a:p>
          <a:p>
            <a:pPr lvl="1"/>
            <a:r>
              <a:rPr lang="en-US" sz="2000"/>
              <a:t>Would you be able to adapt your convention to the rest of your project?</a:t>
            </a:r>
            <a:endParaRPr lang="nl-BE" sz="2000"/>
          </a:p>
          <a:p>
            <a:pPr lvl="1"/>
            <a:r>
              <a:rPr lang="en-US" sz="2000"/>
              <a:t>Could you use a similar method to decide on a naming scheme for your ELN? </a:t>
            </a:r>
            <a:br>
              <a:rPr lang="en-US" sz="2000"/>
            </a:br>
            <a:r>
              <a:rPr lang="en-US" sz="2000"/>
              <a:t>What are the similarities and differences? </a:t>
            </a:r>
            <a:endParaRPr lang="nl-BE" sz="20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CC659-1A4F-A19E-6C46-536CC942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4D95-D6A6-084A-9D9C-617B45E258A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7060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9DE51-D8EA-DB73-7814-769F4CBA4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1A33-CDDA-6332-0D66-6EDB631C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Keep the overview</a:t>
            </a:r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BD474-0C07-1540-5CD1-97FB86E0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C571AF6-6671-4538-974D-3AEC00AC0B82}" type="slidenum">
              <a:rPr lang="en-GB" smtClean="0"/>
              <a:t>11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CD3A662-929B-DF52-77A5-00A3CEE41E60}"/>
              </a:ext>
            </a:extLst>
          </p:cNvPr>
          <p:cNvGrpSpPr/>
          <p:nvPr/>
        </p:nvGrpSpPr>
        <p:grpSpPr>
          <a:xfrm>
            <a:off x="10584522" y="196104"/>
            <a:ext cx="1385062" cy="1581897"/>
            <a:chOff x="4072062" y="1118970"/>
            <a:chExt cx="4045188" cy="46200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770F96-635E-9EE7-87B6-CEE5FFA79769}"/>
                </a:ext>
              </a:extLst>
            </p:cNvPr>
            <p:cNvGrpSpPr/>
            <p:nvPr/>
          </p:nvGrpSpPr>
          <p:grpSpPr>
            <a:xfrm>
              <a:off x="4334004" y="1861310"/>
              <a:ext cx="3521304" cy="3122786"/>
              <a:chOff x="4163872" y="2163619"/>
              <a:chExt cx="3521304" cy="3122786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E396F85-A8B6-1BC5-DB39-328F8C187EA4}"/>
                  </a:ext>
                </a:extLst>
              </p:cNvPr>
              <p:cNvSpPr/>
              <p:nvPr/>
            </p:nvSpPr>
            <p:spPr>
              <a:xfrm rot="1709406">
                <a:off x="6568104" y="2181884"/>
                <a:ext cx="317090" cy="402566"/>
              </a:xfrm>
              <a:custGeom>
                <a:avLst/>
                <a:gdLst>
                  <a:gd name="connsiteX0" fmla="*/ 0 w 317090"/>
                  <a:gd name="connsiteY0" fmla="*/ 80513 h 402566"/>
                  <a:gd name="connsiteX1" fmla="*/ 158545 w 317090"/>
                  <a:gd name="connsiteY1" fmla="*/ 80513 h 402566"/>
                  <a:gd name="connsiteX2" fmla="*/ 158545 w 317090"/>
                  <a:gd name="connsiteY2" fmla="*/ 0 h 402566"/>
                  <a:gd name="connsiteX3" fmla="*/ 317090 w 317090"/>
                  <a:gd name="connsiteY3" fmla="*/ 201283 h 402566"/>
                  <a:gd name="connsiteX4" fmla="*/ 158545 w 317090"/>
                  <a:gd name="connsiteY4" fmla="*/ 402566 h 402566"/>
                  <a:gd name="connsiteX5" fmla="*/ 158545 w 317090"/>
                  <a:gd name="connsiteY5" fmla="*/ 322053 h 402566"/>
                  <a:gd name="connsiteX6" fmla="*/ 0 w 317090"/>
                  <a:gd name="connsiteY6" fmla="*/ 322053 h 402566"/>
                  <a:gd name="connsiteX7" fmla="*/ 0 w 317090"/>
                  <a:gd name="connsiteY7" fmla="*/ 80513 h 402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090" h="402566">
                    <a:moveTo>
                      <a:pt x="0" y="80513"/>
                    </a:moveTo>
                    <a:lnTo>
                      <a:pt x="158545" y="80513"/>
                    </a:lnTo>
                    <a:lnTo>
                      <a:pt x="158545" y="0"/>
                    </a:lnTo>
                    <a:lnTo>
                      <a:pt x="317090" y="201283"/>
                    </a:lnTo>
                    <a:lnTo>
                      <a:pt x="158545" y="402566"/>
                    </a:lnTo>
                    <a:lnTo>
                      <a:pt x="158545" y="322053"/>
                    </a:lnTo>
                    <a:lnTo>
                      <a:pt x="0" y="322053"/>
                    </a:lnTo>
                    <a:lnTo>
                      <a:pt x="0" y="80513"/>
                    </a:lnTo>
                    <a:close/>
                  </a:path>
                </a:pathLst>
              </a:custGeom>
              <a:solidFill>
                <a:srgbClr val="1D8DB0">
                  <a:alpha val="50000"/>
                </a:srgbClr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0" tIns="80513" rIns="95126" bIns="80512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1100" kern="12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CA7CD26A-B730-C9C7-7B5E-F513A0470B66}"/>
                  </a:ext>
                </a:extLst>
              </p:cNvPr>
              <p:cNvSpPr/>
              <p:nvPr/>
            </p:nvSpPr>
            <p:spPr>
              <a:xfrm rot="5400000">
                <a:off x="7321925" y="3515252"/>
                <a:ext cx="323935" cy="402566"/>
              </a:xfrm>
              <a:custGeom>
                <a:avLst/>
                <a:gdLst>
                  <a:gd name="connsiteX0" fmla="*/ 0 w 323935"/>
                  <a:gd name="connsiteY0" fmla="*/ 80513 h 402566"/>
                  <a:gd name="connsiteX1" fmla="*/ 161968 w 323935"/>
                  <a:gd name="connsiteY1" fmla="*/ 80513 h 402566"/>
                  <a:gd name="connsiteX2" fmla="*/ 161968 w 323935"/>
                  <a:gd name="connsiteY2" fmla="*/ 0 h 402566"/>
                  <a:gd name="connsiteX3" fmla="*/ 323935 w 323935"/>
                  <a:gd name="connsiteY3" fmla="*/ 201283 h 402566"/>
                  <a:gd name="connsiteX4" fmla="*/ 161968 w 323935"/>
                  <a:gd name="connsiteY4" fmla="*/ 402566 h 402566"/>
                  <a:gd name="connsiteX5" fmla="*/ 161968 w 323935"/>
                  <a:gd name="connsiteY5" fmla="*/ 322053 h 402566"/>
                  <a:gd name="connsiteX6" fmla="*/ 0 w 323935"/>
                  <a:gd name="connsiteY6" fmla="*/ 322053 h 402566"/>
                  <a:gd name="connsiteX7" fmla="*/ 0 w 323935"/>
                  <a:gd name="connsiteY7" fmla="*/ 80513 h 402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3935" h="402566">
                    <a:moveTo>
                      <a:pt x="0" y="80513"/>
                    </a:moveTo>
                    <a:lnTo>
                      <a:pt x="161968" y="80513"/>
                    </a:lnTo>
                    <a:lnTo>
                      <a:pt x="161968" y="0"/>
                    </a:lnTo>
                    <a:lnTo>
                      <a:pt x="323935" y="201283"/>
                    </a:lnTo>
                    <a:lnTo>
                      <a:pt x="161968" y="402566"/>
                    </a:lnTo>
                    <a:lnTo>
                      <a:pt x="161968" y="322053"/>
                    </a:lnTo>
                    <a:lnTo>
                      <a:pt x="0" y="322053"/>
                    </a:lnTo>
                    <a:lnTo>
                      <a:pt x="0" y="80513"/>
                    </a:lnTo>
                    <a:close/>
                  </a:path>
                </a:pathLst>
              </a:custGeom>
              <a:solidFill>
                <a:srgbClr val="1D8DB0">
                  <a:alpha val="50000"/>
                </a:srgbClr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1351709"/>
                  <a:satOff val="-3484"/>
                  <a:lumOff val="-2353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-1" tIns="80512" rIns="97180" bIns="80513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1100" kern="12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9C304487-1033-9F9B-BCE2-85B2707B2280}"/>
                  </a:ext>
                </a:extLst>
              </p:cNvPr>
              <p:cNvSpPr/>
              <p:nvPr/>
            </p:nvSpPr>
            <p:spPr>
              <a:xfrm rot="19800121">
                <a:off x="6526495" y="4883839"/>
                <a:ext cx="323897" cy="402566"/>
              </a:xfrm>
              <a:custGeom>
                <a:avLst/>
                <a:gdLst>
                  <a:gd name="connsiteX0" fmla="*/ 0 w 323896"/>
                  <a:gd name="connsiteY0" fmla="*/ 80513 h 402566"/>
                  <a:gd name="connsiteX1" fmla="*/ 161948 w 323896"/>
                  <a:gd name="connsiteY1" fmla="*/ 80513 h 402566"/>
                  <a:gd name="connsiteX2" fmla="*/ 161948 w 323896"/>
                  <a:gd name="connsiteY2" fmla="*/ 0 h 402566"/>
                  <a:gd name="connsiteX3" fmla="*/ 323896 w 323896"/>
                  <a:gd name="connsiteY3" fmla="*/ 201283 h 402566"/>
                  <a:gd name="connsiteX4" fmla="*/ 161948 w 323896"/>
                  <a:gd name="connsiteY4" fmla="*/ 402566 h 402566"/>
                  <a:gd name="connsiteX5" fmla="*/ 161948 w 323896"/>
                  <a:gd name="connsiteY5" fmla="*/ 322053 h 402566"/>
                  <a:gd name="connsiteX6" fmla="*/ 0 w 323896"/>
                  <a:gd name="connsiteY6" fmla="*/ 322053 h 402566"/>
                  <a:gd name="connsiteX7" fmla="*/ 0 w 323896"/>
                  <a:gd name="connsiteY7" fmla="*/ 80513 h 402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3896" h="402566">
                    <a:moveTo>
                      <a:pt x="323896" y="322053"/>
                    </a:moveTo>
                    <a:lnTo>
                      <a:pt x="161948" y="322053"/>
                    </a:lnTo>
                    <a:lnTo>
                      <a:pt x="161948" y="402566"/>
                    </a:lnTo>
                    <a:lnTo>
                      <a:pt x="0" y="201283"/>
                    </a:lnTo>
                    <a:lnTo>
                      <a:pt x="161948" y="0"/>
                    </a:lnTo>
                    <a:lnTo>
                      <a:pt x="161948" y="80513"/>
                    </a:lnTo>
                    <a:lnTo>
                      <a:pt x="323896" y="80513"/>
                    </a:lnTo>
                    <a:lnTo>
                      <a:pt x="323896" y="322053"/>
                    </a:lnTo>
                    <a:close/>
                  </a:path>
                </a:pathLst>
              </a:custGeom>
              <a:solidFill>
                <a:srgbClr val="1D8DB0">
                  <a:alpha val="50000"/>
                </a:srgbClr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2703417"/>
                  <a:satOff val="-6968"/>
                  <a:lumOff val="-4706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7169" tIns="80512" rIns="0" bIns="80513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1100" kern="12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E6195C4A-66C1-56B0-B0FB-8A80D93EFC96}"/>
                  </a:ext>
                </a:extLst>
              </p:cNvPr>
              <p:cNvSpPr/>
              <p:nvPr/>
            </p:nvSpPr>
            <p:spPr>
              <a:xfrm rot="1799946">
                <a:off x="4997484" y="4852545"/>
                <a:ext cx="323888" cy="402567"/>
              </a:xfrm>
              <a:custGeom>
                <a:avLst/>
                <a:gdLst>
                  <a:gd name="connsiteX0" fmla="*/ 0 w 323887"/>
                  <a:gd name="connsiteY0" fmla="*/ 80513 h 402566"/>
                  <a:gd name="connsiteX1" fmla="*/ 161944 w 323887"/>
                  <a:gd name="connsiteY1" fmla="*/ 80513 h 402566"/>
                  <a:gd name="connsiteX2" fmla="*/ 161944 w 323887"/>
                  <a:gd name="connsiteY2" fmla="*/ 0 h 402566"/>
                  <a:gd name="connsiteX3" fmla="*/ 323887 w 323887"/>
                  <a:gd name="connsiteY3" fmla="*/ 201283 h 402566"/>
                  <a:gd name="connsiteX4" fmla="*/ 161944 w 323887"/>
                  <a:gd name="connsiteY4" fmla="*/ 402566 h 402566"/>
                  <a:gd name="connsiteX5" fmla="*/ 161944 w 323887"/>
                  <a:gd name="connsiteY5" fmla="*/ 322053 h 402566"/>
                  <a:gd name="connsiteX6" fmla="*/ 0 w 323887"/>
                  <a:gd name="connsiteY6" fmla="*/ 322053 h 402566"/>
                  <a:gd name="connsiteX7" fmla="*/ 0 w 323887"/>
                  <a:gd name="connsiteY7" fmla="*/ 80513 h 402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3887" h="402566">
                    <a:moveTo>
                      <a:pt x="323887" y="322053"/>
                    </a:moveTo>
                    <a:lnTo>
                      <a:pt x="161943" y="322053"/>
                    </a:lnTo>
                    <a:lnTo>
                      <a:pt x="161943" y="402566"/>
                    </a:lnTo>
                    <a:lnTo>
                      <a:pt x="0" y="201283"/>
                    </a:lnTo>
                    <a:lnTo>
                      <a:pt x="161943" y="0"/>
                    </a:lnTo>
                    <a:lnTo>
                      <a:pt x="161943" y="80513"/>
                    </a:lnTo>
                    <a:lnTo>
                      <a:pt x="323887" y="80513"/>
                    </a:lnTo>
                    <a:lnTo>
                      <a:pt x="323887" y="322053"/>
                    </a:lnTo>
                    <a:close/>
                  </a:path>
                </a:pathLst>
              </a:custGeom>
              <a:solidFill>
                <a:srgbClr val="1D8DB0">
                  <a:alpha val="50000"/>
                </a:srgbClr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4055126"/>
                  <a:satOff val="-10451"/>
                  <a:lumOff val="-7059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7166" tIns="80514" rIns="0" bIns="80512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1100" kern="12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3E292F94-B0F5-8CBD-1054-90A1689E16DC}"/>
                  </a:ext>
                </a:extLst>
              </p:cNvPr>
              <p:cNvSpPr/>
              <p:nvPr/>
            </p:nvSpPr>
            <p:spPr>
              <a:xfrm rot="16200000">
                <a:off x="4203198" y="3515263"/>
                <a:ext cx="323913" cy="402566"/>
              </a:xfrm>
              <a:custGeom>
                <a:avLst/>
                <a:gdLst>
                  <a:gd name="connsiteX0" fmla="*/ 0 w 323913"/>
                  <a:gd name="connsiteY0" fmla="*/ 80513 h 402566"/>
                  <a:gd name="connsiteX1" fmla="*/ 161957 w 323913"/>
                  <a:gd name="connsiteY1" fmla="*/ 80513 h 402566"/>
                  <a:gd name="connsiteX2" fmla="*/ 161957 w 323913"/>
                  <a:gd name="connsiteY2" fmla="*/ 0 h 402566"/>
                  <a:gd name="connsiteX3" fmla="*/ 323913 w 323913"/>
                  <a:gd name="connsiteY3" fmla="*/ 201283 h 402566"/>
                  <a:gd name="connsiteX4" fmla="*/ 161957 w 323913"/>
                  <a:gd name="connsiteY4" fmla="*/ 402566 h 402566"/>
                  <a:gd name="connsiteX5" fmla="*/ 161957 w 323913"/>
                  <a:gd name="connsiteY5" fmla="*/ 322053 h 402566"/>
                  <a:gd name="connsiteX6" fmla="*/ 0 w 323913"/>
                  <a:gd name="connsiteY6" fmla="*/ 322053 h 402566"/>
                  <a:gd name="connsiteX7" fmla="*/ 0 w 323913"/>
                  <a:gd name="connsiteY7" fmla="*/ 80513 h 402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3913" h="402566">
                    <a:moveTo>
                      <a:pt x="0" y="80513"/>
                    </a:moveTo>
                    <a:lnTo>
                      <a:pt x="161957" y="80513"/>
                    </a:lnTo>
                    <a:lnTo>
                      <a:pt x="161957" y="0"/>
                    </a:lnTo>
                    <a:lnTo>
                      <a:pt x="323913" y="201283"/>
                    </a:lnTo>
                    <a:lnTo>
                      <a:pt x="161957" y="402566"/>
                    </a:lnTo>
                    <a:lnTo>
                      <a:pt x="161957" y="322053"/>
                    </a:lnTo>
                    <a:lnTo>
                      <a:pt x="0" y="322053"/>
                    </a:lnTo>
                    <a:lnTo>
                      <a:pt x="0" y="80513"/>
                    </a:lnTo>
                    <a:close/>
                  </a:path>
                </a:pathLst>
              </a:custGeom>
              <a:solidFill>
                <a:srgbClr val="1D8DB0">
                  <a:alpha val="50000"/>
                </a:srgbClr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5406834"/>
                  <a:satOff val="-13935"/>
                  <a:lumOff val="-9412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-1" tIns="80513" rIns="97174" bIns="80512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1100" kern="12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10207036-F80A-364A-56F8-544E5A4057A3}"/>
                  </a:ext>
                </a:extLst>
              </p:cNvPr>
              <p:cNvSpPr/>
              <p:nvPr/>
            </p:nvSpPr>
            <p:spPr>
              <a:xfrm rot="19868634">
                <a:off x="5047186" y="2163619"/>
                <a:ext cx="306177" cy="402566"/>
              </a:xfrm>
              <a:custGeom>
                <a:avLst/>
                <a:gdLst>
                  <a:gd name="connsiteX0" fmla="*/ 0 w 306177"/>
                  <a:gd name="connsiteY0" fmla="*/ 80513 h 402566"/>
                  <a:gd name="connsiteX1" fmla="*/ 153089 w 306177"/>
                  <a:gd name="connsiteY1" fmla="*/ 80513 h 402566"/>
                  <a:gd name="connsiteX2" fmla="*/ 153089 w 306177"/>
                  <a:gd name="connsiteY2" fmla="*/ 0 h 402566"/>
                  <a:gd name="connsiteX3" fmla="*/ 306177 w 306177"/>
                  <a:gd name="connsiteY3" fmla="*/ 201283 h 402566"/>
                  <a:gd name="connsiteX4" fmla="*/ 153089 w 306177"/>
                  <a:gd name="connsiteY4" fmla="*/ 402566 h 402566"/>
                  <a:gd name="connsiteX5" fmla="*/ 153089 w 306177"/>
                  <a:gd name="connsiteY5" fmla="*/ 322053 h 402566"/>
                  <a:gd name="connsiteX6" fmla="*/ 0 w 306177"/>
                  <a:gd name="connsiteY6" fmla="*/ 322053 h 402566"/>
                  <a:gd name="connsiteX7" fmla="*/ 0 w 306177"/>
                  <a:gd name="connsiteY7" fmla="*/ 80513 h 402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6177" h="402566">
                    <a:moveTo>
                      <a:pt x="0" y="80513"/>
                    </a:moveTo>
                    <a:lnTo>
                      <a:pt x="153089" y="80513"/>
                    </a:lnTo>
                    <a:lnTo>
                      <a:pt x="153089" y="0"/>
                    </a:lnTo>
                    <a:lnTo>
                      <a:pt x="306177" y="201283"/>
                    </a:lnTo>
                    <a:lnTo>
                      <a:pt x="153089" y="402566"/>
                    </a:lnTo>
                    <a:lnTo>
                      <a:pt x="153089" y="322053"/>
                    </a:lnTo>
                    <a:lnTo>
                      <a:pt x="0" y="322053"/>
                    </a:lnTo>
                    <a:lnTo>
                      <a:pt x="0" y="80513"/>
                    </a:lnTo>
                    <a:close/>
                  </a:path>
                </a:pathLst>
              </a:custGeom>
              <a:solidFill>
                <a:srgbClr val="1D8DB0">
                  <a:alpha val="50000"/>
                </a:srgbClr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6758543"/>
                  <a:satOff val="-17419"/>
                  <a:lumOff val="-1176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-1" tIns="80513" rIns="91853" bIns="80512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1100" kern="120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3E60300-0BE7-66D4-0E70-73FBD0805661}"/>
                </a:ext>
              </a:extLst>
            </p:cNvPr>
            <p:cNvGrpSpPr/>
            <p:nvPr/>
          </p:nvGrpSpPr>
          <p:grpSpPr>
            <a:xfrm>
              <a:off x="4072062" y="1118970"/>
              <a:ext cx="4045188" cy="4620060"/>
              <a:chOff x="4072062" y="1118970"/>
              <a:chExt cx="4045188" cy="4620060"/>
            </a:xfrm>
          </p:grpSpPr>
          <p:sp>
            <p:nvSpPr>
              <p:cNvPr id="12" name="Ovaal 18">
                <a:extLst>
                  <a:ext uri="{FF2B5EF4-FFF2-40B4-BE49-F238E27FC236}">
                    <a16:creationId xmlns:a16="http://schemas.microsoft.com/office/drawing/2014/main" id="{D0C7AFFC-07CA-BA24-BE1E-5FF3668E8F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52926" y="2085926"/>
                <a:ext cx="2686148" cy="2686148"/>
              </a:xfrm>
              <a:prstGeom prst="ellipse">
                <a:avLst/>
              </a:prstGeom>
              <a:solidFill>
                <a:srgbClr val="1D8D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 sz="360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606F43-2D44-B4C8-23EB-40D6600C8760}"/>
                  </a:ext>
                </a:extLst>
              </p:cNvPr>
              <p:cNvSpPr txBox="1"/>
              <p:nvPr/>
            </p:nvSpPr>
            <p:spPr>
              <a:xfrm>
                <a:off x="4334000" y="2658651"/>
                <a:ext cx="3521308" cy="152810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Processing data</a:t>
                </a:r>
                <a:endParaRPr lang="nl-BE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F0839A6-DAD7-7BE3-4AB4-9799FD80BB1A}"/>
                  </a:ext>
                </a:extLst>
              </p:cNvPr>
              <p:cNvSpPr/>
              <p:nvPr/>
            </p:nvSpPr>
            <p:spPr>
              <a:xfrm>
                <a:off x="5505340" y="1118970"/>
                <a:ext cx="1178632" cy="1178632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5">
                  <a:hueOff val="-6758543"/>
                  <a:satOff val="-17419"/>
                  <a:lumOff val="-1176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nl-BE" sz="120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99784B0-3380-245B-1607-DFC712DA87B9}"/>
                  </a:ext>
                </a:extLst>
              </p:cNvPr>
              <p:cNvSpPr/>
              <p:nvPr/>
            </p:nvSpPr>
            <p:spPr>
              <a:xfrm>
                <a:off x="5505340" y="4560398"/>
                <a:ext cx="1178632" cy="1178632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5">
                  <a:hueOff val="-6758543"/>
                  <a:satOff val="-17419"/>
                  <a:lumOff val="-1176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nl-BE" sz="120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E0A5625-3EEE-C0A1-07FF-5515CCFF0683}"/>
                  </a:ext>
                </a:extLst>
              </p:cNvPr>
              <p:cNvSpPr/>
              <p:nvPr/>
            </p:nvSpPr>
            <p:spPr>
              <a:xfrm>
                <a:off x="4072062" y="3697280"/>
                <a:ext cx="1178632" cy="1178632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5">
                  <a:hueOff val="-6758543"/>
                  <a:satOff val="-17419"/>
                  <a:lumOff val="-1176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nl-BE" sz="120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C5A26E6-5ED6-6383-F7E9-9AA401475253}"/>
                  </a:ext>
                </a:extLst>
              </p:cNvPr>
              <p:cNvSpPr/>
              <p:nvPr/>
            </p:nvSpPr>
            <p:spPr>
              <a:xfrm>
                <a:off x="4072062" y="1982088"/>
                <a:ext cx="1178632" cy="1178632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5">
                  <a:hueOff val="-6758543"/>
                  <a:satOff val="-17419"/>
                  <a:lumOff val="-1176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nl-BE" sz="120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32E4DC8-22D9-B59D-54FE-823D50B51AFF}"/>
                  </a:ext>
                </a:extLst>
              </p:cNvPr>
              <p:cNvSpPr/>
              <p:nvPr/>
            </p:nvSpPr>
            <p:spPr>
              <a:xfrm>
                <a:off x="6938618" y="1982088"/>
                <a:ext cx="1178632" cy="1178632"/>
              </a:xfrm>
              <a:prstGeom prst="ellipse">
                <a:avLst/>
              </a:prstGeom>
              <a:solidFill>
                <a:srgbClr val="005E77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5">
                  <a:hueOff val="-6758543"/>
                  <a:satOff val="-17419"/>
                  <a:lumOff val="-1176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nl-BE" sz="120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256E237-528A-BA28-9DAD-D48FFA8321F0}"/>
                  </a:ext>
                </a:extLst>
              </p:cNvPr>
              <p:cNvSpPr/>
              <p:nvPr/>
            </p:nvSpPr>
            <p:spPr>
              <a:xfrm>
                <a:off x="6932857" y="3691110"/>
                <a:ext cx="1178632" cy="1178632"/>
              </a:xfrm>
              <a:prstGeom prst="ellipse">
                <a:avLst/>
              </a:prstGeom>
              <a:solidFill>
                <a:srgbClr val="005E77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5">
                  <a:hueOff val="-6758543"/>
                  <a:satOff val="-17419"/>
                  <a:lumOff val="-1176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nl-BE" sz="1200"/>
              </a:p>
            </p:txBody>
          </p:sp>
        </p:grpSp>
      </p:grp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B4EB8840-9190-6BB4-4CA9-F8C5192E665E}"/>
              </a:ext>
            </a:extLst>
          </p:cNvPr>
          <p:cNvSpPr txBox="1">
            <a:spLocks/>
          </p:cNvSpPr>
          <p:nvPr/>
        </p:nvSpPr>
        <p:spPr>
          <a:xfrm>
            <a:off x="576000" y="2045563"/>
            <a:ext cx="11041200" cy="39385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>
                <a:latin typeface="Arial"/>
                <a:cs typeface="Arial"/>
              </a:rPr>
              <a:t>Organize your project</a:t>
            </a:r>
          </a:p>
          <a:p>
            <a:pPr marL="457200" lvl="1" indent="0">
              <a:buNone/>
            </a:pPr>
            <a:endParaRPr lang="en-GB" sz="1050">
              <a:sym typeface="Wingdings" panose="05000000000000000000" pitchFamily="2" charset="2"/>
            </a:endParaRPr>
          </a:p>
          <a:p>
            <a:pPr lvl="1">
              <a:buFontTx/>
              <a:buChar char="–"/>
            </a:pPr>
            <a:r>
              <a:rPr lang="en-GB"/>
              <a:t>README file</a:t>
            </a:r>
          </a:p>
          <a:p>
            <a:pPr lvl="1">
              <a:buFontTx/>
              <a:buChar char="–"/>
            </a:pPr>
            <a:r>
              <a:rPr lang="en-GB"/>
              <a:t>File naming convention</a:t>
            </a:r>
          </a:p>
          <a:p>
            <a:pPr lvl="1">
              <a:buFontTx/>
              <a:buChar char="–"/>
            </a:pPr>
            <a:r>
              <a:rPr lang="en-GB" b="1">
                <a:solidFill>
                  <a:srgbClr val="52BDEC"/>
                </a:solidFill>
              </a:rPr>
              <a:t>Folder structure</a:t>
            </a:r>
          </a:p>
          <a:p>
            <a:pPr lvl="1">
              <a:buFontTx/>
              <a:buChar char="–"/>
            </a:pPr>
            <a:r>
              <a:rPr lang="en-GB"/>
              <a:t>Metadata</a:t>
            </a:r>
          </a:p>
          <a:p>
            <a:pPr lvl="1"/>
            <a:endParaRPr lang="en-GB"/>
          </a:p>
          <a:p>
            <a:endParaRPr lang="en-US" b="1" u="sng">
              <a:latin typeface="Arial"/>
              <a:cs typeface="Arial"/>
            </a:endParaRPr>
          </a:p>
          <a:p>
            <a:pPr marL="742950" lvl="2" indent="-285750">
              <a:lnSpc>
                <a:spcPct val="80000"/>
              </a:lnSpc>
              <a:spcBef>
                <a:spcPts val="1000"/>
              </a:spcBef>
              <a:buFont typeface="Calibri"/>
              <a:buChar char="-"/>
            </a:pPr>
            <a:endParaRPr lang="en-US" sz="1400">
              <a:latin typeface="Arial"/>
              <a:cs typeface="Arial"/>
            </a:endParaRPr>
          </a:p>
        </p:txBody>
      </p:sp>
      <p:pic>
        <p:nvPicPr>
          <p:cNvPr id="11" name="Tijdelijke aanduiding voor inhoud 5" descr="Afbeelding met tekst&#10;&#10;Automatisch gegenereerde beschrijving">
            <a:extLst>
              <a:ext uri="{FF2B5EF4-FFF2-40B4-BE49-F238E27FC236}">
                <a16:creationId xmlns:a16="http://schemas.microsoft.com/office/drawing/2014/main" id="{CCC322B7-C841-774E-E86B-427CC5280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395" y="0"/>
            <a:ext cx="484860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E23850AF-C55E-94A9-AC40-F5D39E7A9F0C}"/>
              </a:ext>
            </a:extLst>
          </p:cNvPr>
          <p:cNvSpPr/>
          <p:nvPr/>
        </p:nvSpPr>
        <p:spPr>
          <a:xfrm>
            <a:off x="7421881" y="861276"/>
            <a:ext cx="2186940" cy="3634523"/>
          </a:xfrm>
          <a:custGeom>
            <a:avLst/>
            <a:gdLst>
              <a:gd name="csX0" fmla="*/ 0 w 2186940"/>
              <a:gd name="csY0" fmla="*/ 0 h 3634523"/>
              <a:gd name="csX1" fmla="*/ 481127 w 2186940"/>
              <a:gd name="csY1" fmla="*/ 0 h 3634523"/>
              <a:gd name="csX2" fmla="*/ 984123 w 2186940"/>
              <a:gd name="csY2" fmla="*/ 0 h 3634523"/>
              <a:gd name="csX3" fmla="*/ 1552727 w 2186940"/>
              <a:gd name="csY3" fmla="*/ 0 h 3634523"/>
              <a:gd name="csX4" fmla="*/ 2186940 w 2186940"/>
              <a:gd name="csY4" fmla="*/ 0 h 3634523"/>
              <a:gd name="csX5" fmla="*/ 2186940 w 2186940"/>
              <a:gd name="csY5" fmla="*/ 533063 h 3634523"/>
              <a:gd name="csX6" fmla="*/ 2186940 w 2186940"/>
              <a:gd name="csY6" fmla="*/ 1211508 h 3634523"/>
              <a:gd name="csX7" fmla="*/ 2186940 w 2186940"/>
              <a:gd name="csY7" fmla="*/ 1744571 h 3634523"/>
              <a:gd name="csX8" fmla="*/ 2186940 w 2186940"/>
              <a:gd name="csY8" fmla="*/ 2350325 h 3634523"/>
              <a:gd name="csX9" fmla="*/ 2186940 w 2186940"/>
              <a:gd name="csY9" fmla="*/ 2883388 h 3634523"/>
              <a:gd name="csX10" fmla="*/ 2186940 w 2186940"/>
              <a:gd name="csY10" fmla="*/ 3634523 h 3634523"/>
              <a:gd name="csX11" fmla="*/ 1596466 w 2186940"/>
              <a:gd name="csY11" fmla="*/ 3634523 h 3634523"/>
              <a:gd name="csX12" fmla="*/ 1115339 w 2186940"/>
              <a:gd name="csY12" fmla="*/ 3634523 h 3634523"/>
              <a:gd name="csX13" fmla="*/ 634213 w 2186940"/>
              <a:gd name="csY13" fmla="*/ 3634523 h 3634523"/>
              <a:gd name="csX14" fmla="*/ 0 w 2186940"/>
              <a:gd name="csY14" fmla="*/ 3634523 h 3634523"/>
              <a:gd name="csX15" fmla="*/ 0 w 2186940"/>
              <a:gd name="csY15" fmla="*/ 2956079 h 3634523"/>
              <a:gd name="csX16" fmla="*/ 0 w 2186940"/>
              <a:gd name="csY16" fmla="*/ 2350325 h 3634523"/>
              <a:gd name="csX17" fmla="*/ 0 w 2186940"/>
              <a:gd name="csY17" fmla="*/ 1817262 h 3634523"/>
              <a:gd name="csX18" fmla="*/ 0 w 2186940"/>
              <a:gd name="csY18" fmla="*/ 1284198 h 3634523"/>
              <a:gd name="csX19" fmla="*/ 0 w 2186940"/>
              <a:gd name="csY19" fmla="*/ 751135 h 3634523"/>
              <a:gd name="csX20" fmla="*/ 0 w 2186940"/>
              <a:gd name="csY20" fmla="*/ 0 h 3634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186940" h="3634523" extrusionOk="0">
                <a:moveTo>
                  <a:pt x="0" y="0"/>
                </a:moveTo>
                <a:cubicBezTo>
                  <a:pt x="228024" y="11696"/>
                  <a:pt x="267505" y="-5994"/>
                  <a:pt x="481127" y="0"/>
                </a:cubicBezTo>
                <a:cubicBezTo>
                  <a:pt x="694749" y="5994"/>
                  <a:pt x="831643" y="-6817"/>
                  <a:pt x="984123" y="0"/>
                </a:cubicBezTo>
                <a:cubicBezTo>
                  <a:pt x="1136603" y="6817"/>
                  <a:pt x="1415757" y="-22319"/>
                  <a:pt x="1552727" y="0"/>
                </a:cubicBezTo>
                <a:cubicBezTo>
                  <a:pt x="1689697" y="22319"/>
                  <a:pt x="1913477" y="-19426"/>
                  <a:pt x="2186940" y="0"/>
                </a:cubicBezTo>
                <a:cubicBezTo>
                  <a:pt x="2165956" y="157221"/>
                  <a:pt x="2206460" y="402915"/>
                  <a:pt x="2186940" y="533063"/>
                </a:cubicBezTo>
                <a:cubicBezTo>
                  <a:pt x="2167420" y="663211"/>
                  <a:pt x="2203585" y="1007045"/>
                  <a:pt x="2186940" y="1211508"/>
                </a:cubicBezTo>
                <a:cubicBezTo>
                  <a:pt x="2170295" y="1415971"/>
                  <a:pt x="2209064" y="1504239"/>
                  <a:pt x="2186940" y="1744571"/>
                </a:cubicBezTo>
                <a:cubicBezTo>
                  <a:pt x="2164816" y="1984903"/>
                  <a:pt x="2183542" y="2117929"/>
                  <a:pt x="2186940" y="2350325"/>
                </a:cubicBezTo>
                <a:cubicBezTo>
                  <a:pt x="2190338" y="2582721"/>
                  <a:pt x="2187064" y="2706469"/>
                  <a:pt x="2186940" y="2883388"/>
                </a:cubicBezTo>
                <a:cubicBezTo>
                  <a:pt x="2186816" y="3060307"/>
                  <a:pt x="2174248" y="3365642"/>
                  <a:pt x="2186940" y="3634523"/>
                </a:cubicBezTo>
                <a:cubicBezTo>
                  <a:pt x="2001602" y="3609353"/>
                  <a:pt x="1826881" y="3615148"/>
                  <a:pt x="1596466" y="3634523"/>
                </a:cubicBezTo>
                <a:cubicBezTo>
                  <a:pt x="1366051" y="3653898"/>
                  <a:pt x="1279052" y="3649762"/>
                  <a:pt x="1115339" y="3634523"/>
                </a:cubicBezTo>
                <a:cubicBezTo>
                  <a:pt x="951626" y="3619284"/>
                  <a:pt x="783598" y="3634366"/>
                  <a:pt x="634213" y="3634523"/>
                </a:cubicBezTo>
                <a:cubicBezTo>
                  <a:pt x="484828" y="3634680"/>
                  <a:pt x="200887" y="3645387"/>
                  <a:pt x="0" y="3634523"/>
                </a:cubicBezTo>
                <a:cubicBezTo>
                  <a:pt x="5032" y="3347654"/>
                  <a:pt x="-23701" y="3239972"/>
                  <a:pt x="0" y="2956079"/>
                </a:cubicBezTo>
                <a:cubicBezTo>
                  <a:pt x="23701" y="2672186"/>
                  <a:pt x="-25446" y="2646683"/>
                  <a:pt x="0" y="2350325"/>
                </a:cubicBezTo>
                <a:cubicBezTo>
                  <a:pt x="25446" y="2053967"/>
                  <a:pt x="-1991" y="2035727"/>
                  <a:pt x="0" y="1817262"/>
                </a:cubicBezTo>
                <a:cubicBezTo>
                  <a:pt x="1991" y="1598797"/>
                  <a:pt x="8723" y="1537476"/>
                  <a:pt x="0" y="1284198"/>
                </a:cubicBezTo>
                <a:cubicBezTo>
                  <a:pt x="-8723" y="1030920"/>
                  <a:pt x="-23364" y="937609"/>
                  <a:pt x="0" y="751135"/>
                </a:cubicBezTo>
                <a:cubicBezTo>
                  <a:pt x="23364" y="564661"/>
                  <a:pt x="-37125" y="264326"/>
                  <a:pt x="0" y="0"/>
                </a:cubicBezTo>
                <a:close/>
              </a:path>
            </a:pathLst>
          </a:custGeom>
          <a:noFill/>
          <a:ln w="28575">
            <a:solidFill>
              <a:srgbClr val="FFDF7F"/>
            </a:solidFill>
            <a:extLst>
              <a:ext uri="{C807C97D-BFC1-408E-A445-0C87EB9F89A2}">
                <ask:lineSketchStyleProps xmlns:ask="http://schemas.microsoft.com/office/drawing/2018/sketchyshapes" sd="25614644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8480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2EFE3-BA83-082B-CFEF-8810F4BEA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D109-4C11-D9E3-E5B5-AB7B76A7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9: Build a folder structure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66BC-07B5-FABC-8D79-781771224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Workbook p.9</a:t>
            </a:r>
          </a:p>
          <a:p>
            <a:pPr marL="0" indent="0">
              <a:buNone/>
            </a:pPr>
            <a:r>
              <a:rPr lang="en-US" sz="2400" b="1" dirty="0"/>
              <a:t>In pairs:</a:t>
            </a:r>
          </a:p>
          <a:p>
            <a:pPr marL="457200" indent="-457200">
              <a:buAutoNum type="arabicPeriod"/>
            </a:pPr>
            <a:r>
              <a:rPr lang="en-US" sz="2400" dirty="0"/>
              <a:t>In dataflow: find the digital data (</a:t>
            </a:r>
            <a:r>
              <a:rPr lang="en-US" sz="2400" dirty="0">
                <a:solidFill>
                  <a:srgbClr val="7FD7F7"/>
                </a:solidFill>
              </a:rPr>
              <a:t>blue </a:t>
            </a:r>
            <a:r>
              <a:rPr lang="en-US" sz="2400" dirty="0" err="1">
                <a:solidFill>
                  <a:srgbClr val="7FD7F7"/>
                </a:solidFill>
              </a:rPr>
              <a:t>post-its</a:t>
            </a:r>
            <a:r>
              <a:rPr lang="en-US" sz="2400" dirty="0"/>
              <a:t>) </a:t>
            </a:r>
            <a:endParaRPr lang="en-US" sz="2400" dirty="0">
              <a:sym typeface="Wingdings" panose="05000000000000000000" pitchFamily="2" charset="2"/>
            </a:endParaRPr>
          </a:p>
          <a:p>
            <a:pPr marL="457200" indent="-457200"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Copy to new </a:t>
            </a:r>
            <a:r>
              <a:rPr lang="en-US" sz="2400" dirty="0">
                <a:solidFill>
                  <a:srgbClr val="7FD7F7"/>
                </a:solidFill>
                <a:sym typeface="Wingdings" panose="05000000000000000000" pitchFamily="2" charset="2"/>
              </a:rPr>
              <a:t>blue </a:t>
            </a:r>
            <a:r>
              <a:rPr lang="en-US" sz="2400" dirty="0" err="1">
                <a:solidFill>
                  <a:srgbClr val="7FD7F7"/>
                </a:solidFill>
                <a:sym typeface="Wingdings" panose="05000000000000000000" pitchFamily="2" charset="2"/>
              </a:rPr>
              <a:t>post-its</a:t>
            </a:r>
            <a:endParaRPr lang="en-US" sz="2400" dirty="0">
              <a:solidFill>
                <a:srgbClr val="7FD7F7"/>
              </a:solidFill>
              <a:sym typeface="Wingdings" panose="05000000000000000000" pitchFamily="2" charset="2"/>
            </a:endParaRPr>
          </a:p>
          <a:p>
            <a:pPr marL="457200" indent="-457200"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Add new </a:t>
            </a:r>
            <a:r>
              <a:rPr lang="en-US" sz="2400" dirty="0" err="1">
                <a:sym typeface="Wingdings" panose="05000000000000000000" pitchFamily="2" charset="2"/>
              </a:rPr>
              <a:t>post-its</a:t>
            </a:r>
            <a:r>
              <a:rPr lang="en-US" sz="2400" dirty="0">
                <a:sym typeface="Wingdings" panose="05000000000000000000" pitchFamily="2" charset="2"/>
              </a:rPr>
              <a:t> from list</a:t>
            </a:r>
          </a:p>
          <a:p>
            <a:pPr marL="457200" indent="-457200"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Check </a:t>
            </a:r>
            <a:r>
              <a:rPr lang="en-US" sz="2400" dirty="0">
                <a:solidFill>
                  <a:srgbClr val="FFDF7F"/>
                </a:solidFill>
                <a:sym typeface="Wingdings" panose="05000000000000000000" pitchFamily="2" charset="2"/>
              </a:rPr>
              <a:t>yellow</a:t>
            </a:r>
            <a:r>
              <a:rPr lang="en-US" sz="2400" dirty="0">
                <a:sym typeface="Wingdings" panose="05000000000000000000" pitchFamily="2" charset="2"/>
              </a:rPr>
              <a:t> and </a:t>
            </a:r>
            <a:r>
              <a:rPr lang="en-US" sz="2400" dirty="0">
                <a:solidFill>
                  <a:srgbClr val="FF9999"/>
                </a:solidFill>
                <a:sym typeface="Wingdings" panose="05000000000000000000" pitchFamily="2" charset="2"/>
              </a:rPr>
              <a:t>pink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post-its</a:t>
            </a:r>
            <a:r>
              <a:rPr lang="en-US" sz="2400" dirty="0">
                <a:sym typeface="Wingdings" panose="05000000000000000000" pitchFamily="2" charset="2"/>
              </a:rPr>
              <a:t> for data files (code, separate documentation,…)  copy as well</a:t>
            </a:r>
          </a:p>
          <a:p>
            <a:pPr marL="457200" indent="-457200"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Make folder structure with new </a:t>
            </a:r>
            <a:r>
              <a:rPr lang="en-US" sz="2400" dirty="0" err="1">
                <a:sym typeface="Wingdings" panose="05000000000000000000" pitchFamily="2" charset="2"/>
              </a:rPr>
              <a:t>post-its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Add to README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9498E-A054-3EEB-B24B-8E8ABE73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4D95-D6A6-084A-9D9C-617B45E258A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8182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D93A9-95B6-5087-8D42-5AEBE29B4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0C64-CBF5-588B-1F0C-B1A635294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9: Build a folder structure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01AD-C5C3-F50B-59B8-F60498C6A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Workbook p.9</a:t>
            </a:r>
          </a:p>
          <a:p>
            <a:pPr marL="0" indent="0">
              <a:buNone/>
            </a:pPr>
            <a:r>
              <a:rPr lang="en-US" sz="2400" b="1"/>
              <a:t>Pair discussion: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/>
              <a:t>How do you currently organize your project folders?</a:t>
            </a:r>
            <a:endParaRPr lang="nl-BE"/>
          </a:p>
          <a:p>
            <a:pPr marL="971550" lvl="1" indent="-514350">
              <a:buFont typeface="+mj-lt"/>
              <a:buAutoNum type="alphaLcPeriod"/>
            </a:pPr>
            <a:r>
              <a:rPr lang="en-US"/>
              <a:t>Would the other parts of your project fit into this folder structure? How would you need to adapt this? </a:t>
            </a:r>
            <a:endParaRPr lang="nl-BE"/>
          </a:p>
          <a:p>
            <a:pPr marL="971550" lvl="1" indent="-514350">
              <a:buFont typeface="+mj-lt"/>
              <a:buAutoNum type="alphaLcPeriod"/>
            </a:pPr>
            <a:r>
              <a:rPr lang="en-US"/>
              <a:t>What folder structures have worked well (or not) in past projects?</a:t>
            </a:r>
            <a:endParaRPr lang="nl-BE"/>
          </a:p>
          <a:p>
            <a:pPr marL="971550" lvl="1" indent="-514350">
              <a:buFont typeface="+mj-lt"/>
              <a:buAutoNum type="alphaLcPeriod"/>
            </a:pPr>
            <a:r>
              <a:rPr lang="en-US"/>
              <a:t>How do you handle shared folders in collaborative projects?</a:t>
            </a:r>
            <a:endParaRPr lang="nl-BE"/>
          </a:p>
          <a:p>
            <a:pPr marL="0" indent="0">
              <a:buNone/>
            </a:pPr>
            <a:endParaRPr lang="nl-BE" sz="20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60462-CD1C-2838-3E07-1D9054584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4D95-D6A6-084A-9D9C-617B45E258A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7050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A47E-5E67-011E-A46C-D1EE7E5D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Jie’s file naming and folder structure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4F1ED-7D93-3458-E715-888442FE0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CBC9C-2536-2A15-D7C8-FCA84C73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4D95-D6A6-084A-9D9C-617B45E258A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9051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F5784-D4A9-2B13-72CC-CD7ECC09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1AF6-6671-4538-974D-3AEC00AC0B82}" type="slidenum">
              <a:rPr lang="en-GB" smtClean="0"/>
              <a:t>15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395D35-C296-AA0C-776F-38CDE0D3A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7" y="0"/>
            <a:ext cx="2728579" cy="648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59BC45-8E30-29FD-6819-54D12B5E3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479" y="0"/>
            <a:ext cx="3372701" cy="648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B43804-7716-8674-1726-A8B8FD1AD4C1}"/>
              </a:ext>
            </a:extLst>
          </p:cNvPr>
          <p:cNvSpPr/>
          <p:nvPr/>
        </p:nvSpPr>
        <p:spPr>
          <a:xfrm>
            <a:off x="777666" y="1546789"/>
            <a:ext cx="1717705" cy="1944000"/>
          </a:xfrm>
          <a:custGeom>
            <a:avLst/>
            <a:gdLst>
              <a:gd name="csX0" fmla="*/ 0 w 1717705"/>
              <a:gd name="csY0" fmla="*/ 0 h 1944000"/>
              <a:gd name="csX1" fmla="*/ 521037 w 1717705"/>
              <a:gd name="csY1" fmla="*/ 0 h 1944000"/>
              <a:gd name="csX2" fmla="*/ 1059251 w 1717705"/>
              <a:gd name="csY2" fmla="*/ 0 h 1944000"/>
              <a:gd name="csX3" fmla="*/ 1717705 w 1717705"/>
              <a:gd name="csY3" fmla="*/ 0 h 1944000"/>
              <a:gd name="csX4" fmla="*/ 1717705 w 1717705"/>
              <a:gd name="csY4" fmla="*/ 648000 h 1944000"/>
              <a:gd name="csX5" fmla="*/ 1717705 w 1717705"/>
              <a:gd name="csY5" fmla="*/ 1276560 h 1944000"/>
              <a:gd name="csX6" fmla="*/ 1717705 w 1717705"/>
              <a:gd name="csY6" fmla="*/ 1944000 h 1944000"/>
              <a:gd name="csX7" fmla="*/ 1179491 w 1717705"/>
              <a:gd name="csY7" fmla="*/ 1944000 h 1944000"/>
              <a:gd name="csX8" fmla="*/ 589745 w 1717705"/>
              <a:gd name="csY8" fmla="*/ 1944000 h 1944000"/>
              <a:gd name="csX9" fmla="*/ 0 w 1717705"/>
              <a:gd name="csY9" fmla="*/ 1944000 h 1944000"/>
              <a:gd name="csX10" fmla="*/ 0 w 1717705"/>
              <a:gd name="csY10" fmla="*/ 1257120 h 1944000"/>
              <a:gd name="csX11" fmla="*/ 0 w 1717705"/>
              <a:gd name="csY11" fmla="*/ 570240 h 1944000"/>
              <a:gd name="csX12" fmla="*/ 0 w 1717705"/>
              <a:gd name="csY12" fmla="*/ 0 h 194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717705" h="1944000" extrusionOk="0">
                <a:moveTo>
                  <a:pt x="0" y="0"/>
                </a:moveTo>
                <a:cubicBezTo>
                  <a:pt x="212883" y="15362"/>
                  <a:pt x="395767" y="20829"/>
                  <a:pt x="521037" y="0"/>
                </a:cubicBezTo>
                <a:cubicBezTo>
                  <a:pt x="646307" y="-20829"/>
                  <a:pt x="822022" y="-6613"/>
                  <a:pt x="1059251" y="0"/>
                </a:cubicBezTo>
                <a:cubicBezTo>
                  <a:pt x="1296480" y="6613"/>
                  <a:pt x="1513857" y="-31470"/>
                  <a:pt x="1717705" y="0"/>
                </a:cubicBezTo>
                <a:cubicBezTo>
                  <a:pt x="1688503" y="303118"/>
                  <a:pt x="1701269" y="423854"/>
                  <a:pt x="1717705" y="648000"/>
                </a:cubicBezTo>
                <a:cubicBezTo>
                  <a:pt x="1734141" y="872146"/>
                  <a:pt x="1710670" y="1036143"/>
                  <a:pt x="1717705" y="1276560"/>
                </a:cubicBezTo>
                <a:cubicBezTo>
                  <a:pt x="1724740" y="1516977"/>
                  <a:pt x="1689081" y="1746610"/>
                  <a:pt x="1717705" y="1944000"/>
                </a:cubicBezTo>
                <a:cubicBezTo>
                  <a:pt x="1501242" y="1921523"/>
                  <a:pt x="1437297" y="1935607"/>
                  <a:pt x="1179491" y="1944000"/>
                </a:cubicBezTo>
                <a:cubicBezTo>
                  <a:pt x="921685" y="1952393"/>
                  <a:pt x="805795" y="1930197"/>
                  <a:pt x="589745" y="1944000"/>
                </a:cubicBezTo>
                <a:cubicBezTo>
                  <a:pt x="373695" y="1957803"/>
                  <a:pt x="179688" y="1926722"/>
                  <a:pt x="0" y="1944000"/>
                </a:cubicBezTo>
                <a:cubicBezTo>
                  <a:pt x="2208" y="1673734"/>
                  <a:pt x="27569" y="1515848"/>
                  <a:pt x="0" y="1257120"/>
                </a:cubicBezTo>
                <a:cubicBezTo>
                  <a:pt x="-27569" y="998392"/>
                  <a:pt x="3341" y="854277"/>
                  <a:pt x="0" y="570240"/>
                </a:cubicBezTo>
                <a:cubicBezTo>
                  <a:pt x="-3341" y="286203"/>
                  <a:pt x="-14082" y="14566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005E77"/>
            </a:solidFill>
            <a:extLst>
              <a:ext uri="{C807C97D-BFC1-408E-A445-0C87EB9F89A2}">
                <ask:lineSketchStyleProps xmlns:ask="http://schemas.microsoft.com/office/drawing/2018/sketchyshapes" sd="25614644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EB0176-8C3E-E657-9E21-572B84DA928F}"/>
              </a:ext>
            </a:extLst>
          </p:cNvPr>
          <p:cNvSpPr/>
          <p:nvPr/>
        </p:nvSpPr>
        <p:spPr>
          <a:xfrm>
            <a:off x="5237146" y="1451362"/>
            <a:ext cx="2462613" cy="2232000"/>
          </a:xfrm>
          <a:custGeom>
            <a:avLst/>
            <a:gdLst>
              <a:gd name="csX0" fmla="*/ 0 w 2462613"/>
              <a:gd name="csY0" fmla="*/ 0 h 2232000"/>
              <a:gd name="csX1" fmla="*/ 591027 w 2462613"/>
              <a:gd name="csY1" fmla="*/ 0 h 2232000"/>
              <a:gd name="csX2" fmla="*/ 1231307 w 2462613"/>
              <a:gd name="csY2" fmla="*/ 0 h 2232000"/>
              <a:gd name="csX3" fmla="*/ 1846960 w 2462613"/>
              <a:gd name="csY3" fmla="*/ 0 h 2232000"/>
              <a:gd name="csX4" fmla="*/ 2462613 w 2462613"/>
              <a:gd name="csY4" fmla="*/ 0 h 2232000"/>
              <a:gd name="csX5" fmla="*/ 2462613 w 2462613"/>
              <a:gd name="csY5" fmla="*/ 558000 h 2232000"/>
              <a:gd name="csX6" fmla="*/ 2462613 w 2462613"/>
              <a:gd name="csY6" fmla="*/ 1071360 h 2232000"/>
              <a:gd name="csX7" fmla="*/ 2462613 w 2462613"/>
              <a:gd name="csY7" fmla="*/ 1674000 h 2232000"/>
              <a:gd name="csX8" fmla="*/ 2462613 w 2462613"/>
              <a:gd name="csY8" fmla="*/ 2232000 h 2232000"/>
              <a:gd name="csX9" fmla="*/ 1822334 w 2462613"/>
              <a:gd name="csY9" fmla="*/ 2232000 h 2232000"/>
              <a:gd name="csX10" fmla="*/ 1280559 w 2462613"/>
              <a:gd name="csY10" fmla="*/ 2232000 h 2232000"/>
              <a:gd name="csX11" fmla="*/ 664906 w 2462613"/>
              <a:gd name="csY11" fmla="*/ 2232000 h 2232000"/>
              <a:gd name="csX12" fmla="*/ 0 w 2462613"/>
              <a:gd name="csY12" fmla="*/ 2232000 h 2232000"/>
              <a:gd name="csX13" fmla="*/ 0 w 2462613"/>
              <a:gd name="csY13" fmla="*/ 1651680 h 2232000"/>
              <a:gd name="csX14" fmla="*/ 0 w 2462613"/>
              <a:gd name="csY14" fmla="*/ 1138320 h 2232000"/>
              <a:gd name="csX15" fmla="*/ 0 w 2462613"/>
              <a:gd name="csY15" fmla="*/ 602640 h 2232000"/>
              <a:gd name="csX16" fmla="*/ 0 w 2462613"/>
              <a:gd name="csY16" fmla="*/ 0 h 223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462613" h="2232000" extrusionOk="0">
                <a:moveTo>
                  <a:pt x="0" y="0"/>
                </a:moveTo>
                <a:cubicBezTo>
                  <a:pt x="266732" y="-22499"/>
                  <a:pt x="352396" y="21010"/>
                  <a:pt x="591027" y="0"/>
                </a:cubicBezTo>
                <a:cubicBezTo>
                  <a:pt x="829658" y="-21010"/>
                  <a:pt x="1041632" y="13455"/>
                  <a:pt x="1231307" y="0"/>
                </a:cubicBezTo>
                <a:cubicBezTo>
                  <a:pt x="1420982" y="-13455"/>
                  <a:pt x="1721670" y="16230"/>
                  <a:pt x="1846960" y="0"/>
                </a:cubicBezTo>
                <a:cubicBezTo>
                  <a:pt x="1972250" y="-16230"/>
                  <a:pt x="2204940" y="29082"/>
                  <a:pt x="2462613" y="0"/>
                </a:cubicBezTo>
                <a:cubicBezTo>
                  <a:pt x="2471774" y="142443"/>
                  <a:pt x="2450422" y="353294"/>
                  <a:pt x="2462613" y="558000"/>
                </a:cubicBezTo>
                <a:cubicBezTo>
                  <a:pt x="2474804" y="762706"/>
                  <a:pt x="2472916" y="931565"/>
                  <a:pt x="2462613" y="1071360"/>
                </a:cubicBezTo>
                <a:cubicBezTo>
                  <a:pt x="2452310" y="1211155"/>
                  <a:pt x="2445111" y="1390332"/>
                  <a:pt x="2462613" y="1674000"/>
                </a:cubicBezTo>
                <a:cubicBezTo>
                  <a:pt x="2480115" y="1957668"/>
                  <a:pt x="2458648" y="2035306"/>
                  <a:pt x="2462613" y="2232000"/>
                </a:cubicBezTo>
                <a:cubicBezTo>
                  <a:pt x="2149396" y="2254080"/>
                  <a:pt x="2105792" y="2217066"/>
                  <a:pt x="1822334" y="2232000"/>
                </a:cubicBezTo>
                <a:cubicBezTo>
                  <a:pt x="1538876" y="2246934"/>
                  <a:pt x="1429065" y="2222375"/>
                  <a:pt x="1280559" y="2232000"/>
                </a:cubicBezTo>
                <a:cubicBezTo>
                  <a:pt x="1132053" y="2241625"/>
                  <a:pt x="855835" y="2206444"/>
                  <a:pt x="664906" y="2232000"/>
                </a:cubicBezTo>
                <a:cubicBezTo>
                  <a:pt x="473977" y="2257556"/>
                  <a:pt x="214491" y="2234324"/>
                  <a:pt x="0" y="2232000"/>
                </a:cubicBezTo>
                <a:cubicBezTo>
                  <a:pt x="7195" y="2081318"/>
                  <a:pt x="-28282" y="1847564"/>
                  <a:pt x="0" y="1651680"/>
                </a:cubicBezTo>
                <a:cubicBezTo>
                  <a:pt x="28282" y="1455796"/>
                  <a:pt x="6454" y="1322015"/>
                  <a:pt x="0" y="1138320"/>
                </a:cubicBezTo>
                <a:cubicBezTo>
                  <a:pt x="-6454" y="954625"/>
                  <a:pt x="873" y="772978"/>
                  <a:pt x="0" y="602640"/>
                </a:cubicBezTo>
                <a:cubicBezTo>
                  <a:pt x="-873" y="432302"/>
                  <a:pt x="-15489" y="136224"/>
                  <a:pt x="0" y="0"/>
                </a:cubicBezTo>
                <a:close/>
              </a:path>
            </a:pathLst>
          </a:custGeom>
          <a:noFill/>
          <a:ln w="28575">
            <a:solidFill>
              <a:srgbClr val="005E77"/>
            </a:solidFill>
            <a:extLst>
              <a:ext uri="{C807C97D-BFC1-408E-A445-0C87EB9F89A2}">
                <ask:lineSketchStyleProps xmlns:ask="http://schemas.microsoft.com/office/drawing/2018/sketchyshapes" sd="6605620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B8BE59-4455-1CB4-D1F6-F8AD5598D909}"/>
              </a:ext>
            </a:extLst>
          </p:cNvPr>
          <p:cNvSpPr txBox="1"/>
          <p:nvPr/>
        </p:nvSpPr>
        <p:spPr>
          <a:xfrm>
            <a:off x="9181496" y="4059252"/>
            <a:ext cx="3010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 = Alzheimer disease</a:t>
            </a:r>
          </a:p>
          <a:p>
            <a:r>
              <a:rPr lang="en-US" sz="1400" i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ADSS = Alzheimer disease </a:t>
            </a:r>
            <a:r>
              <a:rPr lang="en-US" sz="1400" i="1" err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SciSure</a:t>
            </a:r>
            <a:endParaRPr lang="nl-BE" sz="1400" i="1">
              <a:solidFill>
                <a:srgbClr val="005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3267FE-0D3D-52B7-DF1B-A36D17B17374}"/>
              </a:ext>
            </a:extLst>
          </p:cNvPr>
          <p:cNvSpPr txBox="1"/>
          <p:nvPr/>
        </p:nvSpPr>
        <p:spPr>
          <a:xfrm>
            <a:off x="2494298" y="2087902"/>
            <a:ext cx="242566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Assay-based organization</a:t>
            </a:r>
          </a:p>
          <a:p>
            <a:pPr lvl="1"/>
            <a:r>
              <a:rPr lang="en-US" sz="1100" i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Clear</a:t>
            </a:r>
          </a:p>
          <a:p>
            <a:pPr lvl="1"/>
            <a:r>
              <a:rPr lang="en-US" sz="1100" i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Many folders = many clicks</a:t>
            </a:r>
          </a:p>
          <a:p>
            <a:pPr marL="285750" indent="-285750">
              <a:buFontTx/>
              <a:buChar char="-"/>
            </a:pPr>
            <a:endParaRPr lang="nl-BE" sz="1400" i="1">
              <a:solidFill>
                <a:srgbClr val="005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647E1E-9E48-C4CB-1CBD-6619742F9381}"/>
              </a:ext>
            </a:extLst>
          </p:cNvPr>
          <p:cNvSpPr txBox="1"/>
          <p:nvPr/>
        </p:nvSpPr>
        <p:spPr>
          <a:xfrm>
            <a:off x="7699759" y="1918624"/>
            <a:ext cx="3781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Data type-based organization</a:t>
            </a:r>
          </a:p>
          <a:p>
            <a:pPr lvl="1"/>
            <a:r>
              <a:rPr lang="en-US" sz="1100" i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Less folder levels (assay folders could be made)</a:t>
            </a:r>
          </a:p>
          <a:p>
            <a:pPr lvl="1"/>
            <a:r>
              <a:rPr lang="en-US" sz="1100" i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Clear file names</a:t>
            </a:r>
          </a:p>
          <a:p>
            <a:pPr marL="628650" lvl="1" indent="-171450">
              <a:buFontTx/>
              <a:buChar char="-"/>
            </a:pPr>
            <a:r>
              <a:rPr lang="en-US" sz="1100" i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files in 1 folder</a:t>
            </a:r>
          </a:p>
          <a:p>
            <a:pPr marL="628650" lvl="1" indent="-171450">
              <a:buFontTx/>
              <a:buChar char="-"/>
            </a:pPr>
            <a:r>
              <a:rPr lang="en-US" sz="1100" i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Longer file names</a:t>
            </a:r>
          </a:p>
          <a:p>
            <a:pPr marL="285750" indent="-285750">
              <a:buFontTx/>
              <a:buChar char="-"/>
            </a:pPr>
            <a:endParaRPr lang="nl-BE" sz="1400" i="1">
              <a:solidFill>
                <a:srgbClr val="005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3F64C3-8CB5-06DE-82B4-731C651021B5}"/>
              </a:ext>
            </a:extLst>
          </p:cNvPr>
          <p:cNvSpPr txBox="1"/>
          <p:nvPr/>
        </p:nvSpPr>
        <p:spPr>
          <a:xfrm>
            <a:off x="2494298" y="3490789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ELN export 1x per year</a:t>
            </a:r>
            <a:endParaRPr lang="en-US" sz="1100" i="1">
              <a:solidFill>
                <a:srgbClr val="005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D2D6F5-9588-8286-19E3-D9B221132D15}"/>
              </a:ext>
            </a:extLst>
          </p:cNvPr>
          <p:cNvSpPr txBox="1"/>
          <p:nvPr/>
        </p:nvSpPr>
        <p:spPr>
          <a:xfrm>
            <a:off x="2494298" y="395616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>
                <a:solidFill>
                  <a:srgbClr val="005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ELN export 1x per year</a:t>
            </a:r>
            <a:endParaRPr lang="en-US" sz="1100" i="1">
              <a:solidFill>
                <a:srgbClr val="005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3CD527C9-C183-E2C3-3881-FBDF1BDE4F2A}"/>
              </a:ext>
            </a:extLst>
          </p:cNvPr>
          <p:cNvSpPr/>
          <p:nvPr/>
        </p:nvSpPr>
        <p:spPr>
          <a:xfrm>
            <a:off x="4600601" y="-135699"/>
            <a:ext cx="3246120" cy="61950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1755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BDD5-C4DE-ABD2-D98E-0E568EF7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Jie’s project README at project start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11593-A5FD-94B0-CF97-0983749D4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9E539-1B5C-F61E-5232-61C389B4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4D95-D6A6-084A-9D9C-617B45E258AD}" type="slidenum">
              <a:rPr lang="nl-NL" smtClean="0"/>
              <a:t>16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44E407-98F1-5A99-ED26-DDBA233E35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013"/>
          <a:stretch>
            <a:fillRect/>
          </a:stretch>
        </p:blipFill>
        <p:spPr>
          <a:xfrm>
            <a:off x="1408956" y="1505027"/>
            <a:ext cx="9374088" cy="462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2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9AA2-C345-946D-0173-C8A3FF65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29C2-9161-3740-59E9-BDDE14C9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Keep the overview</a:t>
            </a:r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D88C8-EA98-DAB2-8D88-3560194C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C571AF6-6671-4538-974D-3AEC00AC0B82}" type="slidenum">
              <a:rPr lang="en-GB" smtClean="0"/>
              <a:t>17</a:t>
            </a:fld>
            <a:endParaRPr lang="en-GB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22C7EE76-2736-DCCB-1C0C-68A91853AFDE}"/>
              </a:ext>
            </a:extLst>
          </p:cNvPr>
          <p:cNvSpPr txBox="1">
            <a:spLocks/>
          </p:cNvSpPr>
          <p:nvPr/>
        </p:nvSpPr>
        <p:spPr>
          <a:xfrm>
            <a:off x="576000" y="2045562"/>
            <a:ext cx="11041200" cy="41728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 baseline="0">
                <a:solidFill>
                  <a:srgbClr val="005E77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u="sng">
                <a:latin typeface="Arial"/>
                <a:cs typeface="Arial"/>
              </a:rPr>
              <a:t>Organize your project</a:t>
            </a:r>
          </a:p>
          <a:p>
            <a:pPr marL="457200" lvl="1" indent="0">
              <a:buFont typeface="Arial"/>
              <a:buNone/>
            </a:pPr>
            <a:endParaRPr lang="en-GB" sz="1050">
              <a:sym typeface="Wingdings" panose="05000000000000000000" pitchFamily="2" charset="2"/>
            </a:endParaRPr>
          </a:p>
          <a:p>
            <a:pPr lvl="1">
              <a:buFontTx/>
              <a:buChar char="–"/>
            </a:pPr>
            <a:r>
              <a:rPr lang="en-GB"/>
              <a:t>README file</a:t>
            </a:r>
          </a:p>
          <a:p>
            <a:pPr lvl="1">
              <a:buFontTx/>
              <a:buChar char="–"/>
            </a:pPr>
            <a:r>
              <a:rPr lang="en-GB"/>
              <a:t>File naming convention</a:t>
            </a:r>
          </a:p>
          <a:p>
            <a:pPr lvl="1">
              <a:buFontTx/>
              <a:buChar char="–"/>
            </a:pPr>
            <a:r>
              <a:rPr lang="en-GB"/>
              <a:t>Folder structure</a:t>
            </a:r>
          </a:p>
          <a:p>
            <a:pPr lvl="1">
              <a:buFontTx/>
              <a:buChar char="–"/>
            </a:pPr>
            <a:r>
              <a:rPr lang="en-GB" b="1">
                <a:solidFill>
                  <a:srgbClr val="52BDEC"/>
                </a:solidFill>
              </a:rPr>
              <a:t>Metadata</a:t>
            </a:r>
          </a:p>
          <a:p>
            <a:pPr lvl="1">
              <a:buFontTx/>
              <a:buChar char="–"/>
            </a:pPr>
            <a:endParaRPr lang="en-GB" b="1">
              <a:solidFill>
                <a:srgbClr val="52BDEC"/>
              </a:solidFill>
            </a:endParaRPr>
          </a:p>
          <a:p>
            <a:pPr marL="457200" lvl="1" indent="0">
              <a:buNone/>
            </a:pPr>
            <a:r>
              <a:rPr lang="en-GB"/>
              <a:t>Start with the end in mind</a:t>
            </a:r>
          </a:p>
          <a:p>
            <a:pPr marL="457200" lvl="1" indent="0">
              <a:buNone/>
            </a:pPr>
            <a:br>
              <a:rPr lang="en-GB" sz="1400"/>
            </a:br>
            <a:endParaRPr lang="en-GB" sz="1400"/>
          </a:p>
          <a:p>
            <a:pPr marL="457200" lvl="1" indent="0">
              <a:buNone/>
            </a:pPr>
            <a:r>
              <a:rPr lang="en-GB"/>
              <a:t>Add </a:t>
            </a:r>
            <a:r>
              <a:rPr lang="en-GB" b="1"/>
              <a:t>metadata</a:t>
            </a:r>
            <a:r>
              <a:rPr lang="en-GB"/>
              <a:t> by using </a:t>
            </a:r>
            <a:r>
              <a:rPr lang="en-GB" b="1"/>
              <a:t>repositories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Find a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trustworthy repository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RDR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, …)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Publishers and repositories = 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requirements for metadata standards</a:t>
            </a:r>
          </a:p>
          <a:p>
            <a:pPr marL="457200" lvl="1" indent="0">
              <a:buNone/>
            </a:pPr>
            <a:endParaRPr lang="en-GB"/>
          </a:p>
          <a:p>
            <a:endParaRPr lang="en-US" b="1" u="sng">
              <a:latin typeface="Arial"/>
              <a:cs typeface="Arial"/>
            </a:endParaRPr>
          </a:p>
          <a:p>
            <a:pPr marL="742950" lvl="2" indent="-285750">
              <a:lnSpc>
                <a:spcPct val="80000"/>
              </a:lnSpc>
              <a:spcBef>
                <a:spcPts val="1000"/>
              </a:spcBef>
              <a:buFont typeface="Calibri"/>
              <a:buChar char="-"/>
            </a:pPr>
            <a:endParaRPr lang="en-US" sz="140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F08312-E7B9-14AB-BC16-F721E30BE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326" y="2045563"/>
            <a:ext cx="5920650" cy="3947100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6F13F22A-D69E-F4C2-D089-871222ECF223}"/>
              </a:ext>
            </a:extLst>
          </p:cNvPr>
          <p:cNvSpPr/>
          <p:nvPr/>
        </p:nvSpPr>
        <p:spPr>
          <a:xfrm>
            <a:off x="1977656" y="4482084"/>
            <a:ext cx="223284" cy="308344"/>
          </a:xfrm>
          <a:prstGeom prst="downArrow">
            <a:avLst/>
          </a:prstGeom>
          <a:solidFill>
            <a:srgbClr val="005E77"/>
          </a:solidFill>
          <a:ln>
            <a:solidFill>
              <a:srgbClr val="005E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013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5632F3-61E6-3F4B-A2E8-B695391C4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latin typeface="Arial"/>
                <a:cs typeface="Arial"/>
              </a:rPr>
              <a:t>Metadata in Research Data </a:t>
            </a:r>
            <a:r>
              <a:rPr lang="nl-BE" err="1">
                <a:latin typeface="Arial"/>
                <a:cs typeface="Arial"/>
              </a:rPr>
              <a:t>Repository</a:t>
            </a:r>
            <a:r>
              <a:rPr lang="nl-BE">
                <a:latin typeface="Arial"/>
                <a:cs typeface="Arial"/>
              </a:rPr>
              <a:t> (RDR)</a:t>
            </a:r>
            <a:endParaRPr lang="en-GB">
              <a:latin typeface="Arial"/>
              <a:cs typeface="Arial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20718BE-457C-49C4-287E-94F514119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BBE7E-1BED-AABC-2E91-C2678E7C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C571AF6-6671-4538-974D-3AEC00AC0B82}" type="slidenum">
              <a:rPr lang="en-GB" smtClean="0"/>
              <a:t>18</a:t>
            </a:fld>
            <a:endParaRPr lang="en-GB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65B6CDE-7FB3-60AE-1036-ED3C04D9B1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390" t="10552" r="21302" b="19807"/>
          <a:stretch/>
        </p:blipFill>
        <p:spPr>
          <a:xfrm>
            <a:off x="622529" y="1270696"/>
            <a:ext cx="7352778" cy="4510666"/>
          </a:xfrm>
          <a:prstGeom prst="rect">
            <a:avLst/>
          </a:prstGeom>
          <a:ln>
            <a:solidFill>
              <a:srgbClr val="0C495C"/>
            </a:solidFill>
          </a:ln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42E1D2A6-2889-6176-EBD8-73E63974811D}"/>
              </a:ext>
            </a:extLst>
          </p:cNvPr>
          <p:cNvSpPr txBox="1"/>
          <p:nvPr/>
        </p:nvSpPr>
        <p:spPr>
          <a:xfrm>
            <a:off x="567827" y="5758780"/>
            <a:ext cx="74621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>
                <a:solidFill>
                  <a:srgbClr val="333333"/>
                </a:solidFill>
                <a:effectLst/>
              </a:rPr>
              <a:t>Carli, Stefano, 2022, "Replication Data for: Algorithmic Differentiation for adjoint sensitivity calculation in plasma edge codes", </a:t>
            </a:r>
            <a:r>
              <a:rPr lang="en-GB" sz="1200" b="0" i="0" u="none" strike="noStrike">
                <a:solidFill>
                  <a:srgbClr val="3174AF"/>
                </a:solidFill>
                <a:effectLst/>
                <a:hlinkClick r:id="rId4"/>
              </a:rPr>
              <a:t>https://doi.org/10.48804/DZ5XAG</a:t>
            </a:r>
            <a:r>
              <a:rPr lang="en-GB" sz="1200" b="0" i="0">
                <a:solidFill>
                  <a:srgbClr val="333333"/>
                </a:solidFill>
                <a:effectLst/>
              </a:rPr>
              <a:t>, KU Leuven RDR, V3</a:t>
            </a:r>
            <a:endParaRPr lang="en-GB" sz="120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DC5882F-A794-F984-A0A3-A36F7CD27EF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644" t="16678" r="26438"/>
          <a:stretch/>
        </p:blipFill>
        <p:spPr>
          <a:xfrm>
            <a:off x="5799768" y="1901563"/>
            <a:ext cx="6251836" cy="4862067"/>
          </a:xfrm>
          <a:prstGeom prst="rect">
            <a:avLst/>
          </a:prstGeom>
          <a:ln>
            <a:solidFill>
              <a:srgbClr val="0C495C"/>
            </a:solidFill>
          </a:ln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B87E6555-00A1-AC7E-471F-2F932291D717}"/>
              </a:ext>
            </a:extLst>
          </p:cNvPr>
          <p:cNvSpPr txBox="1"/>
          <p:nvPr/>
        </p:nvSpPr>
        <p:spPr>
          <a:xfrm>
            <a:off x="759689" y="641027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20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https://www.kuleuven.be/rdm/en/rdr/full-metadata-model</a:t>
            </a:r>
            <a:r>
              <a:rPr lang="nl-BE" sz="120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971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99E28-54C5-AB3A-7C50-245A238B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10: Back to the DMP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139FE-C6A1-FBFA-2453-481037367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2045563"/>
            <a:ext cx="11204874" cy="3938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Workbook p.10</a:t>
            </a:r>
          </a:p>
          <a:p>
            <a:pPr marL="0" indent="0">
              <a:buNone/>
            </a:pPr>
            <a:r>
              <a:rPr lang="en-US" sz="2400" b="1"/>
              <a:t>Add In </a:t>
            </a:r>
            <a:r>
              <a:rPr lang="en-US" sz="2400" b="1" err="1"/>
              <a:t>DMPonline</a:t>
            </a:r>
            <a:r>
              <a:rPr lang="en-US" sz="2400" b="1"/>
              <a:t> </a:t>
            </a:r>
            <a:r>
              <a:rPr lang="en-US" sz="2400"/>
              <a:t>section 2.1 (documentation): </a:t>
            </a:r>
          </a:p>
          <a:p>
            <a:pPr lvl="1"/>
            <a:r>
              <a:rPr lang="en-US"/>
              <a:t>README</a:t>
            </a:r>
          </a:p>
          <a:p>
            <a:pPr lvl="1"/>
            <a:r>
              <a:rPr lang="en-US"/>
              <a:t>File naming </a:t>
            </a:r>
          </a:p>
          <a:p>
            <a:pPr lvl="1"/>
            <a:r>
              <a:rPr lang="en-US"/>
              <a:t>Folder structure</a:t>
            </a:r>
          </a:p>
          <a:p>
            <a:pPr marL="0" indent="0">
              <a:buNone/>
            </a:pPr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4A7F2-0742-AB20-3785-6FE1FD09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4D95-D6A6-084A-9D9C-617B45E258AD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6052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914B-A3AE-D7C5-73AF-B04A26A0B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EA15-A458-C7B6-1BA4-ECF55F63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Plenary discussion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1CAC7-703D-391A-AE66-FE86E743B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Share your thoughts about this session:</a:t>
            </a:r>
          </a:p>
          <a:p>
            <a:pPr marL="0" indent="0">
              <a:buNone/>
            </a:pPr>
            <a:endParaRPr lang="en-US"/>
          </a:p>
          <a:p>
            <a:pPr marL="914400" lvl="1" indent="-457200">
              <a:buFont typeface="+mj-lt"/>
              <a:buAutoNum type="alphaLcPeriod"/>
            </a:pPr>
            <a:r>
              <a:rPr lang="en-US"/>
              <a:t>Should naming conventions be flexible or strictly enforced?</a:t>
            </a:r>
            <a:endParaRPr lang="nl-BE"/>
          </a:p>
          <a:p>
            <a:pPr marL="914400" lvl="1" indent="-457200">
              <a:buFont typeface="+mj-lt"/>
              <a:buAutoNum type="alphaLcPeriod"/>
            </a:pPr>
            <a:r>
              <a:rPr lang="en-US"/>
              <a:t>How can we make folder structures intuitive for new team members?</a:t>
            </a:r>
            <a:endParaRPr lang="nl-BE"/>
          </a:p>
          <a:p>
            <a:pPr marL="914400" lvl="1" indent="-457200">
              <a:buFont typeface="+mj-lt"/>
              <a:buAutoNum type="alphaLcPeriod"/>
            </a:pPr>
            <a:r>
              <a:rPr lang="en-US"/>
              <a:t>How can we deal with changes in the project that affect the naming convention or folder structure?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/>
              <a:t>Can we make a uniform naming scheme across both the files and the ELN?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/>
              <a:t>How can we encourage  consistent naming across a team?</a:t>
            </a:r>
          </a:p>
          <a:p>
            <a:pPr lvl="1"/>
            <a:endParaRPr lang="nl-BE"/>
          </a:p>
          <a:p>
            <a:pPr marL="0" indent="0">
              <a:buNone/>
            </a:pPr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3750C-7B21-3644-57CC-A40F9FE8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1AF6-6671-4538-974D-3AEC00AC0B82}" type="slidenum">
              <a:rPr lang="en-GB" smtClean="0"/>
              <a:t>20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4C60AC-E6B3-6B4E-CBD1-3E0F5EF3E6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21569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9648F-EAB6-BB80-701D-44243239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8515-9C89-0871-E443-D6BD7C24D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you have build in this course:</a:t>
            </a:r>
            <a:br>
              <a:rPr lang="en-US"/>
            </a:br>
            <a:r>
              <a:rPr lang="en-US"/>
              <a:t>RDM survival Package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80B8B-33CF-D0C2-CF2B-0A4BE92CE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/>
              <a:t>For a subset of your project:</a:t>
            </a:r>
          </a:p>
          <a:p>
            <a:pPr marL="0" indent="0" algn="ctr">
              <a:buNone/>
            </a:pPr>
            <a:endParaRPr lang="en-GB" sz="2000"/>
          </a:p>
          <a:p>
            <a:pPr marL="0" indent="0" algn="ctr">
              <a:buNone/>
            </a:pPr>
            <a:r>
              <a:rPr lang="en-GB" sz="2400"/>
              <a:t>Visual overview of your data (dataflow)</a:t>
            </a:r>
          </a:p>
          <a:p>
            <a:pPr marL="0" indent="0" algn="ctr">
              <a:buNone/>
            </a:pPr>
            <a:r>
              <a:rPr lang="en-GB" sz="2400"/>
              <a:t>Documentation and storage plan</a:t>
            </a:r>
          </a:p>
          <a:p>
            <a:pPr marL="0" indent="0" algn="ctr">
              <a:buNone/>
            </a:pPr>
            <a:r>
              <a:rPr lang="en-GB" sz="2400"/>
              <a:t>File naming convention and folder structure</a:t>
            </a:r>
          </a:p>
          <a:p>
            <a:pPr marL="0" indent="0" algn="ctr">
              <a:buNone/>
            </a:pPr>
            <a:r>
              <a:rPr lang="en-GB" sz="2400"/>
              <a:t>README - project level </a:t>
            </a:r>
          </a:p>
          <a:p>
            <a:pPr marL="0" indent="0" algn="ctr">
              <a:buNone/>
            </a:pPr>
            <a:br>
              <a:rPr lang="en-GB" sz="2400"/>
            </a:br>
            <a:endParaRPr lang="en-GB" sz="2400"/>
          </a:p>
          <a:p>
            <a:pPr marL="0" indent="0" algn="ctr">
              <a:buNone/>
            </a:pPr>
            <a:r>
              <a:rPr lang="en-GB" sz="2400"/>
              <a:t>Partly filled in DMP</a:t>
            </a:r>
            <a:endParaRPr lang="en-GB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0BFD2-D878-AACF-EE98-D705CA91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1AF6-6671-4538-974D-3AEC00AC0B82}" type="slidenum">
              <a:rPr lang="en-GB" smtClean="0"/>
              <a:t>21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F673FB-4AAB-7904-C307-21B14EC267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8B78B38-5374-B6C8-BAB8-95A33FBB9725}"/>
              </a:ext>
            </a:extLst>
          </p:cNvPr>
          <p:cNvSpPr/>
          <p:nvPr/>
        </p:nvSpPr>
        <p:spPr>
          <a:xfrm>
            <a:off x="5915025" y="4854810"/>
            <a:ext cx="361950" cy="438150"/>
          </a:xfrm>
          <a:prstGeom prst="downArrow">
            <a:avLst/>
          </a:prstGeom>
          <a:solidFill>
            <a:srgbClr val="A8DEF5"/>
          </a:solidFill>
          <a:ln>
            <a:solidFill>
              <a:srgbClr val="005E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98340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14996-5A12-3020-71D7-F379B594E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20F58-EB0A-7382-A01E-C0C617F4F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325563"/>
          </a:xfrm>
        </p:spPr>
        <p:txBody>
          <a:bodyPr anchor="t">
            <a:normAutofit/>
          </a:bodyPr>
          <a:lstStyle/>
          <a:p>
            <a:r>
              <a:rPr lang="en-US"/>
              <a:t>Next steps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809C0-786F-3523-7771-52ACA0B1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8376"/>
            <a:ext cx="648000" cy="64800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571AF6-6671-4538-974D-3AEC00AC0B82}" type="slidenum">
              <a:rPr lang="en-GB" smtClean="0"/>
              <a:pPr>
                <a:spcAft>
                  <a:spcPts val="600"/>
                </a:spcAft>
              </a:pPr>
              <a:t>22</a:t>
            </a:fld>
            <a:endParaRPr lang="en-GB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592DF62-34FB-C9D9-C174-4E66CC3182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4000" y="6220496"/>
            <a:ext cx="5624914" cy="637504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5A5BA42-A9A5-2727-F049-14CA06C372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300647"/>
              </p:ext>
            </p:extLst>
          </p:nvPr>
        </p:nvGraphicFramePr>
        <p:xfrm>
          <a:off x="576000" y="2045563"/>
          <a:ext cx="11041200" cy="3938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8415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91783-5D4E-980D-468C-57C1668EA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will you take home for your own research?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20EBF-53C5-F889-A7D2-7FCD06EE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4D95-D6A6-084A-9D9C-617B45E258AD}" type="slidenum">
              <a:rPr lang="nl-NL" smtClean="0"/>
              <a:t>23</a:t>
            </a:fld>
            <a:endParaRPr lang="nl-NL"/>
          </a:p>
        </p:txBody>
      </p:sp>
      <p:pic>
        <p:nvPicPr>
          <p:cNvPr id="21" name="Picture 20" descr="Person rolling luggage">
            <a:extLst>
              <a:ext uri="{FF2B5EF4-FFF2-40B4-BE49-F238E27FC236}">
                <a16:creationId xmlns:a16="http://schemas.microsoft.com/office/drawing/2014/main" id="{659FC854-07E9-A3F9-5B37-B13D30F5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347" y="1238781"/>
            <a:ext cx="7157306" cy="477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70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44AFE14-3F97-9B46-FC1E-2FAABA5FC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Questions</a:t>
            </a:r>
            <a:r>
              <a:rPr lang="nl-NL"/>
              <a:t> </a:t>
            </a:r>
            <a:r>
              <a:rPr lang="nl-NL" err="1"/>
              <a:t>and</a:t>
            </a:r>
            <a:r>
              <a:rPr lang="nl-NL"/>
              <a:t> feedback</a:t>
            </a:r>
            <a:endParaRPr lang="nl-BE"/>
          </a:p>
        </p:txBody>
      </p:sp>
      <p:pic>
        <p:nvPicPr>
          <p:cNvPr id="5" name="Content Placeholder 4" descr="Different colored question marks">
            <a:extLst>
              <a:ext uri="{FF2B5EF4-FFF2-40B4-BE49-F238E27FC236}">
                <a16:creationId xmlns:a16="http://schemas.microsoft.com/office/drawing/2014/main" id="{EE4C4D74-B4F3-8899-C01D-70EBCFAB5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163" y="1638663"/>
            <a:ext cx="7001674" cy="3938587"/>
          </a:xfr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B12B16-F068-A8D4-CB9F-CCA1283B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C571AF6-6671-4538-974D-3AEC00AC0B82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0454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vy3cq54xo12rt497t2cwtv2oka5oxz"/>
</p:tagLst>
</file>

<file path=ppt/theme/theme1.xml><?xml version="1.0" encoding="utf-8"?>
<a:theme xmlns:a="http://schemas.openxmlformats.org/drawingml/2006/main" name="ppt_2Bergen_E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2Bergen_ENG" id="{206DA0AB-20BE-45A2-9D16-6FBACF0B9CF1}" vid="{867A2822-7A75-4382-B8A9-712C3BAA81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a3c8d9-d598-4f93-96af-21376e439572">
      <Terms xmlns="http://schemas.microsoft.com/office/infopath/2007/PartnerControls"/>
    </lcf76f155ced4ddcb4097134ff3c332f>
    <Documentstatus xmlns="9da3c8d9-d598-4f93-96af-21376e439572">Draft</Documentstatus>
    <FirstAuthor xmlns="9da3c8d9-d598-4f93-96af-21376e439572" xsi:nil="true"/>
    <TaxCatchAll xmlns="6093c75b-2217-4201-9fc4-f5ea412e3c47" xsi:nil="true"/>
    <Doepubliek xmlns="9da3c8d9-d598-4f93-96af-21376e439572" xsi:nil="true"/>
    <Opleidingsniveau xmlns="9da3c8d9-d598-4f93-96af-21376e439572">PhD en/of postdoc</Opleidingsniveau>
    <Domein xmlns="9da3c8d9-d598-4f93-96af-21376e439572">Onderzoek (OZ)</Domein>
    <DOI xmlns="9da3c8d9-d598-4f93-96af-21376e43957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271F1EA0C1CE4D8FAA68334E68C28E" ma:contentTypeVersion="25" ma:contentTypeDescription="Een nieuw document maken." ma:contentTypeScope="" ma:versionID="1d0f8e40399272023d750b1886a3fcff">
  <xsd:schema xmlns:xsd="http://www.w3.org/2001/XMLSchema" xmlns:xs="http://www.w3.org/2001/XMLSchema" xmlns:p="http://schemas.microsoft.com/office/2006/metadata/properties" xmlns:ns2="9da3c8d9-d598-4f93-96af-21376e439572" xmlns:ns3="6093c75b-2217-4201-9fc4-f5ea412e3c47" targetNamespace="http://schemas.microsoft.com/office/2006/metadata/properties" ma:root="true" ma:fieldsID="8aa5a3d6c703762f304d1ddf3e108a9b" ns2:_="" ns3:_="">
    <xsd:import namespace="9da3c8d9-d598-4f93-96af-21376e439572"/>
    <xsd:import namespace="6093c75b-2217-4201-9fc4-f5ea412e3c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SearchProperties" minOccurs="0"/>
                <xsd:element ref="ns2:FirstAuthor" minOccurs="0"/>
                <xsd:element ref="ns2:DOI" minOccurs="0"/>
                <xsd:element ref="ns2:MediaServiceLocation" minOccurs="0"/>
                <xsd:element ref="ns2:Doepubliek" minOccurs="0"/>
                <xsd:element ref="ns2:Domein" minOccurs="0"/>
                <xsd:element ref="ns2:Opleidingsniveau" minOccurs="0"/>
                <xsd:element ref="ns2:Document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a3c8d9-d598-4f93-96af-21376e4395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FirstAuthor" ma:index="22" nillable="true" ma:displayName="First Author" ma:description="Naam van de persoon die de sessie geeft" ma:format="Dropdown" ma:internalName="FirstAuthor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Thomas Vandendriesche"/>
                        <xsd:enumeration value="Anouk D'Hont"/>
                        <xsd:enumeration value="Chayenne Van Meel"/>
                        <xsd:enumeration value="Inge Mannaerts"/>
                        <xsd:enumeration value="Krizia Tuand"/>
                        <xsd:enumeration value="Maarten Jackers"/>
                        <xsd:enumeration value="Norin Hamouda"/>
                        <xsd:enumeration value="Sylvette Vanderstraeten"/>
                        <xsd:enumeration value="Daan Soenens"/>
                        <xsd:enumeration value="Erik Verraedt"/>
                        <xsd:enumeration value="Greet Peters"/>
                        <xsd:enumeration value="Inge Discaert"/>
                        <xsd:enumeration value="Veronique Trippas"/>
                        <xsd:enumeration value="Andere"/>
                        <xsd:enumeration value="Choice 15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DOI" ma:index="23" nillable="true" ma:displayName="DOI" ma:format="Dropdown" ma:internalName="DOI">
      <xsd:simpleType>
        <xsd:restriction base="dms:Text">
          <xsd:maxLength value="255"/>
        </xsd:restrict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Doepubliek" ma:index="25" nillable="true" ma:displayName="Doepubliek" ma:description="Geef aan voor wie de presentatie gegeven is:&#10;&#10;Curriculaire sessies, selcteer de juiste richtingsdetails&#10;&#10;Sessies voor onderzoeksgroepen/op vraag duid Sessies op maat aan en geef details in de kolom opmerkingen." ma:format="Dropdown" ma:internalName="Doepubliek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Sessies op maat"/>
                    <xsd:enumeration value="DS_BMW"/>
                    <xsd:enumeration value="DS_Architectuur"/>
                    <xsd:enumeration value="DS_WT"/>
                    <xsd:enumeration value="Bewegingswetenschappen"/>
                    <xsd:enumeration value="Deglutology"/>
                    <xsd:enumeration value="Farmacie"/>
                    <xsd:enumeration value="Ergotherapie"/>
                    <xsd:enumeration value="Geneeskunde"/>
                    <xsd:enumeration value="LogopedieEnAudiologie"/>
                    <xsd:enumeration value="Seksuologie"/>
                    <xsd:enumeration value="StatisticsAndDataScience"/>
                    <xsd:enumeration value="Tandheelkunde"/>
                    <xsd:enumeration value="VerpleegkundeEnVroedkunde"/>
                    <xsd:enumeration value="Personeel"/>
                    <xsd:enumeration value="Conferentie"/>
                    <xsd:enumeration value="Biomedische wetenschappen"/>
                    <xsd:enumeration value="Lichamelijke opvoeding en bewegingswetenschappen"/>
                    <xsd:enumeration value="Revalidatiewetenschappen en Kinesitherapie"/>
                    <xsd:enumeration value="Industriële ingenieurswetenschappen"/>
                    <xsd:enumeration value="Ingenieurswetenschappen"/>
                    <xsd:enumeration value="Architectuur"/>
                  </xsd:restriction>
                </xsd:simpleType>
              </xsd:element>
            </xsd:sequence>
          </xsd:extension>
        </xsd:complexContent>
      </xsd:complexType>
    </xsd:element>
    <xsd:element name="Domein" ma:index="26" nillable="true" ma:displayName="Domein" ma:format="Dropdown" ma:internalName="Domein">
      <xsd:simpleType>
        <xsd:restriction base="dms:Choice">
          <xsd:enumeration value="Onderwijs (OW)"/>
          <xsd:enumeration value="Onderzoek (OZ)"/>
          <xsd:enumeration value="Overkoepelend (OW+OZ)"/>
        </xsd:restriction>
      </xsd:simpleType>
    </xsd:element>
    <xsd:element name="Opleidingsniveau" ma:index="27" nillable="true" ma:displayName="Opleidingsniveau" ma:description="Selecteer de opleidingsfase van het doelpubliek." ma:format="Dropdown" ma:internalName="Opleidingsniveau">
      <xsd:simpleType>
        <xsd:union memberTypes="dms:Text">
          <xsd:simpleType>
            <xsd:restriction base="dms:Choice">
              <xsd:enumeration value="1e Bachelor"/>
              <xsd:enumeration value="2e Bachelor"/>
              <xsd:enumeration value="3e Bachelor"/>
              <xsd:enumeration value="1e Master"/>
              <xsd:enumeration value="2e Master"/>
              <xsd:enumeration value="PhD en/of postdoc"/>
              <xsd:enumeration value="Onderzoeksgroep"/>
              <xsd:enumeration value="Bibliotheek"/>
              <xsd:enumeration value="MaNaMa"/>
              <xsd:enumeration value="Schakel"/>
            </xsd:restriction>
          </xsd:simpleType>
        </xsd:union>
      </xsd:simpleType>
    </xsd:element>
    <xsd:element name="Documentstatus" ma:index="28" nillable="true" ma:displayName="Document status" ma:format="Dropdown" ma:internalName="Documentstatus">
      <xsd:simpleType>
        <xsd:restriction base="dms:Choice">
          <xsd:enumeration value="Draft"/>
          <xsd:enumeration value="To review"/>
          <xsd:enumeration value="Reviewed"/>
          <xsd:enumeration value="Finaal"/>
          <xsd:enumeration value="Presented"/>
          <xsd:enumeration value="Shared"/>
          <xsd:enumeration value="Feedbackform"/>
          <xsd:enumeration value="Lopend project"/>
          <xsd:enumeration value="Afgerond project"/>
          <xsd:enumeration value="Archief project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93c75b-2217-4201-9fc4-f5ea412e3c4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868a3e2-2ab9-4f07-a8e7-8a1ee1d839a7}" ma:internalName="TaxCatchAll" ma:showField="CatchAllData" ma:web="6093c75b-2217-4201-9fc4-f5ea412e3c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ECFB28-F235-4ACC-BFBE-160356F3B6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C895FC-15D7-49C1-AD9A-9F487C4EAFB2}">
  <ds:schemaRefs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093c75b-2217-4201-9fc4-f5ea412e3c47"/>
    <ds:schemaRef ds:uri="9da3c8d9-d598-4f93-96af-21376e439572"/>
  </ds:schemaRefs>
</ds:datastoreItem>
</file>

<file path=customXml/itemProps3.xml><?xml version="1.0" encoding="utf-8"?>
<ds:datastoreItem xmlns:ds="http://schemas.openxmlformats.org/officeDocument/2006/customXml" ds:itemID="{C078AA5F-0BED-407C-9AE7-8ED78290497F}">
  <ds:schemaRefs>
    <ds:schemaRef ds:uri="6093c75b-2217-4201-9fc4-f5ea412e3c47"/>
    <ds:schemaRef ds:uri="9da3c8d9-d598-4f93-96af-21376e43957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1368</Words>
  <Application>Microsoft Office PowerPoint</Application>
  <PresentationFormat>Widescreen</PresentationFormat>
  <Paragraphs>200</Paragraphs>
  <Slides>24</Slides>
  <Notes>10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ppt_2Bergen_ENG</vt:lpstr>
      <vt:lpstr>Introduction to RDM in Life Sciences Session 5: Plan for the macro-level</vt:lpstr>
      <vt:lpstr>Let’s build with DUPLO</vt:lpstr>
      <vt:lpstr>Let’s build with DUPLO</vt:lpstr>
      <vt:lpstr>PowerPoint Presentation</vt:lpstr>
      <vt:lpstr>PowerPoint Presentation</vt:lpstr>
      <vt:lpstr>Keep the overview</vt:lpstr>
      <vt:lpstr>Keep the overview</vt:lpstr>
      <vt:lpstr>Exercise 7: Make a README file for your project</vt:lpstr>
      <vt:lpstr>Keep the overview</vt:lpstr>
      <vt:lpstr>Exercise 8: Build a file naming convention</vt:lpstr>
      <vt:lpstr>Keep the overview</vt:lpstr>
      <vt:lpstr>Exercise 9: Build a folder structure</vt:lpstr>
      <vt:lpstr>Exercise 9: Build a folder structure</vt:lpstr>
      <vt:lpstr>Jie’s file naming and folder structure</vt:lpstr>
      <vt:lpstr>PowerPoint Presentation</vt:lpstr>
      <vt:lpstr>Jie’s project README at project start</vt:lpstr>
      <vt:lpstr>Keep the overview</vt:lpstr>
      <vt:lpstr>Metadata in Research Data Repository (RDR)</vt:lpstr>
      <vt:lpstr>Exercise 10: Back to the DMP</vt:lpstr>
      <vt:lpstr>Plenary discussion</vt:lpstr>
      <vt:lpstr>What you have build in this course: RDM survival Package</vt:lpstr>
      <vt:lpstr>Next steps</vt:lpstr>
      <vt:lpstr>What will you take home for your own research?</vt:lpstr>
      <vt:lpstr>Questions and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Maarten Jackers</dc:creator>
  <cp:lastModifiedBy>Inge Mannaerts</cp:lastModifiedBy>
  <cp:revision>3</cp:revision>
  <cp:lastPrinted>2025-11-19T15:42:11Z</cp:lastPrinted>
  <dcterms:created xsi:type="dcterms:W3CDTF">2025-04-02T10:10:41Z</dcterms:created>
  <dcterms:modified xsi:type="dcterms:W3CDTF">2026-01-05T10:58:39Z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0x010100B1271F1EA0C1CE4D8FAA68334E68C28E</vt:lpwstr>
  </property>
  <property fmtid="{D5CDD505-2E9C-101B-9397-08002B2CF9AE}" pid="3" name="MediaServiceImageTags">
    <vt:lpwstr/>
  </property>
</Properties>
</file>