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E76_F43B0647.xml" ContentType="application/vnd.ms-powerpoint.comments+xml"/>
  <Override PartName="/ppt/comments/modernComment_F01_69D9233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ECB_55532F4E.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BBF5ACE_12F9C7B5.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BBF5AE7_C6052280.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 id="2147483686" r:id="rId5"/>
    <p:sldMasterId id="2147483692" r:id="rId6"/>
    <p:sldMasterId id="2147483699" r:id="rId7"/>
  </p:sldMasterIdLst>
  <p:notesMasterIdLst>
    <p:notesMasterId r:id="rId47"/>
  </p:notesMasterIdLst>
  <p:sldIdLst>
    <p:sldId id="2076138170" r:id="rId8"/>
    <p:sldId id="267" r:id="rId9"/>
    <p:sldId id="457" r:id="rId10"/>
    <p:sldId id="460" r:id="rId11"/>
    <p:sldId id="3693" r:id="rId12"/>
    <p:sldId id="1514" r:id="rId13"/>
    <p:sldId id="2076138185" r:id="rId14"/>
    <p:sldId id="2076138208" r:id="rId15"/>
    <p:sldId id="3702" r:id="rId16"/>
    <p:sldId id="3841" r:id="rId17"/>
    <p:sldId id="2076138188" r:id="rId18"/>
    <p:sldId id="412" r:id="rId19"/>
    <p:sldId id="382" r:id="rId20"/>
    <p:sldId id="384" r:id="rId21"/>
    <p:sldId id="3787" r:id="rId22"/>
    <p:sldId id="2076138194" r:id="rId23"/>
    <p:sldId id="2076138190" r:id="rId24"/>
    <p:sldId id="2076138192" r:id="rId25"/>
    <p:sldId id="2076138196" r:id="rId26"/>
    <p:sldId id="2076138210" r:id="rId27"/>
    <p:sldId id="2076138211" r:id="rId28"/>
    <p:sldId id="2076138212" r:id="rId29"/>
    <p:sldId id="2076138213" r:id="rId30"/>
    <p:sldId id="2076138218" r:id="rId31"/>
    <p:sldId id="2076138209" r:id="rId32"/>
    <p:sldId id="2076138214" r:id="rId33"/>
    <p:sldId id="2076138216" r:id="rId34"/>
    <p:sldId id="385" r:id="rId35"/>
    <p:sldId id="386" r:id="rId36"/>
    <p:sldId id="2076138215" r:id="rId37"/>
    <p:sldId id="278" r:id="rId38"/>
    <p:sldId id="2076138198" r:id="rId39"/>
    <p:sldId id="2076138201" r:id="rId40"/>
    <p:sldId id="2076138200" r:id="rId41"/>
    <p:sldId id="2076138202" r:id="rId42"/>
    <p:sldId id="2076138203" r:id="rId43"/>
    <p:sldId id="2076138219" r:id="rId44"/>
    <p:sldId id="2076138206" r:id="rId45"/>
    <p:sldId id="2076138207" r:id="rId46"/>
  </p:sldIdLst>
  <p:sldSz cx="12192000" cy="6858000"/>
  <p:notesSz cx="7315200" cy="9601200"/>
  <p:custDataLst>
    <p:tags r:id="rId48"/>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ssion 4: Documentation &amp; storage" id="{EE153657-E587-4750-A6A8-EA799C143052}">
          <p14:sldIdLst>
            <p14:sldId id="2076138170"/>
            <p14:sldId id="267"/>
            <p14:sldId id="457"/>
            <p14:sldId id="460"/>
            <p14:sldId id="3693"/>
            <p14:sldId id="1514"/>
            <p14:sldId id="2076138185"/>
            <p14:sldId id="2076138208"/>
            <p14:sldId id="3702"/>
            <p14:sldId id="3841"/>
            <p14:sldId id="2076138188"/>
            <p14:sldId id="412"/>
            <p14:sldId id="382"/>
            <p14:sldId id="384"/>
            <p14:sldId id="3787"/>
            <p14:sldId id="2076138194"/>
            <p14:sldId id="2076138190"/>
            <p14:sldId id="2076138192"/>
            <p14:sldId id="2076138196"/>
            <p14:sldId id="2076138210"/>
            <p14:sldId id="2076138211"/>
            <p14:sldId id="2076138212"/>
            <p14:sldId id="2076138213"/>
            <p14:sldId id="2076138218"/>
            <p14:sldId id="2076138209"/>
            <p14:sldId id="2076138214"/>
            <p14:sldId id="2076138216"/>
            <p14:sldId id="385"/>
            <p14:sldId id="386"/>
            <p14:sldId id="2076138215"/>
            <p14:sldId id="278"/>
            <p14:sldId id="2076138198"/>
            <p14:sldId id="2076138201"/>
            <p14:sldId id="2076138200"/>
            <p14:sldId id="2076138202"/>
            <p14:sldId id="2076138203"/>
            <p14:sldId id="2076138219"/>
            <p14:sldId id="2076138206"/>
            <p14:sldId id="207613820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1012E-0D0B-03A6-D324-3B8EFD84544F}" name="Sylvette Vanderstraeten" initials="SV" userId="S::sylvette.vanderstraeten@kuleuven.be::6f71c3ba-96a3-404d-bf65-d996c10ed4b8" providerId="AD"/>
  <p188:author id="{B6E7D863-8091-9885-931E-DB95B0CE8FAE}" name="Thomas Vandendriessche" initials="TV" userId="S::thomas.vandendriessche@kuleuven.be::0edddf14-2315-41fa-874e-b9401e92ed66" providerId="AD"/>
  <p188:author id="{425A266B-91A8-06DB-0AD7-B2603184A636}" name="Inge Mannaerts" initials="IM" userId="S::inge.mannaerts@kuleuven.be::2762d956-3ea5-4a4c-abd9-53d1d6532ed5" providerId="AD"/>
  <p188:author id="{55D22095-2F75-5BE7-3F3F-F96FD6230986}" name="Sylvette" initials="S" userId="Sylvette" providerId="None"/>
  <p188:author id="{E8E17AAC-5A01-F2DE-ED00-5B558CEB43EF}" name="Jef Scheepers" initials="JS" userId="S::jef.scheepers@kuleuven.be::d748e0ab-de9b-4300-9e22-3789d39ac2cd" providerId="AD"/>
  <p188:author id="{29BEBAC3-1CA9-8504-2BE8-45528591F437}" name="Matheus Pereira da Cruz Gomes Lourenço" initials="ML" userId="S::matheus.lourenco_vib.be#ext#@kuleuven.onmicrosoft.com::9147c616-8738-4209-b661-98fc7af49737" providerId="AD"/>
  <p188:author id="{F47F22CE-0C6F-7BA1-0C67-A81DCF15CEF1}" name="Anouk D'Hont" initials="AD" userId="S::anouk.dhont@kuleuven.be::72c70568-ce9e-4b63-99f5-9dc9ea50da7e" providerId="AD"/>
  <p188:author id="{DABD7BCE-C51D-109D-340A-ECF3ADFEA6E0}" name="Marleen Marynissen" initials="MM" userId="S::marleen.marynissen@kuleuven.be::270a49f6-b039-4287-8117-c9b0ad5029bf" providerId="AD"/>
  <p188:author id="{B93C8CDE-F7F1-BBA0-14AC-6FEB85B0C01A}" name="Maarten Jackers" initials="MJ" userId="S::maarten.jackers@kuleuven.be::31d4f685-751d-4163-a6c7-a746291daf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B9B"/>
    <a:srgbClr val="FF8181"/>
    <a:srgbClr val="FF5D5D"/>
    <a:srgbClr val="FF7D7D"/>
    <a:srgbClr val="FFB7B7"/>
    <a:srgbClr val="005B74"/>
    <a:srgbClr val="007FA2"/>
    <a:srgbClr val="0097C0"/>
    <a:srgbClr val="00ABDA"/>
    <a:srgbClr val="80CD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7B838-165C-52E4-4114-7B570656D931}" v="7" dt="2025-11-24T10:04:10.391"/>
    <p1510:client id="{817568E9-180D-4C0D-B66B-E27AB87C5E40}" v="3" dt="2025-11-24T11:22:39.215"/>
    <p1510:client id="{8FCC6F2B-A1AD-78F7-CE4D-A87FF8A9D6EC}" v="10" dt="2025-11-24T08:54:23.7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76" autoAdjust="0"/>
    <p:restoredTop sz="81719" autoAdjust="0"/>
  </p:normalViewPr>
  <p:slideViewPr>
    <p:cSldViewPr snapToGrid="0">
      <p:cViewPr varScale="1">
        <p:scale>
          <a:sx n="74" d="100"/>
          <a:sy n="74" d="100"/>
        </p:scale>
        <p:origin x="581" y="77"/>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tags" Target="tags/tag1.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lvette Vanderstraeten" userId="S::sylvette.vanderstraeten@kuleuven.be::6f71c3ba-96a3-404d-bf65-d996c10ed4b8" providerId="AD" clId="Web-{8FCC6F2B-A1AD-78F7-CE4D-A87FF8A9D6EC}"/>
    <pc:docChg chg="addSld delSld modSld modSection">
      <pc:chgData name="Sylvette Vanderstraeten" userId="S::sylvette.vanderstraeten@kuleuven.be::6f71c3ba-96a3-404d-bf65-d996c10ed4b8" providerId="AD" clId="Web-{8FCC6F2B-A1AD-78F7-CE4D-A87FF8A9D6EC}" dt="2025-11-24T08:54:23.747" v="8"/>
      <pc:docMkLst>
        <pc:docMk/>
      </pc:docMkLst>
      <pc:sldChg chg="modSp">
        <pc:chgData name="Sylvette Vanderstraeten" userId="S::sylvette.vanderstraeten@kuleuven.be::6f71c3ba-96a3-404d-bf65-d996c10ed4b8" providerId="AD" clId="Web-{8FCC6F2B-A1AD-78F7-CE4D-A87FF8A9D6EC}" dt="2025-11-24T08:52:43.587" v="2" actId="20577"/>
        <pc:sldMkLst>
          <pc:docMk/>
          <pc:sldMk cId="1043110724" sldId="2076138198"/>
        </pc:sldMkLst>
        <pc:spChg chg="mod">
          <ac:chgData name="Sylvette Vanderstraeten" userId="S::sylvette.vanderstraeten@kuleuven.be::6f71c3ba-96a3-404d-bf65-d996c10ed4b8" providerId="AD" clId="Web-{8FCC6F2B-A1AD-78F7-CE4D-A87FF8A9D6EC}" dt="2025-11-24T08:52:43.587" v="2" actId="20577"/>
          <ac:spMkLst>
            <pc:docMk/>
            <pc:sldMk cId="1043110724" sldId="2076138198"/>
            <ac:spMk id="3" creationId="{15703808-49FC-4C6A-B79A-5BB86FEE0BA3}"/>
          </ac:spMkLst>
        </pc:spChg>
      </pc:sldChg>
      <pc:sldChg chg="modSp">
        <pc:chgData name="Sylvette Vanderstraeten" userId="S::sylvette.vanderstraeten@kuleuven.be::6f71c3ba-96a3-404d-bf65-d996c10ed4b8" providerId="AD" clId="Web-{8FCC6F2B-A1AD-78F7-CE4D-A87FF8A9D6EC}" dt="2025-11-24T08:43:05.657" v="0" actId="20577"/>
        <pc:sldMkLst>
          <pc:docMk/>
          <pc:sldMk cId="2531064354" sldId="2076138208"/>
        </pc:sldMkLst>
        <pc:spChg chg="mod">
          <ac:chgData name="Sylvette Vanderstraeten" userId="S::sylvette.vanderstraeten@kuleuven.be::6f71c3ba-96a3-404d-bf65-d996c10ed4b8" providerId="AD" clId="Web-{8FCC6F2B-A1AD-78F7-CE4D-A87FF8A9D6EC}" dt="2025-11-24T08:43:05.657" v="0" actId="20577"/>
          <ac:spMkLst>
            <pc:docMk/>
            <pc:sldMk cId="2531064354" sldId="2076138208"/>
            <ac:spMk id="34" creationId="{A6F1ED4D-9FC8-1681-AB6F-B1DFE368F928}"/>
          </ac:spMkLst>
        </pc:spChg>
      </pc:sldChg>
      <pc:sldChg chg="new del">
        <pc:chgData name="Sylvette Vanderstraeten" userId="S::sylvette.vanderstraeten@kuleuven.be::6f71c3ba-96a3-404d-bf65-d996c10ed4b8" providerId="AD" clId="Web-{8FCC6F2B-A1AD-78F7-CE4D-A87FF8A9D6EC}" dt="2025-11-24T08:54:23.747" v="8"/>
        <pc:sldMkLst>
          <pc:docMk/>
          <pc:sldMk cId="543196698" sldId="2076138217"/>
        </pc:sldMkLst>
      </pc:sldChg>
      <pc:sldChg chg="new del">
        <pc:chgData name="Sylvette Vanderstraeten" userId="S::sylvette.vanderstraeten@kuleuven.be::6f71c3ba-96a3-404d-bf65-d996c10ed4b8" providerId="AD" clId="Web-{8FCC6F2B-A1AD-78F7-CE4D-A87FF8A9D6EC}" dt="2025-11-24T08:54:08.262" v="4"/>
        <pc:sldMkLst>
          <pc:docMk/>
          <pc:sldMk cId="198080793" sldId="2076138218"/>
        </pc:sldMkLst>
      </pc:sldChg>
      <pc:sldChg chg="modSp new">
        <pc:chgData name="Sylvette Vanderstraeten" userId="S::sylvette.vanderstraeten@kuleuven.be::6f71c3ba-96a3-404d-bf65-d996c10ed4b8" providerId="AD" clId="Web-{8FCC6F2B-A1AD-78F7-CE4D-A87FF8A9D6EC}" dt="2025-11-24T08:54:21.512" v="7" actId="20577"/>
        <pc:sldMkLst>
          <pc:docMk/>
          <pc:sldMk cId="318830721" sldId="2076138218"/>
        </pc:sldMkLst>
        <pc:spChg chg="mod">
          <ac:chgData name="Sylvette Vanderstraeten" userId="S::sylvette.vanderstraeten@kuleuven.be::6f71c3ba-96a3-404d-bf65-d996c10ed4b8" providerId="AD" clId="Web-{8FCC6F2B-A1AD-78F7-CE4D-A87FF8A9D6EC}" dt="2025-11-24T08:54:21.512" v="7" actId="20577"/>
          <ac:spMkLst>
            <pc:docMk/>
            <pc:sldMk cId="318830721" sldId="2076138218"/>
            <ac:spMk id="2" creationId="{552F7096-966A-D61F-8227-02D0C89BD8E4}"/>
          </ac:spMkLst>
        </pc:spChg>
      </pc:sldChg>
    </pc:docChg>
  </pc:docChgLst>
  <pc:docChgLst>
    <pc:chgData name="Sylvette Vanderstraeten" userId="S::sylvette.vanderstraeten@kuleuven.be::6f71c3ba-96a3-404d-bf65-d996c10ed4b8" providerId="AD" clId="Web-{6887B838-165C-52E4-4114-7B570656D931}"/>
    <pc:docChg chg="addSld delSld modSld modSection">
      <pc:chgData name="Sylvette Vanderstraeten" userId="S::sylvette.vanderstraeten@kuleuven.be::6f71c3ba-96a3-404d-bf65-d996c10ed4b8" providerId="AD" clId="Web-{6887B838-165C-52E4-4114-7B570656D931}" dt="2025-11-24T10:04:08.173" v="7"/>
      <pc:docMkLst>
        <pc:docMk/>
      </pc:docMkLst>
      <pc:sldChg chg="add del">
        <pc:chgData name="Sylvette Vanderstraeten" userId="S::sylvette.vanderstraeten@kuleuven.be::6f71c3ba-96a3-404d-bf65-d996c10ed4b8" providerId="AD" clId="Web-{6887B838-165C-52E4-4114-7B570656D931}" dt="2025-11-24T09:57:41.180" v="1"/>
        <pc:sldMkLst>
          <pc:docMk/>
          <pc:sldMk cId="3858852081" sldId="3730"/>
        </pc:sldMkLst>
      </pc:sldChg>
      <pc:sldChg chg="modNotes">
        <pc:chgData name="Sylvette Vanderstraeten" userId="S::sylvette.vanderstraeten@kuleuven.be::6f71c3ba-96a3-404d-bf65-d996c10ed4b8" providerId="AD" clId="Web-{6887B838-165C-52E4-4114-7B570656D931}" dt="2025-11-24T10:03:31.438" v="2"/>
        <pc:sldMkLst>
          <pc:docMk/>
          <pc:sldMk cId="4113184223" sldId="2076138185"/>
        </pc:sldMkLst>
      </pc:sldChg>
      <pc:sldChg chg="modNotes">
        <pc:chgData name="Sylvette Vanderstraeten" userId="S::sylvette.vanderstraeten@kuleuven.be::6f71c3ba-96a3-404d-bf65-d996c10ed4b8" providerId="AD" clId="Web-{6887B838-165C-52E4-4114-7B570656D931}" dt="2025-11-24T10:04:08.173" v="7"/>
        <pc:sldMkLst>
          <pc:docMk/>
          <pc:sldMk cId="2993959064" sldId="2076138214"/>
        </pc:sldMkLst>
      </pc:sldChg>
    </pc:docChg>
  </pc:docChgLst>
  <pc:docChgLst>
    <pc:chgData name="Sylvette Vanderstraeten" userId="6f71c3ba-96a3-404d-bf65-d996c10ed4b8" providerId="ADAL" clId="{EB04C3C5-9559-49D6-9C51-BBC2A0CACEF3}"/>
    <pc:docChg chg="undo custSel addSld delSld modSld delSection modSection">
      <pc:chgData name="Sylvette Vanderstraeten" userId="6f71c3ba-96a3-404d-bf65-d996c10ed4b8" providerId="ADAL" clId="{EB04C3C5-9559-49D6-9C51-BBC2A0CACEF3}" dt="2025-11-24T11:30:02.111" v="17" actId="47"/>
      <pc:docMkLst>
        <pc:docMk/>
      </pc:docMkLst>
      <pc:sldChg chg="del">
        <pc:chgData name="Sylvette Vanderstraeten" userId="6f71c3ba-96a3-404d-bf65-d996c10ed4b8" providerId="ADAL" clId="{EB04C3C5-9559-49D6-9C51-BBC2A0CACEF3}" dt="2025-11-24T11:30:02.111" v="17" actId="47"/>
        <pc:sldMkLst>
          <pc:docMk/>
          <pc:sldMk cId="3858852081" sldId="3730"/>
        </pc:sldMkLst>
      </pc:sldChg>
      <pc:sldChg chg="modSp mod">
        <pc:chgData name="Sylvette Vanderstraeten" userId="6f71c3ba-96a3-404d-bf65-d996c10ed4b8" providerId="ADAL" clId="{EB04C3C5-9559-49D6-9C51-BBC2A0CACEF3}" dt="2025-11-24T11:01:02.038" v="3" actId="11"/>
        <pc:sldMkLst>
          <pc:docMk/>
          <pc:sldMk cId="1775838004" sldId="3841"/>
        </pc:sldMkLst>
        <pc:spChg chg="mod">
          <ac:chgData name="Sylvette Vanderstraeten" userId="6f71c3ba-96a3-404d-bf65-d996c10ed4b8" providerId="ADAL" clId="{EB04C3C5-9559-49D6-9C51-BBC2A0CACEF3}" dt="2025-11-24T11:01:02.038" v="3" actId="11"/>
          <ac:spMkLst>
            <pc:docMk/>
            <pc:sldMk cId="1775838004" sldId="3841"/>
            <ac:spMk id="3" creationId="{12593D6B-6E4A-DACA-7489-BBB256488690}"/>
          </ac:spMkLst>
        </pc:spChg>
      </pc:sldChg>
      <pc:sldChg chg="del">
        <pc:chgData name="Sylvette Vanderstraeten" userId="6f71c3ba-96a3-404d-bf65-d996c10ed4b8" providerId="ADAL" clId="{EB04C3C5-9559-49D6-9C51-BBC2A0CACEF3}" dt="2025-11-24T11:18:23.782" v="5" actId="47"/>
        <pc:sldMkLst>
          <pc:docMk/>
          <pc:sldMk cId="209886376" sldId="2076138136"/>
        </pc:sldMkLst>
      </pc:sldChg>
      <pc:sldChg chg="addSp delSp modSp mod">
        <pc:chgData name="Sylvette Vanderstraeten" userId="6f71c3ba-96a3-404d-bf65-d996c10ed4b8" providerId="ADAL" clId="{EB04C3C5-9559-49D6-9C51-BBC2A0CACEF3}" dt="2025-11-24T11:25:35.179" v="16" actId="14100"/>
        <pc:sldMkLst>
          <pc:docMk/>
          <pc:sldMk cId="2290189157" sldId="2076138170"/>
        </pc:sldMkLst>
        <pc:spChg chg="mod">
          <ac:chgData name="Sylvette Vanderstraeten" userId="6f71c3ba-96a3-404d-bf65-d996c10ed4b8" providerId="ADAL" clId="{EB04C3C5-9559-49D6-9C51-BBC2A0CACEF3}" dt="2025-11-24T11:25:35.179" v="16" actId="14100"/>
          <ac:spMkLst>
            <pc:docMk/>
            <pc:sldMk cId="2290189157" sldId="2076138170"/>
            <ac:spMk id="5" creationId="{7A54C4D0-4C6B-7A02-4B8C-C3C178EFBE76}"/>
          </ac:spMkLst>
        </pc:spChg>
        <pc:picChg chg="add mod">
          <ac:chgData name="Sylvette Vanderstraeten" userId="6f71c3ba-96a3-404d-bf65-d996c10ed4b8" providerId="ADAL" clId="{EB04C3C5-9559-49D6-9C51-BBC2A0CACEF3}" dt="2025-11-24T11:22:39.215" v="13"/>
          <ac:picMkLst>
            <pc:docMk/>
            <pc:sldMk cId="2290189157" sldId="2076138170"/>
            <ac:picMk id="2" creationId="{74D0D356-3364-87E3-E8E1-9EDE7E715751}"/>
          </ac:picMkLst>
        </pc:picChg>
        <pc:picChg chg="del">
          <ac:chgData name="Sylvette Vanderstraeten" userId="6f71c3ba-96a3-404d-bf65-d996c10ed4b8" providerId="ADAL" clId="{EB04C3C5-9559-49D6-9C51-BBC2A0CACEF3}" dt="2025-11-24T11:22:38.828" v="12" actId="478"/>
          <ac:picMkLst>
            <pc:docMk/>
            <pc:sldMk cId="2290189157" sldId="2076138170"/>
            <ac:picMk id="7" creationId="{8A665144-C93F-C937-95C8-1F1ADC811941}"/>
          </ac:picMkLst>
        </pc:picChg>
      </pc:sldChg>
      <pc:sldChg chg="add">
        <pc:chgData name="Sylvette Vanderstraeten" userId="6f71c3ba-96a3-404d-bf65-d996c10ed4b8" providerId="ADAL" clId="{EB04C3C5-9559-49D6-9C51-BBC2A0CACEF3}" dt="2025-11-24T11:18:20.221" v="4"/>
        <pc:sldMkLst>
          <pc:docMk/>
          <pc:sldMk cId="3431814805" sldId="2076138219"/>
        </pc:sldMkLst>
      </pc:sldChg>
      <pc:sldMasterChg chg="delSldLayout">
        <pc:chgData name="Sylvette Vanderstraeten" userId="6f71c3ba-96a3-404d-bf65-d996c10ed4b8" providerId="ADAL" clId="{EB04C3C5-9559-49D6-9C51-BBC2A0CACEF3}" dt="2025-11-24T11:18:23.782" v="5" actId="47"/>
        <pc:sldMasterMkLst>
          <pc:docMk/>
          <pc:sldMasterMk cId="603168550" sldId="2147483672"/>
        </pc:sldMasterMkLst>
        <pc:sldLayoutChg chg="del">
          <pc:chgData name="Sylvette Vanderstraeten" userId="6f71c3ba-96a3-404d-bf65-d996c10ed4b8" providerId="ADAL" clId="{EB04C3C5-9559-49D6-9C51-BBC2A0CACEF3}" dt="2025-11-24T11:18:23.782" v="5" actId="47"/>
          <pc:sldLayoutMkLst>
            <pc:docMk/>
            <pc:sldMasterMk cId="603168550" sldId="2147483672"/>
            <pc:sldLayoutMk cId="248520641" sldId="2147483685"/>
          </pc:sldLayoutMkLst>
        </pc:sldLayoutChg>
      </pc:sldMasterChg>
    </pc:docChg>
  </pc:docChgLst>
</pc:chgInfo>
</file>

<file path=ppt/comments/modernComment_7BBF5ACE_12F9C7B5.xml><?xml version="1.0" encoding="utf-8"?>
<p188:cmLst xmlns:a="http://schemas.openxmlformats.org/drawingml/2006/main" xmlns:r="http://schemas.openxmlformats.org/officeDocument/2006/relationships" xmlns:p188="http://schemas.microsoft.com/office/powerpoint/2018/8/main">
  <p188:cm id="{5FC36D66-AF03-4E4B-A229-C4C9A232D3B9}" authorId="{B851012E-0D0B-03A6-D324-3B8EFD84544F}" created="2025-10-02T12:18:19.688">
    <ac:deMkLst xmlns:ac="http://schemas.microsoft.com/office/drawing/2013/main/command">
      <pc:docMk xmlns:pc="http://schemas.microsoft.com/office/powerpoint/2013/main/command"/>
      <pc:sldMk xmlns:pc="http://schemas.microsoft.com/office/powerpoint/2013/main/command" cId="318359477" sldId="2076138190"/>
      <ac:picMk id="34" creationId="{B27995A9-5771-DED2-BF8E-7FCA38CA7C3A}"/>
    </ac:deMkLst>
    <p188:txBody>
      <a:bodyPr/>
      <a:lstStyle/>
      <a:p>
        <a:r>
          <a:rPr lang="nl-BE"/>
          <a:t>Test resolutie op groot scherm</a:t>
        </a:r>
      </a:p>
    </p188:txBody>
  </p188:cm>
</p188:cmLst>
</file>

<file path=ppt/comments/modernComment_7BBF5AE7_C6052280.xml><?xml version="1.0" encoding="utf-8"?>
<p188:cmLst xmlns:a="http://schemas.openxmlformats.org/drawingml/2006/main" xmlns:r="http://schemas.openxmlformats.org/officeDocument/2006/relationships" xmlns:p188="http://schemas.microsoft.com/office/powerpoint/2018/8/main">
  <p188:cm id="{21E19EC9-B20A-4E23-98CB-9B59C59F5008}" authorId="{B851012E-0D0B-03A6-D324-3B8EFD84544F}" created="2025-11-22T16:41:17.077">
    <pc:sldMkLst xmlns:pc="http://schemas.microsoft.com/office/powerpoint/2013/main/command">
      <pc:docMk/>
      <pc:sldMk cId="3322225280" sldId="2076138215"/>
    </pc:sldMkLst>
    <p188:txBody>
      <a:bodyPr/>
      <a:lstStyle/>
      <a:p>
        <a:r>
          <a:rPr lang="nl-BE"/>
          <a:t>Illustrate with Jie?</a:t>
        </a:r>
      </a:p>
    </p188:txBody>
  </p188:cm>
</p188:cmLst>
</file>

<file path=ppt/comments/modernComment_E76_F43B0647.xml><?xml version="1.0" encoding="utf-8"?>
<p188:cmLst xmlns:a="http://schemas.openxmlformats.org/drawingml/2006/main" xmlns:r="http://schemas.openxmlformats.org/officeDocument/2006/relationships" xmlns:p188="http://schemas.microsoft.com/office/powerpoint/2018/8/main">
  <p188:cm id="{5EE4EAF3-24B1-4881-AB03-8613D96FADDD}" authorId="{B851012E-0D0B-03A6-D324-3B8EFD84544F}" created="2025-10-10T13:42:24.438">
    <pc:sldMkLst xmlns:pc="http://schemas.microsoft.com/office/powerpoint/2013/main/command">
      <pc:docMk/>
      <pc:sldMk cId="4097508935" sldId="3702"/>
    </pc:sldMkLst>
    <p188:txBody>
      <a:bodyPr/>
      <a:lstStyle/>
      <a:p>
        <a:r>
          <a:rPr lang="nl-BE"/>
          <a:t>Herdoen in dit stramien</a:t>
        </a:r>
      </a:p>
    </p188:txBody>
  </p188:cm>
</p188:cmLst>
</file>

<file path=ppt/comments/modernComment_ECB_55532F4E.xml><?xml version="1.0" encoding="utf-8"?>
<p188:cmLst xmlns:a="http://schemas.openxmlformats.org/drawingml/2006/main" xmlns:r="http://schemas.openxmlformats.org/officeDocument/2006/relationships" xmlns:p188="http://schemas.microsoft.com/office/powerpoint/2018/8/main">
  <p188:cm id="{DFC54919-08DB-4CF5-9D8F-BF4960B3AEFC}" authorId="{B851012E-0D0B-03A6-D324-3B8EFD84544F}" created="2025-10-10T13:33:31.132">
    <pc:sldMkLst xmlns:pc="http://schemas.microsoft.com/office/powerpoint/2013/main/command">
      <pc:docMk/>
      <pc:sldMk cId="1431514958" sldId="3787"/>
    </pc:sldMkLst>
    <p188:txBody>
      <a:bodyPr/>
      <a:lstStyle/>
      <a:p>
        <a:r>
          <a:rPr lang="nl-BE"/>
          <a:t>+ metadata!</a:t>
        </a:r>
      </a:p>
    </p188:txBody>
  </p188:cm>
</p188:cmLst>
</file>

<file path=ppt/comments/modernComment_F01_69D92334.xml><?xml version="1.0" encoding="utf-8"?>
<p188:cmLst xmlns:a="http://schemas.openxmlformats.org/drawingml/2006/main" xmlns:r="http://schemas.openxmlformats.org/officeDocument/2006/relationships" xmlns:p188="http://schemas.microsoft.com/office/powerpoint/2018/8/main">
  <p188:cm id="{B7AD4C87-FC5B-4455-BF6E-86FADFC7543C}" authorId="{B851012E-0D0B-03A6-D324-3B8EFD84544F}" created="2025-11-21T16:04:21.235">
    <ac:deMkLst xmlns:ac="http://schemas.microsoft.com/office/drawing/2013/main/command">
      <pc:docMk xmlns:pc="http://schemas.microsoft.com/office/powerpoint/2013/main/command"/>
      <pc:sldMk xmlns:pc="http://schemas.microsoft.com/office/powerpoint/2013/main/command" cId="1775838004" sldId="3841"/>
      <ac:spMk id="3" creationId="{12593D6B-6E4A-DACA-7489-BBB256488690}"/>
    </ac:deMkLst>
    <p188:txBody>
      <a:bodyPr/>
      <a:lstStyle/>
      <a:p>
        <a:r>
          <a:rPr lang="nl-BE"/>
          <a:t>Add method information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GB"/>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2C3C195-1416-4737-BDB6-5C4135B78FB8}" type="datetimeFigureOut">
              <a:rPr lang="en-GB" smtClean="0"/>
              <a:t>24/11/2025</a:t>
            </a:fld>
            <a:endParaRPr lang="en-GB"/>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GB"/>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GB"/>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6F3AD96-DE29-4307-90C2-798F20EDC7DA}" type="slidenum">
              <a:rPr lang="en-GB" smtClean="0"/>
              <a:t>‹#›</a:t>
            </a:fld>
            <a:endParaRPr lang="en-GB"/>
          </a:p>
        </p:txBody>
      </p:sp>
    </p:spTree>
    <p:extLst>
      <p:ext uri="{BB962C8B-B14F-4D97-AF65-F5344CB8AC3E}">
        <p14:creationId xmlns:p14="http://schemas.microsoft.com/office/powerpoint/2010/main" val="410096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a:p>
        </p:txBody>
      </p:sp>
      <p:sp>
        <p:nvSpPr>
          <p:cNvPr id="4" name="Tijdelijke aanduiding voor dianummer 3"/>
          <p:cNvSpPr>
            <a:spLocks noGrp="1"/>
          </p:cNvSpPr>
          <p:nvPr>
            <p:ph type="sldNum" sz="quarter" idx="5"/>
          </p:nvPr>
        </p:nvSpPr>
        <p:spPr/>
        <p:txBody>
          <a:bodyPr/>
          <a:lstStyle/>
          <a:p>
            <a:fld id="{F66E2983-8885-3341-8D67-D12EAE12B143}" type="slidenum">
              <a:rPr lang="nl-NL" smtClean="0"/>
              <a:t>2</a:t>
            </a:fld>
            <a:endParaRPr lang="nl-NL"/>
          </a:p>
        </p:txBody>
      </p:sp>
    </p:spTree>
    <p:extLst>
      <p:ext uri="{BB962C8B-B14F-4D97-AF65-F5344CB8AC3E}">
        <p14:creationId xmlns:p14="http://schemas.microsoft.com/office/powerpoint/2010/main" val="411573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66E2983-8885-3341-8D67-D12EAE12B143}" type="slidenum">
              <a:rPr lang="nl-NL" smtClean="0"/>
              <a:t>4</a:t>
            </a:fld>
            <a:endParaRPr lang="nl-NL"/>
          </a:p>
        </p:txBody>
      </p:sp>
    </p:spTree>
    <p:extLst>
      <p:ext uri="{BB962C8B-B14F-4D97-AF65-F5344CB8AC3E}">
        <p14:creationId xmlns:p14="http://schemas.microsoft.com/office/powerpoint/2010/main" val="659433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Others can understand data and you can understand your data in the future (</a:t>
            </a:r>
            <a:r>
              <a:rPr lang="en-US" err="1"/>
              <a:t>Afbeelding</a:t>
            </a:r>
            <a:r>
              <a:rPr lang="en-US"/>
              <a:t> </a:t>
            </a:r>
            <a:r>
              <a:rPr lang="en-US" err="1"/>
              <a:t>mannetje</a:t>
            </a:r>
            <a:r>
              <a:rPr lang="en-US"/>
              <a:t> computer) (https://datasciencedojo.com/blog/data-science-memes/)</a:t>
            </a:r>
          </a:p>
          <a:p>
            <a:r>
              <a:rPr lang="en-US"/>
              <a:t>2. Make results reproducible/Reuse possible (of data OR methods) (Lego </a:t>
            </a:r>
            <a:r>
              <a:rPr lang="en-US" err="1"/>
              <a:t>afbeelding</a:t>
            </a:r>
            <a:r>
              <a:rPr lang="en-US"/>
              <a:t>) (https://www.lego.com/en-be/themes/classic/building-instructions)</a:t>
            </a:r>
          </a:p>
          <a:p>
            <a:r>
              <a:rPr lang="en-US"/>
              <a:t>3. Avoid misinterpretation of data (</a:t>
            </a:r>
            <a:r>
              <a:rPr lang="en-US" err="1"/>
              <a:t>afbeelding</a:t>
            </a:r>
            <a:r>
              <a:rPr lang="en-US"/>
              <a:t> met </a:t>
            </a:r>
            <a:r>
              <a:rPr lang="en-US" err="1"/>
              <a:t>bomen</a:t>
            </a:r>
            <a:r>
              <a:rPr lang="en-US"/>
              <a:t>) (https://www.slideshare.net/slideshow/project-cartoon-how-projects-really-work/4941154)</a:t>
            </a:r>
            <a:endParaRPr lang="en-GB"/>
          </a:p>
        </p:txBody>
      </p:sp>
      <p:sp>
        <p:nvSpPr>
          <p:cNvPr id="4" name="Slide Number Placeholder 3"/>
          <p:cNvSpPr>
            <a:spLocks noGrp="1"/>
          </p:cNvSpPr>
          <p:nvPr>
            <p:ph type="sldNum" sz="quarter" idx="5"/>
          </p:nvPr>
        </p:nvSpPr>
        <p:spPr/>
        <p:txBody>
          <a:bodyPr/>
          <a:lstStyle/>
          <a:p>
            <a:fld id="{66F3AD96-DE29-4307-90C2-798F20EDC7DA}" type="slidenum">
              <a:rPr lang="en-GB" smtClean="0"/>
              <a:t>6</a:t>
            </a:fld>
            <a:endParaRPr lang="en-GB"/>
          </a:p>
        </p:txBody>
      </p:sp>
    </p:spTree>
    <p:extLst>
      <p:ext uri="{BB962C8B-B14F-4D97-AF65-F5344CB8AC3E}">
        <p14:creationId xmlns:p14="http://schemas.microsoft.com/office/powerpoint/2010/main" val="2652005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Guided group discussion with slides: what elements are needed to document one of the steps in your dataflow. </a:t>
            </a:r>
            <a:br>
              <a:rPr lang="en-US" dirty="0"/>
            </a:br>
            <a:r>
              <a:rPr lang="en-US"/>
              <a:t>Needs to come to:</a:t>
            </a:r>
            <a:br>
              <a:rPr lang="en-US" dirty="0"/>
            </a:br>
            <a:r>
              <a:rPr lang="en-US"/>
              <a:t>- Start: aims, objective, experimental design</a:t>
            </a:r>
            <a:br>
              <a:rPr lang="en-US" dirty="0"/>
            </a:br>
            <a:r>
              <a:rPr lang="en-US"/>
              <a:t>- Materials:</a:t>
            </a:r>
            <a:br>
              <a:rPr lang="en-US" dirty="0"/>
            </a:br>
            <a:r>
              <a:rPr lang="en-US"/>
              <a:t>-- Ingredients/materials/packages (+versions)</a:t>
            </a:r>
            <a:br>
              <a:rPr lang="en-US" dirty="0"/>
            </a:br>
            <a:r>
              <a:rPr lang="en-US"/>
              <a:t>-- Input files/samples used</a:t>
            </a:r>
            <a:br>
              <a:rPr lang="en-US" dirty="0"/>
            </a:br>
            <a:r>
              <a:rPr lang="en-US"/>
              <a:t>-- Tools, instruments, machine, hardware, software, code, …</a:t>
            </a:r>
            <a:br>
              <a:rPr lang="en-US" dirty="0"/>
            </a:br>
            <a:r>
              <a:rPr lang="en-US"/>
              <a:t>-- Parameters, conditions (experimental/environmental), settings,…</a:t>
            </a:r>
            <a:br>
              <a:rPr lang="en-US" dirty="0"/>
            </a:br>
            <a:r>
              <a:rPr lang="en-US"/>
              <a:t>—Protocol list/SOP/procedures</a:t>
            </a:r>
            <a:br>
              <a:rPr lang="en-US" dirty="0"/>
            </a:br>
            <a:r>
              <a:rPr lang="en-US"/>
              <a:t>- Methods: Step by step guide + visual setups etc. </a:t>
            </a:r>
            <a:br>
              <a:rPr lang="en-US" dirty="0"/>
            </a:br>
            <a:r>
              <a:rPr lang="en-US"/>
              <a:t>- END: conclusion, results, next steps. </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66F3AD96-DE29-4307-90C2-798F20EDC7DA}" type="slidenum">
              <a:rPr lang="en-GB" smtClean="0"/>
              <a:t>7</a:t>
            </a:fld>
            <a:endParaRPr lang="en-GB"/>
          </a:p>
        </p:txBody>
      </p:sp>
    </p:spTree>
    <p:extLst>
      <p:ext uri="{BB962C8B-B14F-4D97-AF65-F5344CB8AC3E}">
        <p14:creationId xmlns:p14="http://schemas.microsoft.com/office/powerpoint/2010/main" val="754973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a complete documentation for methods/steps, we need big blocks:</a:t>
            </a:r>
          </a:p>
          <a:p>
            <a:pPr marL="171450" indent="-171450">
              <a:buFontTx/>
              <a:buChar char="-"/>
            </a:pPr>
            <a:r>
              <a:rPr lang="en-US" dirty="0"/>
              <a:t>Introduction = to give context &amp; </a:t>
            </a:r>
            <a:r>
              <a:rPr lang="en-US" dirty="0" err="1"/>
              <a:t>backround</a:t>
            </a:r>
            <a:endParaRPr lang="en-US" dirty="0"/>
          </a:p>
          <a:p>
            <a:pPr marL="171450" indent="-171450">
              <a:buFontTx/>
              <a:buChar char="-"/>
            </a:pPr>
            <a:r>
              <a:rPr lang="en-US" dirty="0"/>
              <a:t>Materials = that lists everything you need/use for the step</a:t>
            </a:r>
          </a:p>
          <a:p>
            <a:pPr marL="171450" indent="-171450">
              <a:buFontTx/>
              <a:buChar char="-"/>
            </a:pPr>
            <a:r>
              <a:rPr lang="en-US" dirty="0"/>
              <a:t>The method itself = that describes the work you did</a:t>
            </a:r>
          </a:p>
          <a:p>
            <a:pPr marL="171450" indent="-171450">
              <a:buFontTx/>
              <a:buChar char="-"/>
            </a:pPr>
            <a:r>
              <a:rPr lang="en-US" dirty="0"/>
              <a:t>A conclusion at the end</a:t>
            </a:r>
            <a:br>
              <a:rPr lang="en-US" dirty="0"/>
            </a:br>
            <a:endParaRPr lang="en-US" dirty="0"/>
          </a:p>
          <a:p>
            <a:pPr marL="171450" indent="-171450">
              <a:buFontTx/>
              <a:buChar char="-"/>
            </a:pPr>
            <a:r>
              <a:rPr lang="en-US" dirty="0"/>
              <a:t>For the intro: objectives or aims, but also experimental design information</a:t>
            </a:r>
          </a:p>
          <a:p>
            <a:pPr marL="171450" indent="-171450">
              <a:buFontTx/>
              <a:buChar char="-"/>
            </a:pPr>
            <a:r>
              <a:rPr lang="en-US" dirty="0"/>
              <a:t> The materials part can host the most categories, but it doesn’t always mean it has to be large.</a:t>
            </a:r>
          </a:p>
          <a:p>
            <a:pPr marL="628650" lvl="1" indent="-171450">
              <a:buFontTx/>
              <a:buChar char="-"/>
            </a:pPr>
            <a:r>
              <a:rPr lang="en-US" dirty="0"/>
              <a:t>You usually start with the thing you want the do the step on, whether you call that a specimen, sample, … For computational work that is your input file</a:t>
            </a:r>
          </a:p>
          <a:p>
            <a:pPr marL="628650" lvl="1" indent="-171450">
              <a:buFontTx/>
              <a:buChar char="-"/>
            </a:pPr>
            <a:r>
              <a:rPr lang="en-US" dirty="0"/>
              <a:t>Everything else you need to add to be able to do the thing you want to do</a:t>
            </a:r>
          </a:p>
          <a:p>
            <a:pPr marL="628650" lvl="1" indent="-171450">
              <a:buFontTx/>
              <a:buChar char="-"/>
            </a:pPr>
            <a:r>
              <a:rPr lang="en-US" dirty="0"/>
              <a:t>The tools you use, whether it is pc or lab</a:t>
            </a:r>
          </a:p>
          <a:p>
            <a:pPr marL="628650" lvl="1" indent="-171450">
              <a:buFontTx/>
              <a:buChar char="-"/>
            </a:pPr>
            <a:r>
              <a:rPr lang="nl-BE" dirty="0" err="1"/>
              <a:t>Things</a:t>
            </a:r>
            <a:r>
              <a:rPr lang="nl-BE" dirty="0"/>
              <a:t> like </a:t>
            </a:r>
            <a:r>
              <a:rPr lang="nl-BE" dirty="0" err="1"/>
              <a:t>settings</a:t>
            </a:r>
            <a:r>
              <a:rPr lang="nl-BE" dirty="0"/>
              <a:t>, parameters, </a:t>
            </a:r>
            <a:r>
              <a:rPr lang="nl-BE" dirty="0" err="1"/>
              <a:t>conditions</a:t>
            </a:r>
            <a:r>
              <a:rPr lang="nl-BE" dirty="0"/>
              <a:t>,…</a:t>
            </a:r>
          </a:p>
          <a:p>
            <a:pPr marL="628650" lvl="1" indent="-171450">
              <a:buFontTx/>
              <a:buChar char="-"/>
            </a:pPr>
            <a:r>
              <a:rPr lang="nl-BE" dirty="0" err="1"/>
              <a:t>And</a:t>
            </a:r>
            <a:r>
              <a:rPr lang="nl-BE" dirty="0"/>
              <a:t> </a:t>
            </a:r>
            <a:r>
              <a:rPr lang="nl-BE" dirty="0" err="1"/>
              <a:t>then</a:t>
            </a:r>
            <a:r>
              <a:rPr lang="nl-BE" dirty="0"/>
              <a:t> </a:t>
            </a:r>
            <a:r>
              <a:rPr lang="nl-BE" dirty="0" err="1"/>
              <a:t>if</a:t>
            </a:r>
            <a:r>
              <a:rPr lang="nl-BE" dirty="0"/>
              <a:t> </a:t>
            </a:r>
            <a:r>
              <a:rPr lang="nl-BE" dirty="0" err="1"/>
              <a:t>there</a:t>
            </a:r>
            <a:r>
              <a:rPr lang="nl-BE" dirty="0"/>
              <a:t> is </a:t>
            </a:r>
            <a:r>
              <a:rPr lang="nl-BE" dirty="0" err="1"/>
              <a:t>some</a:t>
            </a:r>
            <a:r>
              <a:rPr lang="nl-BE" dirty="0"/>
              <a:t> </a:t>
            </a:r>
            <a:r>
              <a:rPr lang="nl-BE" dirty="0" err="1"/>
              <a:t>standardisation</a:t>
            </a:r>
            <a:r>
              <a:rPr lang="nl-BE" dirty="0"/>
              <a:t> of </a:t>
            </a:r>
            <a:r>
              <a:rPr lang="nl-BE" dirty="0" err="1"/>
              <a:t>what</a:t>
            </a:r>
            <a:r>
              <a:rPr lang="nl-BE" dirty="0"/>
              <a:t> </a:t>
            </a:r>
            <a:r>
              <a:rPr lang="nl-BE" dirty="0" err="1"/>
              <a:t>you’ll</a:t>
            </a:r>
            <a:r>
              <a:rPr lang="nl-BE" dirty="0"/>
              <a:t> do or part of </a:t>
            </a:r>
            <a:r>
              <a:rPr lang="nl-BE" dirty="0" err="1"/>
              <a:t>it</a:t>
            </a:r>
            <a:r>
              <a:rPr lang="nl-BE" dirty="0"/>
              <a:t> </a:t>
            </a:r>
            <a:r>
              <a:rPr lang="nl-BE" dirty="0">
                <a:sym typeface="Wingdings" panose="05000000000000000000" pitchFamily="2" charset="2"/>
              </a:rPr>
              <a:t> procedures, ect.</a:t>
            </a:r>
          </a:p>
          <a:p>
            <a:pPr marL="628650" lvl="1" indent="-171450">
              <a:buFontTx/>
              <a:buChar char="-"/>
            </a:pPr>
            <a:endParaRPr lang="nl-BE" dirty="0">
              <a:sym typeface="Wingdings" panose="05000000000000000000" pitchFamily="2" charset="2"/>
            </a:endParaRPr>
          </a:p>
          <a:p>
            <a:pPr marL="171450" lvl="0" indent="-171450">
              <a:buFontTx/>
              <a:buChar char="-"/>
            </a:pPr>
            <a:r>
              <a:rPr lang="nl-BE" dirty="0">
                <a:sym typeface="Wingdings" panose="05000000000000000000" pitchFamily="2" charset="2"/>
              </a:rPr>
              <a:t>For </a:t>
            </a:r>
            <a:r>
              <a:rPr lang="nl-BE" dirty="0" err="1">
                <a:sym typeface="Wingdings" panose="05000000000000000000" pitchFamily="2" charset="2"/>
              </a:rPr>
              <a:t>the</a:t>
            </a:r>
            <a:r>
              <a:rPr lang="nl-BE" dirty="0">
                <a:sym typeface="Wingdings" panose="05000000000000000000" pitchFamily="2" charset="2"/>
              </a:rPr>
              <a:t> </a:t>
            </a:r>
            <a:r>
              <a:rPr lang="nl-BE" dirty="0" err="1">
                <a:sym typeface="Wingdings" panose="05000000000000000000" pitchFamily="2" charset="2"/>
              </a:rPr>
              <a:t>methods</a:t>
            </a:r>
            <a:r>
              <a:rPr lang="nl-BE" dirty="0">
                <a:sym typeface="Wingdings" panose="05000000000000000000" pitchFamily="2" charset="2"/>
              </a:rPr>
              <a:t>, we </a:t>
            </a:r>
            <a:r>
              <a:rPr lang="nl-BE" dirty="0" err="1">
                <a:sym typeface="Wingdings" panose="05000000000000000000" pitchFamily="2" charset="2"/>
              </a:rPr>
              <a:t>can</a:t>
            </a:r>
            <a:r>
              <a:rPr lang="nl-BE" dirty="0">
                <a:sym typeface="Wingdings" panose="05000000000000000000" pitchFamily="2" charset="2"/>
              </a:rPr>
              <a:t> </a:t>
            </a:r>
            <a:r>
              <a:rPr lang="nl-BE" dirty="0" err="1">
                <a:sym typeface="Wingdings" panose="05000000000000000000" pitchFamily="2" charset="2"/>
              </a:rPr>
              <a:t>think</a:t>
            </a:r>
            <a:r>
              <a:rPr lang="nl-BE" dirty="0">
                <a:sym typeface="Wingdings" panose="05000000000000000000" pitchFamily="2" charset="2"/>
              </a:rPr>
              <a:t> back </a:t>
            </a:r>
            <a:r>
              <a:rPr lang="nl-BE" dirty="0" err="1">
                <a:sym typeface="Wingdings" panose="05000000000000000000" pitchFamily="2" charset="2"/>
              </a:rPr>
              <a:t>to</a:t>
            </a:r>
            <a:r>
              <a:rPr lang="nl-BE" dirty="0">
                <a:sym typeface="Wingdings" panose="05000000000000000000" pitchFamily="2" charset="2"/>
              </a:rPr>
              <a:t> </a:t>
            </a:r>
            <a:r>
              <a:rPr lang="nl-BE" dirty="0" err="1">
                <a:sym typeface="Wingdings" panose="05000000000000000000" pitchFamily="2" charset="2"/>
              </a:rPr>
              <a:t>the</a:t>
            </a:r>
            <a:r>
              <a:rPr lang="nl-BE" dirty="0">
                <a:sym typeface="Wingdings" panose="05000000000000000000" pitchFamily="2" charset="2"/>
              </a:rPr>
              <a:t> paper </a:t>
            </a:r>
            <a:r>
              <a:rPr lang="nl-BE" dirty="0" err="1">
                <a:sym typeface="Wingdings" panose="05000000000000000000" pitchFamily="2" charset="2"/>
              </a:rPr>
              <a:t>airplane</a:t>
            </a:r>
            <a:r>
              <a:rPr lang="nl-BE" dirty="0">
                <a:sym typeface="Wingdings" panose="05000000000000000000" pitchFamily="2" charset="2"/>
              </a:rPr>
              <a:t>. It was </a:t>
            </a:r>
            <a:r>
              <a:rPr lang="nl-BE" dirty="0" err="1">
                <a:sym typeface="Wingdings" panose="05000000000000000000" pitchFamily="2" charset="2"/>
              </a:rPr>
              <a:t>useful</a:t>
            </a:r>
            <a:r>
              <a:rPr lang="nl-BE" dirty="0">
                <a:sym typeface="Wingdings" panose="05000000000000000000" pitchFamily="2" charset="2"/>
              </a:rPr>
              <a:t> </a:t>
            </a:r>
            <a:r>
              <a:rPr lang="nl-BE" dirty="0" err="1">
                <a:sym typeface="Wingdings" panose="05000000000000000000" pitchFamily="2" charset="2"/>
              </a:rPr>
              <a:t>to</a:t>
            </a:r>
            <a:r>
              <a:rPr lang="nl-BE" dirty="0">
                <a:sym typeface="Wingdings" panose="05000000000000000000" pitchFamily="2" charset="2"/>
              </a:rPr>
              <a:t> have a step </a:t>
            </a:r>
            <a:r>
              <a:rPr lang="nl-BE" dirty="0" err="1">
                <a:sym typeface="Wingdings" panose="05000000000000000000" pitchFamily="2" charset="2"/>
              </a:rPr>
              <a:t>by</a:t>
            </a:r>
            <a:r>
              <a:rPr lang="nl-BE" dirty="0">
                <a:sym typeface="Wingdings" panose="05000000000000000000" pitchFamily="2" charset="2"/>
              </a:rPr>
              <a:t> step, </a:t>
            </a:r>
            <a:r>
              <a:rPr lang="nl-BE" dirty="0" err="1">
                <a:sym typeface="Wingdings" panose="05000000000000000000" pitchFamily="2" charset="2"/>
              </a:rPr>
              <a:t>and</a:t>
            </a:r>
            <a:r>
              <a:rPr lang="nl-BE" dirty="0">
                <a:sym typeface="Wingdings" panose="05000000000000000000" pitchFamily="2" charset="2"/>
              </a:rPr>
              <a:t> </a:t>
            </a:r>
            <a:r>
              <a:rPr lang="nl-BE" dirty="0" err="1">
                <a:sym typeface="Wingdings" panose="05000000000000000000" pitchFamily="2" charset="2"/>
              </a:rPr>
              <a:t>also</a:t>
            </a:r>
            <a:r>
              <a:rPr lang="nl-BE" dirty="0">
                <a:sym typeface="Wingdings" panose="05000000000000000000" pitchFamily="2" charset="2"/>
              </a:rPr>
              <a:t> </a:t>
            </a:r>
            <a:r>
              <a:rPr lang="nl-BE" dirty="0" err="1">
                <a:sym typeface="Wingdings" panose="05000000000000000000" pitchFamily="2" charset="2"/>
              </a:rPr>
              <a:t>visual</a:t>
            </a:r>
            <a:r>
              <a:rPr lang="nl-BE" dirty="0">
                <a:sym typeface="Wingdings" panose="05000000000000000000" pitchFamily="2" charset="2"/>
              </a:rPr>
              <a:t> cues</a:t>
            </a:r>
          </a:p>
          <a:p>
            <a:pPr marL="171450" lvl="0" indent="-171450">
              <a:buFontTx/>
              <a:buChar char="-"/>
            </a:pPr>
            <a:r>
              <a:rPr lang="nl-BE" dirty="0" err="1">
                <a:sym typeface="Wingdings" panose="05000000000000000000" pitchFamily="2" charset="2"/>
              </a:rPr>
              <a:t>And</a:t>
            </a:r>
            <a:r>
              <a:rPr lang="nl-BE" dirty="0">
                <a:sym typeface="Wingdings" panose="05000000000000000000" pitchFamily="2" charset="2"/>
              </a:rPr>
              <a:t> </a:t>
            </a:r>
            <a:r>
              <a:rPr lang="nl-BE" dirty="0" err="1">
                <a:sym typeface="Wingdings" panose="05000000000000000000" pitchFamily="2" charset="2"/>
              </a:rPr>
              <a:t>give</a:t>
            </a:r>
            <a:r>
              <a:rPr lang="nl-BE" dirty="0">
                <a:sym typeface="Wingdings" panose="05000000000000000000" pitchFamily="2" charset="2"/>
              </a:rPr>
              <a:t> a close </a:t>
            </a:r>
            <a:r>
              <a:rPr lang="nl-BE" dirty="0" err="1">
                <a:sym typeface="Wingdings" panose="05000000000000000000" pitchFamily="2" charset="2"/>
              </a:rPr>
              <a:t>to</a:t>
            </a:r>
            <a:r>
              <a:rPr lang="nl-BE" dirty="0">
                <a:sym typeface="Wingdings" panose="05000000000000000000" pitchFamily="2" charset="2"/>
              </a:rPr>
              <a:t> </a:t>
            </a:r>
            <a:r>
              <a:rPr lang="nl-BE" dirty="0" err="1">
                <a:sym typeface="Wingdings" panose="05000000000000000000" pitchFamily="2" charset="2"/>
              </a:rPr>
              <a:t>the</a:t>
            </a:r>
            <a:r>
              <a:rPr lang="nl-BE" dirty="0">
                <a:sym typeface="Wingdings" panose="05000000000000000000" pitchFamily="2" charset="2"/>
              </a:rPr>
              <a:t> step = </a:t>
            </a:r>
            <a:r>
              <a:rPr lang="nl-BE" dirty="0" err="1">
                <a:sym typeface="Wingdings" panose="05000000000000000000" pitchFamily="2" charset="2"/>
              </a:rPr>
              <a:t>results</a:t>
            </a:r>
            <a:r>
              <a:rPr lang="nl-BE" dirty="0">
                <a:sym typeface="Wingdings" panose="05000000000000000000" pitchFamily="2" charset="2"/>
              </a:rPr>
              <a:t>/</a:t>
            </a:r>
            <a:r>
              <a:rPr lang="nl-BE" dirty="0" err="1">
                <a:sym typeface="Wingdings" panose="05000000000000000000" pitchFamily="2" charset="2"/>
              </a:rPr>
              <a:t>outputs</a:t>
            </a:r>
            <a:r>
              <a:rPr lang="nl-BE" dirty="0">
                <a:sym typeface="Wingdings" panose="05000000000000000000" pitchFamily="2" charset="2"/>
              </a:rPr>
              <a:t>/… </a:t>
            </a:r>
            <a:r>
              <a:rPr lang="nl-BE" dirty="0" err="1">
                <a:sym typeface="Wingdings" panose="05000000000000000000" pitchFamily="2" charset="2"/>
              </a:rPr>
              <a:t>conclusions</a:t>
            </a:r>
            <a:r>
              <a:rPr lang="nl-BE" dirty="0">
                <a:sym typeface="Wingdings" panose="05000000000000000000" pitchFamily="2" charset="2"/>
              </a:rPr>
              <a:t>, next steps.,…</a:t>
            </a:r>
            <a:endParaRPr lang="nl-BE" dirty="0"/>
          </a:p>
        </p:txBody>
      </p:sp>
      <p:sp>
        <p:nvSpPr>
          <p:cNvPr id="4" name="Slide Number Placeholder 3"/>
          <p:cNvSpPr>
            <a:spLocks noGrp="1"/>
          </p:cNvSpPr>
          <p:nvPr>
            <p:ph type="sldNum" sz="quarter" idx="5"/>
          </p:nvPr>
        </p:nvSpPr>
        <p:spPr/>
        <p:txBody>
          <a:bodyPr/>
          <a:lstStyle/>
          <a:p>
            <a:fld id="{66F3AD96-DE29-4307-90C2-798F20EDC7DA}" type="slidenum">
              <a:rPr lang="en-GB" smtClean="0"/>
              <a:t>8</a:t>
            </a:fld>
            <a:endParaRPr lang="en-GB"/>
          </a:p>
        </p:txBody>
      </p:sp>
    </p:spTree>
    <p:extLst>
      <p:ext uri="{BB962C8B-B14F-4D97-AF65-F5344CB8AC3E}">
        <p14:creationId xmlns:p14="http://schemas.microsoft.com/office/powerpoint/2010/main" val="3652332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FAFE4-2DDA-DEF3-C20A-6CE024725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99259-917D-EB46-C1C8-B2B5E7491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8247A-6591-FCF8-A4F3-0B3DEA8F1E57}"/>
              </a:ext>
            </a:extLst>
          </p:cNvPr>
          <p:cNvSpPr>
            <a:spLocks noGrp="1"/>
          </p:cNvSpPr>
          <p:nvPr>
            <p:ph type="body" idx="1"/>
          </p:nvPr>
        </p:nvSpPr>
        <p:spPr/>
        <p:txBody>
          <a:bodyPr/>
          <a:lstStyle/>
          <a:p>
            <a:r>
              <a:rPr lang="en-US"/>
              <a:t>1. Others can understand data and you can understand your data in the future (</a:t>
            </a:r>
            <a:r>
              <a:rPr lang="en-US" err="1"/>
              <a:t>Afbeelding</a:t>
            </a:r>
            <a:r>
              <a:rPr lang="en-US"/>
              <a:t> </a:t>
            </a:r>
            <a:r>
              <a:rPr lang="en-US" err="1"/>
              <a:t>mannetje</a:t>
            </a:r>
            <a:r>
              <a:rPr lang="en-US"/>
              <a:t> computer) (https://datasciencedojo.com/blog/data-science-memes/)</a:t>
            </a:r>
          </a:p>
          <a:p>
            <a:r>
              <a:rPr lang="en-US"/>
              <a:t>2. Make results reproducible (Lego </a:t>
            </a:r>
            <a:r>
              <a:rPr lang="en-US" err="1"/>
              <a:t>afbeelding</a:t>
            </a:r>
            <a:r>
              <a:rPr lang="en-US"/>
              <a:t>) (https://www.lego.com/en-be/themes/classic/building-instructions)</a:t>
            </a:r>
          </a:p>
          <a:p>
            <a:r>
              <a:rPr lang="en-US"/>
              <a:t>3. Avoid misinterpretation of data (</a:t>
            </a:r>
            <a:r>
              <a:rPr lang="en-US" err="1"/>
              <a:t>afbeelding</a:t>
            </a:r>
            <a:r>
              <a:rPr lang="en-US"/>
              <a:t> met </a:t>
            </a:r>
            <a:r>
              <a:rPr lang="en-US" err="1"/>
              <a:t>bomen</a:t>
            </a:r>
            <a:r>
              <a:rPr lang="en-US"/>
              <a:t>) (https://www.slideshare.net/slideshow/project-cartoon-how-projects-really-work/4941154)</a:t>
            </a:r>
            <a:endParaRPr lang="en-GB"/>
          </a:p>
        </p:txBody>
      </p:sp>
      <p:sp>
        <p:nvSpPr>
          <p:cNvPr id="4" name="Slide Number Placeholder 3">
            <a:extLst>
              <a:ext uri="{FF2B5EF4-FFF2-40B4-BE49-F238E27FC236}">
                <a16:creationId xmlns:a16="http://schemas.microsoft.com/office/drawing/2014/main" id="{FFD968BD-3191-F7BC-B5A0-9B5E66959249}"/>
              </a:ext>
            </a:extLst>
          </p:cNvPr>
          <p:cNvSpPr>
            <a:spLocks noGrp="1"/>
          </p:cNvSpPr>
          <p:nvPr>
            <p:ph type="sldNum" sz="quarter" idx="5"/>
          </p:nvPr>
        </p:nvSpPr>
        <p:spPr/>
        <p:txBody>
          <a:bodyPr/>
          <a:lstStyle/>
          <a:p>
            <a:fld id="{66F3AD96-DE29-4307-90C2-798F20EDC7DA}" type="slidenum">
              <a:rPr lang="en-GB" smtClean="0"/>
              <a:t>9</a:t>
            </a:fld>
            <a:endParaRPr lang="en-GB"/>
          </a:p>
        </p:txBody>
      </p:sp>
    </p:spTree>
    <p:extLst>
      <p:ext uri="{BB962C8B-B14F-4D97-AF65-F5344CB8AC3E}">
        <p14:creationId xmlns:p14="http://schemas.microsoft.com/office/powerpoint/2010/main" val="412086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9E20-84A3-2FB9-CAF2-15568B6F8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4CC64-94C9-DEDE-01B0-688CE40CB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52FC1-44D1-C4BB-7389-4B37D6918E52}"/>
              </a:ext>
            </a:extLst>
          </p:cNvPr>
          <p:cNvSpPr>
            <a:spLocks noGrp="1"/>
          </p:cNvSpPr>
          <p:nvPr>
            <p:ph type="body" idx="1"/>
          </p:nvPr>
        </p:nvSpPr>
        <p:spPr/>
        <p:txBody>
          <a:bodyPr/>
          <a:lstStyle/>
          <a:p>
            <a:r>
              <a:rPr lang="en-US"/>
              <a:t>Key message: the platform is successful and widely used (social opportunity)</a:t>
            </a:r>
          </a:p>
          <a:p>
            <a:r>
              <a:rPr lang="en-US"/>
              <a:t>Secondary message: the platform may be called by different names due to mergers and partnerships.</a:t>
            </a:r>
            <a:br>
              <a:rPr lang="en-US"/>
            </a:br>
            <a:r>
              <a:rPr lang="en-US"/>
              <a:t>Voiceover: The </a:t>
            </a:r>
            <a:r>
              <a:rPr lang="en-US" err="1"/>
              <a:t>eLabNext</a:t>
            </a:r>
            <a:r>
              <a:rPr lang="en-US"/>
              <a:t> is a dedicated platform for scientists by scientists. It is used by some of the largest and most prominent institutions (Sanofi, NIH, Memorial Sloan Kettering, HP, CDC, BMS, </a:t>
            </a:r>
            <a:r>
              <a:rPr lang="en-US" err="1"/>
              <a:t>etc</a:t>
            </a:r>
            <a:r>
              <a:rPr lang="en-US"/>
              <a:t>).</a:t>
            </a:r>
            <a:endParaRPr lang="en-BE"/>
          </a:p>
        </p:txBody>
      </p:sp>
      <p:sp>
        <p:nvSpPr>
          <p:cNvPr id="4" name="Slide Number Placeholder 3">
            <a:extLst>
              <a:ext uri="{FF2B5EF4-FFF2-40B4-BE49-F238E27FC236}">
                <a16:creationId xmlns:a16="http://schemas.microsoft.com/office/drawing/2014/main" id="{08BE5AED-3D24-13D6-2AE8-5093A283E5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7670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980AB-0972-35D1-1EF5-0C8DCD1A7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148A3-79E9-093E-B220-40D02EC5E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C6E6F-76D9-362B-4DAF-CBF3CD61777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6F73AF8-DF30-9EA3-745C-398C41347023}"/>
              </a:ext>
            </a:extLst>
          </p:cNvPr>
          <p:cNvSpPr>
            <a:spLocks noGrp="1"/>
          </p:cNvSpPr>
          <p:nvPr>
            <p:ph type="sldNum" sz="quarter" idx="5"/>
          </p:nvPr>
        </p:nvSpPr>
        <p:spPr/>
        <p:txBody>
          <a:bodyPr/>
          <a:lstStyle/>
          <a:p>
            <a:fld id="{66F3AD96-DE29-4307-90C2-798F20EDC7DA}" type="slidenum">
              <a:rPr lang="en-GB" smtClean="0"/>
              <a:t>15</a:t>
            </a:fld>
            <a:endParaRPr lang="en-GB"/>
          </a:p>
        </p:txBody>
      </p:sp>
    </p:spTree>
    <p:extLst>
      <p:ext uri="{BB962C8B-B14F-4D97-AF65-F5344CB8AC3E}">
        <p14:creationId xmlns:p14="http://schemas.microsoft.com/office/powerpoint/2010/main" val="562866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D86C0-29A5-47DB-E563-4AA45B639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00CF4-529A-6C01-7070-53B0D3842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2BF568-3E17-3A3C-633A-3D40CBCFEE7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56BEE3-3F5E-AC99-8A5B-374BB3CE20D1}"/>
              </a:ext>
            </a:extLst>
          </p:cNvPr>
          <p:cNvSpPr>
            <a:spLocks noGrp="1"/>
          </p:cNvSpPr>
          <p:nvPr>
            <p:ph type="sldNum" sz="quarter" idx="5"/>
          </p:nvPr>
        </p:nvSpPr>
        <p:spPr/>
        <p:txBody>
          <a:bodyPr/>
          <a:lstStyle/>
          <a:p>
            <a:fld id="{66F3AD96-DE29-4307-90C2-798F20EDC7DA}" type="slidenum">
              <a:rPr lang="en-GB" smtClean="0"/>
              <a:t>16</a:t>
            </a:fld>
            <a:endParaRPr lang="en-GB"/>
          </a:p>
        </p:txBody>
      </p:sp>
    </p:spTree>
    <p:extLst>
      <p:ext uri="{BB962C8B-B14F-4D97-AF65-F5344CB8AC3E}">
        <p14:creationId xmlns:p14="http://schemas.microsoft.com/office/powerpoint/2010/main" val="1196083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93FD0-E420-DA33-F72D-1C5A3A04C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001EA-8657-50B0-DD16-317357A37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FB323-F6B9-0E1B-ACA7-0A7A326B1B8F}"/>
              </a:ext>
            </a:extLst>
          </p:cNvPr>
          <p:cNvSpPr>
            <a:spLocks noGrp="1"/>
          </p:cNvSpPr>
          <p:nvPr>
            <p:ph type="body" idx="1"/>
          </p:nvPr>
        </p:nvSpPr>
        <p:spPr/>
        <p:txBody>
          <a:bodyPr/>
          <a:lstStyle/>
          <a:p>
            <a:r>
              <a:rPr lang="en-US" err="1"/>
              <a:t>Uitleg</a:t>
            </a:r>
            <a:r>
              <a:rPr lang="en-US"/>
              <a:t>: Het </a:t>
            </a:r>
            <a:r>
              <a:rPr lang="en-US" err="1"/>
              <a:t>verschil</a:t>
            </a:r>
            <a:r>
              <a:rPr lang="en-US"/>
              <a:t> </a:t>
            </a:r>
            <a:r>
              <a:rPr lang="en-US" err="1"/>
              <a:t>tussen</a:t>
            </a:r>
            <a:r>
              <a:rPr lang="en-US"/>
              <a:t> “</a:t>
            </a:r>
            <a:r>
              <a:rPr lang="en-US" err="1"/>
              <a:t>gewone</a:t>
            </a:r>
            <a:r>
              <a:rPr lang="en-US"/>
              <a:t>” </a:t>
            </a:r>
            <a:r>
              <a:rPr lang="en-US" err="1"/>
              <a:t>documentatie</a:t>
            </a:r>
            <a:r>
              <a:rPr lang="en-US"/>
              <a:t> </a:t>
            </a:r>
            <a:r>
              <a:rPr lang="en-US" err="1"/>
              <a:t>en</a:t>
            </a:r>
            <a:r>
              <a:rPr lang="en-US"/>
              <a:t> metadata is </a:t>
            </a:r>
            <a:r>
              <a:rPr lang="en-US" err="1"/>
              <a:t>dezelfde</a:t>
            </a:r>
            <a:r>
              <a:rPr lang="en-US"/>
              <a:t> </a:t>
            </a:r>
            <a:r>
              <a:rPr lang="en-US" err="1"/>
              <a:t>als</a:t>
            </a:r>
            <a:r>
              <a:rPr lang="en-US"/>
              <a:t> </a:t>
            </a:r>
            <a:r>
              <a:rPr lang="en-US" err="1"/>
              <a:t>tussen</a:t>
            </a:r>
            <a:r>
              <a:rPr lang="en-US"/>
              <a:t> </a:t>
            </a:r>
            <a:r>
              <a:rPr lang="en-US" err="1"/>
              <a:t>een</a:t>
            </a:r>
            <a:r>
              <a:rPr lang="en-US"/>
              <a:t> </a:t>
            </a:r>
            <a:r>
              <a:rPr lang="en-US" err="1"/>
              <a:t>papieren</a:t>
            </a:r>
            <a:r>
              <a:rPr lang="en-US"/>
              <a:t> menu in </a:t>
            </a:r>
            <a:r>
              <a:rPr lang="en-US" err="1"/>
              <a:t>een</a:t>
            </a:r>
            <a:r>
              <a:rPr lang="en-US"/>
              <a:t> restaurant, </a:t>
            </a:r>
            <a:r>
              <a:rPr lang="en-US" err="1"/>
              <a:t>en</a:t>
            </a:r>
            <a:r>
              <a:rPr lang="en-US"/>
              <a:t> de online </a:t>
            </a:r>
            <a:r>
              <a:rPr lang="en-US" err="1"/>
              <a:t>versie</a:t>
            </a:r>
            <a:r>
              <a:rPr lang="en-US"/>
              <a:t> van </a:t>
            </a:r>
            <a:r>
              <a:rPr lang="en-US" err="1"/>
              <a:t>dezelfde</a:t>
            </a:r>
            <a:r>
              <a:rPr lang="en-US"/>
              <a:t> menu in </a:t>
            </a:r>
            <a:r>
              <a:rPr lang="en-US" err="1"/>
              <a:t>een</a:t>
            </a:r>
            <a:r>
              <a:rPr lang="en-US"/>
              <a:t> betel-platform </a:t>
            </a:r>
            <a:r>
              <a:rPr lang="en-US" err="1"/>
              <a:t>als</a:t>
            </a:r>
            <a:r>
              <a:rPr lang="en-US"/>
              <a:t> “take away”. </a:t>
            </a:r>
            <a:br>
              <a:rPr lang="en-US"/>
            </a:br>
            <a:r>
              <a:rPr lang="en-US"/>
              <a:t>Er </a:t>
            </a:r>
            <a:r>
              <a:rPr lang="en-US" err="1"/>
              <a:t>kan</a:t>
            </a:r>
            <a:r>
              <a:rPr lang="en-US"/>
              <a:t> </a:t>
            </a:r>
            <a:r>
              <a:rPr lang="en-US" err="1"/>
              <a:t>dezelfde</a:t>
            </a:r>
            <a:r>
              <a:rPr lang="en-US"/>
              <a:t> </a:t>
            </a:r>
            <a:r>
              <a:rPr lang="en-US" err="1"/>
              <a:t>informatie</a:t>
            </a:r>
            <a:r>
              <a:rPr lang="en-US"/>
              <a:t> </a:t>
            </a:r>
            <a:r>
              <a:rPr lang="en-US" err="1"/>
              <a:t>instaan</a:t>
            </a:r>
            <a:r>
              <a:rPr lang="en-US"/>
              <a:t>, maar de </a:t>
            </a:r>
            <a:r>
              <a:rPr lang="en-US" err="1"/>
              <a:t>eerste</a:t>
            </a:r>
            <a:r>
              <a:rPr lang="en-US"/>
              <a:t> is </a:t>
            </a:r>
            <a:r>
              <a:rPr lang="en-US" err="1"/>
              <a:t>enkel</a:t>
            </a:r>
            <a:r>
              <a:rPr lang="en-US"/>
              <a:t> </a:t>
            </a:r>
            <a:r>
              <a:rPr lang="en-US" err="1"/>
              <a:t>vlot</a:t>
            </a:r>
            <a:r>
              <a:rPr lang="en-US"/>
              <a:t> </a:t>
            </a:r>
            <a:r>
              <a:rPr lang="en-US" err="1"/>
              <a:t>te</a:t>
            </a:r>
            <a:r>
              <a:rPr lang="en-US"/>
              <a:t> </a:t>
            </a:r>
            <a:r>
              <a:rPr lang="en-US" err="1"/>
              <a:t>lezen</a:t>
            </a:r>
            <a:r>
              <a:rPr lang="en-US"/>
              <a:t> door </a:t>
            </a:r>
            <a:r>
              <a:rPr lang="en-US" err="1"/>
              <a:t>mensen</a:t>
            </a:r>
            <a:r>
              <a:rPr lang="en-US"/>
              <a:t>. Het </a:t>
            </a:r>
            <a:r>
              <a:rPr lang="en-US" err="1"/>
              <a:t>tweede</a:t>
            </a:r>
            <a:r>
              <a:rPr lang="en-US"/>
              <a:t> is </a:t>
            </a:r>
            <a:r>
              <a:rPr lang="en-US" err="1"/>
              <a:t>ook</a:t>
            </a:r>
            <a:r>
              <a:rPr lang="en-US"/>
              <a:t> </a:t>
            </a:r>
            <a:r>
              <a:rPr lang="en-US" err="1"/>
              <a:t>verstaanbaar</a:t>
            </a:r>
            <a:r>
              <a:rPr lang="en-US"/>
              <a:t> </a:t>
            </a:r>
            <a:r>
              <a:rPr lang="en-US" err="1"/>
              <a:t>voor</a:t>
            </a:r>
            <a:r>
              <a:rPr lang="en-US"/>
              <a:t> </a:t>
            </a:r>
            <a:r>
              <a:rPr lang="en-US" err="1"/>
              <a:t>ons</a:t>
            </a:r>
            <a:r>
              <a:rPr lang="en-US"/>
              <a:t>, maar er zit </a:t>
            </a:r>
            <a:r>
              <a:rPr lang="en-US" err="1"/>
              <a:t>ook</a:t>
            </a:r>
            <a:r>
              <a:rPr lang="en-US"/>
              <a:t> </a:t>
            </a:r>
            <a:r>
              <a:rPr lang="en-US" err="1"/>
              <a:t>een</a:t>
            </a:r>
            <a:r>
              <a:rPr lang="en-US"/>
              <a:t> heel </a:t>
            </a:r>
            <a:r>
              <a:rPr lang="en-US" err="1"/>
              <a:t>computersysteem</a:t>
            </a:r>
            <a:r>
              <a:rPr lang="en-US"/>
              <a:t> achter, die </a:t>
            </a:r>
            <a:r>
              <a:rPr lang="en-US" err="1"/>
              <a:t>maakt</a:t>
            </a:r>
            <a:r>
              <a:rPr lang="en-US"/>
              <a:t> </a:t>
            </a:r>
            <a:r>
              <a:rPr lang="en-US" err="1"/>
              <a:t>dat</a:t>
            </a:r>
            <a:r>
              <a:rPr lang="en-US"/>
              <a:t> we </a:t>
            </a:r>
            <a:r>
              <a:rPr lang="en-US" err="1"/>
              <a:t>kunnen</a:t>
            </a:r>
            <a:r>
              <a:rPr lang="en-US"/>
              <a:t> </a:t>
            </a:r>
            <a:r>
              <a:rPr lang="en-US" err="1"/>
              <a:t>filteren</a:t>
            </a:r>
            <a:r>
              <a:rPr lang="en-US"/>
              <a:t>, </a:t>
            </a:r>
            <a:r>
              <a:rPr lang="en-US" err="1"/>
              <a:t>selecteren</a:t>
            </a:r>
            <a:r>
              <a:rPr lang="en-US"/>
              <a:t>, </a:t>
            </a:r>
            <a:r>
              <a:rPr lang="en-US" err="1"/>
              <a:t>categoriseren</a:t>
            </a:r>
            <a:r>
              <a:rPr lang="en-US"/>
              <a:t>, ... De makers van het menu </a:t>
            </a:r>
            <a:r>
              <a:rPr lang="en-US" err="1"/>
              <a:t>kunnen</a:t>
            </a:r>
            <a:r>
              <a:rPr lang="en-US"/>
              <a:t> </a:t>
            </a:r>
            <a:r>
              <a:rPr lang="en-US" err="1"/>
              <a:t>ook</a:t>
            </a:r>
            <a:r>
              <a:rPr lang="en-US"/>
              <a:t> </a:t>
            </a:r>
            <a:r>
              <a:rPr lang="en-US" err="1"/>
              <a:t>gemakkelijker</a:t>
            </a:r>
            <a:r>
              <a:rPr lang="en-US"/>
              <a:t> </a:t>
            </a:r>
            <a:r>
              <a:rPr lang="en-US" err="1"/>
              <a:t>dingen</a:t>
            </a:r>
            <a:r>
              <a:rPr lang="en-US"/>
              <a:t> </a:t>
            </a:r>
            <a:r>
              <a:rPr lang="en-US" err="1"/>
              <a:t>aanpassen</a:t>
            </a:r>
            <a:r>
              <a:rPr lang="en-US"/>
              <a:t>, </a:t>
            </a:r>
            <a:r>
              <a:rPr lang="en-US" err="1"/>
              <a:t>categoriseren</a:t>
            </a:r>
            <a:r>
              <a:rPr lang="en-US"/>
              <a:t>, </a:t>
            </a:r>
            <a:r>
              <a:rPr lang="en-US" err="1"/>
              <a:t>copieren</a:t>
            </a:r>
            <a:r>
              <a:rPr lang="en-US"/>
              <a:t> </a:t>
            </a:r>
            <a:r>
              <a:rPr lang="en-US" err="1"/>
              <a:t>naar</a:t>
            </a:r>
            <a:r>
              <a:rPr lang="en-US"/>
              <a:t> </a:t>
            </a:r>
            <a:r>
              <a:rPr lang="en-US" err="1"/>
              <a:t>andere</a:t>
            </a:r>
            <a:r>
              <a:rPr lang="en-US"/>
              <a:t> </a:t>
            </a:r>
            <a:r>
              <a:rPr lang="en-US" err="1"/>
              <a:t>platformen</a:t>
            </a:r>
            <a:r>
              <a:rPr lang="en-US"/>
              <a:t> </a:t>
            </a:r>
            <a:r>
              <a:rPr lang="en-US" err="1"/>
              <a:t>ect</a:t>
            </a:r>
            <a:r>
              <a:rPr lang="en-US"/>
              <a:t>. </a:t>
            </a:r>
            <a:br>
              <a:rPr lang="en-US"/>
            </a:br>
            <a:r>
              <a:rPr lang="en-US" err="1"/>
              <a:t>Zelfde</a:t>
            </a:r>
            <a:r>
              <a:rPr lang="en-US"/>
              <a:t> info, </a:t>
            </a:r>
            <a:r>
              <a:rPr lang="en-US" err="1"/>
              <a:t>meer</a:t>
            </a:r>
            <a:r>
              <a:rPr lang="en-US"/>
              <a:t> </a:t>
            </a:r>
            <a:r>
              <a:rPr lang="en-US" err="1"/>
              <a:t>functionaliteiten</a:t>
            </a:r>
            <a:r>
              <a:rPr lang="en-US"/>
              <a:t> </a:t>
            </a:r>
            <a:r>
              <a:rPr lang="en-US" err="1"/>
              <a:t>en</a:t>
            </a:r>
            <a:r>
              <a:rPr lang="en-US"/>
              <a:t> compatible met computers. </a:t>
            </a:r>
            <a:endParaRPr lang="nl-BE"/>
          </a:p>
        </p:txBody>
      </p:sp>
      <p:sp>
        <p:nvSpPr>
          <p:cNvPr id="4" name="Slide Number Placeholder 3">
            <a:extLst>
              <a:ext uri="{FF2B5EF4-FFF2-40B4-BE49-F238E27FC236}">
                <a16:creationId xmlns:a16="http://schemas.microsoft.com/office/drawing/2014/main" id="{C650DE2D-EF77-8C2D-E149-3CC012AAB5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6E2983-8885-3341-8D67-D12EAE12B143}" type="slidenum">
              <a:rPr kumimoji="0" lang="nl-NL"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9895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703C-A2E1-D7B9-B9B4-2D00A23B7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0344E-C9D7-3AD0-7494-9920CC2F8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CB2F1-5442-03A3-E921-58FCC35EEE36}"/>
              </a:ext>
            </a:extLst>
          </p:cNvPr>
          <p:cNvSpPr>
            <a:spLocks noGrp="1"/>
          </p:cNvSpPr>
          <p:nvPr>
            <p:ph type="body" idx="1"/>
          </p:nvPr>
        </p:nvSpPr>
        <p:spPr/>
        <p:txBody>
          <a:bodyPr>
            <a:normAutofit/>
          </a:bodyPr>
          <a:lstStyle/>
          <a:p>
            <a:pPr defTabSz="966612">
              <a:defRPr/>
            </a:pPr>
            <a:r>
              <a:rPr lang="en-GB" dirty="0">
                <a:ea typeface="Calibri"/>
                <a:cs typeface="Calibri"/>
              </a:rPr>
              <a:t>We could complete the process with something like this.</a:t>
            </a:r>
          </a:p>
          <a:p>
            <a:pPr defTabSz="966612">
              <a:defRPr/>
            </a:pPr>
            <a:r>
              <a:rPr lang="en-GB" dirty="0">
                <a:ea typeface="Calibri"/>
                <a:cs typeface="Calibri"/>
              </a:rPr>
              <a:t>For sake of space, the analysis part has been simplified. We would still recommend to do this in detail. </a:t>
            </a:r>
          </a:p>
          <a:p>
            <a:endParaRPr lang="en-GB" dirty="0"/>
          </a:p>
        </p:txBody>
      </p:sp>
      <p:sp>
        <p:nvSpPr>
          <p:cNvPr id="4" name="Slide Number Placeholder 3">
            <a:extLst>
              <a:ext uri="{FF2B5EF4-FFF2-40B4-BE49-F238E27FC236}">
                <a16:creationId xmlns:a16="http://schemas.microsoft.com/office/drawing/2014/main" id="{356FBCDB-738F-3D88-DEB0-C9A22CE5D405}"/>
              </a:ext>
            </a:extLst>
          </p:cNvPr>
          <p:cNvSpPr>
            <a:spLocks noGrp="1"/>
          </p:cNvSpPr>
          <p:nvPr>
            <p:ph type="sldNum" sz="quarter" idx="10"/>
          </p:nvPr>
        </p:nvSpPr>
        <p:spPr/>
        <p:txBody>
          <a:bodyPr/>
          <a:lstStyle/>
          <a:p>
            <a:fld id="{D4D648DB-08B3-4C37-99AC-20C6D518D609}" type="slidenum">
              <a:rPr lang="en-GB" smtClean="0"/>
              <a:pPr/>
              <a:t>20</a:t>
            </a:fld>
            <a:endParaRPr lang="en-GB"/>
          </a:p>
        </p:txBody>
      </p:sp>
    </p:spTree>
    <p:extLst>
      <p:ext uri="{BB962C8B-B14F-4D97-AF65-F5344CB8AC3E}">
        <p14:creationId xmlns:p14="http://schemas.microsoft.com/office/powerpoint/2010/main" val="845260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group discussion with slides: what other type of documentation do we need to keep things organized? </a:t>
            </a:r>
            <a:br>
              <a:rPr lang="en-US" dirty="0">
                <a:cs typeface="+mn-lt"/>
              </a:rPr>
            </a:br>
            <a:r>
              <a:rPr lang="en-US" dirty="0"/>
              <a:t>Look back at the Materials section. What needs to be </a:t>
            </a:r>
            <a:r>
              <a:rPr lang="en-US" dirty="0" err="1"/>
              <a:t>organised</a:t>
            </a:r>
            <a:r>
              <a:rPr lang="en-US" dirty="0"/>
              <a:t>?</a:t>
            </a:r>
          </a:p>
          <a:p>
            <a:r>
              <a:rPr lang="en-US" dirty="0"/>
              <a:t>Materials inventory</a:t>
            </a:r>
          </a:p>
          <a:p>
            <a:r>
              <a:rPr lang="en-US" dirty="0"/>
              <a:t>Sample list</a:t>
            </a:r>
          </a:p>
          <a:p>
            <a:r>
              <a:rPr lang="en-US" dirty="0"/>
              <a:t>Instrument inventory</a:t>
            </a:r>
          </a:p>
          <a:p>
            <a:r>
              <a:rPr lang="en-US" dirty="0"/>
              <a:t>Storage inventory</a:t>
            </a:r>
          </a:p>
          <a:p>
            <a:r>
              <a:rPr lang="en-US" dirty="0"/>
              <a:t>Protocols inventory</a:t>
            </a:r>
          </a:p>
          <a:p>
            <a:r>
              <a:rPr lang="en-US" dirty="0"/>
              <a:t>But also: </a:t>
            </a:r>
            <a:br>
              <a:rPr lang="en-US" dirty="0">
                <a:cs typeface="+mn-lt"/>
              </a:rPr>
            </a:br>
            <a:r>
              <a:rPr lang="en-US" dirty="0"/>
              <a:t>- variable list</a:t>
            </a:r>
            <a:br>
              <a:rPr lang="en-US" dirty="0">
                <a:cs typeface="+mn-lt"/>
              </a:rPr>
            </a:br>
            <a:r>
              <a:rPr lang="en-US" dirty="0"/>
              <a:t>- ELN </a:t>
            </a:r>
            <a:r>
              <a:rPr lang="en-US" dirty="0" err="1"/>
              <a:t>organisation</a:t>
            </a:r>
            <a:br>
              <a:rPr lang="en-US" dirty="0">
                <a:cs typeface="+mn-lt"/>
              </a:rPr>
            </a:br>
            <a:r>
              <a:rPr lang="en-US" dirty="0"/>
              <a:t>-...</a:t>
            </a:r>
          </a:p>
        </p:txBody>
      </p:sp>
      <p:sp>
        <p:nvSpPr>
          <p:cNvPr id="4" name="Slide Number Placeholder 3"/>
          <p:cNvSpPr>
            <a:spLocks noGrp="1"/>
          </p:cNvSpPr>
          <p:nvPr>
            <p:ph type="sldNum" sz="quarter" idx="5"/>
          </p:nvPr>
        </p:nvSpPr>
        <p:spPr/>
        <p:txBody>
          <a:bodyPr/>
          <a:lstStyle/>
          <a:p>
            <a:fld id="{66F3AD96-DE29-4307-90C2-798F20EDC7DA}" type="slidenum">
              <a:rPr lang="en-GB" smtClean="0"/>
              <a:t>26</a:t>
            </a:fld>
            <a:endParaRPr lang="en-GB"/>
          </a:p>
        </p:txBody>
      </p:sp>
    </p:spTree>
    <p:extLst>
      <p:ext uri="{BB962C8B-B14F-4D97-AF65-F5344CB8AC3E}">
        <p14:creationId xmlns:p14="http://schemas.microsoft.com/office/powerpoint/2010/main" val="524901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MIN # slides: 8</a:t>
            </a:r>
          </a:p>
          <a:p>
            <a:r>
              <a:rPr lang="en-GB"/>
              <a:t>MAX # slides: 24</a:t>
            </a:r>
          </a:p>
        </p:txBody>
      </p:sp>
      <p:sp>
        <p:nvSpPr>
          <p:cNvPr id="4" name="Slide Number Placeholder 3"/>
          <p:cNvSpPr>
            <a:spLocks noGrp="1"/>
          </p:cNvSpPr>
          <p:nvPr>
            <p:ph type="sldNum" sz="quarter" idx="5"/>
          </p:nvPr>
        </p:nvSpPr>
        <p:spPr/>
        <p:txBody>
          <a:bodyPr/>
          <a:lstStyle/>
          <a:p>
            <a:fld id="{F66E2983-8885-3341-8D67-D12EAE12B143}" type="slidenum">
              <a:rPr lang="nl-NL" smtClean="0"/>
              <a:t>31</a:t>
            </a:fld>
            <a:endParaRPr lang="nl-NL"/>
          </a:p>
        </p:txBody>
      </p:sp>
    </p:spTree>
    <p:extLst>
      <p:ext uri="{BB962C8B-B14F-4D97-AF65-F5344CB8AC3E}">
        <p14:creationId xmlns:p14="http://schemas.microsoft.com/office/powerpoint/2010/main" val="717343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there is no cost associated with using Data Core storage. HOWEVER, these will be implemented though more information on when and exact pricing is not known. </a:t>
            </a:r>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1866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6" name="Rechthoek 15"/>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8000"/>
            <a:ext cx="12193200" cy="556200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3" name="Titel 1"/>
          <p:cNvSpPr>
            <a:spLocks noGrp="1"/>
          </p:cNvSpPr>
          <p:nvPr>
            <p:ph type="ctrTitle"/>
          </p:nvPr>
        </p:nvSpPr>
        <p:spPr>
          <a:xfrm>
            <a:off x="576001" y="1440000"/>
            <a:ext cx="11030400" cy="2386800"/>
          </a:xfrm>
        </p:spPr>
        <p:txBody>
          <a:bodyPr anchor="b" anchorCtr="0"/>
          <a:lstStyle>
            <a:lvl1pPr algn="l">
              <a:defRPr sz="6000" baseline="0">
                <a:solidFill>
                  <a:srgbClr val="1D8DB0"/>
                </a:solidFill>
              </a:defRPr>
            </a:lvl1pPr>
          </a:lstStyle>
          <a:p>
            <a:r>
              <a:rPr lang="en-US"/>
              <a:t>Click to edit Master title style</a:t>
            </a:r>
            <a:endParaRPr lang="nl-NL"/>
          </a:p>
        </p:txBody>
      </p:sp>
      <p:sp>
        <p:nvSpPr>
          <p:cNvPr id="14" name="Ondertitel 2"/>
          <p:cNvSpPr>
            <a:spLocks noGrp="1"/>
          </p:cNvSpPr>
          <p:nvPr>
            <p:ph type="subTitle" idx="1"/>
          </p:nvPr>
        </p:nvSpPr>
        <p:spPr>
          <a:xfrm>
            <a:off x="575999" y="3960000"/>
            <a:ext cx="11041200" cy="1369868"/>
          </a:xfrm>
        </p:spPr>
        <p:txBody>
          <a:bodyPr/>
          <a:lstStyle>
            <a:lvl1pPr marL="0" indent="0" algn="l">
              <a:buNone/>
              <a:defRPr sz="2400" baseline="0">
                <a:solidFill>
                  <a:srgbClr val="005E7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000" y="360000"/>
            <a:ext cx="3663797" cy="720000"/>
          </a:xfrm>
          <a:prstGeom prst="rect">
            <a:avLst/>
          </a:prstGeom>
        </p:spPr>
      </p:pic>
      <p:pic>
        <p:nvPicPr>
          <p:cNvPr id="10" name="Afbeelding 9"/>
          <p:cNvPicPr>
            <a:picLocks noChangeAspect="1"/>
          </p:cNvPicPr>
          <p:nvPr userDrawn="1"/>
        </p:nvPicPr>
        <p:blipFill rotWithShape="1">
          <a:blip r:embed="rId3">
            <a:extLst>
              <a:ext uri="{28A0092B-C50C-407E-A947-70E740481C1C}">
                <a14:useLocalDpi xmlns:a14="http://schemas.microsoft.com/office/drawing/2010/main" val="0"/>
              </a:ext>
            </a:extLst>
          </a:blip>
          <a:srcRect l="138" t="37987" r="381" b="37981"/>
          <a:stretch/>
        </p:blipFill>
        <p:spPr>
          <a:xfrm>
            <a:off x="0" y="6210000"/>
            <a:ext cx="12192000" cy="648000"/>
          </a:xfrm>
          <a:prstGeom prst="rect">
            <a:avLst/>
          </a:prstGeom>
        </p:spPr>
      </p:pic>
      <p:pic>
        <p:nvPicPr>
          <p:cNvPr id="12" name="Afbeelding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0800" y="5850000"/>
            <a:ext cx="1650337" cy="719999"/>
          </a:xfrm>
          <a:prstGeom prst="rect">
            <a:avLst/>
          </a:prstGeom>
        </p:spPr>
      </p:pic>
    </p:spTree>
    <p:extLst>
      <p:ext uri="{BB962C8B-B14F-4D97-AF65-F5344CB8AC3E}">
        <p14:creationId xmlns:p14="http://schemas.microsoft.com/office/powerpoint/2010/main" val="25531527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nl-NL"/>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Tijdelijke aanduiding voor dianummer 5"/>
          <p:cNvSpPr>
            <a:spLocks noGrp="1" noRot="1" noMove="1" noResize="1" noEditPoints="1" noAdjustHandles="1" noChangeArrowheads="1" noChangeShapeType="1"/>
          </p:cNvSpPr>
          <p:nvPr>
            <p:ph type="sldNum" sz="quarter" idx="12"/>
          </p:nvPr>
        </p:nvSpPr>
        <p:spPr>
          <a:xfrm>
            <a:off x="576000" y="6218376"/>
            <a:ext cx="648000" cy="648002"/>
          </a:xfrm>
          <a:prstGeom prst="rect">
            <a:avLst/>
          </a:prstGeom>
        </p:spPr>
        <p:txBody>
          <a:bodyPr/>
          <a:lstStyle/>
          <a:p>
            <a:fld id="{CC571AF6-6671-4538-974D-3AEC00AC0B82}" type="slidenum">
              <a:rPr lang="en-GB" smtClean="0"/>
              <a:t>‹#›</a:t>
            </a:fld>
            <a:endParaRPr lang="en-GB"/>
          </a:p>
        </p:txBody>
      </p:sp>
      <p:sp>
        <p:nvSpPr>
          <p:cNvPr id="4" name="Text Placeholder 10">
            <a:extLst>
              <a:ext uri="{FF2B5EF4-FFF2-40B4-BE49-F238E27FC236}">
                <a16:creationId xmlns:a16="http://schemas.microsoft.com/office/drawing/2014/main" id="{6267A4DD-F7BA-3E0C-86D5-2A21BF444172}"/>
              </a:ext>
            </a:extLst>
          </p:cNvPr>
          <p:cNvSpPr>
            <a:spLocks noGrp="1"/>
          </p:cNvSpPr>
          <p:nvPr>
            <p:ph type="body" sz="quarter" idx="10" hasCustomPrompt="1"/>
          </p:nvPr>
        </p:nvSpPr>
        <p:spPr>
          <a:xfrm>
            <a:off x="1224000" y="6220496"/>
            <a:ext cx="5624914" cy="637504"/>
          </a:xfrm>
        </p:spPr>
        <p:txBody>
          <a:bodyPr anchor="ctr">
            <a:normAutofit/>
          </a:bodyPr>
          <a:lstStyle>
            <a:lvl1pPr marL="0" indent="0">
              <a:buNone/>
              <a:defRPr sz="1000">
                <a:solidFill>
                  <a:schemeClr val="bg1"/>
                </a:solidFill>
              </a:defRPr>
            </a:lvl1pPr>
          </a:lstStyle>
          <a:p>
            <a:pPr lvl="0"/>
            <a:r>
              <a:rPr lang="en-US"/>
              <a:t>Click to add references</a:t>
            </a:r>
            <a:endParaRPr lang="nl-BE"/>
          </a:p>
        </p:txBody>
      </p:sp>
    </p:spTree>
    <p:extLst>
      <p:ext uri="{BB962C8B-B14F-4D97-AF65-F5344CB8AC3E}">
        <p14:creationId xmlns:p14="http://schemas.microsoft.com/office/powerpoint/2010/main" val="3185207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sp>
        <p:nvSpPr>
          <p:cNvPr id="7" name="Rechthoek 6"/>
          <p:cNvSpPr/>
          <p:nvPr/>
        </p:nvSpPr>
        <p:spPr>
          <a:xfrm>
            <a:off x="0" y="1"/>
            <a:ext cx="12193200" cy="622718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hasCustomPrompt="1"/>
          </p:nvPr>
        </p:nvSpPr>
        <p:spPr>
          <a:xfrm>
            <a:off x="576000" y="2613144"/>
            <a:ext cx="11041200" cy="1325563"/>
          </a:xfrm>
        </p:spPr>
        <p:txBody>
          <a:bodyPr>
            <a:noAutofit/>
          </a:bodyPr>
          <a:lstStyle>
            <a:lvl1pPr algn="ctr">
              <a:defRPr sz="8000" baseline="0">
                <a:solidFill>
                  <a:srgbClr val="1D8DB0"/>
                </a:solidFill>
              </a:defRPr>
            </a:lvl1pPr>
          </a:lstStyle>
          <a:p>
            <a:r>
              <a:rPr lang="nl-NL"/>
              <a:t>THANK YOU</a:t>
            </a:r>
          </a:p>
        </p:txBody>
      </p:sp>
      <p:sp>
        <p:nvSpPr>
          <p:cNvPr id="6" name="Tijdelijke aanduiding voor dianummer 5"/>
          <p:cNvSpPr>
            <a:spLocks noGrp="1"/>
          </p:cNvSpPr>
          <p:nvPr>
            <p:ph type="sldNum" sz="quarter" idx="12"/>
          </p:nvPr>
        </p:nvSpPr>
        <p:spPr>
          <a:xfrm>
            <a:off x="576000" y="6218376"/>
            <a:ext cx="648000" cy="648002"/>
          </a:xfrm>
          <a:prstGeom prst="rect">
            <a:avLst/>
          </a:prstGeom>
        </p:spPr>
        <p:txBody>
          <a:bodyPr/>
          <a:lstStyle/>
          <a:p>
            <a:fld id="{85114D95-D6A6-084A-9D9C-617B45E258AD}" type="slidenum">
              <a:rPr lang="nl-NL" smtClean="0"/>
              <a:t>‹#›</a:t>
            </a:fld>
            <a:endParaRPr lang="nl-NL"/>
          </a:p>
        </p:txBody>
      </p:sp>
    </p:spTree>
    <p:extLst>
      <p:ext uri="{BB962C8B-B14F-4D97-AF65-F5344CB8AC3E}">
        <p14:creationId xmlns:p14="http://schemas.microsoft.com/office/powerpoint/2010/main" val="81854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ee objecten">
    <p:spTree>
      <p:nvGrpSpPr>
        <p:cNvPr id="1" name=""/>
        <p:cNvGrpSpPr/>
        <p:nvPr/>
      </p:nvGrpSpPr>
      <p:grpSpPr>
        <a:xfrm>
          <a:off x="0" y="0"/>
          <a:ext cx="0" cy="0"/>
          <a:chOff x="0" y="0"/>
          <a:chExt cx="0" cy="0"/>
        </a:xfrm>
      </p:grpSpPr>
      <p:sp>
        <p:nvSpPr>
          <p:cNvPr id="6" name="Rechthoek 5"/>
          <p:cNvSpPr/>
          <p:nvPr/>
        </p:nvSpPr>
        <p:spPr>
          <a:xfrm>
            <a:off x="0" y="1"/>
            <a:ext cx="12193200" cy="6227180"/>
          </a:xfrm>
          <a:prstGeom prst="rect">
            <a:avLst/>
          </a:prstGeom>
          <a:solidFill>
            <a:srgbClr val="BAC1B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2" name="Titel 1"/>
          <p:cNvSpPr>
            <a:spLocks noGrp="1"/>
          </p:cNvSpPr>
          <p:nvPr>
            <p:ph type="ctrTitle"/>
          </p:nvPr>
        </p:nvSpPr>
        <p:spPr>
          <a:xfrm>
            <a:off x="575999" y="1068972"/>
            <a:ext cx="11041200" cy="2386800"/>
          </a:xfrm>
        </p:spPr>
        <p:txBody>
          <a:bodyPr anchor="b"/>
          <a:lstStyle>
            <a:lvl1pPr algn="l">
              <a:defRPr sz="6000" baseline="0">
                <a:solidFill>
                  <a:srgbClr val="1D8DB0"/>
                </a:solidFill>
              </a:defRPr>
            </a:lvl1pPr>
          </a:lstStyle>
          <a:p>
            <a:r>
              <a:rPr lang="en-US"/>
              <a:t>Click to edit Master title style</a:t>
            </a:r>
            <a:endParaRPr lang="nl-NL"/>
          </a:p>
        </p:txBody>
      </p:sp>
      <p:sp>
        <p:nvSpPr>
          <p:cNvPr id="23" name="Ondertitel 2"/>
          <p:cNvSpPr>
            <a:spLocks noGrp="1"/>
          </p:cNvSpPr>
          <p:nvPr>
            <p:ph type="subTitle" idx="1"/>
          </p:nvPr>
        </p:nvSpPr>
        <p:spPr>
          <a:xfrm>
            <a:off x="576001" y="3572521"/>
            <a:ext cx="11041200" cy="988941"/>
          </a:xfrm>
        </p:spPr>
        <p:txBody>
          <a:bodyPr/>
          <a:lstStyle>
            <a:lvl1pPr marL="0" indent="0" algn="l">
              <a:buNone/>
              <a:defRPr sz="2400" baseline="0">
                <a:solidFill>
                  <a:srgbClr val="005E7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ianummer 3"/>
          <p:cNvSpPr>
            <a:spLocks noGrp="1"/>
          </p:cNvSpPr>
          <p:nvPr>
            <p:ph type="sldNum" sz="quarter" idx="12"/>
          </p:nvPr>
        </p:nvSpPr>
        <p:spPr>
          <a:xfrm>
            <a:off x="576000" y="6218376"/>
            <a:ext cx="648000" cy="648002"/>
          </a:xfrm>
          <a:prstGeom prst="rect">
            <a:avLst/>
          </a:prstGeom>
        </p:spPr>
        <p:txBody>
          <a:bodyPr/>
          <a:lstStyle/>
          <a:p>
            <a:fld id="{85114D95-D6A6-084A-9D9C-617B45E258AD}" type="slidenum">
              <a:rPr lang="nl-NL" smtClean="0"/>
              <a:pPr/>
              <a:t>‹#›</a:t>
            </a:fld>
            <a:endParaRPr lang="nl-NL"/>
          </a:p>
        </p:txBody>
      </p:sp>
    </p:spTree>
    <p:extLst>
      <p:ext uri="{BB962C8B-B14F-4D97-AF65-F5344CB8AC3E}">
        <p14:creationId xmlns:p14="http://schemas.microsoft.com/office/powerpoint/2010/main" val="253675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endParaRPr lang="en-GB"/>
          </a:p>
        </p:txBody>
      </p:sp>
      <p:sp>
        <p:nvSpPr>
          <p:cNvPr id="6" name="Slide Number Placeholder 5"/>
          <p:cNvSpPr>
            <a:spLocks noGrp="1" noRot="1" noMove="1" noResize="1" noEditPoints="1" noAdjustHandles="1" noChangeArrowheads="1" noChangeShapeType="1"/>
          </p:cNvSpPr>
          <p:nvPr>
            <p:ph type="sldNum" sz="quarter" idx="12"/>
          </p:nvPr>
        </p:nvSpPr>
        <p:spPr>
          <a:xfrm>
            <a:off x="576000" y="6218376"/>
            <a:ext cx="648000" cy="648002"/>
          </a:xfrm>
          <a:prstGeom prst="rect">
            <a:avLst/>
          </a:prstGeom>
        </p:spPr>
        <p:txBody>
          <a:bodyPr/>
          <a:lstStyle/>
          <a:p>
            <a:fld id="{325E1C3C-2FAA-47B3-A014-CAB7A4743402}" type="slidenum">
              <a:rPr lang="nl-BE" smtClean="0"/>
              <a:t>‹#›</a:t>
            </a:fld>
            <a:endParaRPr lang="nl-BE"/>
          </a:p>
        </p:txBody>
      </p:sp>
    </p:spTree>
    <p:extLst>
      <p:ext uri="{BB962C8B-B14F-4D97-AF65-F5344CB8AC3E}">
        <p14:creationId xmlns:p14="http://schemas.microsoft.com/office/powerpoint/2010/main" val="1513481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EED3-F90B-41BB-B53D-27A916E5E928}"/>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522922C9-9B20-DA88-3981-F6D8684CE75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4563EFBE-6EC3-9AAA-CB71-8F6093E78107}"/>
              </a:ext>
            </a:extLst>
          </p:cNvPr>
          <p:cNvSpPr>
            <a:spLocks noGrp="1"/>
          </p:cNvSpPr>
          <p:nvPr>
            <p:ph type="sldNum" sz="quarter" idx="10"/>
          </p:nvPr>
        </p:nvSpPr>
        <p:spPr/>
        <p:txBody>
          <a:bodyPr/>
          <a:lstStyle/>
          <a:p>
            <a:fld id="{CC571AF6-6671-4538-974D-3AEC00AC0B82}"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2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5114D95-D6A6-084A-9D9C-617B45E258AD}" type="slidenum">
              <a:rPr lang="nl-NL" smtClean="0"/>
              <a:t>‹#›</a:t>
            </a:fld>
            <a:endParaRPr lang="nl-NL"/>
          </a:p>
        </p:txBody>
      </p:sp>
    </p:spTree>
    <p:extLst>
      <p:ext uri="{BB962C8B-B14F-4D97-AF65-F5344CB8AC3E}">
        <p14:creationId xmlns:p14="http://schemas.microsoft.com/office/powerpoint/2010/main" val="2027329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AE88-3FEC-89FE-0362-66D96E3CF9B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076142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FC3B-9EC7-1340-524C-DF707D0FF5C0}"/>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A88D63CE-2897-9F64-A5C3-02628C046423}"/>
              </a:ext>
            </a:extLst>
          </p:cNvPr>
          <p:cNvSpPr>
            <a:spLocks noGrp="1"/>
          </p:cNvSpPr>
          <p:nvPr>
            <p:ph sz="quarter" idx="10"/>
          </p:nvPr>
        </p:nvSpPr>
        <p:spPr>
          <a:xfrm>
            <a:off x="838200" y="1792288"/>
            <a:ext cx="10515600" cy="4700587"/>
          </a:xfrm>
          <a:prstGeom prst="rect">
            <a:avLst/>
          </a:prstGeom>
        </p:spPr>
        <p:txBody>
          <a:bodyPr/>
          <a:lstStyle>
            <a:lvl1pPr>
              <a:buClr>
                <a:srgbClr val="D1E4F7"/>
              </a:buClr>
              <a:defRPr sz="2800">
                <a:solidFill>
                  <a:srgbClr val="FFFFFF"/>
                </a:solidFill>
              </a:defRPr>
            </a:lvl1pPr>
            <a:lvl2pPr>
              <a:buClr>
                <a:srgbClr val="D1E4F7"/>
              </a:buClr>
              <a:defRPr sz="2800">
                <a:solidFill>
                  <a:srgbClr val="FFFFFF"/>
                </a:solidFill>
              </a:defRPr>
            </a:lvl2pPr>
            <a:lvl3pPr>
              <a:buClr>
                <a:srgbClr val="D1E4F7"/>
              </a:buClr>
              <a:defRPr sz="2800">
                <a:solidFill>
                  <a:srgbClr val="FFFFFF"/>
                </a:solidFill>
              </a:defRPr>
            </a:lvl3pPr>
            <a:lvl4pPr>
              <a:buClr>
                <a:srgbClr val="D1E4F7"/>
              </a:buClr>
              <a:defRPr sz="2400">
                <a:solidFill>
                  <a:srgbClr val="FFFFFF"/>
                </a:solidFill>
              </a:defRPr>
            </a:lvl4pPr>
            <a:lvl5pPr>
              <a:buClr>
                <a:srgbClr val="D1E4F7"/>
              </a:buClr>
              <a:defRPr sz="2400">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58952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picture righ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D526F1-EF5F-C379-28A4-1F3EFEFEE216}"/>
              </a:ext>
            </a:extLst>
          </p:cNvPr>
          <p:cNvSpPr>
            <a:spLocks noGrp="1"/>
          </p:cNvSpPr>
          <p:nvPr>
            <p:ph type="title"/>
          </p:nvPr>
        </p:nvSpPr>
        <p:spPr>
          <a:xfrm>
            <a:off x="838200" y="365125"/>
            <a:ext cx="4942668" cy="1325563"/>
          </a:xfrm>
        </p:spPr>
        <p:txBody>
          <a:bodyPr/>
          <a:lstStyle>
            <a:lvl1pPr>
              <a:defRPr>
                <a:solidFill>
                  <a:schemeClr val="bg1"/>
                </a:solidFill>
              </a:defRPr>
            </a:lvl1pPr>
          </a:lstStyle>
          <a:p>
            <a:r>
              <a:rPr lang="en-US"/>
              <a:t>Click to edit Master title style</a:t>
            </a:r>
            <a:endParaRPr lang="en-BE"/>
          </a:p>
        </p:txBody>
      </p:sp>
      <p:sp>
        <p:nvSpPr>
          <p:cNvPr id="5" name="Content Placeholder 2">
            <a:extLst>
              <a:ext uri="{FF2B5EF4-FFF2-40B4-BE49-F238E27FC236}">
                <a16:creationId xmlns:a16="http://schemas.microsoft.com/office/drawing/2014/main" id="{9A575569-F224-9A43-172D-0BE738F351D8}"/>
              </a:ext>
            </a:extLst>
          </p:cNvPr>
          <p:cNvSpPr>
            <a:spLocks noGrp="1"/>
          </p:cNvSpPr>
          <p:nvPr>
            <p:ph sz="quarter" idx="10"/>
          </p:nvPr>
        </p:nvSpPr>
        <p:spPr>
          <a:xfrm>
            <a:off x="838200"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Picture Placeholder 4">
            <a:extLst>
              <a:ext uri="{FF2B5EF4-FFF2-40B4-BE49-F238E27FC236}">
                <a16:creationId xmlns:a16="http://schemas.microsoft.com/office/drawing/2014/main" id="{F923B97E-728A-EA5A-6DBA-70537DEB04ED}"/>
              </a:ext>
            </a:extLst>
          </p:cNvPr>
          <p:cNvSpPr>
            <a:spLocks noGrp="1"/>
          </p:cNvSpPr>
          <p:nvPr>
            <p:ph type="pic" sz="quarter" idx="11"/>
          </p:nvPr>
        </p:nvSpPr>
        <p:spPr>
          <a:xfrm>
            <a:off x="6411134" y="0"/>
            <a:ext cx="5780865" cy="6858000"/>
          </a:xfrm>
          <a:prstGeom prst="rect">
            <a:avLst/>
          </a:prstGeom>
        </p:spPr>
        <p:txBody>
          <a:bodyPr/>
          <a:lstStyle>
            <a:lvl1pPr>
              <a:defRPr>
                <a:solidFill>
                  <a:schemeClr val="bg1"/>
                </a:solidFill>
              </a:defRPr>
            </a:lvl1pPr>
          </a:lstStyle>
          <a:p>
            <a:endParaRPr lang="en-BE"/>
          </a:p>
        </p:txBody>
      </p:sp>
    </p:spTree>
    <p:extLst>
      <p:ext uri="{BB962C8B-B14F-4D97-AF65-F5344CB8AC3E}">
        <p14:creationId xmlns:p14="http://schemas.microsoft.com/office/powerpoint/2010/main" val="420571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picture lef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3648548-5641-5B2A-5101-3E3091B69AB5}"/>
              </a:ext>
            </a:extLst>
          </p:cNvPr>
          <p:cNvSpPr>
            <a:spLocks noGrp="1"/>
          </p:cNvSpPr>
          <p:nvPr>
            <p:ph type="pic" sz="quarter" idx="11"/>
          </p:nvPr>
        </p:nvSpPr>
        <p:spPr>
          <a:xfrm>
            <a:off x="-5164" y="0"/>
            <a:ext cx="5780865" cy="6858000"/>
          </a:xfrm>
          <a:prstGeom prst="rect">
            <a:avLst/>
          </a:prstGeom>
        </p:spPr>
        <p:txBody>
          <a:bodyPr/>
          <a:lstStyle>
            <a:lvl1pPr>
              <a:defRPr>
                <a:solidFill>
                  <a:schemeClr val="bg1"/>
                </a:solidFill>
              </a:defRPr>
            </a:lvl1pPr>
          </a:lstStyle>
          <a:p>
            <a:endParaRPr lang="en-BE"/>
          </a:p>
        </p:txBody>
      </p:sp>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977378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spli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2" name="Rectangle 1">
            <a:extLst>
              <a:ext uri="{FF2B5EF4-FFF2-40B4-BE49-F238E27FC236}">
                <a16:creationId xmlns:a16="http://schemas.microsoft.com/office/drawing/2014/main" id="{DE7A5706-976A-D89B-951F-6A97BA5FAEF2}"/>
              </a:ext>
            </a:extLst>
          </p:cNvPr>
          <p:cNvSpPr/>
          <p:nvPr userDrawn="1"/>
        </p:nvSpPr>
        <p:spPr>
          <a:xfrm>
            <a:off x="0" y="0"/>
            <a:ext cx="5775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 name="Graphic 2">
            <a:extLst>
              <a:ext uri="{FF2B5EF4-FFF2-40B4-BE49-F238E27FC236}">
                <a16:creationId xmlns:a16="http://schemas.microsoft.com/office/drawing/2014/main" id="{5673E151-F661-602B-4DB9-9213B6E4C2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1932277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1261200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2272280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1060494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5164" y="0"/>
            <a:ext cx="5780865" cy="68580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340377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7955931" y="3763779"/>
            <a:ext cx="1616455" cy="1616455"/>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FC85976D-EE45-AE2D-287E-345B5F157F96}"/>
              </a:ext>
            </a:extLst>
          </p:cNvPr>
          <p:cNvSpPr/>
          <p:nvPr/>
        </p:nvSpPr>
        <p:spPr>
          <a:xfrm>
            <a:off x="7621148" y="2286742"/>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5CB21A53-6FB1-525B-E4F0-F59E8EDA975E}"/>
              </a:ext>
            </a:extLst>
          </p:cNvPr>
          <p:cNvSpPr/>
          <p:nvPr/>
        </p:nvSpPr>
        <p:spPr>
          <a:xfrm>
            <a:off x="7621148" y="0"/>
            <a:ext cx="2286025" cy="2286025"/>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7835CE72-ED67-FFB3-4AF2-B219E802D267}"/>
              </a:ext>
            </a:extLst>
          </p:cNvPr>
          <p:cNvSpPr/>
          <p:nvPr/>
        </p:nvSpPr>
        <p:spPr>
          <a:xfrm>
            <a:off x="9907174" y="4571739"/>
            <a:ext cx="2286025" cy="1143013"/>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B0FB8D35-F14F-4A1B-A129-BCD790B43475}"/>
              </a:ext>
            </a:extLst>
          </p:cNvPr>
          <p:cNvSpPr/>
          <p:nvPr/>
        </p:nvSpPr>
        <p:spPr>
          <a:xfrm>
            <a:off x="9907174" y="1142451"/>
            <a:ext cx="2286025" cy="1143013"/>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DC9D5A06-4B5F-5150-061F-8455585C64F0}"/>
              </a:ext>
            </a:extLst>
          </p:cNvPr>
          <p:cNvSpPr/>
          <p:nvPr/>
        </p:nvSpPr>
        <p:spPr>
          <a:xfrm>
            <a:off x="9907168" y="2285706"/>
            <a:ext cx="2286036" cy="2286039"/>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5" y="281884"/>
            <a:ext cx="914400" cy="485775"/>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291850773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57757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1273024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1004933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16039997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1722290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5164" y="0"/>
            <a:ext cx="5780865" cy="68580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23346577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57757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3690235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Layout" Target="../slideLayouts/slideLayout10.xml"/><Relationship Id="rId7" Type="http://schemas.openxmlformats.org/officeDocument/2006/relationships/image" Target="../media/image4.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7.sv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21.xml"/><Relationship Id="rId7" Type="http://schemas.openxmlformats.org/officeDocument/2006/relationships/image" Target="../media/image6.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Afbeelding 8"/>
          <p:cNvPicPr>
            <a:picLocks noChangeAspect="1"/>
          </p:cNvPicPr>
          <p:nvPr userDrawn="1"/>
        </p:nvPicPr>
        <p:blipFill rotWithShape="1">
          <a:blip r:embed="rId9">
            <a:extLst>
              <a:ext uri="{28A0092B-C50C-407E-A947-70E740481C1C}">
                <a14:useLocalDpi xmlns:a14="http://schemas.microsoft.com/office/drawing/2010/main" val="0"/>
              </a:ext>
            </a:extLst>
          </a:blip>
          <a:srcRect l="138" t="37987" r="381" b="37981"/>
          <a:stretch/>
        </p:blipFill>
        <p:spPr>
          <a:xfrm>
            <a:off x="0" y="6210000"/>
            <a:ext cx="12192000" cy="648000"/>
          </a:xfrm>
          <a:prstGeom prst="rect">
            <a:avLst/>
          </a:prstGeom>
        </p:spPr>
      </p:pic>
      <p:sp>
        <p:nvSpPr>
          <p:cNvPr id="2" name="Tijdelijke aanduiding voor titel 1"/>
          <p:cNvSpPr>
            <a:spLocks noGrp="1"/>
          </p:cNvSpPr>
          <p:nvPr>
            <p:ph type="title"/>
          </p:nvPr>
        </p:nvSpPr>
        <p:spPr>
          <a:xfrm>
            <a:off x="576000" y="576000"/>
            <a:ext cx="11041200" cy="1325563"/>
          </a:xfrm>
          <a:prstGeom prst="rect">
            <a:avLst/>
          </a:prstGeom>
        </p:spPr>
        <p:txBody>
          <a:bodyPr vert="horz" lIns="0" tIns="0" rIns="0" bIns="0" rtlCol="0" anchor="t" anchorCtr="0">
            <a:normAutofit/>
          </a:bodyPr>
          <a:lstStyle/>
          <a:p>
            <a:r>
              <a:rPr lang="nl-NL"/>
              <a:t>Titelstijl van model bewerken</a:t>
            </a:r>
          </a:p>
        </p:txBody>
      </p:sp>
      <p:sp>
        <p:nvSpPr>
          <p:cNvPr id="3" name="Tijdelijke aanduiding voor tekst 2"/>
          <p:cNvSpPr>
            <a:spLocks noGrp="1"/>
          </p:cNvSpPr>
          <p:nvPr>
            <p:ph type="body" idx="1"/>
          </p:nvPr>
        </p:nvSpPr>
        <p:spPr>
          <a:xfrm>
            <a:off x="576000" y="2045563"/>
            <a:ext cx="11041200" cy="3938548"/>
          </a:xfrm>
          <a:prstGeom prst="rect">
            <a:avLst/>
          </a:prstGeom>
        </p:spPr>
        <p:txBody>
          <a:bodyPr vert="horz" lIns="0" tIns="0" rIns="0" bIns="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dianummer 5"/>
          <p:cNvSpPr>
            <a:spLocks noGrp="1"/>
          </p:cNvSpPr>
          <p:nvPr>
            <p:ph type="sldNum" sz="quarter" idx="4"/>
          </p:nvPr>
        </p:nvSpPr>
        <p:spPr>
          <a:xfrm>
            <a:off x="576000" y="6218376"/>
            <a:ext cx="648000" cy="648002"/>
          </a:xfrm>
          <a:prstGeom prst="rect">
            <a:avLst/>
          </a:prstGeom>
        </p:spPr>
        <p:txBody>
          <a:bodyPr vert="horz" lIns="0" tIns="0" rIns="0" bIns="0" rtlCol="0" anchor="ctr"/>
          <a:lstStyle>
            <a:lvl1pPr algn="l">
              <a:defRPr sz="1200" baseline="0">
                <a:solidFill>
                  <a:schemeClr val="bg1"/>
                </a:solidFill>
                <a:latin typeface="Arial" charset="0"/>
              </a:defRPr>
            </a:lvl1pPr>
          </a:lstStyle>
          <a:p>
            <a:fld id="{CC571AF6-6671-4538-974D-3AEC00AC0B82}" type="slidenum">
              <a:rPr lang="en-GB" smtClean="0"/>
              <a:t>‹#›</a:t>
            </a:fld>
            <a:endParaRPr lang="en-GB"/>
          </a:p>
        </p:txBody>
      </p:sp>
      <p:pic>
        <p:nvPicPr>
          <p:cNvPr id="11" name="Afbeelding 10"/>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180982" y="6358188"/>
            <a:ext cx="1831898" cy="360000"/>
          </a:xfrm>
          <a:prstGeom prst="rect">
            <a:avLst/>
          </a:prstGeom>
        </p:spPr>
      </p:pic>
      <p:sp>
        <p:nvSpPr>
          <p:cNvPr id="10" name="Tijdelijke aanduiding voor voettekst 4"/>
          <p:cNvSpPr txBox="1">
            <a:spLocks/>
          </p:cNvSpPr>
          <p:nvPr userDrawn="1"/>
        </p:nvSpPr>
        <p:spPr>
          <a:xfrm>
            <a:off x="6748041" y="6209998"/>
            <a:ext cx="3411159" cy="648002"/>
          </a:xfrm>
          <a:prstGeom prst="rect">
            <a:avLst/>
          </a:prstGeom>
        </p:spPr>
        <p:txBody>
          <a:bodyPr vert="horz" lIns="0" tIns="0" rIns="180000" bIns="0" rtlCol="0" anchor="ctr"/>
          <a:lstStyle>
            <a:defPPr>
              <a:defRPr lang="nl-NL"/>
            </a:defPPr>
            <a:lvl1pPr marL="0" algn="r" defTabSz="914400" rtl="0" eaLnBrk="1" latinLnBrk="0" hangingPunct="1">
              <a:defRPr sz="1200" kern="1200" baseline="0">
                <a:solidFill>
                  <a:schemeClr val="bg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sz="1000" b="1" i="0" baseline="0"/>
          </a:p>
          <a:p>
            <a:r>
              <a:rPr lang="nl-NL" sz="1000" b="1" i="0" baseline="0"/>
              <a:t>2Bergen</a:t>
            </a:r>
            <a:r>
              <a:rPr lang="nl-NL" sz="1000" b="0" i="0" baseline="0"/>
              <a:t>    </a:t>
            </a:r>
            <a:br>
              <a:rPr lang="nl-NL" sz="1000" b="1" baseline="0"/>
            </a:br>
            <a:endParaRPr lang="nl-NL" sz="1000" baseline="0"/>
          </a:p>
        </p:txBody>
      </p:sp>
    </p:spTree>
    <p:extLst>
      <p:ext uri="{BB962C8B-B14F-4D97-AF65-F5344CB8AC3E}">
        <p14:creationId xmlns:p14="http://schemas.microsoft.com/office/powerpoint/2010/main" val="6031685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67" r:id="rId6"/>
    <p:sldLayoutId id="2147483681" r:id="rId7"/>
  </p:sldLayoutIdLst>
  <p:hf hdr="0" ftr="0" dt="0"/>
  <p:txStyles>
    <p:title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4" name="Graphic 3">
            <a:extLst>
              <a:ext uri="{FF2B5EF4-FFF2-40B4-BE49-F238E27FC236}">
                <a16:creationId xmlns:a16="http://schemas.microsoft.com/office/drawing/2014/main" id="{FDD854D1-0535-126B-6BA3-B3C811DEA0D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264598081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109657043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80390448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18/10/relationships/comments" Target="../comments/modernComment_E76_F43B0647.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www.kuleuven.be/rdm/en/rdr/file-formats" TargetMode="External"/><Relationship Id="rId4" Type="http://schemas.openxmlformats.org/officeDocument/2006/relationships/hyperlink" Target="https://www.kuleuven.be/rdm/en/rdr/license-selection" TargetMode="External"/></Relationships>
</file>

<file path=ppt/slides/_rels/slide10.xml.rels><?xml version="1.0" encoding="UTF-8" standalone="yes"?>
<Relationships xmlns="http://schemas.openxmlformats.org/package/2006/relationships"><Relationship Id="rId2" Type="http://schemas.microsoft.com/office/2018/10/relationships/comments" Target="../comments/modernComment_F01_69D9233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www.scisure.com/" TargetMode="External"/><Relationship Id="rId7" Type="http://schemas.openxmlformats.org/officeDocument/2006/relationships/image" Target="../media/image36.gi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5.jpeg"/><Relationship Id="rId11" Type="http://schemas.openxmlformats.org/officeDocument/2006/relationships/image" Target="../media/image40.jpeg"/><Relationship Id="rId5" Type="http://schemas.openxmlformats.org/officeDocument/2006/relationships/image" Target="../media/image34.jpe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25.png"/><Relationship Id="rId18" Type="http://schemas.openxmlformats.org/officeDocument/2006/relationships/image" Target="../media/image30.svg"/><Relationship Id="rId3" Type="http://schemas.microsoft.com/office/2018/10/relationships/comments" Target="../comments/modernComment_ECB_55532F4E.xml"/><Relationship Id="rId7" Type="http://schemas.openxmlformats.org/officeDocument/2006/relationships/image" Target="../media/image44.png"/><Relationship Id="rId12" Type="http://schemas.openxmlformats.org/officeDocument/2006/relationships/image" Target="../media/image24.svg"/><Relationship Id="rId17" Type="http://schemas.openxmlformats.org/officeDocument/2006/relationships/image" Target="../media/image29.png"/><Relationship Id="rId2" Type="http://schemas.openxmlformats.org/officeDocument/2006/relationships/notesSlide" Target="../notesSlides/notesSlide8.xml"/><Relationship Id="rId16" Type="http://schemas.openxmlformats.org/officeDocument/2006/relationships/image" Target="../media/image28.svg"/><Relationship Id="rId20" Type="http://schemas.openxmlformats.org/officeDocument/2006/relationships/image" Target="../media/image32.svg"/><Relationship Id="rId1" Type="http://schemas.openxmlformats.org/officeDocument/2006/relationships/slideLayout" Target="../slideLayouts/slideLayout7.xml"/><Relationship Id="rId6" Type="http://schemas.openxmlformats.org/officeDocument/2006/relationships/hyperlink" Target="https://github.com/islambayoumy/Git-Commit-Standards-Handbook" TargetMode="External"/><Relationship Id="rId11" Type="http://schemas.openxmlformats.org/officeDocument/2006/relationships/image" Target="../media/image23.png"/><Relationship Id="rId5" Type="http://schemas.openxmlformats.org/officeDocument/2006/relationships/hyperlink" Target="https://book.the-turing-way.org/project-design/info-management/code-styling/code-styling-readability" TargetMode="External"/><Relationship Id="rId15" Type="http://schemas.openxmlformats.org/officeDocument/2006/relationships/image" Target="../media/image27.png"/><Relationship Id="rId10" Type="http://schemas.openxmlformats.org/officeDocument/2006/relationships/image" Target="../media/image47.png"/><Relationship Id="rId19" Type="http://schemas.openxmlformats.org/officeDocument/2006/relationships/image" Target="../media/image31.png"/><Relationship Id="rId4" Type="http://schemas.openxmlformats.org/officeDocument/2006/relationships/hyperlink" Target="https://stackoverflow.blog/2021/12/23/best-practices-for-writing-code-comments/" TargetMode="External"/><Relationship Id="rId9" Type="http://schemas.openxmlformats.org/officeDocument/2006/relationships/image" Target="../media/image46.png"/><Relationship Id="rId1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hyperlink" Target="https://stackoverflow.blog/2021/12/23/best-practices-for-writing-code-comments/" TargetMode="External"/><Relationship Id="rId7" Type="http://schemas.openxmlformats.org/officeDocument/2006/relationships/image" Target="../media/image24.svg"/><Relationship Id="rId12" Type="http://schemas.openxmlformats.org/officeDocument/2006/relationships/image" Target="../media/image29.png"/><Relationship Id="rId17" Type="http://schemas.openxmlformats.org/officeDocument/2006/relationships/image" Target="../media/image49.svg"/><Relationship Id="rId2" Type="http://schemas.openxmlformats.org/officeDocument/2006/relationships/notesSlide" Target="../notesSlides/notesSlide9.xml"/><Relationship Id="rId16"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hyperlink" Target="https://github.com/islambayoumy/Git-Commit-Standards-Handbook" TargetMode="External"/><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hyperlink" Target="https://book.the-turing-way.org/project-design/info-management/code-styling/code-styling-readability" TargetMode="External"/><Relationship Id="rId9" Type="http://schemas.openxmlformats.org/officeDocument/2006/relationships/image" Target="../media/image26.svg"/><Relationship Id="rId1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7BBF5ACE_12F9C7B5.xm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4.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53.png"/><Relationship Id="rId7" Type="http://schemas.openxmlformats.org/officeDocument/2006/relationships/hyperlink" Target="https://github.com/islambayoumy/Git-Commit-Standards-Handbook" TargetMode="External"/><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52.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hyperlink" Target="https://book.the-turing-way.org/project-design/info-management/code-styling/code-styling-readability" TargetMode="External"/><Relationship Id="rId11" Type="http://schemas.openxmlformats.org/officeDocument/2006/relationships/image" Target="../media/image26.svg"/><Relationship Id="rId5" Type="http://schemas.openxmlformats.org/officeDocument/2006/relationships/hyperlink" Target="https://stackoverflow.blog/2021/12/23/best-practices-for-writing-code-comments/" TargetMode="External"/><Relationship Id="rId15" Type="http://schemas.openxmlformats.org/officeDocument/2006/relationships/image" Target="../media/image30.svg"/><Relationship Id="rId10"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24.svg"/><Relationship Id="rId1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microsoft.com/office/2007/relationships/hdphoto" Target="../media/hdphoto2.wdp"/><Relationship Id="rId9" Type="http://schemas.openxmlformats.org/officeDocument/2006/relationships/image" Target="../media/image60.png"/><Relationship Id="rId14" Type="http://schemas.openxmlformats.org/officeDocument/2006/relationships/image" Target="../media/image6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15.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7BBF5AE7_C605228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hyperlink" Target="https://docs.datacore.vib.be/data-storage/" TargetMode="External"/><Relationship Id="rId7" Type="http://schemas.openxmlformats.org/officeDocument/2006/relationships/image" Target="../media/image76.svg"/><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hyperlink" Target="mailto:datacore.help@vib.be" TargetMode="External"/><Relationship Id="rId9" Type="http://schemas.openxmlformats.org/officeDocument/2006/relationships/image" Target="../media/image78.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2F180-7C4F-B661-B121-3E61CFF0A3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756D36-4101-CB47-91C6-07F50AAAE0B0}"/>
              </a:ext>
            </a:extLst>
          </p:cNvPr>
          <p:cNvSpPr>
            <a:spLocks noGrp="1"/>
          </p:cNvSpPr>
          <p:nvPr>
            <p:ph type="ctrTitle"/>
          </p:nvPr>
        </p:nvSpPr>
        <p:spPr>
          <a:xfrm>
            <a:off x="575999" y="1390305"/>
            <a:ext cx="11030400" cy="2150488"/>
          </a:xfrm>
        </p:spPr>
        <p:txBody>
          <a:bodyPr>
            <a:normAutofit/>
          </a:bodyPr>
          <a:lstStyle/>
          <a:p>
            <a:r>
              <a:rPr lang="en-US" sz="4000" b="1" dirty="0"/>
              <a:t>Introduction to RDM in Life Sciences</a:t>
            </a:r>
            <a:br>
              <a:rPr lang="en-US" sz="4000" b="1" dirty="0"/>
            </a:br>
            <a:r>
              <a:rPr lang="en-US" sz="4000" b="1" dirty="0"/>
              <a:t>Session 4: Plan for the micro-level</a:t>
            </a:r>
            <a:endParaRPr lang="en-GB" sz="4000" b="1" dirty="0"/>
          </a:p>
        </p:txBody>
      </p:sp>
      <p:sp>
        <p:nvSpPr>
          <p:cNvPr id="5" name="Subtitle 4">
            <a:extLst>
              <a:ext uri="{FF2B5EF4-FFF2-40B4-BE49-F238E27FC236}">
                <a16:creationId xmlns:a16="http://schemas.microsoft.com/office/drawing/2014/main" id="{7A54C4D0-4C6B-7A02-4B8C-C3C178EFBE76}"/>
              </a:ext>
            </a:extLst>
          </p:cNvPr>
          <p:cNvSpPr>
            <a:spLocks noGrp="1"/>
          </p:cNvSpPr>
          <p:nvPr>
            <p:ph type="subTitle" idx="1"/>
          </p:nvPr>
        </p:nvSpPr>
        <p:spPr>
          <a:xfrm>
            <a:off x="575999" y="3960000"/>
            <a:ext cx="11041200" cy="2193986"/>
          </a:xfrm>
        </p:spPr>
        <p:txBody>
          <a:bodyPr/>
          <a:lstStyle/>
          <a:p>
            <a:r>
              <a:rPr lang="en-US" dirty="0"/>
              <a:t>Audience: ECR from VIB @ </a:t>
            </a:r>
            <a:r>
              <a:rPr lang="en-US" dirty="0" err="1"/>
              <a:t>KULeuven</a:t>
            </a:r>
            <a:endParaRPr lang="en-US" dirty="0"/>
          </a:p>
          <a:p>
            <a:r>
              <a:rPr lang="en-US" dirty="0"/>
              <a:t>November 25</a:t>
            </a:r>
            <a:r>
              <a:rPr lang="en-US" baseline="30000" dirty="0"/>
              <a:t>th</a:t>
            </a:r>
            <a:r>
              <a:rPr lang="en-US" dirty="0"/>
              <a:t> 2025</a:t>
            </a:r>
          </a:p>
          <a:p>
            <a:endParaRPr lang="en-US" dirty="0"/>
          </a:p>
          <a:p>
            <a:r>
              <a:rPr lang="en-US" dirty="0"/>
              <a:t>Sylvette Vanderstraeten – Inge Mannaerts – Maarten Jackers</a:t>
            </a:r>
          </a:p>
          <a:p>
            <a:endParaRPr lang="en-US" dirty="0"/>
          </a:p>
        </p:txBody>
      </p:sp>
      <p:pic>
        <p:nvPicPr>
          <p:cNvPr id="2" name="Picture 1" descr="A close-up of a logo&#10;&#10;AI-generated content may be incorrect.">
            <a:extLst>
              <a:ext uri="{FF2B5EF4-FFF2-40B4-BE49-F238E27FC236}">
                <a16:creationId xmlns:a16="http://schemas.microsoft.com/office/drawing/2014/main" id="{74D0D356-3364-87E3-E8E1-9EDE7E715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679" y="3959999"/>
            <a:ext cx="2375735" cy="1774781"/>
          </a:xfrm>
          <a:prstGeom prst="rect">
            <a:avLst/>
          </a:prstGeom>
          <a:noFill/>
        </p:spPr>
      </p:pic>
    </p:spTree>
    <p:extLst>
      <p:ext uri="{BB962C8B-B14F-4D97-AF65-F5344CB8AC3E}">
        <p14:creationId xmlns:p14="http://schemas.microsoft.com/office/powerpoint/2010/main" val="2290189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aper plane with a white background&#10;&#10;Description automatically generated">
            <a:extLst>
              <a:ext uri="{FF2B5EF4-FFF2-40B4-BE49-F238E27FC236}">
                <a16:creationId xmlns:a16="http://schemas.microsoft.com/office/drawing/2014/main" id="{E5044F15-95B9-80B8-39F3-FFE15F730F9E}"/>
              </a:ext>
            </a:extLst>
          </p:cNvPr>
          <p:cNvPicPr>
            <a:picLocks noChangeAspect="1"/>
          </p:cNvPicPr>
          <p:nvPr/>
        </p:nvPicPr>
        <p:blipFill>
          <a:blip r:embed="rId3"/>
          <a:stretch>
            <a:fillRect/>
          </a:stretch>
        </p:blipFill>
        <p:spPr>
          <a:xfrm>
            <a:off x="934387" y="2172493"/>
            <a:ext cx="5451423" cy="3807343"/>
          </a:xfrm>
          <a:prstGeom prst="rect">
            <a:avLst/>
          </a:prstGeom>
        </p:spPr>
      </p:pic>
      <p:sp>
        <p:nvSpPr>
          <p:cNvPr id="2" name="Titel 1">
            <a:extLst>
              <a:ext uri="{FF2B5EF4-FFF2-40B4-BE49-F238E27FC236}">
                <a16:creationId xmlns:a16="http://schemas.microsoft.com/office/drawing/2014/main" id="{E938ECC5-9342-9A92-E234-8DC7184EFDD0}"/>
              </a:ext>
            </a:extLst>
          </p:cNvPr>
          <p:cNvSpPr>
            <a:spLocks noGrp="1"/>
          </p:cNvSpPr>
          <p:nvPr>
            <p:ph type="title"/>
          </p:nvPr>
        </p:nvSpPr>
        <p:spPr/>
        <p:txBody>
          <a:bodyPr/>
          <a:lstStyle/>
          <a:p>
            <a:r>
              <a:rPr lang="en-GB"/>
              <a:t>Let’s build a paper airplane! </a:t>
            </a:r>
          </a:p>
        </p:txBody>
      </p:sp>
      <p:cxnSp>
        <p:nvCxnSpPr>
          <p:cNvPr id="7" name="Verbindingslijn: gekromd 6">
            <a:extLst>
              <a:ext uri="{FF2B5EF4-FFF2-40B4-BE49-F238E27FC236}">
                <a16:creationId xmlns:a16="http://schemas.microsoft.com/office/drawing/2014/main" id="{E5494CEB-3C1E-1549-AFF9-7D40696E2A4D}"/>
              </a:ext>
            </a:extLst>
          </p:cNvPr>
          <p:cNvCxnSpPr>
            <a:cxnSpLocks/>
          </p:cNvCxnSpPr>
          <p:nvPr/>
        </p:nvCxnSpPr>
        <p:spPr>
          <a:xfrm>
            <a:off x="6385810" y="2848131"/>
            <a:ext cx="4871803" cy="1903751"/>
          </a:xfrm>
          <a:prstGeom prst="curvedConnector3">
            <a:avLst>
              <a:gd name="adj1" fmla="val 57692"/>
            </a:avLst>
          </a:prstGeom>
          <a:ln w="38100">
            <a:solidFill>
              <a:srgbClr val="1C87A8"/>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94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4AD7-BAC1-8A12-1FA2-4123BC9C5A31}"/>
              </a:ext>
            </a:extLst>
          </p:cNvPr>
          <p:cNvSpPr>
            <a:spLocks noGrp="1"/>
          </p:cNvSpPr>
          <p:nvPr>
            <p:ph type="title"/>
          </p:nvPr>
        </p:nvSpPr>
        <p:spPr/>
        <p:txBody>
          <a:bodyPr/>
          <a:lstStyle/>
          <a:p>
            <a:r>
              <a:rPr lang="en-GB"/>
              <a:t>Let’s build a paper airplane! </a:t>
            </a:r>
          </a:p>
        </p:txBody>
      </p:sp>
      <p:sp>
        <p:nvSpPr>
          <p:cNvPr id="3" name="Content Placeholder 2">
            <a:extLst>
              <a:ext uri="{FF2B5EF4-FFF2-40B4-BE49-F238E27FC236}">
                <a16:creationId xmlns:a16="http://schemas.microsoft.com/office/drawing/2014/main" id="{818EECC7-828C-4B4C-1A1B-43186F306275}"/>
              </a:ext>
            </a:extLst>
          </p:cNvPr>
          <p:cNvSpPr>
            <a:spLocks noGrp="1"/>
          </p:cNvSpPr>
          <p:nvPr>
            <p:ph idx="1"/>
          </p:nvPr>
        </p:nvSpPr>
        <p:spPr>
          <a:xfrm>
            <a:off x="576000" y="1920318"/>
            <a:ext cx="11041200" cy="3938548"/>
          </a:xfrm>
        </p:spPr>
        <p:txBody>
          <a:bodyPr>
            <a:normAutofit/>
          </a:bodyPr>
          <a:lstStyle/>
          <a:p>
            <a:pPr marL="0" indent="0">
              <a:buNone/>
            </a:pPr>
            <a:r>
              <a:rPr lang="en-US" b="1"/>
              <a:t>Option 2 </a:t>
            </a:r>
          </a:p>
          <a:p>
            <a:r>
              <a:rPr lang="en-US" b="1"/>
              <a:t>Dataset:</a:t>
            </a:r>
            <a:r>
              <a:rPr lang="en-US"/>
              <a:t> </a:t>
            </a:r>
            <a:r>
              <a:rPr lang="en-US" sz="1600"/>
              <a:t>Paper, A4 size </a:t>
            </a:r>
          </a:p>
          <a:p>
            <a:r>
              <a:rPr lang="en-US" b="1"/>
              <a:t>Result:</a:t>
            </a:r>
            <a:r>
              <a:rPr lang="en-US"/>
              <a:t> </a:t>
            </a:r>
            <a:r>
              <a:rPr lang="en-US" sz="1600"/>
              <a:t>Origami plane </a:t>
            </a:r>
          </a:p>
          <a:p>
            <a:r>
              <a:rPr lang="en-US" b="1"/>
              <a:t>Method:</a:t>
            </a:r>
            <a:r>
              <a:rPr lang="en-US"/>
              <a:t> </a:t>
            </a:r>
            <a:r>
              <a:rPr lang="en-US" sz="1600"/>
              <a:t>The paper is folded in half, from bottom to top and back again. The points on the left side are folded towards the centerline. After that, the top and bottom are folded in half so that the corners align with the centerline. This point is also the end of the folded left point to the right. The paper is then folded in half towards the back, following the fold line created in the first step. Finally, the wings are formed. Only the top layer is folded in half so that the beveled edge meets the bottom edge. The same thing is done with the other side, but mirrored. </a:t>
            </a:r>
            <a:endParaRPr lang="en-GB" sz="1600"/>
          </a:p>
        </p:txBody>
      </p:sp>
    </p:spTree>
    <p:extLst>
      <p:ext uri="{BB962C8B-B14F-4D97-AF65-F5344CB8AC3E}">
        <p14:creationId xmlns:p14="http://schemas.microsoft.com/office/powerpoint/2010/main" val="1485690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4AD7-BAC1-8A12-1FA2-4123BC9C5A31}"/>
              </a:ext>
            </a:extLst>
          </p:cNvPr>
          <p:cNvSpPr>
            <a:spLocks noGrp="1"/>
          </p:cNvSpPr>
          <p:nvPr>
            <p:ph type="title"/>
          </p:nvPr>
        </p:nvSpPr>
        <p:spPr/>
        <p:txBody>
          <a:bodyPr/>
          <a:lstStyle/>
          <a:p>
            <a:r>
              <a:rPr lang="en-GB"/>
              <a:t>Let’s build a paper airplane! </a:t>
            </a:r>
          </a:p>
        </p:txBody>
      </p:sp>
      <p:sp>
        <p:nvSpPr>
          <p:cNvPr id="3" name="Content Placeholder 2">
            <a:extLst>
              <a:ext uri="{FF2B5EF4-FFF2-40B4-BE49-F238E27FC236}">
                <a16:creationId xmlns:a16="http://schemas.microsoft.com/office/drawing/2014/main" id="{818EECC7-828C-4B4C-1A1B-43186F306275}"/>
              </a:ext>
            </a:extLst>
          </p:cNvPr>
          <p:cNvSpPr>
            <a:spLocks noGrp="1"/>
          </p:cNvSpPr>
          <p:nvPr>
            <p:ph idx="1"/>
          </p:nvPr>
        </p:nvSpPr>
        <p:spPr>
          <a:xfrm>
            <a:off x="575999" y="1920325"/>
            <a:ext cx="7062758" cy="3938548"/>
          </a:xfrm>
        </p:spPr>
        <p:txBody>
          <a:bodyPr>
            <a:normAutofit/>
          </a:bodyPr>
          <a:lstStyle/>
          <a:p>
            <a:pPr marL="0" indent="0">
              <a:buNone/>
            </a:pPr>
            <a:r>
              <a:rPr lang="en-US" b="1"/>
              <a:t>Option 4 </a:t>
            </a:r>
          </a:p>
          <a:p>
            <a:r>
              <a:rPr lang="en-US" b="1"/>
              <a:t>Dataset: </a:t>
            </a:r>
            <a:r>
              <a:rPr lang="en-US" sz="1600"/>
              <a:t>Paper, A4 size </a:t>
            </a:r>
          </a:p>
          <a:p>
            <a:r>
              <a:rPr lang="en-US" b="1"/>
              <a:t>Result: </a:t>
            </a:r>
            <a:r>
              <a:rPr lang="en-US" sz="1600"/>
              <a:t>Origami plane </a:t>
            </a:r>
          </a:p>
          <a:p>
            <a:r>
              <a:rPr lang="en-US" b="1"/>
              <a:t>Preprocessing step: </a:t>
            </a:r>
            <a:r>
              <a:rPr lang="en-US" sz="1600"/>
              <a:t>Change the paper’s orientation from portrait to landscape. </a:t>
            </a:r>
          </a:p>
          <a:p>
            <a:r>
              <a:rPr lang="en-US" b="1"/>
              <a:t>Method:</a:t>
            </a:r>
            <a:endParaRPr lang="en-GB" sz="700"/>
          </a:p>
        </p:txBody>
      </p:sp>
      <p:graphicFrame>
        <p:nvGraphicFramePr>
          <p:cNvPr id="6" name="Table 5">
            <a:extLst>
              <a:ext uri="{FF2B5EF4-FFF2-40B4-BE49-F238E27FC236}">
                <a16:creationId xmlns:a16="http://schemas.microsoft.com/office/drawing/2014/main" id="{0F0B4C8C-C432-3390-9888-FA005DBB0255}"/>
              </a:ext>
            </a:extLst>
          </p:cNvPr>
          <p:cNvGraphicFramePr>
            <a:graphicFrameLocks noGrp="1"/>
          </p:cNvGraphicFramePr>
          <p:nvPr/>
        </p:nvGraphicFramePr>
        <p:xfrm>
          <a:off x="7737553" y="681737"/>
          <a:ext cx="4311722" cy="5499406"/>
        </p:xfrm>
        <a:graphic>
          <a:graphicData uri="http://schemas.openxmlformats.org/drawingml/2006/table">
            <a:tbl>
              <a:tblPr/>
              <a:tblGrid>
                <a:gridCol w="323380">
                  <a:extLst>
                    <a:ext uri="{9D8B030D-6E8A-4147-A177-3AD203B41FA5}">
                      <a16:colId xmlns:a16="http://schemas.microsoft.com/office/drawing/2014/main" val="754795744"/>
                    </a:ext>
                  </a:extLst>
                </a:gridCol>
                <a:gridCol w="1386937">
                  <a:extLst>
                    <a:ext uri="{9D8B030D-6E8A-4147-A177-3AD203B41FA5}">
                      <a16:colId xmlns:a16="http://schemas.microsoft.com/office/drawing/2014/main" val="2600775451"/>
                    </a:ext>
                  </a:extLst>
                </a:gridCol>
                <a:gridCol w="2601405">
                  <a:extLst>
                    <a:ext uri="{9D8B030D-6E8A-4147-A177-3AD203B41FA5}">
                      <a16:colId xmlns:a16="http://schemas.microsoft.com/office/drawing/2014/main" val="4107663485"/>
                    </a:ext>
                  </a:extLst>
                </a:gridCol>
              </a:tblGrid>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1 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 </a:t>
                      </a:r>
                      <a:endParaRPr lang="en-US" sz="1700" b="0" i="0">
                        <a:effectLst/>
                      </a:endParaRPr>
                    </a:p>
                    <a:p>
                      <a:pPr algn="l" rtl="0" fontAlgn="base"/>
                      <a:r>
                        <a:rPr lang="en-US" sz="1000" b="0" i="0">
                          <a:effectLst/>
                          <a:latin typeface="Calibri" panose="020F0502020204030204" pitchFamily="34" charset="0"/>
                        </a:rPr>
                        <a:t>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the paper in half, from bottom to top and back again.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373897"/>
                  </a:ext>
                </a:extLst>
              </a:tr>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2 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the points on the left side towards the centerline. </a:t>
                      </a:r>
                      <a:endParaRPr lang="en-US" sz="1700" b="0" i="0">
                        <a:effectLst/>
                      </a:endParaRPr>
                    </a:p>
                    <a:p>
                      <a:pPr algn="l" rtl="0" fontAlgn="base"/>
                      <a:r>
                        <a:rPr lang="en-US" sz="1000" b="0" i="0">
                          <a:effectLst/>
                          <a:latin typeface="Calibri" panose="020F0502020204030204" pitchFamily="34" charset="0"/>
                        </a:rPr>
                        <a:t>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5215727"/>
                  </a:ext>
                </a:extLst>
              </a:tr>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3 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top and bottom in half so that the corners align with the centerline.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3638873"/>
                  </a:ext>
                </a:extLst>
              </a:tr>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4 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the left point to the right, exactly where the corners of step 3 meet on the centerline.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964662"/>
                  </a:ext>
                </a:extLst>
              </a:tr>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5 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the paper in half towards the back, following the fold line created in step 1.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774783"/>
                  </a:ext>
                </a:extLst>
              </a:tr>
              <a:tr h="900000">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6 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000" b="0" i="0">
                          <a:effectLst/>
                          <a:latin typeface="Calibri" panose="020F0502020204030204" pitchFamily="34" charset="0"/>
                        </a:rPr>
                        <a:t> </a:t>
                      </a:r>
                    </a:p>
                    <a:p>
                      <a:pPr algn="l" rtl="0" fontAlgn="base"/>
                      <a:r>
                        <a:rPr lang="en-US" sz="1000" b="0" i="0">
                          <a:effectLst/>
                          <a:latin typeface="Calibri" panose="020F0502020204030204" pitchFamily="34" charset="0"/>
                        </a:rPr>
                        <a:t>Fold both wings down. Fold only the top layer in half so that the beveled edge meets the bottom edge. </a:t>
                      </a:r>
                      <a:endParaRPr lang="en-US" sz="1700" b="0" i="0">
                        <a:effectLst/>
                      </a:endParaRPr>
                    </a:p>
                    <a:p>
                      <a:pPr algn="l" rtl="0" fontAlgn="base"/>
                      <a:r>
                        <a:rPr lang="en-US" sz="1000" b="0" i="0">
                          <a:effectLst/>
                          <a:latin typeface="Calibri" panose="020F0502020204030204" pitchFamily="34" charset="0"/>
                        </a:rPr>
                        <a:t>Do the same mirrored on the other side for the right wing. </a:t>
                      </a:r>
                      <a:endParaRPr lang="en-US" sz="1700" b="0" i="0">
                        <a:effectLst/>
                      </a:endParaRPr>
                    </a:p>
                  </a:txBody>
                  <a:tcPr marL="85005" marR="85005" marT="42503" marB="425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23053"/>
                  </a:ext>
                </a:extLst>
              </a:tr>
            </a:tbl>
          </a:graphicData>
        </a:graphic>
      </p:graphicFrame>
      <p:pic>
        <p:nvPicPr>
          <p:cNvPr id="1025" name="Picture 1">
            <a:extLst>
              <a:ext uri="{FF2B5EF4-FFF2-40B4-BE49-F238E27FC236}">
                <a16:creationId xmlns:a16="http://schemas.microsoft.com/office/drawing/2014/main" id="{FD1CB0F6-4C24-93C8-7327-519877042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7666" y="737025"/>
            <a:ext cx="1085145" cy="79519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8445D5D5-B188-4E58-67E9-07770F24DA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1598" y="1625205"/>
            <a:ext cx="1085145" cy="8117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FE851CEA-E589-A05C-F0EB-A04E360851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1598" y="2499376"/>
            <a:ext cx="1091214" cy="8487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03DBEDA-CCB9-70AE-7B5F-0CE392AC31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15530" y="3410569"/>
            <a:ext cx="1091213" cy="83208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EAC62CA4-B0FB-35F2-A8FD-7094B4DD39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65948" y="4313230"/>
            <a:ext cx="846864" cy="8334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EBDD1FF-41F6-69B0-69C0-2EFDA33FC3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95884" y="5338207"/>
            <a:ext cx="1216928" cy="707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58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E3533-A1F6-E5DA-FB9F-A1B298818359}"/>
              </a:ext>
            </a:extLst>
          </p:cNvPr>
          <p:cNvSpPr>
            <a:spLocks noGrp="1"/>
          </p:cNvSpPr>
          <p:nvPr>
            <p:ph type="title"/>
          </p:nvPr>
        </p:nvSpPr>
        <p:spPr/>
        <p:txBody>
          <a:bodyPr/>
          <a:lstStyle/>
          <a:p>
            <a:r>
              <a:rPr lang="en-US"/>
              <a:t>What is documentation?</a:t>
            </a:r>
            <a:endParaRPr lang="nl-BE"/>
          </a:p>
        </p:txBody>
      </p:sp>
      <p:sp>
        <p:nvSpPr>
          <p:cNvPr id="3" name="Content Placeholder 2">
            <a:extLst>
              <a:ext uri="{FF2B5EF4-FFF2-40B4-BE49-F238E27FC236}">
                <a16:creationId xmlns:a16="http://schemas.microsoft.com/office/drawing/2014/main" id="{7613F638-29B8-4F2E-9D24-5414990F2302}"/>
              </a:ext>
            </a:extLst>
          </p:cNvPr>
          <p:cNvSpPr>
            <a:spLocks noGrp="1"/>
          </p:cNvSpPr>
          <p:nvPr>
            <p:ph idx="1"/>
          </p:nvPr>
        </p:nvSpPr>
        <p:spPr>
          <a:xfrm>
            <a:off x="575400" y="2664323"/>
            <a:ext cx="11041200" cy="1198804"/>
          </a:xfrm>
        </p:spPr>
        <p:txBody>
          <a:bodyPr>
            <a:normAutofit fontScale="70000" lnSpcReduction="20000"/>
          </a:bodyPr>
          <a:lstStyle/>
          <a:p>
            <a:pPr marL="2778125">
              <a:buNone/>
            </a:pPr>
            <a:r>
              <a:rPr lang="en-GB">
                <a:latin typeface="Arial" panose="020B0604020202020204" pitchFamily="34" charset="0"/>
                <a:cs typeface="Arial" panose="020B0604020202020204" pitchFamily="34" charset="0"/>
              </a:rPr>
              <a:t>= information about data</a:t>
            </a:r>
          </a:p>
          <a:p>
            <a:pPr marL="2778125">
              <a:lnSpc>
                <a:spcPct val="100000"/>
              </a:lnSpc>
              <a:spcBef>
                <a:spcPts val="0"/>
              </a:spcBef>
              <a:buFont typeface="Arial" panose="020B0604020202020204" pitchFamily="34" charset="0"/>
              <a:buChar char="•"/>
              <a:defRPr/>
            </a:pPr>
            <a:r>
              <a:rPr lang="en-GB">
                <a:latin typeface="Arial" panose="020B0604020202020204" pitchFamily="34" charset="0"/>
                <a:cs typeface="Arial" panose="020B0604020202020204" pitchFamily="34" charset="0"/>
              </a:rPr>
              <a:t>Contextual &amp; descriptive features of data</a:t>
            </a:r>
          </a:p>
          <a:p>
            <a:pPr marL="2778125">
              <a:lnSpc>
                <a:spcPct val="100000"/>
              </a:lnSpc>
              <a:spcBef>
                <a:spcPts val="0"/>
              </a:spcBef>
              <a:buFont typeface="Arial" panose="020B0604020202020204" pitchFamily="34" charset="0"/>
              <a:buChar char="•"/>
              <a:defRPr/>
            </a:pPr>
            <a:r>
              <a:rPr lang="en-GB">
                <a:latin typeface="Arial" panose="020B0604020202020204" pitchFamily="34" charset="0"/>
                <a:cs typeface="Arial" panose="020B0604020202020204" pitchFamily="34" charset="0"/>
              </a:rPr>
              <a:t>Understandable &amp; interpretable by any user (humans)</a:t>
            </a:r>
          </a:p>
          <a:p>
            <a:pPr marL="2778125">
              <a:lnSpc>
                <a:spcPct val="100000"/>
              </a:lnSpc>
              <a:spcBef>
                <a:spcPts val="0"/>
              </a:spcBef>
              <a:defRPr/>
            </a:pPr>
            <a:r>
              <a:rPr lang="en-US">
                <a:latin typeface="Arial" panose="020B0604020202020204" pitchFamily="34" charset="0"/>
                <a:cs typeface="Arial" panose="020B0604020202020204" pitchFamily="34" charset="0"/>
              </a:rPr>
              <a:t>e.g. Research design, data collection methods, protocols, README, … </a:t>
            </a:r>
          </a:p>
          <a:p>
            <a:pPr marL="2549525" indent="0">
              <a:lnSpc>
                <a:spcPct val="100000"/>
              </a:lnSpc>
              <a:spcBef>
                <a:spcPts val="0"/>
              </a:spcBef>
              <a:buNone/>
              <a:defRPr/>
            </a:pPr>
            <a:endParaRPr lang="en-US">
              <a:latin typeface="Arial" panose="020B0604020202020204" pitchFamily="34" charset="0"/>
              <a:cs typeface="Arial" panose="020B0604020202020204" pitchFamily="34" charset="0"/>
            </a:endParaRPr>
          </a:p>
          <a:p>
            <a:pPr marL="0" indent="0">
              <a:buNone/>
            </a:pPr>
            <a:endParaRPr lang="nl-BE"/>
          </a:p>
        </p:txBody>
      </p:sp>
      <p:sp>
        <p:nvSpPr>
          <p:cNvPr id="4" name="Slide Number Placeholder 3">
            <a:extLst>
              <a:ext uri="{FF2B5EF4-FFF2-40B4-BE49-F238E27FC236}">
                <a16:creationId xmlns:a16="http://schemas.microsoft.com/office/drawing/2014/main" id="{8520178A-BFBB-1F75-2B1F-B22610B0DE5C}"/>
              </a:ext>
            </a:extLst>
          </p:cNvPr>
          <p:cNvSpPr>
            <a:spLocks noGrp="1"/>
          </p:cNvSpPr>
          <p:nvPr>
            <p:ph type="sldNum" sz="quarter" idx="12"/>
          </p:nvPr>
        </p:nvSpPr>
        <p:spPr/>
        <p:txBody>
          <a:bodyPr/>
          <a:lstStyle/>
          <a:p>
            <a:fld id="{85114D95-D6A6-084A-9D9C-617B45E258AD}" type="slidenum">
              <a:rPr lang="nl-NL" smtClean="0"/>
              <a:t>5</a:t>
            </a:fld>
            <a:endParaRPr lang="nl-NL"/>
          </a:p>
        </p:txBody>
      </p:sp>
      <p:pic>
        <p:nvPicPr>
          <p:cNvPr id="25" name="Graphic 24" descr="Document met effen opvulling">
            <a:extLst>
              <a:ext uri="{FF2B5EF4-FFF2-40B4-BE49-F238E27FC236}">
                <a16:creationId xmlns:a16="http://schemas.microsoft.com/office/drawing/2014/main" id="{22F79B4D-9A97-FBF3-FA51-7E31EFD1B6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224000" y="2600080"/>
            <a:ext cx="1087012" cy="972320"/>
          </a:xfrm>
          <a:prstGeom prst="rect">
            <a:avLst/>
          </a:prstGeom>
        </p:spPr>
      </p:pic>
      <p:sp>
        <p:nvSpPr>
          <p:cNvPr id="26" name="Tekstvak 2">
            <a:extLst>
              <a:ext uri="{FF2B5EF4-FFF2-40B4-BE49-F238E27FC236}">
                <a16:creationId xmlns:a16="http://schemas.microsoft.com/office/drawing/2014/main" id="{7A17CA77-508B-5AE1-B5C3-D08E66EDCA3D}"/>
              </a:ext>
            </a:extLst>
          </p:cNvPr>
          <p:cNvSpPr txBox="1"/>
          <p:nvPr/>
        </p:nvSpPr>
        <p:spPr>
          <a:xfrm>
            <a:off x="715605" y="3536375"/>
            <a:ext cx="209275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b="1" i="0" u="none" strike="noStrike" kern="1200" cap="none" spc="0" normalizeH="0" baseline="0" noProof="0" err="1">
                <a:ln>
                  <a:noFill/>
                </a:ln>
                <a:solidFill>
                  <a:srgbClr val="005E77"/>
                </a:solidFill>
                <a:effectLst/>
                <a:uLnTx/>
                <a:uFillTx/>
                <a:latin typeface="Arial" panose="020B0604020202020204" pitchFamily="34" charset="0"/>
                <a:cs typeface="Arial" panose="020B0604020202020204" pitchFamily="34" charset="0"/>
              </a:rPr>
              <a:t>Documentation</a:t>
            </a:r>
            <a:endParaRPr kumimoji="0" lang="nl-BE" sz="1600" b="1" i="0" u="none" strike="noStrike" kern="1200" cap="none" spc="0" normalizeH="0" baseline="0" noProof="0">
              <a:ln>
                <a:noFill/>
              </a:ln>
              <a:solidFill>
                <a:srgbClr val="005E77"/>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704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D1858D7-C559-07A1-4C39-C6F864A9E1C8}"/>
              </a:ext>
            </a:extLst>
          </p:cNvPr>
          <p:cNvPicPr>
            <a:picLocks noChangeAspect="1"/>
          </p:cNvPicPr>
          <p:nvPr/>
        </p:nvPicPr>
        <p:blipFill>
          <a:blip r:embed="rId3"/>
          <a:stretch>
            <a:fillRect/>
          </a:stretch>
        </p:blipFill>
        <p:spPr>
          <a:xfrm>
            <a:off x="1378764" y="2085280"/>
            <a:ext cx="9205758" cy="3406435"/>
          </a:xfrm>
          <a:prstGeom prst="rect">
            <a:avLst/>
          </a:prstGeom>
        </p:spPr>
      </p:pic>
      <p:sp>
        <p:nvSpPr>
          <p:cNvPr id="2" name="Title 1">
            <a:extLst>
              <a:ext uri="{FF2B5EF4-FFF2-40B4-BE49-F238E27FC236}">
                <a16:creationId xmlns:a16="http://schemas.microsoft.com/office/drawing/2014/main" id="{9750674D-BFDF-342E-227D-F783F95246ED}"/>
              </a:ext>
            </a:extLst>
          </p:cNvPr>
          <p:cNvSpPr>
            <a:spLocks noGrp="1"/>
          </p:cNvSpPr>
          <p:nvPr>
            <p:ph type="title"/>
          </p:nvPr>
        </p:nvSpPr>
        <p:spPr/>
        <p:txBody>
          <a:bodyPr/>
          <a:lstStyle/>
          <a:p>
            <a:r>
              <a:rPr lang="en-US"/>
              <a:t>Why does documentation matter?</a:t>
            </a:r>
            <a:endParaRPr lang="en-GB"/>
          </a:p>
        </p:txBody>
      </p:sp>
      <p:sp>
        <p:nvSpPr>
          <p:cNvPr id="5" name="Slide Number Placeholder 4">
            <a:extLst>
              <a:ext uri="{FF2B5EF4-FFF2-40B4-BE49-F238E27FC236}">
                <a16:creationId xmlns:a16="http://schemas.microsoft.com/office/drawing/2014/main" id="{F83F97F7-7419-3DBD-4006-422337EE64FF}"/>
              </a:ext>
            </a:extLst>
          </p:cNvPr>
          <p:cNvSpPr>
            <a:spLocks noGrp="1"/>
          </p:cNvSpPr>
          <p:nvPr>
            <p:ph type="sldNum" sz="quarter" idx="12"/>
          </p:nvPr>
        </p:nvSpPr>
        <p:spPr>
          <a:prstGeom prst="rect">
            <a:avLst/>
          </a:prstGeom>
        </p:spPr>
        <p:txBody>
          <a:bodyPr/>
          <a:lstStyle/>
          <a:p>
            <a:fld id="{CC571AF6-6671-4538-974D-3AEC00AC0B82}" type="slidenum">
              <a:rPr lang="en-GB" smtClean="0"/>
              <a:t>6</a:t>
            </a:fld>
            <a:endParaRPr lang="en-GB"/>
          </a:p>
        </p:txBody>
      </p:sp>
      <p:pic>
        <p:nvPicPr>
          <p:cNvPr id="9" name="Picture 8">
            <a:extLst>
              <a:ext uri="{FF2B5EF4-FFF2-40B4-BE49-F238E27FC236}">
                <a16:creationId xmlns:a16="http://schemas.microsoft.com/office/drawing/2014/main" id="{3997481C-D449-7803-19C7-C232C097E62F}"/>
              </a:ext>
            </a:extLst>
          </p:cNvPr>
          <p:cNvPicPr>
            <a:picLocks noChangeAspect="1"/>
          </p:cNvPicPr>
          <p:nvPr/>
        </p:nvPicPr>
        <p:blipFill>
          <a:blip r:embed="rId4"/>
          <a:stretch>
            <a:fillRect/>
          </a:stretch>
        </p:blipFill>
        <p:spPr>
          <a:xfrm>
            <a:off x="3342968" y="1238781"/>
            <a:ext cx="4723003" cy="4889139"/>
          </a:xfrm>
          <a:prstGeom prst="rect">
            <a:avLst/>
          </a:prstGeom>
        </p:spPr>
      </p:pic>
      <p:pic>
        <p:nvPicPr>
          <p:cNvPr id="4" name="Picture 3">
            <a:extLst>
              <a:ext uri="{FF2B5EF4-FFF2-40B4-BE49-F238E27FC236}">
                <a16:creationId xmlns:a16="http://schemas.microsoft.com/office/drawing/2014/main" id="{9A8EE7C3-C6BA-E75B-83E7-744B5226145C}"/>
              </a:ext>
            </a:extLst>
          </p:cNvPr>
          <p:cNvPicPr>
            <a:picLocks noChangeAspect="1"/>
          </p:cNvPicPr>
          <p:nvPr/>
        </p:nvPicPr>
        <p:blipFill>
          <a:blip r:embed="rId5"/>
          <a:stretch>
            <a:fillRect/>
          </a:stretch>
        </p:blipFill>
        <p:spPr>
          <a:xfrm>
            <a:off x="1770616" y="2331667"/>
            <a:ext cx="8650768" cy="2703365"/>
          </a:xfrm>
          <a:prstGeom prst="rect">
            <a:avLst/>
          </a:prstGeom>
        </p:spPr>
      </p:pic>
      <p:sp>
        <p:nvSpPr>
          <p:cNvPr id="27" name="Rechthoek 26">
            <a:extLst>
              <a:ext uri="{FF2B5EF4-FFF2-40B4-BE49-F238E27FC236}">
                <a16:creationId xmlns:a16="http://schemas.microsoft.com/office/drawing/2014/main" id="{1A848B71-88B3-75BD-BC47-937FA023E680}"/>
              </a:ext>
            </a:extLst>
          </p:cNvPr>
          <p:cNvSpPr/>
          <p:nvPr/>
        </p:nvSpPr>
        <p:spPr>
          <a:xfrm>
            <a:off x="936434" y="6343843"/>
            <a:ext cx="8395136" cy="400110"/>
          </a:xfrm>
          <a:prstGeom prst="rect">
            <a:avLst/>
          </a:prstGeom>
        </p:spPr>
        <p:txBody>
          <a:bodyPr wrap="square" anchor="ctr">
            <a:spAutoFit/>
          </a:bodyPr>
          <a:lstStyle/>
          <a:p>
            <a:pPr>
              <a:defRPr/>
            </a:pPr>
            <a:r>
              <a:rPr lang="en-US" sz="1000">
                <a:solidFill>
                  <a:prstClr val="white"/>
                </a:solidFill>
                <a:latin typeface="Arial" panose="020B0604020202020204" pitchFamily="34" charset="0"/>
                <a:ea typeface="Calibri" panose="020F0502020204030204" pitchFamily="34" charset="0"/>
                <a:cs typeface="Arial" panose="020B0604020202020204" pitchFamily="34" charset="0"/>
              </a:rPr>
              <a:t>Starting guide to use Git with R for people with a life-science </a:t>
            </a:r>
            <a:r>
              <a:rPr lang="en-US" sz="1000" err="1">
                <a:solidFill>
                  <a:prstClr val="white"/>
                </a:solidFill>
                <a:latin typeface="Arial" panose="020B0604020202020204" pitchFamily="34" charset="0"/>
                <a:ea typeface="Calibri" panose="020F0502020204030204" pitchFamily="34" charset="0"/>
                <a:cs typeface="Arial" panose="020B0604020202020204" pitchFamily="34" charset="0"/>
              </a:rPr>
              <a:t>backround</a:t>
            </a:r>
            <a:r>
              <a:rPr lang="en-US" sz="1000">
                <a:solidFill>
                  <a:prstClr val="white"/>
                </a:solidFill>
                <a:latin typeface="Arial" panose="020B0604020202020204" pitchFamily="34" charset="0"/>
                <a:ea typeface="Calibri" panose="020F0502020204030204" pitchFamily="34" charset="0"/>
                <a:cs typeface="Arial" panose="020B0604020202020204" pitchFamily="34" charset="0"/>
              </a:rPr>
              <a:t>: https://happygitwithr.com/</a:t>
            </a:r>
          </a:p>
          <a:p>
            <a:pPr>
              <a:defRPr/>
            </a:pPr>
            <a:r>
              <a:rPr lang="nl-BE" sz="1000">
                <a:solidFill>
                  <a:prstClr val="white"/>
                </a:solidFill>
                <a:latin typeface="Arial" panose="020B0604020202020204" pitchFamily="34" charset="0"/>
                <a:ea typeface="Calibri" panose="020F0502020204030204" pitchFamily="34" charset="0"/>
                <a:cs typeface="Arial" panose="020B0604020202020204" pitchFamily="34" charset="0"/>
              </a:rPr>
              <a:t>https://github.com/islambayoumy/Git-Commit-Standards-Handbook</a:t>
            </a:r>
          </a:p>
        </p:txBody>
      </p:sp>
    </p:spTree>
    <p:extLst>
      <p:ext uri="{BB962C8B-B14F-4D97-AF65-F5344CB8AC3E}">
        <p14:creationId xmlns:p14="http://schemas.microsoft.com/office/powerpoint/2010/main" val="418685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25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4"/>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nodeType="afterEffect">
                                  <p:stCondLst>
                                    <p:cond delay="25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E713A-9807-42A0-D419-CA12F9FD9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733B8-6DF4-B6B1-993A-3FF4C2AE1D83}"/>
              </a:ext>
            </a:extLst>
          </p:cNvPr>
          <p:cNvSpPr>
            <a:spLocks noGrp="1"/>
          </p:cNvSpPr>
          <p:nvPr>
            <p:ph type="title"/>
          </p:nvPr>
        </p:nvSpPr>
        <p:spPr/>
        <p:txBody>
          <a:bodyPr/>
          <a:lstStyle/>
          <a:p>
            <a:r>
              <a:rPr lang="en-US" dirty="0"/>
              <a:t>Exercise 4a: What to document?</a:t>
            </a:r>
            <a:endParaRPr lang="en-GB" dirty="0"/>
          </a:p>
        </p:txBody>
      </p:sp>
      <p:sp>
        <p:nvSpPr>
          <p:cNvPr id="3" name="Content Placeholder 2">
            <a:extLst>
              <a:ext uri="{FF2B5EF4-FFF2-40B4-BE49-F238E27FC236}">
                <a16:creationId xmlns:a16="http://schemas.microsoft.com/office/drawing/2014/main" id="{7A17B5BE-16D1-9DE9-01C5-074620E9ECEE}"/>
              </a:ext>
            </a:extLst>
          </p:cNvPr>
          <p:cNvSpPr>
            <a:spLocks noGrp="1"/>
          </p:cNvSpPr>
          <p:nvPr>
            <p:ph idx="1"/>
          </p:nvPr>
        </p:nvSpPr>
        <p:spPr/>
        <p:txBody>
          <a:bodyPr/>
          <a:lstStyle/>
          <a:p>
            <a:pPr marL="0" indent="0">
              <a:buNone/>
            </a:pPr>
            <a:r>
              <a:rPr lang="en-US" b="1" dirty="0"/>
              <a:t>What elements are needed to document a </a:t>
            </a:r>
            <a:r>
              <a:rPr lang="en-US" b="1" dirty="0">
                <a:solidFill>
                  <a:srgbClr val="FFDF7F"/>
                </a:solidFill>
              </a:rPr>
              <a:t>step (yellow </a:t>
            </a:r>
            <a:r>
              <a:rPr lang="en-US" b="1" dirty="0" err="1">
                <a:solidFill>
                  <a:srgbClr val="FFDF7F"/>
                </a:solidFill>
              </a:rPr>
              <a:t>post-it</a:t>
            </a:r>
            <a:r>
              <a:rPr lang="en-US" b="1" dirty="0">
                <a:solidFill>
                  <a:srgbClr val="FFDF7F"/>
                </a:solidFill>
              </a:rPr>
              <a:t>)</a:t>
            </a:r>
            <a:r>
              <a:rPr lang="en-US" b="1" dirty="0"/>
              <a:t> </a:t>
            </a:r>
            <a:br>
              <a:rPr lang="en-US" b="1" dirty="0"/>
            </a:br>
            <a:r>
              <a:rPr lang="en-US" b="1" dirty="0"/>
              <a:t>in your dataflow? </a:t>
            </a:r>
            <a:endParaRPr lang="nl-BE" dirty="0"/>
          </a:p>
          <a:p>
            <a:pPr marL="0" indent="0">
              <a:buNone/>
            </a:pPr>
            <a:endParaRPr lang="en-GB" dirty="0"/>
          </a:p>
        </p:txBody>
      </p:sp>
      <p:sp>
        <p:nvSpPr>
          <p:cNvPr id="4" name="Slide Number Placeholder 3">
            <a:extLst>
              <a:ext uri="{FF2B5EF4-FFF2-40B4-BE49-F238E27FC236}">
                <a16:creationId xmlns:a16="http://schemas.microsoft.com/office/drawing/2014/main" id="{024A4F6F-377A-9424-4AE7-85E31D4B0BA4}"/>
              </a:ext>
            </a:extLst>
          </p:cNvPr>
          <p:cNvSpPr>
            <a:spLocks noGrp="1"/>
          </p:cNvSpPr>
          <p:nvPr>
            <p:ph type="sldNum" sz="quarter" idx="12"/>
          </p:nvPr>
        </p:nvSpPr>
        <p:spPr/>
        <p:txBody>
          <a:bodyPr/>
          <a:lstStyle/>
          <a:p>
            <a:fld id="{85114D95-D6A6-084A-9D9C-617B45E258AD}" type="slidenum">
              <a:rPr lang="nl-NL" smtClean="0"/>
              <a:t>7</a:t>
            </a:fld>
            <a:endParaRPr lang="nl-NL"/>
          </a:p>
        </p:txBody>
      </p:sp>
    </p:spTree>
    <p:extLst>
      <p:ext uri="{BB962C8B-B14F-4D97-AF65-F5344CB8AC3E}">
        <p14:creationId xmlns:p14="http://schemas.microsoft.com/office/powerpoint/2010/main" val="4113184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450D4-8E9F-9A0E-FFA6-30E505348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4B8B0-907C-6A0A-B43F-6293EDCFFC53}"/>
              </a:ext>
            </a:extLst>
          </p:cNvPr>
          <p:cNvSpPr>
            <a:spLocks noGrp="1"/>
          </p:cNvSpPr>
          <p:nvPr>
            <p:ph type="title"/>
          </p:nvPr>
        </p:nvSpPr>
        <p:spPr/>
        <p:txBody>
          <a:bodyPr/>
          <a:lstStyle/>
          <a:p>
            <a:r>
              <a:rPr lang="en-US" dirty="0"/>
              <a:t>Exercise 4a: What to document?</a:t>
            </a:r>
            <a:endParaRPr lang="en-GB" dirty="0"/>
          </a:p>
        </p:txBody>
      </p:sp>
      <p:sp>
        <p:nvSpPr>
          <p:cNvPr id="4" name="Slide Number Placeholder 3">
            <a:extLst>
              <a:ext uri="{FF2B5EF4-FFF2-40B4-BE49-F238E27FC236}">
                <a16:creationId xmlns:a16="http://schemas.microsoft.com/office/drawing/2014/main" id="{8183E61F-3455-A8A1-D55E-94E4BC399C61}"/>
              </a:ext>
            </a:extLst>
          </p:cNvPr>
          <p:cNvSpPr>
            <a:spLocks noGrp="1"/>
          </p:cNvSpPr>
          <p:nvPr>
            <p:ph type="sldNum" sz="quarter" idx="12"/>
          </p:nvPr>
        </p:nvSpPr>
        <p:spPr/>
        <p:txBody>
          <a:bodyPr/>
          <a:lstStyle/>
          <a:p>
            <a:fld id="{85114D95-D6A6-084A-9D9C-617B45E258AD}" type="slidenum">
              <a:rPr lang="nl-NL" smtClean="0"/>
              <a:t>8</a:t>
            </a:fld>
            <a:endParaRPr lang="nl-NL"/>
          </a:p>
        </p:txBody>
      </p:sp>
      <p:sp>
        <p:nvSpPr>
          <p:cNvPr id="27" name="Freeform: Shape 26">
            <a:extLst>
              <a:ext uri="{FF2B5EF4-FFF2-40B4-BE49-F238E27FC236}">
                <a16:creationId xmlns:a16="http://schemas.microsoft.com/office/drawing/2014/main" id="{58E27F83-9F7A-B3D8-7810-42123723CF52}"/>
              </a:ext>
            </a:extLst>
          </p:cNvPr>
          <p:cNvSpPr/>
          <p:nvPr/>
        </p:nvSpPr>
        <p:spPr>
          <a:xfrm>
            <a:off x="577881" y="1443485"/>
            <a:ext cx="2309377" cy="4499983"/>
          </a:xfrm>
          <a:custGeom>
            <a:avLst/>
            <a:gdLst>
              <a:gd name="connsiteX0" fmla="*/ 0 w 2309377"/>
              <a:gd name="connsiteY0" fmla="*/ 230938 h 4499983"/>
              <a:gd name="connsiteX1" fmla="*/ 230938 w 2309377"/>
              <a:gd name="connsiteY1" fmla="*/ 0 h 4499983"/>
              <a:gd name="connsiteX2" fmla="*/ 2078439 w 2309377"/>
              <a:gd name="connsiteY2" fmla="*/ 0 h 4499983"/>
              <a:gd name="connsiteX3" fmla="*/ 2309377 w 2309377"/>
              <a:gd name="connsiteY3" fmla="*/ 230938 h 4499983"/>
              <a:gd name="connsiteX4" fmla="*/ 2309377 w 2309377"/>
              <a:gd name="connsiteY4" fmla="*/ 4269045 h 4499983"/>
              <a:gd name="connsiteX5" fmla="*/ 2078439 w 2309377"/>
              <a:gd name="connsiteY5" fmla="*/ 4499983 h 4499983"/>
              <a:gd name="connsiteX6" fmla="*/ 230938 w 2309377"/>
              <a:gd name="connsiteY6" fmla="*/ 4499983 h 4499983"/>
              <a:gd name="connsiteX7" fmla="*/ 0 w 2309377"/>
              <a:gd name="connsiteY7" fmla="*/ 4269045 h 4499983"/>
              <a:gd name="connsiteX8" fmla="*/ 0 w 2309377"/>
              <a:gd name="connsiteY8" fmla="*/ 230938 h 449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9377" h="4499983">
                <a:moveTo>
                  <a:pt x="0" y="230938"/>
                </a:moveTo>
                <a:cubicBezTo>
                  <a:pt x="0" y="103394"/>
                  <a:pt x="103394" y="0"/>
                  <a:pt x="230938" y="0"/>
                </a:cubicBezTo>
                <a:lnTo>
                  <a:pt x="2078439" y="0"/>
                </a:lnTo>
                <a:cubicBezTo>
                  <a:pt x="2205983" y="0"/>
                  <a:pt x="2309377" y="103394"/>
                  <a:pt x="2309377" y="230938"/>
                </a:cubicBezTo>
                <a:lnTo>
                  <a:pt x="2309377" y="4269045"/>
                </a:lnTo>
                <a:cubicBezTo>
                  <a:pt x="2309377" y="4396589"/>
                  <a:pt x="2205983" y="4499983"/>
                  <a:pt x="2078439" y="4499983"/>
                </a:cubicBezTo>
                <a:lnTo>
                  <a:pt x="230938" y="4499983"/>
                </a:lnTo>
                <a:cubicBezTo>
                  <a:pt x="103394" y="4499983"/>
                  <a:pt x="0" y="4396589"/>
                  <a:pt x="0" y="4269045"/>
                </a:cubicBezTo>
                <a:lnTo>
                  <a:pt x="0" y="230938"/>
                </a:lnTo>
                <a:close/>
              </a:path>
            </a:pathLst>
          </a:custGeom>
        </p:spPr>
        <p:style>
          <a:lnRef idx="0">
            <a:schemeClr val="dk1">
              <a:hueOff val="0"/>
              <a:satOff val="0"/>
              <a:lumOff val="0"/>
              <a:alphaOff val="0"/>
            </a:schemeClr>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spcFirstLastPara="0" vert="horz" wrap="square" lIns="121920" tIns="244800" rIns="121920" bIns="3271908" numCol="1" spcCol="1270" anchor="t" anchorCtr="0">
            <a:noAutofit/>
          </a:bodyPr>
          <a:lstStyle/>
          <a:p>
            <a:pPr marL="0" lvl="0" indent="0" algn="ctr" defTabSz="1422400">
              <a:lnSpc>
                <a:spcPct val="90000"/>
              </a:lnSpc>
              <a:spcBef>
                <a:spcPct val="0"/>
              </a:spcBef>
              <a:spcAft>
                <a:spcPct val="35000"/>
              </a:spcAft>
              <a:buNone/>
            </a:pPr>
            <a:r>
              <a:rPr lang="en-US" sz="3200" kern="1200" dirty="0">
                <a:solidFill>
                  <a:srgbClr val="005E77"/>
                </a:solidFill>
              </a:rPr>
              <a:t>Introduction</a:t>
            </a:r>
            <a:endParaRPr lang="nl-BE" sz="3200" kern="1200" dirty="0">
              <a:solidFill>
                <a:srgbClr val="005E77"/>
              </a:solidFill>
            </a:endParaRPr>
          </a:p>
        </p:txBody>
      </p:sp>
      <p:sp>
        <p:nvSpPr>
          <p:cNvPr id="28" name="Freeform: Shape 27">
            <a:extLst>
              <a:ext uri="{FF2B5EF4-FFF2-40B4-BE49-F238E27FC236}">
                <a16:creationId xmlns:a16="http://schemas.microsoft.com/office/drawing/2014/main" id="{76D7B66C-B4C3-198A-A8A9-521A178FD62F}"/>
              </a:ext>
            </a:extLst>
          </p:cNvPr>
          <p:cNvSpPr/>
          <p:nvPr/>
        </p:nvSpPr>
        <p:spPr>
          <a:xfrm>
            <a:off x="796570" y="2331448"/>
            <a:ext cx="1871999" cy="1588231"/>
          </a:xfrm>
          <a:custGeom>
            <a:avLst/>
            <a:gdLst>
              <a:gd name="connsiteX0" fmla="*/ 0 w 1871999"/>
              <a:gd name="connsiteY0" fmla="*/ 138178 h 1381775"/>
              <a:gd name="connsiteX1" fmla="*/ 138178 w 1871999"/>
              <a:gd name="connsiteY1" fmla="*/ 0 h 1381775"/>
              <a:gd name="connsiteX2" fmla="*/ 1733822 w 1871999"/>
              <a:gd name="connsiteY2" fmla="*/ 0 h 1381775"/>
              <a:gd name="connsiteX3" fmla="*/ 1872000 w 1871999"/>
              <a:gd name="connsiteY3" fmla="*/ 138178 h 1381775"/>
              <a:gd name="connsiteX4" fmla="*/ 1871999 w 1871999"/>
              <a:gd name="connsiteY4" fmla="*/ 1243598 h 1381775"/>
              <a:gd name="connsiteX5" fmla="*/ 1733821 w 1871999"/>
              <a:gd name="connsiteY5" fmla="*/ 1381776 h 1381775"/>
              <a:gd name="connsiteX6" fmla="*/ 138178 w 1871999"/>
              <a:gd name="connsiteY6" fmla="*/ 1381775 h 1381775"/>
              <a:gd name="connsiteX7" fmla="*/ 0 w 1871999"/>
              <a:gd name="connsiteY7" fmla="*/ 1243597 h 1381775"/>
              <a:gd name="connsiteX8" fmla="*/ 0 w 1871999"/>
              <a:gd name="connsiteY8" fmla="*/ 138178 h 138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999" h="1381775">
                <a:moveTo>
                  <a:pt x="0" y="138178"/>
                </a:moveTo>
                <a:cubicBezTo>
                  <a:pt x="0" y="61864"/>
                  <a:pt x="61864" y="0"/>
                  <a:pt x="138178" y="0"/>
                </a:cubicBezTo>
                <a:lnTo>
                  <a:pt x="1733822" y="0"/>
                </a:lnTo>
                <a:cubicBezTo>
                  <a:pt x="1810136" y="0"/>
                  <a:pt x="1872000" y="61864"/>
                  <a:pt x="1872000" y="138178"/>
                </a:cubicBezTo>
                <a:cubicBezTo>
                  <a:pt x="1872000" y="506651"/>
                  <a:pt x="1871999" y="875125"/>
                  <a:pt x="1871999" y="1243598"/>
                </a:cubicBezTo>
                <a:cubicBezTo>
                  <a:pt x="1871999" y="1319912"/>
                  <a:pt x="1810135" y="1381776"/>
                  <a:pt x="1733821" y="1381776"/>
                </a:cubicBezTo>
                <a:lnTo>
                  <a:pt x="138178" y="1381775"/>
                </a:lnTo>
                <a:cubicBezTo>
                  <a:pt x="61864" y="1381775"/>
                  <a:pt x="0" y="1319911"/>
                  <a:pt x="0" y="1243597"/>
                </a:cubicBezTo>
                <a:lnTo>
                  <a:pt x="0" y="138178"/>
                </a:lnTo>
                <a:close/>
              </a:path>
            </a:pathLst>
          </a:custGeom>
          <a:solidFill>
            <a:srgbClr val="FF9999"/>
          </a:solidFill>
          <a:ln w="12700" cap="flat" cmpd="sng" algn="ctr">
            <a:solidFill>
              <a:prstClr val="white">
                <a:hueOff val="0"/>
                <a:satOff val="0"/>
                <a:lumOff val="0"/>
                <a:alphaOff val="0"/>
              </a:prst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4470" tIns="54945" rIns="64470" bIns="54945" numCol="1" spcCol="1270" anchor="ctr" anchorCtr="0">
            <a:noAutofit/>
          </a:bodyPr>
          <a:lstStyle/>
          <a:p>
            <a:pPr algn="ctr" defTabSz="666750">
              <a:lnSpc>
                <a:spcPct val="90000"/>
              </a:lnSpc>
              <a:spcBef>
                <a:spcPct val="0"/>
              </a:spcBef>
              <a:spcAft>
                <a:spcPct val="35000"/>
              </a:spcAft>
            </a:pPr>
            <a:r>
              <a:rPr lang="en-US" sz="2400" dirty="0">
                <a:solidFill>
                  <a:prstClr val="white"/>
                </a:solidFill>
                <a:latin typeface="Calibri" panose="020F0502020204030204"/>
              </a:rPr>
              <a:t>Aims</a:t>
            </a:r>
            <a:br>
              <a:rPr lang="en-US" sz="2400" dirty="0">
                <a:solidFill>
                  <a:prstClr val="white"/>
                </a:solidFill>
                <a:latin typeface="Calibri" panose="020F0502020204030204"/>
              </a:rPr>
            </a:br>
            <a:r>
              <a:rPr lang="en-US" sz="2400" dirty="0">
                <a:solidFill>
                  <a:prstClr val="white"/>
                </a:solidFill>
                <a:latin typeface="Calibri" panose="020F0502020204030204"/>
              </a:rPr>
              <a:t>Objectives</a:t>
            </a:r>
            <a:endParaRPr lang="nl-BE" sz="2400" dirty="0">
              <a:solidFill>
                <a:prstClr val="white"/>
              </a:solidFill>
              <a:latin typeface="Calibri" panose="020F0502020204030204"/>
            </a:endParaRPr>
          </a:p>
        </p:txBody>
      </p:sp>
      <p:sp>
        <p:nvSpPr>
          <p:cNvPr id="29" name="Freeform: Shape 28">
            <a:extLst>
              <a:ext uri="{FF2B5EF4-FFF2-40B4-BE49-F238E27FC236}">
                <a16:creationId xmlns:a16="http://schemas.microsoft.com/office/drawing/2014/main" id="{337EE616-B55D-B6C6-9E4F-D04B8E0720B7}"/>
              </a:ext>
            </a:extLst>
          </p:cNvPr>
          <p:cNvSpPr/>
          <p:nvPr/>
        </p:nvSpPr>
        <p:spPr>
          <a:xfrm>
            <a:off x="796570" y="4166163"/>
            <a:ext cx="1871999" cy="1588230"/>
          </a:xfrm>
          <a:custGeom>
            <a:avLst/>
            <a:gdLst>
              <a:gd name="connsiteX0" fmla="*/ 0 w 1871999"/>
              <a:gd name="connsiteY0" fmla="*/ 138178 h 1381775"/>
              <a:gd name="connsiteX1" fmla="*/ 138178 w 1871999"/>
              <a:gd name="connsiteY1" fmla="*/ 0 h 1381775"/>
              <a:gd name="connsiteX2" fmla="*/ 1733822 w 1871999"/>
              <a:gd name="connsiteY2" fmla="*/ 0 h 1381775"/>
              <a:gd name="connsiteX3" fmla="*/ 1872000 w 1871999"/>
              <a:gd name="connsiteY3" fmla="*/ 138178 h 1381775"/>
              <a:gd name="connsiteX4" fmla="*/ 1871999 w 1871999"/>
              <a:gd name="connsiteY4" fmla="*/ 1243598 h 1381775"/>
              <a:gd name="connsiteX5" fmla="*/ 1733821 w 1871999"/>
              <a:gd name="connsiteY5" fmla="*/ 1381776 h 1381775"/>
              <a:gd name="connsiteX6" fmla="*/ 138178 w 1871999"/>
              <a:gd name="connsiteY6" fmla="*/ 1381775 h 1381775"/>
              <a:gd name="connsiteX7" fmla="*/ 0 w 1871999"/>
              <a:gd name="connsiteY7" fmla="*/ 1243597 h 1381775"/>
              <a:gd name="connsiteX8" fmla="*/ 0 w 1871999"/>
              <a:gd name="connsiteY8" fmla="*/ 138178 h 138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999" h="1381775">
                <a:moveTo>
                  <a:pt x="0" y="138178"/>
                </a:moveTo>
                <a:cubicBezTo>
                  <a:pt x="0" y="61864"/>
                  <a:pt x="61864" y="0"/>
                  <a:pt x="138178" y="0"/>
                </a:cubicBezTo>
                <a:lnTo>
                  <a:pt x="1733822" y="0"/>
                </a:lnTo>
                <a:cubicBezTo>
                  <a:pt x="1810136" y="0"/>
                  <a:pt x="1872000" y="61864"/>
                  <a:pt x="1872000" y="138178"/>
                </a:cubicBezTo>
                <a:cubicBezTo>
                  <a:pt x="1872000" y="506651"/>
                  <a:pt x="1871999" y="875125"/>
                  <a:pt x="1871999" y="1243598"/>
                </a:cubicBezTo>
                <a:cubicBezTo>
                  <a:pt x="1871999" y="1319912"/>
                  <a:pt x="1810135" y="1381776"/>
                  <a:pt x="1733821" y="1381776"/>
                </a:cubicBezTo>
                <a:lnTo>
                  <a:pt x="138178" y="1381775"/>
                </a:lnTo>
                <a:cubicBezTo>
                  <a:pt x="61864" y="1381775"/>
                  <a:pt x="0" y="1319911"/>
                  <a:pt x="0" y="1243597"/>
                </a:cubicBezTo>
                <a:lnTo>
                  <a:pt x="0" y="138178"/>
                </a:lnTo>
                <a:close/>
              </a:path>
            </a:pathLst>
          </a:custGeom>
          <a:solidFill>
            <a:srgbClr val="FF8181"/>
          </a:solidFill>
          <a:ln w="12700" cap="flat" cmpd="sng" algn="ctr">
            <a:solidFill>
              <a:prstClr val="white">
                <a:hueOff val="0"/>
                <a:satOff val="0"/>
                <a:lumOff val="0"/>
                <a:alphaOff val="0"/>
              </a:prst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4470" tIns="54945" rIns="64470" bIns="54945" numCol="1" spcCol="1270" anchor="ctr" anchorCtr="0">
            <a:noAutofit/>
          </a:bodyPr>
          <a:lstStyle/>
          <a:p>
            <a:pPr algn="ctr" defTabSz="666750">
              <a:lnSpc>
                <a:spcPct val="90000"/>
              </a:lnSpc>
              <a:spcBef>
                <a:spcPct val="0"/>
              </a:spcBef>
              <a:spcAft>
                <a:spcPct val="35000"/>
              </a:spcAft>
            </a:pPr>
            <a:r>
              <a:rPr lang="en-US" sz="2400" dirty="0">
                <a:solidFill>
                  <a:prstClr val="white"/>
                </a:solidFill>
                <a:latin typeface="Calibri" panose="020F0502020204030204"/>
              </a:rPr>
              <a:t>Experimental design</a:t>
            </a:r>
            <a:endParaRPr lang="nl-BE" sz="2400" dirty="0">
              <a:solidFill>
                <a:prstClr val="white"/>
              </a:solidFill>
              <a:latin typeface="Calibri" panose="020F0502020204030204"/>
            </a:endParaRPr>
          </a:p>
        </p:txBody>
      </p:sp>
      <p:sp>
        <p:nvSpPr>
          <p:cNvPr id="30" name="Freeform: Shape 29">
            <a:extLst>
              <a:ext uri="{FF2B5EF4-FFF2-40B4-BE49-F238E27FC236}">
                <a16:creationId xmlns:a16="http://schemas.microsoft.com/office/drawing/2014/main" id="{E2124C52-017E-569C-149A-B9E1088F5A72}"/>
              </a:ext>
            </a:extLst>
          </p:cNvPr>
          <p:cNvSpPr/>
          <p:nvPr/>
        </p:nvSpPr>
        <p:spPr>
          <a:xfrm>
            <a:off x="3118539" y="1443485"/>
            <a:ext cx="3239986" cy="4499983"/>
          </a:xfrm>
          <a:custGeom>
            <a:avLst/>
            <a:gdLst>
              <a:gd name="connsiteX0" fmla="*/ 0 w 3239986"/>
              <a:gd name="connsiteY0" fmla="*/ 323999 h 4499983"/>
              <a:gd name="connsiteX1" fmla="*/ 323999 w 3239986"/>
              <a:gd name="connsiteY1" fmla="*/ 0 h 4499983"/>
              <a:gd name="connsiteX2" fmla="*/ 2915987 w 3239986"/>
              <a:gd name="connsiteY2" fmla="*/ 0 h 4499983"/>
              <a:gd name="connsiteX3" fmla="*/ 3239986 w 3239986"/>
              <a:gd name="connsiteY3" fmla="*/ 323999 h 4499983"/>
              <a:gd name="connsiteX4" fmla="*/ 3239986 w 3239986"/>
              <a:gd name="connsiteY4" fmla="*/ 4175984 h 4499983"/>
              <a:gd name="connsiteX5" fmla="*/ 2915987 w 3239986"/>
              <a:gd name="connsiteY5" fmla="*/ 4499983 h 4499983"/>
              <a:gd name="connsiteX6" fmla="*/ 323999 w 3239986"/>
              <a:gd name="connsiteY6" fmla="*/ 4499983 h 4499983"/>
              <a:gd name="connsiteX7" fmla="*/ 0 w 3239986"/>
              <a:gd name="connsiteY7" fmla="*/ 4175984 h 4499983"/>
              <a:gd name="connsiteX8" fmla="*/ 0 w 3239986"/>
              <a:gd name="connsiteY8" fmla="*/ 323999 h 449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986" h="4499983">
                <a:moveTo>
                  <a:pt x="0" y="323999"/>
                </a:moveTo>
                <a:cubicBezTo>
                  <a:pt x="0" y="145059"/>
                  <a:pt x="145059" y="0"/>
                  <a:pt x="323999" y="0"/>
                </a:cubicBezTo>
                <a:lnTo>
                  <a:pt x="2915987" y="0"/>
                </a:lnTo>
                <a:cubicBezTo>
                  <a:pt x="3094927" y="0"/>
                  <a:pt x="3239986" y="145059"/>
                  <a:pt x="3239986" y="323999"/>
                </a:cubicBezTo>
                <a:lnTo>
                  <a:pt x="3239986" y="4175984"/>
                </a:lnTo>
                <a:cubicBezTo>
                  <a:pt x="3239986" y="4354924"/>
                  <a:pt x="3094927" y="4499983"/>
                  <a:pt x="2915987" y="4499983"/>
                </a:cubicBezTo>
                <a:lnTo>
                  <a:pt x="323999" y="4499983"/>
                </a:lnTo>
                <a:cubicBezTo>
                  <a:pt x="145059" y="4499983"/>
                  <a:pt x="0" y="4354924"/>
                  <a:pt x="0" y="4175984"/>
                </a:cubicBezTo>
                <a:lnTo>
                  <a:pt x="0" y="323999"/>
                </a:lnTo>
                <a:close/>
              </a:path>
            </a:pathLst>
          </a:custGeom>
        </p:spPr>
        <p:style>
          <a:lnRef idx="0">
            <a:schemeClr val="dk1">
              <a:hueOff val="0"/>
              <a:satOff val="0"/>
              <a:lumOff val="0"/>
              <a:alphaOff val="0"/>
            </a:schemeClr>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spcFirstLastPara="0" vert="horz" wrap="square" lIns="121920" tIns="244800" rIns="121920" bIns="3271908" numCol="1" spcCol="1270" anchor="t" anchorCtr="0">
            <a:noAutofit/>
          </a:bodyPr>
          <a:lstStyle/>
          <a:p>
            <a:pPr marL="0" lvl="0" indent="0" algn="ctr" defTabSz="1422400">
              <a:lnSpc>
                <a:spcPct val="90000"/>
              </a:lnSpc>
              <a:spcBef>
                <a:spcPct val="0"/>
              </a:spcBef>
              <a:spcAft>
                <a:spcPct val="35000"/>
              </a:spcAft>
              <a:buNone/>
            </a:pPr>
            <a:r>
              <a:rPr lang="en-US" sz="3200" kern="1200" dirty="0">
                <a:solidFill>
                  <a:srgbClr val="005E77"/>
                </a:solidFill>
              </a:rPr>
              <a:t>Materials</a:t>
            </a:r>
            <a:endParaRPr lang="nl-BE" sz="3200" kern="1200" dirty="0">
              <a:solidFill>
                <a:srgbClr val="005E77"/>
              </a:solidFill>
            </a:endParaRPr>
          </a:p>
        </p:txBody>
      </p:sp>
      <p:sp>
        <p:nvSpPr>
          <p:cNvPr id="31" name="Freeform: Shape 30">
            <a:extLst>
              <a:ext uri="{FF2B5EF4-FFF2-40B4-BE49-F238E27FC236}">
                <a16:creationId xmlns:a16="http://schemas.microsoft.com/office/drawing/2014/main" id="{77CE3308-3613-4AA7-6D25-A2FAAAD37F39}"/>
              </a:ext>
            </a:extLst>
          </p:cNvPr>
          <p:cNvSpPr/>
          <p:nvPr/>
        </p:nvSpPr>
        <p:spPr>
          <a:xfrm>
            <a:off x="3298527" y="2330972"/>
            <a:ext cx="2880010" cy="588873"/>
          </a:xfrm>
          <a:custGeom>
            <a:avLst/>
            <a:gdLst>
              <a:gd name="connsiteX0" fmla="*/ 0 w 2880010"/>
              <a:gd name="connsiteY0" fmla="*/ 53017 h 530165"/>
              <a:gd name="connsiteX1" fmla="*/ 53017 w 2880010"/>
              <a:gd name="connsiteY1" fmla="*/ 0 h 530165"/>
              <a:gd name="connsiteX2" fmla="*/ 2826994 w 2880010"/>
              <a:gd name="connsiteY2" fmla="*/ 0 h 530165"/>
              <a:gd name="connsiteX3" fmla="*/ 2880011 w 2880010"/>
              <a:gd name="connsiteY3" fmla="*/ 53017 h 530165"/>
              <a:gd name="connsiteX4" fmla="*/ 2880010 w 2880010"/>
              <a:gd name="connsiteY4" fmla="*/ 477149 h 530165"/>
              <a:gd name="connsiteX5" fmla="*/ 2826993 w 2880010"/>
              <a:gd name="connsiteY5" fmla="*/ 530166 h 530165"/>
              <a:gd name="connsiteX6" fmla="*/ 53017 w 2880010"/>
              <a:gd name="connsiteY6" fmla="*/ 530165 h 530165"/>
              <a:gd name="connsiteX7" fmla="*/ 0 w 2880010"/>
              <a:gd name="connsiteY7" fmla="*/ 477148 h 530165"/>
              <a:gd name="connsiteX8" fmla="*/ 0 w 2880010"/>
              <a:gd name="connsiteY8" fmla="*/ 53017 h 53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0010" h="530165">
                <a:moveTo>
                  <a:pt x="0" y="53017"/>
                </a:moveTo>
                <a:cubicBezTo>
                  <a:pt x="0" y="23737"/>
                  <a:pt x="23737" y="0"/>
                  <a:pt x="53017" y="0"/>
                </a:cubicBezTo>
                <a:lnTo>
                  <a:pt x="2826994" y="0"/>
                </a:lnTo>
                <a:cubicBezTo>
                  <a:pt x="2856274" y="0"/>
                  <a:pt x="2880011" y="23737"/>
                  <a:pt x="2880011" y="53017"/>
                </a:cubicBezTo>
                <a:cubicBezTo>
                  <a:pt x="2880011" y="194394"/>
                  <a:pt x="2880010" y="335772"/>
                  <a:pt x="2880010" y="477149"/>
                </a:cubicBezTo>
                <a:cubicBezTo>
                  <a:pt x="2880010" y="506429"/>
                  <a:pt x="2856273" y="530166"/>
                  <a:pt x="2826993" y="530166"/>
                </a:cubicBezTo>
                <a:lnTo>
                  <a:pt x="53017" y="530165"/>
                </a:lnTo>
                <a:cubicBezTo>
                  <a:pt x="23737" y="530165"/>
                  <a:pt x="0" y="506428"/>
                  <a:pt x="0" y="477148"/>
                </a:cubicBezTo>
                <a:lnTo>
                  <a:pt x="0" y="53017"/>
                </a:lnTo>
                <a:close/>
              </a:path>
            </a:pathLst>
          </a:custGeom>
          <a:solidFill>
            <a:srgbClr val="80CDF0"/>
          </a:solidFill>
        </p:spPr>
        <p:style>
          <a:lnRef idx="2">
            <a:schemeClr val="lt1">
              <a:hueOff val="0"/>
              <a:satOff val="0"/>
              <a:lumOff val="0"/>
              <a:alphaOff val="0"/>
            </a:schemeClr>
          </a:lnRef>
          <a:fillRef idx="1">
            <a:scrgbClr r="0" g="0" b="0"/>
          </a:fillRef>
          <a:effectRef idx="0">
            <a:schemeClr val="accent4">
              <a:alpha val="90000"/>
              <a:hueOff val="0"/>
              <a:satOff val="0"/>
              <a:lumOff val="0"/>
              <a:alphaOff val="-7273"/>
            </a:schemeClr>
          </a:effectRef>
          <a:fontRef idx="minor">
            <a:schemeClr val="lt1"/>
          </a:fontRef>
        </p:style>
        <p:txBody>
          <a:bodyPr spcFirstLastPara="0" vert="horz" wrap="square" lIns="48548" tIns="40293" rIns="48548" bIns="40293" numCol="1" spcCol="1270" anchor="ctr" anchorCtr="0">
            <a:noAutofit/>
          </a:bodyPr>
          <a:lstStyle/>
          <a:p>
            <a:pPr lvl="0" algn="ctr" defTabSz="577850">
              <a:lnSpc>
                <a:spcPct val="90000"/>
              </a:lnSpc>
              <a:spcBef>
                <a:spcPct val="0"/>
              </a:spcBef>
              <a:spcAft>
                <a:spcPct val="35000"/>
              </a:spcAft>
            </a:pPr>
            <a:r>
              <a:rPr lang="en-US" sz="1600" kern="1200" dirty="0"/>
              <a:t>Specimens – Samples</a:t>
            </a:r>
            <a:br>
              <a:rPr lang="en-US" sz="1600" kern="1200" dirty="0"/>
            </a:br>
            <a:r>
              <a:rPr lang="en-US" sz="1600" kern="1200" dirty="0"/>
              <a:t>Study object </a:t>
            </a:r>
            <a:r>
              <a:rPr lang="en-US" sz="1600" dirty="0"/>
              <a:t>– </a:t>
            </a:r>
            <a:r>
              <a:rPr lang="en-US" sz="1600" kern="1200" dirty="0"/>
              <a:t>Input files</a:t>
            </a:r>
            <a:endParaRPr lang="nl-BE" sz="1600" kern="1200" dirty="0"/>
          </a:p>
        </p:txBody>
      </p:sp>
      <p:sp>
        <p:nvSpPr>
          <p:cNvPr id="32" name="Freeform: Shape 31">
            <a:extLst>
              <a:ext uri="{FF2B5EF4-FFF2-40B4-BE49-F238E27FC236}">
                <a16:creationId xmlns:a16="http://schemas.microsoft.com/office/drawing/2014/main" id="{1E6FD45C-3E4B-8929-8E67-A20749D36A82}"/>
              </a:ext>
            </a:extLst>
          </p:cNvPr>
          <p:cNvSpPr/>
          <p:nvPr/>
        </p:nvSpPr>
        <p:spPr>
          <a:xfrm>
            <a:off x="3298527" y="3043686"/>
            <a:ext cx="2880010" cy="588873"/>
          </a:xfrm>
          <a:custGeom>
            <a:avLst/>
            <a:gdLst>
              <a:gd name="connsiteX0" fmla="*/ 0 w 2880010"/>
              <a:gd name="connsiteY0" fmla="*/ 53017 h 530165"/>
              <a:gd name="connsiteX1" fmla="*/ 53017 w 2880010"/>
              <a:gd name="connsiteY1" fmla="*/ 0 h 530165"/>
              <a:gd name="connsiteX2" fmla="*/ 2826994 w 2880010"/>
              <a:gd name="connsiteY2" fmla="*/ 0 h 530165"/>
              <a:gd name="connsiteX3" fmla="*/ 2880011 w 2880010"/>
              <a:gd name="connsiteY3" fmla="*/ 53017 h 530165"/>
              <a:gd name="connsiteX4" fmla="*/ 2880010 w 2880010"/>
              <a:gd name="connsiteY4" fmla="*/ 477149 h 530165"/>
              <a:gd name="connsiteX5" fmla="*/ 2826993 w 2880010"/>
              <a:gd name="connsiteY5" fmla="*/ 530166 h 530165"/>
              <a:gd name="connsiteX6" fmla="*/ 53017 w 2880010"/>
              <a:gd name="connsiteY6" fmla="*/ 530165 h 530165"/>
              <a:gd name="connsiteX7" fmla="*/ 0 w 2880010"/>
              <a:gd name="connsiteY7" fmla="*/ 477148 h 530165"/>
              <a:gd name="connsiteX8" fmla="*/ 0 w 2880010"/>
              <a:gd name="connsiteY8" fmla="*/ 53017 h 53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0010" h="530165">
                <a:moveTo>
                  <a:pt x="0" y="53017"/>
                </a:moveTo>
                <a:cubicBezTo>
                  <a:pt x="0" y="23737"/>
                  <a:pt x="23737" y="0"/>
                  <a:pt x="53017" y="0"/>
                </a:cubicBezTo>
                <a:lnTo>
                  <a:pt x="2826994" y="0"/>
                </a:lnTo>
                <a:cubicBezTo>
                  <a:pt x="2856274" y="0"/>
                  <a:pt x="2880011" y="23737"/>
                  <a:pt x="2880011" y="53017"/>
                </a:cubicBezTo>
                <a:cubicBezTo>
                  <a:pt x="2880011" y="194394"/>
                  <a:pt x="2880010" y="335772"/>
                  <a:pt x="2880010" y="477149"/>
                </a:cubicBezTo>
                <a:cubicBezTo>
                  <a:pt x="2880010" y="506429"/>
                  <a:pt x="2856273" y="530166"/>
                  <a:pt x="2826993" y="530166"/>
                </a:cubicBezTo>
                <a:lnTo>
                  <a:pt x="53017" y="530165"/>
                </a:lnTo>
                <a:cubicBezTo>
                  <a:pt x="23737" y="530165"/>
                  <a:pt x="0" y="506428"/>
                  <a:pt x="0" y="477148"/>
                </a:cubicBezTo>
                <a:lnTo>
                  <a:pt x="0" y="53017"/>
                </a:lnTo>
                <a:close/>
              </a:path>
            </a:pathLst>
          </a:custGeom>
          <a:solidFill>
            <a:srgbClr val="00ABDA"/>
          </a:solidFill>
        </p:spPr>
        <p:style>
          <a:lnRef idx="2">
            <a:schemeClr val="lt1">
              <a:hueOff val="0"/>
              <a:satOff val="0"/>
              <a:lumOff val="0"/>
              <a:alphaOff val="0"/>
            </a:schemeClr>
          </a:lnRef>
          <a:fillRef idx="1">
            <a:scrgbClr r="0" g="0" b="0"/>
          </a:fillRef>
          <a:effectRef idx="0">
            <a:schemeClr val="accent4">
              <a:alpha val="90000"/>
              <a:hueOff val="0"/>
              <a:satOff val="0"/>
              <a:lumOff val="0"/>
              <a:alphaOff val="-14545"/>
            </a:schemeClr>
          </a:effectRef>
          <a:fontRef idx="minor">
            <a:schemeClr val="lt1"/>
          </a:fontRef>
        </p:style>
        <p:txBody>
          <a:bodyPr spcFirstLastPara="0" vert="horz" wrap="square" lIns="48548" tIns="40293" rIns="48548" bIns="40293" numCol="1" spcCol="1270" anchor="ctr" anchorCtr="0">
            <a:noAutofit/>
          </a:bodyPr>
          <a:lstStyle/>
          <a:p>
            <a:pPr algn="ctr" defTabSz="577850">
              <a:lnSpc>
                <a:spcPct val="90000"/>
              </a:lnSpc>
              <a:spcBef>
                <a:spcPct val="0"/>
              </a:spcBef>
              <a:spcAft>
                <a:spcPct val="35000"/>
              </a:spcAft>
            </a:pPr>
            <a:r>
              <a:rPr lang="en-US" sz="1600" dirty="0"/>
              <a:t>Ingredients </a:t>
            </a:r>
            <a:r>
              <a:rPr lang="en-US" sz="1600"/>
              <a:t>– materials</a:t>
            </a:r>
            <a:r>
              <a:rPr lang="en-US" sz="1600" dirty="0"/>
              <a:t> </a:t>
            </a:r>
            <a:br>
              <a:rPr lang="en-US" sz="1600" dirty="0"/>
            </a:br>
            <a:r>
              <a:rPr lang="en-US" sz="1600" dirty="0"/>
              <a:t>Code – Packages </a:t>
            </a:r>
            <a:endParaRPr lang="nl-BE" sz="1600" dirty="0"/>
          </a:p>
        </p:txBody>
      </p:sp>
      <p:sp>
        <p:nvSpPr>
          <p:cNvPr id="33" name="Freeform: Shape 32">
            <a:extLst>
              <a:ext uri="{FF2B5EF4-FFF2-40B4-BE49-F238E27FC236}">
                <a16:creationId xmlns:a16="http://schemas.microsoft.com/office/drawing/2014/main" id="{F6B7AAE6-374B-72B6-3FE8-FC09FE6DB094}"/>
              </a:ext>
            </a:extLst>
          </p:cNvPr>
          <p:cNvSpPr/>
          <p:nvPr/>
        </p:nvSpPr>
        <p:spPr>
          <a:xfrm>
            <a:off x="3298527" y="3756400"/>
            <a:ext cx="2880010" cy="588873"/>
          </a:xfrm>
          <a:custGeom>
            <a:avLst/>
            <a:gdLst>
              <a:gd name="connsiteX0" fmla="*/ 0 w 2880010"/>
              <a:gd name="connsiteY0" fmla="*/ 53017 h 530165"/>
              <a:gd name="connsiteX1" fmla="*/ 53017 w 2880010"/>
              <a:gd name="connsiteY1" fmla="*/ 0 h 530165"/>
              <a:gd name="connsiteX2" fmla="*/ 2826994 w 2880010"/>
              <a:gd name="connsiteY2" fmla="*/ 0 h 530165"/>
              <a:gd name="connsiteX3" fmla="*/ 2880011 w 2880010"/>
              <a:gd name="connsiteY3" fmla="*/ 53017 h 530165"/>
              <a:gd name="connsiteX4" fmla="*/ 2880010 w 2880010"/>
              <a:gd name="connsiteY4" fmla="*/ 477149 h 530165"/>
              <a:gd name="connsiteX5" fmla="*/ 2826993 w 2880010"/>
              <a:gd name="connsiteY5" fmla="*/ 530166 h 530165"/>
              <a:gd name="connsiteX6" fmla="*/ 53017 w 2880010"/>
              <a:gd name="connsiteY6" fmla="*/ 530165 h 530165"/>
              <a:gd name="connsiteX7" fmla="*/ 0 w 2880010"/>
              <a:gd name="connsiteY7" fmla="*/ 477148 h 530165"/>
              <a:gd name="connsiteX8" fmla="*/ 0 w 2880010"/>
              <a:gd name="connsiteY8" fmla="*/ 53017 h 53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0010" h="530165">
                <a:moveTo>
                  <a:pt x="0" y="53017"/>
                </a:moveTo>
                <a:cubicBezTo>
                  <a:pt x="0" y="23737"/>
                  <a:pt x="23737" y="0"/>
                  <a:pt x="53017" y="0"/>
                </a:cubicBezTo>
                <a:lnTo>
                  <a:pt x="2826994" y="0"/>
                </a:lnTo>
                <a:cubicBezTo>
                  <a:pt x="2856274" y="0"/>
                  <a:pt x="2880011" y="23737"/>
                  <a:pt x="2880011" y="53017"/>
                </a:cubicBezTo>
                <a:cubicBezTo>
                  <a:pt x="2880011" y="194394"/>
                  <a:pt x="2880010" y="335772"/>
                  <a:pt x="2880010" y="477149"/>
                </a:cubicBezTo>
                <a:cubicBezTo>
                  <a:pt x="2880010" y="506429"/>
                  <a:pt x="2856273" y="530166"/>
                  <a:pt x="2826993" y="530166"/>
                </a:cubicBezTo>
                <a:lnTo>
                  <a:pt x="53017" y="530165"/>
                </a:lnTo>
                <a:cubicBezTo>
                  <a:pt x="23737" y="530165"/>
                  <a:pt x="0" y="506428"/>
                  <a:pt x="0" y="477148"/>
                </a:cubicBezTo>
                <a:lnTo>
                  <a:pt x="0" y="53017"/>
                </a:lnTo>
                <a:close/>
              </a:path>
            </a:pathLst>
          </a:custGeom>
          <a:solidFill>
            <a:srgbClr val="007FA2"/>
          </a:solidFill>
        </p:spPr>
        <p:style>
          <a:lnRef idx="2">
            <a:schemeClr val="lt1">
              <a:hueOff val="0"/>
              <a:satOff val="0"/>
              <a:lumOff val="0"/>
              <a:alphaOff val="0"/>
            </a:schemeClr>
          </a:lnRef>
          <a:fillRef idx="1">
            <a:scrgbClr r="0" g="0" b="0"/>
          </a:fillRef>
          <a:effectRef idx="0">
            <a:schemeClr val="accent4">
              <a:alpha val="90000"/>
              <a:hueOff val="0"/>
              <a:satOff val="0"/>
              <a:lumOff val="0"/>
              <a:alphaOff val="-14545"/>
            </a:schemeClr>
          </a:effectRef>
          <a:fontRef idx="minor">
            <a:schemeClr val="lt1"/>
          </a:fontRef>
        </p:style>
        <p:txBody>
          <a:bodyPr spcFirstLastPara="0" vert="horz" wrap="square" lIns="48548" tIns="40293" rIns="48548" bIns="40293" numCol="1" spcCol="1270" anchor="ctr" anchorCtr="0">
            <a:noAutofit/>
          </a:bodyPr>
          <a:lstStyle/>
          <a:p>
            <a:pPr marL="0" lvl="0" indent="0" algn="ctr" defTabSz="577850">
              <a:lnSpc>
                <a:spcPct val="90000"/>
              </a:lnSpc>
              <a:spcBef>
                <a:spcPct val="0"/>
              </a:spcBef>
              <a:spcAft>
                <a:spcPct val="35000"/>
              </a:spcAft>
              <a:buNone/>
            </a:pPr>
            <a:r>
              <a:rPr lang="en-US" sz="1600" kern="1200" dirty="0"/>
              <a:t>Instruments – Machines</a:t>
            </a:r>
            <a:br>
              <a:rPr lang="en-US" sz="1600" kern="1200" dirty="0"/>
            </a:br>
            <a:r>
              <a:rPr lang="en-US" sz="1600" kern="1200" dirty="0"/>
              <a:t>Tools </a:t>
            </a:r>
            <a:r>
              <a:rPr lang="en-US" sz="1600" dirty="0"/>
              <a:t>– </a:t>
            </a:r>
            <a:r>
              <a:rPr lang="en-US" sz="1600" kern="1200" dirty="0"/>
              <a:t>Hardware - Software</a:t>
            </a:r>
            <a:endParaRPr lang="nl-BE" sz="1600" kern="1200" dirty="0"/>
          </a:p>
        </p:txBody>
      </p:sp>
      <p:sp>
        <p:nvSpPr>
          <p:cNvPr id="34" name="Freeform: Shape 33">
            <a:extLst>
              <a:ext uri="{FF2B5EF4-FFF2-40B4-BE49-F238E27FC236}">
                <a16:creationId xmlns:a16="http://schemas.microsoft.com/office/drawing/2014/main" id="{A6F1ED4D-9FC8-1681-AB6F-B1DFE368F928}"/>
              </a:ext>
            </a:extLst>
          </p:cNvPr>
          <p:cNvSpPr/>
          <p:nvPr/>
        </p:nvSpPr>
        <p:spPr>
          <a:xfrm>
            <a:off x="3298527" y="4460868"/>
            <a:ext cx="2880010" cy="588873"/>
          </a:xfrm>
          <a:custGeom>
            <a:avLst/>
            <a:gdLst>
              <a:gd name="connsiteX0" fmla="*/ 0 w 2880010"/>
              <a:gd name="connsiteY0" fmla="*/ 53017 h 530165"/>
              <a:gd name="connsiteX1" fmla="*/ 53017 w 2880010"/>
              <a:gd name="connsiteY1" fmla="*/ 0 h 530165"/>
              <a:gd name="connsiteX2" fmla="*/ 2826994 w 2880010"/>
              <a:gd name="connsiteY2" fmla="*/ 0 h 530165"/>
              <a:gd name="connsiteX3" fmla="*/ 2880011 w 2880010"/>
              <a:gd name="connsiteY3" fmla="*/ 53017 h 530165"/>
              <a:gd name="connsiteX4" fmla="*/ 2880010 w 2880010"/>
              <a:gd name="connsiteY4" fmla="*/ 477149 h 530165"/>
              <a:gd name="connsiteX5" fmla="*/ 2826993 w 2880010"/>
              <a:gd name="connsiteY5" fmla="*/ 530166 h 530165"/>
              <a:gd name="connsiteX6" fmla="*/ 53017 w 2880010"/>
              <a:gd name="connsiteY6" fmla="*/ 530165 h 530165"/>
              <a:gd name="connsiteX7" fmla="*/ 0 w 2880010"/>
              <a:gd name="connsiteY7" fmla="*/ 477148 h 530165"/>
              <a:gd name="connsiteX8" fmla="*/ 0 w 2880010"/>
              <a:gd name="connsiteY8" fmla="*/ 53017 h 53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0010" h="530165">
                <a:moveTo>
                  <a:pt x="0" y="53017"/>
                </a:moveTo>
                <a:cubicBezTo>
                  <a:pt x="0" y="23737"/>
                  <a:pt x="23737" y="0"/>
                  <a:pt x="53017" y="0"/>
                </a:cubicBezTo>
                <a:lnTo>
                  <a:pt x="2826994" y="0"/>
                </a:lnTo>
                <a:cubicBezTo>
                  <a:pt x="2856274" y="0"/>
                  <a:pt x="2880011" y="23737"/>
                  <a:pt x="2880011" y="53017"/>
                </a:cubicBezTo>
                <a:cubicBezTo>
                  <a:pt x="2880011" y="194394"/>
                  <a:pt x="2880010" y="335772"/>
                  <a:pt x="2880010" y="477149"/>
                </a:cubicBezTo>
                <a:cubicBezTo>
                  <a:pt x="2880010" y="506429"/>
                  <a:pt x="2856273" y="530166"/>
                  <a:pt x="2826993" y="530166"/>
                </a:cubicBezTo>
                <a:lnTo>
                  <a:pt x="53017" y="530165"/>
                </a:lnTo>
                <a:cubicBezTo>
                  <a:pt x="23737" y="530165"/>
                  <a:pt x="0" y="506428"/>
                  <a:pt x="0" y="477148"/>
                </a:cubicBezTo>
                <a:lnTo>
                  <a:pt x="0" y="53017"/>
                </a:lnTo>
                <a:close/>
              </a:path>
            </a:pathLst>
          </a:custGeom>
          <a:solidFill>
            <a:srgbClr val="005B74"/>
          </a:solidFill>
        </p:spPr>
        <p:style>
          <a:lnRef idx="2">
            <a:schemeClr val="lt1">
              <a:hueOff val="0"/>
              <a:satOff val="0"/>
              <a:lumOff val="0"/>
              <a:alphaOff val="0"/>
            </a:schemeClr>
          </a:lnRef>
          <a:fillRef idx="1">
            <a:scrgbClr r="0" g="0" b="0"/>
          </a:fillRef>
          <a:effectRef idx="0">
            <a:schemeClr val="accent4">
              <a:alpha val="90000"/>
              <a:hueOff val="0"/>
              <a:satOff val="0"/>
              <a:lumOff val="0"/>
              <a:alphaOff val="-18182"/>
            </a:schemeClr>
          </a:effectRef>
          <a:fontRef idx="minor">
            <a:schemeClr val="lt1"/>
          </a:fontRef>
        </p:style>
        <p:txBody>
          <a:bodyPr spcFirstLastPara="0" vert="horz" wrap="square" lIns="46008" tIns="38388" rIns="46008" bIns="38388" numCol="1" spcCol="1270" anchor="ctr" anchorCtr="0">
            <a:noAutofit/>
          </a:bodyPr>
          <a:lstStyle/>
          <a:p>
            <a:pPr algn="ctr" defTabSz="533400">
              <a:lnSpc>
                <a:spcPct val="90000"/>
              </a:lnSpc>
              <a:spcBef>
                <a:spcPct val="0"/>
              </a:spcBef>
              <a:spcAft>
                <a:spcPct val="35000"/>
              </a:spcAft>
            </a:pPr>
            <a:r>
              <a:rPr lang="en-US" sz="1600" kern="1200" dirty="0"/>
              <a:t>Experimental Conditions</a:t>
            </a:r>
            <a:br>
              <a:rPr lang="en-US" sz="1600" kern="1200" dirty="0"/>
            </a:br>
            <a:r>
              <a:rPr lang="en-US" sz="1600" kern="1200"/>
              <a:t>Parameters –</a:t>
            </a:r>
            <a:r>
              <a:rPr lang="en-US" sz="1600"/>
              <a:t> </a:t>
            </a:r>
            <a:r>
              <a:rPr lang="en-US" sz="1600" kern="1200"/>
              <a:t>Settings</a:t>
            </a:r>
            <a:endParaRPr lang="nl-BE" sz="1600" kern="1200"/>
          </a:p>
        </p:txBody>
      </p:sp>
      <p:sp>
        <p:nvSpPr>
          <p:cNvPr id="35" name="Freeform: Shape 34">
            <a:extLst>
              <a:ext uri="{FF2B5EF4-FFF2-40B4-BE49-F238E27FC236}">
                <a16:creationId xmlns:a16="http://schemas.microsoft.com/office/drawing/2014/main" id="{B2D8BE8F-480D-A3A9-BB55-5E7DC12C9406}"/>
              </a:ext>
            </a:extLst>
          </p:cNvPr>
          <p:cNvSpPr/>
          <p:nvPr/>
        </p:nvSpPr>
        <p:spPr>
          <a:xfrm>
            <a:off x="3298527" y="5165337"/>
            <a:ext cx="2880010" cy="588873"/>
          </a:xfrm>
          <a:custGeom>
            <a:avLst/>
            <a:gdLst>
              <a:gd name="connsiteX0" fmla="*/ 0 w 2880010"/>
              <a:gd name="connsiteY0" fmla="*/ 53017 h 530165"/>
              <a:gd name="connsiteX1" fmla="*/ 53017 w 2880010"/>
              <a:gd name="connsiteY1" fmla="*/ 0 h 530165"/>
              <a:gd name="connsiteX2" fmla="*/ 2826994 w 2880010"/>
              <a:gd name="connsiteY2" fmla="*/ 0 h 530165"/>
              <a:gd name="connsiteX3" fmla="*/ 2880011 w 2880010"/>
              <a:gd name="connsiteY3" fmla="*/ 53017 h 530165"/>
              <a:gd name="connsiteX4" fmla="*/ 2880010 w 2880010"/>
              <a:gd name="connsiteY4" fmla="*/ 477149 h 530165"/>
              <a:gd name="connsiteX5" fmla="*/ 2826993 w 2880010"/>
              <a:gd name="connsiteY5" fmla="*/ 530166 h 530165"/>
              <a:gd name="connsiteX6" fmla="*/ 53017 w 2880010"/>
              <a:gd name="connsiteY6" fmla="*/ 530165 h 530165"/>
              <a:gd name="connsiteX7" fmla="*/ 0 w 2880010"/>
              <a:gd name="connsiteY7" fmla="*/ 477148 h 530165"/>
              <a:gd name="connsiteX8" fmla="*/ 0 w 2880010"/>
              <a:gd name="connsiteY8" fmla="*/ 53017 h 53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0010" h="530165">
                <a:moveTo>
                  <a:pt x="0" y="53017"/>
                </a:moveTo>
                <a:cubicBezTo>
                  <a:pt x="0" y="23737"/>
                  <a:pt x="23737" y="0"/>
                  <a:pt x="53017" y="0"/>
                </a:cubicBezTo>
                <a:lnTo>
                  <a:pt x="2826994" y="0"/>
                </a:lnTo>
                <a:cubicBezTo>
                  <a:pt x="2856274" y="0"/>
                  <a:pt x="2880011" y="23737"/>
                  <a:pt x="2880011" y="53017"/>
                </a:cubicBezTo>
                <a:cubicBezTo>
                  <a:pt x="2880011" y="194394"/>
                  <a:pt x="2880010" y="335772"/>
                  <a:pt x="2880010" y="477149"/>
                </a:cubicBezTo>
                <a:cubicBezTo>
                  <a:pt x="2880010" y="506429"/>
                  <a:pt x="2856273" y="530166"/>
                  <a:pt x="2826993" y="530166"/>
                </a:cubicBezTo>
                <a:lnTo>
                  <a:pt x="53017" y="530165"/>
                </a:lnTo>
                <a:cubicBezTo>
                  <a:pt x="23737" y="530165"/>
                  <a:pt x="0" y="506428"/>
                  <a:pt x="0" y="477148"/>
                </a:cubicBezTo>
                <a:lnTo>
                  <a:pt x="0" y="53017"/>
                </a:lnTo>
                <a:close/>
              </a:path>
            </a:pathLst>
          </a:custGeom>
          <a:solidFill>
            <a:srgbClr val="003C4C"/>
          </a:solidFill>
        </p:spPr>
        <p:style>
          <a:lnRef idx="2">
            <a:schemeClr val="lt1">
              <a:hueOff val="0"/>
              <a:satOff val="0"/>
              <a:lumOff val="0"/>
              <a:alphaOff val="0"/>
            </a:schemeClr>
          </a:lnRef>
          <a:fillRef idx="1">
            <a:scrgbClr r="0" g="0" b="0"/>
          </a:fillRef>
          <a:effectRef idx="0">
            <a:schemeClr val="accent4">
              <a:alpha val="90000"/>
              <a:hueOff val="0"/>
              <a:satOff val="0"/>
              <a:lumOff val="0"/>
              <a:alphaOff val="-21818"/>
            </a:schemeClr>
          </a:effectRef>
          <a:fontRef idx="minor">
            <a:schemeClr val="lt1"/>
          </a:fontRef>
        </p:style>
        <p:txBody>
          <a:bodyPr spcFirstLastPara="0" vert="horz" wrap="square" lIns="46008" tIns="38388" rIns="46008" bIns="38388" numCol="1" spcCol="1270" anchor="ctr" anchorCtr="0">
            <a:noAutofit/>
          </a:bodyPr>
          <a:lstStyle/>
          <a:p>
            <a:pPr marL="0" lvl="0" indent="0" algn="ctr" defTabSz="533400">
              <a:lnSpc>
                <a:spcPct val="90000"/>
              </a:lnSpc>
              <a:spcBef>
                <a:spcPct val="0"/>
              </a:spcBef>
              <a:spcAft>
                <a:spcPct val="35000"/>
              </a:spcAft>
              <a:buNone/>
            </a:pPr>
            <a:r>
              <a:rPr lang="en-US" sz="1600" kern="1200" dirty="0"/>
              <a:t>Procedures – SOP’s – Protocols</a:t>
            </a:r>
            <a:endParaRPr lang="nl-BE" sz="1600" kern="1200" dirty="0"/>
          </a:p>
        </p:txBody>
      </p:sp>
      <p:sp>
        <p:nvSpPr>
          <p:cNvPr id="36" name="Freeform: Shape 35">
            <a:extLst>
              <a:ext uri="{FF2B5EF4-FFF2-40B4-BE49-F238E27FC236}">
                <a16:creationId xmlns:a16="http://schemas.microsoft.com/office/drawing/2014/main" id="{3DA396F3-5D10-316A-5B51-7C127FC600B3}"/>
              </a:ext>
            </a:extLst>
          </p:cNvPr>
          <p:cNvSpPr/>
          <p:nvPr/>
        </p:nvSpPr>
        <p:spPr>
          <a:xfrm>
            <a:off x="6589805" y="1443485"/>
            <a:ext cx="2485242" cy="4499983"/>
          </a:xfrm>
          <a:custGeom>
            <a:avLst/>
            <a:gdLst>
              <a:gd name="connsiteX0" fmla="*/ 0 w 2485242"/>
              <a:gd name="connsiteY0" fmla="*/ 248524 h 4499983"/>
              <a:gd name="connsiteX1" fmla="*/ 248524 w 2485242"/>
              <a:gd name="connsiteY1" fmla="*/ 0 h 4499983"/>
              <a:gd name="connsiteX2" fmla="*/ 2236718 w 2485242"/>
              <a:gd name="connsiteY2" fmla="*/ 0 h 4499983"/>
              <a:gd name="connsiteX3" fmla="*/ 2485242 w 2485242"/>
              <a:gd name="connsiteY3" fmla="*/ 248524 h 4499983"/>
              <a:gd name="connsiteX4" fmla="*/ 2485242 w 2485242"/>
              <a:gd name="connsiteY4" fmla="*/ 4251459 h 4499983"/>
              <a:gd name="connsiteX5" fmla="*/ 2236718 w 2485242"/>
              <a:gd name="connsiteY5" fmla="*/ 4499983 h 4499983"/>
              <a:gd name="connsiteX6" fmla="*/ 248524 w 2485242"/>
              <a:gd name="connsiteY6" fmla="*/ 4499983 h 4499983"/>
              <a:gd name="connsiteX7" fmla="*/ 0 w 2485242"/>
              <a:gd name="connsiteY7" fmla="*/ 4251459 h 4499983"/>
              <a:gd name="connsiteX8" fmla="*/ 0 w 2485242"/>
              <a:gd name="connsiteY8" fmla="*/ 248524 h 449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5242" h="4499983">
                <a:moveTo>
                  <a:pt x="0" y="248524"/>
                </a:moveTo>
                <a:cubicBezTo>
                  <a:pt x="0" y="111268"/>
                  <a:pt x="111268" y="0"/>
                  <a:pt x="248524" y="0"/>
                </a:cubicBezTo>
                <a:lnTo>
                  <a:pt x="2236718" y="0"/>
                </a:lnTo>
                <a:cubicBezTo>
                  <a:pt x="2373974" y="0"/>
                  <a:pt x="2485242" y="111268"/>
                  <a:pt x="2485242" y="248524"/>
                </a:cubicBezTo>
                <a:lnTo>
                  <a:pt x="2485242" y="4251459"/>
                </a:lnTo>
                <a:cubicBezTo>
                  <a:pt x="2485242" y="4388715"/>
                  <a:pt x="2373974" y="4499983"/>
                  <a:pt x="2236718" y="4499983"/>
                </a:cubicBezTo>
                <a:lnTo>
                  <a:pt x="248524" y="4499983"/>
                </a:lnTo>
                <a:cubicBezTo>
                  <a:pt x="111268" y="4499983"/>
                  <a:pt x="0" y="4388715"/>
                  <a:pt x="0" y="4251459"/>
                </a:cubicBezTo>
                <a:lnTo>
                  <a:pt x="0" y="248524"/>
                </a:lnTo>
                <a:close/>
              </a:path>
            </a:pathLst>
          </a:custGeom>
        </p:spPr>
        <p:style>
          <a:lnRef idx="0">
            <a:schemeClr val="dk1">
              <a:hueOff val="0"/>
              <a:satOff val="0"/>
              <a:lumOff val="0"/>
              <a:alphaOff val="0"/>
            </a:schemeClr>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spcFirstLastPara="0" vert="horz" wrap="square" lIns="121920" tIns="244800" rIns="121920" bIns="3271908" numCol="1" spcCol="1270" anchor="t" anchorCtr="0">
            <a:noAutofit/>
          </a:bodyPr>
          <a:lstStyle/>
          <a:p>
            <a:pPr marL="0" lvl="0" indent="0" algn="ctr" defTabSz="1422400">
              <a:lnSpc>
                <a:spcPct val="90000"/>
              </a:lnSpc>
              <a:spcBef>
                <a:spcPct val="0"/>
              </a:spcBef>
              <a:spcAft>
                <a:spcPct val="35000"/>
              </a:spcAft>
              <a:buNone/>
            </a:pPr>
            <a:r>
              <a:rPr lang="en-US" sz="3200" kern="1200" dirty="0">
                <a:solidFill>
                  <a:srgbClr val="005E77"/>
                </a:solidFill>
              </a:rPr>
              <a:t>Methods</a:t>
            </a:r>
            <a:endParaRPr lang="nl-BE" sz="3200" kern="1200" dirty="0">
              <a:solidFill>
                <a:srgbClr val="005E77"/>
              </a:solidFill>
            </a:endParaRPr>
          </a:p>
        </p:txBody>
      </p:sp>
      <p:sp>
        <p:nvSpPr>
          <p:cNvPr id="37" name="Freeform: Shape 36">
            <a:extLst>
              <a:ext uri="{FF2B5EF4-FFF2-40B4-BE49-F238E27FC236}">
                <a16:creationId xmlns:a16="http://schemas.microsoft.com/office/drawing/2014/main" id="{1B79AF26-54B4-CE92-0413-131C075F0E5D}"/>
              </a:ext>
            </a:extLst>
          </p:cNvPr>
          <p:cNvSpPr/>
          <p:nvPr/>
        </p:nvSpPr>
        <p:spPr>
          <a:xfrm>
            <a:off x="6767318" y="2331448"/>
            <a:ext cx="2130218" cy="1588231"/>
          </a:xfrm>
          <a:custGeom>
            <a:avLst/>
            <a:gdLst>
              <a:gd name="connsiteX0" fmla="*/ 0 w 2130218"/>
              <a:gd name="connsiteY0" fmla="*/ 138178 h 1381775"/>
              <a:gd name="connsiteX1" fmla="*/ 138178 w 2130218"/>
              <a:gd name="connsiteY1" fmla="*/ 0 h 1381775"/>
              <a:gd name="connsiteX2" fmla="*/ 1992041 w 2130218"/>
              <a:gd name="connsiteY2" fmla="*/ 0 h 1381775"/>
              <a:gd name="connsiteX3" fmla="*/ 2130219 w 2130218"/>
              <a:gd name="connsiteY3" fmla="*/ 138178 h 1381775"/>
              <a:gd name="connsiteX4" fmla="*/ 2130218 w 2130218"/>
              <a:gd name="connsiteY4" fmla="*/ 1243598 h 1381775"/>
              <a:gd name="connsiteX5" fmla="*/ 1992040 w 2130218"/>
              <a:gd name="connsiteY5" fmla="*/ 1381776 h 1381775"/>
              <a:gd name="connsiteX6" fmla="*/ 138178 w 2130218"/>
              <a:gd name="connsiteY6" fmla="*/ 1381775 h 1381775"/>
              <a:gd name="connsiteX7" fmla="*/ 0 w 2130218"/>
              <a:gd name="connsiteY7" fmla="*/ 1243597 h 1381775"/>
              <a:gd name="connsiteX8" fmla="*/ 0 w 2130218"/>
              <a:gd name="connsiteY8" fmla="*/ 138178 h 138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0218" h="1381775">
                <a:moveTo>
                  <a:pt x="0" y="138178"/>
                </a:moveTo>
                <a:cubicBezTo>
                  <a:pt x="0" y="61864"/>
                  <a:pt x="61864" y="0"/>
                  <a:pt x="138178" y="0"/>
                </a:cubicBezTo>
                <a:lnTo>
                  <a:pt x="1992041" y="0"/>
                </a:lnTo>
                <a:cubicBezTo>
                  <a:pt x="2068355" y="0"/>
                  <a:pt x="2130219" y="61864"/>
                  <a:pt x="2130219" y="138178"/>
                </a:cubicBezTo>
                <a:cubicBezTo>
                  <a:pt x="2130219" y="506651"/>
                  <a:pt x="2130218" y="875125"/>
                  <a:pt x="2130218" y="1243598"/>
                </a:cubicBezTo>
                <a:cubicBezTo>
                  <a:pt x="2130218" y="1319912"/>
                  <a:pt x="2068354" y="1381776"/>
                  <a:pt x="1992040" y="1381776"/>
                </a:cubicBezTo>
                <a:lnTo>
                  <a:pt x="138178" y="1381775"/>
                </a:lnTo>
                <a:cubicBezTo>
                  <a:pt x="61864" y="1381775"/>
                  <a:pt x="0" y="1319911"/>
                  <a:pt x="0" y="1243597"/>
                </a:cubicBezTo>
                <a:lnTo>
                  <a:pt x="0" y="138178"/>
                </a:lnTo>
                <a:close/>
              </a:path>
            </a:pathLst>
          </a:custGeom>
          <a:solidFill>
            <a:srgbClr val="FFC82D"/>
          </a:solidFill>
        </p:spPr>
        <p:style>
          <a:lnRef idx="2">
            <a:schemeClr val="lt1">
              <a:hueOff val="0"/>
              <a:satOff val="0"/>
              <a:lumOff val="0"/>
              <a:alphaOff val="0"/>
            </a:schemeClr>
          </a:lnRef>
          <a:fillRef idx="1">
            <a:scrgbClr r="0" g="0" b="0"/>
          </a:fillRef>
          <a:effectRef idx="0">
            <a:schemeClr val="accent4">
              <a:alpha val="90000"/>
              <a:hueOff val="0"/>
              <a:satOff val="0"/>
              <a:lumOff val="0"/>
              <a:alphaOff val="-25455"/>
            </a:schemeClr>
          </a:effectRef>
          <a:fontRef idx="minor">
            <a:schemeClr val="lt1"/>
          </a:fontRef>
        </p:style>
        <p:txBody>
          <a:bodyPr spcFirstLastPara="0" vert="horz" wrap="square" lIns="101431" tIns="86191" rIns="101431" bIns="86191" numCol="1" spcCol="1270" anchor="ctr" anchorCtr="0">
            <a:noAutofit/>
          </a:bodyPr>
          <a:lstStyle/>
          <a:p>
            <a:pPr marL="0" lvl="0" indent="0" algn="ctr" defTabSz="1066800">
              <a:lnSpc>
                <a:spcPct val="90000"/>
              </a:lnSpc>
              <a:spcBef>
                <a:spcPct val="0"/>
              </a:spcBef>
              <a:spcAft>
                <a:spcPct val="35000"/>
              </a:spcAft>
              <a:buNone/>
            </a:pPr>
            <a:r>
              <a:rPr lang="en-US" sz="2400" kern="1200" dirty="0"/>
              <a:t>Step by step</a:t>
            </a:r>
            <a:br>
              <a:rPr lang="en-US" sz="2400" kern="1200" dirty="0"/>
            </a:br>
            <a:r>
              <a:rPr lang="en-US" sz="2400" kern="1200" dirty="0"/>
              <a:t>Workflow</a:t>
            </a:r>
            <a:endParaRPr lang="nl-BE" sz="2400" kern="1200" dirty="0"/>
          </a:p>
        </p:txBody>
      </p:sp>
      <p:sp>
        <p:nvSpPr>
          <p:cNvPr id="39" name="Freeform: Shape 38">
            <a:extLst>
              <a:ext uri="{FF2B5EF4-FFF2-40B4-BE49-F238E27FC236}">
                <a16:creationId xmlns:a16="http://schemas.microsoft.com/office/drawing/2014/main" id="{DDA4F57B-2295-8D19-139A-CE86F46D97F7}"/>
              </a:ext>
            </a:extLst>
          </p:cNvPr>
          <p:cNvSpPr/>
          <p:nvPr/>
        </p:nvSpPr>
        <p:spPr>
          <a:xfrm>
            <a:off x="9306329" y="1443485"/>
            <a:ext cx="2309377" cy="4499983"/>
          </a:xfrm>
          <a:custGeom>
            <a:avLst/>
            <a:gdLst>
              <a:gd name="connsiteX0" fmla="*/ 0 w 2309377"/>
              <a:gd name="connsiteY0" fmla="*/ 230938 h 4499983"/>
              <a:gd name="connsiteX1" fmla="*/ 230938 w 2309377"/>
              <a:gd name="connsiteY1" fmla="*/ 0 h 4499983"/>
              <a:gd name="connsiteX2" fmla="*/ 2078439 w 2309377"/>
              <a:gd name="connsiteY2" fmla="*/ 0 h 4499983"/>
              <a:gd name="connsiteX3" fmla="*/ 2309377 w 2309377"/>
              <a:gd name="connsiteY3" fmla="*/ 230938 h 4499983"/>
              <a:gd name="connsiteX4" fmla="*/ 2309377 w 2309377"/>
              <a:gd name="connsiteY4" fmla="*/ 4269045 h 4499983"/>
              <a:gd name="connsiteX5" fmla="*/ 2078439 w 2309377"/>
              <a:gd name="connsiteY5" fmla="*/ 4499983 h 4499983"/>
              <a:gd name="connsiteX6" fmla="*/ 230938 w 2309377"/>
              <a:gd name="connsiteY6" fmla="*/ 4499983 h 4499983"/>
              <a:gd name="connsiteX7" fmla="*/ 0 w 2309377"/>
              <a:gd name="connsiteY7" fmla="*/ 4269045 h 4499983"/>
              <a:gd name="connsiteX8" fmla="*/ 0 w 2309377"/>
              <a:gd name="connsiteY8" fmla="*/ 230938 h 449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9377" h="4499983">
                <a:moveTo>
                  <a:pt x="0" y="230938"/>
                </a:moveTo>
                <a:cubicBezTo>
                  <a:pt x="0" y="103394"/>
                  <a:pt x="103394" y="0"/>
                  <a:pt x="230938" y="0"/>
                </a:cubicBezTo>
                <a:lnTo>
                  <a:pt x="2078439" y="0"/>
                </a:lnTo>
                <a:cubicBezTo>
                  <a:pt x="2205983" y="0"/>
                  <a:pt x="2309377" y="103394"/>
                  <a:pt x="2309377" y="230938"/>
                </a:cubicBezTo>
                <a:lnTo>
                  <a:pt x="2309377" y="4269045"/>
                </a:lnTo>
                <a:cubicBezTo>
                  <a:pt x="2309377" y="4396589"/>
                  <a:pt x="2205983" y="4499983"/>
                  <a:pt x="2078439" y="4499983"/>
                </a:cubicBezTo>
                <a:lnTo>
                  <a:pt x="230938" y="4499983"/>
                </a:lnTo>
                <a:cubicBezTo>
                  <a:pt x="103394" y="4499983"/>
                  <a:pt x="0" y="4396589"/>
                  <a:pt x="0" y="4269045"/>
                </a:cubicBezTo>
                <a:lnTo>
                  <a:pt x="0" y="230938"/>
                </a:lnTo>
                <a:close/>
              </a:path>
            </a:pathLst>
          </a:custGeom>
        </p:spPr>
        <p:style>
          <a:lnRef idx="0">
            <a:schemeClr val="dk1">
              <a:hueOff val="0"/>
              <a:satOff val="0"/>
              <a:lumOff val="0"/>
              <a:alphaOff val="0"/>
            </a:schemeClr>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spcFirstLastPara="0" vert="horz" wrap="square" lIns="121920" tIns="244800" rIns="121920" bIns="3271908" numCol="1" spcCol="1270" anchor="t" anchorCtr="0">
            <a:noAutofit/>
          </a:bodyPr>
          <a:lstStyle/>
          <a:p>
            <a:pPr marL="0" lvl="0" indent="0" algn="ctr" defTabSz="1422400">
              <a:lnSpc>
                <a:spcPct val="90000"/>
              </a:lnSpc>
              <a:spcBef>
                <a:spcPct val="0"/>
              </a:spcBef>
              <a:spcAft>
                <a:spcPct val="35000"/>
              </a:spcAft>
              <a:buNone/>
            </a:pPr>
            <a:r>
              <a:rPr lang="en-US" sz="3200" kern="1200" dirty="0">
                <a:solidFill>
                  <a:srgbClr val="005E77"/>
                </a:solidFill>
              </a:rPr>
              <a:t>Conclusions</a:t>
            </a:r>
            <a:endParaRPr lang="nl-BE" sz="3200" kern="1200" dirty="0">
              <a:solidFill>
                <a:srgbClr val="005E77"/>
              </a:solidFill>
            </a:endParaRPr>
          </a:p>
        </p:txBody>
      </p:sp>
      <p:sp>
        <p:nvSpPr>
          <p:cNvPr id="40" name="Freeform: Shape 39">
            <a:extLst>
              <a:ext uri="{FF2B5EF4-FFF2-40B4-BE49-F238E27FC236}">
                <a16:creationId xmlns:a16="http://schemas.microsoft.com/office/drawing/2014/main" id="{A4502B85-57D4-8DCB-0D45-FAE1D0B75B30}"/>
              </a:ext>
            </a:extLst>
          </p:cNvPr>
          <p:cNvSpPr/>
          <p:nvPr/>
        </p:nvSpPr>
        <p:spPr>
          <a:xfrm>
            <a:off x="9525018" y="2330497"/>
            <a:ext cx="1871999" cy="1059017"/>
          </a:xfrm>
          <a:custGeom>
            <a:avLst/>
            <a:gdLst>
              <a:gd name="connsiteX0" fmla="*/ 0 w 1871999"/>
              <a:gd name="connsiteY0" fmla="*/ 90034 h 900335"/>
              <a:gd name="connsiteX1" fmla="*/ 90034 w 1871999"/>
              <a:gd name="connsiteY1" fmla="*/ 0 h 900335"/>
              <a:gd name="connsiteX2" fmla="*/ 1781966 w 1871999"/>
              <a:gd name="connsiteY2" fmla="*/ 0 h 900335"/>
              <a:gd name="connsiteX3" fmla="*/ 1872000 w 1871999"/>
              <a:gd name="connsiteY3" fmla="*/ 90034 h 900335"/>
              <a:gd name="connsiteX4" fmla="*/ 1871999 w 1871999"/>
              <a:gd name="connsiteY4" fmla="*/ 810302 h 900335"/>
              <a:gd name="connsiteX5" fmla="*/ 1781965 w 1871999"/>
              <a:gd name="connsiteY5" fmla="*/ 900336 h 900335"/>
              <a:gd name="connsiteX6" fmla="*/ 90034 w 1871999"/>
              <a:gd name="connsiteY6" fmla="*/ 900335 h 900335"/>
              <a:gd name="connsiteX7" fmla="*/ 0 w 1871999"/>
              <a:gd name="connsiteY7" fmla="*/ 810301 h 900335"/>
              <a:gd name="connsiteX8" fmla="*/ 0 w 1871999"/>
              <a:gd name="connsiteY8" fmla="*/ 90034 h 90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999" h="900335">
                <a:moveTo>
                  <a:pt x="0" y="90034"/>
                </a:moveTo>
                <a:cubicBezTo>
                  <a:pt x="0" y="40310"/>
                  <a:pt x="40310" y="0"/>
                  <a:pt x="90034" y="0"/>
                </a:cubicBezTo>
                <a:lnTo>
                  <a:pt x="1781966" y="0"/>
                </a:lnTo>
                <a:cubicBezTo>
                  <a:pt x="1831690" y="0"/>
                  <a:pt x="1872000" y="40310"/>
                  <a:pt x="1872000" y="90034"/>
                </a:cubicBezTo>
                <a:cubicBezTo>
                  <a:pt x="1872000" y="330123"/>
                  <a:pt x="1871999" y="570213"/>
                  <a:pt x="1871999" y="810302"/>
                </a:cubicBezTo>
                <a:cubicBezTo>
                  <a:pt x="1871999" y="860026"/>
                  <a:pt x="1831689" y="900336"/>
                  <a:pt x="1781965" y="900336"/>
                </a:cubicBezTo>
                <a:lnTo>
                  <a:pt x="90034" y="900335"/>
                </a:lnTo>
                <a:cubicBezTo>
                  <a:pt x="40310" y="900335"/>
                  <a:pt x="0" y="860025"/>
                  <a:pt x="0" y="810301"/>
                </a:cubicBezTo>
                <a:lnTo>
                  <a:pt x="0" y="90034"/>
                </a:lnTo>
                <a:close/>
              </a:path>
            </a:pathLst>
          </a:custGeom>
          <a:solidFill>
            <a:srgbClr val="FFB7B7"/>
          </a:solidFill>
        </p:spPr>
        <p:style>
          <a:lnRef idx="2">
            <a:schemeClr val="lt1">
              <a:hueOff val="0"/>
              <a:satOff val="0"/>
              <a:lumOff val="0"/>
              <a:alphaOff val="0"/>
            </a:schemeClr>
          </a:lnRef>
          <a:fillRef idx="1">
            <a:scrgbClr r="0" g="0" b="0"/>
          </a:fillRef>
          <a:effectRef idx="0">
            <a:schemeClr val="accent4">
              <a:alpha val="90000"/>
              <a:hueOff val="0"/>
              <a:satOff val="0"/>
              <a:lumOff val="0"/>
              <a:alphaOff val="-32727"/>
            </a:schemeClr>
          </a:effectRef>
          <a:fontRef idx="minor">
            <a:schemeClr val="lt1"/>
          </a:fontRef>
        </p:style>
        <p:txBody>
          <a:bodyPr spcFirstLastPara="0" vert="horz" wrap="square" lIns="87330" tIns="72090" rIns="87330" bIns="72090" numCol="1" spcCol="1270" anchor="ctr" anchorCtr="0">
            <a:noAutofit/>
          </a:bodyPr>
          <a:lstStyle/>
          <a:p>
            <a:pPr marL="0" lvl="0" indent="0" algn="ctr" defTabSz="1066800">
              <a:lnSpc>
                <a:spcPct val="90000"/>
              </a:lnSpc>
              <a:spcBef>
                <a:spcPct val="0"/>
              </a:spcBef>
              <a:spcAft>
                <a:spcPct val="35000"/>
              </a:spcAft>
              <a:buNone/>
            </a:pPr>
            <a:r>
              <a:rPr lang="en-US" sz="2400" kern="1200" dirty="0"/>
              <a:t>Results</a:t>
            </a:r>
            <a:br>
              <a:rPr lang="en-US" sz="2400" kern="1200" dirty="0"/>
            </a:br>
            <a:r>
              <a:rPr lang="en-US" sz="2400" kern="1200" dirty="0"/>
              <a:t>Output files</a:t>
            </a:r>
            <a:endParaRPr lang="nl-BE" sz="2400" kern="1200" dirty="0"/>
          </a:p>
        </p:txBody>
      </p:sp>
      <p:sp>
        <p:nvSpPr>
          <p:cNvPr id="41" name="Freeform: Shape 40">
            <a:extLst>
              <a:ext uri="{FF2B5EF4-FFF2-40B4-BE49-F238E27FC236}">
                <a16:creationId xmlns:a16="http://schemas.microsoft.com/office/drawing/2014/main" id="{5CC21189-063E-D6BF-6E37-AA75DE07A237}"/>
              </a:ext>
            </a:extLst>
          </p:cNvPr>
          <p:cNvSpPr/>
          <p:nvPr/>
        </p:nvSpPr>
        <p:spPr>
          <a:xfrm>
            <a:off x="9525018" y="3512845"/>
            <a:ext cx="1871999" cy="1059017"/>
          </a:xfrm>
          <a:custGeom>
            <a:avLst/>
            <a:gdLst>
              <a:gd name="connsiteX0" fmla="*/ 0 w 1871999"/>
              <a:gd name="connsiteY0" fmla="*/ 90034 h 900335"/>
              <a:gd name="connsiteX1" fmla="*/ 90034 w 1871999"/>
              <a:gd name="connsiteY1" fmla="*/ 0 h 900335"/>
              <a:gd name="connsiteX2" fmla="*/ 1781966 w 1871999"/>
              <a:gd name="connsiteY2" fmla="*/ 0 h 900335"/>
              <a:gd name="connsiteX3" fmla="*/ 1872000 w 1871999"/>
              <a:gd name="connsiteY3" fmla="*/ 90034 h 900335"/>
              <a:gd name="connsiteX4" fmla="*/ 1871999 w 1871999"/>
              <a:gd name="connsiteY4" fmla="*/ 810302 h 900335"/>
              <a:gd name="connsiteX5" fmla="*/ 1781965 w 1871999"/>
              <a:gd name="connsiteY5" fmla="*/ 900336 h 900335"/>
              <a:gd name="connsiteX6" fmla="*/ 90034 w 1871999"/>
              <a:gd name="connsiteY6" fmla="*/ 900335 h 900335"/>
              <a:gd name="connsiteX7" fmla="*/ 0 w 1871999"/>
              <a:gd name="connsiteY7" fmla="*/ 810301 h 900335"/>
              <a:gd name="connsiteX8" fmla="*/ 0 w 1871999"/>
              <a:gd name="connsiteY8" fmla="*/ 90034 h 90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999" h="900335">
                <a:moveTo>
                  <a:pt x="0" y="90034"/>
                </a:moveTo>
                <a:cubicBezTo>
                  <a:pt x="0" y="40310"/>
                  <a:pt x="40310" y="0"/>
                  <a:pt x="90034" y="0"/>
                </a:cubicBezTo>
                <a:lnTo>
                  <a:pt x="1781966" y="0"/>
                </a:lnTo>
                <a:cubicBezTo>
                  <a:pt x="1831690" y="0"/>
                  <a:pt x="1872000" y="40310"/>
                  <a:pt x="1872000" y="90034"/>
                </a:cubicBezTo>
                <a:cubicBezTo>
                  <a:pt x="1872000" y="330123"/>
                  <a:pt x="1871999" y="570213"/>
                  <a:pt x="1871999" y="810302"/>
                </a:cubicBezTo>
                <a:cubicBezTo>
                  <a:pt x="1871999" y="860026"/>
                  <a:pt x="1831689" y="900336"/>
                  <a:pt x="1781965" y="900336"/>
                </a:cubicBezTo>
                <a:lnTo>
                  <a:pt x="90034" y="900335"/>
                </a:lnTo>
                <a:cubicBezTo>
                  <a:pt x="40310" y="900335"/>
                  <a:pt x="0" y="860025"/>
                  <a:pt x="0" y="810301"/>
                </a:cubicBezTo>
                <a:lnTo>
                  <a:pt x="0" y="90034"/>
                </a:lnTo>
                <a:close/>
              </a:path>
            </a:pathLst>
          </a:custGeom>
          <a:solidFill>
            <a:srgbClr val="FF9999"/>
          </a:solidFill>
          <a:ln w="12700" cap="flat" cmpd="sng" algn="ctr">
            <a:solidFill>
              <a:prstClr val="white">
                <a:hueOff val="0"/>
                <a:satOff val="0"/>
                <a:lumOff val="0"/>
                <a:alphaOff val="0"/>
              </a:prst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4470" tIns="54945" rIns="64470" bIns="54945" numCol="1" spcCol="1270" anchor="ctr" anchorCtr="0">
            <a:noAutofit/>
          </a:bodyPr>
          <a:lstStyle/>
          <a:p>
            <a:pPr marL="0" lvl="0" indent="0" algn="ctr" defTabSz="666750">
              <a:lnSpc>
                <a:spcPct val="90000"/>
              </a:lnSpc>
              <a:spcBef>
                <a:spcPct val="0"/>
              </a:spcBef>
              <a:spcAft>
                <a:spcPct val="35000"/>
              </a:spcAft>
              <a:buNone/>
            </a:pPr>
            <a:r>
              <a:rPr lang="en-US" sz="2400" kern="1200" dirty="0">
                <a:solidFill>
                  <a:prstClr val="white"/>
                </a:solidFill>
                <a:latin typeface="Calibri" panose="020F0502020204030204"/>
                <a:ea typeface="+mn-ea"/>
                <a:cs typeface="+mn-cs"/>
              </a:rPr>
              <a:t>Conclusions</a:t>
            </a:r>
            <a:endParaRPr lang="nl-BE" sz="2400" kern="1200" dirty="0">
              <a:solidFill>
                <a:prstClr val="white"/>
              </a:solidFill>
              <a:latin typeface="Calibri" panose="020F0502020204030204"/>
              <a:ea typeface="+mn-ea"/>
              <a:cs typeface="+mn-cs"/>
            </a:endParaRPr>
          </a:p>
        </p:txBody>
      </p:sp>
      <p:sp>
        <p:nvSpPr>
          <p:cNvPr id="42" name="Freeform: Shape 41">
            <a:extLst>
              <a:ext uri="{FF2B5EF4-FFF2-40B4-BE49-F238E27FC236}">
                <a16:creationId xmlns:a16="http://schemas.microsoft.com/office/drawing/2014/main" id="{86FC386E-C644-6220-6905-061B9E4BB50F}"/>
              </a:ext>
            </a:extLst>
          </p:cNvPr>
          <p:cNvSpPr/>
          <p:nvPr/>
        </p:nvSpPr>
        <p:spPr>
          <a:xfrm>
            <a:off x="9525018" y="4695193"/>
            <a:ext cx="1871999" cy="1059017"/>
          </a:xfrm>
          <a:custGeom>
            <a:avLst/>
            <a:gdLst>
              <a:gd name="connsiteX0" fmla="*/ 0 w 1871999"/>
              <a:gd name="connsiteY0" fmla="*/ 90034 h 900335"/>
              <a:gd name="connsiteX1" fmla="*/ 90034 w 1871999"/>
              <a:gd name="connsiteY1" fmla="*/ 0 h 900335"/>
              <a:gd name="connsiteX2" fmla="*/ 1781966 w 1871999"/>
              <a:gd name="connsiteY2" fmla="*/ 0 h 900335"/>
              <a:gd name="connsiteX3" fmla="*/ 1872000 w 1871999"/>
              <a:gd name="connsiteY3" fmla="*/ 90034 h 900335"/>
              <a:gd name="connsiteX4" fmla="*/ 1871999 w 1871999"/>
              <a:gd name="connsiteY4" fmla="*/ 810302 h 900335"/>
              <a:gd name="connsiteX5" fmla="*/ 1781965 w 1871999"/>
              <a:gd name="connsiteY5" fmla="*/ 900336 h 900335"/>
              <a:gd name="connsiteX6" fmla="*/ 90034 w 1871999"/>
              <a:gd name="connsiteY6" fmla="*/ 900335 h 900335"/>
              <a:gd name="connsiteX7" fmla="*/ 0 w 1871999"/>
              <a:gd name="connsiteY7" fmla="*/ 810301 h 900335"/>
              <a:gd name="connsiteX8" fmla="*/ 0 w 1871999"/>
              <a:gd name="connsiteY8" fmla="*/ 90034 h 90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1999" h="900335">
                <a:moveTo>
                  <a:pt x="0" y="90034"/>
                </a:moveTo>
                <a:cubicBezTo>
                  <a:pt x="0" y="40310"/>
                  <a:pt x="40310" y="0"/>
                  <a:pt x="90034" y="0"/>
                </a:cubicBezTo>
                <a:lnTo>
                  <a:pt x="1781966" y="0"/>
                </a:lnTo>
                <a:cubicBezTo>
                  <a:pt x="1831690" y="0"/>
                  <a:pt x="1872000" y="40310"/>
                  <a:pt x="1872000" y="90034"/>
                </a:cubicBezTo>
                <a:cubicBezTo>
                  <a:pt x="1872000" y="330123"/>
                  <a:pt x="1871999" y="570213"/>
                  <a:pt x="1871999" y="810302"/>
                </a:cubicBezTo>
                <a:cubicBezTo>
                  <a:pt x="1871999" y="860026"/>
                  <a:pt x="1831689" y="900336"/>
                  <a:pt x="1781965" y="900336"/>
                </a:cubicBezTo>
                <a:lnTo>
                  <a:pt x="90034" y="900335"/>
                </a:lnTo>
                <a:cubicBezTo>
                  <a:pt x="40310" y="900335"/>
                  <a:pt x="0" y="860025"/>
                  <a:pt x="0" y="810301"/>
                </a:cubicBezTo>
                <a:lnTo>
                  <a:pt x="0" y="90034"/>
                </a:lnTo>
                <a:close/>
              </a:path>
            </a:pathLst>
          </a:custGeom>
          <a:solidFill>
            <a:srgbClr val="FF8181"/>
          </a:solidFill>
          <a:ln w="12700" cap="flat" cmpd="sng" algn="ctr">
            <a:solidFill>
              <a:prstClr val="white">
                <a:hueOff val="0"/>
                <a:satOff val="0"/>
                <a:lumOff val="0"/>
                <a:alphaOff val="0"/>
              </a:prst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4470" tIns="54945" rIns="64470" bIns="54945" numCol="1" spcCol="1270" anchor="ctr" anchorCtr="0">
            <a:noAutofit/>
          </a:bodyPr>
          <a:lstStyle/>
          <a:p>
            <a:pPr marL="0" lvl="0" indent="0" algn="ctr" defTabSz="666750">
              <a:lnSpc>
                <a:spcPct val="90000"/>
              </a:lnSpc>
              <a:spcBef>
                <a:spcPct val="0"/>
              </a:spcBef>
              <a:spcAft>
                <a:spcPct val="35000"/>
              </a:spcAft>
              <a:buNone/>
            </a:pPr>
            <a:r>
              <a:rPr lang="en-US" sz="2400" kern="1200" dirty="0">
                <a:solidFill>
                  <a:prstClr val="white"/>
                </a:solidFill>
                <a:latin typeface="Calibri" panose="020F0502020204030204"/>
                <a:ea typeface="+mn-ea"/>
                <a:cs typeface="+mn-cs"/>
              </a:rPr>
              <a:t>Next steps</a:t>
            </a:r>
            <a:endParaRPr lang="nl-BE" sz="2400" kern="1200" dirty="0">
              <a:solidFill>
                <a:prstClr val="white"/>
              </a:solidFill>
              <a:latin typeface="Calibri" panose="020F0502020204030204"/>
              <a:ea typeface="+mn-ea"/>
              <a:cs typeface="+mn-cs"/>
            </a:endParaRPr>
          </a:p>
        </p:txBody>
      </p:sp>
      <p:sp>
        <p:nvSpPr>
          <p:cNvPr id="38" name="Freeform: Shape 37">
            <a:extLst>
              <a:ext uri="{FF2B5EF4-FFF2-40B4-BE49-F238E27FC236}">
                <a16:creationId xmlns:a16="http://schemas.microsoft.com/office/drawing/2014/main" id="{9664127B-4D1F-F850-F033-36294A9EC7FC}"/>
              </a:ext>
            </a:extLst>
          </p:cNvPr>
          <p:cNvSpPr/>
          <p:nvPr/>
        </p:nvSpPr>
        <p:spPr>
          <a:xfrm>
            <a:off x="6767318" y="4166161"/>
            <a:ext cx="2130218" cy="1588231"/>
          </a:xfrm>
          <a:custGeom>
            <a:avLst/>
            <a:gdLst>
              <a:gd name="connsiteX0" fmla="*/ 0 w 2130218"/>
              <a:gd name="connsiteY0" fmla="*/ 138178 h 1381775"/>
              <a:gd name="connsiteX1" fmla="*/ 138178 w 2130218"/>
              <a:gd name="connsiteY1" fmla="*/ 0 h 1381775"/>
              <a:gd name="connsiteX2" fmla="*/ 1992041 w 2130218"/>
              <a:gd name="connsiteY2" fmla="*/ 0 h 1381775"/>
              <a:gd name="connsiteX3" fmla="*/ 2130219 w 2130218"/>
              <a:gd name="connsiteY3" fmla="*/ 138178 h 1381775"/>
              <a:gd name="connsiteX4" fmla="*/ 2130218 w 2130218"/>
              <a:gd name="connsiteY4" fmla="*/ 1243598 h 1381775"/>
              <a:gd name="connsiteX5" fmla="*/ 1992040 w 2130218"/>
              <a:gd name="connsiteY5" fmla="*/ 1381776 h 1381775"/>
              <a:gd name="connsiteX6" fmla="*/ 138178 w 2130218"/>
              <a:gd name="connsiteY6" fmla="*/ 1381775 h 1381775"/>
              <a:gd name="connsiteX7" fmla="*/ 0 w 2130218"/>
              <a:gd name="connsiteY7" fmla="*/ 1243597 h 1381775"/>
              <a:gd name="connsiteX8" fmla="*/ 0 w 2130218"/>
              <a:gd name="connsiteY8" fmla="*/ 138178 h 138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0218" h="1381775">
                <a:moveTo>
                  <a:pt x="0" y="138178"/>
                </a:moveTo>
                <a:cubicBezTo>
                  <a:pt x="0" y="61864"/>
                  <a:pt x="61864" y="0"/>
                  <a:pt x="138178" y="0"/>
                </a:cubicBezTo>
                <a:lnTo>
                  <a:pt x="1992041" y="0"/>
                </a:lnTo>
                <a:cubicBezTo>
                  <a:pt x="2068355" y="0"/>
                  <a:pt x="2130219" y="61864"/>
                  <a:pt x="2130219" y="138178"/>
                </a:cubicBezTo>
                <a:cubicBezTo>
                  <a:pt x="2130219" y="506651"/>
                  <a:pt x="2130218" y="875125"/>
                  <a:pt x="2130218" y="1243598"/>
                </a:cubicBezTo>
                <a:cubicBezTo>
                  <a:pt x="2130218" y="1319912"/>
                  <a:pt x="2068354" y="1381776"/>
                  <a:pt x="1992040" y="1381776"/>
                </a:cubicBezTo>
                <a:lnTo>
                  <a:pt x="138178" y="1381775"/>
                </a:lnTo>
                <a:cubicBezTo>
                  <a:pt x="61864" y="1381775"/>
                  <a:pt x="0" y="1319911"/>
                  <a:pt x="0" y="1243597"/>
                </a:cubicBezTo>
                <a:lnTo>
                  <a:pt x="0" y="138178"/>
                </a:lnTo>
                <a:close/>
              </a:path>
            </a:pathLst>
          </a:custGeom>
          <a:solidFill>
            <a:srgbClr val="DEA900"/>
          </a:solidFill>
        </p:spPr>
        <p:style>
          <a:lnRef idx="2">
            <a:schemeClr val="lt1">
              <a:hueOff val="0"/>
              <a:satOff val="0"/>
              <a:lumOff val="0"/>
              <a:alphaOff val="0"/>
            </a:schemeClr>
          </a:lnRef>
          <a:fillRef idx="1">
            <a:schemeClr val="accent4">
              <a:alpha val="90000"/>
              <a:hueOff val="0"/>
              <a:satOff val="0"/>
              <a:lumOff val="0"/>
              <a:alphaOff val="-29091"/>
            </a:schemeClr>
          </a:fillRef>
          <a:effectRef idx="0">
            <a:schemeClr val="accent4">
              <a:alpha val="90000"/>
              <a:hueOff val="0"/>
              <a:satOff val="0"/>
              <a:lumOff val="0"/>
              <a:alphaOff val="-29091"/>
            </a:schemeClr>
          </a:effectRef>
          <a:fontRef idx="minor">
            <a:schemeClr val="lt1"/>
          </a:fontRef>
        </p:style>
        <p:txBody>
          <a:bodyPr spcFirstLastPara="0" vert="horz" wrap="square" lIns="101431" tIns="86191" rIns="101431" bIns="86191" numCol="1" spcCol="1270" anchor="ctr" anchorCtr="0">
            <a:noAutofit/>
          </a:bodyPr>
          <a:lstStyle/>
          <a:p>
            <a:pPr marL="0" lvl="0" indent="0" algn="ctr" defTabSz="1066800">
              <a:lnSpc>
                <a:spcPct val="90000"/>
              </a:lnSpc>
              <a:spcBef>
                <a:spcPct val="0"/>
              </a:spcBef>
              <a:spcAft>
                <a:spcPct val="35000"/>
              </a:spcAft>
              <a:buNone/>
            </a:pPr>
            <a:r>
              <a:rPr lang="en-US" sz="2400" kern="1200" dirty="0"/>
              <a:t>Visual setup</a:t>
            </a:r>
            <a:endParaRPr lang="nl-BE" sz="2400" kern="1200" dirty="0"/>
          </a:p>
        </p:txBody>
      </p:sp>
    </p:spTree>
    <p:extLst>
      <p:ext uri="{BB962C8B-B14F-4D97-AF65-F5344CB8AC3E}">
        <p14:creationId xmlns:p14="http://schemas.microsoft.com/office/powerpoint/2010/main" val="253106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A19DF-66AC-E98F-5076-E5BA92EF1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E6E76-13EC-5376-9AC6-06F0947F0375}"/>
              </a:ext>
            </a:extLst>
          </p:cNvPr>
          <p:cNvSpPr>
            <a:spLocks noGrp="1"/>
          </p:cNvSpPr>
          <p:nvPr>
            <p:ph type="title"/>
          </p:nvPr>
        </p:nvSpPr>
        <p:spPr/>
        <p:txBody>
          <a:bodyPr/>
          <a:lstStyle/>
          <a:p>
            <a:r>
              <a:rPr lang="en-US"/>
              <a:t>Data re-use</a:t>
            </a:r>
            <a:endParaRPr lang="en-GB"/>
          </a:p>
        </p:txBody>
      </p:sp>
      <p:sp>
        <p:nvSpPr>
          <p:cNvPr id="3" name="Tijdelijke aanduiding voor inhoud 2">
            <a:extLst>
              <a:ext uri="{FF2B5EF4-FFF2-40B4-BE49-F238E27FC236}">
                <a16:creationId xmlns:a16="http://schemas.microsoft.com/office/drawing/2014/main" id="{E1442DC5-5B71-8A96-DDD6-7386996919D7}"/>
              </a:ext>
            </a:extLst>
          </p:cNvPr>
          <p:cNvSpPr>
            <a:spLocks noGrp="1"/>
          </p:cNvSpPr>
          <p:nvPr>
            <p:ph idx="1"/>
          </p:nvPr>
        </p:nvSpPr>
        <p:spPr/>
        <p:txBody>
          <a:bodyPr>
            <a:normAutofit/>
          </a:bodyPr>
          <a:lstStyle/>
          <a:p>
            <a:pPr marL="0" indent="0">
              <a:buNone/>
            </a:pPr>
            <a:r>
              <a:rPr lang="en-US" b="1" u="sng">
                <a:latin typeface="Arial"/>
                <a:cs typeface="Arial"/>
              </a:rPr>
              <a:t>What if you don't collect data yourself?</a:t>
            </a:r>
          </a:p>
          <a:p>
            <a:pPr marL="457200" lvl="1" indent="0">
              <a:buNone/>
            </a:pPr>
            <a:endParaRPr lang="en-GB" sz="1050">
              <a:sym typeface="Wingdings" panose="05000000000000000000" pitchFamily="2" charset="2"/>
            </a:endParaRPr>
          </a:p>
          <a:p>
            <a:pPr marL="457200" lvl="1" indent="0">
              <a:buNone/>
            </a:pPr>
            <a:r>
              <a:rPr lang="en-GB">
                <a:sym typeface="Wingdings" panose="05000000000000000000" pitchFamily="2" charset="2"/>
              </a:rPr>
              <a:t> Check &amp; document: </a:t>
            </a:r>
            <a:endParaRPr lang="en-GB"/>
          </a:p>
          <a:p>
            <a:pPr lvl="2">
              <a:buFontTx/>
              <a:buChar char="–"/>
            </a:pPr>
            <a:r>
              <a:rPr lang="en-GB"/>
              <a:t>Data provenance: source, author, … </a:t>
            </a:r>
          </a:p>
          <a:p>
            <a:pPr lvl="2">
              <a:buFontTx/>
              <a:buChar char="–"/>
            </a:pPr>
            <a:r>
              <a:rPr lang="en-GB"/>
              <a:t>The</a:t>
            </a:r>
            <a:r>
              <a:rPr lang="en-US">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license</a:t>
            </a:r>
            <a:r>
              <a:rPr lang="en-US">
                <a:latin typeface="Arial" panose="020B0604020202020204" pitchFamily="34" charset="0"/>
                <a:cs typeface="Arial" panose="020B0604020202020204" pitchFamily="34" charset="0"/>
              </a:rPr>
              <a:t>/terms of use: This will tell who can do what with the reuse data</a:t>
            </a:r>
          </a:p>
          <a:p>
            <a:pPr lvl="2">
              <a:buFontTx/>
              <a:buChar char="–"/>
            </a:pPr>
            <a:r>
              <a:rPr lang="en-US">
                <a:latin typeface="Arial" panose="020B0604020202020204" pitchFamily="34" charset="0"/>
                <a:cs typeface="Arial" panose="020B0604020202020204" pitchFamily="34" charset="0"/>
              </a:rPr>
              <a:t>Legal &amp; Ethical restrictions</a:t>
            </a:r>
          </a:p>
          <a:p>
            <a:pPr lvl="2">
              <a:buFontTx/>
              <a:buChar char="–"/>
            </a:pPr>
            <a:r>
              <a:rPr lang="en-US">
                <a:latin typeface="Arial" panose="020B0604020202020204" pitchFamily="34" charset="0"/>
                <a:cs typeface="Arial" panose="020B0604020202020204" pitchFamily="34" charset="0"/>
              </a:rPr>
              <a:t>Usability:</a:t>
            </a:r>
          </a:p>
          <a:p>
            <a:pPr lvl="3">
              <a:buFontTx/>
              <a:buChar char="–"/>
            </a:pPr>
            <a:r>
              <a:rPr lang="en-US" sz="1600">
                <a:latin typeface="Arial" panose="020B0604020202020204" pitchFamily="34" charset="0"/>
                <a:cs typeface="Arial" panose="020B0604020202020204" pitchFamily="34" charset="0"/>
              </a:rPr>
              <a:t>Is the documentation complete and understandable?</a:t>
            </a:r>
          </a:p>
          <a:p>
            <a:pPr lvl="3">
              <a:buFontTx/>
              <a:buChar char="–"/>
            </a:pPr>
            <a:r>
              <a:rPr lang="en-US" sz="1600">
                <a:latin typeface="Arial" panose="020B0604020202020204" pitchFamily="34" charset="0"/>
                <a:cs typeface="Arial" panose="020B0604020202020204" pitchFamily="34" charset="0"/>
              </a:rPr>
              <a:t>Do you have the tools/programs to use the data (see also </a:t>
            </a:r>
            <a:r>
              <a:rPr lang="en-US" sz="160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Open / standard data formats</a:t>
            </a:r>
            <a:r>
              <a:rPr lang="en-US" sz="1600"/>
              <a:t>)</a:t>
            </a:r>
            <a:endParaRPr lang="en-US" sz="1600">
              <a:latin typeface="Arial" panose="020B0604020202020204" pitchFamily="34" charset="0"/>
              <a:cs typeface="Arial" panose="020B0604020202020204" pitchFamily="34" charset="0"/>
            </a:endParaRPr>
          </a:p>
          <a:p>
            <a:pPr lvl="1"/>
            <a:endParaRPr lang="en-GB"/>
          </a:p>
          <a:p>
            <a:endParaRPr lang="en-US" b="1" u="sng">
              <a:latin typeface="Arial"/>
              <a:cs typeface="Arial"/>
            </a:endParaRPr>
          </a:p>
          <a:p>
            <a:pPr marL="742950" lvl="2" indent="-285750">
              <a:lnSpc>
                <a:spcPct val="80000"/>
              </a:lnSpc>
              <a:spcBef>
                <a:spcPts val="1000"/>
              </a:spcBef>
              <a:buFont typeface="Calibri"/>
              <a:buChar char="-"/>
            </a:pPr>
            <a:endParaRPr lang="en-US" sz="1400">
              <a:latin typeface="Arial"/>
              <a:cs typeface="Arial"/>
            </a:endParaRPr>
          </a:p>
        </p:txBody>
      </p:sp>
      <p:sp>
        <p:nvSpPr>
          <p:cNvPr id="5" name="Slide Number Placeholder 4">
            <a:extLst>
              <a:ext uri="{FF2B5EF4-FFF2-40B4-BE49-F238E27FC236}">
                <a16:creationId xmlns:a16="http://schemas.microsoft.com/office/drawing/2014/main" id="{1433F847-7961-8EF7-051F-CAB7C20C3D16}"/>
              </a:ext>
            </a:extLst>
          </p:cNvPr>
          <p:cNvSpPr>
            <a:spLocks noGrp="1"/>
          </p:cNvSpPr>
          <p:nvPr>
            <p:ph type="sldNum" sz="quarter" idx="12"/>
          </p:nvPr>
        </p:nvSpPr>
        <p:spPr>
          <a:prstGeom prst="rect">
            <a:avLst/>
          </a:prstGeom>
        </p:spPr>
        <p:txBody>
          <a:bodyPr/>
          <a:lstStyle/>
          <a:p>
            <a:fld id="{CC571AF6-6671-4538-974D-3AEC00AC0B82}" type="slidenum">
              <a:rPr lang="en-GB" smtClean="0"/>
              <a:t>9</a:t>
            </a:fld>
            <a:endParaRPr lang="en-GB"/>
          </a:p>
        </p:txBody>
      </p:sp>
    </p:spTree>
    <p:extLst>
      <p:ext uri="{BB962C8B-B14F-4D97-AF65-F5344CB8AC3E}">
        <p14:creationId xmlns:p14="http://schemas.microsoft.com/office/powerpoint/2010/main" val="409750893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C84F-E656-9E69-7E51-6FF5490093B5}"/>
              </a:ext>
            </a:extLst>
          </p:cNvPr>
          <p:cNvSpPr>
            <a:spLocks noGrp="1"/>
          </p:cNvSpPr>
          <p:nvPr>
            <p:ph type="title"/>
          </p:nvPr>
        </p:nvSpPr>
        <p:spPr/>
        <p:txBody>
          <a:bodyPr>
            <a:normAutofit fontScale="90000"/>
          </a:bodyPr>
          <a:lstStyle/>
          <a:p>
            <a:r>
              <a:rPr lang="en-US" dirty="0"/>
              <a:t>Exercise 4b: What tools do you use to document </a:t>
            </a:r>
            <a:br>
              <a:rPr lang="en-US" dirty="0"/>
            </a:br>
            <a:r>
              <a:rPr lang="en-US" dirty="0"/>
              <a:t>each </a:t>
            </a:r>
            <a:r>
              <a:rPr lang="en-US" dirty="0">
                <a:solidFill>
                  <a:srgbClr val="FFDF7F"/>
                </a:solidFill>
              </a:rPr>
              <a:t>step</a:t>
            </a:r>
            <a:r>
              <a:rPr lang="en-US" dirty="0"/>
              <a:t> </a:t>
            </a:r>
            <a:r>
              <a:rPr lang="en-US" dirty="0">
                <a:solidFill>
                  <a:srgbClr val="FFDF7F"/>
                </a:solidFill>
              </a:rPr>
              <a:t>(yellow </a:t>
            </a:r>
            <a:r>
              <a:rPr lang="en-US" dirty="0" err="1">
                <a:solidFill>
                  <a:srgbClr val="FFDF7F"/>
                </a:solidFill>
              </a:rPr>
              <a:t>post-it</a:t>
            </a:r>
            <a:r>
              <a:rPr lang="en-US" dirty="0">
                <a:solidFill>
                  <a:srgbClr val="FFDF7F"/>
                </a:solidFill>
              </a:rPr>
              <a:t>) </a:t>
            </a:r>
            <a:r>
              <a:rPr lang="en-US" dirty="0"/>
              <a:t>in your dataflow?</a:t>
            </a:r>
            <a:br>
              <a:rPr lang="en-US" b="1" dirty="0"/>
            </a:br>
            <a:endParaRPr lang="en-GB" dirty="0"/>
          </a:p>
        </p:txBody>
      </p:sp>
      <p:sp>
        <p:nvSpPr>
          <p:cNvPr id="3" name="Content Placeholder 2">
            <a:extLst>
              <a:ext uri="{FF2B5EF4-FFF2-40B4-BE49-F238E27FC236}">
                <a16:creationId xmlns:a16="http://schemas.microsoft.com/office/drawing/2014/main" id="{12593D6B-6E4A-DACA-7489-BBB256488690}"/>
              </a:ext>
            </a:extLst>
          </p:cNvPr>
          <p:cNvSpPr>
            <a:spLocks noGrp="1"/>
          </p:cNvSpPr>
          <p:nvPr>
            <p:ph idx="1"/>
          </p:nvPr>
        </p:nvSpPr>
        <p:spPr/>
        <p:txBody>
          <a:bodyPr>
            <a:normAutofit/>
          </a:bodyPr>
          <a:lstStyle/>
          <a:p>
            <a:pPr marL="0" lvl="0" indent="0">
              <a:buNone/>
            </a:pPr>
            <a:r>
              <a:rPr lang="en-US" b="1" dirty="0"/>
              <a:t>Discuss in pairs</a:t>
            </a:r>
            <a:r>
              <a:rPr lang="en-US" dirty="0"/>
              <a:t>:	</a:t>
            </a:r>
            <a:endParaRPr lang="nl-BE" dirty="0"/>
          </a:p>
          <a:p>
            <a:pPr marL="971550" lvl="1" indent="-514350">
              <a:buFont typeface="+mj-lt"/>
              <a:buAutoNum type="alphaLcPeriod"/>
            </a:pPr>
            <a:r>
              <a:rPr lang="en-US" sz="2800" dirty="0"/>
              <a:t>How do you currently document each step </a:t>
            </a:r>
            <a:br>
              <a:rPr lang="en-US" sz="2800" dirty="0"/>
            </a:br>
            <a:r>
              <a:rPr lang="en-US" sz="2800" dirty="0"/>
              <a:t>(what tool do you use)? </a:t>
            </a:r>
            <a:br>
              <a:rPr lang="en-US" sz="2800" dirty="0"/>
            </a:br>
            <a:endParaRPr lang="nl-BE" sz="2800" dirty="0"/>
          </a:p>
          <a:p>
            <a:pPr marL="971550" lvl="1" indent="-514350">
              <a:buFont typeface="+mj-lt"/>
              <a:buAutoNum type="alphaLcPeriod"/>
            </a:pPr>
            <a:r>
              <a:rPr lang="en-US" sz="2800" dirty="0"/>
              <a:t>What documentation do you already create, </a:t>
            </a:r>
            <a:br>
              <a:rPr lang="en-US" sz="2800" dirty="0"/>
            </a:br>
            <a:r>
              <a:rPr lang="en-US" sz="2800" dirty="0"/>
              <a:t>and where are the gaps? </a:t>
            </a:r>
            <a:br>
              <a:rPr lang="en-US" sz="2800" dirty="0"/>
            </a:br>
            <a:endParaRPr lang="nl-BE" sz="2800" dirty="0"/>
          </a:p>
          <a:p>
            <a:pPr marL="971550" lvl="1" indent="-514350">
              <a:buFont typeface="+mj-lt"/>
              <a:buAutoNum type="alphaLcPeriod"/>
            </a:pPr>
            <a:r>
              <a:rPr lang="en-US" sz="2800" dirty="0"/>
              <a:t>Do you use all elements from the previous exercise? </a:t>
            </a:r>
            <a:br>
              <a:rPr lang="en-US" sz="2800" dirty="0"/>
            </a:br>
            <a:r>
              <a:rPr lang="en-US" sz="2800" dirty="0"/>
              <a:t>If not, why? Would you change current practice? </a:t>
            </a:r>
            <a:endParaRPr lang="nl-BE" sz="2800" dirty="0"/>
          </a:p>
          <a:p>
            <a:pPr marL="0" indent="0">
              <a:buNone/>
            </a:pPr>
            <a:endParaRPr lang="en-GB" dirty="0"/>
          </a:p>
        </p:txBody>
      </p:sp>
      <p:sp>
        <p:nvSpPr>
          <p:cNvPr id="4" name="Slide Number Placeholder 3">
            <a:extLst>
              <a:ext uri="{FF2B5EF4-FFF2-40B4-BE49-F238E27FC236}">
                <a16:creationId xmlns:a16="http://schemas.microsoft.com/office/drawing/2014/main" id="{1C2A2428-DE1F-F780-9B08-4DA3953659E6}"/>
              </a:ext>
            </a:extLst>
          </p:cNvPr>
          <p:cNvSpPr>
            <a:spLocks noGrp="1"/>
          </p:cNvSpPr>
          <p:nvPr>
            <p:ph type="sldNum" sz="quarter" idx="12"/>
          </p:nvPr>
        </p:nvSpPr>
        <p:spPr/>
        <p:txBody>
          <a:bodyPr/>
          <a:lstStyle/>
          <a:p>
            <a:fld id="{85114D95-D6A6-084A-9D9C-617B45E258AD}" type="slidenum">
              <a:rPr lang="nl-NL" smtClean="0"/>
              <a:t>10</a:t>
            </a:fld>
            <a:endParaRPr lang="nl-NL"/>
          </a:p>
        </p:txBody>
      </p:sp>
    </p:spTree>
    <p:extLst>
      <p:ext uri="{BB962C8B-B14F-4D97-AF65-F5344CB8AC3E}">
        <p14:creationId xmlns:p14="http://schemas.microsoft.com/office/powerpoint/2010/main" val="177583800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AA88-F20C-8D84-382A-33DE58EA6998}"/>
              </a:ext>
            </a:extLst>
          </p:cNvPr>
          <p:cNvSpPr>
            <a:spLocks noGrp="1"/>
          </p:cNvSpPr>
          <p:nvPr>
            <p:ph type="title"/>
          </p:nvPr>
        </p:nvSpPr>
        <p:spPr/>
        <p:txBody>
          <a:bodyPr/>
          <a:lstStyle/>
          <a:p>
            <a:r>
              <a:rPr lang="en-US" dirty="0"/>
              <a:t>Tools to document with</a:t>
            </a:r>
            <a:endParaRPr lang="nl-BE" dirty="0"/>
          </a:p>
        </p:txBody>
      </p:sp>
      <p:sp>
        <p:nvSpPr>
          <p:cNvPr id="4" name="Slide Number Placeholder 3">
            <a:extLst>
              <a:ext uri="{FF2B5EF4-FFF2-40B4-BE49-F238E27FC236}">
                <a16:creationId xmlns:a16="http://schemas.microsoft.com/office/drawing/2014/main" id="{3E8793E1-1DE4-4964-D19A-3D654C9D6368}"/>
              </a:ext>
            </a:extLst>
          </p:cNvPr>
          <p:cNvSpPr>
            <a:spLocks noGrp="1"/>
          </p:cNvSpPr>
          <p:nvPr>
            <p:ph type="sldNum" sz="quarter" idx="12"/>
          </p:nvPr>
        </p:nvSpPr>
        <p:spPr/>
        <p:txBody>
          <a:bodyPr/>
          <a:lstStyle/>
          <a:p>
            <a:fld id="{85114D95-D6A6-084A-9D9C-617B45E258AD}" type="slidenum">
              <a:rPr lang="nl-NL" smtClean="0"/>
              <a:t>11</a:t>
            </a:fld>
            <a:endParaRPr lang="nl-NL"/>
          </a:p>
        </p:txBody>
      </p:sp>
      <p:grpSp>
        <p:nvGrpSpPr>
          <p:cNvPr id="12" name="Groep 25">
            <a:extLst>
              <a:ext uri="{FF2B5EF4-FFF2-40B4-BE49-F238E27FC236}">
                <a16:creationId xmlns:a16="http://schemas.microsoft.com/office/drawing/2014/main" id="{E00C5E96-8E65-3617-9205-A659DAD56D05}"/>
              </a:ext>
            </a:extLst>
          </p:cNvPr>
          <p:cNvGrpSpPr/>
          <p:nvPr/>
        </p:nvGrpSpPr>
        <p:grpSpPr>
          <a:xfrm>
            <a:off x="600088" y="1302413"/>
            <a:ext cx="2440824" cy="1896004"/>
            <a:chOff x="8526291" y="1433384"/>
            <a:chExt cx="2495935" cy="1983955"/>
          </a:xfrm>
        </p:grpSpPr>
        <p:pic>
          <p:nvPicPr>
            <p:cNvPr id="13" name="Graphic 12" descr="Beeldscherm met effen opvulling">
              <a:extLst>
                <a:ext uri="{FF2B5EF4-FFF2-40B4-BE49-F238E27FC236}">
                  <a16:creationId xmlns:a16="http://schemas.microsoft.com/office/drawing/2014/main" id="{8849585A-E3A9-68BE-74FC-4BC1CEAEE41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9792" b="10722"/>
            <a:stretch/>
          </p:blipFill>
          <p:spPr>
            <a:xfrm>
              <a:off x="8526291" y="1433384"/>
              <a:ext cx="2495935" cy="1983955"/>
            </a:xfrm>
            <a:prstGeom prst="rect">
              <a:avLst/>
            </a:prstGeom>
          </p:spPr>
        </p:pic>
        <p:pic>
          <p:nvPicPr>
            <p:cNvPr id="14" name="Graphic 13" descr="Spreidingsdiagram met effen opvulling">
              <a:extLst>
                <a:ext uri="{FF2B5EF4-FFF2-40B4-BE49-F238E27FC236}">
                  <a16:creationId xmlns:a16="http://schemas.microsoft.com/office/drawing/2014/main" id="{9632E778-0A0E-881E-AEE4-B6893312D9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23850" y="1622844"/>
              <a:ext cx="914400" cy="914400"/>
            </a:xfrm>
            <a:prstGeom prst="rect">
              <a:avLst/>
            </a:prstGeom>
          </p:spPr>
        </p:pic>
        <p:pic>
          <p:nvPicPr>
            <p:cNvPr id="15" name="Graphic 14" descr="Document met effen opvulling">
              <a:extLst>
                <a:ext uri="{FF2B5EF4-FFF2-40B4-BE49-F238E27FC236}">
                  <a16:creationId xmlns:a16="http://schemas.microsoft.com/office/drawing/2014/main" id="{6425E65E-14E9-3953-837C-C5108BCC352A}"/>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475" t="45180" r="31273" b="14650"/>
            <a:stretch/>
          </p:blipFill>
          <p:spPr>
            <a:xfrm>
              <a:off x="8956127" y="1783304"/>
              <a:ext cx="686442" cy="668448"/>
            </a:xfrm>
            <a:prstGeom prst="rect">
              <a:avLst/>
            </a:prstGeom>
          </p:spPr>
        </p:pic>
        <p:pic>
          <p:nvPicPr>
            <p:cNvPr id="16" name="Graphic 15" descr="Kolf met effen opvulling">
              <a:extLst>
                <a:ext uri="{FF2B5EF4-FFF2-40B4-BE49-F238E27FC236}">
                  <a16:creationId xmlns:a16="http://schemas.microsoft.com/office/drawing/2014/main" id="{DFD5FD80-E44E-7F09-645A-CAB0B5A52A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46054" y="1908621"/>
              <a:ext cx="914400" cy="914400"/>
            </a:xfrm>
            <a:prstGeom prst="rect">
              <a:avLst/>
            </a:prstGeom>
          </p:spPr>
        </p:pic>
        <p:pic>
          <p:nvPicPr>
            <p:cNvPr id="17" name="Graphic 16" descr="Maandkalender silhouet">
              <a:extLst>
                <a:ext uri="{FF2B5EF4-FFF2-40B4-BE49-F238E27FC236}">
                  <a16:creationId xmlns:a16="http://schemas.microsoft.com/office/drawing/2014/main" id="{B633CB91-B063-D1B2-0DDC-2C0144D9E3EE}"/>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1990" t="43474" r="44020" b="22205"/>
            <a:stretch/>
          </p:blipFill>
          <p:spPr>
            <a:xfrm>
              <a:off x="8994694" y="2321589"/>
              <a:ext cx="524567" cy="529666"/>
            </a:xfrm>
            <a:prstGeom prst="rect">
              <a:avLst/>
            </a:prstGeom>
          </p:spPr>
        </p:pic>
        <p:sp>
          <p:nvSpPr>
            <p:cNvPr id="18" name="Tekstvak 24">
              <a:extLst>
                <a:ext uri="{FF2B5EF4-FFF2-40B4-BE49-F238E27FC236}">
                  <a16:creationId xmlns:a16="http://schemas.microsoft.com/office/drawing/2014/main" id="{36D32E0E-DBD2-0FC5-8EFE-F1616FBC64DE}"/>
                </a:ext>
              </a:extLst>
            </p:cNvPr>
            <p:cNvSpPr txBox="1"/>
            <p:nvPr/>
          </p:nvSpPr>
          <p:spPr>
            <a:xfrm>
              <a:off x="10029247" y="250170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C495C"/>
                  </a:solidFill>
                  <a:effectLst/>
                  <a:uLnTx/>
                  <a:uFillTx/>
                  <a:latin typeface="Arial" panose="020B0604020202020204" pitchFamily="34" charset="0"/>
                  <a:ea typeface="+mn-ea"/>
                  <a:cs typeface="Arial" panose="020B0604020202020204" pitchFamily="34" charset="0"/>
                </a:rPr>
                <a:t>ELN</a:t>
              </a:r>
            </a:p>
          </p:txBody>
        </p:sp>
      </p:grpSp>
    </p:spTree>
    <p:extLst>
      <p:ext uri="{BB962C8B-B14F-4D97-AF65-F5344CB8AC3E}">
        <p14:creationId xmlns:p14="http://schemas.microsoft.com/office/powerpoint/2010/main" val="182033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CD04-17A9-0F52-BD99-ADEA67191FD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9BC51CEE-BE93-8A06-51E6-B60A3483BF37}"/>
              </a:ext>
            </a:extLst>
          </p:cNvPr>
          <p:cNvSpPr/>
          <p:nvPr/>
        </p:nvSpPr>
        <p:spPr>
          <a:xfrm>
            <a:off x="18100" y="6394629"/>
            <a:ext cx="833031" cy="4803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 name="Content Placeholder 2">
            <a:extLst>
              <a:ext uri="{FF2B5EF4-FFF2-40B4-BE49-F238E27FC236}">
                <a16:creationId xmlns:a16="http://schemas.microsoft.com/office/drawing/2014/main" id="{CDE2D5AD-5528-88F4-220D-E4CF5508D191}"/>
              </a:ext>
            </a:extLst>
          </p:cNvPr>
          <p:cNvSpPr>
            <a:spLocks noGrp="1"/>
          </p:cNvSpPr>
          <p:nvPr>
            <p:ph sz="quarter" idx="10"/>
          </p:nvPr>
        </p:nvSpPr>
        <p:spPr>
          <a:xfrm>
            <a:off x="6416301" y="444500"/>
            <a:ext cx="4942668" cy="6048375"/>
          </a:xfrm>
        </p:spPr>
        <p:txBody>
          <a:bodyPr/>
          <a:lstStyle/>
          <a:p>
            <a:r>
              <a:rPr lang="en-US" sz="2400"/>
              <a:t>Originally Dutch (</a:t>
            </a:r>
            <a:r>
              <a:rPr lang="en-US" sz="2400" err="1"/>
              <a:t>eLabNext</a:t>
            </a:r>
            <a:r>
              <a:rPr lang="en-US" sz="2400"/>
              <a:t> merged with </a:t>
            </a:r>
            <a:r>
              <a:rPr lang="en-US" sz="2400" err="1"/>
              <a:t>SciShield</a:t>
            </a:r>
            <a:r>
              <a:rPr lang="en-US" sz="2400"/>
              <a:t> to form </a:t>
            </a:r>
            <a:r>
              <a:rPr lang="en-US" sz="2400" err="1"/>
              <a:t>SciSure</a:t>
            </a:r>
            <a:r>
              <a:rPr lang="en-US" sz="2400"/>
              <a:t>)</a:t>
            </a:r>
          </a:p>
          <a:p>
            <a:r>
              <a:rPr lang="en-US" sz="2400" err="1">
                <a:hlinkClick r:id="rId3"/>
              </a:rPr>
              <a:t>SciSure</a:t>
            </a:r>
            <a:r>
              <a:rPr lang="en-US" sz="2400"/>
              <a:t> is the world’s first Scientific Management Platform (SMP)</a:t>
            </a:r>
          </a:p>
          <a:p>
            <a:r>
              <a:rPr lang="en-US" sz="2400"/>
              <a:t>Created by scientists, for scientists (our input is taken by the company to update their services)</a:t>
            </a:r>
          </a:p>
          <a:p>
            <a:r>
              <a:rPr lang="en-US" sz="2400"/>
              <a:t>Support over 800 organizations with more than 550,000 users globally.</a:t>
            </a:r>
            <a:endParaRPr lang="en-BE" sz="2400"/>
          </a:p>
        </p:txBody>
      </p:sp>
      <p:pic>
        <p:nvPicPr>
          <p:cNvPr id="7" name="Picture 6">
            <a:extLst>
              <a:ext uri="{FF2B5EF4-FFF2-40B4-BE49-F238E27FC236}">
                <a16:creationId xmlns:a16="http://schemas.microsoft.com/office/drawing/2014/main" id="{42661D24-DB89-2106-1C5C-772A2821E284}"/>
              </a:ext>
            </a:extLst>
          </p:cNvPr>
          <p:cNvPicPr>
            <a:picLocks noChangeAspect="1"/>
          </p:cNvPicPr>
          <p:nvPr/>
        </p:nvPicPr>
        <p:blipFill>
          <a:blip r:embed="rId4"/>
          <a:srcRect l="1418" t="775" r="83662" b="72869"/>
          <a:stretch>
            <a:fillRect/>
          </a:stretch>
        </p:blipFill>
        <p:spPr>
          <a:xfrm>
            <a:off x="967307" y="2265582"/>
            <a:ext cx="1455036" cy="624740"/>
          </a:xfrm>
          <a:prstGeom prst="rect">
            <a:avLst/>
          </a:prstGeom>
        </p:spPr>
      </p:pic>
      <p:pic>
        <p:nvPicPr>
          <p:cNvPr id="12" name="Picture 11">
            <a:extLst>
              <a:ext uri="{FF2B5EF4-FFF2-40B4-BE49-F238E27FC236}">
                <a16:creationId xmlns:a16="http://schemas.microsoft.com/office/drawing/2014/main" id="{01B347F0-F5ED-7D7E-5C36-944462F17A9C}"/>
              </a:ext>
            </a:extLst>
          </p:cNvPr>
          <p:cNvPicPr>
            <a:picLocks noChangeAspect="1"/>
          </p:cNvPicPr>
          <p:nvPr/>
        </p:nvPicPr>
        <p:blipFill>
          <a:blip r:embed="rId4"/>
          <a:srcRect t="58672" r="82862" b="14972"/>
          <a:stretch>
            <a:fillRect/>
          </a:stretch>
        </p:blipFill>
        <p:spPr>
          <a:xfrm>
            <a:off x="859148" y="3614264"/>
            <a:ext cx="1671355" cy="624740"/>
          </a:xfrm>
          <a:prstGeom prst="rect">
            <a:avLst/>
          </a:prstGeom>
        </p:spPr>
      </p:pic>
      <p:pic>
        <p:nvPicPr>
          <p:cNvPr id="13" name="Picture 12">
            <a:extLst>
              <a:ext uri="{FF2B5EF4-FFF2-40B4-BE49-F238E27FC236}">
                <a16:creationId xmlns:a16="http://schemas.microsoft.com/office/drawing/2014/main" id="{9FEF1113-A25B-3E73-F102-1BEF94F28F0A}"/>
              </a:ext>
            </a:extLst>
          </p:cNvPr>
          <p:cNvPicPr>
            <a:picLocks noChangeAspect="1"/>
          </p:cNvPicPr>
          <p:nvPr/>
        </p:nvPicPr>
        <p:blipFill>
          <a:blip r:embed="rId4"/>
          <a:srcRect l="62436" t="58817" r="19334" b="14827"/>
          <a:stretch>
            <a:fillRect/>
          </a:stretch>
        </p:blipFill>
        <p:spPr>
          <a:xfrm>
            <a:off x="3120500" y="5968762"/>
            <a:ext cx="1777822" cy="624740"/>
          </a:xfrm>
          <a:prstGeom prst="rect">
            <a:avLst/>
          </a:prstGeom>
        </p:spPr>
      </p:pic>
      <p:pic>
        <p:nvPicPr>
          <p:cNvPr id="1026" name="Picture 2" descr="Registration Now Open for Memorial Sloan-Kettering Cancer Center's ...">
            <a:extLst>
              <a:ext uri="{FF2B5EF4-FFF2-40B4-BE49-F238E27FC236}">
                <a16:creationId xmlns:a16="http://schemas.microsoft.com/office/drawing/2014/main" id="{75CA5759-11E2-BB93-B891-4E3C77691D8C}"/>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42415" y="3799213"/>
            <a:ext cx="1733992" cy="57099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619E2A8-90E6-1636-6EB9-87123D2B1D81}"/>
              </a:ext>
            </a:extLst>
          </p:cNvPr>
          <p:cNvPicPr>
            <a:picLocks noChangeAspect="1"/>
          </p:cNvPicPr>
          <p:nvPr/>
        </p:nvPicPr>
        <p:blipFill>
          <a:blip r:embed="rId4">
            <a:clrChange>
              <a:clrFrom>
                <a:srgbClr val="FFFFFF"/>
              </a:clrFrom>
              <a:clrTo>
                <a:srgbClr val="FFFFFF">
                  <a:alpha val="0"/>
                </a:srgbClr>
              </a:clrTo>
            </a:clrChange>
          </a:blip>
          <a:srcRect l="41869" t="774" r="40993" b="72870"/>
          <a:stretch>
            <a:fillRect/>
          </a:stretch>
        </p:blipFill>
        <p:spPr>
          <a:xfrm>
            <a:off x="859148" y="4413412"/>
            <a:ext cx="1671355" cy="624740"/>
          </a:xfrm>
          <a:prstGeom prst="rect">
            <a:avLst/>
          </a:prstGeom>
        </p:spPr>
      </p:pic>
      <p:pic>
        <p:nvPicPr>
          <p:cNvPr id="1028" name="Picture 4" descr="NIH Logo, symbol, meaning, history, PNG, brand">
            <a:extLst>
              <a:ext uri="{FF2B5EF4-FFF2-40B4-BE49-F238E27FC236}">
                <a16:creationId xmlns:a16="http://schemas.microsoft.com/office/drawing/2014/main" id="{51AE2F39-B12E-C359-819C-49A0274E69CB}"/>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31151" b="28947"/>
          <a:stretch>
            <a:fillRect/>
          </a:stretch>
        </p:blipFill>
        <p:spPr bwMode="auto">
          <a:xfrm>
            <a:off x="3173734" y="5401585"/>
            <a:ext cx="1671354" cy="3751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Centre for Cancer Biology - Centre for Cancer Biology">
            <a:extLst>
              <a:ext uri="{FF2B5EF4-FFF2-40B4-BE49-F238E27FC236}">
                <a16:creationId xmlns:a16="http://schemas.microsoft.com/office/drawing/2014/main" id="{004EC607-771F-5B10-9E42-49EBB69F16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5877" y="5212560"/>
            <a:ext cx="1837896" cy="5811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oehringer Ingelheim logo | Thames Valley Chamber of Commerce">
            <a:extLst>
              <a:ext uri="{FF2B5EF4-FFF2-40B4-BE49-F238E27FC236}">
                <a16:creationId xmlns:a16="http://schemas.microsoft.com/office/drawing/2014/main" id="{E9474B2E-F644-6532-CDBF-46648A01D2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5982" y="3082373"/>
            <a:ext cx="2186858" cy="5247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MS Logo (Bristol Myers Squibb Logo), symbol, meaning, history, PNG, brand">
            <a:extLst>
              <a:ext uri="{FF2B5EF4-FFF2-40B4-BE49-F238E27FC236}">
                <a16:creationId xmlns:a16="http://schemas.microsoft.com/office/drawing/2014/main" id="{D9931FA3-1182-65A6-38D9-68A0BBB174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4058" y="4562262"/>
            <a:ext cx="1150706" cy="6472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anofi logo in transparent PNG and vectorized SVG formats">
            <a:extLst>
              <a:ext uri="{FF2B5EF4-FFF2-40B4-BE49-F238E27FC236}">
                <a16:creationId xmlns:a16="http://schemas.microsoft.com/office/drawing/2014/main" id="{7DE3EE74-58F3-EE73-CDD7-7D3931BE91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7308" y="3064730"/>
            <a:ext cx="1455035" cy="3751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6" descr="eLabNext and SciShield merge to create SciSure | Kimi Brown, ARM, NRCC ...">
            <a:extLst>
              <a:ext uri="{FF2B5EF4-FFF2-40B4-BE49-F238E27FC236}">
                <a16:creationId xmlns:a16="http://schemas.microsoft.com/office/drawing/2014/main" id="{3307D52E-34AD-A734-9CC1-722DE87898BE}"/>
              </a:ext>
            </a:extLst>
          </p:cNvPr>
          <p:cNvPicPr>
            <a:picLocks noChangeAspect="1" noChangeArrowheads="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24511" t="53775" r="26099" b="23726"/>
          <a:stretch>
            <a:fillRect/>
          </a:stretch>
        </p:blipFill>
        <p:spPr bwMode="auto">
          <a:xfrm>
            <a:off x="219175" y="280709"/>
            <a:ext cx="5231493" cy="124714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eLabNext and SciShield merge to create SciSure | Kimi Brown, ARM, NRCC ...">
            <a:extLst>
              <a:ext uri="{FF2B5EF4-FFF2-40B4-BE49-F238E27FC236}">
                <a16:creationId xmlns:a16="http://schemas.microsoft.com/office/drawing/2014/main" id="{42BE273E-8AE0-FB59-C74C-C2B0AE0D3E3B}"/>
              </a:ext>
            </a:extLst>
          </p:cNvPr>
          <p:cNvPicPr>
            <a:picLocks noChangeAspect="1" noChangeArrowheads="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24406" t="26537" r="26204" b="61448"/>
          <a:stretch>
            <a:fillRect/>
          </a:stretch>
        </p:blipFill>
        <p:spPr bwMode="auto">
          <a:xfrm>
            <a:off x="1128171" y="1445379"/>
            <a:ext cx="3413502" cy="4345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E80BAD99-3B2D-6E37-6890-ACC358C0ED1F}"/>
              </a:ext>
            </a:extLst>
          </p:cNvPr>
          <p:cNvPicPr>
            <a:picLocks noChangeAspect="1"/>
          </p:cNvPicPr>
          <p:nvPr/>
        </p:nvPicPr>
        <p:blipFill>
          <a:blip r:embed="rId4"/>
          <a:srcRect l="22509" t="775" r="62571" b="72869"/>
          <a:stretch>
            <a:fillRect/>
          </a:stretch>
        </p:blipFill>
        <p:spPr>
          <a:xfrm>
            <a:off x="3281893" y="2265582"/>
            <a:ext cx="1455036" cy="624740"/>
          </a:xfrm>
          <a:prstGeom prst="rect">
            <a:avLst/>
          </a:prstGeom>
        </p:spPr>
      </p:pic>
      <p:pic>
        <p:nvPicPr>
          <p:cNvPr id="18" name="Picture 17">
            <a:extLst>
              <a:ext uri="{FF2B5EF4-FFF2-40B4-BE49-F238E27FC236}">
                <a16:creationId xmlns:a16="http://schemas.microsoft.com/office/drawing/2014/main" id="{95E6CD1E-7C53-2F74-C86D-B3103A7371F5}"/>
              </a:ext>
            </a:extLst>
          </p:cNvPr>
          <p:cNvPicPr>
            <a:picLocks noChangeAspect="1"/>
          </p:cNvPicPr>
          <p:nvPr/>
        </p:nvPicPr>
        <p:blipFill>
          <a:blip r:embed="rId4"/>
          <a:srcRect l="63527" t="774" r="19334" b="72870"/>
          <a:stretch>
            <a:fillRect/>
          </a:stretch>
        </p:blipFill>
        <p:spPr>
          <a:xfrm>
            <a:off x="859148" y="5968121"/>
            <a:ext cx="1671355" cy="624740"/>
          </a:xfrm>
          <a:prstGeom prst="rect">
            <a:avLst/>
          </a:prstGeom>
        </p:spPr>
      </p:pic>
      <p:cxnSp>
        <p:nvCxnSpPr>
          <p:cNvPr id="6" name="Straight Connector 5">
            <a:extLst>
              <a:ext uri="{FF2B5EF4-FFF2-40B4-BE49-F238E27FC236}">
                <a16:creationId xmlns:a16="http://schemas.microsoft.com/office/drawing/2014/main" id="{A4D1B8C1-275D-4F2C-E503-742D9ADA76F3}"/>
              </a:ext>
            </a:extLst>
          </p:cNvPr>
          <p:cNvCxnSpPr/>
          <p:nvPr/>
        </p:nvCxnSpPr>
        <p:spPr>
          <a:xfrm>
            <a:off x="775877" y="2152650"/>
            <a:ext cx="4251709" cy="0"/>
          </a:xfrm>
          <a:prstGeom prst="line">
            <a:avLst/>
          </a:prstGeom>
          <a:ln w="3175">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543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4ECE-1578-2E8F-AEAA-8546603D327D}"/>
              </a:ext>
            </a:extLst>
          </p:cNvPr>
          <p:cNvSpPr>
            <a:spLocks noGrp="1"/>
          </p:cNvSpPr>
          <p:nvPr>
            <p:ph type="title"/>
          </p:nvPr>
        </p:nvSpPr>
        <p:spPr>
          <a:xfrm>
            <a:off x="838200" y="365125"/>
            <a:ext cx="10674096" cy="1325563"/>
          </a:xfrm>
        </p:spPr>
        <p:txBody>
          <a:bodyPr/>
          <a:lstStyle/>
          <a:p>
            <a:r>
              <a:rPr lang="en-US"/>
              <a:t>The platform</a:t>
            </a:r>
            <a:r>
              <a:rPr lang="en-US" dirty="0"/>
              <a:t> in 3 key modules</a:t>
            </a:r>
            <a:endParaRPr lang="en-BE"/>
          </a:p>
        </p:txBody>
      </p:sp>
      <p:grpSp>
        <p:nvGrpSpPr>
          <p:cNvPr id="10" name="Group 9">
            <a:extLst>
              <a:ext uri="{FF2B5EF4-FFF2-40B4-BE49-F238E27FC236}">
                <a16:creationId xmlns:a16="http://schemas.microsoft.com/office/drawing/2014/main" id="{05232C56-F500-505C-A36F-B86287721655}"/>
              </a:ext>
            </a:extLst>
          </p:cNvPr>
          <p:cNvGrpSpPr/>
          <p:nvPr/>
        </p:nvGrpSpPr>
        <p:grpSpPr>
          <a:xfrm>
            <a:off x="3056910" y="1690688"/>
            <a:ext cx="6078181" cy="3585944"/>
            <a:chOff x="3102117" y="1690688"/>
            <a:chExt cx="6078181" cy="3585944"/>
          </a:xfrm>
        </p:grpSpPr>
        <p:pic>
          <p:nvPicPr>
            <p:cNvPr id="5" name="Picture 6" descr="eLabNext – Lab Innovations UK">
              <a:extLst>
                <a:ext uri="{FF2B5EF4-FFF2-40B4-BE49-F238E27FC236}">
                  <a16:creationId xmlns:a16="http://schemas.microsoft.com/office/drawing/2014/main" id="{2CEDB486-6572-23E7-6FBD-DCAF00A879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174" r="72117" b="22624"/>
            <a:stretch>
              <a:fillRect/>
            </a:stretch>
          </p:blipFill>
          <p:spPr bwMode="auto">
            <a:xfrm>
              <a:off x="5244305" y="2770077"/>
              <a:ext cx="1851956" cy="2024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28A7FF-DD69-EFFA-2DED-1313A2158230}"/>
                </a:ext>
              </a:extLst>
            </p:cNvPr>
            <p:cNvSpPr txBox="1"/>
            <p:nvPr/>
          </p:nvSpPr>
          <p:spPr>
            <a:xfrm>
              <a:off x="5205882" y="1690688"/>
              <a:ext cx="1780235"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Journal</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TextBox 6">
              <a:extLst>
                <a:ext uri="{FF2B5EF4-FFF2-40B4-BE49-F238E27FC236}">
                  <a16:creationId xmlns:a16="http://schemas.microsoft.com/office/drawing/2014/main" id="{8CE2AD30-1449-D4C3-4D2B-DE15C2329E37}"/>
                </a:ext>
              </a:extLst>
            </p:cNvPr>
            <p:cNvSpPr txBox="1"/>
            <p:nvPr/>
          </p:nvSpPr>
          <p:spPr>
            <a:xfrm>
              <a:off x="6986117" y="4561543"/>
              <a:ext cx="2194181"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Inventory</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sp>
          <p:nvSpPr>
            <p:cNvPr id="8" name="TextBox 7">
              <a:extLst>
                <a:ext uri="{FF2B5EF4-FFF2-40B4-BE49-F238E27FC236}">
                  <a16:creationId xmlns:a16="http://schemas.microsoft.com/office/drawing/2014/main" id="{5A5773D3-431B-8045-A5AB-30F1DD775F6F}"/>
                </a:ext>
              </a:extLst>
            </p:cNvPr>
            <p:cNvSpPr txBox="1"/>
            <p:nvPr/>
          </p:nvSpPr>
          <p:spPr>
            <a:xfrm>
              <a:off x="3102117" y="4561543"/>
              <a:ext cx="2142188"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Protocols</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grpSp>
    </p:spTree>
    <p:extLst>
      <p:ext uri="{BB962C8B-B14F-4D97-AF65-F5344CB8AC3E}">
        <p14:creationId xmlns:p14="http://schemas.microsoft.com/office/powerpoint/2010/main" val="2615162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F45D-E054-08DB-3D21-1E1BB0C2FC8D}"/>
              </a:ext>
            </a:extLst>
          </p:cNvPr>
          <p:cNvSpPr>
            <a:spLocks noGrp="1"/>
          </p:cNvSpPr>
          <p:nvPr>
            <p:ph type="title"/>
          </p:nvPr>
        </p:nvSpPr>
        <p:spPr/>
        <p:txBody>
          <a:bodyPr/>
          <a:lstStyle/>
          <a:p>
            <a:r>
              <a:rPr lang="en-US"/>
              <a:t>The journal</a:t>
            </a:r>
            <a:endParaRPr lang="en-BE"/>
          </a:p>
        </p:txBody>
      </p:sp>
      <p:sp>
        <p:nvSpPr>
          <p:cNvPr id="3" name="Content Placeholder 2">
            <a:extLst>
              <a:ext uri="{FF2B5EF4-FFF2-40B4-BE49-F238E27FC236}">
                <a16:creationId xmlns:a16="http://schemas.microsoft.com/office/drawing/2014/main" id="{A7B7CD60-6630-047C-C192-D4EA6BB98FFA}"/>
              </a:ext>
            </a:extLst>
          </p:cNvPr>
          <p:cNvSpPr>
            <a:spLocks noGrp="1"/>
          </p:cNvSpPr>
          <p:nvPr>
            <p:ph sz="quarter" idx="10"/>
          </p:nvPr>
        </p:nvSpPr>
        <p:spPr/>
        <p:txBody>
          <a:bodyPr/>
          <a:lstStyle/>
          <a:p>
            <a:r>
              <a:rPr lang="en-US"/>
              <a:t>Structured platform</a:t>
            </a:r>
          </a:p>
          <a:p>
            <a:r>
              <a:rPr lang="en-US"/>
              <a:t>Build detailed experiments</a:t>
            </a:r>
          </a:p>
          <a:p>
            <a:r>
              <a:rPr lang="en-US"/>
              <a:t>Tag, annotate, communicate</a:t>
            </a:r>
          </a:p>
          <a:p>
            <a:r>
              <a:rPr lang="en-US"/>
              <a:t>Create templates for reproducibility</a:t>
            </a:r>
          </a:p>
          <a:p>
            <a:r>
              <a:rPr lang="en-US"/>
              <a:t>Export in PDF, HTML, XML or JSON</a:t>
            </a:r>
            <a:endParaRPr lang="en-BE"/>
          </a:p>
        </p:txBody>
      </p:sp>
      <p:pic>
        <p:nvPicPr>
          <p:cNvPr id="16" name="Graphic 15">
            <a:extLst>
              <a:ext uri="{FF2B5EF4-FFF2-40B4-BE49-F238E27FC236}">
                <a16:creationId xmlns:a16="http://schemas.microsoft.com/office/drawing/2014/main" id="{0C35DF59-47F6-011D-BAA0-AF9512BDC4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493835" y="1509683"/>
            <a:ext cx="2430629" cy="3929517"/>
          </a:xfrm>
          <a:prstGeom prst="rect">
            <a:avLst/>
          </a:prstGeom>
        </p:spPr>
      </p:pic>
      <p:sp>
        <p:nvSpPr>
          <p:cNvPr id="18" name="Freeform: Shape 17">
            <a:extLst>
              <a:ext uri="{FF2B5EF4-FFF2-40B4-BE49-F238E27FC236}">
                <a16:creationId xmlns:a16="http://schemas.microsoft.com/office/drawing/2014/main" id="{7F1001D9-4BCE-06FF-AD19-C4E86E4C2CE8}"/>
              </a:ext>
            </a:extLst>
          </p:cNvPr>
          <p:cNvSpPr/>
          <p:nvPr/>
        </p:nvSpPr>
        <p:spPr>
          <a:xfrm>
            <a:off x="3575305" y="3587587"/>
            <a:ext cx="208418" cy="301141"/>
          </a:xfrm>
          <a:custGeom>
            <a:avLst/>
            <a:gdLst>
              <a:gd name="connsiteX0" fmla="*/ 21396 w 208418"/>
              <a:gd name="connsiteY0" fmla="*/ 1229 h 301141"/>
              <a:gd name="connsiteX1" fmla="*/ 114300 w 208418"/>
              <a:gd name="connsiteY1" fmla="*/ 103585 h 301141"/>
              <a:gd name="connsiteX2" fmla="*/ 119971 w 208418"/>
              <a:gd name="connsiteY2" fmla="*/ 104666 h 301141"/>
              <a:gd name="connsiteX3" fmla="*/ 129829 w 208418"/>
              <a:gd name="connsiteY3" fmla="*/ 52137 h 301141"/>
              <a:gd name="connsiteX4" fmla="*/ 179251 w 208418"/>
              <a:gd name="connsiteY4" fmla="*/ 145986 h 301141"/>
              <a:gd name="connsiteX5" fmla="*/ 208419 w 208418"/>
              <a:gd name="connsiteY5" fmla="*/ 239430 h 301141"/>
              <a:gd name="connsiteX6" fmla="*/ 147788 w 208418"/>
              <a:gd name="connsiteY6" fmla="*/ 301141 h 301141"/>
              <a:gd name="connsiteX7" fmla="*/ 51103 w 208418"/>
              <a:gd name="connsiteY7" fmla="*/ 173938 h 301141"/>
              <a:gd name="connsiteX8" fmla="*/ 21396 w 208418"/>
              <a:gd name="connsiteY8" fmla="*/ 1094 h 301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418" h="301141">
                <a:moveTo>
                  <a:pt x="21396" y="1229"/>
                </a:moveTo>
                <a:cubicBezTo>
                  <a:pt x="49753" y="-9304"/>
                  <a:pt x="81621" y="49841"/>
                  <a:pt x="114300" y="103585"/>
                </a:cubicBezTo>
                <a:cubicBezTo>
                  <a:pt x="116325" y="106826"/>
                  <a:pt x="120106" y="109932"/>
                  <a:pt x="119971" y="104666"/>
                </a:cubicBezTo>
                <a:cubicBezTo>
                  <a:pt x="119431" y="88326"/>
                  <a:pt x="119701" y="54297"/>
                  <a:pt x="129829" y="52137"/>
                </a:cubicBezTo>
                <a:cubicBezTo>
                  <a:pt x="143602" y="49031"/>
                  <a:pt x="168314" y="98724"/>
                  <a:pt x="179251" y="145986"/>
                </a:cubicBezTo>
                <a:lnTo>
                  <a:pt x="208419" y="239430"/>
                </a:lnTo>
                <a:lnTo>
                  <a:pt x="147788" y="301141"/>
                </a:lnTo>
                <a:cubicBezTo>
                  <a:pt x="120646" y="286963"/>
                  <a:pt x="88373" y="234704"/>
                  <a:pt x="51103" y="173938"/>
                </a:cubicBezTo>
                <a:cubicBezTo>
                  <a:pt x="3301" y="95888"/>
                  <a:pt x="-19925" y="16488"/>
                  <a:pt x="21396" y="1094"/>
                </a:cubicBez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9" name="Freeform: Shape 18">
            <a:extLst>
              <a:ext uri="{FF2B5EF4-FFF2-40B4-BE49-F238E27FC236}">
                <a16:creationId xmlns:a16="http://schemas.microsoft.com/office/drawing/2014/main" id="{44F04155-F97C-74AB-465C-48CDCC560B9D}"/>
              </a:ext>
            </a:extLst>
          </p:cNvPr>
          <p:cNvSpPr/>
          <p:nvPr/>
        </p:nvSpPr>
        <p:spPr>
          <a:xfrm>
            <a:off x="3912817" y="6334617"/>
            <a:ext cx="411586" cy="227398"/>
          </a:xfrm>
          <a:custGeom>
            <a:avLst/>
            <a:gdLst>
              <a:gd name="connsiteX0" fmla="*/ 411587 w 411586"/>
              <a:gd name="connsiteY0" fmla="*/ 135 h 227398"/>
              <a:gd name="connsiteX1" fmla="*/ 256296 w 411586"/>
              <a:gd name="connsiteY1" fmla="*/ 135 h 227398"/>
              <a:gd name="connsiteX2" fmla="*/ 240227 w 411586"/>
              <a:gd name="connsiteY2" fmla="*/ 52799 h 227398"/>
              <a:gd name="connsiteX3" fmla="*/ 171359 w 411586"/>
              <a:gd name="connsiteY3" fmla="*/ 105867 h 227398"/>
              <a:gd name="connsiteX4" fmla="*/ 124367 w 411586"/>
              <a:gd name="connsiteY4" fmla="*/ 114645 h 227398"/>
              <a:gd name="connsiteX5" fmla="*/ 25387 w 411586"/>
              <a:gd name="connsiteY5" fmla="*/ 177841 h 227398"/>
              <a:gd name="connsiteX6" fmla="*/ 0 w 411586"/>
              <a:gd name="connsiteY6" fmla="*/ 227399 h 227398"/>
              <a:gd name="connsiteX7" fmla="*/ 375262 w 411586"/>
              <a:gd name="connsiteY7" fmla="*/ 227399 h 227398"/>
              <a:gd name="connsiteX8" fmla="*/ 411587 w 411586"/>
              <a:gd name="connsiteY8" fmla="*/ 0 h 2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586" h="227398">
                <a:moveTo>
                  <a:pt x="411587" y="135"/>
                </a:moveTo>
                <a:lnTo>
                  <a:pt x="256296" y="135"/>
                </a:lnTo>
                <a:cubicBezTo>
                  <a:pt x="255081" y="18635"/>
                  <a:pt x="249680" y="36865"/>
                  <a:pt x="240227" y="52799"/>
                </a:cubicBezTo>
                <a:cubicBezTo>
                  <a:pt x="225103" y="78320"/>
                  <a:pt x="199987" y="97900"/>
                  <a:pt x="171359" y="105867"/>
                </a:cubicBezTo>
                <a:cubicBezTo>
                  <a:pt x="155965" y="110189"/>
                  <a:pt x="140031" y="111269"/>
                  <a:pt x="124367" y="114645"/>
                </a:cubicBezTo>
                <a:cubicBezTo>
                  <a:pt x="85207" y="123017"/>
                  <a:pt x="49423" y="145973"/>
                  <a:pt x="25387" y="177841"/>
                </a:cubicBezTo>
                <a:cubicBezTo>
                  <a:pt x="14179" y="192695"/>
                  <a:pt x="5672" y="209574"/>
                  <a:pt x="0" y="227399"/>
                </a:cubicBezTo>
                <a:lnTo>
                  <a:pt x="375262" y="227399"/>
                </a:lnTo>
                <a:lnTo>
                  <a:pt x="411587" y="0"/>
                </a:lnTo>
                <a:close/>
              </a:path>
            </a:pathLst>
          </a:custGeom>
          <a:solidFill>
            <a:srgbClr val="05A2A6"/>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0" name="Freeform: Shape 19">
            <a:extLst>
              <a:ext uri="{FF2B5EF4-FFF2-40B4-BE49-F238E27FC236}">
                <a16:creationId xmlns:a16="http://schemas.microsoft.com/office/drawing/2014/main" id="{479AECC6-2ECB-60F1-AC33-B0AE32789471}"/>
              </a:ext>
            </a:extLst>
          </p:cNvPr>
          <p:cNvSpPr/>
          <p:nvPr/>
        </p:nvSpPr>
        <p:spPr>
          <a:xfrm>
            <a:off x="5446004" y="5933563"/>
            <a:ext cx="254810" cy="468031"/>
          </a:xfrm>
          <a:custGeom>
            <a:avLst/>
            <a:gdLst>
              <a:gd name="connsiteX0" fmla="*/ 87908 w 254810"/>
              <a:gd name="connsiteY0" fmla="*/ 135 h 468031"/>
              <a:gd name="connsiteX1" fmla="*/ 0 w 254810"/>
              <a:gd name="connsiteY1" fmla="*/ 128148 h 468031"/>
              <a:gd name="connsiteX2" fmla="*/ 34299 w 254810"/>
              <a:gd name="connsiteY2" fmla="*/ 171225 h 468031"/>
              <a:gd name="connsiteX3" fmla="*/ 39160 w 254810"/>
              <a:gd name="connsiteY3" fmla="*/ 258052 h 468031"/>
              <a:gd name="connsiteX4" fmla="*/ 19850 w 254810"/>
              <a:gd name="connsiteY4" fmla="*/ 301668 h 468031"/>
              <a:gd name="connsiteX5" fmla="*/ 15934 w 254810"/>
              <a:gd name="connsiteY5" fmla="*/ 419014 h 468031"/>
              <a:gd name="connsiteX6" fmla="*/ 42401 w 254810"/>
              <a:gd name="connsiteY6" fmla="*/ 468031 h 468031"/>
              <a:gd name="connsiteX7" fmla="*/ 254811 w 254810"/>
              <a:gd name="connsiteY7" fmla="*/ 158666 h 468031"/>
              <a:gd name="connsiteX8" fmla="*/ 87908 w 254810"/>
              <a:gd name="connsiteY8" fmla="*/ 0 h 468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810" h="468031">
                <a:moveTo>
                  <a:pt x="87908" y="135"/>
                </a:moveTo>
                <a:lnTo>
                  <a:pt x="0" y="128148"/>
                </a:lnTo>
                <a:cubicBezTo>
                  <a:pt x="14584" y="139626"/>
                  <a:pt x="26467" y="154480"/>
                  <a:pt x="34299" y="171225"/>
                </a:cubicBezTo>
                <a:cubicBezTo>
                  <a:pt x="46857" y="198097"/>
                  <a:pt x="48612" y="229965"/>
                  <a:pt x="39160" y="258052"/>
                </a:cubicBezTo>
                <a:cubicBezTo>
                  <a:pt x="34029" y="273176"/>
                  <a:pt x="25927" y="286949"/>
                  <a:pt x="19850" y="301668"/>
                </a:cubicBezTo>
                <a:cubicBezTo>
                  <a:pt x="4591" y="338668"/>
                  <a:pt x="3241" y="381204"/>
                  <a:pt x="15934" y="419014"/>
                </a:cubicBezTo>
                <a:cubicBezTo>
                  <a:pt x="21876" y="436703"/>
                  <a:pt x="30923" y="453313"/>
                  <a:pt x="42401" y="468031"/>
                </a:cubicBezTo>
                <a:lnTo>
                  <a:pt x="254811" y="158666"/>
                </a:lnTo>
                <a:lnTo>
                  <a:pt x="87908" y="0"/>
                </a:lnTo>
                <a:close/>
              </a:path>
            </a:pathLst>
          </a:custGeom>
          <a:solidFill>
            <a:srgbClr val="05A2A6"/>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1" name="Freeform: Shape 20">
            <a:extLst>
              <a:ext uri="{FF2B5EF4-FFF2-40B4-BE49-F238E27FC236}">
                <a16:creationId xmlns:a16="http://schemas.microsoft.com/office/drawing/2014/main" id="{F70348DC-F567-279F-E2B5-DFE641FD01F1}"/>
              </a:ext>
            </a:extLst>
          </p:cNvPr>
          <p:cNvSpPr/>
          <p:nvPr/>
        </p:nvSpPr>
        <p:spPr>
          <a:xfrm>
            <a:off x="4120096" y="4547024"/>
            <a:ext cx="515023" cy="1822026"/>
          </a:xfrm>
          <a:custGeom>
            <a:avLst/>
            <a:gdLst>
              <a:gd name="connsiteX0" fmla="*/ 515023 w 515023"/>
              <a:gd name="connsiteY0" fmla="*/ 0 h 1822026"/>
              <a:gd name="connsiteX1" fmla="*/ 183782 w 515023"/>
              <a:gd name="connsiteY1" fmla="*/ 0 h 1822026"/>
              <a:gd name="connsiteX2" fmla="*/ 0 w 515023"/>
              <a:gd name="connsiteY2" fmla="*/ 1822027 h 1822026"/>
              <a:gd name="connsiteX3" fmla="*/ 340288 w 515023"/>
              <a:gd name="connsiteY3" fmla="*/ 1822027 h 1822026"/>
              <a:gd name="connsiteX4" fmla="*/ 515023 w 515023"/>
              <a:gd name="connsiteY4" fmla="*/ 0 h 1822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023" h="1822026">
                <a:moveTo>
                  <a:pt x="515023" y="0"/>
                </a:moveTo>
                <a:lnTo>
                  <a:pt x="183782" y="0"/>
                </a:lnTo>
                <a:lnTo>
                  <a:pt x="0" y="1822027"/>
                </a:lnTo>
                <a:lnTo>
                  <a:pt x="340288" y="1822027"/>
                </a:lnTo>
                <a:lnTo>
                  <a:pt x="515023" y="0"/>
                </a:ln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2" name="Freeform: Shape 21">
            <a:extLst>
              <a:ext uri="{FF2B5EF4-FFF2-40B4-BE49-F238E27FC236}">
                <a16:creationId xmlns:a16="http://schemas.microsoft.com/office/drawing/2014/main" id="{10E3F96E-9500-E1B7-74C2-A06D2B411567}"/>
              </a:ext>
            </a:extLst>
          </p:cNvPr>
          <p:cNvSpPr/>
          <p:nvPr/>
        </p:nvSpPr>
        <p:spPr>
          <a:xfrm>
            <a:off x="4473482" y="4547159"/>
            <a:ext cx="1167782" cy="1620689"/>
          </a:xfrm>
          <a:custGeom>
            <a:avLst/>
            <a:gdLst>
              <a:gd name="connsiteX0" fmla="*/ 1167647 w 1167782"/>
              <a:gd name="connsiteY0" fmla="*/ 1382758 h 1620689"/>
              <a:gd name="connsiteX1" fmla="*/ 500574 w 1167782"/>
              <a:gd name="connsiteY1" fmla="*/ 824659 h 1620689"/>
              <a:gd name="connsiteX2" fmla="*/ 420634 w 1167782"/>
              <a:gd name="connsiteY2" fmla="*/ 0 h 1620689"/>
              <a:gd name="connsiteX3" fmla="*/ 0 w 1167782"/>
              <a:gd name="connsiteY3" fmla="*/ 0 h 1620689"/>
              <a:gd name="connsiteX4" fmla="*/ 171224 w 1167782"/>
              <a:gd name="connsiteY4" fmla="*/ 928366 h 1620689"/>
              <a:gd name="connsiteX5" fmla="*/ 234961 w 1167782"/>
              <a:gd name="connsiteY5" fmla="*/ 1038149 h 1620689"/>
              <a:gd name="connsiteX6" fmla="*/ 924314 w 1167782"/>
              <a:gd name="connsiteY6" fmla="*/ 1620690 h 1620689"/>
              <a:gd name="connsiteX7" fmla="*/ 1167782 w 1167782"/>
              <a:gd name="connsiteY7" fmla="*/ 1383028 h 162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7782" h="1620689">
                <a:moveTo>
                  <a:pt x="1167647" y="1382758"/>
                </a:moveTo>
                <a:lnTo>
                  <a:pt x="500574" y="824659"/>
                </a:lnTo>
                <a:lnTo>
                  <a:pt x="420634" y="0"/>
                </a:lnTo>
                <a:lnTo>
                  <a:pt x="0" y="0"/>
                </a:lnTo>
                <a:lnTo>
                  <a:pt x="171224" y="928366"/>
                </a:lnTo>
                <a:cubicBezTo>
                  <a:pt x="179191" y="971172"/>
                  <a:pt x="201607" y="1010062"/>
                  <a:pt x="234961" y="1038149"/>
                </a:cubicBezTo>
                <a:lnTo>
                  <a:pt x="924314" y="1620690"/>
                </a:lnTo>
                <a:lnTo>
                  <a:pt x="1167782" y="1383028"/>
                </a:ln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3" name="Freeform: Shape 22">
            <a:extLst>
              <a:ext uri="{FF2B5EF4-FFF2-40B4-BE49-F238E27FC236}">
                <a16:creationId xmlns:a16="http://schemas.microsoft.com/office/drawing/2014/main" id="{219F7A74-38B4-9A89-2F41-110F7154807D}"/>
              </a:ext>
            </a:extLst>
          </p:cNvPr>
          <p:cNvSpPr/>
          <p:nvPr/>
        </p:nvSpPr>
        <p:spPr>
          <a:xfrm>
            <a:off x="4360188" y="3567885"/>
            <a:ext cx="540139" cy="979138"/>
          </a:xfrm>
          <a:custGeom>
            <a:avLst/>
            <a:gdLst>
              <a:gd name="connsiteX0" fmla="*/ 540140 w 540139"/>
              <a:gd name="connsiteY0" fmla="*/ 98711 h 979138"/>
              <a:gd name="connsiteX1" fmla="*/ 362164 w 540139"/>
              <a:gd name="connsiteY1" fmla="*/ 0 h 979138"/>
              <a:gd name="connsiteX2" fmla="*/ 332726 w 540139"/>
              <a:gd name="connsiteY2" fmla="*/ 81831 h 979138"/>
              <a:gd name="connsiteX3" fmla="*/ 211870 w 540139"/>
              <a:gd name="connsiteY3" fmla="*/ 80211 h 979138"/>
              <a:gd name="connsiteX4" fmla="*/ 185268 w 540139"/>
              <a:gd name="connsiteY4" fmla="*/ 0 h 979138"/>
              <a:gd name="connsiteX5" fmla="*/ 0 w 540139"/>
              <a:gd name="connsiteY5" fmla="*/ 98711 h 979138"/>
              <a:gd name="connsiteX6" fmla="*/ 0 w 540139"/>
              <a:gd name="connsiteY6" fmla="*/ 979139 h 979138"/>
              <a:gd name="connsiteX7" fmla="*/ 540140 w 540139"/>
              <a:gd name="connsiteY7" fmla="*/ 979139 h 979138"/>
              <a:gd name="connsiteX8" fmla="*/ 540140 w 540139"/>
              <a:gd name="connsiteY8" fmla="*/ 98711 h 97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0139" h="979138">
                <a:moveTo>
                  <a:pt x="540140" y="98711"/>
                </a:moveTo>
                <a:lnTo>
                  <a:pt x="362164" y="0"/>
                </a:lnTo>
                <a:lnTo>
                  <a:pt x="332726" y="81831"/>
                </a:lnTo>
                <a:cubicBezTo>
                  <a:pt x="312201" y="138951"/>
                  <a:pt x="230910" y="137871"/>
                  <a:pt x="211870" y="80211"/>
                </a:cubicBezTo>
                <a:lnTo>
                  <a:pt x="185268" y="0"/>
                </a:lnTo>
                <a:lnTo>
                  <a:pt x="0" y="98711"/>
                </a:lnTo>
                <a:lnTo>
                  <a:pt x="0" y="979139"/>
                </a:lnTo>
                <a:lnTo>
                  <a:pt x="540140" y="979139"/>
                </a:lnTo>
                <a:lnTo>
                  <a:pt x="540140" y="98711"/>
                </a:lnTo>
                <a:close/>
              </a:path>
            </a:pathLst>
          </a:custGeom>
          <a:solidFill>
            <a:srgbClr val="05A2A6"/>
          </a:solidFill>
          <a:ln w="1346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4" name="Freeform: Shape 23">
            <a:extLst>
              <a:ext uri="{FF2B5EF4-FFF2-40B4-BE49-F238E27FC236}">
                <a16:creationId xmlns:a16="http://schemas.microsoft.com/office/drawing/2014/main" id="{3FEE29BB-7360-09B4-ADA2-BBB5EC29AE84}"/>
              </a:ext>
            </a:extLst>
          </p:cNvPr>
          <p:cNvSpPr/>
          <p:nvPr/>
        </p:nvSpPr>
        <p:spPr>
          <a:xfrm>
            <a:off x="4722352" y="3567885"/>
            <a:ext cx="387415" cy="1857271"/>
          </a:xfrm>
          <a:custGeom>
            <a:avLst/>
            <a:gdLst>
              <a:gd name="connsiteX0" fmla="*/ 0 w 387415"/>
              <a:gd name="connsiteY0" fmla="*/ 0 h 1857271"/>
              <a:gd name="connsiteX1" fmla="*/ 0 w 387415"/>
              <a:gd name="connsiteY1" fmla="*/ 1857271 h 1857271"/>
              <a:gd name="connsiteX2" fmla="*/ 387415 w 387415"/>
              <a:gd name="connsiteY2" fmla="*/ 1857271 h 1857271"/>
              <a:gd name="connsiteX3" fmla="*/ 362164 w 387415"/>
              <a:gd name="connsiteY3" fmla="*/ 589563 h 1857271"/>
              <a:gd name="connsiteX4" fmla="*/ 323274 w 387415"/>
              <a:gd name="connsiteY4" fmla="*/ 192560 h 1857271"/>
              <a:gd name="connsiteX5" fmla="*/ 296132 w 387415"/>
              <a:gd name="connsiteY5" fmla="*/ 129634 h 1857271"/>
              <a:gd name="connsiteX6" fmla="*/ 176896 w 387415"/>
              <a:gd name="connsiteY6" fmla="*/ 46317 h 1857271"/>
              <a:gd name="connsiteX7" fmla="*/ 0 w 387415"/>
              <a:gd name="connsiteY7" fmla="*/ 0 h 185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7415" h="1857271">
                <a:moveTo>
                  <a:pt x="0" y="0"/>
                </a:moveTo>
                <a:lnTo>
                  <a:pt x="0" y="1857271"/>
                </a:lnTo>
                <a:lnTo>
                  <a:pt x="387415" y="1857271"/>
                </a:lnTo>
                <a:lnTo>
                  <a:pt x="362164" y="589563"/>
                </a:lnTo>
                <a:lnTo>
                  <a:pt x="323274" y="192560"/>
                </a:lnTo>
                <a:cubicBezTo>
                  <a:pt x="320978" y="169199"/>
                  <a:pt x="311526" y="147188"/>
                  <a:pt x="296132" y="129634"/>
                </a:cubicBezTo>
                <a:cubicBezTo>
                  <a:pt x="271285" y="101546"/>
                  <a:pt x="229019" y="61846"/>
                  <a:pt x="176896" y="46317"/>
                </a:cubicBezTo>
                <a:cubicBezTo>
                  <a:pt x="92634" y="21066"/>
                  <a:pt x="0" y="0"/>
                  <a:pt x="0" y="0"/>
                </a:cubicBez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5" name="Freeform: Shape 24">
            <a:extLst>
              <a:ext uri="{FF2B5EF4-FFF2-40B4-BE49-F238E27FC236}">
                <a16:creationId xmlns:a16="http://schemas.microsoft.com/office/drawing/2014/main" id="{8455A712-0074-A2AA-B72E-F92A00E0C81C}"/>
              </a:ext>
            </a:extLst>
          </p:cNvPr>
          <p:cNvSpPr/>
          <p:nvPr/>
        </p:nvSpPr>
        <p:spPr>
          <a:xfrm>
            <a:off x="4030568" y="3567885"/>
            <a:ext cx="514888" cy="1857271"/>
          </a:xfrm>
          <a:custGeom>
            <a:avLst/>
            <a:gdLst>
              <a:gd name="connsiteX0" fmla="*/ 514888 w 514888"/>
              <a:gd name="connsiteY0" fmla="*/ 0 h 1857271"/>
              <a:gd name="connsiteX1" fmla="*/ 397003 w 514888"/>
              <a:gd name="connsiteY1" fmla="*/ 1857271 h 1857271"/>
              <a:gd name="connsiteX2" fmla="*/ 0 w 514888"/>
              <a:gd name="connsiteY2" fmla="*/ 1857271 h 1857271"/>
              <a:gd name="connsiteX3" fmla="*/ 152725 w 514888"/>
              <a:gd name="connsiteY3" fmla="*/ 589563 h 1857271"/>
              <a:gd name="connsiteX4" fmla="*/ 194855 w 514888"/>
              <a:gd name="connsiteY4" fmla="*/ 160017 h 1857271"/>
              <a:gd name="connsiteX5" fmla="*/ 337992 w 514888"/>
              <a:gd name="connsiteY5" fmla="*/ 46317 h 1857271"/>
              <a:gd name="connsiteX6" fmla="*/ 514888 w 514888"/>
              <a:gd name="connsiteY6" fmla="*/ 0 h 185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888" h="1857271">
                <a:moveTo>
                  <a:pt x="514888" y="0"/>
                </a:moveTo>
                <a:lnTo>
                  <a:pt x="397003" y="1857271"/>
                </a:lnTo>
                <a:lnTo>
                  <a:pt x="0" y="1857271"/>
                </a:lnTo>
                <a:lnTo>
                  <a:pt x="152725" y="589563"/>
                </a:lnTo>
                <a:lnTo>
                  <a:pt x="194855" y="160017"/>
                </a:lnTo>
                <a:cubicBezTo>
                  <a:pt x="194855" y="160017"/>
                  <a:pt x="253866" y="71569"/>
                  <a:pt x="337992" y="46317"/>
                </a:cubicBezTo>
                <a:cubicBezTo>
                  <a:pt x="422254" y="21066"/>
                  <a:pt x="514888" y="0"/>
                  <a:pt x="514888" y="0"/>
                </a:cubicBez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6" name="Freeform: Shape 25">
            <a:extLst>
              <a:ext uri="{FF2B5EF4-FFF2-40B4-BE49-F238E27FC236}">
                <a16:creationId xmlns:a16="http://schemas.microsoft.com/office/drawing/2014/main" id="{3287DE6E-8BBE-7E1C-9C3D-E87ED8798E8E}"/>
              </a:ext>
            </a:extLst>
          </p:cNvPr>
          <p:cNvSpPr/>
          <p:nvPr/>
        </p:nvSpPr>
        <p:spPr>
          <a:xfrm>
            <a:off x="3592649" y="3684285"/>
            <a:ext cx="669233" cy="686439"/>
          </a:xfrm>
          <a:custGeom>
            <a:avLst/>
            <a:gdLst>
              <a:gd name="connsiteX0" fmla="*/ 669098 w 669233"/>
              <a:gd name="connsiteY0" fmla="*/ 0 h 686439"/>
              <a:gd name="connsiteX1" fmla="*/ 337992 w 669233"/>
              <a:gd name="connsiteY1" fmla="*/ 373237 h 686439"/>
              <a:gd name="connsiteX2" fmla="*/ 186348 w 669233"/>
              <a:gd name="connsiteY2" fmla="*/ 101546 h 686439"/>
              <a:gd name="connsiteX3" fmla="*/ 0 w 669233"/>
              <a:gd name="connsiteY3" fmla="*/ 246844 h 686439"/>
              <a:gd name="connsiteX4" fmla="*/ 334617 w 669233"/>
              <a:gd name="connsiteY4" fmla="*/ 685843 h 686439"/>
              <a:gd name="connsiteX5" fmla="*/ 669233 w 669233"/>
              <a:gd name="connsiteY5" fmla="*/ 398353 h 68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9233" h="686439">
                <a:moveTo>
                  <a:pt x="669098" y="0"/>
                </a:moveTo>
                <a:lnTo>
                  <a:pt x="337992" y="373237"/>
                </a:lnTo>
                <a:lnTo>
                  <a:pt x="186348" y="101546"/>
                </a:lnTo>
                <a:lnTo>
                  <a:pt x="0" y="246844"/>
                </a:lnTo>
                <a:cubicBezTo>
                  <a:pt x="0" y="246844"/>
                  <a:pt x="185808" y="670044"/>
                  <a:pt x="334617" y="685843"/>
                </a:cubicBezTo>
                <a:cubicBezTo>
                  <a:pt x="483290" y="701642"/>
                  <a:pt x="669233" y="398353"/>
                  <a:pt x="669233" y="398353"/>
                </a:cubicBezTo>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7" name="Freeform: Shape 26">
            <a:extLst>
              <a:ext uri="{FF2B5EF4-FFF2-40B4-BE49-F238E27FC236}">
                <a16:creationId xmlns:a16="http://schemas.microsoft.com/office/drawing/2014/main" id="{A708DD44-629E-7E82-7868-A6966CEBCAA7}"/>
              </a:ext>
            </a:extLst>
          </p:cNvPr>
          <p:cNvSpPr/>
          <p:nvPr/>
        </p:nvSpPr>
        <p:spPr>
          <a:xfrm>
            <a:off x="4542350" y="3458777"/>
            <a:ext cx="180001" cy="228114"/>
          </a:xfrm>
          <a:custGeom>
            <a:avLst/>
            <a:gdLst>
              <a:gd name="connsiteX0" fmla="*/ 154075 w 180001"/>
              <a:gd name="connsiteY0" fmla="*/ 0 h 228114"/>
              <a:gd name="connsiteX1" fmla="*/ 154345 w 180001"/>
              <a:gd name="connsiteY1" fmla="*/ 29438 h 228114"/>
              <a:gd name="connsiteX2" fmla="*/ 157316 w 180001"/>
              <a:gd name="connsiteY2" fmla="*/ 43616 h 228114"/>
              <a:gd name="connsiteX3" fmla="*/ 180002 w 180001"/>
              <a:gd name="connsiteY3" fmla="*/ 109108 h 228114"/>
              <a:gd name="connsiteX4" fmla="*/ 152995 w 180001"/>
              <a:gd name="connsiteY4" fmla="*/ 185268 h 228114"/>
              <a:gd name="connsiteX5" fmla="*/ 34299 w 180001"/>
              <a:gd name="connsiteY5" fmla="*/ 191480 h 228114"/>
              <a:gd name="connsiteX6" fmla="*/ 0 w 180001"/>
              <a:gd name="connsiteY6" fmla="*/ 119641 h 228114"/>
              <a:gd name="connsiteX7" fmla="*/ 12693 w 180001"/>
              <a:gd name="connsiteY7" fmla="*/ 77105 h 2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01" h="228114">
                <a:moveTo>
                  <a:pt x="154075" y="0"/>
                </a:moveTo>
                <a:cubicBezTo>
                  <a:pt x="152320" y="4726"/>
                  <a:pt x="153805" y="24171"/>
                  <a:pt x="154345" y="29438"/>
                </a:cubicBezTo>
                <a:cubicBezTo>
                  <a:pt x="154885" y="34164"/>
                  <a:pt x="155965" y="39025"/>
                  <a:pt x="157316" y="43616"/>
                </a:cubicBezTo>
                <a:cubicBezTo>
                  <a:pt x="163392" y="65897"/>
                  <a:pt x="172575" y="87233"/>
                  <a:pt x="180002" y="109108"/>
                </a:cubicBezTo>
                <a:lnTo>
                  <a:pt x="152995" y="185268"/>
                </a:lnTo>
                <a:cubicBezTo>
                  <a:pt x="133820" y="239282"/>
                  <a:pt x="59010" y="243198"/>
                  <a:pt x="34299" y="191480"/>
                </a:cubicBezTo>
                <a:lnTo>
                  <a:pt x="0" y="119641"/>
                </a:lnTo>
                <a:cubicBezTo>
                  <a:pt x="8507" y="113024"/>
                  <a:pt x="14179" y="89393"/>
                  <a:pt x="12693" y="77105"/>
                </a:cubicBezTo>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8" name="Freeform: Shape 27">
            <a:extLst>
              <a:ext uri="{FF2B5EF4-FFF2-40B4-BE49-F238E27FC236}">
                <a16:creationId xmlns:a16="http://schemas.microsoft.com/office/drawing/2014/main" id="{F72F25A8-BC70-DBFB-EEA1-1998C985FFF5}"/>
              </a:ext>
            </a:extLst>
          </p:cNvPr>
          <p:cNvSpPr/>
          <p:nvPr/>
        </p:nvSpPr>
        <p:spPr>
          <a:xfrm>
            <a:off x="4072564" y="4989128"/>
            <a:ext cx="251840" cy="82506"/>
          </a:xfrm>
          <a:custGeom>
            <a:avLst/>
            <a:gdLst>
              <a:gd name="connsiteX0" fmla="*/ 241307 w 251840"/>
              <a:gd name="connsiteY0" fmla="*/ 82506 h 82506"/>
              <a:gd name="connsiteX1" fmla="*/ 0 w 251840"/>
              <a:gd name="connsiteY1" fmla="*/ 82506 h 82506"/>
              <a:gd name="connsiteX2" fmla="*/ 10533 w 251840"/>
              <a:gd name="connsiteY2" fmla="*/ 0 h 82506"/>
              <a:gd name="connsiteX3" fmla="*/ 251840 w 251840"/>
              <a:gd name="connsiteY3" fmla="*/ 0 h 82506"/>
              <a:gd name="connsiteX4" fmla="*/ 241307 w 251840"/>
              <a:gd name="connsiteY4" fmla="*/ 82506 h 82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40" h="82506">
                <a:moveTo>
                  <a:pt x="241307" y="82506"/>
                </a:moveTo>
                <a:lnTo>
                  <a:pt x="0" y="82506"/>
                </a:lnTo>
                <a:lnTo>
                  <a:pt x="10533" y="0"/>
                </a:lnTo>
                <a:lnTo>
                  <a:pt x="251840" y="0"/>
                </a:lnTo>
                <a:lnTo>
                  <a:pt x="241307" y="82506"/>
                </a:ln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9" name="Freeform: Shape 28">
            <a:extLst>
              <a:ext uri="{FF2B5EF4-FFF2-40B4-BE49-F238E27FC236}">
                <a16:creationId xmlns:a16="http://schemas.microsoft.com/office/drawing/2014/main" id="{3523FC0E-8591-BEF1-0AC6-02EFB07738D7}"/>
              </a:ext>
            </a:extLst>
          </p:cNvPr>
          <p:cNvSpPr/>
          <p:nvPr/>
        </p:nvSpPr>
        <p:spPr>
          <a:xfrm>
            <a:off x="4863058" y="4989128"/>
            <a:ext cx="239012" cy="82506"/>
          </a:xfrm>
          <a:custGeom>
            <a:avLst/>
            <a:gdLst>
              <a:gd name="connsiteX0" fmla="*/ 0 w 239012"/>
              <a:gd name="connsiteY0" fmla="*/ 82506 h 82506"/>
              <a:gd name="connsiteX1" fmla="*/ 239012 w 239012"/>
              <a:gd name="connsiteY1" fmla="*/ 82506 h 82506"/>
              <a:gd name="connsiteX2" fmla="*/ 238067 w 239012"/>
              <a:gd name="connsiteY2" fmla="*/ 0 h 82506"/>
              <a:gd name="connsiteX3" fmla="*/ 0 w 239012"/>
              <a:gd name="connsiteY3" fmla="*/ 0 h 82506"/>
              <a:gd name="connsiteX4" fmla="*/ 0 w 239012"/>
              <a:gd name="connsiteY4" fmla="*/ 82506 h 82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12" h="82506">
                <a:moveTo>
                  <a:pt x="0" y="82506"/>
                </a:moveTo>
                <a:lnTo>
                  <a:pt x="239012" y="82506"/>
                </a:lnTo>
                <a:lnTo>
                  <a:pt x="238067" y="0"/>
                </a:lnTo>
                <a:lnTo>
                  <a:pt x="0" y="0"/>
                </a:lnTo>
                <a:lnTo>
                  <a:pt x="0" y="82506"/>
                </a:ln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0" name="Freeform: Shape 29">
            <a:extLst>
              <a:ext uri="{FF2B5EF4-FFF2-40B4-BE49-F238E27FC236}">
                <a16:creationId xmlns:a16="http://schemas.microsoft.com/office/drawing/2014/main" id="{36B35D60-13F0-37E6-9363-EE8C3E8B6FAE}"/>
              </a:ext>
            </a:extLst>
          </p:cNvPr>
          <p:cNvSpPr/>
          <p:nvPr/>
        </p:nvSpPr>
        <p:spPr>
          <a:xfrm rot="20202600">
            <a:off x="3839810" y="4033088"/>
            <a:ext cx="821957" cy="1109852"/>
          </a:xfrm>
          <a:custGeom>
            <a:avLst/>
            <a:gdLst>
              <a:gd name="connsiteX0" fmla="*/ 0 w 821957"/>
              <a:gd name="connsiteY0" fmla="*/ 0 h 1109852"/>
              <a:gd name="connsiteX1" fmla="*/ 821957 w 821957"/>
              <a:gd name="connsiteY1" fmla="*/ 0 h 1109852"/>
              <a:gd name="connsiteX2" fmla="*/ 821957 w 821957"/>
              <a:gd name="connsiteY2" fmla="*/ 1109852 h 1109852"/>
              <a:gd name="connsiteX3" fmla="*/ 0 w 821957"/>
              <a:gd name="connsiteY3" fmla="*/ 1109852 h 1109852"/>
            </a:gdLst>
            <a:ahLst/>
            <a:cxnLst>
              <a:cxn ang="0">
                <a:pos x="connsiteX0" y="connsiteY0"/>
              </a:cxn>
              <a:cxn ang="0">
                <a:pos x="connsiteX1" y="connsiteY1"/>
              </a:cxn>
              <a:cxn ang="0">
                <a:pos x="connsiteX2" y="connsiteY2"/>
              </a:cxn>
              <a:cxn ang="0">
                <a:pos x="connsiteX3" y="connsiteY3"/>
              </a:cxn>
            </a:cxnLst>
            <a:rect l="l" t="t" r="r" b="b"/>
            <a:pathLst>
              <a:path w="821957" h="1109852">
                <a:moveTo>
                  <a:pt x="0" y="0"/>
                </a:moveTo>
                <a:lnTo>
                  <a:pt x="821957" y="0"/>
                </a:lnTo>
                <a:lnTo>
                  <a:pt x="821957" y="1109852"/>
                </a:lnTo>
                <a:lnTo>
                  <a:pt x="0" y="1109852"/>
                </a:lnTo>
                <a:close/>
              </a:path>
            </a:pathLst>
          </a:custGeom>
          <a:solidFill>
            <a:srgbClr val="99D7D6"/>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1" name="Freeform: Shape 30">
            <a:extLst>
              <a:ext uri="{FF2B5EF4-FFF2-40B4-BE49-F238E27FC236}">
                <a16:creationId xmlns:a16="http://schemas.microsoft.com/office/drawing/2014/main" id="{BF0AE195-DF6A-5DB9-F8C9-DBD92B7E7C35}"/>
              </a:ext>
            </a:extLst>
          </p:cNvPr>
          <p:cNvSpPr/>
          <p:nvPr/>
        </p:nvSpPr>
        <p:spPr>
          <a:xfrm>
            <a:off x="3864723" y="3945805"/>
            <a:ext cx="356109" cy="272273"/>
          </a:xfrm>
          <a:custGeom>
            <a:avLst/>
            <a:gdLst>
              <a:gd name="connsiteX0" fmla="*/ 206626 w 356109"/>
              <a:gd name="connsiteY0" fmla="*/ 43525 h 272273"/>
              <a:gd name="connsiteX1" fmla="*/ 112101 w 356109"/>
              <a:gd name="connsiteY1" fmla="*/ 5850 h 272273"/>
              <a:gd name="connsiteX2" fmla="*/ 74426 w 356109"/>
              <a:gd name="connsiteY2" fmla="*/ 100374 h 272273"/>
              <a:gd name="connsiteX3" fmla="*/ 35131 w 356109"/>
              <a:gd name="connsiteY3" fmla="*/ 117254 h 272273"/>
              <a:gd name="connsiteX4" fmla="*/ 4748 w 356109"/>
              <a:gd name="connsiteY4" fmla="*/ 193548 h 272273"/>
              <a:gd name="connsiteX5" fmla="*/ 38642 w 356109"/>
              <a:gd name="connsiteY5" fmla="*/ 272274 h 272273"/>
              <a:gd name="connsiteX6" fmla="*/ 356109 w 356109"/>
              <a:gd name="connsiteY6" fmla="*/ 135618 h 272273"/>
              <a:gd name="connsiteX7" fmla="*/ 322216 w 356109"/>
              <a:gd name="connsiteY7" fmla="*/ 56893 h 272273"/>
              <a:gd name="connsiteX8" fmla="*/ 245921 w 356109"/>
              <a:gd name="connsiteY8" fmla="*/ 26510 h 272273"/>
              <a:gd name="connsiteX9" fmla="*/ 206626 w 356109"/>
              <a:gd name="connsiteY9" fmla="*/ 43389 h 27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6109" h="272273">
                <a:moveTo>
                  <a:pt x="206626" y="43525"/>
                </a:moveTo>
                <a:cubicBezTo>
                  <a:pt x="190962" y="7065"/>
                  <a:pt x="148696" y="-9814"/>
                  <a:pt x="112101" y="5850"/>
                </a:cubicBezTo>
                <a:cubicBezTo>
                  <a:pt x="75507" y="21514"/>
                  <a:pt x="58762" y="63780"/>
                  <a:pt x="74426" y="100374"/>
                </a:cubicBezTo>
                <a:lnTo>
                  <a:pt x="35131" y="117254"/>
                </a:lnTo>
                <a:cubicBezTo>
                  <a:pt x="5694" y="129947"/>
                  <a:pt x="-7945" y="164111"/>
                  <a:pt x="4748" y="193548"/>
                </a:cubicBezTo>
                <a:lnTo>
                  <a:pt x="38642" y="272274"/>
                </a:lnTo>
                <a:lnTo>
                  <a:pt x="356109" y="135618"/>
                </a:lnTo>
                <a:lnTo>
                  <a:pt x="322216" y="56893"/>
                </a:lnTo>
                <a:cubicBezTo>
                  <a:pt x="309522" y="27455"/>
                  <a:pt x="275358" y="13817"/>
                  <a:pt x="245921" y="26510"/>
                </a:cubicBezTo>
                <a:lnTo>
                  <a:pt x="206626" y="43389"/>
                </a:lnTo>
                <a:close/>
              </a:path>
            </a:pathLst>
          </a:custGeom>
          <a:solidFill>
            <a:srgbClr val="05A2A6"/>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2" name="Freeform: Shape 31">
            <a:extLst>
              <a:ext uri="{FF2B5EF4-FFF2-40B4-BE49-F238E27FC236}">
                <a16:creationId xmlns:a16="http://schemas.microsoft.com/office/drawing/2014/main" id="{AB1C2E32-D507-4E05-4E9E-440D8C32832D}"/>
              </a:ext>
            </a:extLst>
          </p:cNvPr>
          <p:cNvSpPr/>
          <p:nvPr/>
        </p:nvSpPr>
        <p:spPr>
          <a:xfrm>
            <a:off x="4617970" y="4600227"/>
            <a:ext cx="256565" cy="213550"/>
          </a:xfrm>
          <a:custGeom>
            <a:avLst/>
            <a:gdLst>
              <a:gd name="connsiteX0" fmla="*/ 112754 w 256565"/>
              <a:gd name="connsiteY0" fmla="*/ 63331 h 213550"/>
              <a:gd name="connsiteX1" fmla="*/ 31192 w 256565"/>
              <a:gd name="connsiteY1" fmla="*/ 103167 h 213550"/>
              <a:gd name="connsiteX2" fmla="*/ 1485 w 256565"/>
              <a:gd name="connsiteY2" fmla="*/ 149754 h 213550"/>
              <a:gd name="connsiteX3" fmla="*/ 16204 w 256565"/>
              <a:gd name="connsiteY3" fmla="*/ 200932 h 213550"/>
              <a:gd name="connsiteX4" fmla="*/ 56849 w 256565"/>
              <a:gd name="connsiteY4" fmla="*/ 213490 h 213550"/>
              <a:gd name="connsiteX5" fmla="*/ 214705 w 256565"/>
              <a:gd name="connsiteY5" fmla="*/ 152860 h 213550"/>
              <a:gd name="connsiteX6" fmla="*/ 256566 w 256565"/>
              <a:gd name="connsiteY6" fmla="*/ 120046 h 213550"/>
              <a:gd name="connsiteX7" fmla="*/ 169738 w 256565"/>
              <a:gd name="connsiteY7" fmla="*/ 0 h 213550"/>
              <a:gd name="connsiteX8" fmla="*/ 96009 w 256565"/>
              <a:gd name="connsiteY8" fmla="*/ 22956 h 213550"/>
              <a:gd name="connsiteX9" fmla="*/ 112754 w 256565"/>
              <a:gd name="connsiteY9" fmla="*/ 63196 h 21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565" h="213550">
                <a:moveTo>
                  <a:pt x="112754" y="63331"/>
                </a:moveTo>
                <a:cubicBezTo>
                  <a:pt x="82506" y="68463"/>
                  <a:pt x="53743" y="82371"/>
                  <a:pt x="31192" y="103167"/>
                </a:cubicBezTo>
                <a:cubicBezTo>
                  <a:pt x="17419" y="115860"/>
                  <a:pt x="5671" y="131524"/>
                  <a:pt x="1485" y="149754"/>
                </a:cubicBezTo>
                <a:cubicBezTo>
                  <a:pt x="-2701" y="167984"/>
                  <a:pt x="1890" y="188914"/>
                  <a:pt x="16204" y="200932"/>
                </a:cubicBezTo>
                <a:cubicBezTo>
                  <a:pt x="27276" y="210249"/>
                  <a:pt x="42400" y="213085"/>
                  <a:pt x="56849" y="213490"/>
                </a:cubicBezTo>
                <a:cubicBezTo>
                  <a:pt x="114104" y="215111"/>
                  <a:pt x="166227" y="183513"/>
                  <a:pt x="214705" y="152860"/>
                </a:cubicBezTo>
                <a:cubicBezTo>
                  <a:pt x="229694" y="143407"/>
                  <a:pt x="245088" y="133685"/>
                  <a:pt x="256566" y="120046"/>
                </a:cubicBezTo>
                <a:lnTo>
                  <a:pt x="169738" y="0"/>
                </a:lnTo>
                <a:cubicBezTo>
                  <a:pt x="144757" y="6347"/>
                  <a:pt x="120180" y="14044"/>
                  <a:pt x="96009" y="22956"/>
                </a:cubicBezTo>
                <a:lnTo>
                  <a:pt x="112754" y="63196"/>
                </a:ln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3" name="Freeform: Shape 32">
            <a:extLst>
              <a:ext uri="{FF2B5EF4-FFF2-40B4-BE49-F238E27FC236}">
                <a16:creationId xmlns:a16="http://schemas.microsoft.com/office/drawing/2014/main" id="{6506C3DC-B3FC-C9BC-34B8-BC9AA85BDDA7}"/>
              </a:ext>
            </a:extLst>
          </p:cNvPr>
          <p:cNvSpPr/>
          <p:nvPr/>
        </p:nvSpPr>
        <p:spPr>
          <a:xfrm>
            <a:off x="4777176" y="3666596"/>
            <a:ext cx="421173" cy="1114173"/>
          </a:xfrm>
          <a:custGeom>
            <a:avLst/>
            <a:gdLst>
              <a:gd name="connsiteX0" fmla="*/ 138951 w 421173"/>
              <a:gd name="connsiteY0" fmla="*/ 313956 h 1114173"/>
              <a:gd name="connsiteX1" fmla="*/ 189454 w 421173"/>
              <a:gd name="connsiteY1" fmla="*/ 629803 h 1114173"/>
              <a:gd name="connsiteX2" fmla="*/ 0 w 421173"/>
              <a:gd name="connsiteY2" fmla="*/ 916212 h 1114173"/>
              <a:gd name="connsiteX3" fmla="*/ 138951 w 421173"/>
              <a:gd name="connsiteY3" fmla="*/ 1114174 h 1114173"/>
              <a:gd name="connsiteX4" fmla="*/ 338938 w 421173"/>
              <a:gd name="connsiteY4" fmla="*/ 864224 h 1114173"/>
              <a:gd name="connsiteX5" fmla="*/ 405780 w 421173"/>
              <a:gd name="connsiteY5" fmla="*/ 748634 h 1114173"/>
              <a:gd name="connsiteX6" fmla="*/ 421174 w 421173"/>
              <a:gd name="connsiteY6" fmla="*/ 680306 h 1114173"/>
              <a:gd name="connsiteX7" fmla="*/ 384444 w 421173"/>
              <a:gd name="connsiteY7" fmla="*/ 423335 h 1114173"/>
              <a:gd name="connsiteX8" fmla="*/ 275471 w 421173"/>
              <a:gd name="connsiteY8" fmla="*/ 84937 h 1114173"/>
              <a:gd name="connsiteX9" fmla="*/ 248734 w 421173"/>
              <a:gd name="connsiteY9" fmla="*/ 42671 h 1114173"/>
              <a:gd name="connsiteX10" fmla="*/ 210654 w 421173"/>
              <a:gd name="connsiteY10" fmla="*/ 0 h 1114173"/>
              <a:gd name="connsiteX11" fmla="*/ 210654 w 421173"/>
              <a:gd name="connsiteY11" fmla="*/ 0 h 1114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1173" h="1114173">
                <a:moveTo>
                  <a:pt x="138951" y="313956"/>
                </a:moveTo>
                <a:lnTo>
                  <a:pt x="189454" y="629803"/>
                </a:lnTo>
                <a:lnTo>
                  <a:pt x="0" y="916212"/>
                </a:lnTo>
                <a:lnTo>
                  <a:pt x="138951" y="1114174"/>
                </a:lnTo>
                <a:lnTo>
                  <a:pt x="338938" y="864224"/>
                </a:lnTo>
                <a:cubicBezTo>
                  <a:pt x="366890" y="829250"/>
                  <a:pt x="389981" y="790495"/>
                  <a:pt x="405780" y="748634"/>
                </a:cubicBezTo>
                <a:cubicBezTo>
                  <a:pt x="414557" y="725543"/>
                  <a:pt x="421174" y="700967"/>
                  <a:pt x="421174" y="680306"/>
                </a:cubicBezTo>
                <a:cubicBezTo>
                  <a:pt x="421174" y="647628"/>
                  <a:pt x="401729" y="525556"/>
                  <a:pt x="384444" y="423335"/>
                </a:cubicBezTo>
                <a:cubicBezTo>
                  <a:pt x="369050" y="332456"/>
                  <a:pt x="315441" y="180137"/>
                  <a:pt x="275471" y="84937"/>
                </a:cubicBezTo>
                <a:cubicBezTo>
                  <a:pt x="268990" y="69408"/>
                  <a:pt x="259942" y="55229"/>
                  <a:pt x="248734" y="42671"/>
                </a:cubicBezTo>
                <a:lnTo>
                  <a:pt x="210654" y="0"/>
                </a:lnTo>
                <a:lnTo>
                  <a:pt x="210654" y="0"/>
                </a:lnTo>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4" name="Freeform: Shape 33">
            <a:extLst>
              <a:ext uri="{FF2B5EF4-FFF2-40B4-BE49-F238E27FC236}">
                <a16:creationId xmlns:a16="http://schemas.microsoft.com/office/drawing/2014/main" id="{3D7E4D95-7957-D4AD-C792-AC7D3B7FD072}"/>
              </a:ext>
            </a:extLst>
          </p:cNvPr>
          <p:cNvSpPr/>
          <p:nvPr/>
        </p:nvSpPr>
        <p:spPr>
          <a:xfrm>
            <a:off x="4777176" y="4103299"/>
            <a:ext cx="123151" cy="13503"/>
          </a:xfrm>
          <a:custGeom>
            <a:avLst/>
            <a:gdLst>
              <a:gd name="connsiteX0" fmla="*/ 0 w 123151"/>
              <a:gd name="connsiteY0" fmla="*/ 0 h 13503"/>
              <a:gd name="connsiteX1" fmla="*/ 123152 w 123151"/>
              <a:gd name="connsiteY1" fmla="*/ 0 h 13503"/>
            </a:gdLst>
            <a:ahLst/>
            <a:cxnLst>
              <a:cxn ang="0">
                <a:pos x="connsiteX0" y="connsiteY0"/>
              </a:cxn>
              <a:cxn ang="0">
                <a:pos x="connsiteX1" y="connsiteY1"/>
              </a:cxn>
            </a:cxnLst>
            <a:rect l="l" t="t" r="r" b="b"/>
            <a:pathLst>
              <a:path w="123151" h="13503">
                <a:moveTo>
                  <a:pt x="0" y="0"/>
                </a:moveTo>
                <a:lnTo>
                  <a:pt x="123152" y="0"/>
                </a:lnTo>
              </a:path>
            </a:pathLst>
          </a:custGeom>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5" name="Freeform: Shape 34">
            <a:extLst>
              <a:ext uri="{FF2B5EF4-FFF2-40B4-BE49-F238E27FC236}">
                <a16:creationId xmlns:a16="http://schemas.microsoft.com/office/drawing/2014/main" id="{3D1644F2-9006-B18C-A09A-C9EBA8A0053C}"/>
              </a:ext>
            </a:extLst>
          </p:cNvPr>
          <p:cNvSpPr/>
          <p:nvPr/>
        </p:nvSpPr>
        <p:spPr>
          <a:xfrm>
            <a:off x="4434641" y="3125941"/>
            <a:ext cx="308684" cy="411507"/>
          </a:xfrm>
          <a:custGeom>
            <a:avLst/>
            <a:gdLst>
              <a:gd name="connsiteX0" fmla="*/ 307426 w 308684"/>
              <a:gd name="connsiteY0" fmla="*/ 220487 h 411507"/>
              <a:gd name="connsiteX1" fmla="*/ 285011 w 308684"/>
              <a:gd name="connsiteY1" fmla="*/ 296646 h 411507"/>
              <a:gd name="connsiteX2" fmla="*/ 134717 w 308684"/>
              <a:gd name="connsiteY2" fmla="*/ 411426 h 411507"/>
              <a:gd name="connsiteX3" fmla="*/ 897 w 308684"/>
              <a:gd name="connsiteY3" fmla="*/ 191454 h 411507"/>
              <a:gd name="connsiteX4" fmla="*/ 173607 w 308684"/>
              <a:gd name="connsiteY4" fmla="*/ 515 h 411507"/>
              <a:gd name="connsiteX5" fmla="*/ 307426 w 308684"/>
              <a:gd name="connsiteY5" fmla="*/ 220487 h 411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8684" h="411507">
                <a:moveTo>
                  <a:pt x="307426" y="220487"/>
                </a:moveTo>
                <a:cubicBezTo>
                  <a:pt x="304726" y="248439"/>
                  <a:pt x="296624" y="273961"/>
                  <a:pt x="285011" y="296646"/>
                </a:cubicBezTo>
                <a:cubicBezTo>
                  <a:pt x="249361" y="366054"/>
                  <a:pt x="180629" y="408590"/>
                  <a:pt x="134717" y="411426"/>
                </a:cubicBezTo>
                <a:cubicBezTo>
                  <a:pt x="79352" y="414937"/>
                  <a:pt x="-9906" y="304884"/>
                  <a:pt x="897" y="191454"/>
                </a:cubicBezTo>
                <a:cubicBezTo>
                  <a:pt x="11565" y="78025"/>
                  <a:pt x="88940" y="-7452"/>
                  <a:pt x="173607" y="515"/>
                </a:cubicBezTo>
                <a:cubicBezTo>
                  <a:pt x="258274" y="8482"/>
                  <a:pt x="318229" y="107057"/>
                  <a:pt x="307426" y="220487"/>
                </a:cubicBezTo>
                <a:close/>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6" name="Freeform: Shape 35">
            <a:extLst>
              <a:ext uri="{FF2B5EF4-FFF2-40B4-BE49-F238E27FC236}">
                <a16:creationId xmlns:a16="http://schemas.microsoft.com/office/drawing/2014/main" id="{685D4D29-9F3A-9247-E46E-EF6B39A31109}"/>
              </a:ext>
            </a:extLst>
          </p:cNvPr>
          <p:cNvSpPr/>
          <p:nvPr/>
        </p:nvSpPr>
        <p:spPr>
          <a:xfrm>
            <a:off x="4382335" y="3122121"/>
            <a:ext cx="360950" cy="296145"/>
          </a:xfrm>
          <a:custGeom>
            <a:avLst/>
            <a:gdLst>
              <a:gd name="connsiteX0" fmla="*/ 359731 w 360950"/>
              <a:gd name="connsiteY0" fmla="*/ 224306 h 296145"/>
              <a:gd name="connsiteX1" fmla="*/ 294645 w 360950"/>
              <a:gd name="connsiteY1" fmla="*/ 34447 h 296145"/>
              <a:gd name="connsiteX2" fmla="*/ 74538 w 360950"/>
              <a:gd name="connsiteY2" fmla="*/ 12572 h 296145"/>
              <a:gd name="connsiteX3" fmla="*/ 42129 w 360950"/>
              <a:gd name="connsiteY3" fmla="*/ 24590 h 296145"/>
              <a:gd name="connsiteX4" fmla="*/ 40779 w 360950"/>
              <a:gd name="connsiteY4" fmla="*/ 64830 h 296145"/>
              <a:gd name="connsiteX5" fmla="*/ 1079 w 360950"/>
              <a:gd name="connsiteY5" fmla="*/ 93322 h 296145"/>
              <a:gd name="connsiteX6" fmla="*/ 19713 w 360950"/>
              <a:gd name="connsiteY6" fmla="*/ 140450 h 296145"/>
              <a:gd name="connsiteX7" fmla="*/ 88176 w 360950"/>
              <a:gd name="connsiteY7" fmla="*/ 153818 h 296145"/>
              <a:gd name="connsiteX8" fmla="*/ 174869 w 360950"/>
              <a:gd name="connsiteY8" fmla="*/ 155034 h 296145"/>
              <a:gd name="connsiteX9" fmla="*/ 245087 w 360950"/>
              <a:gd name="connsiteY9" fmla="*/ 145041 h 296145"/>
              <a:gd name="connsiteX10" fmla="*/ 262641 w 360950"/>
              <a:gd name="connsiteY10" fmla="*/ 215529 h 296145"/>
              <a:gd name="connsiteX11" fmla="*/ 285732 w 360950"/>
              <a:gd name="connsiteY11" fmla="*/ 180825 h 296145"/>
              <a:gd name="connsiteX12" fmla="*/ 312334 w 360950"/>
              <a:gd name="connsiteY12" fmla="*/ 190143 h 296145"/>
              <a:gd name="connsiteX13" fmla="*/ 313550 w 360950"/>
              <a:gd name="connsiteY13" fmla="*/ 220931 h 296145"/>
              <a:gd name="connsiteX14" fmla="*/ 295455 w 360950"/>
              <a:gd name="connsiteY14" fmla="*/ 256310 h 296145"/>
              <a:gd name="connsiteX15" fmla="*/ 339476 w 360950"/>
              <a:gd name="connsiteY15" fmla="*/ 296145 h 296145"/>
              <a:gd name="connsiteX16" fmla="*/ 359731 w 360950"/>
              <a:gd name="connsiteY16" fmla="*/ 224712 h 29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950" h="296145">
                <a:moveTo>
                  <a:pt x="359731" y="224306"/>
                </a:moveTo>
                <a:cubicBezTo>
                  <a:pt x="366078" y="156924"/>
                  <a:pt x="348118" y="79819"/>
                  <a:pt x="294645" y="34447"/>
                </a:cubicBezTo>
                <a:cubicBezTo>
                  <a:pt x="233879" y="-17271"/>
                  <a:pt x="146241" y="1634"/>
                  <a:pt x="74538" y="12572"/>
                </a:cubicBezTo>
                <a:cubicBezTo>
                  <a:pt x="62925" y="14327"/>
                  <a:pt x="50636" y="16488"/>
                  <a:pt x="42129" y="24590"/>
                </a:cubicBezTo>
                <a:cubicBezTo>
                  <a:pt x="31326" y="34852"/>
                  <a:pt x="30786" y="53892"/>
                  <a:pt x="40779" y="64830"/>
                </a:cubicBezTo>
                <a:cubicBezTo>
                  <a:pt x="23089" y="62264"/>
                  <a:pt x="5265" y="76038"/>
                  <a:pt x="1079" y="93322"/>
                </a:cubicBezTo>
                <a:cubicBezTo>
                  <a:pt x="-3107" y="110607"/>
                  <a:pt x="5265" y="129782"/>
                  <a:pt x="19713" y="140450"/>
                </a:cubicBezTo>
                <a:cubicBezTo>
                  <a:pt x="38888" y="154628"/>
                  <a:pt x="65760" y="151253"/>
                  <a:pt x="88176" y="153818"/>
                </a:cubicBezTo>
                <a:cubicBezTo>
                  <a:pt x="116803" y="157059"/>
                  <a:pt x="146106" y="157059"/>
                  <a:pt x="174869" y="155034"/>
                </a:cubicBezTo>
                <a:cubicBezTo>
                  <a:pt x="198500" y="153278"/>
                  <a:pt x="221861" y="149902"/>
                  <a:pt x="245087" y="145041"/>
                </a:cubicBezTo>
                <a:cubicBezTo>
                  <a:pt x="254269" y="167592"/>
                  <a:pt x="260211" y="191358"/>
                  <a:pt x="262641" y="215529"/>
                </a:cubicBezTo>
                <a:cubicBezTo>
                  <a:pt x="275740" y="209723"/>
                  <a:pt x="273714" y="188387"/>
                  <a:pt x="285732" y="180825"/>
                </a:cubicBezTo>
                <a:cubicBezTo>
                  <a:pt x="294645" y="175289"/>
                  <a:pt x="307338" y="180825"/>
                  <a:pt x="312334" y="190143"/>
                </a:cubicBezTo>
                <a:cubicBezTo>
                  <a:pt x="317331" y="199460"/>
                  <a:pt x="316385" y="210803"/>
                  <a:pt x="313550" y="220931"/>
                </a:cubicBezTo>
                <a:cubicBezTo>
                  <a:pt x="310038" y="233759"/>
                  <a:pt x="303827" y="245912"/>
                  <a:pt x="295455" y="256310"/>
                </a:cubicBezTo>
                <a:cubicBezTo>
                  <a:pt x="314630" y="262251"/>
                  <a:pt x="325432" y="281561"/>
                  <a:pt x="339476" y="296145"/>
                </a:cubicBezTo>
                <a:cubicBezTo>
                  <a:pt x="349874" y="274674"/>
                  <a:pt x="357301" y="250773"/>
                  <a:pt x="359731" y="224712"/>
                </a:cubicBezTo>
                <a:close/>
              </a:path>
            </a:pathLst>
          </a:custGeom>
          <a:solidFill>
            <a:srgbClr val="99D7D6"/>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nvGrpSpPr>
          <p:cNvPr id="37" name="Graphic 11">
            <a:extLst>
              <a:ext uri="{FF2B5EF4-FFF2-40B4-BE49-F238E27FC236}">
                <a16:creationId xmlns:a16="http://schemas.microsoft.com/office/drawing/2014/main" id="{0DEACDB4-6323-149F-6B9D-1C4E8384BCFC}"/>
              </a:ext>
            </a:extLst>
          </p:cNvPr>
          <p:cNvGrpSpPr/>
          <p:nvPr/>
        </p:nvGrpSpPr>
        <p:grpSpPr>
          <a:xfrm>
            <a:off x="2587007" y="2440058"/>
            <a:ext cx="1544337" cy="3308672"/>
            <a:chOff x="3117359" y="2732666"/>
            <a:chExt cx="1544337" cy="3308672"/>
          </a:xfrm>
        </p:grpSpPr>
        <p:grpSp>
          <p:nvGrpSpPr>
            <p:cNvPr id="38" name="Graphic 11">
              <a:extLst>
                <a:ext uri="{FF2B5EF4-FFF2-40B4-BE49-F238E27FC236}">
                  <a16:creationId xmlns:a16="http://schemas.microsoft.com/office/drawing/2014/main" id="{AAF3B0E5-F984-2935-A0FA-3B5FAB46C6EC}"/>
                </a:ext>
              </a:extLst>
            </p:cNvPr>
            <p:cNvGrpSpPr/>
            <p:nvPr/>
          </p:nvGrpSpPr>
          <p:grpSpPr>
            <a:xfrm>
              <a:off x="3117359" y="2732666"/>
              <a:ext cx="1544337" cy="3308672"/>
              <a:chOff x="3117359" y="2732666"/>
              <a:chExt cx="1544337" cy="3308672"/>
            </a:xfrm>
          </p:grpSpPr>
          <p:sp>
            <p:nvSpPr>
              <p:cNvPr id="39" name="Freeform: Shape 38">
                <a:extLst>
                  <a:ext uri="{FF2B5EF4-FFF2-40B4-BE49-F238E27FC236}">
                    <a16:creationId xmlns:a16="http://schemas.microsoft.com/office/drawing/2014/main" id="{90335C56-667F-2B84-C426-49F48CA3B091}"/>
                  </a:ext>
                </a:extLst>
              </p:cNvPr>
              <p:cNvSpPr/>
              <p:nvPr/>
            </p:nvSpPr>
            <p:spPr>
              <a:xfrm rot="-9356400">
                <a:off x="4474622" y="2735527"/>
                <a:ext cx="96684" cy="387820"/>
              </a:xfrm>
              <a:custGeom>
                <a:avLst/>
                <a:gdLst>
                  <a:gd name="connsiteX0" fmla="*/ 135 w 96684"/>
                  <a:gd name="connsiteY0" fmla="*/ 0 h 387820"/>
                  <a:gd name="connsiteX1" fmla="*/ 96685 w 96684"/>
                  <a:gd name="connsiteY1" fmla="*/ 0 h 387820"/>
                  <a:gd name="connsiteX2" fmla="*/ 96685 w 96684"/>
                  <a:gd name="connsiteY2" fmla="*/ 339478 h 387820"/>
                  <a:gd name="connsiteX3" fmla="*/ 48342 w 96684"/>
                  <a:gd name="connsiteY3" fmla="*/ 387820 h 387820"/>
                  <a:gd name="connsiteX4" fmla="*/ 48342 w 96684"/>
                  <a:gd name="connsiteY4" fmla="*/ 387820 h 387820"/>
                  <a:gd name="connsiteX5" fmla="*/ 0 w 96684"/>
                  <a:gd name="connsiteY5" fmla="*/ 339478 h 387820"/>
                  <a:gd name="connsiteX6" fmla="*/ 0 w 96684"/>
                  <a:gd name="connsiteY6" fmla="*/ 0 h 387820"/>
                  <a:gd name="connsiteX7" fmla="*/ 0 w 96684"/>
                  <a:gd name="connsiteY7" fmla="*/ 0 h 38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684" h="387820">
                    <a:moveTo>
                      <a:pt x="135" y="0"/>
                    </a:moveTo>
                    <a:lnTo>
                      <a:pt x="96685" y="0"/>
                    </a:lnTo>
                    <a:lnTo>
                      <a:pt x="96685" y="339478"/>
                    </a:lnTo>
                    <a:cubicBezTo>
                      <a:pt x="96685" y="366080"/>
                      <a:pt x="75079" y="387820"/>
                      <a:pt x="48342" y="387820"/>
                    </a:cubicBezTo>
                    <a:lnTo>
                      <a:pt x="48342" y="387820"/>
                    </a:lnTo>
                    <a:cubicBezTo>
                      <a:pt x="21741" y="387820"/>
                      <a:pt x="0" y="366215"/>
                      <a:pt x="0" y="339478"/>
                    </a:cubicBezTo>
                    <a:lnTo>
                      <a:pt x="0" y="0"/>
                    </a:lnTo>
                    <a:lnTo>
                      <a:pt x="0" y="0"/>
                    </a:lnTo>
                    <a:close/>
                  </a:path>
                </a:pathLst>
              </a:custGeom>
              <a:solidFill>
                <a:srgbClr val="FFFFFF"/>
              </a:solid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40" name="Freeform: Shape 39">
                <a:extLst>
                  <a:ext uri="{FF2B5EF4-FFF2-40B4-BE49-F238E27FC236}">
                    <a16:creationId xmlns:a16="http://schemas.microsoft.com/office/drawing/2014/main" id="{B651239B-5E9C-6549-9CC4-24981130B701}"/>
                  </a:ext>
                </a:extLst>
              </p:cNvPr>
              <p:cNvSpPr/>
              <p:nvPr/>
            </p:nvSpPr>
            <p:spPr>
              <a:xfrm rot="-9356400">
                <a:off x="3152236" y="5859343"/>
                <a:ext cx="44966" cy="180676"/>
              </a:xfrm>
              <a:custGeom>
                <a:avLst/>
                <a:gdLst>
                  <a:gd name="connsiteX0" fmla="*/ 22416 w 44966"/>
                  <a:gd name="connsiteY0" fmla="*/ 0 h 180676"/>
                  <a:gd name="connsiteX1" fmla="*/ 22416 w 44966"/>
                  <a:gd name="connsiteY1" fmla="*/ 0 h 180676"/>
                  <a:gd name="connsiteX2" fmla="*/ 44967 w 44966"/>
                  <a:gd name="connsiteY2" fmla="*/ 22551 h 180676"/>
                  <a:gd name="connsiteX3" fmla="*/ 44967 w 44966"/>
                  <a:gd name="connsiteY3" fmla="*/ 180677 h 180676"/>
                  <a:gd name="connsiteX4" fmla="*/ 0 w 44966"/>
                  <a:gd name="connsiteY4" fmla="*/ 180677 h 180676"/>
                  <a:gd name="connsiteX5" fmla="*/ 0 w 44966"/>
                  <a:gd name="connsiteY5" fmla="*/ 22551 h 180676"/>
                  <a:gd name="connsiteX6" fmla="*/ 22551 w 44966"/>
                  <a:gd name="connsiteY6" fmla="*/ 0 h 18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6" h="180676">
                    <a:moveTo>
                      <a:pt x="22416" y="0"/>
                    </a:moveTo>
                    <a:lnTo>
                      <a:pt x="22416" y="0"/>
                    </a:lnTo>
                    <a:cubicBezTo>
                      <a:pt x="34839" y="0"/>
                      <a:pt x="44967" y="10128"/>
                      <a:pt x="44967" y="22551"/>
                    </a:cubicBezTo>
                    <a:lnTo>
                      <a:pt x="44967" y="180677"/>
                    </a:lnTo>
                    <a:lnTo>
                      <a:pt x="0" y="180677"/>
                    </a:lnTo>
                    <a:lnTo>
                      <a:pt x="0" y="22551"/>
                    </a:lnTo>
                    <a:cubicBezTo>
                      <a:pt x="0" y="10128"/>
                      <a:pt x="10128" y="0"/>
                      <a:pt x="22551" y="0"/>
                    </a:cubicBezTo>
                    <a:close/>
                  </a:path>
                </a:pathLst>
              </a:custGeom>
              <a:solidFill>
                <a:schemeClr val="accent2">
                  <a:lumMod val="20000"/>
                  <a:lumOff val="80000"/>
                </a:schemeClr>
              </a:solid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41" name="Freeform: Shape 40">
                <a:extLst>
                  <a:ext uri="{FF2B5EF4-FFF2-40B4-BE49-F238E27FC236}">
                    <a16:creationId xmlns:a16="http://schemas.microsoft.com/office/drawing/2014/main" id="{53EBDFB6-7B3C-4ED9-A9DF-2A96AE62F37E}"/>
                  </a:ext>
                </a:extLst>
              </p:cNvPr>
              <p:cNvSpPr/>
              <p:nvPr/>
            </p:nvSpPr>
            <p:spPr>
              <a:xfrm rot="-9356400">
                <a:off x="3883353" y="2847126"/>
                <a:ext cx="321383" cy="2310178"/>
              </a:xfrm>
              <a:custGeom>
                <a:avLst/>
                <a:gdLst>
                  <a:gd name="connsiteX0" fmla="*/ 135 w 321383"/>
                  <a:gd name="connsiteY0" fmla="*/ 0 h 2310178"/>
                  <a:gd name="connsiteX1" fmla="*/ 321383 w 321383"/>
                  <a:gd name="connsiteY1" fmla="*/ 0 h 2310178"/>
                  <a:gd name="connsiteX2" fmla="*/ 321383 w 321383"/>
                  <a:gd name="connsiteY2" fmla="*/ 2149487 h 2310178"/>
                  <a:gd name="connsiteX3" fmla="*/ 160692 w 321383"/>
                  <a:gd name="connsiteY3" fmla="*/ 2310179 h 2310178"/>
                  <a:gd name="connsiteX4" fmla="*/ 160692 w 321383"/>
                  <a:gd name="connsiteY4" fmla="*/ 2310179 h 2310178"/>
                  <a:gd name="connsiteX5" fmla="*/ 0 w 321383"/>
                  <a:gd name="connsiteY5" fmla="*/ 2149487 h 2310178"/>
                  <a:gd name="connsiteX6" fmla="*/ 0 w 321383"/>
                  <a:gd name="connsiteY6" fmla="*/ 0 h 2310178"/>
                  <a:gd name="connsiteX7" fmla="*/ 0 w 321383"/>
                  <a:gd name="connsiteY7" fmla="*/ 0 h 231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383" h="2310178">
                    <a:moveTo>
                      <a:pt x="135" y="0"/>
                    </a:moveTo>
                    <a:lnTo>
                      <a:pt x="321383" y="0"/>
                    </a:lnTo>
                    <a:lnTo>
                      <a:pt x="321383" y="2149487"/>
                    </a:lnTo>
                    <a:cubicBezTo>
                      <a:pt x="321383" y="2238205"/>
                      <a:pt x="249410" y="2310179"/>
                      <a:pt x="160692" y="2310179"/>
                    </a:cubicBezTo>
                    <a:lnTo>
                      <a:pt x="160692" y="2310179"/>
                    </a:lnTo>
                    <a:cubicBezTo>
                      <a:pt x="71974" y="2310179"/>
                      <a:pt x="0" y="2238205"/>
                      <a:pt x="0" y="2149487"/>
                    </a:cubicBezTo>
                    <a:lnTo>
                      <a:pt x="0" y="0"/>
                    </a:lnTo>
                    <a:lnTo>
                      <a:pt x="0" y="0"/>
                    </a:lnTo>
                    <a:close/>
                  </a:path>
                </a:pathLst>
              </a:custGeom>
              <a:solidFill>
                <a:srgbClr val="FFFFFF"/>
              </a:solid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42" name="Freeform: Shape 41">
                <a:extLst>
                  <a:ext uri="{FF2B5EF4-FFF2-40B4-BE49-F238E27FC236}">
                    <a16:creationId xmlns:a16="http://schemas.microsoft.com/office/drawing/2014/main" id="{E1573C22-5D26-4AA6-B521-708E13D42FBE}"/>
                  </a:ext>
                </a:extLst>
              </p:cNvPr>
              <p:cNvSpPr/>
              <p:nvPr/>
            </p:nvSpPr>
            <p:spPr>
              <a:xfrm rot="-9356400">
                <a:off x="4314973" y="3137892"/>
                <a:ext cx="96549" cy="298022"/>
              </a:xfrm>
              <a:custGeom>
                <a:avLst/>
                <a:gdLst>
                  <a:gd name="connsiteX0" fmla="*/ 48207 w 96549"/>
                  <a:gd name="connsiteY0" fmla="*/ 0 h 298022"/>
                  <a:gd name="connsiteX1" fmla="*/ 96550 w 96549"/>
                  <a:gd name="connsiteY1" fmla="*/ 48343 h 298022"/>
                  <a:gd name="connsiteX2" fmla="*/ 96550 w 96549"/>
                  <a:gd name="connsiteY2" fmla="*/ 249680 h 298022"/>
                  <a:gd name="connsiteX3" fmla="*/ 48207 w 96549"/>
                  <a:gd name="connsiteY3" fmla="*/ 298022 h 298022"/>
                  <a:gd name="connsiteX4" fmla="*/ 48343 w 96549"/>
                  <a:gd name="connsiteY4" fmla="*/ 298022 h 298022"/>
                  <a:gd name="connsiteX5" fmla="*/ 0 w 96549"/>
                  <a:gd name="connsiteY5" fmla="*/ 249680 h 298022"/>
                  <a:gd name="connsiteX6" fmla="*/ 0 w 96549"/>
                  <a:gd name="connsiteY6" fmla="*/ 48343 h 298022"/>
                  <a:gd name="connsiteX7" fmla="*/ 48343 w 96549"/>
                  <a:gd name="connsiteY7" fmla="*/ 0 h 298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549" h="298022">
                    <a:moveTo>
                      <a:pt x="48207" y="0"/>
                    </a:moveTo>
                    <a:cubicBezTo>
                      <a:pt x="74906" y="0"/>
                      <a:pt x="96550" y="21644"/>
                      <a:pt x="96550" y="48343"/>
                    </a:cubicBezTo>
                    <a:lnTo>
                      <a:pt x="96550" y="249680"/>
                    </a:lnTo>
                    <a:cubicBezTo>
                      <a:pt x="96550" y="276379"/>
                      <a:pt x="74906" y="298022"/>
                      <a:pt x="48207" y="298022"/>
                    </a:cubicBezTo>
                    <a:lnTo>
                      <a:pt x="48343" y="298022"/>
                    </a:lnTo>
                    <a:cubicBezTo>
                      <a:pt x="21644" y="298022"/>
                      <a:pt x="0" y="276379"/>
                      <a:pt x="0" y="249680"/>
                    </a:cubicBezTo>
                    <a:lnTo>
                      <a:pt x="0" y="48343"/>
                    </a:lnTo>
                    <a:cubicBezTo>
                      <a:pt x="0" y="21644"/>
                      <a:pt x="21644" y="0"/>
                      <a:pt x="48343" y="0"/>
                    </a:cubicBezTo>
                    <a:close/>
                  </a:path>
                </a:pathLst>
              </a:custGeom>
              <a:solidFill>
                <a:schemeClr val="accent2">
                  <a:lumMod val="20000"/>
                  <a:lumOff val="80000"/>
                </a:schemeClr>
              </a:solid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43" name="Freeform: Shape 42">
                <a:extLst>
                  <a:ext uri="{FF2B5EF4-FFF2-40B4-BE49-F238E27FC236}">
                    <a16:creationId xmlns:a16="http://schemas.microsoft.com/office/drawing/2014/main" id="{58F4FAE2-585F-BD95-9253-2C213AF1E2B3}"/>
                  </a:ext>
                </a:extLst>
              </p:cNvPr>
              <p:cNvSpPr/>
              <p:nvPr/>
            </p:nvSpPr>
            <p:spPr>
              <a:xfrm>
                <a:off x="3131447" y="4991546"/>
                <a:ext cx="588205" cy="964390"/>
              </a:xfrm>
              <a:custGeom>
                <a:avLst/>
                <a:gdLst>
                  <a:gd name="connsiteX0" fmla="*/ 43069 w 588205"/>
                  <a:gd name="connsiteY0" fmla="*/ 958073 h 964390"/>
                  <a:gd name="connsiteX1" fmla="*/ 43069 w 588205"/>
                  <a:gd name="connsiteY1" fmla="*/ 958073 h 964390"/>
                  <a:gd name="connsiteX2" fmla="*/ 136108 w 588205"/>
                  <a:gd name="connsiteY2" fmla="*/ 927555 h 964390"/>
                  <a:gd name="connsiteX3" fmla="*/ 588205 w 588205"/>
                  <a:gd name="connsiteY3" fmla="*/ 130984 h 964390"/>
                  <a:gd name="connsiteX4" fmla="*/ 294909 w 588205"/>
                  <a:gd name="connsiteY4" fmla="*/ 0 h 964390"/>
                  <a:gd name="connsiteX5" fmla="*/ 3774 w 588205"/>
                  <a:gd name="connsiteY5" fmla="*/ 868410 h 964390"/>
                  <a:gd name="connsiteX6" fmla="*/ 43069 w 588205"/>
                  <a:gd name="connsiteY6" fmla="*/ 958073 h 96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205" h="964390">
                    <a:moveTo>
                      <a:pt x="43069" y="958073"/>
                    </a:moveTo>
                    <a:lnTo>
                      <a:pt x="43069" y="958073"/>
                    </a:lnTo>
                    <a:cubicBezTo>
                      <a:pt x="77368" y="973332"/>
                      <a:pt x="117608" y="960099"/>
                      <a:pt x="136108" y="927555"/>
                    </a:cubicBezTo>
                    <a:lnTo>
                      <a:pt x="588205" y="130984"/>
                    </a:lnTo>
                    <a:lnTo>
                      <a:pt x="294909" y="0"/>
                    </a:lnTo>
                    <a:lnTo>
                      <a:pt x="3774" y="868410"/>
                    </a:lnTo>
                    <a:cubicBezTo>
                      <a:pt x="-8109" y="903924"/>
                      <a:pt x="8905" y="942679"/>
                      <a:pt x="43069" y="958073"/>
                    </a:cubicBezTo>
                    <a:close/>
                  </a:path>
                </a:pathLst>
              </a:custGeom>
              <a:solidFill>
                <a:srgbClr val="FFFFFF"/>
              </a:solid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44" name="Freeform: Shape 43">
                <a:extLst>
                  <a:ext uri="{FF2B5EF4-FFF2-40B4-BE49-F238E27FC236}">
                    <a16:creationId xmlns:a16="http://schemas.microsoft.com/office/drawing/2014/main" id="{C562E69B-F009-4BFC-0938-4A3C65D29D5A}"/>
                  </a:ext>
                </a:extLst>
              </p:cNvPr>
              <p:cNvSpPr/>
              <p:nvPr/>
            </p:nvSpPr>
            <p:spPr>
              <a:xfrm>
                <a:off x="3178162" y="5731808"/>
                <a:ext cx="156100" cy="69678"/>
              </a:xfrm>
              <a:custGeom>
                <a:avLst/>
                <a:gdLst>
                  <a:gd name="connsiteX0" fmla="*/ 156100 w 156100"/>
                  <a:gd name="connsiteY0" fmla="*/ 69678 h 69678"/>
                  <a:gd name="connsiteX1" fmla="*/ 0 w 156100"/>
                  <a:gd name="connsiteY1" fmla="*/ 0 h 69678"/>
                </a:gdLst>
                <a:ahLst/>
                <a:cxnLst>
                  <a:cxn ang="0">
                    <a:pos x="connsiteX0" y="connsiteY0"/>
                  </a:cxn>
                  <a:cxn ang="0">
                    <a:pos x="connsiteX1" y="connsiteY1"/>
                  </a:cxn>
                </a:cxnLst>
                <a:rect l="l" t="t" r="r" b="b"/>
                <a:pathLst>
                  <a:path w="156100" h="69678">
                    <a:moveTo>
                      <a:pt x="156100" y="69678"/>
                    </a:moveTo>
                    <a:lnTo>
                      <a:pt x="0" y="0"/>
                    </a:lnTo>
                  </a:path>
                </a:pathLst>
              </a:custGeom>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sp>
          <p:nvSpPr>
            <p:cNvPr id="45" name="Freeform: Shape 44">
              <a:extLst>
                <a:ext uri="{FF2B5EF4-FFF2-40B4-BE49-F238E27FC236}">
                  <a16:creationId xmlns:a16="http://schemas.microsoft.com/office/drawing/2014/main" id="{7DCFB7E6-B042-EF18-13E9-3696CC7CB466}"/>
                </a:ext>
              </a:extLst>
            </p:cNvPr>
            <p:cNvSpPr/>
            <p:nvPr/>
          </p:nvSpPr>
          <p:spPr>
            <a:xfrm>
              <a:off x="3679952" y="3074783"/>
              <a:ext cx="597259" cy="1050108"/>
            </a:xfrm>
            <a:custGeom>
              <a:avLst/>
              <a:gdLst>
                <a:gd name="connsiteX0" fmla="*/ 597260 w 597259"/>
                <a:gd name="connsiteY0" fmla="*/ 10609 h 1050108"/>
                <a:gd name="connsiteX1" fmla="*/ 597260 w 597259"/>
                <a:gd name="connsiteY1" fmla="*/ 10609 h 1050108"/>
                <a:gd name="connsiteX2" fmla="*/ 436568 w 597259"/>
                <a:gd name="connsiteY2" fmla="*/ 72050 h 1050108"/>
                <a:gd name="connsiteX3" fmla="*/ 0 w 597259"/>
                <a:gd name="connsiteY3" fmla="*/ 1050109 h 1050108"/>
              </a:gdLst>
              <a:ahLst/>
              <a:cxnLst>
                <a:cxn ang="0">
                  <a:pos x="connsiteX0" y="connsiteY0"/>
                </a:cxn>
                <a:cxn ang="0">
                  <a:pos x="connsiteX1" y="connsiteY1"/>
                </a:cxn>
                <a:cxn ang="0">
                  <a:pos x="connsiteX2" y="connsiteY2"/>
                </a:cxn>
                <a:cxn ang="0">
                  <a:pos x="connsiteX3" y="connsiteY3"/>
                </a:cxn>
              </a:cxnLst>
              <a:rect l="l" t="t" r="r" b="b"/>
              <a:pathLst>
                <a:path w="597259" h="1050108">
                  <a:moveTo>
                    <a:pt x="597260" y="10609"/>
                  </a:moveTo>
                  <a:lnTo>
                    <a:pt x="597260" y="10609"/>
                  </a:lnTo>
                  <a:cubicBezTo>
                    <a:pt x="535954" y="-16803"/>
                    <a:pt x="463980" y="10744"/>
                    <a:pt x="436568" y="72050"/>
                  </a:cubicBezTo>
                  <a:lnTo>
                    <a:pt x="0" y="1050109"/>
                  </a:lnTo>
                </a:path>
              </a:pathLst>
            </a:custGeom>
            <a:noFill/>
            <a:ln w="17506"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sp>
        <p:nvSpPr>
          <p:cNvPr id="46" name="Freeform: Shape 45">
            <a:extLst>
              <a:ext uri="{FF2B5EF4-FFF2-40B4-BE49-F238E27FC236}">
                <a16:creationId xmlns:a16="http://schemas.microsoft.com/office/drawing/2014/main" id="{25A85397-CE5D-243F-0FAE-0A3384ECEF6C}"/>
              </a:ext>
            </a:extLst>
          </p:cNvPr>
          <p:cNvSpPr/>
          <p:nvPr/>
        </p:nvSpPr>
        <p:spPr>
          <a:xfrm>
            <a:off x="3685283" y="3639553"/>
            <a:ext cx="66977" cy="84161"/>
          </a:xfrm>
          <a:custGeom>
            <a:avLst/>
            <a:gdLst>
              <a:gd name="connsiteX0" fmla="*/ 0 w 66977"/>
              <a:gd name="connsiteY0" fmla="*/ 79436 h 84161"/>
              <a:gd name="connsiteX1" fmla="*/ 8372 w 66977"/>
              <a:gd name="connsiteY1" fmla="*/ 57830 h 84161"/>
              <a:gd name="connsiteX2" fmla="*/ 19850 w 66977"/>
              <a:gd name="connsiteY2" fmla="*/ 170 h 84161"/>
              <a:gd name="connsiteX3" fmla="*/ 66977 w 66977"/>
              <a:gd name="connsiteY3" fmla="*/ 84162 h 84161"/>
            </a:gdLst>
            <a:ahLst/>
            <a:cxnLst>
              <a:cxn ang="0">
                <a:pos x="connsiteX0" y="connsiteY0"/>
              </a:cxn>
              <a:cxn ang="0">
                <a:pos x="connsiteX1" y="connsiteY1"/>
              </a:cxn>
              <a:cxn ang="0">
                <a:pos x="connsiteX2" y="connsiteY2"/>
              </a:cxn>
              <a:cxn ang="0">
                <a:pos x="connsiteX3" y="connsiteY3"/>
              </a:cxn>
            </a:cxnLst>
            <a:rect l="l" t="t" r="r" b="b"/>
            <a:pathLst>
              <a:path w="66977" h="84161">
                <a:moveTo>
                  <a:pt x="0" y="79436"/>
                </a:moveTo>
                <a:cubicBezTo>
                  <a:pt x="0" y="77815"/>
                  <a:pt x="8372" y="59721"/>
                  <a:pt x="8372" y="57830"/>
                </a:cubicBezTo>
                <a:cubicBezTo>
                  <a:pt x="8102" y="39600"/>
                  <a:pt x="10668" y="2196"/>
                  <a:pt x="19850" y="170"/>
                </a:cubicBezTo>
                <a:cubicBezTo>
                  <a:pt x="33624" y="-2936"/>
                  <a:pt x="56040" y="36900"/>
                  <a:pt x="66977" y="84162"/>
                </a:cubicBezTo>
              </a:path>
            </a:pathLst>
          </a:custGeom>
          <a:solidFill>
            <a:srgbClr val="FFFFFF"/>
          </a:solidFill>
          <a:ln w="17506" cap="flat">
            <a:solidFill>
              <a:srgbClr val="05A2A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Tree>
    <p:extLst>
      <p:ext uri="{BB962C8B-B14F-4D97-AF65-F5344CB8AC3E}">
        <p14:creationId xmlns:p14="http://schemas.microsoft.com/office/powerpoint/2010/main" val="2973365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B410B-18BD-2B1A-7CA9-D74C62681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556AC-CDC4-F48A-1DCC-EDA16125104C}"/>
              </a:ext>
            </a:extLst>
          </p:cNvPr>
          <p:cNvSpPr>
            <a:spLocks noGrp="1"/>
          </p:cNvSpPr>
          <p:nvPr>
            <p:ph type="title"/>
          </p:nvPr>
        </p:nvSpPr>
        <p:spPr/>
        <p:txBody>
          <a:bodyPr/>
          <a:lstStyle/>
          <a:p>
            <a:r>
              <a:rPr lang="en-US" dirty="0"/>
              <a:t>Tools to document with</a:t>
            </a:r>
            <a:endParaRPr lang="en-GB" dirty="0"/>
          </a:p>
        </p:txBody>
      </p:sp>
      <p:sp>
        <p:nvSpPr>
          <p:cNvPr id="5" name="Slide Number Placeholder 4">
            <a:extLst>
              <a:ext uri="{FF2B5EF4-FFF2-40B4-BE49-F238E27FC236}">
                <a16:creationId xmlns:a16="http://schemas.microsoft.com/office/drawing/2014/main" id="{1F9FFAB1-28B2-BE89-9591-D82B77954D97}"/>
              </a:ext>
            </a:extLst>
          </p:cNvPr>
          <p:cNvSpPr>
            <a:spLocks noGrp="1"/>
          </p:cNvSpPr>
          <p:nvPr>
            <p:ph type="sldNum" sz="quarter" idx="12"/>
          </p:nvPr>
        </p:nvSpPr>
        <p:spPr>
          <a:prstGeom prst="rect">
            <a:avLst/>
          </a:prstGeom>
        </p:spPr>
        <p:txBody>
          <a:bodyPr/>
          <a:lstStyle/>
          <a:p>
            <a:fld id="{CC571AF6-6671-4538-974D-3AEC00AC0B82}" type="slidenum">
              <a:rPr lang="en-GB" smtClean="0"/>
              <a:t>15</a:t>
            </a:fld>
            <a:endParaRPr lang="en-GB"/>
          </a:p>
        </p:txBody>
      </p:sp>
      <p:sp>
        <p:nvSpPr>
          <p:cNvPr id="7" name="Rounded Rectangle 3">
            <a:extLst>
              <a:ext uri="{FF2B5EF4-FFF2-40B4-BE49-F238E27FC236}">
                <a16:creationId xmlns:a16="http://schemas.microsoft.com/office/drawing/2014/main" id="{D050A987-B893-27CD-20CC-C5F234812C1A}"/>
              </a:ext>
            </a:extLst>
          </p:cNvPr>
          <p:cNvSpPr/>
          <p:nvPr/>
        </p:nvSpPr>
        <p:spPr>
          <a:xfrm>
            <a:off x="8016368" y="3588935"/>
            <a:ext cx="3343348" cy="1745278"/>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sz="2000" dirty="0">
                <a:solidFill>
                  <a:srgbClr val="005E77"/>
                </a:solidFill>
              </a:rPr>
              <a:t>Simple </a:t>
            </a:r>
            <a:r>
              <a:rPr lang="nl-BE" sz="2000" dirty="0">
                <a:solidFill>
                  <a:srgbClr val="005E77"/>
                </a:solidFill>
              </a:rPr>
              <a:t>Analysis </a:t>
            </a:r>
            <a:r>
              <a:rPr lang="en-US" sz="2000" dirty="0">
                <a:solidFill>
                  <a:srgbClr val="005E77"/>
                </a:solidFill>
              </a:rPr>
              <a:t>(</a:t>
            </a:r>
            <a:r>
              <a:rPr lang="en-US" sz="2000" dirty="0" err="1">
                <a:solidFill>
                  <a:srgbClr val="005E77"/>
                </a:solidFill>
              </a:rPr>
              <a:t>xls</a:t>
            </a:r>
            <a:r>
              <a:rPr lang="en-US" sz="2000" dirty="0">
                <a:solidFill>
                  <a:srgbClr val="005E77"/>
                </a:solidFill>
              </a:rPr>
              <a:t>, SPSS, …)</a:t>
            </a:r>
            <a:endParaRPr sz="2000" dirty="0">
              <a:solidFill>
                <a:srgbClr val="005E77"/>
              </a:solidFill>
            </a:endParaRPr>
          </a:p>
          <a:p>
            <a:pPr marL="285750" indent="-285750">
              <a:buFontTx/>
              <a:buChar char="-"/>
            </a:pPr>
            <a:r>
              <a:rPr lang="en-US" sz="1600" dirty="0">
                <a:solidFill>
                  <a:srgbClr val="005E77"/>
                </a:solidFill>
              </a:rPr>
              <a:t>ELN</a:t>
            </a:r>
          </a:p>
          <a:p>
            <a:pPr marL="285750" indent="-285750">
              <a:buFontTx/>
              <a:buChar char="-"/>
            </a:pPr>
            <a:r>
              <a:rPr lang="en-US" sz="1600" dirty="0">
                <a:solidFill>
                  <a:srgbClr val="005E77"/>
                </a:solidFill>
              </a:rPr>
              <a:t>Paper notebook</a:t>
            </a:r>
          </a:p>
          <a:p>
            <a:pPr marL="285750" indent="-285750">
              <a:buFontTx/>
              <a:buChar char="-"/>
            </a:pPr>
            <a:r>
              <a:rPr lang="en-US" sz="1600" dirty="0" err="1">
                <a:solidFill>
                  <a:srgbClr val="005E77"/>
                </a:solidFill>
              </a:rPr>
              <a:t>Xls</a:t>
            </a:r>
            <a:r>
              <a:rPr lang="en-US" sz="1600" dirty="0">
                <a:solidFill>
                  <a:srgbClr val="005E77"/>
                </a:solidFill>
              </a:rPr>
              <a:t> template</a:t>
            </a:r>
          </a:p>
          <a:p>
            <a:pPr marL="285750" indent="-285750">
              <a:buFontTx/>
              <a:buChar char="-"/>
            </a:pPr>
            <a:r>
              <a:rPr lang="en-US" sz="1600" dirty="0">
                <a:solidFill>
                  <a:srgbClr val="005E77"/>
                </a:solidFill>
              </a:rPr>
              <a:t>…</a:t>
            </a:r>
          </a:p>
          <a:p>
            <a:r>
              <a:rPr lang="en-US" sz="1600" dirty="0">
                <a:solidFill>
                  <a:srgbClr val="005E77"/>
                </a:solidFill>
                <a:sym typeface="Wingdings" panose="05000000000000000000" pitchFamily="2" charset="2"/>
              </a:rPr>
              <a:t> </a:t>
            </a:r>
            <a:r>
              <a:rPr lang="en-US" sz="1600" dirty="0">
                <a:solidFill>
                  <a:srgbClr val="005E77"/>
                </a:solidFill>
              </a:rPr>
              <a:t>Consider same tool as collection</a:t>
            </a:r>
            <a:endParaRPr sz="1600" dirty="0">
              <a:solidFill>
                <a:srgbClr val="005E77"/>
              </a:solidFill>
            </a:endParaRPr>
          </a:p>
        </p:txBody>
      </p:sp>
      <p:sp>
        <p:nvSpPr>
          <p:cNvPr id="8" name="Rounded Rectangle 5">
            <a:extLst>
              <a:ext uri="{FF2B5EF4-FFF2-40B4-BE49-F238E27FC236}">
                <a16:creationId xmlns:a16="http://schemas.microsoft.com/office/drawing/2014/main" id="{61171A05-344F-8C48-117F-660ACBE9D48D}"/>
              </a:ext>
            </a:extLst>
          </p:cNvPr>
          <p:cNvSpPr/>
          <p:nvPr/>
        </p:nvSpPr>
        <p:spPr>
          <a:xfrm>
            <a:off x="3248727" y="2923382"/>
            <a:ext cx="3718332" cy="3177862"/>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lang="nl-BE" sz="2000">
                <a:solidFill>
                  <a:srgbClr val="005E77"/>
                </a:solidFill>
              </a:rPr>
              <a:t>Moderate </a:t>
            </a:r>
            <a:r>
              <a:rPr lang="nl-BE" sz="2000" err="1">
                <a:solidFill>
                  <a:srgbClr val="005E77"/>
                </a:solidFill>
              </a:rPr>
              <a:t>to</a:t>
            </a:r>
            <a:r>
              <a:rPr lang="nl-BE" sz="2000">
                <a:solidFill>
                  <a:srgbClr val="005E77"/>
                </a:solidFill>
              </a:rPr>
              <a:t> </a:t>
            </a:r>
            <a:r>
              <a:rPr sz="2000">
                <a:solidFill>
                  <a:srgbClr val="005E77"/>
                </a:solidFill>
              </a:rPr>
              <a:t>Advanced</a:t>
            </a:r>
            <a:endParaRPr lang="en-US" sz="2000">
              <a:solidFill>
                <a:srgbClr val="005E77"/>
              </a:solidFill>
            </a:endParaRPr>
          </a:p>
          <a:p>
            <a:pPr>
              <a:defRPr sz="1200"/>
            </a:pPr>
            <a:r>
              <a:rPr lang="en-US" sz="1600" u="sng">
                <a:solidFill>
                  <a:srgbClr val="005E77"/>
                </a:solidFill>
              </a:rPr>
              <a:t>Minimal</a:t>
            </a:r>
            <a:r>
              <a:rPr lang="en-US" sz="1600">
                <a:solidFill>
                  <a:srgbClr val="005E77"/>
                </a:solidFill>
              </a:rPr>
              <a:t>:</a:t>
            </a:r>
          </a:p>
          <a:p>
            <a:pPr>
              <a:defRPr sz="1200"/>
            </a:pPr>
            <a:r>
              <a:rPr lang="en-US" sz="1600">
                <a:solidFill>
                  <a:srgbClr val="005E77"/>
                </a:solidFill>
                <a:hlinkClick r:id="rId4"/>
              </a:rPr>
              <a:t>Add code comments</a:t>
            </a:r>
            <a:endParaRPr lang="en-US" sz="1600">
              <a:solidFill>
                <a:srgbClr val="005E77"/>
              </a:solidFill>
            </a:endParaRPr>
          </a:p>
          <a:p>
            <a:pPr>
              <a:defRPr sz="1200"/>
            </a:pPr>
            <a:r>
              <a:rPr lang="en-US" sz="1600">
                <a:solidFill>
                  <a:srgbClr val="005E77"/>
                </a:solidFill>
                <a:hlinkClick r:id="rId5"/>
              </a:rPr>
              <a:t>Follow code style guide</a:t>
            </a:r>
            <a:br>
              <a:rPr lang="en-US" sz="1600">
                <a:solidFill>
                  <a:srgbClr val="005E77"/>
                </a:solidFill>
              </a:rPr>
            </a:br>
            <a:endParaRPr lang="en-US" sz="1600">
              <a:solidFill>
                <a:srgbClr val="005E77"/>
              </a:solidFill>
            </a:endParaRPr>
          </a:p>
          <a:p>
            <a:pPr>
              <a:defRPr sz="1200"/>
            </a:pPr>
            <a:r>
              <a:rPr lang="nl-BE" sz="1600" u="sng" err="1">
                <a:solidFill>
                  <a:srgbClr val="005E77"/>
                </a:solidFill>
              </a:rPr>
              <a:t>Valuable</a:t>
            </a:r>
            <a:r>
              <a:rPr lang="nl-BE" sz="1600">
                <a:solidFill>
                  <a:srgbClr val="005E77"/>
                </a:solidFill>
              </a:rPr>
              <a:t>:</a:t>
            </a:r>
          </a:p>
          <a:p>
            <a:pPr>
              <a:defRPr sz="1200"/>
            </a:pPr>
            <a:r>
              <a:rPr lang="en-US" sz="1600">
                <a:solidFill>
                  <a:srgbClr val="005E77"/>
                </a:solidFill>
              </a:rPr>
              <a:t>Use computational notebooks</a:t>
            </a:r>
            <a:br>
              <a:rPr lang="en-US" sz="1600">
                <a:solidFill>
                  <a:srgbClr val="005E77"/>
                </a:solidFill>
              </a:rPr>
            </a:br>
            <a:r>
              <a:rPr sz="1600">
                <a:solidFill>
                  <a:srgbClr val="005E77"/>
                </a:solidFill>
              </a:rPr>
              <a:t>Use Git for version control</a:t>
            </a:r>
            <a:r>
              <a:rPr lang="en-US" sz="1600">
                <a:solidFill>
                  <a:srgbClr val="005E77"/>
                </a:solidFill>
              </a:rPr>
              <a:t> </a:t>
            </a:r>
            <a:br>
              <a:rPr lang="en-US" sz="1600">
                <a:solidFill>
                  <a:srgbClr val="005E77"/>
                </a:solidFill>
              </a:rPr>
            </a:br>
            <a:r>
              <a:rPr lang="en-US" sz="1600">
                <a:solidFill>
                  <a:srgbClr val="005E77"/>
                </a:solidFill>
                <a:hlinkClick r:id="rId6"/>
              </a:rPr>
              <a:t>Use </a:t>
            </a:r>
            <a:r>
              <a:rPr lang="en-US" sz="1600" err="1">
                <a:solidFill>
                  <a:srgbClr val="005E77"/>
                </a:solidFill>
                <a:hlinkClick r:id="rId6"/>
              </a:rPr>
              <a:t>propper</a:t>
            </a:r>
            <a:r>
              <a:rPr lang="en-US" sz="1600">
                <a:solidFill>
                  <a:srgbClr val="005E77"/>
                </a:solidFill>
                <a:hlinkClick r:id="rId6"/>
              </a:rPr>
              <a:t> Git commit messages</a:t>
            </a:r>
            <a:br>
              <a:rPr sz="1600">
                <a:solidFill>
                  <a:srgbClr val="005E77"/>
                </a:solidFill>
              </a:rPr>
            </a:br>
            <a:r>
              <a:rPr lang="en-US" sz="1600">
                <a:solidFill>
                  <a:srgbClr val="005E77"/>
                </a:solidFill>
              </a:rPr>
              <a:t>Use containers for computational environment</a:t>
            </a:r>
            <a:br>
              <a:rPr sz="1600">
                <a:solidFill>
                  <a:srgbClr val="005E77"/>
                </a:solidFill>
              </a:rPr>
            </a:br>
            <a:endParaRPr sz="1600">
              <a:solidFill>
                <a:srgbClr val="005E77"/>
              </a:solidFill>
            </a:endParaRPr>
          </a:p>
        </p:txBody>
      </p:sp>
      <p:sp>
        <p:nvSpPr>
          <p:cNvPr id="9" name="Rounded Rectangle 3">
            <a:extLst>
              <a:ext uri="{FF2B5EF4-FFF2-40B4-BE49-F238E27FC236}">
                <a16:creationId xmlns:a16="http://schemas.microsoft.com/office/drawing/2014/main" id="{88B9A50B-0F75-A3C0-BACE-573BBB69BA5E}"/>
              </a:ext>
            </a:extLst>
          </p:cNvPr>
          <p:cNvSpPr/>
          <p:nvPr/>
        </p:nvSpPr>
        <p:spPr>
          <a:xfrm>
            <a:off x="7308759" y="1799972"/>
            <a:ext cx="2160000" cy="914400"/>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ctr"/>
          <a:lstStyle/>
          <a:p>
            <a:r>
              <a:rPr dirty="0">
                <a:solidFill>
                  <a:srgbClr val="005E77"/>
                </a:solidFill>
              </a:rPr>
              <a:t>Do you write code?</a:t>
            </a:r>
          </a:p>
        </p:txBody>
      </p:sp>
      <p:cxnSp>
        <p:nvCxnSpPr>
          <p:cNvPr id="25" name="Straight Arrow Connector 24">
            <a:extLst>
              <a:ext uri="{FF2B5EF4-FFF2-40B4-BE49-F238E27FC236}">
                <a16:creationId xmlns:a16="http://schemas.microsoft.com/office/drawing/2014/main" id="{B3FE1206-14CF-7AAC-38DA-FE98229A74C5}"/>
              </a:ext>
            </a:extLst>
          </p:cNvPr>
          <p:cNvCxnSpPr>
            <a:cxnSpLocks/>
          </p:cNvCxnSpPr>
          <p:nvPr/>
        </p:nvCxnSpPr>
        <p:spPr>
          <a:xfrm>
            <a:off x="8314263" y="2719954"/>
            <a:ext cx="1243623" cy="836445"/>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8B095C6-B38A-57D8-E565-9B578BA01530}"/>
              </a:ext>
            </a:extLst>
          </p:cNvPr>
          <p:cNvSpPr txBox="1"/>
          <p:nvPr/>
        </p:nvSpPr>
        <p:spPr>
          <a:xfrm>
            <a:off x="8975801" y="2829085"/>
            <a:ext cx="455574" cy="369332"/>
          </a:xfrm>
          <a:prstGeom prst="rect">
            <a:avLst/>
          </a:prstGeom>
          <a:noFill/>
        </p:spPr>
        <p:txBody>
          <a:bodyPr wrap="square" rtlCol="0">
            <a:spAutoFit/>
          </a:bodyPr>
          <a:lstStyle/>
          <a:p>
            <a:r>
              <a:rPr lang="en-US"/>
              <a:t>No</a:t>
            </a:r>
            <a:endParaRPr lang="nl-BE"/>
          </a:p>
        </p:txBody>
      </p:sp>
      <p:sp>
        <p:nvSpPr>
          <p:cNvPr id="27" name="TextBox 26">
            <a:extLst>
              <a:ext uri="{FF2B5EF4-FFF2-40B4-BE49-F238E27FC236}">
                <a16:creationId xmlns:a16="http://schemas.microsoft.com/office/drawing/2014/main" id="{2430EEEB-B98B-0577-EA6E-F285C6685760}"/>
              </a:ext>
            </a:extLst>
          </p:cNvPr>
          <p:cNvSpPr txBox="1"/>
          <p:nvPr/>
        </p:nvSpPr>
        <p:spPr>
          <a:xfrm>
            <a:off x="7167207" y="2829085"/>
            <a:ext cx="485518" cy="369332"/>
          </a:xfrm>
          <a:prstGeom prst="rect">
            <a:avLst/>
          </a:prstGeom>
          <a:noFill/>
        </p:spPr>
        <p:txBody>
          <a:bodyPr wrap="square" rtlCol="0">
            <a:spAutoFit/>
          </a:bodyPr>
          <a:lstStyle/>
          <a:p>
            <a:r>
              <a:rPr lang="en-US"/>
              <a:t>Yes</a:t>
            </a:r>
            <a:endParaRPr lang="nl-BE"/>
          </a:p>
        </p:txBody>
      </p:sp>
      <p:cxnSp>
        <p:nvCxnSpPr>
          <p:cNvPr id="31" name="Straight Arrow Connector 30">
            <a:extLst>
              <a:ext uri="{FF2B5EF4-FFF2-40B4-BE49-F238E27FC236}">
                <a16:creationId xmlns:a16="http://schemas.microsoft.com/office/drawing/2014/main" id="{6115929D-3B85-057F-3246-A7521DDF0DCB}"/>
              </a:ext>
            </a:extLst>
          </p:cNvPr>
          <p:cNvCxnSpPr>
            <a:cxnSpLocks/>
          </p:cNvCxnSpPr>
          <p:nvPr/>
        </p:nvCxnSpPr>
        <p:spPr>
          <a:xfrm flipH="1">
            <a:off x="7016817" y="2732951"/>
            <a:ext cx="1297446" cy="842987"/>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6" descr="Gitlab icon SVG Vector &amp; PNG Free Download | UXWing">
            <a:extLst>
              <a:ext uri="{FF2B5EF4-FFF2-40B4-BE49-F238E27FC236}">
                <a16:creationId xmlns:a16="http://schemas.microsoft.com/office/drawing/2014/main" id="{E3D0B1B7-E29B-E886-26A8-917DE18786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2068015" y="4201199"/>
            <a:ext cx="783704" cy="81181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ocker: Quick guide for SonarQube setup – Code Unboxing">
            <a:extLst>
              <a:ext uri="{FF2B5EF4-FFF2-40B4-BE49-F238E27FC236}">
                <a16:creationId xmlns:a16="http://schemas.microsoft.com/office/drawing/2014/main" id="{6F52B310-30E0-E2B8-0308-687F707370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7619" y="4983137"/>
            <a:ext cx="1384497" cy="12352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Los beneficios de utilizar Jupyter Notebook para programar">
            <a:extLst>
              <a:ext uri="{FF2B5EF4-FFF2-40B4-BE49-F238E27FC236}">
                <a16:creationId xmlns:a16="http://schemas.microsoft.com/office/drawing/2014/main" id="{63075FB4-2091-7397-A166-8A14EBEC13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0088" y="4109086"/>
            <a:ext cx="859317" cy="99604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Dynamic Documents for R • rmarkdown">
            <a:extLst>
              <a:ext uri="{FF2B5EF4-FFF2-40B4-BE49-F238E27FC236}">
                <a16:creationId xmlns:a16="http://schemas.microsoft.com/office/drawing/2014/main" id="{BBD08A5B-FE92-3E8F-CC12-935B4A1628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897" y="5157731"/>
            <a:ext cx="767697" cy="88605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ep 25">
            <a:extLst>
              <a:ext uri="{FF2B5EF4-FFF2-40B4-BE49-F238E27FC236}">
                <a16:creationId xmlns:a16="http://schemas.microsoft.com/office/drawing/2014/main" id="{8B4AD366-455B-23EB-F02C-79EA757C7349}"/>
              </a:ext>
            </a:extLst>
          </p:cNvPr>
          <p:cNvGrpSpPr/>
          <p:nvPr/>
        </p:nvGrpSpPr>
        <p:grpSpPr>
          <a:xfrm>
            <a:off x="600088" y="1302413"/>
            <a:ext cx="2440824" cy="1896004"/>
            <a:chOff x="8526291" y="1433384"/>
            <a:chExt cx="2495935" cy="1983955"/>
          </a:xfrm>
        </p:grpSpPr>
        <p:pic>
          <p:nvPicPr>
            <p:cNvPr id="16" name="Graphic 15" descr="Beeldscherm met effen opvulling">
              <a:extLst>
                <a:ext uri="{FF2B5EF4-FFF2-40B4-BE49-F238E27FC236}">
                  <a16:creationId xmlns:a16="http://schemas.microsoft.com/office/drawing/2014/main" id="{0CF4C20B-5F7B-F639-31E0-41FE76EAF185}"/>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t="9792" b="10722"/>
            <a:stretch/>
          </p:blipFill>
          <p:spPr>
            <a:xfrm>
              <a:off x="8526291" y="1433384"/>
              <a:ext cx="2495935" cy="1983955"/>
            </a:xfrm>
            <a:prstGeom prst="rect">
              <a:avLst/>
            </a:prstGeom>
          </p:spPr>
        </p:pic>
        <p:pic>
          <p:nvPicPr>
            <p:cNvPr id="17" name="Graphic 16" descr="Spreidingsdiagram met effen opvulling">
              <a:extLst>
                <a:ext uri="{FF2B5EF4-FFF2-40B4-BE49-F238E27FC236}">
                  <a16:creationId xmlns:a16="http://schemas.microsoft.com/office/drawing/2014/main" id="{9F84614A-7083-62E0-6D67-3AB368C8612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23850" y="1622844"/>
              <a:ext cx="914400" cy="914400"/>
            </a:xfrm>
            <a:prstGeom prst="rect">
              <a:avLst/>
            </a:prstGeom>
          </p:spPr>
        </p:pic>
        <p:pic>
          <p:nvPicPr>
            <p:cNvPr id="18" name="Graphic 17" descr="Document met effen opvulling">
              <a:extLst>
                <a:ext uri="{FF2B5EF4-FFF2-40B4-BE49-F238E27FC236}">
                  <a16:creationId xmlns:a16="http://schemas.microsoft.com/office/drawing/2014/main" id="{D5881A62-DAC4-D95E-D3C5-BC1C0EF37918}"/>
                </a:ext>
              </a:extLst>
            </p:cNvPr>
            <p:cNvPicPr>
              <a:picLocks noChangeAspect="1"/>
            </p:cNvPicPr>
            <p:nvPr/>
          </p:nvPicPr>
          <p:blipFill rotWithShape="1">
            <a:blip r:embed="rId15">
              <a:extLst>
                <a:ext uri="{96DAC541-7B7A-43D3-8B79-37D633B846F1}">
                  <asvg:svgBlip xmlns:asvg="http://schemas.microsoft.com/office/drawing/2016/SVG/main" r:embed="rId16"/>
                </a:ext>
              </a:extLst>
            </a:blip>
            <a:srcRect l="27475" t="45180" r="31273" b="14650"/>
            <a:stretch/>
          </p:blipFill>
          <p:spPr>
            <a:xfrm>
              <a:off x="8956127" y="1783304"/>
              <a:ext cx="686442" cy="668448"/>
            </a:xfrm>
            <a:prstGeom prst="rect">
              <a:avLst/>
            </a:prstGeom>
          </p:spPr>
        </p:pic>
        <p:pic>
          <p:nvPicPr>
            <p:cNvPr id="19" name="Graphic 18" descr="Kolf met effen opvulling">
              <a:extLst>
                <a:ext uri="{FF2B5EF4-FFF2-40B4-BE49-F238E27FC236}">
                  <a16:creationId xmlns:a16="http://schemas.microsoft.com/office/drawing/2014/main" id="{61D89FFE-593A-A4DC-30B7-7C47103932A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346054" y="1908621"/>
              <a:ext cx="914400" cy="914400"/>
            </a:xfrm>
            <a:prstGeom prst="rect">
              <a:avLst/>
            </a:prstGeom>
          </p:spPr>
        </p:pic>
        <p:pic>
          <p:nvPicPr>
            <p:cNvPr id="20" name="Graphic 19" descr="Maandkalender silhouet">
              <a:extLst>
                <a:ext uri="{FF2B5EF4-FFF2-40B4-BE49-F238E27FC236}">
                  <a16:creationId xmlns:a16="http://schemas.microsoft.com/office/drawing/2014/main" id="{9EE39F95-5D59-1332-4AFF-6DDEB37903F6}"/>
                </a:ext>
              </a:extLst>
            </p:cNvPr>
            <p:cNvPicPr>
              <a:picLocks noChangeAspect="1"/>
            </p:cNvPicPr>
            <p:nvPr/>
          </p:nvPicPr>
          <p:blipFill rotWithShape="1">
            <a:blip r:embed="rId19">
              <a:extLst>
                <a:ext uri="{96DAC541-7B7A-43D3-8B79-37D633B846F1}">
                  <asvg:svgBlip xmlns:asvg="http://schemas.microsoft.com/office/drawing/2016/SVG/main" r:embed="rId20"/>
                </a:ext>
              </a:extLst>
            </a:blip>
            <a:srcRect l="21990" t="43474" r="44020" b="22205"/>
            <a:stretch/>
          </p:blipFill>
          <p:spPr>
            <a:xfrm>
              <a:off x="8994694" y="2321589"/>
              <a:ext cx="524567" cy="529666"/>
            </a:xfrm>
            <a:prstGeom prst="rect">
              <a:avLst/>
            </a:prstGeom>
          </p:spPr>
        </p:pic>
        <p:sp>
          <p:nvSpPr>
            <p:cNvPr id="21" name="Tekstvak 24">
              <a:extLst>
                <a:ext uri="{FF2B5EF4-FFF2-40B4-BE49-F238E27FC236}">
                  <a16:creationId xmlns:a16="http://schemas.microsoft.com/office/drawing/2014/main" id="{C1372AE1-1A38-244A-E87F-6320FDCB4DD0}"/>
                </a:ext>
              </a:extLst>
            </p:cNvPr>
            <p:cNvSpPr txBox="1"/>
            <p:nvPr/>
          </p:nvSpPr>
          <p:spPr>
            <a:xfrm>
              <a:off x="10029247" y="250170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C495C"/>
                  </a:solidFill>
                  <a:effectLst/>
                  <a:uLnTx/>
                  <a:uFillTx/>
                  <a:latin typeface="Arial" panose="020B0604020202020204" pitchFamily="34" charset="0"/>
                  <a:ea typeface="+mn-ea"/>
                  <a:cs typeface="Arial" panose="020B0604020202020204" pitchFamily="34" charset="0"/>
                </a:rPr>
                <a:t>ELN</a:t>
              </a:r>
            </a:p>
          </p:txBody>
        </p:sp>
      </p:grpSp>
    </p:spTree>
    <p:extLst>
      <p:ext uri="{BB962C8B-B14F-4D97-AF65-F5344CB8AC3E}">
        <p14:creationId xmlns:p14="http://schemas.microsoft.com/office/powerpoint/2010/main" val="143151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6" grpId="0"/>
      <p:bldP spid="27" grpId="0"/>
    </p:bldLst>
  </p:timing>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F51F7-40F1-6EC8-BDF9-DFCDB72CF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91B8D-62C4-D956-E3E6-06805B3901E1}"/>
              </a:ext>
            </a:extLst>
          </p:cNvPr>
          <p:cNvSpPr>
            <a:spLocks noGrp="1"/>
          </p:cNvSpPr>
          <p:nvPr>
            <p:ph type="title"/>
          </p:nvPr>
        </p:nvSpPr>
        <p:spPr/>
        <p:txBody>
          <a:bodyPr/>
          <a:lstStyle/>
          <a:p>
            <a:r>
              <a:rPr lang="en-US" dirty="0"/>
              <a:t>Tools to document with</a:t>
            </a:r>
            <a:endParaRPr lang="en-GB" dirty="0"/>
          </a:p>
        </p:txBody>
      </p:sp>
      <p:sp>
        <p:nvSpPr>
          <p:cNvPr id="5" name="Slide Number Placeholder 4">
            <a:extLst>
              <a:ext uri="{FF2B5EF4-FFF2-40B4-BE49-F238E27FC236}">
                <a16:creationId xmlns:a16="http://schemas.microsoft.com/office/drawing/2014/main" id="{33A2D88C-672A-DB51-6A6E-CF6DEAD6AE29}"/>
              </a:ext>
            </a:extLst>
          </p:cNvPr>
          <p:cNvSpPr>
            <a:spLocks noGrp="1"/>
          </p:cNvSpPr>
          <p:nvPr>
            <p:ph type="sldNum" sz="quarter" idx="12"/>
          </p:nvPr>
        </p:nvSpPr>
        <p:spPr>
          <a:prstGeom prst="rect">
            <a:avLst/>
          </a:prstGeom>
        </p:spPr>
        <p:txBody>
          <a:bodyPr/>
          <a:lstStyle/>
          <a:p>
            <a:fld id="{CC571AF6-6671-4538-974D-3AEC00AC0B82}" type="slidenum">
              <a:rPr lang="en-GB" smtClean="0"/>
              <a:t>16</a:t>
            </a:fld>
            <a:endParaRPr lang="en-GB"/>
          </a:p>
        </p:txBody>
      </p:sp>
      <p:sp>
        <p:nvSpPr>
          <p:cNvPr id="7" name="Rounded Rectangle 3">
            <a:extLst>
              <a:ext uri="{FF2B5EF4-FFF2-40B4-BE49-F238E27FC236}">
                <a16:creationId xmlns:a16="http://schemas.microsoft.com/office/drawing/2014/main" id="{49A913EB-4F6C-543F-F378-6C2BBF49A6E2}"/>
              </a:ext>
            </a:extLst>
          </p:cNvPr>
          <p:cNvSpPr/>
          <p:nvPr/>
        </p:nvSpPr>
        <p:spPr>
          <a:xfrm>
            <a:off x="8795157" y="1983420"/>
            <a:ext cx="3280104" cy="538438"/>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sz="1600" dirty="0">
                <a:solidFill>
                  <a:srgbClr val="005E77"/>
                </a:solidFill>
              </a:rPr>
              <a:t>Simple </a:t>
            </a:r>
            <a:r>
              <a:rPr lang="nl-BE" sz="1600" dirty="0">
                <a:solidFill>
                  <a:srgbClr val="005E77"/>
                </a:solidFill>
              </a:rPr>
              <a:t>Analysis </a:t>
            </a:r>
            <a:r>
              <a:rPr lang="en-US" sz="1600" dirty="0">
                <a:solidFill>
                  <a:srgbClr val="005E77"/>
                </a:solidFill>
              </a:rPr>
              <a:t>(</a:t>
            </a:r>
            <a:r>
              <a:rPr lang="en-US" sz="1600" dirty="0" err="1">
                <a:solidFill>
                  <a:srgbClr val="005E77"/>
                </a:solidFill>
              </a:rPr>
              <a:t>xls</a:t>
            </a:r>
            <a:r>
              <a:rPr lang="en-US" sz="1600" dirty="0">
                <a:solidFill>
                  <a:srgbClr val="005E77"/>
                </a:solidFill>
              </a:rPr>
              <a:t>, SPSS, …)</a:t>
            </a:r>
            <a:endParaRPr sz="1600" dirty="0">
              <a:solidFill>
                <a:srgbClr val="005E77"/>
              </a:solidFill>
            </a:endParaRPr>
          </a:p>
          <a:p>
            <a:r>
              <a:rPr lang="en-US" sz="1200" dirty="0">
                <a:solidFill>
                  <a:srgbClr val="005E77"/>
                </a:solidFill>
                <a:sym typeface="Wingdings" panose="05000000000000000000" pitchFamily="2" charset="2"/>
              </a:rPr>
              <a:t> </a:t>
            </a:r>
            <a:r>
              <a:rPr lang="en-US" sz="1200" dirty="0">
                <a:solidFill>
                  <a:srgbClr val="005E77"/>
                </a:solidFill>
              </a:rPr>
              <a:t>Consider same tool as collection</a:t>
            </a:r>
            <a:endParaRPr sz="1200" dirty="0">
              <a:solidFill>
                <a:srgbClr val="005E77"/>
              </a:solidFill>
            </a:endParaRPr>
          </a:p>
        </p:txBody>
      </p:sp>
      <p:sp>
        <p:nvSpPr>
          <p:cNvPr id="8" name="Rounded Rectangle 5">
            <a:extLst>
              <a:ext uri="{FF2B5EF4-FFF2-40B4-BE49-F238E27FC236}">
                <a16:creationId xmlns:a16="http://schemas.microsoft.com/office/drawing/2014/main" id="{FD4120BD-2678-BAA3-0504-1C4CC32AD3E0}"/>
              </a:ext>
            </a:extLst>
          </p:cNvPr>
          <p:cNvSpPr/>
          <p:nvPr/>
        </p:nvSpPr>
        <p:spPr>
          <a:xfrm>
            <a:off x="4593264" y="1317866"/>
            <a:ext cx="3089339" cy="2371632"/>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lang="nl-BE" sz="1600" dirty="0">
                <a:solidFill>
                  <a:srgbClr val="005E77"/>
                </a:solidFill>
              </a:rPr>
              <a:t>Moderate </a:t>
            </a:r>
            <a:r>
              <a:rPr lang="nl-BE" sz="1600" dirty="0" err="1">
                <a:solidFill>
                  <a:srgbClr val="005E77"/>
                </a:solidFill>
              </a:rPr>
              <a:t>to</a:t>
            </a:r>
            <a:r>
              <a:rPr lang="nl-BE" sz="1600" dirty="0">
                <a:solidFill>
                  <a:srgbClr val="005E77"/>
                </a:solidFill>
              </a:rPr>
              <a:t> </a:t>
            </a:r>
            <a:r>
              <a:rPr sz="1600" dirty="0">
                <a:solidFill>
                  <a:srgbClr val="005E77"/>
                </a:solidFill>
              </a:rPr>
              <a:t>Advanced</a:t>
            </a:r>
            <a:endParaRPr lang="en-US" sz="1600" dirty="0">
              <a:solidFill>
                <a:srgbClr val="005E77"/>
              </a:solidFill>
            </a:endParaRPr>
          </a:p>
          <a:p>
            <a:pPr>
              <a:defRPr sz="1200"/>
            </a:pPr>
            <a:r>
              <a:rPr lang="en-US" sz="1200" u="sng" dirty="0">
                <a:solidFill>
                  <a:srgbClr val="005E77"/>
                </a:solidFill>
              </a:rPr>
              <a:t>Minimal</a:t>
            </a:r>
            <a:r>
              <a:rPr lang="en-US" sz="1200" dirty="0">
                <a:solidFill>
                  <a:srgbClr val="005E77"/>
                </a:solidFill>
              </a:rPr>
              <a:t>:</a:t>
            </a:r>
          </a:p>
          <a:p>
            <a:pPr>
              <a:defRPr sz="1200"/>
            </a:pPr>
            <a:r>
              <a:rPr lang="en-US" sz="1200" dirty="0">
                <a:solidFill>
                  <a:srgbClr val="005E77"/>
                </a:solidFill>
                <a:hlinkClick r:id="rId3"/>
              </a:rPr>
              <a:t>Add code comments</a:t>
            </a:r>
            <a:endParaRPr lang="en-US" sz="1200" dirty="0">
              <a:solidFill>
                <a:srgbClr val="005E77"/>
              </a:solidFill>
            </a:endParaRPr>
          </a:p>
          <a:p>
            <a:pPr>
              <a:defRPr sz="1200"/>
            </a:pPr>
            <a:r>
              <a:rPr lang="en-US" sz="1200" dirty="0">
                <a:solidFill>
                  <a:srgbClr val="005E77"/>
                </a:solidFill>
                <a:hlinkClick r:id="rId4"/>
              </a:rPr>
              <a:t>Follow code style guide</a:t>
            </a:r>
            <a:br>
              <a:rPr lang="en-US" sz="1200" dirty="0">
                <a:solidFill>
                  <a:srgbClr val="005E77"/>
                </a:solidFill>
              </a:rPr>
            </a:br>
            <a:endParaRPr lang="en-US" sz="1200" dirty="0">
              <a:solidFill>
                <a:srgbClr val="005E77"/>
              </a:solidFill>
            </a:endParaRPr>
          </a:p>
          <a:p>
            <a:pPr>
              <a:defRPr sz="1200"/>
            </a:pPr>
            <a:r>
              <a:rPr lang="nl-BE" sz="1200" u="sng" dirty="0" err="1">
                <a:solidFill>
                  <a:srgbClr val="005E77"/>
                </a:solidFill>
              </a:rPr>
              <a:t>Valuable</a:t>
            </a:r>
            <a:r>
              <a:rPr lang="nl-BE" sz="1200" dirty="0">
                <a:solidFill>
                  <a:srgbClr val="005E77"/>
                </a:solidFill>
              </a:rPr>
              <a:t>:</a:t>
            </a:r>
          </a:p>
          <a:p>
            <a:pPr>
              <a:defRPr sz="1200"/>
            </a:pPr>
            <a:r>
              <a:rPr lang="en-US" sz="1200" dirty="0">
                <a:solidFill>
                  <a:srgbClr val="005E77"/>
                </a:solidFill>
              </a:rPr>
              <a:t>Use computational notebooks</a:t>
            </a:r>
            <a:br>
              <a:rPr lang="en-US" sz="1200" dirty="0">
                <a:solidFill>
                  <a:srgbClr val="005E77"/>
                </a:solidFill>
              </a:rPr>
            </a:br>
            <a:r>
              <a:rPr sz="1200" dirty="0">
                <a:solidFill>
                  <a:srgbClr val="005E77"/>
                </a:solidFill>
              </a:rPr>
              <a:t>Use Git for version control</a:t>
            </a:r>
            <a:r>
              <a:rPr lang="en-US" sz="1200" dirty="0">
                <a:solidFill>
                  <a:srgbClr val="005E77"/>
                </a:solidFill>
              </a:rPr>
              <a:t> </a:t>
            </a:r>
            <a:br>
              <a:rPr lang="en-US" sz="1200" dirty="0">
                <a:solidFill>
                  <a:srgbClr val="005E77"/>
                </a:solidFill>
              </a:rPr>
            </a:br>
            <a:r>
              <a:rPr lang="en-US" sz="1200" dirty="0">
                <a:solidFill>
                  <a:srgbClr val="005E77"/>
                </a:solidFill>
                <a:hlinkClick r:id="rId5"/>
              </a:rPr>
              <a:t>Use </a:t>
            </a:r>
            <a:r>
              <a:rPr lang="en-US" sz="1200" dirty="0" err="1">
                <a:solidFill>
                  <a:srgbClr val="005E77"/>
                </a:solidFill>
                <a:hlinkClick r:id="rId5"/>
              </a:rPr>
              <a:t>propper</a:t>
            </a:r>
            <a:r>
              <a:rPr lang="en-US" sz="1200" dirty="0">
                <a:solidFill>
                  <a:srgbClr val="005E77"/>
                </a:solidFill>
                <a:hlinkClick r:id="rId5"/>
              </a:rPr>
              <a:t> Git commit messages</a:t>
            </a:r>
            <a:br>
              <a:rPr sz="1200" dirty="0">
                <a:solidFill>
                  <a:srgbClr val="005E77"/>
                </a:solidFill>
              </a:rPr>
            </a:br>
            <a:r>
              <a:rPr lang="en-US" sz="1200" dirty="0">
                <a:solidFill>
                  <a:srgbClr val="005E77"/>
                </a:solidFill>
              </a:rPr>
              <a:t>Use containers for computational environment</a:t>
            </a:r>
            <a:br>
              <a:rPr sz="1600" dirty="0">
                <a:solidFill>
                  <a:srgbClr val="005E77"/>
                </a:solidFill>
              </a:rPr>
            </a:br>
            <a:endParaRPr sz="1600" dirty="0">
              <a:solidFill>
                <a:srgbClr val="005E77"/>
              </a:solidFill>
            </a:endParaRPr>
          </a:p>
        </p:txBody>
      </p:sp>
      <p:sp>
        <p:nvSpPr>
          <p:cNvPr id="9" name="Rounded Rectangle 3">
            <a:extLst>
              <a:ext uri="{FF2B5EF4-FFF2-40B4-BE49-F238E27FC236}">
                <a16:creationId xmlns:a16="http://schemas.microsoft.com/office/drawing/2014/main" id="{DADDF65A-BFA6-0CC7-7EB2-9F4A75C08CC6}"/>
              </a:ext>
            </a:extLst>
          </p:cNvPr>
          <p:cNvSpPr/>
          <p:nvPr/>
        </p:nvSpPr>
        <p:spPr>
          <a:xfrm>
            <a:off x="8024304" y="194456"/>
            <a:ext cx="2160000" cy="914400"/>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ctr"/>
          <a:lstStyle/>
          <a:p>
            <a:r>
              <a:rPr dirty="0">
                <a:solidFill>
                  <a:srgbClr val="005E77"/>
                </a:solidFill>
              </a:rPr>
              <a:t>Do you write code?</a:t>
            </a:r>
          </a:p>
        </p:txBody>
      </p:sp>
      <p:cxnSp>
        <p:nvCxnSpPr>
          <p:cNvPr id="25" name="Straight Arrow Connector 24">
            <a:extLst>
              <a:ext uri="{FF2B5EF4-FFF2-40B4-BE49-F238E27FC236}">
                <a16:creationId xmlns:a16="http://schemas.microsoft.com/office/drawing/2014/main" id="{5A97EA47-5DCF-DC26-624D-76092D7306BA}"/>
              </a:ext>
            </a:extLst>
          </p:cNvPr>
          <p:cNvCxnSpPr>
            <a:cxnSpLocks/>
          </p:cNvCxnSpPr>
          <p:nvPr/>
        </p:nvCxnSpPr>
        <p:spPr>
          <a:xfrm>
            <a:off x="9029808" y="1114438"/>
            <a:ext cx="1243623" cy="836445"/>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34C7A05-3595-3BFE-9562-8A508F960C80}"/>
              </a:ext>
            </a:extLst>
          </p:cNvPr>
          <p:cNvSpPr txBox="1"/>
          <p:nvPr/>
        </p:nvSpPr>
        <p:spPr>
          <a:xfrm>
            <a:off x="9691346" y="1223569"/>
            <a:ext cx="455574" cy="369332"/>
          </a:xfrm>
          <a:prstGeom prst="rect">
            <a:avLst/>
          </a:prstGeom>
          <a:noFill/>
        </p:spPr>
        <p:txBody>
          <a:bodyPr wrap="square" rtlCol="0">
            <a:spAutoFit/>
          </a:bodyPr>
          <a:lstStyle/>
          <a:p>
            <a:r>
              <a:rPr lang="en-US"/>
              <a:t>No</a:t>
            </a:r>
            <a:endParaRPr lang="nl-BE"/>
          </a:p>
        </p:txBody>
      </p:sp>
      <p:sp>
        <p:nvSpPr>
          <p:cNvPr id="27" name="TextBox 26">
            <a:extLst>
              <a:ext uri="{FF2B5EF4-FFF2-40B4-BE49-F238E27FC236}">
                <a16:creationId xmlns:a16="http://schemas.microsoft.com/office/drawing/2014/main" id="{1C166C33-E42D-7410-CDF8-FD701EF284F7}"/>
              </a:ext>
            </a:extLst>
          </p:cNvPr>
          <p:cNvSpPr txBox="1"/>
          <p:nvPr/>
        </p:nvSpPr>
        <p:spPr>
          <a:xfrm>
            <a:off x="7882752" y="1223569"/>
            <a:ext cx="485518" cy="369332"/>
          </a:xfrm>
          <a:prstGeom prst="rect">
            <a:avLst/>
          </a:prstGeom>
          <a:noFill/>
        </p:spPr>
        <p:txBody>
          <a:bodyPr wrap="square" rtlCol="0">
            <a:spAutoFit/>
          </a:bodyPr>
          <a:lstStyle/>
          <a:p>
            <a:r>
              <a:rPr lang="en-US"/>
              <a:t>Yes</a:t>
            </a:r>
            <a:endParaRPr lang="nl-BE"/>
          </a:p>
        </p:txBody>
      </p:sp>
      <p:cxnSp>
        <p:nvCxnSpPr>
          <p:cNvPr id="31" name="Straight Arrow Connector 30">
            <a:extLst>
              <a:ext uri="{FF2B5EF4-FFF2-40B4-BE49-F238E27FC236}">
                <a16:creationId xmlns:a16="http://schemas.microsoft.com/office/drawing/2014/main" id="{C2399D38-2B30-4DCC-5FE2-BE78D264E2E9}"/>
              </a:ext>
            </a:extLst>
          </p:cNvPr>
          <p:cNvCxnSpPr>
            <a:cxnSpLocks/>
          </p:cNvCxnSpPr>
          <p:nvPr/>
        </p:nvCxnSpPr>
        <p:spPr>
          <a:xfrm flipH="1">
            <a:off x="7732362" y="1127435"/>
            <a:ext cx="1297446" cy="842987"/>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ep 25">
            <a:extLst>
              <a:ext uri="{FF2B5EF4-FFF2-40B4-BE49-F238E27FC236}">
                <a16:creationId xmlns:a16="http://schemas.microsoft.com/office/drawing/2014/main" id="{2C865718-873F-6E41-A09D-CF6FCA1BEE37}"/>
              </a:ext>
            </a:extLst>
          </p:cNvPr>
          <p:cNvGrpSpPr/>
          <p:nvPr/>
        </p:nvGrpSpPr>
        <p:grpSpPr>
          <a:xfrm>
            <a:off x="600088" y="1302413"/>
            <a:ext cx="2440824" cy="1896004"/>
            <a:chOff x="8526291" y="1433384"/>
            <a:chExt cx="2495935" cy="1983955"/>
          </a:xfrm>
        </p:grpSpPr>
        <p:pic>
          <p:nvPicPr>
            <p:cNvPr id="16" name="Graphic 15" descr="Beeldscherm met effen opvulling">
              <a:extLst>
                <a:ext uri="{FF2B5EF4-FFF2-40B4-BE49-F238E27FC236}">
                  <a16:creationId xmlns:a16="http://schemas.microsoft.com/office/drawing/2014/main" id="{0BF84B96-9D5C-CC46-51C5-95EC352AD358}"/>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t="9792" b="10722"/>
            <a:stretch/>
          </p:blipFill>
          <p:spPr>
            <a:xfrm>
              <a:off x="8526291" y="1433384"/>
              <a:ext cx="2495935" cy="1983955"/>
            </a:xfrm>
            <a:prstGeom prst="rect">
              <a:avLst/>
            </a:prstGeom>
          </p:spPr>
        </p:pic>
        <p:pic>
          <p:nvPicPr>
            <p:cNvPr id="17" name="Graphic 16" descr="Spreidingsdiagram met effen opvulling">
              <a:extLst>
                <a:ext uri="{FF2B5EF4-FFF2-40B4-BE49-F238E27FC236}">
                  <a16:creationId xmlns:a16="http://schemas.microsoft.com/office/drawing/2014/main" id="{BB8203D3-E3E5-77B7-D2F6-4BBE757817F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23850" y="1622844"/>
              <a:ext cx="914400" cy="914400"/>
            </a:xfrm>
            <a:prstGeom prst="rect">
              <a:avLst/>
            </a:prstGeom>
          </p:spPr>
        </p:pic>
        <p:pic>
          <p:nvPicPr>
            <p:cNvPr id="18" name="Graphic 17" descr="Document met effen opvulling">
              <a:extLst>
                <a:ext uri="{FF2B5EF4-FFF2-40B4-BE49-F238E27FC236}">
                  <a16:creationId xmlns:a16="http://schemas.microsoft.com/office/drawing/2014/main" id="{C5D0CEC8-5AC3-D850-FCF0-C5F12778FE36}"/>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7475" t="45180" r="31273" b="14650"/>
            <a:stretch/>
          </p:blipFill>
          <p:spPr>
            <a:xfrm>
              <a:off x="8956127" y="1783304"/>
              <a:ext cx="686442" cy="668448"/>
            </a:xfrm>
            <a:prstGeom prst="rect">
              <a:avLst/>
            </a:prstGeom>
          </p:spPr>
        </p:pic>
        <p:pic>
          <p:nvPicPr>
            <p:cNvPr id="19" name="Graphic 18" descr="Kolf met effen opvulling">
              <a:extLst>
                <a:ext uri="{FF2B5EF4-FFF2-40B4-BE49-F238E27FC236}">
                  <a16:creationId xmlns:a16="http://schemas.microsoft.com/office/drawing/2014/main" id="{EF65E975-4D2E-AEF6-DB8F-9CF27055BB4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46054" y="1908621"/>
              <a:ext cx="914400" cy="914400"/>
            </a:xfrm>
            <a:prstGeom prst="rect">
              <a:avLst/>
            </a:prstGeom>
          </p:spPr>
        </p:pic>
        <p:pic>
          <p:nvPicPr>
            <p:cNvPr id="20" name="Graphic 19" descr="Maandkalender silhouet">
              <a:extLst>
                <a:ext uri="{FF2B5EF4-FFF2-40B4-BE49-F238E27FC236}">
                  <a16:creationId xmlns:a16="http://schemas.microsoft.com/office/drawing/2014/main" id="{D127A8F0-B480-22BC-90B2-531B75593CC5}"/>
                </a:ext>
              </a:extLst>
            </p:cNvPr>
            <p:cNvPicPr>
              <a:picLocks noChangeAspect="1"/>
            </p:cNvPicPr>
            <p:nvPr/>
          </p:nvPicPr>
          <p:blipFill rotWithShape="1">
            <a:blip r:embed="rId14">
              <a:extLst>
                <a:ext uri="{96DAC541-7B7A-43D3-8B79-37D633B846F1}">
                  <asvg:svgBlip xmlns:asvg="http://schemas.microsoft.com/office/drawing/2016/SVG/main" r:embed="rId15"/>
                </a:ext>
              </a:extLst>
            </a:blip>
            <a:srcRect l="21990" t="43474" r="44020" b="22205"/>
            <a:stretch/>
          </p:blipFill>
          <p:spPr>
            <a:xfrm>
              <a:off x="8994694" y="2321589"/>
              <a:ext cx="524567" cy="529666"/>
            </a:xfrm>
            <a:prstGeom prst="rect">
              <a:avLst/>
            </a:prstGeom>
          </p:spPr>
        </p:pic>
        <p:sp>
          <p:nvSpPr>
            <p:cNvPr id="21" name="Tekstvak 24">
              <a:extLst>
                <a:ext uri="{FF2B5EF4-FFF2-40B4-BE49-F238E27FC236}">
                  <a16:creationId xmlns:a16="http://schemas.microsoft.com/office/drawing/2014/main" id="{151748E9-E57C-99A9-DB5F-2FDA63382F69}"/>
                </a:ext>
              </a:extLst>
            </p:cNvPr>
            <p:cNvSpPr txBox="1"/>
            <p:nvPr/>
          </p:nvSpPr>
          <p:spPr>
            <a:xfrm>
              <a:off x="10029247" y="250170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C495C"/>
                  </a:solidFill>
                  <a:effectLst/>
                  <a:uLnTx/>
                  <a:uFillTx/>
                  <a:latin typeface="Arial" panose="020B0604020202020204" pitchFamily="34" charset="0"/>
                  <a:ea typeface="+mn-ea"/>
                  <a:cs typeface="Arial" panose="020B0604020202020204" pitchFamily="34" charset="0"/>
                </a:rPr>
                <a:t>ELN</a:t>
              </a:r>
            </a:p>
          </p:txBody>
        </p:sp>
      </p:grpSp>
      <p:grpSp>
        <p:nvGrpSpPr>
          <p:cNvPr id="6" name="Group 5">
            <a:extLst>
              <a:ext uri="{FF2B5EF4-FFF2-40B4-BE49-F238E27FC236}">
                <a16:creationId xmlns:a16="http://schemas.microsoft.com/office/drawing/2014/main" id="{DD230881-A382-4D0B-6FEF-55A21AE4B3CC}"/>
              </a:ext>
            </a:extLst>
          </p:cNvPr>
          <p:cNvGrpSpPr/>
          <p:nvPr/>
        </p:nvGrpSpPr>
        <p:grpSpPr>
          <a:xfrm>
            <a:off x="575400" y="4233421"/>
            <a:ext cx="11041200" cy="1676293"/>
            <a:chOff x="575400" y="3983361"/>
            <a:chExt cx="11041200" cy="1676293"/>
          </a:xfrm>
        </p:grpSpPr>
        <p:sp>
          <p:nvSpPr>
            <p:cNvPr id="10" name="Content Placeholder 2">
              <a:extLst>
                <a:ext uri="{FF2B5EF4-FFF2-40B4-BE49-F238E27FC236}">
                  <a16:creationId xmlns:a16="http://schemas.microsoft.com/office/drawing/2014/main" id="{AA29003A-E97A-2974-B6EE-C930D4F7D730}"/>
                </a:ext>
              </a:extLst>
            </p:cNvPr>
            <p:cNvSpPr txBox="1">
              <a:spLocks/>
            </p:cNvSpPr>
            <p:nvPr/>
          </p:nvSpPr>
          <p:spPr>
            <a:xfrm>
              <a:off x="575400" y="4069611"/>
              <a:ext cx="11041200" cy="1590043"/>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a:buChar char="•"/>
                <a:defRPr sz="20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16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4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4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778125" marR="0" lvl="0" indent="-228600" algn="l" defTabSz="914400" rtl="0" eaLnBrk="1" fontAlgn="auto" latinLnBrk="0" hangingPunct="1">
                <a:lnSpc>
                  <a:spcPct val="90000"/>
                </a:lnSpc>
                <a:spcBef>
                  <a:spcPts val="1000"/>
                </a:spcBef>
                <a:spcAft>
                  <a:spcPts val="0"/>
                </a:spcAft>
                <a:buClrTx/>
                <a:buSzTx/>
                <a:buFont typeface="Arial"/>
                <a:buNone/>
                <a:tabLst/>
                <a:defRPr/>
              </a:pPr>
              <a:r>
                <a:rPr kumimoji="0" lang="en-GB" sz="2000" b="0" i="0" u="none" strike="noStrike" kern="1200" cap="none" spc="0" normalizeH="0" baseline="0" noProof="0" dirty="0">
                  <a:ln>
                    <a:noFill/>
                  </a:ln>
                  <a:solidFill>
                    <a:srgbClr val="005E77"/>
                  </a:solidFill>
                  <a:effectLst/>
                  <a:uLnTx/>
                  <a:uFillTx/>
                  <a:latin typeface="Arial" panose="020B0604020202020204" pitchFamily="34" charset="0"/>
                  <a:ea typeface="+mn-ea"/>
                  <a:cs typeface="Arial" panose="020B0604020202020204" pitchFamily="34" charset="0"/>
                </a:rPr>
                <a:t>= information about data</a:t>
              </a:r>
            </a:p>
            <a:p>
              <a:pPr marL="2778125"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5E77"/>
                  </a:solidFill>
                  <a:effectLst/>
                  <a:uLnTx/>
                  <a:uFillTx/>
                  <a:latin typeface="Arial" panose="020B0604020202020204" pitchFamily="34" charset="0"/>
                  <a:ea typeface="+mn-ea"/>
                  <a:cs typeface="Arial" panose="020B0604020202020204" pitchFamily="34" charset="0"/>
                </a:rPr>
                <a:t>(Semi) structured information on data</a:t>
              </a:r>
            </a:p>
            <a:p>
              <a:pPr marL="2778125"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5E77"/>
                  </a:solidFill>
                  <a:effectLst/>
                  <a:uLnTx/>
                  <a:uFillTx/>
                  <a:latin typeface="Arial" panose="020B0604020202020204" pitchFamily="34" charset="0"/>
                  <a:ea typeface="+mn-ea"/>
                  <a:cs typeface="Arial" panose="020B0604020202020204" pitchFamily="34" charset="0"/>
                </a:rPr>
                <a:t>Machine readable (preferably)</a:t>
              </a:r>
            </a:p>
            <a:p>
              <a:pPr marL="2778125"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srgbClr val="005E77"/>
                  </a:solidFill>
                  <a:effectLst/>
                  <a:uLnTx/>
                  <a:uFillTx/>
                  <a:latin typeface="Arial" panose="020B0604020202020204" pitchFamily="34" charset="0"/>
                  <a:ea typeface="+mn-ea"/>
                  <a:cs typeface="Arial" panose="020B0604020202020204" pitchFamily="34" charset="0"/>
                </a:rPr>
                <a:t>Standardised</a:t>
              </a:r>
              <a:r>
                <a:rPr kumimoji="0" lang="en-US" sz="2000" b="0" i="0" u="none" strike="noStrike" kern="1200" cap="none" spc="0" normalizeH="0" baseline="0" noProof="0" dirty="0">
                  <a:ln>
                    <a:noFill/>
                  </a:ln>
                  <a:solidFill>
                    <a:srgbClr val="005E77"/>
                  </a:solidFill>
                  <a:effectLst/>
                  <a:uLnTx/>
                  <a:uFillTx/>
                  <a:latin typeface="Arial" panose="020B0604020202020204" pitchFamily="34" charset="0"/>
                  <a:ea typeface="+mn-ea"/>
                  <a:cs typeface="Arial" panose="020B0604020202020204" pitchFamily="34" charset="0"/>
                </a:rPr>
                <a:t>: easily combine, compare, map with other data</a:t>
              </a:r>
            </a:p>
            <a:p>
              <a:pPr marL="0" marR="0" lvl="0" indent="0" algn="l" defTabSz="914400" rtl="0" eaLnBrk="1" fontAlgn="auto" latinLnBrk="0" hangingPunct="1">
                <a:lnSpc>
                  <a:spcPct val="90000"/>
                </a:lnSpc>
                <a:spcBef>
                  <a:spcPts val="1000"/>
                </a:spcBef>
                <a:spcAft>
                  <a:spcPts val="0"/>
                </a:spcAft>
                <a:buClrTx/>
                <a:buSzTx/>
                <a:buFont typeface="Arial"/>
                <a:buNone/>
                <a:tabLst/>
                <a:defRPr/>
              </a:pPr>
              <a:endParaRPr kumimoji="0" lang="nl-BE" sz="2000" b="0" i="0" u="none" strike="noStrike" kern="1200" cap="none" spc="0" normalizeH="0" baseline="0" noProof="0" dirty="0">
                <a:ln>
                  <a:noFill/>
                </a:ln>
                <a:solidFill>
                  <a:srgbClr val="005E77"/>
                </a:solidFill>
                <a:effectLst/>
                <a:uLnTx/>
                <a:uFillTx/>
                <a:latin typeface="Arial" charset="0"/>
                <a:ea typeface="+mn-ea"/>
                <a:cs typeface="+mn-cs"/>
              </a:endParaRPr>
            </a:p>
          </p:txBody>
        </p:sp>
        <p:pic>
          <p:nvPicPr>
            <p:cNvPr id="22" name="Graphic 21" descr="Tandwielen met effen opvulling">
              <a:extLst>
                <a:ext uri="{FF2B5EF4-FFF2-40B4-BE49-F238E27FC236}">
                  <a16:creationId xmlns:a16="http://schemas.microsoft.com/office/drawing/2014/main" id="{1702E162-8DDC-DD05-7491-06C0AB03D8C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1224000" y="3983361"/>
              <a:ext cx="1107874" cy="1063510"/>
            </a:xfrm>
            <a:prstGeom prst="rect">
              <a:avLst/>
            </a:prstGeom>
          </p:spPr>
        </p:pic>
        <p:sp>
          <p:nvSpPr>
            <p:cNvPr id="23" name="Tekstvak 2">
              <a:extLst>
                <a:ext uri="{FF2B5EF4-FFF2-40B4-BE49-F238E27FC236}">
                  <a16:creationId xmlns:a16="http://schemas.microsoft.com/office/drawing/2014/main" id="{ECACE204-08C2-FEE7-7D5D-616855596F5A}"/>
                </a:ext>
              </a:extLst>
            </p:cNvPr>
            <p:cNvSpPr txBox="1"/>
            <p:nvPr/>
          </p:nvSpPr>
          <p:spPr>
            <a:xfrm>
              <a:off x="715605" y="4957431"/>
              <a:ext cx="209275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a:ln>
                    <a:noFill/>
                  </a:ln>
                  <a:solidFill>
                    <a:srgbClr val="005E77"/>
                  </a:solidFill>
                  <a:effectLst/>
                  <a:uLnTx/>
                  <a:uFillTx/>
                  <a:latin typeface="Arial" panose="020B0604020202020204" pitchFamily="34" charset="0"/>
                  <a:ea typeface="+mn-ea"/>
                  <a:cs typeface="Arial" panose="020B0604020202020204" pitchFamily="34" charset="0"/>
                </a:rPr>
                <a:t>Metadata</a:t>
              </a:r>
            </a:p>
          </p:txBody>
        </p:sp>
      </p:grpSp>
    </p:spTree>
    <p:extLst>
      <p:ext uri="{BB962C8B-B14F-4D97-AF65-F5344CB8AC3E}">
        <p14:creationId xmlns:p14="http://schemas.microsoft.com/office/powerpoint/2010/main" val="442143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69F05-AAAE-CC0F-0B3C-11D8F0CC194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433AAE-7DD9-5208-8F3A-23C458703C89}"/>
              </a:ext>
            </a:extLst>
          </p:cNvPr>
          <p:cNvSpPr>
            <a:spLocks noGrp="1"/>
          </p:cNvSpPr>
          <p:nvPr>
            <p:ph idx="1"/>
          </p:nvPr>
        </p:nvSpPr>
        <p:spPr>
          <a:xfrm>
            <a:off x="576000" y="2045563"/>
            <a:ext cx="5699672" cy="3938548"/>
          </a:xfrm>
        </p:spPr>
        <p:txBody>
          <a:bodyPr/>
          <a:lstStyle/>
          <a:p>
            <a:pPr marL="0" indent="0">
              <a:buNone/>
            </a:pPr>
            <a:r>
              <a:rPr lang="en-US" b="1" u="sng">
                <a:latin typeface="Arial"/>
                <a:cs typeface="Arial"/>
              </a:rPr>
              <a:t>What?</a:t>
            </a:r>
            <a:endParaRPr lang="en-US" b="1" u="sng">
              <a:latin typeface="Arial" panose="020B0604020202020204" pitchFamily="34" charset="0"/>
              <a:cs typeface="Arial" panose="020B0604020202020204" pitchFamily="34" charset="0"/>
            </a:endParaRPr>
          </a:p>
          <a:p>
            <a:pPr lvl="1">
              <a:buFont typeface="Arial" panose="020B0604020202020204" pitchFamily="34" charset="0"/>
              <a:buChar char="–"/>
            </a:pPr>
            <a:r>
              <a:rPr lang="en-US" sz="1600">
                <a:latin typeface="Arial"/>
                <a:cs typeface="Arial"/>
              </a:rPr>
              <a:t>Materials &amp; methods</a:t>
            </a:r>
          </a:p>
          <a:p>
            <a:pPr lvl="1">
              <a:buFont typeface="Arial" panose="020B0604020202020204" pitchFamily="34" charset="0"/>
              <a:buChar char="–"/>
            </a:pPr>
            <a:r>
              <a:rPr lang="en-US" sz="1600">
                <a:latin typeface="Arial"/>
                <a:cs typeface="Arial"/>
              </a:rPr>
              <a:t>Sample/Patient/Participant ID</a:t>
            </a:r>
          </a:p>
        </p:txBody>
      </p:sp>
      <p:sp>
        <p:nvSpPr>
          <p:cNvPr id="2" name="Title 1">
            <a:extLst>
              <a:ext uri="{FF2B5EF4-FFF2-40B4-BE49-F238E27FC236}">
                <a16:creationId xmlns:a16="http://schemas.microsoft.com/office/drawing/2014/main" id="{6D458723-8450-E5FC-8210-BA5CA7D24CD0}"/>
              </a:ext>
            </a:extLst>
          </p:cNvPr>
          <p:cNvSpPr>
            <a:spLocks noGrp="1"/>
          </p:cNvSpPr>
          <p:nvPr>
            <p:ph type="title"/>
          </p:nvPr>
        </p:nvSpPr>
        <p:spPr/>
        <p:txBody>
          <a:bodyPr/>
          <a:lstStyle/>
          <a:p>
            <a:r>
              <a:rPr lang="en-US"/>
              <a:t>Metadata</a:t>
            </a:r>
            <a:endParaRPr lang="nl-BE"/>
          </a:p>
        </p:txBody>
      </p:sp>
      <p:sp>
        <p:nvSpPr>
          <p:cNvPr id="4" name="Slide Number Placeholder 3">
            <a:extLst>
              <a:ext uri="{FF2B5EF4-FFF2-40B4-BE49-F238E27FC236}">
                <a16:creationId xmlns:a16="http://schemas.microsoft.com/office/drawing/2014/main" id="{13569F64-33F9-6ED3-08CB-2EE1925EC9B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5114D95-D6A6-084A-9D9C-617B45E258AD}" type="slidenum">
              <a:rPr kumimoji="0" lang="nl-NL" sz="1200" b="0" i="0" u="none" strike="noStrike" kern="1200" cap="none" spc="0" normalizeH="0" baseline="0" noProof="0" smtClean="0">
                <a:ln>
                  <a:noFill/>
                </a:ln>
                <a:solidFill>
                  <a:prstClr val="white"/>
                </a:solidFill>
                <a:effectLst/>
                <a:uLnTx/>
                <a:uFillTx/>
                <a:latin typeface="Arial"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white"/>
              </a:solidFill>
              <a:effectLst/>
              <a:uLnTx/>
              <a:uFillTx/>
              <a:latin typeface="Arial" charset="0"/>
              <a:ea typeface="+mn-ea"/>
              <a:cs typeface="+mn-cs"/>
            </a:endParaRPr>
          </a:p>
        </p:txBody>
      </p:sp>
      <p:pic>
        <p:nvPicPr>
          <p:cNvPr id="29" name="Picture 28">
            <a:extLst>
              <a:ext uri="{FF2B5EF4-FFF2-40B4-BE49-F238E27FC236}">
                <a16:creationId xmlns:a16="http://schemas.microsoft.com/office/drawing/2014/main" id="{1DD6CF8F-F133-6484-E364-496CA6915C4A}"/>
              </a:ext>
            </a:extLst>
          </p:cNvPr>
          <p:cNvPicPr>
            <a:picLocks noChangeAspect="1"/>
          </p:cNvPicPr>
          <p:nvPr/>
        </p:nvPicPr>
        <p:blipFill>
          <a:blip r:embed="rId4"/>
          <a:stretch>
            <a:fillRect/>
          </a:stretch>
        </p:blipFill>
        <p:spPr>
          <a:xfrm>
            <a:off x="212756" y="1778001"/>
            <a:ext cx="5920650" cy="3947100"/>
          </a:xfrm>
          <a:prstGeom prst="rect">
            <a:avLst/>
          </a:prstGeom>
        </p:spPr>
      </p:pic>
      <p:pic>
        <p:nvPicPr>
          <p:cNvPr id="34" name="Picture 33">
            <a:extLst>
              <a:ext uri="{FF2B5EF4-FFF2-40B4-BE49-F238E27FC236}">
                <a16:creationId xmlns:a16="http://schemas.microsoft.com/office/drawing/2014/main" id="{B27995A9-5771-DED2-BF8E-7FCA38CA7C3A}"/>
              </a:ext>
            </a:extLst>
          </p:cNvPr>
          <p:cNvPicPr>
            <a:picLocks noChangeAspect="1"/>
          </p:cNvPicPr>
          <p:nvPr/>
        </p:nvPicPr>
        <p:blipFill>
          <a:blip r:embed="rId5"/>
          <a:stretch>
            <a:fillRect/>
          </a:stretch>
        </p:blipFill>
        <p:spPr>
          <a:xfrm>
            <a:off x="7707722" y="2406504"/>
            <a:ext cx="5753599" cy="2690093"/>
          </a:xfrm>
          <a:prstGeom prst="rect">
            <a:avLst/>
          </a:prstGeom>
        </p:spPr>
      </p:pic>
      <p:cxnSp>
        <p:nvCxnSpPr>
          <p:cNvPr id="36" name="Straight Arrow Connector 35">
            <a:extLst>
              <a:ext uri="{FF2B5EF4-FFF2-40B4-BE49-F238E27FC236}">
                <a16:creationId xmlns:a16="http://schemas.microsoft.com/office/drawing/2014/main" id="{D8D584AA-B55D-B81F-0501-14DC8B668B70}"/>
              </a:ext>
            </a:extLst>
          </p:cNvPr>
          <p:cNvCxnSpPr/>
          <p:nvPr/>
        </p:nvCxnSpPr>
        <p:spPr>
          <a:xfrm>
            <a:off x="6352674" y="3751550"/>
            <a:ext cx="1116530" cy="0"/>
          </a:xfrm>
          <a:prstGeom prst="straightConnector1">
            <a:avLst/>
          </a:prstGeom>
          <a:ln>
            <a:solidFill>
              <a:srgbClr val="1D8DB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5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C8895-EA21-B34D-3A15-46328055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70C8F-DCBA-7DE3-1DB6-B1689A36CAC7}"/>
              </a:ext>
            </a:extLst>
          </p:cNvPr>
          <p:cNvSpPr>
            <a:spLocks noGrp="1"/>
          </p:cNvSpPr>
          <p:nvPr>
            <p:ph type="title"/>
          </p:nvPr>
        </p:nvSpPr>
        <p:spPr/>
        <p:txBody>
          <a:bodyPr/>
          <a:lstStyle/>
          <a:p>
            <a:r>
              <a:rPr lang="en-US" dirty="0"/>
              <a:t>Metadata</a:t>
            </a:r>
            <a:endParaRPr lang="nl-BE" dirty="0"/>
          </a:p>
        </p:txBody>
      </p:sp>
      <p:sp>
        <p:nvSpPr>
          <p:cNvPr id="4" name="Slide Number Placeholder 3">
            <a:extLst>
              <a:ext uri="{FF2B5EF4-FFF2-40B4-BE49-F238E27FC236}">
                <a16:creationId xmlns:a16="http://schemas.microsoft.com/office/drawing/2014/main" id="{A93AD9DD-9064-FC45-08F4-C2520FAB0C0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5114D95-D6A6-084A-9D9C-617B45E258AD}" type="slidenum">
              <a:rPr kumimoji="0" lang="nl-NL" sz="1200" b="0" i="0" u="none" strike="noStrike" kern="1200" cap="none" spc="0" normalizeH="0" baseline="0" noProof="0" smtClean="0">
                <a:ln>
                  <a:noFill/>
                </a:ln>
                <a:solidFill>
                  <a:prstClr val="white"/>
                </a:solidFill>
                <a:effectLst/>
                <a:uLnTx/>
                <a:uFillTx/>
                <a:latin typeface="Arial"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white"/>
              </a:solidFill>
              <a:effectLst/>
              <a:uLnTx/>
              <a:uFillTx/>
              <a:latin typeface="Arial" charset="0"/>
              <a:ea typeface="+mn-ea"/>
              <a:cs typeface="+mn-cs"/>
            </a:endParaRPr>
          </a:p>
        </p:txBody>
      </p:sp>
      <p:pic>
        <p:nvPicPr>
          <p:cNvPr id="25" name="Picture 24">
            <a:extLst>
              <a:ext uri="{FF2B5EF4-FFF2-40B4-BE49-F238E27FC236}">
                <a16:creationId xmlns:a16="http://schemas.microsoft.com/office/drawing/2014/main" id="{3422A4D0-2FD7-B749-23AC-F3BF324499C0}"/>
              </a:ext>
            </a:extLst>
          </p:cNvPr>
          <p:cNvPicPr>
            <a:picLocks noChangeAspect="1"/>
          </p:cNvPicPr>
          <p:nvPr/>
        </p:nvPicPr>
        <p:blipFill>
          <a:blip r:embed="rId2"/>
          <a:stretch>
            <a:fillRect/>
          </a:stretch>
        </p:blipFill>
        <p:spPr>
          <a:xfrm>
            <a:off x="6096000" y="2360881"/>
            <a:ext cx="4130398" cy="1447925"/>
          </a:xfrm>
          <a:prstGeom prst="rect">
            <a:avLst/>
          </a:prstGeom>
        </p:spPr>
      </p:pic>
      <p:pic>
        <p:nvPicPr>
          <p:cNvPr id="29" name="Picture 6" descr="Premium AI Image | Cartoon illustration of a microscope">
            <a:extLst>
              <a:ext uri="{FF2B5EF4-FFF2-40B4-BE49-F238E27FC236}">
                <a16:creationId xmlns:a16="http://schemas.microsoft.com/office/drawing/2014/main" id="{0627BDF7-D745-0BF5-D06B-542F553F5F6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1700" l="10000" r="90000">
                        <a14:foregroundMark x1="57250" y1="10100" x2="64550" y2="11050"/>
                        <a14:foregroundMark x1="47750" y1="44300" x2="50300" y2="52500"/>
                        <a14:foregroundMark x1="47750" y1="43350" x2="46200" y2="45250"/>
                        <a14:foregroundMark x1="46800" y1="46200" x2="46800" y2="50300"/>
                        <a14:foregroundMark x1="46500" y1="60450" x2="46200" y2="67100"/>
                        <a14:foregroundMark x1="64200" y1="89850" x2="38600" y2="89850"/>
                        <a14:foregroundMark x1="37000" y1="89850" x2="59400" y2="91700"/>
                        <a14:foregroundMark x1="59400" y1="91700" x2="68650" y2="85100"/>
                      </a14:backgroundRemoval>
                    </a14:imgEffect>
                  </a14:imgLayer>
                </a14:imgProps>
              </a:ext>
              <a:ext uri="{28A0092B-C50C-407E-A947-70E740481C1C}">
                <a14:useLocalDpi xmlns:a14="http://schemas.microsoft.com/office/drawing/2010/main" val="0"/>
              </a:ext>
            </a:extLst>
          </a:blip>
          <a:srcRect/>
          <a:stretch>
            <a:fillRect/>
          </a:stretch>
        </p:blipFill>
        <p:spPr bwMode="auto">
          <a:xfrm>
            <a:off x="799516" y="1321015"/>
            <a:ext cx="3281041" cy="3281041"/>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Arrow Connector 29">
            <a:extLst>
              <a:ext uri="{FF2B5EF4-FFF2-40B4-BE49-F238E27FC236}">
                <a16:creationId xmlns:a16="http://schemas.microsoft.com/office/drawing/2014/main" id="{0DE50DC8-E893-8AD1-B0E8-E87006BF155C}"/>
              </a:ext>
            </a:extLst>
          </p:cNvPr>
          <p:cNvCxnSpPr>
            <a:cxnSpLocks/>
          </p:cNvCxnSpPr>
          <p:nvPr/>
        </p:nvCxnSpPr>
        <p:spPr>
          <a:xfrm flipV="1">
            <a:off x="3660809" y="3084843"/>
            <a:ext cx="1775860" cy="1"/>
          </a:xfrm>
          <a:prstGeom prst="straightConnector1">
            <a:avLst/>
          </a:prstGeom>
          <a:ln>
            <a:solidFill>
              <a:srgbClr val="1D8DB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96ED56B-68AD-A217-6EB7-4656415001AE}"/>
              </a:ext>
            </a:extLst>
          </p:cNvPr>
          <p:cNvSpPr txBox="1"/>
          <p:nvPr/>
        </p:nvSpPr>
        <p:spPr>
          <a:xfrm>
            <a:off x="3677803" y="3316532"/>
            <a:ext cx="1741871"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rPr>
              <a:t>Parameters </a:t>
            </a:r>
            <a:br>
              <a:rPr kumimoji="0" lang="en-US"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rPr>
            </a:br>
            <a:r>
              <a:rPr kumimoji="0" lang="en-US"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rPr>
              <a:t>=</a:t>
            </a:r>
            <a:br>
              <a:rPr kumimoji="0" lang="en-US"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rPr>
            </a:br>
            <a:r>
              <a:rPr kumimoji="0" lang="en-US"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rPr>
              <a:t>metadata.xml</a:t>
            </a:r>
            <a:endParaRPr kumimoji="0" lang="nl-BE" sz="1800" b="0" i="0" u="none" strike="noStrike" kern="1200" cap="none" spc="0" normalizeH="0" baseline="0" noProof="0">
              <a:ln>
                <a:noFill/>
              </a:ln>
              <a:solidFill>
                <a:srgbClr val="005E77"/>
              </a:solidFill>
              <a:effectLst/>
              <a:uLnTx/>
              <a:uFillTx/>
              <a:latin typeface="Consolas" panose="020B0609020204030204" pitchFamily="49" charset="0"/>
              <a:ea typeface="+mn-ea"/>
              <a:cs typeface="+mn-cs"/>
            </a:endParaRPr>
          </a:p>
        </p:txBody>
      </p:sp>
      <p:pic>
        <p:nvPicPr>
          <p:cNvPr id="27" name="Picture 26">
            <a:extLst>
              <a:ext uri="{FF2B5EF4-FFF2-40B4-BE49-F238E27FC236}">
                <a16:creationId xmlns:a16="http://schemas.microsoft.com/office/drawing/2014/main" id="{12A4A6DB-4BEB-263A-70EC-BA90FA32413C}"/>
              </a:ext>
            </a:extLst>
          </p:cNvPr>
          <p:cNvPicPr>
            <a:picLocks noChangeAspect="1"/>
          </p:cNvPicPr>
          <p:nvPr/>
        </p:nvPicPr>
        <p:blipFill>
          <a:blip r:embed="rId5"/>
          <a:stretch>
            <a:fillRect/>
          </a:stretch>
        </p:blipFill>
        <p:spPr>
          <a:xfrm>
            <a:off x="8058352" y="4480146"/>
            <a:ext cx="3558848" cy="952583"/>
          </a:xfrm>
          <a:prstGeom prst="rect">
            <a:avLst/>
          </a:prstGeom>
        </p:spPr>
      </p:pic>
      <p:sp>
        <p:nvSpPr>
          <p:cNvPr id="28" name="TextBox 27">
            <a:extLst>
              <a:ext uri="{FF2B5EF4-FFF2-40B4-BE49-F238E27FC236}">
                <a16:creationId xmlns:a16="http://schemas.microsoft.com/office/drawing/2014/main" id="{544ECCC2-0AD5-4D4D-8A21-C410A1F65A6E}"/>
              </a:ext>
            </a:extLst>
          </p:cNvPr>
          <p:cNvSpPr txBox="1"/>
          <p:nvPr/>
        </p:nvSpPr>
        <p:spPr>
          <a:xfrm>
            <a:off x="8057153" y="5406723"/>
            <a:ext cx="3558847" cy="646331"/>
          </a:xfrm>
          <a:prstGeom prst="rect">
            <a:avLst/>
          </a:prstGeom>
          <a:noFill/>
        </p:spPr>
        <p:txBody>
          <a:bodyPr wrap="square" rtlCol="0">
            <a:spAutoFit/>
          </a:bodyPr>
          <a:lstStyle/>
          <a:p>
            <a:r>
              <a:rPr lang="en-US" dirty="0">
                <a:solidFill>
                  <a:srgbClr val="005E77"/>
                </a:solidFill>
                <a:latin typeface="Arial" panose="020B0604020202020204" pitchFamily="34" charset="0"/>
                <a:cs typeface="Arial" panose="020B0604020202020204" pitchFamily="34" charset="0"/>
              </a:rPr>
              <a:t>For more information about metadata standards </a:t>
            </a:r>
            <a:endParaRPr lang="nl-BE" dirty="0">
              <a:solidFill>
                <a:srgbClr val="005E7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369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2FDF-1B6B-48F6-4042-4310A34ED4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0364EE-B071-9E2E-93A5-6AEAC7875C2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5114D95-D6A6-084A-9D9C-617B45E258AD}" type="slidenum">
              <a:rPr kumimoji="0" lang="nl-NL" sz="1200" b="0" i="0" u="none" strike="noStrike" kern="1200" cap="none" spc="0" normalizeH="0" baseline="0" noProof="0" smtClean="0">
                <a:ln>
                  <a:noFill/>
                </a:ln>
                <a:solidFill>
                  <a:prstClr val="white"/>
                </a:solidFill>
                <a:effectLst/>
                <a:uLnTx/>
                <a:uFillTx/>
                <a:latin typeface="Arial"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nl-NL" sz="1200" b="0" i="0" u="none" strike="noStrike" kern="1200" cap="none" spc="0" normalizeH="0" baseline="0" noProof="0">
              <a:ln>
                <a:noFill/>
              </a:ln>
              <a:solidFill>
                <a:prstClr val="white"/>
              </a:solidFill>
              <a:effectLst/>
              <a:uLnTx/>
              <a:uFillTx/>
              <a:latin typeface="Arial" charset="0"/>
              <a:ea typeface="+mn-ea"/>
              <a:cs typeface="+mn-cs"/>
            </a:endParaRPr>
          </a:p>
        </p:txBody>
      </p:sp>
      <p:pic>
        <p:nvPicPr>
          <p:cNvPr id="25" name="Picture 24">
            <a:extLst>
              <a:ext uri="{FF2B5EF4-FFF2-40B4-BE49-F238E27FC236}">
                <a16:creationId xmlns:a16="http://schemas.microsoft.com/office/drawing/2014/main" id="{0AB8E8DA-2EF8-FE8A-A668-5E1A7A892C61}"/>
              </a:ext>
            </a:extLst>
          </p:cNvPr>
          <p:cNvPicPr>
            <a:picLocks noChangeAspect="1"/>
          </p:cNvPicPr>
          <p:nvPr/>
        </p:nvPicPr>
        <p:blipFill>
          <a:blip r:embed="rId2"/>
          <a:stretch>
            <a:fillRect/>
          </a:stretch>
        </p:blipFill>
        <p:spPr>
          <a:xfrm>
            <a:off x="6096000" y="4516346"/>
            <a:ext cx="3564784" cy="1249647"/>
          </a:xfrm>
          <a:prstGeom prst="rect">
            <a:avLst/>
          </a:prstGeom>
        </p:spPr>
      </p:pic>
      <p:pic>
        <p:nvPicPr>
          <p:cNvPr id="29" name="Picture 6" descr="Premium AI Image | Cartoon illustration of a microscope">
            <a:extLst>
              <a:ext uri="{FF2B5EF4-FFF2-40B4-BE49-F238E27FC236}">
                <a16:creationId xmlns:a16="http://schemas.microsoft.com/office/drawing/2014/main" id="{223C1E4C-61C9-B8E5-69EC-266D5944F6D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1700" l="10000" r="90000">
                        <a14:foregroundMark x1="57250" y1="10100" x2="64550" y2="11050"/>
                        <a14:foregroundMark x1="47750" y1="44300" x2="50300" y2="52500"/>
                        <a14:foregroundMark x1="47750" y1="43350" x2="46200" y2="45250"/>
                        <a14:foregroundMark x1="46800" y1="46200" x2="46800" y2="50300"/>
                        <a14:foregroundMark x1="46500" y1="60450" x2="46200" y2="67100"/>
                        <a14:foregroundMark x1="64200" y1="89850" x2="38600" y2="89850"/>
                        <a14:foregroundMark x1="37000" y1="89850" x2="59400" y2="91700"/>
                        <a14:foregroundMark x1="59400" y1="91700" x2="68650" y2="85100"/>
                      </a14:backgroundRemoval>
                    </a14:imgEffect>
                  </a14:imgLayer>
                </a14:imgProps>
              </a:ext>
              <a:ext uri="{28A0092B-C50C-407E-A947-70E740481C1C}">
                <a14:useLocalDpi xmlns:a14="http://schemas.microsoft.com/office/drawing/2010/main" val="0"/>
              </a:ext>
            </a:extLst>
          </a:blip>
          <a:srcRect/>
          <a:stretch>
            <a:fillRect/>
          </a:stretch>
        </p:blipFill>
        <p:spPr bwMode="auto">
          <a:xfrm>
            <a:off x="1248820" y="3429000"/>
            <a:ext cx="2831737" cy="2831737"/>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Arrow Connector 29">
            <a:extLst>
              <a:ext uri="{FF2B5EF4-FFF2-40B4-BE49-F238E27FC236}">
                <a16:creationId xmlns:a16="http://schemas.microsoft.com/office/drawing/2014/main" id="{765A4B3A-A899-6DFC-046B-C9A4C45A2680}"/>
              </a:ext>
            </a:extLst>
          </p:cNvPr>
          <p:cNvCxnSpPr>
            <a:cxnSpLocks/>
          </p:cNvCxnSpPr>
          <p:nvPr/>
        </p:nvCxnSpPr>
        <p:spPr>
          <a:xfrm>
            <a:off x="4254724" y="4743524"/>
            <a:ext cx="1181945" cy="0"/>
          </a:xfrm>
          <a:prstGeom prst="straightConnector1">
            <a:avLst/>
          </a:prstGeom>
          <a:ln>
            <a:solidFill>
              <a:srgbClr val="1D8DB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31B9090-5BC9-A79B-9A50-F717F4C63151}"/>
              </a:ext>
            </a:extLst>
          </p:cNvPr>
          <p:cNvSpPr txBox="1"/>
          <p:nvPr/>
        </p:nvSpPr>
        <p:spPr>
          <a:xfrm>
            <a:off x="3935439" y="4842663"/>
            <a:ext cx="182051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rPr>
              <a:t>Parameters </a:t>
            </a:r>
            <a:br>
              <a:rPr kumimoji="0" lang="en-US"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rPr>
              <a:t>=</a:t>
            </a:r>
            <a:br>
              <a:rPr kumimoji="0" lang="en-US"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rPr>
              <a:t>metadata.xml</a:t>
            </a:r>
            <a:endParaRPr kumimoji="0" lang="nl-BE" sz="1800" b="0" i="0" u="none" strike="noStrike" kern="1200" cap="none" spc="0" normalizeH="0" baseline="0" noProof="0" dirty="0">
              <a:ln>
                <a:noFill/>
              </a:ln>
              <a:solidFill>
                <a:srgbClr val="005E77"/>
              </a:solidFill>
              <a:effectLst/>
              <a:uLnTx/>
              <a:uFillTx/>
              <a:latin typeface="Consolas" panose="020B0609020204030204" pitchFamily="49" charset="0"/>
              <a:ea typeface="+mn-ea"/>
              <a:cs typeface="+mn-cs"/>
            </a:endParaRPr>
          </a:p>
        </p:txBody>
      </p:sp>
      <p:sp>
        <p:nvSpPr>
          <p:cNvPr id="5" name="Title 1">
            <a:extLst>
              <a:ext uri="{FF2B5EF4-FFF2-40B4-BE49-F238E27FC236}">
                <a16:creationId xmlns:a16="http://schemas.microsoft.com/office/drawing/2014/main" id="{6C6AE584-7893-5402-4FA4-496D8574436E}"/>
              </a:ext>
            </a:extLst>
          </p:cNvPr>
          <p:cNvSpPr txBox="1">
            <a:spLocks/>
          </p:cNvSpPr>
          <p:nvPr/>
        </p:nvSpPr>
        <p:spPr>
          <a:xfrm>
            <a:off x="576000" y="576000"/>
            <a:ext cx="11041200" cy="1325563"/>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3400" b="0" kern="1200" baseline="0">
                <a:solidFill>
                  <a:srgbClr val="52BDEC"/>
                </a:solidFill>
                <a:latin typeface="Arial" charset="0"/>
                <a:ea typeface="+mj-ea"/>
                <a:cs typeface="+mj-cs"/>
              </a:defRPr>
            </a:lvl1pPr>
          </a:lstStyle>
          <a:p>
            <a:r>
              <a:rPr lang="en-US" dirty="0"/>
              <a:t>Tools to document with</a:t>
            </a:r>
            <a:endParaRPr lang="en-GB" dirty="0"/>
          </a:p>
        </p:txBody>
      </p:sp>
      <p:sp>
        <p:nvSpPr>
          <p:cNvPr id="6" name="Rounded Rectangle 3">
            <a:extLst>
              <a:ext uri="{FF2B5EF4-FFF2-40B4-BE49-F238E27FC236}">
                <a16:creationId xmlns:a16="http://schemas.microsoft.com/office/drawing/2014/main" id="{D8725D8B-0068-0A0B-A92F-B2877F64FABB}"/>
              </a:ext>
            </a:extLst>
          </p:cNvPr>
          <p:cNvSpPr/>
          <p:nvPr/>
        </p:nvSpPr>
        <p:spPr>
          <a:xfrm>
            <a:off x="8795157" y="1983420"/>
            <a:ext cx="3280104" cy="538438"/>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sz="1600" dirty="0">
                <a:solidFill>
                  <a:srgbClr val="005E77"/>
                </a:solidFill>
              </a:rPr>
              <a:t>Simple </a:t>
            </a:r>
            <a:r>
              <a:rPr lang="nl-BE" sz="1600" dirty="0">
                <a:solidFill>
                  <a:srgbClr val="005E77"/>
                </a:solidFill>
              </a:rPr>
              <a:t>Analysis </a:t>
            </a:r>
            <a:r>
              <a:rPr lang="en-US" sz="1600" dirty="0">
                <a:solidFill>
                  <a:srgbClr val="005E77"/>
                </a:solidFill>
              </a:rPr>
              <a:t>(</a:t>
            </a:r>
            <a:r>
              <a:rPr lang="en-US" sz="1600" dirty="0" err="1">
                <a:solidFill>
                  <a:srgbClr val="005E77"/>
                </a:solidFill>
              </a:rPr>
              <a:t>xls</a:t>
            </a:r>
            <a:r>
              <a:rPr lang="en-US" sz="1600" dirty="0">
                <a:solidFill>
                  <a:srgbClr val="005E77"/>
                </a:solidFill>
              </a:rPr>
              <a:t>, SPSS, …)</a:t>
            </a:r>
            <a:endParaRPr sz="1600" dirty="0">
              <a:solidFill>
                <a:srgbClr val="005E77"/>
              </a:solidFill>
            </a:endParaRPr>
          </a:p>
          <a:p>
            <a:r>
              <a:rPr lang="en-US" sz="1200" dirty="0">
                <a:solidFill>
                  <a:srgbClr val="005E77"/>
                </a:solidFill>
                <a:sym typeface="Wingdings" panose="05000000000000000000" pitchFamily="2" charset="2"/>
              </a:rPr>
              <a:t> </a:t>
            </a:r>
            <a:r>
              <a:rPr lang="en-US" sz="1200" dirty="0">
                <a:solidFill>
                  <a:srgbClr val="005E77"/>
                </a:solidFill>
              </a:rPr>
              <a:t>Consider same tool as collection</a:t>
            </a:r>
            <a:endParaRPr sz="1200" dirty="0">
              <a:solidFill>
                <a:srgbClr val="005E77"/>
              </a:solidFill>
            </a:endParaRPr>
          </a:p>
        </p:txBody>
      </p:sp>
      <p:sp>
        <p:nvSpPr>
          <p:cNvPr id="7" name="Rounded Rectangle 5">
            <a:extLst>
              <a:ext uri="{FF2B5EF4-FFF2-40B4-BE49-F238E27FC236}">
                <a16:creationId xmlns:a16="http://schemas.microsoft.com/office/drawing/2014/main" id="{499B4D02-B2BF-8B81-66B6-FEF4B0081EA1}"/>
              </a:ext>
            </a:extLst>
          </p:cNvPr>
          <p:cNvSpPr/>
          <p:nvPr/>
        </p:nvSpPr>
        <p:spPr>
          <a:xfrm>
            <a:off x="4593264" y="1317866"/>
            <a:ext cx="3089339" cy="2371632"/>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t"/>
          <a:lstStyle/>
          <a:p>
            <a:r>
              <a:rPr lang="nl-BE" sz="1600" dirty="0">
                <a:solidFill>
                  <a:srgbClr val="005E77"/>
                </a:solidFill>
              </a:rPr>
              <a:t>Moderate </a:t>
            </a:r>
            <a:r>
              <a:rPr lang="nl-BE" sz="1600" dirty="0" err="1">
                <a:solidFill>
                  <a:srgbClr val="005E77"/>
                </a:solidFill>
              </a:rPr>
              <a:t>to</a:t>
            </a:r>
            <a:r>
              <a:rPr lang="nl-BE" sz="1600" dirty="0">
                <a:solidFill>
                  <a:srgbClr val="005E77"/>
                </a:solidFill>
              </a:rPr>
              <a:t> </a:t>
            </a:r>
            <a:r>
              <a:rPr sz="1600" dirty="0">
                <a:solidFill>
                  <a:srgbClr val="005E77"/>
                </a:solidFill>
              </a:rPr>
              <a:t>Advanced</a:t>
            </a:r>
            <a:endParaRPr lang="en-US" sz="1600" dirty="0">
              <a:solidFill>
                <a:srgbClr val="005E77"/>
              </a:solidFill>
            </a:endParaRPr>
          </a:p>
          <a:p>
            <a:pPr>
              <a:defRPr sz="1200"/>
            </a:pPr>
            <a:r>
              <a:rPr lang="en-US" sz="1200" u="sng" dirty="0">
                <a:solidFill>
                  <a:srgbClr val="005E77"/>
                </a:solidFill>
              </a:rPr>
              <a:t>Minimal</a:t>
            </a:r>
            <a:r>
              <a:rPr lang="en-US" sz="1200" dirty="0">
                <a:solidFill>
                  <a:srgbClr val="005E77"/>
                </a:solidFill>
              </a:rPr>
              <a:t>:</a:t>
            </a:r>
          </a:p>
          <a:p>
            <a:pPr>
              <a:defRPr sz="1200"/>
            </a:pPr>
            <a:r>
              <a:rPr lang="en-US" sz="1200" dirty="0">
                <a:solidFill>
                  <a:srgbClr val="005E77"/>
                </a:solidFill>
                <a:hlinkClick r:id="rId5"/>
              </a:rPr>
              <a:t>Add code comments</a:t>
            </a:r>
            <a:endParaRPr lang="en-US" sz="1200" dirty="0">
              <a:solidFill>
                <a:srgbClr val="005E77"/>
              </a:solidFill>
            </a:endParaRPr>
          </a:p>
          <a:p>
            <a:pPr>
              <a:defRPr sz="1200"/>
            </a:pPr>
            <a:r>
              <a:rPr lang="en-US" sz="1200" dirty="0">
                <a:solidFill>
                  <a:srgbClr val="005E77"/>
                </a:solidFill>
                <a:hlinkClick r:id="rId6"/>
              </a:rPr>
              <a:t>Follow code style guide</a:t>
            </a:r>
            <a:br>
              <a:rPr lang="en-US" sz="1200" dirty="0">
                <a:solidFill>
                  <a:srgbClr val="005E77"/>
                </a:solidFill>
              </a:rPr>
            </a:br>
            <a:endParaRPr lang="en-US" sz="1200" dirty="0">
              <a:solidFill>
                <a:srgbClr val="005E77"/>
              </a:solidFill>
            </a:endParaRPr>
          </a:p>
          <a:p>
            <a:pPr>
              <a:defRPr sz="1200"/>
            </a:pPr>
            <a:r>
              <a:rPr lang="nl-BE" sz="1200" u="sng" dirty="0" err="1">
                <a:solidFill>
                  <a:srgbClr val="005E77"/>
                </a:solidFill>
              </a:rPr>
              <a:t>Valuable</a:t>
            </a:r>
            <a:r>
              <a:rPr lang="nl-BE" sz="1200" dirty="0">
                <a:solidFill>
                  <a:srgbClr val="005E77"/>
                </a:solidFill>
              </a:rPr>
              <a:t>:</a:t>
            </a:r>
          </a:p>
          <a:p>
            <a:pPr>
              <a:defRPr sz="1200"/>
            </a:pPr>
            <a:r>
              <a:rPr lang="en-US" sz="1200" dirty="0">
                <a:solidFill>
                  <a:srgbClr val="005E77"/>
                </a:solidFill>
              </a:rPr>
              <a:t>Use computational notebooks</a:t>
            </a:r>
            <a:br>
              <a:rPr lang="en-US" sz="1200" dirty="0">
                <a:solidFill>
                  <a:srgbClr val="005E77"/>
                </a:solidFill>
              </a:rPr>
            </a:br>
            <a:r>
              <a:rPr sz="1200" dirty="0">
                <a:solidFill>
                  <a:srgbClr val="005E77"/>
                </a:solidFill>
              </a:rPr>
              <a:t>Use Git for version control</a:t>
            </a:r>
            <a:r>
              <a:rPr lang="en-US" sz="1200" dirty="0">
                <a:solidFill>
                  <a:srgbClr val="005E77"/>
                </a:solidFill>
              </a:rPr>
              <a:t> </a:t>
            </a:r>
            <a:br>
              <a:rPr lang="en-US" sz="1200" dirty="0">
                <a:solidFill>
                  <a:srgbClr val="005E77"/>
                </a:solidFill>
              </a:rPr>
            </a:br>
            <a:r>
              <a:rPr lang="en-US" sz="1200" dirty="0">
                <a:solidFill>
                  <a:srgbClr val="005E77"/>
                </a:solidFill>
                <a:hlinkClick r:id="rId7"/>
              </a:rPr>
              <a:t>Use </a:t>
            </a:r>
            <a:r>
              <a:rPr lang="en-US" sz="1200" dirty="0" err="1">
                <a:solidFill>
                  <a:srgbClr val="005E77"/>
                </a:solidFill>
                <a:hlinkClick r:id="rId7"/>
              </a:rPr>
              <a:t>propper</a:t>
            </a:r>
            <a:r>
              <a:rPr lang="en-US" sz="1200" dirty="0">
                <a:solidFill>
                  <a:srgbClr val="005E77"/>
                </a:solidFill>
                <a:hlinkClick r:id="rId7"/>
              </a:rPr>
              <a:t> Git commit messages</a:t>
            </a:r>
            <a:br>
              <a:rPr sz="1200" dirty="0">
                <a:solidFill>
                  <a:srgbClr val="005E77"/>
                </a:solidFill>
              </a:rPr>
            </a:br>
            <a:r>
              <a:rPr lang="en-US" sz="1200" dirty="0">
                <a:solidFill>
                  <a:srgbClr val="005E77"/>
                </a:solidFill>
              </a:rPr>
              <a:t>Use containers for computational environment</a:t>
            </a:r>
            <a:br>
              <a:rPr sz="1600" dirty="0">
                <a:solidFill>
                  <a:srgbClr val="005E77"/>
                </a:solidFill>
              </a:rPr>
            </a:br>
            <a:endParaRPr sz="1600" dirty="0">
              <a:solidFill>
                <a:srgbClr val="005E77"/>
              </a:solidFill>
            </a:endParaRPr>
          </a:p>
        </p:txBody>
      </p:sp>
      <p:sp>
        <p:nvSpPr>
          <p:cNvPr id="8" name="Rounded Rectangle 3">
            <a:extLst>
              <a:ext uri="{FF2B5EF4-FFF2-40B4-BE49-F238E27FC236}">
                <a16:creationId xmlns:a16="http://schemas.microsoft.com/office/drawing/2014/main" id="{1A143A9F-3690-E40A-6797-7521C5E7352A}"/>
              </a:ext>
            </a:extLst>
          </p:cNvPr>
          <p:cNvSpPr/>
          <p:nvPr/>
        </p:nvSpPr>
        <p:spPr>
          <a:xfrm>
            <a:off x="8024304" y="194456"/>
            <a:ext cx="2160000" cy="914400"/>
          </a:xfrm>
          <a:prstGeom prst="roundRect">
            <a:avLst/>
          </a:prstGeom>
          <a:solidFill>
            <a:srgbClr val="EBFAFF"/>
          </a:solidFill>
          <a:ln>
            <a:solidFill>
              <a:srgbClr val="005E77"/>
            </a:solidFill>
          </a:ln>
        </p:spPr>
        <p:style>
          <a:lnRef idx="1">
            <a:schemeClr val="accent1"/>
          </a:lnRef>
          <a:fillRef idx="3">
            <a:schemeClr val="accent1"/>
          </a:fillRef>
          <a:effectRef idx="2">
            <a:schemeClr val="accent1"/>
          </a:effectRef>
          <a:fontRef idx="minor">
            <a:schemeClr val="lt1"/>
          </a:fontRef>
        </p:style>
        <p:txBody>
          <a:bodyPr rtlCol="0" anchor="ctr"/>
          <a:lstStyle/>
          <a:p>
            <a:r>
              <a:rPr dirty="0">
                <a:solidFill>
                  <a:srgbClr val="005E77"/>
                </a:solidFill>
              </a:rPr>
              <a:t>Do you write code?</a:t>
            </a:r>
          </a:p>
        </p:txBody>
      </p:sp>
      <p:cxnSp>
        <p:nvCxnSpPr>
          <p:cNvPr id="9" name="Straight Arrow Connector 8">
            <a:extLst>
              <a:ext uri="{FF2B5EF4-FFF2-40B4-BE49-F238E27FC236}">
                <a16:creationId xmlns:a16="http://schemas.microsoft.com/office/drawing/2014/main" id="{5BE5A88A-3F7E-E351-57D4-5FCF5DE73816}"/>
              </a:ext>
            </a:extLst>
          </p:cNvPr>
          <p:cNvCxnSpPr>
            <a:cxnSpLocks/>
          </p:cNvCxnSpPr>
          <p:nvPr/>
        </p:nvCxnSpPr>
        <p:spPr>
          <a:xfrm>
            <a:off x="9029808" y="1114438"/>
            <a:ext cx="1243623" cy="836445"/>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750DD69-0DA7-69A8-303A-DEA5D948C166}"/>
              </a:ext>
            </a:extLst>
          </p:cNvPr>
          <p:cNvSpPr txBox="1"/>
          <p:nvPr/>
        </p:nvSpPr>
        <p:spPr>
          <a:xfrm>
            <a:off x="9691346" y="1223569"/>
            <a:ext cx="455574" cy="369332"/>
          </a:xfrm>
          <a:prstGeom prst="rect">
            <a:avLst/>
          </a:prstGeom>
          <a:noFill/>
        </p:spPr>
        <p:txBody>
          <a:bodyPr wrap="square" rtlCol="0">
            <a:spAutoFit/>
          </a:bodyPr>
          <a:lstStyle/>
          <a:p>
            <a:r>
              <a:rPr lang="en-US" dirty="0"/>
              <a:t>No</a:t>
            </a:r>
            <a:endParaRPr lang="nl-BE" dirty="0"/>
          </a:p>
        </p:txBody>
      </p:sp>
      <p:sp>
        <p:nvSpPr>
          <p:cNvPr id="11" name="TextBox 10">
            <a:extLst>
              <a:ext uri="{FF2B5EF4-FFF2-40B4-BE49-F238E27FC236}">
                <a16:creationId xmlns:a16="http://schemas.microsoft.com/office/drawing/2014/main" id="{81EB2E39-1BF6-E1CF-6FEC-4BCBE7C2BFCE}"/>
              </a:ext>
            </a:extLst>
          </p:cNvPr>
          <p:cNvSpPr txBox="1"/>
          <p:nvPr/>
        </p:nvSpPr>
        <p:spPr>
          <a:xfrm>
            <a:off x="7882752" y="1223569"/>
            <a:ext cx="485518" cy="369332"/>
          </a:xfrm>
          <a:prstGeom prst="rect">
            <a:avLst/>
          </a:prstGeom>
          <a:noFill/>
        </p:spPr>
        <p:txBody>
          <a:bodyPr wrap="square" rtlCol="0">
            <a:spAutoFit/>
          </a:bodyPr>
          <a:lstStyle/>
          <a:p>
            <a:r>
              <a:rPr lang="en-US" dirty="0"/>
              <a:t>Yes</a:t>
            </a:r>
            <a:endParaRPr lang="nl-BE" dirty="0"/>
          </a:p>
        </p:txBody>
      </p:sp>
      <p:cxnSp>
        <p:nvCxnSpPr>
          <p:cNvPr id="12" name="Straight Arrow Connector 11">
            <a:extLst>
              <a:ext uri="{FF2B5EF4-FFF2-40B4-BE49-F238E27FC236}">
                <a16:creationId xmlns:a16="http://schemas.microsoft.com/office/drawing/2014/main" id="{A9D729F3-B488-02E3-33EF-19A67E2E03EA}"/>
              </a:ext>
            </a:extLst>
          </p:cNvPr>
          <p:cNvCxnSpPr>
            <a:cxnSpLocks/>
          </p:cNvCxnSpPr>
          <p:nvPr/>
        </p:nvCxnSpPr>
        <p:spPr>
          <a:xfrm flipH="1">
            <a:off x="7732362" y="1127435"/>
            <a:ext cx="1297446" cy="842987"/>
          </a:xfrm>
          <a:prstGeom prst="straightConnector1">
            <a:avLst/>
          </a:prstGeom>
          <a:ln>
            <a:solidFill>
              <a:srgbClr val="005E77"/>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ep 25">
            <a:extLst>
              <a:ext uri="{FF2B5EF4-FFF2-40B4-BE49-F238E27FC236}">
                <a16:creationId xmlns:a16="http://schemas.microsoft.com/office/drawing/2014/main" id="{BEEA6B01-C856-BB38-F1C6-682966B24658}"/>
              </a:ext>
            </a:extLst>
          </p:cNvPr>
          <p:cNvGrpSpPr/>
          <p:nvPr/>
        </p:nvGrpSpPr>
        <p:grpSpPr>
          <a:xfrm>
            <a:off x="600088" y="1302413"/>
            <a:ext cx="2440824" cy="1896004"/>
            <a:chOff x="8526291" y="1433384"/>
            <a:chExt cx="2495935" cy="1983955"/>
          </a:xfrm>
        </p:grpSpPr>
        <p:pic>
          <p:nvPicPr>
            <p:cNvPr id="14" name="Graphic 13" descr="Beeldscherm met effen opvulling">
              <a:extLst>
                <a:ext uri="{FF2B5EF4-FFF2-40B4-BE49-F238E27FC236}">
                  <a16:creationId xmlns:a16="http://schemas.microsoft.com/office/drawing/2014/main" id="{AF61A155-5CE4-DDF7-051F-BE67E7CE4B27}"/>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t="9792" b="10722"/>
            <a:stretch/>
          </p:blipFill>
          <p:spPr>
            <a:xfrm>
              <a:off x="8526291" y="1433384"/>
              <a:ext cx="2495935" cy="1983955"/>
            </a:xfrm>
            <a:prstGeom prst="rect">
              <a:avLst/>
            </a:prstGeom>
          </p:spPr>
        </p:pic>
        <p:pic>
          <p:nvPicPr>
            <p:cNvPr id="15" name="Graphic 14" descr="Spreidingsdiagram met effen opvulling">
              <a:extLst>
                <a:ext uri="{FF2B5EF4-FFF2-40B4-BE49-F238E27FC236}">
                  <a16:creationId xmlns:a16="http://schemas.microsoft.com/office/drawing/2014/main" id="{D8B01DA2-B8B8-9FF9-A01D-657C7D62632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823850" y="1622844"/>
              <a:ext cx="914400" cy="914400"/>
            </a:xfrm>
            <a:prstGeom prst="rect">
              <a:avLst/>
            </a:prstGeom>
          </p:spPr>
        </p:pic>
        <p:pic>
          <p:nvPicPr>
            <p:cNvPr id="16" name="Graphic 15" descr="Document met effen opvulling">
              <a:extLst>
                <a:ext uri="{FF2B5EF4-FFF2-40B4-BE49-F238E27FC236}">
                  <a16:creationId xmlns:a16="http://schemas.microsoft.com/office/drawing/2014/main" id="{E8DA2A4C-900E-C91B-28A3-50523CC6EC24}"/>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7475" t="45180" r="31273" b="14650"/>
            <a:stretch/>
          </p:blipFill>
          <p:spPr>
            <a:xfrm>
              <a:off x="8956127" y="1783304"/>
              <a:ext cx="686442" cy="668448"/>
            </a:xfrm>
            <a:prstGeom prst="rect">
              <a:avLst/>
            </a:prstGeom>
          </p:spPr>
        </p:pic>
        <p:pic>
          <p:nvPicPr>
            <p:cNvPr id="17" name="Graphic 16" descr="Kolf met effen opvulling">
              <a:extLst>
                <a:ext uri="{FF2B5EF4-FFF2-40B4-BE49-F238E27FC236}">
                  <a16:creationId xmlns:a16="http://schemas.microsoft.com/office/drawing/2014/main" id="{BB43B2BC-E299-9B4A-3048-46ADD59121D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46054" y="1908621"/>
              <a:ext cx="914400" cy="914400"/>
            </a:xfrm>
            <a:prstGeom prst="rect">
              <a:avLst/>
            </a:prstGeom>
          </p:spPr>
        </p:pic>
        <p:pic>
          <p:nvPicPr>
            <p:cNvPr id="18" name="Graphic 17" descr="Maandkalender silhouet">
              <a:extLst>
                <a:ext uri="{FF2B5EF4-FFF2-40B4-BE49-F238E27FC236}">
                  <a16:creationId xmlns:a16="http://schemas.microsoft.com/office/drawing/2014/main" id="{865B658C-F13D-F2DF-77A7-D29DBBC3138A}"/>
                </a:ext>
              </a:extLst>
            </p:cNvPr>
            <p:cNvPicPr>
              <a:picLocks noChangeAspect="1"/>
            </p:cNvPicPr>
            <p:nvPr/>
          </p:nvPicPr>
          <p:blipFill rotWithShape="1">
            <a:blip r:embed="rId16">
              <a:extLst>
                <a:ext uri="{96DAC541-7B7A-43D3-8B79-37D633B846F1}">
                  <asvg:svgBlip xmlns:asvg="http://schemas.microsoft.com/office/drawing/2016/SVG/main" r:embed="rId17"/>
                </a:ext>
              </a:extLst>
            </a:blip>
            <a:srcRect l="21990" t="43474" r="44020" b="22205"/>
            <a:stretch/>
          </p:blipFill>
          <p:spPr>
            <a:xfrm>
              <a:off x="8994694" y="2321589"/>
              <a:ext cx="524567" cy="529666"/>
            </a:xfrm>
            <a:prstGeom prst="rect">
              <a:avLst/>
            </a:prstGeom>
          </p:spPr>
        </p:pic>
        <p:sp>
          <p:nvSpPr>
            <p:cNvPr id="19" name="Tekstvak 24">
              <a:extLst>
                <a:ext uri="{FF2B5EF4-FFF2-40B4-BE49-F238E27FC236}">
                  <a16:creationId xmlns:a16="http://schemas.microsoft.com/office/drawing/2014/main" id="{629C1010-BB9D-1935-2186-5056D60BBDB1}"/>
                </a:ext>
              </a:extLst>
            </p:cNvPr>
            <p:cNvSpPr txBox="1"/>
            <p:nvPr/>
          </p:nvSpPr>
          <p:spPr>
            <a:xfrm>
              <a:off x="10029247" y="250170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800" b="1" i="0" u="none" strike="noStrike" kern="1200" cap="none" spc="0" normalizeH="0" baseline="0" noProof="0" dirty="0">
                  <a:ln>
                    <a:noFill/>
                  </a:ln>
                  <a:solidFill>
                    <a:srgbClr val="0C495C"/>
                  </a:solidFill>
                  <a:effectLst/>
                  <a:uLnTx/>
                  <a:uFillTx/>
                  <a:latin typeface="Arial" panose="020B0604020202020204" pitchFamily="34" charset="0"/>
                  <a:ea typeface="+mn-ea"/>
                  <a:cs typeface="Arial" panose="020B0604020202020204" pitchFamily="34" charset="0"/>
                </a:rPr>
                <a:t>ELN</a:t>
              </a:r>
            </a:p>
          </p:txBody>
        </p:sp>
      </p:grpSp>
    </p:spTree>
    <p:extLst>
      <p:ext uri="{BB962C8B-B14F-4D97-AF65-F5344CB8AC3E}">
        <p14:creationId xmlns:p14="http://schemas.microsoft.com/office/powerpoint/2010/main" val="2844872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8B78D-5D3C-EDA9-CD9D-9AE7E7D644CE}"/>
            </a:ext>
          </a:extLst>
        </p:cNvPr>
        <p:cNvGrpSpPr/>
        <p:nvPr/>
      </p:nvGrpSpPr>
      <p:grpSpPr>
        <a:xfrm>
          <a:off x="0" y="0"/>
          <a:ext cx="0" cy="0"/>
          <a:chOff x="0" y="0"/>
          <a:chExt cx="0" cy="0"/>
        </a:xfrm>
      </p:grpSpPr>
      <p:sp>
        <p:nvSpPr>
          <p:cNvPr id="95" name="Rectangle 94">
            <a:extLst>
              <a:ext uri="{FF2B5EF4-FFF2-40B4-BE49-F238E27FC236}">
                <a16:creationId xmlns:a16="http://schemas.microsoft.com/office/drawing/2014/main" id="{B65C05FA-11D1-A65E-B6E0-9247EA8D3FD4}"/>
              </a:ext>
            </a:extLst>
          </p:cNvPr>
          <p:cNvSpPr/>
          <p:nvPr/>
        </p:nvSpPr>
        <p:spPr>
          <a:xfrm>
            <a:off x="4313475" y="4167964"/>
            <a:ext cx="6311848" cy="192864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nl-BE" dirty="0"/>
          </a:p>
          <a:p>
            <a:pPr algn="ctr"/>
            <a:endParaRPr lang="nl-BE" dirty="0"/>
          </a:p>
          <a:p>
            <a:pPr algn="ctr"/>
            <a:endParaRPr lang="nl-BE" dirty="0"/>
          </a:p>
          <a:p>
            <a:pPr algn="ctr"/>
            <a:endParaRPr lang="nl-BE" dirty="0"/>
          </a:p>
          <a:p>
            <a:pPr algn="ctr"/>
            <a:endParaRPr lang="nl-BE" sz="1050" dirty="0"/>
          </a:p>
          <a:p>
            <a:pPr algn="r"/>
            <a:r>
              <a:rPr lang="nl-BE" dirty="0"/>
              <a:t>= </a:t>
            </a:r>
            <a:r>
              <a:rPr lang="nl-BE" dirty="0" err="1"/>
              <a:t>simplified</a:t>
            </a:r>
            <a:endParaRPr lang="nl-BE" dirty="0"/>
          </a:p>
        </p:txBody>
      </p:sp>
      <p:pic>
        <p:nvPicPr>
          <p:cNvPr id="3" name="Picture 2">
            <a:extLst>
              <a:ext uri="{FF2B5EF4-FFF2-40B4-BE49-F238E27FC236}">
                <a16:creationId xmlns:a16="http://schemas.microsoft.com/office/drawing/2014/main" id="{7FE154AF-9665-DCEB-848D-7B333D38C8D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rcRect b="33355"/>
          <a:stretch>
            <a:fillRect/>
          </a:stretch>
        </p:blipFill>
        <p:spPr>
          <a:xfrm>
            <a:off x="10816106" y="523953"/>
            <a:ext cx="921893" cy="921600"/>
          </a:xfrm>
          <a:prstGeom prst="ellipse">
            <a:avLst/>
          </a:prstGeom>
        </p:spPr>
      </p:pic>
      <p:sp>
        <p:nvSpPr>
          <p:cNvPr id="2" name="Title 1">
            <a:extLst>
              <a:ext uri="{FF2B5EF4-FFF2-40B4-BE49-F238E27FC236}">
                <a16:creationId xmlns:a16="http://schemas.microsoft.com/office/drawing/2014/main" id="{BF6A3B65-C117-C678-3F86-35E0514CCE79}"/>
              </a:ext>
            </a:extLst>
          </p:cNvPr>
          <p:cNvSpPr>
            <a:spLocks noGrp="1"/>
          </p:cNvSpPr>
          <p:nvPr>
            <p:ph type="title"/>
          </p:nvPr>
        </p:nvSpPr>
        <p:spPr>
          <a:xfrm>
            <a:off x="576000" y="576000"/>
            <a:ext cx="10382371" cy="1325563"/>
          </a:xfrm>
        </p:spPr>
        <p:txBody>
          <a:bodyPr/>
          <a:lstStyle/>
          <a:p>
            <a:r>
              <a:rPr lang="en-US" dirty="0"/>
              <a:t>Exercise 4: Documenting each </a:t>
            </a:r>
            <a:r>
              <a:rPr lang="en-US" dirty="0">
                <a:solidFill>
                  <a:srgbClr val="FFDF7F"/>
                </a:solidFill>
              </a:rPr>
              <a:t>step </a:t>
            </a:r>
            <a:r>
              <a:rPr lang="en-US" dirty="0"/>
              <a:t>– Example </a:t>
            </a:r>
            <a:br>
              <a:rPr lang="en-US" dirty="0"/>
            </a:br>
            <a:r>
              <a:rPr lang="en-US" dirty="0"/>
              <a:t>Jie’s project</a:t>
            </a:r>
            <a:endParaRPr lang="en-GB" dirty="0"/>
          </a:p>
        </p:txBody>
      </p:sp>
      <p:sp>
        <p:nvSpPr>
          <p:cNvPr id="4" name="Slide Number Placeholder 3">
            <a:extLst>
              <a:ext uri="{FF2B5EF4-FFF2-40B4-BE49-F238E27FC236}">
                <a16:creationId xmlns:a16="http://schemas.microsoft.com/office/drawing/2014/main" id="{F5A7110E-6B27-7659-6326-634C2B65B2AF}"/>
              </a:ext>
            </a:extLst>
          </p:cNvPr>
          <p:cNvSpPr>
            <a:spLocks noGrp="1"/>
          </p:cNvSpPr>
          <p:nvPr>
            <p:ph type="sldNum" sz="quarter" idx="12"/>
          </p:nvPr>
        </p:nvSpPr>
        <p:spPr>
          <a:prstGeom prst="rect">
            <a:avLst/>
          </a:prstGeom>
        </p:spPr>
        <p:txBody>
          <a:bodyPr/>
          <a:lstStyle/>
          <a:p>
            <a:fld id="{CC571AF6-6671-4538-974D-3AEC00AC0B82}" type="slidenum">
              <a:rPr lang="en-GB" smtClean="0"/>
              <a:t>20</a:t>
            </a:fld>
            <a:endParaRPr lang="en-GB"/>
          </a:p>
        </p:txBody>
      </p:sp>
      <p:sp>
        <p:nvSpPr>
          <p:cNvPr id="57" name="Rectangle 56">
            <a:extLst>
              <a:ext uri="{FF2B5EF4-FFF2-40B4-BE49-F238E27FC236}">
                <a16:creationId xmlns:a16="http://schemas.microsoft.com/office/drawing/2014/main" id="{459217CD-FE65-89C4-CF25-60A13EFF6605}"/>
              </a:ext>
            </a:extLst>
          </p:cNvPr>
          <p:cNvSpPr/>
          <p:nvPr/>
        </p:nvSpPr>
        <p:spPr>
          <a:xfrm>
            <a:off x="543910" y="225097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cxnSp>
        <p:nvCxnSpPr>
          <p:cNvPr id="60" name="Straight Arrow Connector 59">
            <a:extLst>
              <a:ext uri="{FF2B5EF4-FFF2-40B4-BE49-F238E27FC236}">
                <a16:creationId xmlns:a16="http://schemas.microsoft.com/office/drawing/2014/main" id="{CCC522AF-AC14-603E-4A8C-7592D55041C7}"/>
              </a:ext>
            </a:extLst>
          </p:cNvPr>
          <p:cNvCxnSpPr>
            <a:cxnSpLocks/>
          </p:cNvCxnSpPr>
          <p:nvPr/>
        </p:nvCxnSpPr>
        <p:spPr>
          <a:xfrm>
            <a:off x="4180916" y="5019855"/>
            <a:ext cx="265119"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C80D3F2C-CBA9-13BE-F988-0D920222293B}"/>
              </a:ext>
            </a:extLst>
          </p:cNvPr>
          <p:cNvCxnSpPr>
            <a:cxnSpLocks/>
          </p:cNvCxnSpPr>
          <p:nvPr/>
        </p:nvCxnSpPr>
        <p:spPr>
          <a:xfrm>
            <a:off x="2205431"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1779F56A-2713-7958-DC24-6774AC878D1D}"/>
              </a:ext>
            </a:extLst>
          </p:cNvPr>
          <p:cNvCxnSpPr>
            <a:cxnSpLocks/>
          </p:cNvCxnSpPr>
          <p:nvPr/>
        </p:nvCxnSpPr>
        <p:spPr>
          <a:xfrm>
            <a:off x="4551430"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469A549A-3D58-0589-3817-7FB986A690FE}"/>
              </a:ext>
            </a:extLst>
          </p:cNvPr>
          <p:cNvCxnSpPr>
            <a:cxnSpLocks/>
          </p:cNvCxnSpPr>
          <p:nvPr/>
        </p:nvCxnSpPr>
        <p:spPr>
          <a:xfrm>
            <a:off x="6918210"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a:extLst>
              <a:ext uri="{FF2B5EF4-FFF2-40B4-BE49-F238E27FC236}">
                <a16:creationId xmlns:a16="http://schemas.microsoft.com/office/drawing/2014/main" id="{CF98C344-FF7E-16AE-2E91-01779DEA23C8}"/>
              </a:ext>
            </a:extLst>
          </p:cNvPr>
          <p:cNvCxnSpPr>
            <a:cxnSpLocks/>
          </p:cNvCxnSpPr>
          <p:nvPr/>
        </p:nvCxnSpPr>
        <p:spPr>
          <a:xfrm>
            <a:off x="9301239" y="3042786"/>
            <a:ext cx="574964"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D676E128-FF4D-2521-8D87-182EC2E05B0B}"/>
              </a:ext>
            </a:extLst>
          </p:cNvPr>
          <p:cNvSpPr txBox="1"/>
          <p:nvPr/>
        </p:nvSpPr>
        <p:spPr>
          <a:xfrm>
            <a:off x="417412" y="2702727"/>
            <a:ext cx="1856509" cy="523220"/>
          </a:xfrm>
          <a:prstGeom prst="rect">
            <a:avLst/>
          </a:prstGeom>
          <a:noFill/>
        </p:spPr>
        <p:txBody>
          <a:bodyPr wrap="square">
            <a:spAutoFit/>
          </a:bodyPr>
          <a:lstStyle/>
          <a:p>
            <a:pPr algn="ctr"/>
            <a:r>
              <a:rPr lang="nl-NL" sz="1400" b="1" dirty="0">
                <a:solidFill>
                  <a:srgbClr val="005E77"/>
                </a:solidFill>
                <a:latin typeface="Arial" panose="020B0604020202020204" pitchFamily="34" charset="0"/>
                <a:cs typeface="Arial" panose="020B0604020202020204" pitchFamily="34" charset="0"/>
              </a:rPr>
              <a:t>TgF344-AD &amp; WT</a:t>
            </a:r>
            <a:br>
              <a:rPr lang="nl-NL" sz="1400" b="1" dirty="0">
                <a:solidFill>
                  <a:srgbClr val="005E77"/>
                </a:solidFill>
                <a:latin typeface="Arial" panose="020B0604020202020204" pitchFamily="34" charset="0"/>
                <a:cs typeface="Arial" panose="020B0604020202020204" pitchFamily="34" charset="0"/>
              </a:rPr>
            </a:br>
            <a:r>
              <a:rPr lang="nl-NL" sz="1400" b="1" dirty="0">
                <a:solidFill>
                  <a:srgbClr val="005E77"/>
                </a:solidFill>
                <a:latin typeface="Arial" panose="020B0604020202020204" pitchFamily="34" charset="0"/>
                <a:cs typeface="Arial" panose="020B0604020202020204" pitchFamily="34" charset="0"/>
              </a:rPr>
              <a:t>rat </a:t>
            </a:r>
            <a:r>
              <a:rPr lang="nl-NL" sz="1400" b="1" dirty="0" err="1">
                <a:solidFill>
                  <a:srgbClr val="005E77"/>
                </a:solidFill>
                <a:latin typeface="Arial" panose="020B0604020202020204" pitchFamily="34" charset="0"/>
                <a:cs typeface="Arial" panose="020B0604020202020204" pitchFamily="34" charset="0"/>
              </a:rPr>
              <a:t>colonies</a:t>
            </a:r>
            <a:endParaRPr lang="nl-BE" sz="1400" b="1" dirty="0">
              <a:solidFill>
                <a:srgbClr val="005E77"/>
              </a:solidFill>
              <a:latin typeface="Arial" panose="020B0604020202020204" pitchFamily="34" charset="0"/>
              <a:cs typeface="Arial" panose="020B0604020202020204" pitchFamily="34" charset="0"/>
            </a:endParaRPr>
          </a:p>
        </p:txBody>
      </p:sp>
      <p:cxnSp>
        <p:nvCxnSpPr>
          <p:cNvPr id="70" name="Straight Arrow Connector 69">
            <a:extLst>
              <a:ext uri="{FF2B5EF4-FFF2-40B4-BE49-F238E27FC236}">
                <a16:creationId xmlns:a16="http://schemas.microsoft.com/office/drawing/2014/main" id="{826893C6-4F0D-B6D8-3A94-B487F1AD72FB}"/>
              </a:ext>
            </a:extLst>
          </p:cNvPr>
          <p:cNvCxnSpPr>
            <a:cxnSpLocks/>
          </p:cNvCxnSpPr>
          <p:nvPr/>
        </p:nvCxnSpPr>
        <p:spPr>
          <a:xfrm>
            <a:off x="2205431" y="5013895"/>
            <a:ext cx="240057"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76" name="Straight Connector 3">
            <a:extLst>
              <a:ext uri="{FF2B5EF4-FFF2-40B4-BE49-F238E27FC236}">
                <a16:creationId xmlns:a16="http://schemas.microsoft.com/office/drawing/2014/main" id="{9918DCA2-2284-9DCC-9EAA-35DD17C87F2C}"/>
              </a:ext>
            </a:extLst>
          </p:cNvPr>
          <p:cNvSpPr/>
          <p:nvPr/>
        </p:nvSpPr>
        <p:spPr>
          <a:xfrm>
            <a:off x="1315197" y="3731732"/>
            <a:ext cx="9575988" cy="534706"/>
          </a:xfrm>
          <a:custGeom>
            <a:avLst/>
            <a:gdLst/>
            <a:ahLst/>
            <a:cxnLst/>
            <a:rect l="0" t="0" r="0" b="0"/>
            <a:pathLst>
              <a:path>
                <a:moveTo>
                  <a:pt x="9575988" y="0"/>
                </a:moveTo>
                <a:lnTo>
                  <a:pt x="9575988" y="284453"/>
                </a:lnTo>
                <a:lnTo>
                  <a:pt x="0" y="284453"/>
                </a:lnTo>
                <a:lnTo>
                  <a:pt x="0" y="534706"/>
                </a:lnTo>
              </a:path>
            </a:pathLst>
          </a:custGeom>
          <a:noFill/>
          <a:ln w="19050">
            <a:solidFill>
              <a:srgbClr val="005E77"/>
            </a:solidFill>
            <a:tailEnd type="triangle"/>
          </a:ln>
        </p:spPr>
        <p:style>
          <a:lnRef idx="1">
            <a:scrgbClr r="0" g="0" b="0"/>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txBody>
          <a:bodyPr/>
          <a:lstStyle/>
          <a:p>
            <a:endParaRPr lang="nl-BE" sz="1400" b="1">
              <a:latin typeface="Arial" panose="020B060402020202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5A34CAD9-81B2-BD5E-6345-204ACC60ED29}"/>
              </a:ext>
            </a:extLst>
          </p:cNvPr>
          <p:cNvSpPr/>
          <p:nvPr/>
        </p:nvSpPr>
        <p:spPr>
          <a:xfrm>
            <a:off x="2842522" y="2245424"/>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9" name="Rectangle 78">
            <a:extLst>
              <a:ext uri="{FF2B5EF4-FFF2-40B4-BE49-F238E27FC236}">
                <a16:creationId xmlns:a16="http://schemas.microsoft.com/office/drawing/2014/main" id="{C897B063-6074-98EC-A6FB-50B66F5A607E}"/>
              </a:ext>
            </a:extLst>
          </p:cNvPr>
          <p:cNvSpPr/>
          <p:nvPr/>
        </p:nvSpPr>
        <p:spPr>
          <a:xfrm>
            <a:off x="5229390" y="2245424"/>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F2537002-AF47-4E05-A13D-B1882D5AC79D}"/>
              </a:ext>
            </a:extLst>
          </p:cNvPr>
          <p:cNvSpPr/>
          <p:nvPr/>
        </p:nvSpPr>
        <p:spPr>
          <a:xfrm>
            <a:off x="7578481" y="2264185"/>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CFA3299F-6CD0-D0CA-8E8A-AFE1A7526775}"/>
              </a:ext>
            </a:extLst>
          </p:cNvPr>
          <p:cNvSpPr/>
          <p:nvPr/>
        </p:nvSpPr>
        <p:spPr>
          <a:xfrm>
            <a:off x="9979944" y="2181626"/>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7" name="Rectangle 86">
            <a:extLst>
              <a:ext uri="{FF2B5EF4-FFF2-40B4-BE49-F238E27FC236}">
                <a16:creationId xmlns:a16="http://schemas.microsoft.com/office/drawing/2014/main" id="{E98120B5-0C94-0C38-E789-539896797CBB}"/>
              </a:ext>
            </a:extLst>
          </p:cNvPr>
          <p:cNvSpPr/>
          <p:nvPr/>
        </p:nvSpPr>
        <p:spPr>
          <a:xfrm>
            <a:off x="2512905" y="4316625"/>
            <a:ext cx="1603513" cy="697270"/>
          </a:xfrm>
          <a:custGeom>
            <a:avLst/>
            <a:gdLst>
              <a:gd name="connsiteX0" fmla="*/ 0 w 1603513"/>
              <a:gd name="connsiteY0" fmla="*/ 0 h 697270"/>
              <a:gd name="connsiteX1" fmla="*/ 534504 w 1603513"/>
              <a:gd name="connsiteY1" fmla="*/ 0 h 697270"/>
              <a:gd name="connsiteX2" fmla="*/ 1052974 w 1603513"/>
              <a:gd name="connsiteY2" fmla="*/ 0 h 697270"/>
              <a:gd name="connsiteX3" fmla="*/ 1603513 w 1603513"/>
              <a:gd name="connsiteY3" fmla="*/ 0 h 697270"/>
              <a:gd name="connsiteX4" fmla="*/ 1603513 w 1603513"/>
              <a:gd name="connsiteY4" fmla="*/ 697270 h 697270"/>
              <a:gd name="connsiteX5" fmla="*/ 1085044 w 1603513"/>
              <a:gd name="connsiteY5" fmla="*/ 697270 h 697270"/>
              <a:gd name="connsiteX6" fmla="*/ 518469 w 1603513"/>
              <a:gd name="connsiteY6" fmla="*/ 697270 h 697270"/>
              <a:gd name="connsiteX7" fmla="*/ 0 w 1603513"/>
              <a:gd name="connsiteY7" fmla="*/ 697270 h 697270"/>
              <a:gd name="connsiteX8" fmla="*/ 0 w 1603513"/>
              <a:gd name="connsiteY8" fmla="*/ 0 h 6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697270"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72663" y="243220"/>
                  <a:pt x="1631307" y="538666"/>
                  <a:pt x="1603513" y="697270"/>
                </a:cubicBezTo>
                <a:cubicBezTo>
                  <a:pt x="1492558" y="678542"/>
                  <a:pt x="1211463" y="694842"/>
                  <a:pt x="1085044" y="697270"/>
                </a:cubicBezTo>
                <a:cubicBezTo>
                  <a:pt x="958625" y="699698"/>
                  <a:pt x="654269" y="703424"/>
                  <a:pt x="518469" y="697270"/>
                </a:cubicBezTo>
                <a:cubicBezTo>
                  <a:pt x="382669" y="691116"/>
                  <a:pt x="244401" y="706174"/>
                  <a:pt x="0" y="697270"/>
                </a:cubicBezTo>
                <a:cubicBezTo>
                  <a:pt x="32865" y="499634"/>
                  <a:pt x="-13106" y="252986"/>
                  <a:pt x="0" y="0"/>
                </a:cubicBezTo>
                <a:close/>
              </a:path>
              <a:path w="1603513" h="697270"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04419" y="315542"/>
                  <a:pt x="1617260" y="350805"/>
                  <a:pt x="1603513" y="697270"/>
                </a:cubicBezTo>
                <a:cubicBezTo>
                  <a:pt x="1487536" y="684346"/>
                  <a:pt x="1233211" y="685134"/>
                  <a:pt x="1117114" y="697270"/>
                </a:cubicBezTo>
                <a:cubicBezTo>
                  <a:pt x="1001017" y="709406"/>
                  <a:pt x="729603" y="713267"/>
                  <a:pt x="598645" y="697270"/>
                </a:cubicBezTo>
                <a:cubicBezTo>
                  <a:pt x="467687" y="681273"/>
                  <a:pt x="254135" y="669733"/>
                  <a:pt x="0" y="697270"/>
                </a:cubicBezTo>
                <a:cubicBezTo>
                  <a:pt x="-21270" y="350547"/>
                  <a:pt x="31277" y="253178"/>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4A454BCC-2699-338E-8D26-7733C61F96B2}"/>
              </a:ext>
            </a:extLst>
          </p:cNvPr>
          <p:cNvSpPr/>
          <p:nvPr/>
        </p:nvSpPr>
        <p:spPr>
          <a:xfrm>
            <a:off x="4510533" y="4273924"/>
            <a:ext cx="4008530" cy="1444487"/>
          </a:xfrm>
          <a:custGeom>
            <a:avLst/>
            <a:gdLst>
              <a:gd name="connsiteX0" fmla="*/ 0 w 4008530"/>
              <a:gd name="connsiteY0" fmla="*/ 0 h 1444487"/>
              <a:gd name="connsiteX1" fmla="*/ 748259 w 4008530"/>
              <a:gd name="connsiteY1" fmla="*/ 0 h 1444487"/>
              <a:gd name="connsiteX2" fmla="*/ 1336177 w 4008530"/>
              <a:gd name="connsiteY2" fmla="*/ 0 h 1444487"/>
              <a:gd name="connsiteX3" fmla="*/ 1884009 w 4008530"/>
              <a:gd name="connsiteY3" fmla="*/ 0 h 1444487"/>
              <a:gd name="connsiteX4" fmla="*/ 2431842 w 4008530"/>
              <a:gd name="connsiteY4" fmla="*/ 0 h 1444487"/>
              <a:gd name="connsiteX5" fmla="*/ 3019759 w 4008530"/>
              <a:gd name="connsiteY5" fmla="*/ 0 h 1444487"/>
              <a:gd name="connsiteX6" fmla="*/ 4008530 w 4008530"/>
              <a:gd name="connsiteY6" fmla="*/ 0 h 1444487"/>
              <a:gd name="connsiteX7" fmla="*/ 4008530 w 4008530"/>
              <a:gd name="connsiteY7" fmla="*/ 510385 h 1444487"/>
              <a:gd name="connsiteX8" fmla="*/ 4008530 w 4008530"/>
              <a:gd name="connsiteY8" fmla="*/ 962991 h 1444487"/>
              <a:gd name="connsiteX9" fmla="*/ 4008530 w 4008530"/>
              <a:gd name="connsiteY9" fmla="*/ 1444487 h 1444487"/>
              <a:gd name="connsiteX10" fmla="*/ 3260271 w 4008530"/>
              <a:gd name="connsiteY10" fmla="*/ 1444487 h 1444487"/>
              <a:gd name="connsiteX11" fmla="*/ 2552097 w 4008530"/>
              <a:gd name="connsiteY11" fmla="*/ 1444487 h 1444487"/>
              <a:gd name="connsiteX12" fmla="*/ 1843924 w 4008530"/>
              <a:gd name="connsiteY12" fmla="*/ 1444487 h 1444487"/>
              <a:gd name="connsiteX13" fmla="*/ 1296091 w 4008530"/>
              <a:gd name="connsiteY13" fmla="*/ 1444487 h 1444487"/>
              <a:gd name="connsiteX14" fmla="*/ 668088 w 4008530"/>
              <a:gd name="connsiteY14" fmla="*/ 1444487 h 1444487"/>
              <a:gd name="connsiteX15" fmla="*/ 0 w 4008530"/>
              <a:gd name="connsiteY15" fmla="*/ 1444487 h 1444487"/>
              <a:gd name="connsiteX16" fmla="*/ 0 w 4008530"/>
              <a:gd name="connsiteY16" fmla="*/ 934102 h 1444487"/>
              <a:gd name="connsiteX17" fmla="*/ 0 w 4008530"/>
              <a:gd name="connsiteY17" fmla="*/ 495941 h 1444487"/>
              <a:gd name="connsiteX18" fmla="*/ 0 w 4008530"/>
              <a:gd name="connsiteY18"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08530" h="1444487" fill="none" extrusionOk="0">
                <a:moveTo>
                  <a:pt x="0" y="0"/>
                </a:moveTo>
                <a:cubicBezTo>
                  <a:pt x="178685" y="33051"/>
                  <a:pt x="545374" y="-25915"/>
                  <a:pt x="748259" y="0"/>
                </a:cubicBezTo>
                <a:cubicBezTo>
                  <a:pt x="951144" y="25915"/>
                  <a:pt x="1054384" y="28810"/>
                  <a:pt x="1336177" y="0"/>
                </a:cubicBezTo>
                <a:cubicBezTo>
                  <a:pt x="1617970" y="-28810"/>
                  <a:pt x="1720254" y="-7649"/>
                  <a:pt x="1884009" y="0"/>
                </a:cubicBezTo>
                <a:cubicBezTo>
                  <a:pt x="2047764" y="7649"/>
                  <a:pt x="2228629" y="5530"/>
                  <a:pt x="2431842" y="0"/>
                </a:cubicBezTo>
                <a:cubicBezTo>
                  <a:pt x="2635055" y="-5530"/>
                  <a:pt x="2789278" y="5900"/>
                  <a:pt x="3019759" y="0"/>
                </a:cubicBezTo>
                <a:cubicBezTo>
                  <a:pt x="3250240" y="-5900"/>
                  <a:pt x="3643310" y="-48778"/>
                  <a:pt x="4008530" y="0"/>
                </a:cubicBezTo>
                <a:cubicBezTo>
                  <a:pt x="4011730" y="112110"/>
                  <a:pt x="4007551" y="337463"/>
                  <a:pt x="4008530" y="510385"/>
                </a:cubicBezTo>
                <a:cubicBezTo>
                  <a:pt x="4009509" y="683307"/>
                  <a:pt x="4014310" y="830971"/>
                  <a:pt x="4008530" y="962991"/>
                </a:cubicBezTo>
                <a:cubicBezTo>
                  <a:pt x="4002750" y="1095011"/>
                  <a:pt x="4029879" y="1233661"/>
                  <a:pt x="4008530" y="1444487"/>
                </a:cubicBezTo>
                <a:cubicBezTo>
                  <a:pt x="3735418" y="1451540"/>
                  <a:pt x="3473872" y="1454239"/>
                  <a:pt x="3260271" y="1444487"/>
                </a:cubicBezTo>
                <a:cubicBezTo>
                  <a:pt x="3046670" y="1434735"/>
                  <a:pt x="2789392" y="1419150"/>
                  <a:pt x="2552097" y="1444487"/>
                </a:cubicBezTo>
                <a:cubicBezTo>
                  <a:pt x="2314802" y="1469824"/>
                  <a:pt x="2015649" y="1470100"/>
                  <a:pt x="1843924" y="1444487"/>
                </a:cubicBezTo>
                <a:cubicBezTo>
                  <a:pt x="1672199" y="1418874"/>
                  <a:pt x="1491968" y="1422334"/>
                  <a:pt x="1296091" y="1444487"/>
                </a:cubicBezTo>
                <a:cubicBezTo>
                  <a:pt x="1100214" y="1466640"/>
                  <a:pt x="836418" y="1419032"/>
                  <a:pt x="668088" y="1444487"/>
                </a:cubicBezTo>
                <a:cubicBezTo>
                  <a:pt x="499758" y="1469942"/>
                  <a:pt x="231724" y="1434095"/>
                  <a:pt x="0" y="1444487"/>
                </a:cubicBezTo>
                <a:cubicBezTo>
                  <a:pt x="-20981" y="1220189"/>
                  <a:pt x="14463" y="1164334"/>
                  <a:pt x="0" y="934102"/>
                </a:cubicBezTo>
                <a:cubicBezTo>
                  <a:pt x="-14463" y="703871"/>
                  <a:pt x="4872" y="702011"/>
                  <a:pt x="0" y="495941"/>
                </a:cubicBezTo>
                <a:cubicBezTo>
                  <a:pt x="-4872" y="289871"/>
                  <a:pt x="2659" y="175280"/>
                  <a:pt x="0" y="0"/>
                </a:cubicBezTo>
                <a:close/>
              </a:path>
              <a:path w="4008530" h="1444487" stroke="0" extrusionOk="0">
                <a:moveTo>
                  <a:pt x="0" y="0"/>
                </a:moveTo>
                <a:cubicBezTo>
                  <a:pt x="308436" y="-29069"/>
                  <a:pt x="485982" y="-24126"/>
                  <a:pt x="628003" y="0"/>
                </a:cubicBezTo>
                <a:cubicBezTo>
                  <a:pt x="770024" y="24126"/>
                  <a:pt x="1120110" y="-32793"/>
                  <a:pt x="1296091" y="0"/>
                </a:cubicBezTo>
                <a:cubicBezTo>
                  <a:pt x="1472072" y="32793"/>
                  <a:pt x="1784152" y="-32762"/>
                  <a:pt x="2044350" y="0"/>
                </a:cubicBezTo>
                <a:cubicBezTo>
                  <a:pt x="2304548" y="32762"/>
                  <a:pt x="2596199" y="-30146"/>
                  <a:pt x="2752524" y="0"/>
                </a:cubicBezTo>
                <a:cubicBezTo>
                  <a:pt x="2908849" y="30146"/>
                  <a:pt x="3421660" y="45657"/>
                  <a:pt x="4008530" y="0"/>
                </a:cubicBezTo>
                <a:cubicBezTo>
                  <a:pt x="4020281" y="122145"/>
                  <a:pt x="4016197" y="320489"/>
                  <a:pt x="4008530" y="467051"/>
                </a:cubicBezTo>
                <a:cubicBezTo>
                  <a:pt x="4000863" y="613613"/>
                  <a:pt x="4028223" y="861344"/>
                  <a:pt x="4008530" y="962991"/>
                </a:cubicBezTo>
                <a:cubicBezTo>
                  <a:pt x="3988837" y="1064638"/>
                  <a:pt x="4008816" y="1259142"/>
                  <a:pt x="4008530" y="1444487"/>
                </a:cubicBezTo>
                <a:cubicBezTo>
                  <a:pt x="3815715" y="1461060"/>
                  <a:pt x="3578761" y="1458154"/>
                  <a:pt x="3420612" y="1444487"/>
                </a:cubicBezTo>
                <a:cubicBezTo>
                  <a:pt x="3262463" y="1430820"/>
                  <a:pt x="3048885" y="1434527"/>
                  <a:pt x="2792609" y="1444487"/>
                </a:cubicBezTo>
                <a:cubicBezTo>
                  <a:pt x="2536333" y="1454447"/>
                  <a:pt x="2266262" y="1435982"/>
                  <a:pt x="2044350" y="1444487"/>
                </a:cubicBezTo>
                <a:cubicBezTo>
                  <a:pt x="1822438" y="1452992"/>
                  <a:pt x="1698063" y="1453074"/>
                  <a:pt x="1456433" y="1444487"/>
                </a:cubicBezTo>
                <a:cubicBezTo>
                  <a:pt x="1214803" y="1435900"/>
                  <a:pt x="904178" y="1418644"/>
                  <a:pt x="708174" y="1444487"/>
                </a:cubicBezTo>
                <a:cubicBezTo>
                  <a:pt x="512170" y="1470330"/>
                  <a:pt x="332211" y="1433659"/>
                  <a:pt x="0" y="1444487"/>
                </a:cubicBezTo>
                <a:cubicBezTo>
                  <a:pt x="6291" y="1318925"/>
                  <a:pt x="14997" y="1111200"/>
                  <a:pt x="0" y="977436"/>
                </a:cubicBezTo>
                <a:cubicBezTo>
                  <a:pt x="-14997" y="843672"/>
                  <a:pt x="-18023" y="671225"/>
                  <a:pt x="0" y="467051"/>
                </a:cubicBezTo>
                <a:cubicBezTo>
                  <a:pt x="18023" y="262878"/>
                  <a:pt x="-11901" y="206226"/>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202D856D-1E19-F9D3-11E9-E7A1DF35FB26}"/>
              </a:ext>
            </a:extLst>
          </p:cNvPr>
          <p:cNvSpPr/>
          <p:nvPr/>
        </p:nvSpPr>
        <p:spPr>
          <a:xfrm>
            <a:off x="8877338" y="426501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17E175E-6891-883B-D50B-2FE3E8DB9D15}"/>
              </a:ext>
            </a:extLst>
          </p:cNvPr>
          <p:cNvSpPr txBox="1"/>
          <p:nvPr/>
        </p:nvSpPr>
        <p:spPr>
          <a:xfrm>
            <a:off x="3403481" y="6522280"/>
            <a:ext cx="1502732" cy="276998"/>
          </a:xfrm>
          <a:prstGeom prst="rect">
            <a:avLst/>
          </a:prstGeom>
          <a:solidFill>
            <a:srgbClr val="FFDF7F"/>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defRPr sz="1200" b="1">
                <a:solidFill>
                  <a:srgbClr val="005E77"/>
                </a:solidFill>
                <a:cs typeface="Arial" panose="020B0604020202020204" pitchFamily="34" charset="0"/>
              </a:defRPr>
            </a:lvl1pPr>
          </a:lstStyle>
          <a:p>
            <a:pPr algn="ctr"/>
            <a:r>
              <a:rPr lang="en-US" sz="1600" b="0" dirty="0"/>
              <a:t>Steps/Processes</a:t>
            </a:r>
            <a:endParaRPr lang="nl-BE" sz="1600" b="0" dirty="0"/>
          </a:p>
        </p:txBody>
      </p:sp>
      <p:sp>
        <p:nvSpPr>
          <p:cNvPr id="9" name="TextBox 8">
            <a:extLst>
              <a:ext uri="{FF2B5EF4-FFF2-40B4-BE49-F238E27FC236}">
                <a16:creationId xmlns:a16="http://schemas.microsoft.com/office/drawing/2014/main" id="{D84C4702-9C26-6AB4-8874-EB6571F3934F}"/>
              </a:ext>
            </a:extLst>
          </p:cNvPr>
          <p:cNvSpPr txBox="1"/>
          <p:nvPr/>
        </p:nvSpPr>
        <p:spPr>
          <a:xfrm>
            <a:off x="1804655" y="6522279"/>
            <a:ext cx="1378800" cy="276999"/>
          </a:xfrm>
          <a:prstGeom prst="rect">
            <a:avLst/>
          </a:prstGeom>
          <a:solidFill>
            <a:srgbClr val="A8DEF5"/>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dirty="0"/>
              <a:t>Data points</a:t>
            </a:r>
            <a:endParaRPr lang="nl-BE" sz="1600" dirty="0"/>
          </a:p>
        </p:txBody>
      </p:sp>
      <p:sp>
        <p:nvSpPr>
          <p:cNvPr id="66" name="TextBox 65">
            <a:extLst>
              <a:ext uri="{FF2B5EF4-FFF2-40B4-BE49-F238E27FC236}">
                <a16:creationId xmlns:a16="http://schemas.microsoft.com/office/drawing/2014/main" id="{06CDC52B-F77E-BE45-9B60-56FA3BD859BA}"/>
              </a:ext>
            </a:extLst>
          </p:cNvPr>
          <p:cNvSpPr txBox="1"/>
          <p:nvPr/>
        </p:nvSpPr>
        <p:spPr>
          <a:xfrm>
            <a:off x="2714420" y="2702727"/>
            <a:ext cx="1856509" cy="523220"/>
          </a:xfrm>
          <a:prstGeom prst="rect">
            <a:avLst/>
          </a:prstGeom>
          <a:noFill/>
        </p:spPr>
        <p:txBody>
          <a:bodyPr wrap="square">
            <a:spAutoFit/>
          </a:bodyPr>
          <a:lstStyle/>
          <a:p>
            <a:pPr lvl="0" algn="ctr"/>
            <a:r>
              <a:rPr lang="nl-BE" sz="1400" b="1" dirty="0" err="1">
                <a:solidFill>
                  <a:srgbClr val="005E77"/>
                </a:solidFill>
                <a:latin typeface="Arial" panose="020B0604020202020204" pitchFamily="34" charset="0"/>
                <a:cs typeface="Arial" panose="020B0604020202020204" pitchFamily="34" charset="0"/>
              </a:rPr>
              <a:t>Euthanasia</a:t>
            </a:r>
            <a:r>
              <a:rPr lang="nl-BE" sz="1400" b="1" dirty="0">
                <a:solidFill>
                  <a:srgbClr val="005E77"/>
                </a:solidFill>
                <a:latin typeface="Arial" panose="020B0604020202020204" pitchFamily="34" charset="0"/>
                <a:cs typeface="Arial" panose="020B0604020202020204" pitchFamily="34" charset="0"/>
              </a:rPr>
              <a:t> &amp; </a:t>
            </a:r>
            <a:r>
              <a:rPr lang="nl-BE" sz="1400" b="1" dirty="0" err="1">
                <a:solidFill>
                  <a:srgbClr val="005E77"/>
                </a:solidFill>
                <a:latin typeface="Arial" panose="020B0604020202020204" pitchFamily="34" charset="0"/>
                <a:cs typeface="Arial" panose="020B0604020202020204" pitchFamily="34" charset="0"/>
              </a:rPr>
              <a:t>brain</a:t>
            </a:r>
            <a:r>
              <a:rPr lang="nl-BE" sz="1400" b="1" dirty="0">
                <a:solidFill>
                  <a:srgbClr val="005E77"/>
                </a:solidFill>
                <a:latin typeface="Arial" panose="020B0604020202020204" pitchFamily="34" charset="0"/>
                <a:cs typeface="Arial" panose="020B0604020202020204" pitchFamily="34" charset="0"/>
              </a:rPr>
              <a:t> </a:t>
            </a:r>
            <a:r>
              <a:rPr lang="nl-BE" sz="1400" b="1" dirty="0" err="1">
                <a:solidFill>
                  <a:srgbClr val="005E77"/>
                </a:solidFill>
                <a:latin typeface="Arial" panose="020B0604020202020204" pitchFamily="34" charset="0"/>
                <a:cs typeface="Arial" panose="020B0604020202020204" pitchFamily="34" charset="0"/>
              </a:rPr>
              <a:t>extraction</a:t>
            </a:r>
            <a:endParaRPr lang="nl-BE" sz="1400" b="1" dirty="0">
              <a:solidFill>
                <a:srgbClr val="005E77"/>
              </a:solidFill>
              <a:latin typeface="Arial" panose="020B0604020202020204" pitchFamily="34" charset="0"/>
              <a:cs typeface="Arial" panose="020B0604020202020204" pitchFamily="34" charset="0"/>
            </a:endParaRPr>
          </a:p>
        </p:txBody>
      </p:sp>
      <p:sp>
        <p:nvSpPr>
          <p:cNvPr id="67" name="TextBox 66">
            <a:extLst>
              <a:ext uri="{FF2B5EF4-FFF2-40B4-BE49-F238E27FC236}">
                <a16:creationId xmlns:a16="http://schemas.microsoft.com/office/drawing/2014/main" id="{45764DAB-78AF-658D-B751-6EF575266EC2}"/>
              </a:ext>
            </a:extLst>
          </p:cNvPr>
          <p:cNvSpPr txBox="1"/>
          <p:nvPr/>
        </p:nvSpPr>
        <p:spPr>
          <a:xfrm>
            <a:off x="5126394" y="2704232"/>
            <a:ext cx="1856509" cy="738664"/>
          </a:xfrm>
          <a:prstGeom prst="rect">
            <a:avLst/>
          </a:prstGeom>
          <a:noFill/>
        </p:spPr>
        <p:txBody>
          <a:bodyPr wrap="square">
            <a:spAutoFit/>
          </a:bodyPr>
          <a:lstStyle/>
          <a:p>
            <a:pPr algn="ctr"/>
            <a:r>
              <a:rPr lang="nl-BE" sz="1400" b="1" err="1">
                <a:solidFill>
                  <a:srgbClr val="005E77"/>
                </a:solidFill>
                <a:latin typeface="Arial" panose="020B0604020202020204" pitchFamily="34" charset="0"/>
                <a:cs typeface="Arial" panose="020B0604020202020204" pitchFamily="34" charset="0"/>
              </a:rPr>
              <a:t>Fresh</a:t>
            </a:r>
            <a:r>
              <a:rPr lang="nl-BE" sz="1400" b="1">
                <a:solidFill>
                  <a:srgbClr val="005E77"/>
                </a:solidFill>
                <a:latin typeface="Arial" panose="020B0604020202020204" pitchFamily="34" charset="0"/>
                <a:cs typeface="Arial" panose="020B0604020202020204" pitchFamily="34" charset="0"/>
              </a:rPr>
              <a:t>/</a:t>
            </a:r>
            <a:r>
              <a:rPr lang="nl-BE" sz="1400" b="1" err="1">
                <a:solidFill>
                  <a:srgbClr val="005E77"/>
                </a:solidFill>
                <a:latin typeface="Arial" panose="020B0604020202020204" pitchFamily="34" charset="0"/>
                <a:cs typeface="Arial" panose="020B0604020202020204" pitchFamily="34" charset="0"/>
              </a:rPr>
              <a:t>frozen</a:t>
            </a:r>
            <a:r>
              <a:rPr lang="nl-BE" sz="1400" b="1">
                <a:solidFill>
                  <a:srgbClr val="005E77"/>
                </a:solidFill>
                <a:latin typeface="Arial" panose="020B0604020202020204" pitchFamily="34" charset="0"/>
                <a:cs typeface="Arial" panose="020B0604020202020204" pitchFamily="34" charset="0"/>
              </a:rPr>
              <a:t> </a:t>
            </a:r>
            <a:br>
              <a:rPr lang="nl-BE" sz="1400" b="1">
                <a:solidFill>
                  <a:srgbClr val="005E77"/>
                </a:solidFill>
                <a:latin typeface="Arial" panose="020B0604020202020204" pitchFamily="34" charset="0"/>
                <a:cs typeface="Arial" panose="020B0604020202020204" pitchFamily="34" charset="0"/>
              </a:rPr>
            </a:br>
            <a:r>
              <a:rPr lang="nl-BE" sz="1400" b="1" err="1">
                <a:solidFill>
                  <a:srgbClr val="005E77"/>
                </a:solidFill>
                <a:latin typeface="Arial" panose="020B0604020202020204" pitchFamily="34" charset="0"/>
                <a:cs typeface="Arial" panose="020B0604020202020204" pitchFamily="34" charset="0"/>
              </a:rPr>
              <a:t>brain</a:t>
            </a:r>
            <a:r>
              <a:rPr lang="nl-BE" sz="1400" b="1">
                <a:solidFill>
                  <a:srgbClr val="005E77"/>
                </a:solidFill>
                <a:latin typeface="Arial" panose="020B0604020202020204" pitchFamily="34" charset="0"/>
                <a:cs typeface="Arial" panose="020B0604020202020204" pitchFamily="34" charset="0"/>
              </a:rPr>
              <a:t> tissue</a:t>
            </a:r>
          </a:p>
          <a:p>
            <a:pPr lvl="0" algn="ctr"/>
            <a:endParaRPr lang="nl-BE" sz="1400" b="1" kern="1200">
              <a:solidFill>
                <a:srgbClr val="005E77"/>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2AED714F-202F-3565-A28E-9DD932536EFA}"/>
              </a:ext>
            </a:extLst>
          </p:cNvPr>
          <p:cNvSpPr txBox="1"/>
          <p:nvPr/>
        </p:nvSpPr>
        <p:spPr>
          <a:xfrm>
            <a:off x="7491364" y="2702727"/>
            <a:ext cx="1856509" cy="523220"/>
          </a:xfrm>
          <a:prstGeom prst="rect">
            <a:avLst/>
          </a:prstGeom>
          <a:noFill/>
        </p:spPr>
        <p:txBody>
          <a:bodyPr wrap="square">
            <a:spAutoFit/>
          </a:bodyPr>
          <a:lstStyle/>
          <a:p>
            <a:pPr lvl="0" algn="ctr"/>
            <a:r>
              <a:rPr lang="nl-NL" sz="1400" b="1">
                <a:solidFill>
                  <a:srgbClr val="005E77"/>
                </a:solidFill>
                <a:latin typeface="Arial" panose="020B0604020202020204" pitchFamily="34" charset="0"/>
                <a:cs typeface="Arial" panose="020B0604020202020204" pitchFamily="34" charset="0"/>
              </a:rPr>
              <a:t>RNA </a:t>
            </a:r>
            <a:r>
              <a:rPr lang="nl-NL" sz="1400" b="1" err="1">
                <a:solidFill>
                  <a:srgbClr val="005E77"/>
                </a:solidFill>
                <a:latin typeface="Arial" panose="020B0604020202020204" pitchFamily="34" charset="0"/>
                <a:cs typeface="Arial" panose="020B0604020202020204" pitchFamily="34" charset="0"/>
              </a:rPr>
              <a:t>isolation</a:t>
            </a:r>
            <a:r>
              <a:rPr lang="nl-NL" sz="1400" b="1">
                <a:solidFill>
                  <a:srgbClr val="005E77"/>
                </a:solidFill>
                <a:latin typeface="Arial" panose="020B0604020202020204" pitchFamily="34" charset="0"/>
                <a:cs typeface="Arial" panose="020B0604020202020204" pitchFamily="34" charset="0"/>
              </a:rPr>
              <a:t>  &amp;</a:t>
            </a:r>
            <a:br>
              <a:rPr lang="nl-NL" sz="1400" b="1">
                <a:solidFill>
                  <a:srgbClr val="005E77"/>
                </a:solidFill>
                <a:latin typeface="Arial" panose="020B0604020202020204" pitchFamily="34" charset="0"/>
                <a:cs typeface="Arial" panose="020B0604020202020204" pitchFamily="34" charset="0"/>
              </a:rPr>
            </a:b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Quality</a:t>
            </a:r>
            <a:r>
              <a:rPr lang="nl-NL" sz="1400" b="1">
                <a:solidFill>
                  <a:srgbClr val="005E77"/>
                </a:solidFill>
                <a:latin typeface="Arial" panose="020B0604020202020204" pitchFamily="34" charset="0"/>
                <a:cs typeface="Arial" panose="020B0604020202020204" pitchFamily="34" charset="0"/>
              </a:rPr>
              <a:t> Control </a:t>
            </a:r>
            <a:endParaRPr lang="nl-BE" sz="1400" b="1">
              <a:solidFill>
                <a:srgbClr val="005E77"/>
              </a:solidFill>
              <a:latin typeface="Arial" panose="020B0604020202020204" pitchFamily="34" charset="0"/>
              <a:cs typeface="Arial" panose="020B0604020202020204" pitchFamily="34" charset="0"/>
            </a:endParaRPr>
          </a:p>
        </p:txBody>
      </p:sp>
      <p:sp>
        <p:nvSpPr>
          <p:cNvPr id="85" name="Rectangle 84">
            <a:extLst>
              <a:ext uri="{FF2B5EF4-FFF2-40B4-BE49-F238E27FC236}">
                <a16:creationId xmlns:a16="http://schemas.microsoft.com/office/drawing/2014/main" id="{968310C3-BED0-6E96-D8A4-8B61BC82E752}"/>
              </a:ext>
            </a:extLst>
          </p:cNvPr>
          <p:cNvSpPr/>
          <p:nvPr/>
        </p:nvSpPr>
        <p:spPr>
          <a:xfrm>
            <a:off x="543910" y="4322173"/>
            <a:ext cx="1603513" cy="1444487"/>
          </a:xfrm>
          <a:custGeom>
            <a:avLst/>
            <a:gdLst>
              <a:gd name="connsiteX0" fmla="*/ 0 w 1603513"/>
              <a:gd name="connsiteY0" fmla="*/ 0 h 1444487"/>
              <a:gd name="connsiteX1" fmla="*/ 518469 w 1603513"/>
              <a:gd name="connsiteY1" fmla="*/ 0 h 1444487"/>
              <a:gd name="connsiteX2" fmla="*/ 1020903 w 1603513"/>
              <a:gd name="connsiteY2" fmla="*/ 0 h 1444487"/>
              <a:gd name="connsiteX3" fmla="*/ 1603513 w 1603513"/>
              <a:gd name="connsiteY3" fmla="*/ 0 h 1444487"/>
              <a:gd name="connsiteX4" fmla="*/ 1603513 w 1603513"/>
              <a:gd name="connsiteY4" fmla="*/ 495941 h 1444487"/>
              <a:gd name="connsiteX5" fmla="*/ 1603513 w 1603513"/>
              <a:gd name="connsiteY5" fmla="*/ 962991 h 1444487"/>
              <a:gd name="connsiteX6" fmla="*/ 1603513 w 1603513"/>
              <a:gd name="connsiteY6" fmla="*/ 1444487 h 1444487"/>
              <a:gd name="connsiteX7" fmla="*/ 1085044 w 1603513"/>
              <a:gd name="connsiteY7" fmla="*/ 1444487 h 1444487"/>
              <a:gd name="connsiteX8" fmla="*/ 582610 w 1603513"/>
              <a:gd name="connsiteY8" fmla="*/ 1444487 h 1444487"/>
              <a:gd name="connsiteX9" fmla="*/ 0 w 1603513"/>
              <a:gd name="connsiteY9" fmla="*/ 1444487 h 1444487"/>
              <a:gd name="connsiteX10" fmla="*/ 0 w 1603513"/>
              <a:gd name="connsiteY10" fmla="*/ 991881 h 1444487"/>
              <a:gd name="connsiteX11" fmla="*/ 0 w 1603513"/>
              <a:gd name="connsiteY11" fmla="*/ 481496 h 1444487"/>
              <a:gd name="connsiteX12" fmla="*/ 0 w 1603513"/>
              <a:gd name="connsiteY12" fmla="*/ 0 h 144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3513" h="1444487" fill="none" extrusionOk="0">
                <a:moveTo>
                  <a:pt x="0" y="0"/>
                </a:moveTo>
                <a:cubicBezTo>
                  <a:pt x="239471" y="4882"/>
                  <a:pt x="402886" y="24516"/>
                  <a:pt x="518469" y="0"/>
                </a:cubicBezTo>
                <a:cubicBezTo>
                  <a:pt x="634052" y="-24516"/>
                  <a:pt x="833907" y="-10070"/>
                  <a:pt x="1020903" y="0"/>
                </a:cubicBezTo>
                <a:cubicBezTo>
                  <a:pt x="1207899" y="10070"/>
                  <a:pt x="1349379" y="-17802"/>
                  <a:pt x="1603513" y="0"/>
                </a:cubicBezTo>
                <a:cubicBezTo>
                  <a:pt x="1604440" y="211558"/>
                  <a:pt x="1591159" y="338618"/>
                  <a:pt x="1603513" y="495941"/>
                </a:cubicBezTo>
                <a:cubicBezTo>
                  <a:pt x="1615867" y="653264"/>
                  <a:pt x="1611629" y="757833"/>
                  <a:pt x="1603513" y="962991"/>
                </a:cubicBezTo>
                <a:cubicBezTo>
                  <a:pt x="1595398" y="1168149"/>
                  <a:pt x="1590963" y="1322346"/>
                  <a:pt x="1603513" y="1444487"/>
                </a:cubicBezTo>
                <a:cubicBezTo>
                  <a:pt x="1387575" y="1427558"/>
                  <a:pt x="1206932" y="1454789"/>
                  <a:pt x="1085044" y="1444487"/>
                </a:cubicBezTo>
                <a:cubicBezTo>
                  <a:pt x="963156" y="1434185"/>
                  <a:pt x="742139" y="1426965"/>
                  <a:pt x="582610" y="1444487"/>
                </a:cubicBezTo>
                <a:cubicBezTo>
                  <a:pt x="423081" y="1462009"/>
                  <a:pt x="285336" y="1453257"/>
                  <a:pt x="0" y="1444487"/>
                </a:cubicBezTo>
                <a:cubicBezTo>
                  <a:pt x="-2860" y="1296116"/>
                  <a:pt x="6468" y="1207947"/>
                  <a:pt x="0" y="991881"/>
                </a:cubicBezTo>
                <a:cubicBezTo>
                  <a:pt x="-6468" y="775815"/>
                  <a:pt x="-24881" y="682884"/>
                  <a:pt x="0" y="481496"/>
                </a:cubicBezTo>
                <a:cubicBezTo>
                  <a:pt x="24881" y="280109"/>
                  <a:pt x="11455" y="184978"/>
                  <a:pt x="0" y="0"/>
                </a:cubicBezTo>
                <a:close/>
              </a:path>
              <a:path w="1603513" h="144448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594140" y="204576"/>
                  <a:pt x="1602279" y="331205"/>
                  <a:pt x="1603513" y="495941"/>
                </a:cubicBezTo>
                <a:cubicBezTo>
                  <a:pt x="1604747" y="660677"/>
                  <a:pt x="1609695" y="718906"/>
                  <a:pt x="1603513" y="934102"/>
                </a:cubicBezTo>
                <a:cubicBezTo>
                  <a:pt x="1597331" y="1149298"/>
                  <a:pt x="1578316" y="1249665"/>
                  <a:pt x="1603513" y="1444487"/>
                </a:cubicBezTo>
                <a:cubicBezTo>
                  <a:pt x="1464028" y="1421192"/>
                  <a:pt x="1279155" y="1461492"/>
                  <a:pt x="1052974" y="1444487"/>
                </a:cubicBezTo>
                <a:cubicBezTo>
                  <a:pt x="826793" y="1427482"/>
                  <a:pt x="651808" y="1449978"/>
                  <a:pt x="534504" y="1444487"/>
                </a:cubicBezTo>
                <a:cubicBezTo>
                  <a:pt x="417200" y="1438997"/>
                  <a:pt x="214467" y="1435293"/>
                  <a:pt x="0" y="1444487"/>
                </a:cubicBezTo>
                <a:cubicBezTo>
                  <a:pt x="-5770" y="1269784"/>
                  <a:pt x="22674" y="1086224"/>
                  <a:pt x="0" y="977436"/>
                </a:cubicBezTo>
                <a:cubicBezTo>
                  <a:pt x="-22674" y="868648"/>
                  <a:pt x="-12388" y="686010"/>
                  <a:pt x="0" y="539275"/>
                </a:cubicBezTo>
                <a:cubicBezTo>
                  <a:pt x="12388" y="392540"/>
                  <a:pt x="-10170" y="203015"/>
                  <a:pt x="0" y="0"/>
                </a:cubicBezTo>
                <a:close/>
              </a:path>
            </a:pathLst>
          </a:custGeom>
          <a:solidFill>
            <a:srgbClr val="FFDF7F"/>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F7984BA4-9B35-A140-2448-CDF153619F6D}"/>
              </a:ext>
            </a:extLst>
          </p:cNvPr>
          <p:cNvSpPr txBox="1"/>
          <p:nvPr/>
        </p:nvSpPr>
        <p:spPr>
          <a:xfrm>
            <a:off x="417412" y="4749750"/>
            <a:ext cx="1856509" cy="523220"/>
          </a:xfrm>
          <a:prstGeom prst="rect">
            <a:avLst/>
          </a:prstGeom>
          <a:noFill/>
        </p:spPr>
        <p:txBody>
          <a:bodyPr wrap="square">
            <a:spAutoFit/>
          </a:bodyPr>
          <a:lstStyle/>
          <a:p>
            <a:pPr lvl="0" algn="ctr"/>
            <a:r>
              <a:rPr lang="nl-NL" sz="1400" b="1" dirty="0">
                <a:solidFill>
                  <a:srgbClr val="005E77"/>
                </a:solidFill>
                <a:latin typeface="Arial" panose="020B0604020202020204" pitchFamily="34" charset="0"/>
                <a:cs typeface="Arial" panose="020B0604020202020204" pitchFamily="34" charset="0"/>
              </a:rPr>
              <a:t>Library </a:t>
            </a:r>
            <a:r>
              <a:rPr lang="nl-NL" sz="1400" b="1" dirty="0" err="1">
                <a:solidFill>
                  <a:srgbClr val="005E77"/>
                </a:solidFill>
                <a:latin typeface="Arial" panose="020B0604020202020204" pitchFamily="34" charset="0"/>
                <a:cs typeface="Arial" panose="020B0604020202020204" pitchFamily="34" charset="0"/>
              </a:rPr>
              <a:t>prep</a:t>
            </a:r>
            <a:r>
              <a:rPr lang="nl-NL" sz="1400" b="1" dirty="0">
                <a:solidFill>
                  <a:srgbClr val="005E77"/>
                </a:solidFill>
                <a:latin typeface="Arial" panose="020B0604020202020204" pitchFamily="34" charset="0"/>
                <a:cs typeface="Arial" panose="020B0604020202020204" pitchFamily="34" charset="0"/>
              </a:rPr>
              <a:t> &amp; </a:t>
            </a:r>
            <a:br>
              <a:rPr lang="nl-NL" sz="1400" b="1" dirty="0">
                <a:solidFill>
                  <a:srgbClr val="005E77"/>
                </a:solidFill>
                <a:latin typeface="Arial" panose="020B0604020202020204" pitchFamily="34" charset="0"/>
                <a:cs typeface="Arial" panose="020B0604020202020204" pitchFamily="34" charset="0"/>
              </a:rPr>
            </a:br>
            <a:r>
              <a:rPr lang="nl-NL" sz="1400" b="1" dirty="0">
                <a:solidFill>
                  <a:srgbClr val="005E77"/>
                </a:solidFill>
                <a:latin typeface="Arial" panose="020B0604020202020204" pitchFamily="34" charset="0"/>
                <a:cs typeface="Arial" panose="020B0604020202020204" pitchFamily="34" charset="0"/>
              </a:rPr>
              <a:t>RNA </a:t>
            </a:r>
            <a:r>
              <a:rPr lang="nl-NL" sz="1400" b="1" dirty="0" err="1">
                <a:solidFill>
                  <a:srgbClr val="005E77"/>
                </a:solidFill>
                <a:latin typeface="Arial" panose="020B0604020202020204" pitchFamily="34" charset="0"/>
                <a:cs typeface="Arial" panose="020B0604020202020204" pitchFamily="34" charset="0"/>
              </a:rPr>
              <a:t>sequencing</a:t>
            </a:r>
            <a:endParaRPr lang="nl-BE" sz="1400" b="1" dirty="0">
              <a:solidFill>
                <a:srgbClr val="005E77"/>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B925B90A-6250-C890-5580-1BADC457A321}"/>
              </a:ext>
            </a:extLst>
          </p:cNvPr>
          <p:cNvSpPr txBox="1"/>
          <p:nvPr/>
        </p:nvSpPr>
        <p:spPr>
          <a:xfrm>
            <a:off x="4669340" y="4294998"/>
            <a:ext cx="3690915" cy="1384995"/>
          </a:xfrm>
          <a:prstGeom prst="rect">
            <a:avLst/>
          </a:prstGeom>
          <a:noFill/>
        </p:spPr>
        <p:txBody>
          <a:bodyPr wrap="square">
            <a:spAutoFit/>
          </a:bodyPr>
          <a:lstStyle/>
          <a:p>
            <a:pPr lvl="0"/>
            <a:r>
              <a:rPr lang="nl-NL" sz="1400" b="1" u="sng" err="1">
                <a:solidFill>
                  <a:srgbClr val="005E77"/>
                </a:solidFill>
                <a:latin typeface="Arial" panose="020B0604020202020204" pitchFamily="34" charset="0"/>
                <a:cs typeface="Arial" panose="020B0604020202020204" pitchFamily="34" charset="0"/>
              </a:rPr>
              <a:t>Bioinformatics</a:t>
            </a:r>
            <a:r>
              <a:rPr lang="nl-NL" sz="1400" b="1" u="sng">
                <a:solidFill>
                  <a:srgbClr val="005E77"/>
                </a:solidFill>
                <a:latin typeface="Arial" panose="020B0604020202020204" pitchFamily="34" charset="0"/>
                <a:cs typeface="Arial" panose="020B0604020202020204" pitchFamily="34" charset="0"/>
              </a:rPr>
              <a:t> Analysis:</a:t>
            </a:r>
          </a:p>
          <a:p>
            <a:pPr marL="228600" lvl="0" indent="-228600">
              <a:buFont typeface="+mj-lt"/>
              <a:buAutoNum type="arabicPeriod"/>
            </a:pP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Quality</a:t>
            </a:r>
            <a:r>
              <a:rPr lang="nl-NL" sz="1400" b="1">
                <a:solidFill>
                  <a:srgbClr val="005E77"/>
                </a:solidFill>
                <a:latin typeface="Arial" panose="020B0604020202020204" pitchFamily="34" charset="0"/>
                <a:cs typeface="Arial" panose="020B0604020202020204" pitchFamily="34" charset="0"/>
              </a:rPr>
              <a:t> control (</a:t>
            </a:r>
            <a:r>
              <a:rPr lang="nl-NL" sz="1400" b="1" err="1">
                <a:solidFill>
                  <a:srgbClr val="005E77"/>
                </a:solidFill>
                <a:latin typeface="Arial" panose="020B0604020202020204" pitchFamily="34" charset="0"/>
                <a:cs typeface="Arial" panose="020B0604020202020204" pitchFamily="34" charset="0"/>
              </a:rPr>
              <a:t>FastQC</a:t>
            </a:r>
            <a:r>
              <a:rPr lang="nl-NL" sz="1400" b="1">
                <a:solidFill>
                  <a:srgbClr val="005E77"/>
                </a:solidFill>
                <a:latin typeface="Arial" panose="020B0604020202020204" pitchFamily="34" charset="0"/>
                <a:cs typeface="Arial" panose="020B0604020202020204" pitchFamily="34" charset="0"/>
              </a:rPr>
              <a:t>)</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Alignment</a:t>
            </a:r>
            <a:r>
              <a:rPr lang="nl-NL" sz="1400" b="1">
                <a:solidFill>
                  <a:srgbClr val="005E77"/>
                </a:solidFill>
                <a:latin typeface="Arial" panose="020B0604020202020204" pitchFamily="34" charset="0"/>
                <a:cs typeface="Arial" panose="020B0604020202020204" pitchFamily="34" charset="0"/>
              </a:rPr>
              <a:t> (e.g., STAR)</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Quantification</a:t>
            </a:r>
            <a:r>
              <a:rPr lang="nl-NL" sz="1400" b="1">
                <a:solidFill>
                  <a:srgbClr val="005E77"/>
                </a:solidFill>
                <a:latin typeface="Arial" panose="020B0604020202020204" pitchFamily="34" charset="0"/>
                <a:cs typeface="Arial" panose="020B0604020202020204" pitchFamily="34" charset="0"/>
              </a:rPr>
              <a:t> (e.g., </a:t>
            </a:r>
            <a:r>
              <a:rPr lang="nl-NL" sz="1400" b="1" err="1">
                <a:solidFill>
                  <a:srgbClr val="005E77"/>
                </a:solidFill>
                <a:latin typeface="Arial" panose="020B0604020202020204" pitchFamily="34" charset="0"/>
                <a:cs typeface="Arial" panose="020B0604020202020204" pitchFamily="34" charset="0"/>
              </a:rPr>
              <a:t>featureCounts</a:t>
            </a:r>
            <a:r>
              <a:rPr lang="nl-NL" sz="1400" b="1">
                <a:solidFill>
                  <a:srgbClr val="005E77"/>
                </a:solidFill>
                <a:latin typeface="Arial" panose="020B0604020202020204" pitchFamily="34" charset="0"/>
                <a:cs typeface="Arial" panose="020B0604020202020204" pitchFamily="34" charset="0"/>
              </a:rPr>
              <a:t>)</a:t>
            </a:r>
          </a:p>
          <a:p>
            <a:pPr marL="228600" lvl="0" indent="-228600">
              <a:buFont typeface="+mj-lt"/>
              <a:buAutoNum type="arabicPeriod"/>
            </a:pPr>
            <a:r>
              <a:rPr lang="nl-NL" sz="1400" b="1" err="1">
                <a:solidFill>
                  <a:srgbClr val="005E77"/>
                </a:solidFill>
                <a:latin typeface="Arial" panose="020B0604020202020204" pitchFamily="34" charset="0"/>
                <a:cs typeface="Arial" panose="020B0604020202020204" pitchFamily="34" charset="0"/>
              </a:rPr>
              <a:t>Differential</a:t>
            </a:r>
            <a:r>
              <a:rPr lang="nl-NL" sz="1400" b="1">
                <a:solidFill>
                  <a:srgbClr val="005E77"/>
                </a:solidFill>
                <a:latin typeface="Arial" panose="020B0604020202020204" pitchFamily="34" charset="0"/>
                <a:cs typeface="Arial" panose="020B0604020202020204" pitchFamily="34" charset="0"/>
              </a:rPr>
              <a:t> </a:t>
            </a:r>
            <a:r>
              <a:rPr lang="nl-NL" sz="1400" b="1" err="1">
                <a:solidFill>
                  <a:srgbClr val="005E77"/>
                </a:solidFill>
                <a:latin typeface="Arial" panose="020B0604020202020204" pitchFamily="34" charset="0"/>
                <a:cs typeface="Arial" panose="020B0604020202020204" pitchFamily="34" charset="0"/>
              </a:rPr>
              <a:t>expression</a:t>
            </a:r>
            <a:r>
              <a:rPr lang="nl-NL" sz="1400" b="1">
                <a:solidFill>
                  <a:srgbClr val="005E77"/>
                </a:solidFill>
                <a:latin typeface="Arial" panose="020B0604020202020204" pitchFamily="34" charset="0"/>
                <a:cs typeface="Arial" panose="020B0604020202020204" pitchFamily="34" charset="0"/>
              </a:rPr>
              <a:t> analysis (e.g., DESeq2)</a:t>
            </a:r>
            <a:endParaRPr lang="nl-BE" sz="1400" b="1">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DBB85870-D625-F7A3-E2CA-BB688D352073}"/>
              </a:ext>
            </a:extLst>
          </p:cNvPr>
          <p:cNvSpPr txBox="1"/>
          <p:nvPr/>
        </p:nvSpPr>
        <p:spPr>
          <a:xfrm>
            <a:off x="8889896" y="4485230"/>
            <a:ext cx="1571549" cy="954107"/>
          </a:xfrm>
          <a:prstGeom prst="rect">
            <a:avLst/>
          </a:prstGeom>
          <a:noFill/>
        </p:spPr>
        <p:txBody>
          <a:bodyPr wrap="square">
            <a:spAutoFit/>
          </a:bodyPr>
          <a:lstStyle/>
          <a:p>
            <a:pPr marL="228600" lvl="0" indent="-228600">
              <a:buFont typeface="+mj-lt"/>
              <a:buAutoNum type="arabicPeriod"/>
            </a:pPr>
            <a:r>
              <a:rPr lang="nl-NL" sz="1400" b="1" dirty="0">
                <a:solidFill>
                  <a:srgbClr val="005E77"/>
                </a:solidFill>
                <a:latin typeface="Arial" panose="020B0604020202020204" pitchFamily="34" charset="0"/>
                <a:cs typeface="Arial" panose="020B0604020202020204" pitchFamily="34" charset="0"/>
              </a:rPr>
              <a:t>QC </a:t>
            </a:r>
            <a:r>
              <a:rPr lang="nl-NL" sz="1400" b="1" dirty="0" err="1">
                <a:solidFill>
                  <a:srgbClr val="005E77"/>
                </a:solidFill>
                <a:latin typeface="Arial" panose="020B0604020202020204" pitchFamily="34" charset="0"/>
                <a:cs typeface="Arial" panose="020B0604020202020204" pitchFamily="34" charset="0"/>
              </a:rPr>
              <a:t>reports</a:t>
            </a:r>
            <a:endParaRPr lang="nl-NL" sz="1400" b="1" dirty="0">
              <a:solidFill>
                <a:srgbClr val="005E77"/>
              </a:solidFill>
              <a:latin typeface="Arial" panose="020B0604020202020204" pitchFamily="34" charset="0"/>
              <a:cs typeface="Arial" panose="020B0604020202020204" pitchFamily="34" charset="0"/>
            </a:endParaRPr>
          </a:p>
          <a:p>
            <a:pPr marL="228600" lvl="0" indent="-228600">
              <a:buFont typeface="+mj-lt"/>
              <a:buAutoNum type="arabicPeriod"/>
            </a:pPr>
            <a:r>
              <a:rPr lang="nl-NL" sz="1400" b="1" dirty="0">
                <a:solidFill>
                  <a:srgbClr val="005E77"/>
                </a:solidFill>
                <a:latin typeface="Arial" panose="020B0604020202020204" pitchFamily="34" charset="0"/>
                <a:cs typeface="Arial" panose="020B0604020202020204" pitchFamily="34" charset="0"/>
              </a:rPr>
              <a:t>BAM files</a:t>
            </a:r>
          </a:p>
          <a:p>
            <a:pPr marL="228600" lvl="0" indent="-228600">
              <a:buFont typeface="+mj-lt"/>
              <a:buAutoNum type="arabicPeriod"/>
            </a:pPr>
            <a:r>
              <a:rPr lang="nl-NL" sz="1400" b="1" dirty="0" err="1">
                <a:solidFill>
                  <a:srgbClr val="005E77"/>
                </a:solidFill>
                <a:latin typeface="Arial" panose="020B0604020202020204" pitchFamily="34" charset="0"/>
                <a:cs typeface="Arial" panose="020B0604020202020204" pitchFamily="34" charset="0"/>
              </a:rPr>
              <a:t>Count</a:t>
            </a:r>
            <a:r>
              <a:rPr lang="nl-NL" sz="1400" b="1" dirty="0">
                <a:solidFill>
                  <a:srgbClr val="005E77"/>
                </a:solidFill>
                <a:latin typeface="Arial" panose="020B0604020202020204" pitchFamily="34" charset="0"/>
                <a:cs typeface="Arial" panose="020B0604020202020204" pitchFamily="34" charset="0"/>
              </a:rPr>
              <a:t> matrix </a:t>
            </a:r>
          </a:p>
          <a:p>
            <a:pPr marL="228600" lvl="0" indent="-228600">
              <a:buFont typeface="+mj-lt"/>
              <a:buAutoNum type="arabicPeriod"/>
            </a:pPr>
            <a:r>
              <a:rPr lang="nl-NL" sz="1400" b="1" dirty="0">
                <a:solidFill>
                  <a:srgbClr val="005E77"/>
                </a:solidFill>
                <a:latin typeface="Arial" panose="020B0604020202020204" pitchFamily="34" charset="0"/>
                <a:cs typeface="Arial" panose="020B0604020202020204" pitchFamily="34" charset="0"/>
              </a:rPr>
              <a:t>DE </a:t>
            </a:r>
            <a:r>
              <a:rPr lang="nl-NL" sz="1400" b="1" dirty="0" err="1">
                <a:solidFill>
                  <a:srgbClr val="005E77"/>
                </a:solidFill>
                <a:latin typeface="Arial" panose="020B0604020202020204" pitchFamily="34" charset="0"/>
                <a:cs typeface="Arial" panose="020B0604020202020204" pitchFamily="34" charset="0"/>
              </a:rPr>
              <a:t>results</a:t>
            </a:r>
            <a:endParaRPr lang="nl-BE" sz="1400" b="1" dirty="0">
              <a:solidFill>
                <a:srgbClr val="005E77"/>
              </a:solidFill>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5A0FD080-3B5B-48C1-F72F-7CB60CF1331F}"/>
              </a:ext>
            </a:extLst>
          </p:cNvPr>
          <p:cNvCxnSpPr>
            <a:cxnSpLocks/>
          </p:cNvCxnSpPr>
          <p:nvPr/>
        </p:nvCxnSpPr>
        <p:spPr>
          <a:xfrm>
            <a:off x="8602343" y="4913422"/>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9FB11EAC-1D4C-0E00-0D3A-5BB621D0D1E7}"/>
              </a:ext>
            </a:extLst>
          </p:cNvPr>
          <p:cNvCxnSpPr>
            <a:cxnSpLocks/>
          </p:cNvCxnSpPr>
          <p:nvPr/>
        </p:nvCxnSpPr>
        <p:spPr>
          <a:xfrm>
            <a:off x="8602343" y="5133004"/>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6B6F2AC5-34B4-5587-AF34-43C85C52D2EF}"/>
              </a:ext>
            </a:extLst>
          </p:cNvPr>
          <p:cNvCxnSpPr>
            <a:cxnSpLocks/>
          </p:cNvCxnSpPr>
          <p:nvPr/>
        </p:nvCxnSpPr>
        <p:spPr>
          <a:xfrm>
            <a:off x="8602343" y="5352585"/>
            <a:ext cx="190783"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DA153E0-BC48-A7D2-8BF3-7E65AD96FCDD}"/>
              </a:ext>
            </a:extLst>
          </p:cNvPr>
          <p:cNvCxnSpPr>
            <a:cxnSpLocks/>
          </p:cNvCxnSpPr>
          <p:nvPr/>
        </p:nvCxnSpPr>
        <p:spPr>
          <a:xfrm>
            <a:off x="8602343" y="4693840"/>
            <a:ext cx="180150"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sp>
        <p:nvSpPr>
          <p:cNvPr id="26" name="Rectangle 25">
            <a:extLst>
              <a:ext uri="{FF2B5EF4-FFF2-40B4-BE49-F238E27FC236}">
                <a16:creationId xmlns:a16="http://schemas.microsoft.com/office/drawing/2014/main" id="{EF6B7662-2FBA-A426-C52E-A37C5ECC739D}"/>
              </a:ext>
            </a:extLst>
          </p:cNvPr>
          <p:cNvSpPr/>
          <p:nvPr/>
        </p:nvSpPr>
        <p:spPr>
          <a:xfrm>
            <a:off x="9976519" y="2752989"/>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A4AD7E58-77B1-EBD2-74E5-61C942282D1D}"/>
              </a:ext>
            </a:extLst>
          </p:cNvPr>
          <p:cNvSpPr/>
          <p:nvPr/>
        </p:nvSpPr>
        <p:spPr>
          <a:xfrm>
            <a:off x="9988277" y="3324084"/>
            <a:ext cx="1603513" cy="521177"/>
          </a:xfrm>
          <a:custGeom>
            <a:avLst/>
            <a:gdLst>
              <a:gd name="connsiteX0" fmla="*/ 0 w 1603513"/>
              <a:gd name="connsiteY0" fmla="*/ 0 h 521177"/>
              <a:gd name="connsiteX1" fmla="*/ 534504 w 1603513"/>
              <a:gd name="connsiteY1" fmla="*/ 0 h 521177"/>
              <a:gd name="connsiteX2" fmla="*/ 1052974 w 1603513"/>
              <a:gd name="connsiteY2" fmla="*/ 0 h 521177"/>
              <a:gd name="connsiteX3" fmla="*/ 1603513 w 1603513"/>
              <a:gd name="connsiteY3" fmla="*/ 0 h 521177"/>
              <a:gd name="connsiteX4" fmla="*/ 1603513 w 1603513"/>
              <a:gd name="connsiteY4" fmla="*/ 521177 h 521177"/>
              <a:gd name="connsiteX5" fmla="*/ 1085044 w 1603513"/>
              <a:gd name="connsiteY5" fmla="*/ 521177 h 521177"/>
              <a:gd name="connsiteX6" fmla="*/ 518469 w 1603513"/>
              <a:gd name="connsiteY6" fmla="*/ 521177 h 521177"/>
              <a:gd name="connsiteX7" fmla="*/ 0 w 1603513"/>
              <a:gd name="connsiteY7" fmla="*/ 521177 h 521177"/>
              <a:gd name="connsiteX8" fmla="*/ 0 w 1603513"/>
              <a:gd name="connsiteY8" fmla="*/ 0 h 52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521177"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89075" y="152696"/>
                  <a:pt x="1615833" y="268570"/>
                  <a:pt x="1603513" y="521177"/>
                </a:cubicBezTo>
                <a:cubicBezTo>
                  <a:pt x="1492558" y="502449"/>
                  <a:pt x="1211463" y="518749"/>
                  <a:pt x="1085044" y="521177"/>
                </a:cubicBezTo>
                <a:cubicBezTo>
                  <a:pt x="958625" y="523605"/>
                  <a:pt x="654269" y="527331"/>
                  <a:pt x="518469" y="521177"/>
                </a:cubicBezTo>
                <a:cubicBezTo>
                  <a:pt x="382669" y="515023"/>
                  <a:pt x="244401" y="530081"/>
                  <a:pt x="0" y="521177"/>
                </a:cubicBezTo>
                <a:cubicBezTo>
                  <a:pt x="8883" y="313234"/>
                  <a:pt x="-9077" y="208309"/>
                  <a:pt x="0" y="0"/>
                </a:cubicBezTo>
                <a:close/>
              </a:path>
              <a:path w="1603513" h="521177"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8564" y="221225"/>
                  <a:pt x="1591506" y="346499"/>
                  <a:pt x="1603513" y="521177"/>
                </a:cubicBezTo>
                <a:cubicBezTo>
                  <a:pt x="1487536" y="508253"/>
                  <a:pt x="1233211" y="509041"/>
                  <a:pt x="1117114" y="521177"/>
                </a:cubicBezTo>
                <a:cubicBezTo>
                  <a:pt x="1001017" y="533313"/>
                  <a:pt x="729603" y="537174"/>
                  <a:pt x="598645" y="521177"/>
                </a:cubicBezTo>
                <a:cubicBezTo>
                  <a:pt x="467687" y="505180"/>
                  <a:pt x="254135" y="493640"/>
                  <a:pt x="0" y="521177"/>
                </a:cubicBezTo>
                <a:cubicBezTo>
                  <a:pt x="-19960" y="343161"/>
                  <a:pt x="-19790" y="131211"/>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7B5FD924-DEBB-F161-FC37-CDF01EA88B3A}"/>
              </a:ext>
            </a:extLst>
          </p:cNvPr>
          <p:cNvSpPr txBox="1"/>
          <p:nvPr/>
        </p:nvSpPr>
        <p:spPr>
          <a:xfrm>
            <a:off x="9999042" y="2300794"/>
            <a:ext cx="1571549" cy="307777"/>
          </a:xfrm>
          <a:prstGeom prst="rect">
            <a:avLst/>
          </a:prstGeom>
          <a:noFill/>
        </p:spPr>
        <p:txBody>
          <a:bodyPr wrap="square">
            <a:spAutoFit/>
          </a:bodyPr>
          <a:lstStyle/>
          <a:p>
            <a:pPr lvl="0" algn="ctr"/>
            <a:r>
              <a:rPr lang="nl-BE" sz="1400" b="1" dirty="0">
                <a:solidFill>
                  <a:srgbClr val="005E77"/>
                </a:solidFill>
                <a:latin typeface="Arial" panose="020B0604020202020204" pitchFamily="34" charset="0"/>
                <a:cs typeface="Arial" panose="020B0604020202020204" pitchFamily="34" charset="0"/>
              </a:rPr>
              <a:t>RNA samples</a:t>
            </a:r>
          </a:p>
        </p:txBody>
      </p:sp>
      <p:sp>
        <p:nvSpPr>
          <p:cNvPr id="28" name="TextBox 27">
            <a:extLst>
              <a:ext uri="{FF2B5EF4-FFF2-40B4-BE49-F238E27FC236}">
                <a16:creationId xmlns:a16="http://schemas.microsoft.com/office/drawing/2014/main" id="{749ED8BD-B9AC-974A-6F74-1E61F1993296}"/>
              </a:ext>
            </a:extLst>
          </p:cNvPr>
          <p:cNvSpPr txBox="1"/>
          <p:nvPr/>
        </p:nvSpPr>
        <p:spPr>
          <a:xfrm>
            <a:off x="10001987" y="2853912"/>
            <a:ext cx="1571549" cy="307777"/>
          </a:xfrm>
          <a:prstGeom prst="rect">
            <a:avLst/>
          </a:prstGeom>
          <a:noFill/>
        </p:spPr>
        <p:txBody>
          <a:bodyPr wrap="square">
            <a:spAutoFit/>
          </a:bodyPr>
          <a:lstStyle/>
          <a:p>
            <a:pPr lvl="0" algn="ctr"/>
            <a:r>
              <a:rPr lang="nl-BE" sz="1400" b="1" dirty="0">
                <a:solidFill>
                  <a:srgbClr val="005E77"/>
                </a:solidFill>
                <a:latin typeface="Arial" panose="020B0604020202020204" pitchFamily="34" charset="0"/>
                <a:cs typeface="Arial" panose="020B0604020202020204" pitchFamily="34" charset="0"/>
              </a:rPr>
              <a:t>RNA QC report</a:t>
            </a:r>
          </a:p>
        </p:txBody>
      </p:sp>
      <p:sp>
        <p:nvSpPr>
          <p:cNvPr id="29" name="TextBox 28">
            <a:extLst>
              <a:ext uri="{FF2B5EF4-FFF2-40B4-BE49-F238E27FC236}">
                <a16:creationId xmlns:a16="http://schemas.microsoft.com/office/drawing/2014/main" id="{4CFFCFBF-2D87-9147-E692-A18AFEA1D686}"/>
              </a:ext>
            </a:extLst>
          </p:cNvPr>
          <p:cNvSpPr txBox="1"/>
          <p:nvPr/>
        </p:nvSpPr>
        <p:spPr>
          <a:xfrm>
            <a:off x="10030331" y="3412425"/>
            <a:ext cx="1571549" cy="307777"/>
          </a:xfrm>
          <a:prstGeom prst="rect">
            <a:avLst/>
          </a:prstGeom>
          <a:noFill/>
        </p:spPr>
        <p:txBody>
          <a:bodyPr wrap="square">
            <a:spAutoFit/>
          </a:bodyPr>
          <a:lstStyle/>
          <a:p>
            <a:pPr lvl="0" algn="ctr"/>
            <a:r>
              <a:rPr lang="nl-BE" sz="1400" b="1" dirty="0">
                <a:solidFill>
                  <a:srgbClr val="005E77"/>
                </a:solidFill>
                <a:latin typeface="Arial" panose="020B0604020202020204" pitchFamily="34" charset="0"/>
                <a:cs typeface="Arial" panose="020B0604020202020204" pitchFamily="34" charset="0"/>
              </a:rPr>
              <a:t>Sample sheet</a:t>
            </a:r>
          </a:p>
        </p:txBody>
      </p:sp>
      <p:sp>
        <p:nvSpPr>
          <p:cNvPr id="31" name="Rectangle 30">
            <a:extLst>
              <a:ext uri="{FF2B5EF4-FFF2-40B4-BE49-F238E27FC236}">
                <a16:creationId xmlns:a16="http://schemas.microsoft.com/office/drawing/2014/main" id="{99EB5648-C61E-1CD9-16DF-F854D6FBFB8C}"/>
              </a:ext>
            </a:extLst>
          </p:cNvPr>
          <p:cNvSpPr/>
          <p:nvPr/>
        </p:nvSpPr>
        <p:spPr>
          <a:xfrm>
            <a:off x="2511300" y="5064082"/>
            <a:ext cx="1603513" cy="697270"/>
          </a:xfrm>
          <a:custGeom>
            <a:avLst/>
            <a:gdLst>
              <a:gd name="connsiteX0" fmla="*/ 0 w 1603513"/>
              <a:gd name="connsiteY0" fmla="*/ 0 h 697270"/>
              <a:gd name="connsiteX1" fmla="*/ 534504 w 1603513"/>
              <a:gd name="connsiteY1" fmla="*/ 0 h 697270"/>
              <a:gd name="connsiteX2" fmla="*/ 1052974 w 1603513"/>
              <a:gd name="connsiteY2" fmla="*/ 0 h 697270"/>
              <a:gd name="connsiteX3" fmla="*/ 1603513 w 1603513"/>
              <a:gd name="connsiteY3" fmla="*/ 0 h 697270"/>
              <a:gd name="connsiteX4" fmla="*/ 1603513 w 1603513"/>
              <a:gd name="connsiteY4" fmla="*/ 697270 h 697270"/>
              <a:gd name="connsiteX5" fmla="*/ 1085044 w 1603513"/>
              <a:gd name="connsiteY5" fmla="*/ 697270 h 697270"/>
              <a:gd name="connsiteX6" fmla="*/ 518469 w 1603513"/>
              <a:gd name="connsiteY6" fmla="*/ 697270 h 697270"/>
              <a:gd name="connsiteX7" fmla="*/ 0 w 1603513"/>
              <a:gd name="connsiteY7" fmla="*/ 697270 h 697270"/>
              <a:gd name="connsiteX8" fmla="*/ 0 w 1603513"/>
              <a:gd name="connsiteY8" fmla="*/ 0 h 6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513" h="697270" fill="none" extrusionOk="0">
                <a:moveTo>
                  <a:pt x="0" y="0"/>
                </a:moveTo>
                <a:cubicBezTo>
                  <a:pt x="214785" y="25405"/>
                  <a:pt x="420375" y="-18779"/>
                  <a:pt x="534504" y="0"/>
                </a:cubicBezTo>
                <a:cubicBezTo>
                  <a:pt x="648633" y="18779"/>
                  <a:pt x="924523" y="-19723"/>
                  <a:pt x="1052974" y="0"/>
                </a:cubicBezTo>
                <a:cubicBezTo>
                  <a:pt x="1181425" y="19723"/>
                  <a:pt x="1454263" y="-21903"/>
                  <a:pt x="1603513" y="0"/>
                </a:cubicBezTo>
                <a:cubicBezTo>
                  <a:pt x="1572663" y="243220"/>
                  <a:pt x="1631307" y="538666"/>
                  <a:pt x="1603513" y="697270"/>
                </a:cubicBezTo>
                <a:cubicBezTo>
                  <a:pt x="1492558" y="678542"/>
                  <a:pt x="1211463" y="694842"/>
                  <a:pt x="1085044" y="697270"/>
                </a:cubicBezTo>
                <a:cubicBezTo>
                  <a:pt x="958625" y="699698"/>
                  <a:pt x="654269" y="703424"/>
                  <a:pt x="518469" y="697270"/>
                </a:cubicBezTo>
                <a:cubicBezTo>
                  <a:pt x="382669" y="691116"/>
                  <a:pt x="244401" y="706174"/>
                  <a:pt x="0" y="697270"/>
                </a:cubicBezTo>
                <a:cubicBezTo>
                  <a:pt x="32865" y="499634"/>
                  <a:pt x="-13106" y="252986"/>
                  <a:pt x="0" y="0"/>
                </a:cubicBezTo>
                <a:close/>
              </a:path>
              <a:path w="1603513" h="697270"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04419" y="315542"/>
                  <a:pt x="1617260" y="350805"/>
                  <a:pt x="1603513" y="697270"/>
                </a:cubicBezTo>
                <a:cubicBezTo>
                  <a:pt x="1487536" y="684346"/>
                  <a:pt x="1233211" y="685134"/>
                  <a:pt x="1117114" y="697270"/>
                </a:cubicBezTo>
                <a:cubicBezTo>
                  <a:pt x="1001017" y="709406"/>
                  <a:pt x="729603" y="713267"/>
                  <a:pt x="598645" y="697270"/>
                </a:cubicBezTo>
                <a:cubicBezTo>
                  <a:pt x="467687" y="681273"/>
                  <a:pt x="254135" y="669733"/>
                  <a:pt x="0" y="697270"/>
                </a:cubicBezTo>
                <a:cubicBezTo>
                  <a:pt x="-21270" y="350547"/>
                  <a:pt x="31277" y="253178"/>
                  <a:pt x="0" y="0"/>
                </a:cubicBezTo>
                <a:close/>
              </a:path>
            </a:pathLst>
          </a:custGeom>
          <a:solidFill>
            <a:srgbClr val="A8DEF5"/>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4026A05A-D32C-2966-056D-973027B49D27}"/>
              </a:ext>
            </a:extLst>
          </p:cNvPr>
          <p:cNvSpPr txBox="1"/>
          <p:nvPr/>
        </p:nvSpPr>
        <p:spPr>
          <a:xfrm>
            <a:off x="2527281" y="4435734"/>
            <a:ext cx="1571549" cy="523220"/>
          </a:xfrm>
          <a:prstGeom prst="rect">
            <a:avLst/>
          </a:prstGeom>
          <a:noFill/>
        </p:spPr>
        <p:txBody>
          <a:bodyPr wrap="square">
            <a:spAutoFit/>
          </a:bodyPr>
          <a:lstStyle/>
          <a:p>
            <a:pPr lvl="0" algn="ctr"/>
            <a:r>
              <a:rPr lang="nl-NL" sz="1400" b="1" dirty="0" err="1">
                <a:solidFill>
                  <a:srgbClr val="005E77"/>
                </a:solidFill>
                <a:latin typeface="Arial" panose="020B0604020202020204" pitchFamily="34" charset="0"/>
                <a:cs typeface="Arial" panose="020B0604020202020204" pitchFamily="34" charset="0"/>
              </a:rPr>
              <a:t>Raw</a:t>
            </a:r>
            <a:r>
              <a:rPr lang="nl-NL" sz="1400" b="1" dirty="0">
                <a:solidFill>
                  <a:srgbClr val="005E77"/>
                </a:solidFill>
                <a:latin typeface="Arial" panose="020B0604020202020204" pitchFamily="34" charset="0"/>
                <a:cs typeface="Arial" panose="020B0604020202020204" pitchFamily="34" charset="0"/>
              </a:rPr>
              <a:t> FASTQ-files</a:t>
            </a:r>
            <a:endParaRPr lang="nl-BE" sz="1400" b="1" dirty="0">
              <a:solidFill>
                <a:srgbClr val="005E77"/>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6649F20-A6BB-085A-0F07-2A7CAD5606B2}"/>
              </a:ext>
            </a:extLst>
          </p:cNvPr>
          <p:cNvSpPr txBox="1"/>
          <p:nvPr/>
        </p:nvSpPr>
        <p:spPr>
          <a:xfrm>
            <a:off x="2490952" y="5133004"/>
            <a:ext cx="1571549" cy="523220"/>
          </a:xfrm>
          <a:prstGeom prst="rect">
            <a:avLst/>
          </a:prstGeom>
          <a:noFill/>
        </p:spPr>
        <p:txBody>
          <a:bodyPr wrap="square">
            <a:spAutoFit/>
          </a:bodyPr>
          <a:lstStyle/>
          <a:p>
            <a:pPr lvl="0" algn="ctr"/>
            <a:r>
              <a:rPr lang="nl-NL" sz="1400" b="1" dirty="0" err="1">
                <a:solidFill>
                  <a:srgbClr val="005E77"/>
                </a:solidFill>
                <a:latin typeface="Arial" panose="020B0604020202020204" pitchFamily="34" charset="0"/>
                <a:cs typeface="Arial" panose="020B0604020202020204" pitchFamily="34" charset="0"/>
              </a:rPr>
              <a:t>Sequencing</a:t>
            </a:r>
            <a:r>
              <a:rPr lang="nl-NL" sz="1400" b="1" dirty="0">
                <a:solidFill>
                  <a:srgbClr val="005E77"/>
                </a:solidFill>
                <a:latin typeface="Arial" panose="020B0604020202020204" pitchFamily="34" charset="0"/>
                <a:cs typeface="Arial" panose="020B0604020202020204" pitchFamily="34" charset="0"/>
              </a:rPr>
              <a:t> report</a:t>
            </a:r>
            <a:endParaRPr lang="nl-BE" sz="1400" b="1" dirty="0">
              <a:solidFill>
                <a:srgbClr val="005E77"/>
              </a:solidFill>
              <a:latin typeface="Arial" panose="020B0604020202020204" pitchFamily="34" charset="0"/>
              <a:cs typeface="Arial" panose="020B0604020202020204" pitchFamily="34" charset="0"/>
            </a:endParaRPr>
          </a:p>
        </p:txBody>
      </p:sp>
      <p:pic>
        <p:nvPicPr>
          <p:cNvPr id="33" name="Graphic 32" descr="Rat met effen opvulling">
            <a:extLst>
              <a:ext uri="{FF2B5EF4-FFF2-40B4-BE49-F238E27FC236}">
                <a16:creationId xmlns:a16="http://schemas.microsoft.com/office/drawing/2014/main" id="{F4E37740-CB3F-4842-D166-10316C54C5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272" y="3113132"/>
            <a:ext cx="583144" cy="583144"/>
          </a:xfrm>
          <a:prstGeom prst="rect">
            <a:avLst/>
          </a:prstGeom>
        </p:spPr>
      </p:pic>
      <p:pic>
        <p:nvPicPr>
          <p:cNvPr id="34" name="Graphic 33" descr="Brain with solid fill">
            <a:extLst>
              <a:ext uri="{FF2B5EF4-FFF2-40B4-BE49-F238E27FC236}">
                <a16:creationId xmlns:a16="http://schemas.microsoft.com/office/drawing/2014/main" id="{7F702393-9115-634A-79D1-900BB04906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5286394" y="3234880"/>
            <a:ext cx="365343" cy="365343"/>
          </a:xfrm>
          <a:prstGeom prst="rect">
            <a:avLst/>
          </a:prstGeom>
        </p:spPr>
      </p:pic>
      <p:pic>
        <p:nvPicPr>
          <p:cNvPr id="35" name="Graphic 34" descr="Test tubes with solid fill">
            <a:extLst>
              <a:ext uri="{FF2B5EF4-FFF2-40B4-BE49-F238E27FC236}">
                <a16:creationId xmlns:a16="http://schemas.microsoft.com/office/drawing/2014/main" id="{14CA5A00-F036-5B72-4E90-8793BD82656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030331" y="1994889"/>
            <a:ext cx="376558" cy="391593"/>
          </a:xfrm>
          <a:prstGeom prst="rect">
            <a:avLst/>
          </a:prstGeom>
        </p:spPr>
      </p:pic>
      <p:pic>
        <p:nvPicPr>
          <p:cNvPr id="36" name="Graphic 35" descr="Onderzoek met effen opvulling">
            <a:extLst>
              <a:ext uri="{FF2B5EF4-FFF2-40B4-BE49-F238E27FC236}">
                <a16:creationId xmlns:a16="http://schemas.microsoft.com/office/drawing/2014/main" id="{10C9CB82-F7D6-C29D-F43A-A3F9733BBC9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0012" y="5256168"/>
            <a:ext cx="465645" cy="465645"/>
          </a:xfrm>
          <a:prstGeom prst="rect">
            <a:avLst/>
          </a:prstGeom>
        </p:spPr>
      </p:pic>
      <p:cxnSp>
        <p:nvCxnSpPr>
          <p:cNvPr id="88" name="Straight Arrow Connector 87">
            <a:extLst>
              <a:ext uri="{FF2B5EF4-FFF2-40B4-BE49-F238E27FC236}">
                <a16:creationId xmlns:a16="http://schemas.microsoft.com/office/drawing/2014/main" id="{AD187B22-8CFB-7BB9-1DD4-AC02266EA1D6}"/>
              </a:ext>
            </a:extLst>
          </p:cNvPr>
          <p:cNvCxnSpPr>
            <a:cxnSpLocks/>
          </p:cNvCxnSpPr>
          <p:nvPr/>
        </p:nvCxnSpPr>
        <p:spPr>
          <a:xfrm>
            <a:off x="10625323" y="5000582"/>
            <a:ext cx="190783" cy="0"/>
          </a:xfrm>
          <a:prstGeom prst="straightConnector1">
            <a:avLst/>
          </a:prstGeom>
          <a:ln>
            <a:solidFill>
              <a:srgbClr val="005E77"/>
            </a:solidFill>
            <a:tailEnd type="triangle"/>
          </a:ln>
        </p:spPr>
        <p:style>
          <a:lnRef idx="3">
            <a:schemeClr val="dk1"/>
          </a:lnRef>
          <a:fillRef idx="0">
            <a:schemeClr val="dk1"/>
          </a:fillRef>
          <a:effectRef idx="2">
            <a:schemeClr val="dk1"/>
          </a:effectRef>
          <a:fontRef idx="minor">
            <a:schemeClr val="tx1"/>
          </a:fontRef>
        </p:style>
      </p:cxnSp>
      <p:grpSp>
        <p:nvGrpSpPr>
          <p:cNvPr id="90" name="Group 89">
            <a:extLst>
              <a:ext uri="{FF2B5EF4-FFF2-40B4-BE49-F238E27FC236}">
                <a16:creationId xmlns:a16="http://schemas.microsoft.com/office/drawing/2014/main" id="{14D6097D-B174-D135-4524-477C2D52A19D}"/>
              </a:ext>
            </a:extLst>
          </p:cNvPr>
          <p:cNvGrpSpPr/>
          <p:nvPr/>
        </p:nvGrpSpPr>
        <p:grpSpPr>
          <a:xfrm>
            <a:off x="10839126" y="4244645"/>
            <a:ext cx="1230538" cy="1501110"/>
            <a:chOff x="10270423" y="2699087"/>
            <a:chExt cx="1720071" cy="1962132"/>
          </a:xfrm>
        </p:grpSpPr>
        <p:sp>
          <p:nvSpPr>
            <p:cNvPr id="91" name="Rectangle 90">
              <a:extLst>
                <a:ext uri="{FF2B5EF4-FFF2-40B4-BE49-F238E27FC236}">
                  <a16:creationId xmlns:a16="http://schemas.microsoft.com/office/drawing/2014/main" id="{BB53489C-2B9E-955B-CA87-7DF36CA7AD5C}"/>
                </a:ext>
              </a:extLst>
            </p:cNvPr>
            <p:cNvSpPr/>
            <p:nvPr/>
          </p:nvSpPr>
          <p:spPr>
            <a:xfrm>
              <a:off x="10301046" y="2699087"/>
              <a:ext cx="1689448" cy="1914101"/>
            </a:xfrm>
            <a:custGeom>
              <a:avLst/>
              <a:gdLst>
                <a:gd name="connsiteX0" fmla="*/ 0 w 1689448"/>
                <a:gd name="connsiteY0" fmla="*/ 0 h 1914101"/>
                <a:gd name="connsiteX1" fmla="*/ 596938 w 1689448"/>
                <a:gd name="connsiteY1" fmla="*/ 0 h 1914101"/>
                <a:gd name="connsiteX2" fmla="*/ 1193877 w 1689448"/>
                <a:gd name="connsiteY2" fmla="*/ 0 h 1914101"/>
                <a:gd name="connsiteX3" fmla="*/ 1689448 w 1689448"/>
                <a:gd name="connsiteY3" fmla="*/ 0 h 1914101"/>
                <a:gd name="connsiteX4" fmla="*/ 1689448 w 1689448"/>
                <a:gd name="connsiteY4" fmla="*/ 580611 h 1914101"/>
                <a:gd name="connsiteX5" fmla="*/ 1689448 w 1689448"/>
                <a:gd name="connsiteY5" fmla="*/ 1218644 h 1914101"/>
                <a:gd name="connsiteX6" fmla="*/ 1689448 w 1689448"/>
                <a:gd name="connsiteY6" fmla="*/ 1914101 h 1914101"/>
                <a:gd name="connsiteX7" fmla="*/ 1176982 w 1689448"/>
                <a:gd name="connsiteY7" fmla="*/ 1914101 h 1914101"/>
                <a:gd name="connsiteX8" fmla="*/ 664516 w 1689448"/>
                <a:gd name="connsiteY8" fmla="*/ 1914101 h 1914101"/>
                <a:gd name="connsiteX9" fmla="*/ 0 w 1689448"/>
                <a:gd name="connsiteY9" fmla="*/ 1914101 h 1914101"/>
                <a:gd name="connsiteX10" fmla="*/ 0 w 1689448"/>
                <a:gd name="connsiteY10" fmla="*/ 1333490 h 1914101"/>
                <a:gd name="connsiteX11" fmla="*/ 0 w 1689448"/>
                <a:gd name="connsiteY11" fmla="*/ 733739 h 1914101"/>
                <a:gd name="connsiteX12" fmla="*/ 0 w 1689448"/>
                <a:gd name="connsiteY12" fmla="*/ 0 h 191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9448" h="1914101" fill="none" extrusionOk="0">
                  <a:moveTo>
                    <a:pt x="0" y="0"/>
                  </a:moveTo>
                  <a:cubicBezTo>
                    <a:pt x="282978" y="-26075"/>
                    <a:pt x="420737" y="-9574"/>
                    <a:pt x="596938" y="0"/>
                  </a:cubicBezTo>
                  <a:cubicBezTo>
                    <a:pt x="773139" y="9574"/>
                    <a:pt x="965606" y="7737"/>
                    <a:pt x="1193877" y="0"/>
                  </a:cubicBezTo>
                  <a:cubicBezTo>
                    <a:pt x="1422148" y="-7737"/>
                    <a:pt x="1544480" y="15874"/>
                    <a:pt x="1689448" y="0"/>
                  </a:cubicBezTo>
                  <a:cubicBezTo>
                    <a:pt x="1668808" y="172363"/>
                    <a:pt x="1709828" y="305226"/>
                    <a:pt x="1689448" y="580611"/>
                  </a:cubicBezTo>
                  <a:cubicBezTo>
                    <a:pt x="1669068" y="855996"/>
                    <a:pt x="1710616" y="1050164"/>
                    <a:pt x="1689448" y="1218644"/>
                  </a:cubicBezTo>
                  <a:cubicBezTo>
                    <a:pt x="1668280" y="1387124"/>
                    <a:pt x="1677655" y="1575053"/>
                    <a:pt x="1689448" y="1914101"/>
                  </a:cubicBezTo>
                  <a:cubicBezTo>
                    <a:pt x="1553500" y="1937375"/>
                    <a:pt x="1394421" y="1926425"/>
                    <a:pt x="1176982" y="1914101"/>
                  </a:cubicBezTo>
                  <a:cubicBezTo>
                    <a:pt x="959543" y="1901777"/>
                    <a:pt x="866113" y="1934658"/>
                    <a:pt x="664516" y="1914101"/>
                  </a:cubicBezTo>
                  <a:cubicBezTo>
                    <a:pt x="462919" y="1893544"/>
                    <a:pt x="188297" y="1941367"/>
                    <a:pt x="0" y="1914101"/>
                  </a:cubicBezTo>
                  <a:cubicBezTo>
                    <a:pt x="19399" y="1673739"/>
                    <a:pt x="-23817" y="1507505"/>
                    <a:pt x="0" y="1333490"/>
                  </a:cubicBezTo>
                  <a:cubicBezTo>
                    <a:pt x="23817" y="1159475"/>
                    <a:pt x="23313" y="984937"/>
                    <a:pt x="0" y="733739"/>
                  </a:cubicBezTo>
                  <a:cubicBezTo>
                    <a:pt x="-23313" y="482541"/>
                    <a:pt x="-7244" y="294241"/>
                    <a:pt x="0" y="0"/>
                  </a:cubicBezTo>
                  <a:close/>
                </a:path>
                <a:path w="1689448" h="1914101" stroke="0" extrusionOk="0">
                  <a:moveTo>
                    <a:pt x="0" y="0"/>
                  </a:moveTo>
                  <a:cubicBezTo>
                    <a:pt x="288413" y="-24815"/>
                    <a:pt x="359102" y="-5622"/>
                    <a:pt x="580044" y="0"/>
                  </a:cubicBezTo>
                  <a:cubicBezTo>
                    <a:pt x="800986" y="5622"/>
                    <a:pt x="909953" y="-27907"/>
                    <a:pt x="1160088" y="0"/>
                  </a:cubicBezTo>
                  <a:cubicBezTo>
                    <a:pt x="1410223" y="27907"/>
                    <a:pt x="1531419" y="26467"/>
                    <a:pt x="1689448" y="0"/>
                  </a:cubicBezTo>
                  <a:cubicBezTo>
                    <a:pt x="1678339" y="309905"/>
                    <a:pt x="1719615" y="421529"/>
                    <a:pt x="1689448" y="676316"/>
                  </a:cubicBezTo>
                  <a:cubicBezTo>
                    <a:pt x="1659281" y="931103"/>
                    <a:pt x="1659018" y="1181664"/>
                    <a:pt x="1689448" y="1333490"/>
                  </a:cubicBezTo>
                  <a:cubicBezTo>
                    <a:pt x="1719878" y="1485316"/>
                    <a:pt x="1700465" y="1652417"/>
                    <a:pt x="1689448" y="1914101"/>
                  </a:cubicBezTo>
                  <a:cubicBezTo>
                    <a:pt x="1544573" y="1908383"/>
                    <a:pt x="1363449" y="1903746"/>
                    <a:pt x="1176982" y="1914101"/>
                  </a:cubicBezTo>
                  <a:cubicBezTo>
                    <a:pt x="990515" y="1924456"/>
                    <a:pt x="789137" y="1904645"/>
                    <a:pt x="596938" y="1914101"/>
                  </a:cubicBezTo>
                  <a:cubicBezTo>
                    <a:pt x="404739" y="1923557"/>
                    <a:pt x="123018" y="1893085"/>
                    <a:pt x="0" y="1914101"/>
                  </a:cubicBezTo>
                  <a:cubicBezTo>
                    <a:pt x="-7172" y="1681010"/>
                    <a:pt x="-6193" y="1444641"/>
                    <a:pt x="0" y="1256926"/>
                  </a:cubicBezTo>
                  <a:cubicBezTo>
                    <a:pt x="6193" y="1069212"/>
                    <a:pt x="-7372" y="775105"/>
                    <a:pt x="0" y="638034"/>
                  </a:cubicBezTo>
                  <a:cubicBezTo>
                    <a:pt x="7372" y="500963"/>
                    <a:pt x="4649" y="134059"/>
                    <a:pt x="0" y="0"/>
                  </a:cubicBezTo>
                  <a:close/>
                </a:path>
              </a:pathLst>
            </a:custGeom>
            <a:solidFill>
              <a:srgbClr val="FFC000">
                <a:alpha val="50000"/>
              </a:srgbClr>
            </a:solidFill>
            <a:ln w="19050">
              <a:solidFill>
                <a:srgbClr val="005E77"/>
              </a:solidFill>
              <a:extLst>
                <a:ext uri="{C807C97D-BFC1-408E-A445-0C87EB9F89A2}">
                  <ask:lineSketchStyleProps xmlns:ask="http://schemas.microsoft.com/office/drawing/2018/sketchyshapes" sd="1756707110">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3200" dirty="0">
                <a:solidFill>
                  <a:schemeClr val="accent4">
                    <a:lumMod val="60000"/>
                    <a:lumOff val="40000"/>
                  </a:schemeClr>
                </a:solidFill>
              </a:endParaRPr>
            </a:p>
          </p:txBody>
        </p:sp>
        <p:sp>
          <p:nvSpPr>
            <p:cNvPr id="92" name="Tekstvak 37">
              <a:extLst>
                <a:ext uri="{FF2B5EF4-FFF2-40B4-BE49-F238E27FC236}">
                  <a16:creationId xmlns:a16="http://schemas.microsoft.com/office/drawing/2014/main" id="{BA690333-B4E3-09E5-03B9-AD6D66925DCA}"/>
                </a:ext>
              </a:extLst>
            </p:cNvPr>
            <p:cNvSpPr txBox="1"/>
            <p:nvPr/>
          </p:nvSpPr>
          <p:spPr>
            <a:xfrm>
              <a:off x="10311226" y="2706772"/>
              <a:ext cx="1660309" cy="1810356"/>
            </a:xfrm>
            <a:prstGeom prst="rect">
              <a:avLst/>
            </a:prstGeom>
            <a:noFill/>
          </p:spPr>
          <p:txBody>
            <a:bodyPr wrap="square" rtlCol="0">
              <a:spAutoFit/>
            </a:bodyPr>
            <a:lstStyle/>
            <a:p>
              <a:pPr algn="ctr"/>
              <a:r>
                <a:rPr lang="en-US" sz="1400" b="1" dirty="0">
                  <a:solidFill>
                    <a:srgbClr val="005E77"/>
                  </a:solidFill>
                  <a:latin typeface="Arial" panose="020B0604020202020204" pitchFamily="34" charset="0"/>
                  <a:cs typeface="Arial" panose="020B0604020202020204" pitchFamily="34" charset="0"/>
                </a:rPr>
                <a:t>Making Graphs, tables + writing manuscript, … </a:t>
              </a:r>
            </a:p>
          </p:txBody>
        </p:sp>
        <p:pic>
          <p:nvPicPr>
            <p:cNvPr id="94" name="Graphic 93" descr="Krant met effen opvulling">
              <a:extLst>
                <a:ext uri="{FF2B5EF4-FFF2-40B4-BE49-F238E27FC236}">
                  <a16:creationId xmlns:a16="http://schemas.microsoft.com/office/drawing/2014/main" id="{E440B812-41C7-9136-89C4-0BF8C6FC0DF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70423" y="4097118"/>
              <a:ext cx="627593" cy="564101"/>
            </a:xfrm>
            <a:prstGeom prst="rect">
              <a:avLst/>
            </a:prstGeom>
          </p:spPr>
        </p:pic>
      </p:grpSp>
      <p:grpSp>
        <p:nvGrpSpPr>
          <p:cNvPr id="12" name="Group 11">
            <a:extLst>
              <a:ext uri="{FF2B5EF4-FFF2-40B4-BE49-F238E27FC236}">
                <a16:creationId xmlns:a16="http://schemas.microsoft.com/office/drawing/2014/main" id="{AAB195F8-74FC-A12E-E001-85FE80142B57}"/>
              </a:ext>
            </a:extLst>
          </p:cNvPr>
          <p:cNvGrpSpPr/>
          <p:nvPr/>
        </p:nvGrpSpPr>
        <p:grpSpPr>
          <a:xfrm>
            <a:off x="2840917" y="1433380"/>
            <a:ext cx="1605118" cy="738664"/>
            <a:chOff x="2840917" y="1433380"/>
            <a:chExt cx="1605118" cy="738664"/>
          </a:xfrm>
        </p:grpSpPr>
        <p:sp>
          <p:nvSpPr>
            <p:cNvPr id="6" name="Rectangle 5">
              <a:extLst>
                <a:ext uri="{FF2B5EF4-FFF2-40B4-BE49-F238E27FC236}">
                  <a16:creationId xmlns:a16="http://schemas.microsoft.com/office/drawing/2014/main" id="{70E2F150-F0D5-C88B-C706-CECBE996C696}"/>
                </a:ext>
              </a:extLst>
            </p:cNvPr>
            <p:cNvSpPr/>
            <p:nvPr/>
          </p:nvSpPr>
          <p:spPr>
            <a:xfrm>
              <a:off x="2842522" y="1433380"/>
              <a:ext cx="1603513" cy="738664"/>
            </a:xfrm>
            <a:custGeom>
              <a:avLst/>
              <a:gdLst>
                <a:gd name="connsiteX0" fmla="*/ 0 w 1603513"/>
                <a:gd name="connsiteY0" fmla="*/ 0 h 738664"/>
                <a:gd name="connsiteX1" fmla="*/ 486399 w 1603513"/>
                <a:gd name="connsiteY1" fmla="*/ 0 h 738664"/>
                <a:gd name="connsiteX2" fmla="*/ 1036938 w 1603513"/>
                <a:gd name="connsiteY2" fmla="*/ 0 h 738664"/>
                <a:gd name="connsiteX3" fmla="*/ 1603513 w 1603513"/>
                <a:gd name="connsiteY3" fmla="*/ 0 h 738664"/>
                <a:gd name="connsiteX4" fmla="*/ 1603513 w 1603513"/>
                <a:gd name="connsiteY4" fmla="*/ 354559 h 738664"/>
                <a:gd name="connsiteX5" fmla="*/ 1603513 w 1603513"/>
                <a:gd name="connsiteY5" fmla="*/ 738664 h 738664"/>
                <a:gd name="connsiteX6" fmla="*/ 1101079 w 1603513"/>
                <a:gd name="connsiteY6" fmla="*/ 738664 h 738664"/>
                <a:gd name="connsiteX7" fmla="*/ 598645 w 1603513"/>
                <a:gd name="connsiteY7" fmla="*/ 738664 h 738664"/>
                <a:gd name="connsiteX8" fmla="*/ 0 w 1603513"/>
                <a:gd name="connsiteY8" fmla="*/ 738664 h 738664"/>
                <a:gd name="connsiteX9" fmla="*/ 0 w 1603513"/>
                <a:gd name="connsiteY9" fmla="*/ 369332 h 738664"/>
                <a:gd name="connsiteX10" fmla="*/ 0 w 1603513"/>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3513" h="738664" fill="none" extrusionOk="0">
                  <a:moveTo>
                    <a:pt x="0" y="0"/>
                  </a:moveTo>
                  <a:cubicBezTo>
                    <a:pt x="178342" y="-10445"/>
                    <a:pt x="375007" y="-22392"/>
                    <a:pt x="486399" y="0"/>
                  </a:cubicBezTo>
                  <a:cubicBezTo>
                    <a:pt x="597791" y="22392"/>
                    <a:pt x="799543" y="-14759"/>
                    <a:pt x="1036938" y="0"/>
                  </a:cubicBezTo>
                  <a:cubicBezTo>
                    <a:pt x="1274333" y="14759"/>
                    <a:pt x="1426328" y="-11500"/>
                    <a:pt x="1603513" y="0"/>
                  </a:cubicBezTo>
                  <a:cubicBezTo>
                    <a:pt x="1600498" y="132257"/>
                    <a:pt x="1599367" y="201435"/>
                    <a:pt x="1603513" y="354559"/>
                  </a:cubicBezTo>
                  <a:cubicBezTo>
                    <a:pt x="1607659" y="507683"/>
                    <a:pt x="1612256" y="636729"/>
                    <a:pt x="1603513" y="738664"/>
                  </a:cubicBezTo>
                  <a:cubicBezTo>
                    <a:pt x="1425801" y="720280"/>
                    <a:pt x="1211059" y="762122"/>
                    <a:pt x="1101079" y="738664"/>
                  </a:cubicBezTo>
                  <a:cubicBezTo>
                    <a:pt x="991099" y="715206"/>
                    <a:pt x="847642" y="726290"/>
                    <a:pt x="598645" y="738664"/>
                  </a:cubicBezTo>
                  <a:cubicBezTo>
                    <a:pt x="349648" y="751038"/>
                    <a:pt x="229647" y="721150"/>
                    <a:pt x="0" y="738664"/>
                  </a:cubicBezTo>
                  <a:cubicBezTo>
                    <a:pt x="5702" y="593879"/>
                    <a:pt x="1485" y="517059"/>
                    <a:pt x="0" y="369332"/>
                  </a:cubicBezTo>
                  <a:cubicBezTo>
                    <a:pt x="-1485" y="221605"/>
                    <a:pt x="1006" y="93658"/>
                    <a:pt x="0" y="0"/>
                  </a:cubicBezTo>
                  <a:close/>
                </a:path>
                <a:path w="1603513" h="738664"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4862" y="141052"/>
                    <a:pt x="1593078" y="195469"/>
                    <a:pt x="1603513" y="376719"/>
                  </a:cubicBezTo>
                  <a:cubicBezTo>
                    <a:pt x="1613948" y="557969"/>
                    <a:pt x="1608907" y="572171"/>
                    <a:pt x="1603513" y="738664"/>
                  </a:cubicBezTo>
                  <a:cubicBezTo>
                    <a:pt x="1321270" y="722895"/>
                    <a:pt x="1242107" y="736703"/>
                    <a:pt x="1036938" y="738664"/>
                  </a:cubicBezTo>
                  <a:cubicBezTo>
                    <a:pt x="831769" y="740625"/>
                    <a:pt x="704988" y="753955"/>
                    <a:pt x="550539" y="738664"/>
                  </a:cubicBezTo>
                  <a:cubicBezTo>
                    <a:pt x="396090" y="723373"/>
                    <a:pt x="215891" y="745803"/>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FF931A4-90DA-3CCE-22D0-4713A55AF015}"/>
                </a:ext>
              </a:extLst>
            </p:cNvPr>
            <p:cNvSpPr txBox="1"/>
            <p:nvPr/>
          </p:nvSpPr>
          <p:spPr>
            <a:xfrm>
              <a:off x="2840917" y="1562533"/>
              <a:ext cx="1603514" cy="523220"/>
            </a:xfrm>
            <a:prstGeom prst="rect">
              <a:avLst/>
            </a:prstGeom>
            <a:noFill/>
          </p:spPr>
          <p:txBody>
            <a:bodyPr wrap="square">
              <a:spAutoFit/>
            </a:bodyPr>
            <a:lstStyle/>
            <a:p>
              <a:pPr lvl="0" algn="ctr"/>
              <a:r>
                <a:rPr lang="nl-BE" sz="1400" b="1" dirty="0" err="1">
                  <a:solidFill>
                    <a:srgbClr val="005E77"/>
                  </a:solidFill>
                  <a:latin typeface="Arial" panose="020B0604020202020204" pitchFamily="34" charset="0"/>
                  <a:cs typeface="Arial" panose="020B0604020202020204" pitchFamily="34" charset="0"/>
                </a:rPr>
                <a:t>SciSure</a:t>
              </a:r>
              <a:r>
                <a:rPr lang="nl-BE" sz="1400" b="1" dirty="0">
                  <a:solidFill>
                    <a:srgbClr val="005E77"/>
                  </a:solidFill>
                  <a:latin typeface="Arial" panose="020B0604020202020204" pitchFamily="34" charset="0"/>
                  <a:cs typeface="Arial" panose="020B0604020202020204" pitchFamily="34" charset="0"/>
                </a:rPr>
                <a:t> ELN</a:t>
              </a:r>
            </a:p>
            <a:p>
              <a:pPr lvl="0" algn="ctr"/>
              <a:r>
                <a:rPr lang="nl-BE" sz="1400" b="1" dirty="0">
                  <a:solidFill>
                    <a:srgbClr val="005E77"/>
                  </a:solidFill>
                  <a:latin typeface="Arial" panose="020B0604020202020204" pitchFamily="34" charset="0"/>
                  <a:cs typeface="Arial" panose="020B0604020202020204" pitchFamily="34" charset="0"/>
                </a:rPr>
                <a:t>M&amp;M</a:t>
              </a:r>
            </a:p>
          </p:txBody>
        </p:sp>
      </p:grpSp>
      <p:sp>
        <p:nvSpPr>
          <p:cNvPr id="8" name="TextBox 7">
            <a:extLst>
              <a:ext uri="{FF2B5EF4-FFF2-40B4-BE49-F238E27FC236}">
                <a16:creationId xmlns:a16="http://schemas.microsoft.com/office/drawing/2014/main" id="{3B6987F0-34B1-D4EE-7D69-B01C73AC28FF}"/>
              </a:ext>
            </a:extLst>
          </p:cNvPr>
          <p:cNvSpPr txBox="1"/>
          <p:nvPr/>
        </p:nvSpPr>
        <p:spPr>
          <a:xfrm>
            <a:off x="49405" y="6522278"/>
            <a:ext cx="1547889" cy="276999"/>
          </a:xfrm>
          <a:prstGeom prst="rect">
            <a:avLst/>
          </a:prstGeom>
          <a:solidFill>
            <a:srgbClr val="FF9999"/>
          </a:solidFill>
          <a:ln w="19050" cap="flat" cmpd="sng" algn="ctr">
            <a:solidFill>
              <a:prstClr val="white">
                <a:hueOff val="0"/>
                <a:satOff val="0"/>
                <a:lumOff val="0"/>
                <a:alphaOff val="0"/>
              </a:prstClr>
            </a:solidFill>
            <a:prstDash val="solid"/>
            <a:miter lim="800000"/>
          </a:ln>
          <a:effectLst/>
        </p:spPr>
        <p:txBody>
          <a:bodyPr spcFirstLastPara="0" vert="horz" wrap="square" lIns="85344" tIns="85344" rIns="85344" bIns="85344" numCol="1" spcCol="1270" anchor="ctr" anchorCtr="0">
            <a:noAutofit/>
          </a:bodyPr>
          <a:lstStyle>
            <a:lvl1pPr>
              <a:buFont typeface="Arial" panose="020B0604020202020204" pitchFamily="34" charset="0"/>
              <a:buChar char="•"/>
              <a:defRPr sz="1200" b="0">
                <a:solidFill>
                  <a:srgbClr val="005E77"/>
                </a:solidFill>
              </a:defRPr>
            </a:lvl1pPr>
          </a:lstStyle>
          <a:p>
            <a:pPr algn="ctr">
              <a:buNone/>
            </a:pPr>
            <a:r>
              <a:rPr lang="en-US" sz="1600" dirty="0"/>
              <a:t>Documentation</a:t>
            </a:r>
            <a:endParaRPr lang="nl-BE" sz="1600" dirty="0"/>
          </a:p>
        </p:txBody>
      </p:sp>
      <p:grpSp>
        <p:nvGrpSpPr>
          <p:cNvPr id="13" name="Group 12">
            <a:extLst>
              <a:ext uri="{FF2B5EF4-FFF2-40B4-BE49-F238E27FC236}">
                <a16:creationId xmlns:a16="http://schemas.microsoft.com/office/drawing/2014/main" id="{2E02A2AA-76B5-D60E-AF60-454A5CD6FBB9}"/>
              </a:ext>
            </a:extLst>
          </p:cNvPr>
          <p:cNvGrpSpPr/>
          <p:nvPr/>
        </p:nvGrpSpPr>
        <p:grpSpPr>
          <a:xfrm>
            <a:off x="7574403" y="1442962"/>
            <a:ext cx="1605118" cy="738664"/>
            <a:chOff x="2840917" y="1433380"/>
            <a:chExt cx="1605118" cy="738664"/>
          </a:xfrm>
        </p:grpSpPr>
        <p:sp>
          <p:nvSpPr>
            <p:cNvPr id="14" name="Rectangle 13">
              <a:extLst>
                <a:ext uri="{FF2B5EF4-FFF2-40B4-BE49-F238E27FC236}">
                  <a16:creationId xmlns:a16="http://schemas.microsoft.com/office/drawing/2014/main" id="{ADCEB68C-EB25-C4C7-04C2-9031B4C98AB9}"/>
                </a:ext>
              </a:extLst>
            </p:cNvPr>
            <p:cNvSpPr/>
            <p:nvPr/>
          </p:nvSpPr>
          <p:spPr>
            <a:xfrm>
              <a:off x="2842522" y="1433380"/>
              <a:ext cx="1603513" cy="738664"/>
            </a:xfrm>
            <a:custGeom>
              <a:avLst/>
              <a:gdLst>
                <a:gd name="connsiteX0" fmla="*/ 0 w 1603513"/>
                <a:gd name="connsiteY0" fmla="*/ 0 h 738664"/>
                <a:gd name="connsiteX1" fmla="*/ 486399 w 1603513"/>
                <a:gd name="connsiteY1" fmla="*/ 0 h 738664"/>
                <a:gd name="connsiteX2" fmla="*/ 1036938 w 1603513"/>
                <a:gd name="connsiteY2" fmla="*/ 0 h 738664"/>
                <a:gd name="connsiteX3" fmla="*/ 1603513 w 1603513"/>
                <a:gd name="connsiteY3" fmla="*/ 0 h 738664"/>
                <a:gd name="connsiteX4" fmla="*/ 1603513 w 1603513"/>
                <a:gd name="connsiteY4" fmla="*/ 354559 h 738664"/>
                <a:gd name="connsiteX5" fmla="*/ 1603513 w 1603513"/>
                <a:gd name="connsiteY5" fmla="*/ 738664 h 738664"/>
                <a:gd name="connsiteX6" fmla="*/ 1101079 w 1603513"/>
                <a:gd name="connsiteY6" fmla="*/ 738664 h 738664"/>
                <a:gd name="connsiteX7" fmla="*/ 598645 w 1603513"/>
                <a:gd name="connsiteY7" fmla="*/ 738664 h 738664"/>
                <a:gd name="connsiteX8" fmla="*/ 0 w 1603513"/>
                <a:gd name="connsiteY8" fmla="*/ 738664 h 738664"/>
                <a:gd name="connsiteX9" fmla="*/ 0 w 1603513"/>
                <a:gd name="connsiteY9" fmla="*/ 369332 h 738664"/>
                <a:gd name="connsiteX10" fmla="*/ 0 w 1603513"/>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3513" h="738664" fill="none" extrusionOk="0">
                  <a:moveTo>
                    <a:pt x="0" y="0"/>
                  </a:moveTo>
                  <a:cubicBezTo>
                    <a:pt x="178342" y="-10445"/>
                    <a:pt x="375007" y="-22392"/>
                    <a:pt x="486399" y="0"/>
                  </a:cubicBezTo>
                  <a:cubicBezTo>
                    <a:pt x="597791" y="22392"/>
                    <a:pt x="799543" y="-14759"/>
                    <a:pt x="1036938" y="0"/>
                  </a:cubicBezTo>
                  <a:cubicBezTo>
                    <a:pt x="1274333" y="14759"/>
                    <a:pt x="1426328" y="-11500"/>
                    <a:pt x="1603513" y="0"/>
                  </a:cubicBezTo>
                  <a:cubicBezTo>
                    <a:pt x="1600498" y="132257"/>
                    <a:pt x="1599367" y="201435"/>
                    <a:pt x="1603513" y="354559"/>
                  </a:cubicBezTo>
                  <a:cubicBezTo>
                    <a:pt x="1607659" y="507683"/>
                    <a:pt x="1612256" y="636729"/>
                    <a:pt x="1603513" y="738664"/>
                  </a:cubicBezTo>
                  <a:cubicBezTo>
                    <a:pt x="1425801" y="720280"/>
                    <a:pt x="1211059" y="762122"/>
                    <a:pt x="1101079" y="738664"/>
                  </a:cubicBezTo>
                  <a:cubicBezTo>
                    <a:pt x="991099" y="715206"/>
                    <a:pt x="847642" y="726290"/>
                    <a:pt x="598645" y="738664"/>
                  </a:cubicBezTo>
                  <a:cubicBezTo>
                    <a:pt x="349648" y="751038"/>
                    <a:pt x="229647" y="721150"/>
                    <a:pt x="0" y="738664"/>
                  </a:cubicBezTo>
                  <a:cubicBezTo>
                    <a:pt x="5702" y="593879"/>
                    <a:pt x="1485" y="517059"/>
                    <a:pt x="0" y="369332"/>
                  </a:cubicBezTo>
                  <a:cubicBezTo>
                    <a:pt x="-1485" y="221605"/>
                    <a:pt x="1006" y="93658"/>
                    <a:pt x="0" y="0"/>
                  </a:cubicBezTo>
                  <a:close/>
                </a:path>
                <a:path w="1603513" h="738664"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4862" y="141052"/>
                    <a:pt x="1593078" y="195469"/>
                    <a:pt x="1603513" y="376719"/>
                  </a:cubicBezTo>
                  <a:cubicBezTo>
                    <a:pt x="1613948" y="557969"/>
                    <a:pt x="1608907" y="572171"/>
                    <a:pt x="1603513" y="738664"/>
                  </a:cubicBezTo>
                  <a:cubicBezTo>
                    <a:pt x="1321270" y="722895"/>
                    <a:pt x="1242107" y="736703"/>
                    <a:pt x="1036938" y="738664"/>
                  </a:cubicBezTo>
                  <a:cubicBezTo>
                    <a:pt x="831769" y="740625"/>
                    <a:pt x="704988" y="753955"/>
                    <a:pt x="550539" y="738664"/>
                  </a:cubicBezTo>
                  <a:cubicBezTo>
                    <a:pt x="396090" y="723373"/>
                    <a:pt x="215891" y="745803"/>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3863336-7278-8985-B193-724B74E62DDE}"/>
                </a:ext>
              </a:extLst>
            </p:cNvPr>
            <p:cNvSpPr txBox="1"/>
            <p:nvPr/>
          </p:nvSpPr>
          <p:spPr>
            <a:xfrm>
              <a:off x="2840917" y="1562533"/>
              <a:ext cx="1603514" cy="523220"/>
            </a:xfrm>
            <a:prstGeom prst="rect">
              <a:avLst/>
            </a:prstGeom>
            <a:noFill/>
          </p:spPr>
          <p:txBody>
            <a:bodyPr wrap="square">
              <a:spAutoFit/>
            </a:bodyPr>
            <a:lstStyle/>
            <a:p>
              <a:pPr lvl="0" algn="ctr"/>
              <a:r>
                <a:rPr lang="nl-BE" sz="1400" b="1" dirty="0" err="1">
                  <a:solidFill>
                    <a:srgbClr val="005E77"/>
                  </a:solidFill>
                  <a:latin typeface="Arial" panose="020B0604020202020204" pitchFamily="34" charset="0"/>
                  <a:cs typeface="Arial" panose="020B0604020202020204" pitchFamily="34" charset="0"/>
                </a:rPr>
                <a:t>SciSure</a:t>
              </a:r>
              <a:r>
                <a:rPr lang="nl-BE" sz="1400" b="1" dirty="0">
                  <a:solidFill>
                    <a:srgbClr val="005E77"/>
                  </a:solidFill>
                  <a:latin typeface="Arial" panose="020B0604020202020204" pitchFamily="34" charset="0"/>
                  <a:cs typeface="Arial" panose="020B0604020202020204" pitchFamily="34" charset="0"/>
                </a:rPr>
                <a:t> ELN</a:t>
              </a:r>
            </a:p>
            <a:p>
              <a:pPr lvl="0" algn="ctr"/>
              <a:r>
                <a:rPr lang="nl-BE" sz="1400" b="1" dirty="0">
                  <a:solidFill>
                    <a:srgbClr val="005E77"/>
                  </a:solidFill>
                  <a:latin typeface="Arial" panose="020B0604020202020204" pitchFamily="34" charset="0"/>
                  <a:cs typeface="Arial" panose="020B0604020202020204" pitchFamily="34" charset="0"/>
                </a:rPr>
                <a:t>M&amp;M</a:t>
              </a:r>
            </a:p>
          </p:txBody>
        </p:sp>
      </p:grpSp>
      <p:grpSp>
        <p:nvGrpSpPr>
          <p:cNvPr id="17" name="Group 16">
            <a:extLst>
              <a:ext uri="{FF2B5EF4-FFF2-40B4-BE49-F238E27FC236}">
                <a16:creationId xmlns:a16="http://schemas.microsoft.com/office/drawing/2014/main" id="{55DB87C8-58A7-AAB5-39FA-9B738A75FB69}"/>
              </a:ext>
            </a:extLst>
          </p:cNvPr>
          <p:cNvGrpSpPr/>
          <p:nvPr/>
        </p:nvGrpSpPr>
        <p:grpSpPr>
          <a:xfrm>
            <a:off x="512638" y="5849044"/>
            <a:ext cx="1605118" cy="738664"/>
            <a:chOff x="2840917" y="1433380"/>
            <a:chExt cx="1605118" cy="738664"/>
          </a:xfrm>
        </p:grpSpPr>
        <p:sp>
          <p:nvSpPr>
            <p:cNvPr id="18" name="Rectangle 17">
              <a:extLst>
                <a:ext uri="{FF2B5EF4-FFF2-40B4-BE49-F238E27FC236}">
                  <a16:creationId xmlns:a16="http://schemas.microsoft.com/office/drawing/2014/main" id="{DE5EEB58-7239-A1A8-2A24-932C6017195D}"/>
                </a:ext>
              </a:extLst>
            </p:cNvPr>
            <p:cNvSpPr/>
            <p:nvPr/>
          </p:nvSpPr>
          <p:spPr>
            <a:xfrm>
              <a:off x="2842522" y="1433380"/>
              <a:ext cx="1603513" cy="738664"/>
            </a:xfrm>
            <a:custGeom>
              <a:avLst/>
              <a:gdLst>
                <a:gd name="connsiteX0" fmla="*/ 0 w 1603513"/>
                <a:gd name="connsiteY0" fmla="*/ 0 h 738664"/>
                <a:gd name="connsiteX1" fmla="*/ 486399 w 1603513"/>
                <a:gd name="connsiteY1" fmla="*/ 0 h 738664"/>
                <a:gd name="connsiteX2" fmla="*/ 1036938 w 1603513"/>
                <a:gd name="connsiteY2" fmla="*/ 0 h 738664"/>
                <a:gd name="connsiteX3" fmla="*/ 1603513 w 1603513"/>
                <a:gd name="connsiteY3" fmla="*/ 0 h 738664"/>
                <a:gd name="connsiteX4" fmla="*/ 1603513 w 1603513"/>
                <a:gd name="connsiteY4" fmla="*/ 354559 h 738664"/>
                <a:gd name="connsiteX5" fmla="*/ 1603513 w 1603513"/>
                <a:gd name="connsiteY5" fmla="*/ 738664 h 738664"/>
                <a:gd name="connsiteX6" fmla="*/ 1101079 w 1603513"/>
                <a:gd name="connsiteY6" fmla="*/ 738664 h 738664"/>
                <a:gd name="connsiteX7" fmla="*/ 598645 w 1603513"/>
                <a:gd name="connsiteY7" fmla="*/ 738664 h 738664"/>
                <a:gd name="connsiteX8" fmla="*/ 0 w 1603513"/>
                <a:gd name="connsiteY8" fmla="*/ 738664 h 738664"/>
                <a:gd name="connsiteX9" fmla="*/ 0 w 1603513"/>
                <a:gd name="connsiteY9" fmla="*/ 369332 h 738664"/>
                <a:gd name="connsiteX10" fmla="*/ 0 w 1603513"/>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3513" h="738664" fill="none" extrusionOk="0">
                  <a:moveTo>
                    <a:pt x="0" y="0"/>
                  </a:moveTo>
                  <a:cubicBezTo>
                    <a:pt x="178342" y="-10445"/>
                    <a:pt x="375007" y="-22392"/>
                    <a:pt x="486399" y="0"/>
                  </a:cubicBezTo>
                  <a:cubicBezTo>
                    <a:pt x="597791" y="22392"/>
                    <a:pt x="799543" y="-14759"/>
                    <a:pt x="1036938" y="0"/>
                  </a:cubicBezTo>
                  <a:cubicBezTo>
                    <a:pt x="1274333" y="14759"/>
                    <a:pt x="1426328" y="-11500"/>
                    <a:pt x="1603513" y="0"/>
                  </a:cubicBezTo>
                  <a:cubicBezTo>
                    <a:pt x="1600498" y="132257"/>
                    <a:pt x="1599367" y="201435"/>
                    <a:pt x="1603513" y="354559"/>
                  </a:cubicBezTo>
                  <a:cubicBezTo>
                    <a:pt x="1607659" y="507683"/>
                    <a:pt x="1612256" y="636729"/>
                    <a:pt x="1603513" y="738664"/>
                  </a:cubicBezTo>
                  <a:cubicBezTo>
                    <a:pt x="1425801" y="720280"/>
                    <a:pt x="1211059" y="762122"/>
                    <a:pt x="1101079" y="738664"/>
                  </a:cubicBezTo>
                  <a:cubicBezTo>
                    <a:pt x="991099" y="715206"/>
                    <a:pt x="847642" y="726290"/>
                    <a:pt x="598645" y="738664"/>
                  </a:cubicBezTo>
                  <a:cubicBezTo>
                    <a:pt x="349648" y="751038"/>
                    <a:pt x="229647" y="721150"/>
                    <a:pt x="0" y="738664"/>
                  </a:cubicBezTo>
                  <a:cubicBezTo>
                    <a:pt x="5702" y="593879"/>
                    <a:pt x="1485" y="517059"/>
                    <a:pt x="0" y="369332"/>
                  </a:cubicBezTo>
                  <a:cubicBezTo>
                    <a:pt x="-1485" y="221605"/>
                    <a:pt x="1006" y="93658"/>
                    <a:pt x="0" y="0"/>
                  </a:cubicBezTo>
                  <a:close/>
                </a:path>
                <a:path w="1603513" h="738664"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4862" y="141052"/>
                    <a:pt x="1593078" y="195469"/>
                    <a:pt x="1603513" y="376719"/>
                  </a:cubicBezTo>
                  <a:cubicBezTo>
                    <a:pt x="1613948" y="557969"/>
                    <a:pt x="1608907" y="572171"/>
                    <a:pt x="1603513" y="738664"/>
                  </a:cubicBezTo>
                  <a:cubicBezTo>
                    <a:pt x="1321270" y="722895"/>
                    <a:pt x="1242107" y="736703"/>
                    <a:pt x="1036938" y="738664"/>
                  </a:cubicBezTo>
                  <a:cubicBezTo>
                    <a:pt x="831769" y="740625"/>
                    <a:pt x="704988" y="753955"/>
                    <a:pt x="550539" y="738664"/>
                  </a:cubicBezTo>
                  <a:cubicBezTo>
                    <a:pt x="396090" y="723373"/>
                    <a:pt x="215891" y="745803"/>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2074EBF0-6FFE-D125-BD65-69CCB5C4ED15}"/>
                </a:ext>
              </a:extLst>
            </p:cNvPr>
            <p:cNvSpPr txBox="1"/>
            <p:nvPr/>
          </p:nvSpPr>
          <p:spPr>
            <a:xfrm>
              <a:off x="2840917" y="1562533"/>
              <a:ext cx="1603514" cy="523220"/>
            </a:xfrm>
            <a:prstGeom prst="rect">
              <a:avLst/>
            </a:prstGeom>
            <a:noFill/>
          </p:spPr>
          <p:txBody>
            <a:bodyPr wrap="square">
              <a:spAutoFit/>
            </a:bodyPr>
            <a:lstStyle/>
            <a:p>
              <a:pPr lvl="0" algn="ctr"/>
              <a:r>
                <a:rPr lang="nl-BE" sz="1400" b="1" dirty="0" err="1">
                  <a:solidFill>
                    <a:srgbClr val="005E77"/>
                  </a:solidFill>
                  <a:latin typeface="Arial" panose="020B0604020202020204" pitchFamily="34" charset="0"/>
                  <a:cs typeface="Arial" panose="020B0604020202020204" pitchFamily="34" charset="0"/>
                </a:rPr>
                <a:t>SciSure</a:t>
              </a:r>
              <a:r>
                <a:rPr lang="nl-BE" sz="1400" b="1" dirty="0">
                  <a:solidFill>
                    <a:srgbClr val="005E77"/>
                  </a:solidFill>
                  <a:latin typeface="Arial" panose="020B0604020202020204" pitchFamily="34" charset="0"/>
                  <a:cs typeface="Arial" panose="020B0604020202020204" pitchFamily="34" charset="0"/>
                </a:rPr>
                <a:t> ELN</a:t>
              </a:r>
            </a:p>
            <a:p>
              <a:pPr lvl="0" algn="ctr"/>
              <a:r>
                <a:rPr lang="nl-BE" sz="1400" b="1" dirty="0">
                  <a:solidFill>
                    <a:srgbClr val="005E77"/>
                  </a:solidFill>
                  <a:latin typeface="Arial" panose="020B0604020202020204" pitchFamily="34" charset="0"/>
                  <a:cs typeface="Arial" panose="020B0604020202020204" pitchFamily="34" charset="0"/>
                </a:rPr>
                <a:t>M&amp;M</a:t>
              </a:r>
            </a:p>
          </p:txBody>
        </p:sp>
      </p:grpSp>
      <p:grpSp>
        <p:nvGrpSpPr>
          <p:cNvPr id="20" name="Group 19">
            <a:extLst>
              <a:ext uri="{FF2B5EF4-FFF2-40B4-BE49-F238E27FC236}">
                <a16:creationId xmlns:a16="http://schemas.microsoft.com/office/drawing/2014/main" id="{FAB04265-2CD4-FA66-B699-4FA151A0EF28}"/>
              </a:ext>
            </a:extLst>
          </p:cNvPr>
          <p:cNvGrpSpPr/>
          <p:nvPr/>
        </p:nvGrpSpPr>
        <p:grpSpPr>
          <a:xfrm>
            <a:off x="4510533" y="5803713"/>
            <a:ext cx="4790706" cy="738664"/>
            <a:chOff x="2840917" y="1433380"/>
            <a:chExt cx="1605118" cy="738664"/>
          </a:xfrm>
        </p:grpSpPr>
        <p:sp>
          <p:nvSpPr>
            <p:cNvPr id="21" name="Rectangle 20">
              <a:extLst>
                <a:ext uri="{FF2B5EF4-FFF2-40B4-BE49-F238E27FC236}">
                  <a16:creationId xmlns:a16="http://schemas.microsoft.com/office/drawing/2014/main" id="{D2D28615-1AFB-EAF0-B357-4F7D5A5B760C}"/>
                </a:ext>
              </a:extLst>
            </p:cNvPr>
            <p:cNvSpPr/>
            <p:nvPr/>
          </p:nvSpPr>
          <p:spPr>
            <a:xfrm>
              <a:off x="2842522" y="1433380"/>
              <a:ext cx="1603513" cy="738664"/>
            </a:xfrm>
            <a:custGeom>
              <a:avLst/>
              <a:gdLst>
                <a:gd name="connsiteX0" fmla="*/ 0 w 1603513"/>
                <a:gd name="connsiteY0" fmla="*/ 0 h 738664"/>
                <a:gd name="connsiteX1" fmla="*/ 486399 w 1603513"/>
                <a:gd name="connsiteY1" fmla="*/ 0 h 738664"/>
                <a:gd name="connsiteX2" fmla="*/ 1036938 w 1603513"/>
                <a:gd name="connsiteY2" fmla="*/ 0 h 738664"/>
                <a:gd name="connsiteX3" fmla="*/ 1603513 w 1603513"/>
                <a:gd name="connsiteY3" fmla="*/ 0 h 738664"/>
                <a:gd name="connsiteX4" fmla="*/ 1603513 w 1603513"/>
                <a:gd name="connsiteY4" fmla="*/ 354559 h 738664"/>
                <a:gd name="connsiteX5" fmla="*/ 1603513 w 1603513"/>
                <a:gd name="connsiteY5" fmla="*/ 738664 h 738664"/>
                <a:gd name="connsiteX6" fmla="*/ 1101079 w 1603513"/>
                <a:gd name="connsiteY6" fmla="*/ 738664 h 738664"/>
                <a:gd name="connsiteX7" fmla="*/ 598645 w 1603513"/>
                <a:gd name="connsiteY7" fmla="*/ 738664 h 738664"/>
                <a:gd name="connsiteX8" fmla="*/ 0 w 1603513"/>
                <a:gd name="connsiteY8" fmla="*/ 738664 h 738664"/>
                <a:gd name="connsiteX9" fmla="*/ 0 w 1603513"/>
                <a:gd name="connsiteY9" fmla="*/ 369332 h 738664"/>
                <a:gd name="connsiteX10" fmla="*/ 0 w 1603513"/>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3513" h="738664" fill="none" extrusionOk="0">
                  <a:moveTo>
                    <a:pt x="0" y="0"/>
                  </a:moveTo>
                  <a:cubicBezTo>
                    <a:pt x="178342" y="-10445"/>
                    <a:pt x="375007" y="-22392"/>
                    <a:pt x="486399" y="0"/>
                  </a:cubicBezTo>
                  <a:cubicBezTo>
                    <a:pt x="597791" y="22392"/>
                    <a:pt x="799543" y="-14759"/>
                    <a:pt x="1036938" y="0"/>
                  </a:cubicBezTo>
                  <a:cubicBezTo>
                    <a:pt x="1274333" y="14759"/>
                    <a:pt x="1426328" y="-11500"/>
                    <a:pt x="1603513" y="0"/>
                  </a:cubicBezTo>
                  <a:cubicBezTo>
                    <a:pt x="1600498" y="132257"/>
                    <a:pt x="1599367" y="201435"/>
                    <a:pt x="1603513" y="354559"/>
                  </a:cubicBezTo>
                  <a:cubicBezTo>
                    <a:pt x="1607659" y="507683"/>
                    <a:pt x="1612256" y="636729"/>
                    <a:pt x="1603513" y="738664"/>
                  </a:cubicBezTo>
                  <a:cubicBezTo>
                    <a:pt x="1425801" y="720280"/>
                    <a:pt x="1211059" y="762122"/>
                    <a:pt x="1101079" y="738664"/>
                  </a:cubicBezTo>
                  <a:cubicBezTo>
                    <a:pt x="991099" y="715206"/>
                    <a:pt x="847642" y="726290"/>
                    <a:pt x="598645" y="738664"/>
                  </a:cubicBezTo>
                  <a:cubicBezTo>
                    <a:pt x="349648" y="751038"/>
                    <a:pt x="229647" y="721150"/>
                    <a:pt x="0" y="738664"/>
                  </a:cubicBezTo>
                  <a:cubicBezTo>
                    <a:pt x="5702" y="593879"/>
                    <a:pt x="1485" y="517059"/>
                    <a:pt x="0" y="369332"/>
                  </a:cubicBezTo>
                  <a:cubicBezTo>
                    <a:pt x="-1485" y="221605"/>
                    <a:pt x="1006" y="93658"/>
                    <a:pt x="0" y="0"/>
                  </a:cubicBezTo>
                  <a:close/>
                </a:path>
                <a:path w="1603513" h="738664" stroke="0" extrusionOk="0">
                  <a:moveTo>
                    <a:pt x="0" y="0"/>
                  </a:moveTo>
                  <a:cubicBezTo>
                    <a:pt x="256507" y="-11448"/>
                    <a:pt x="412189" y="18477"/>
                    <a:pt x="518469" y="0"/>
                  </a:cubicBezTo>
                  <a:cubicBezTo>
                    <a:pt x="624749" y="-18477"/>
                    <a:pt x="832995" y="15692"/>
                    <a:pt x="1052974" y="0"/>
                  </a:cubicBezTo>
                  <a:cubicBezTo>
                    <a:pt x="1272954" y="-15692"/>
                    <a:pt x="1404020" y="-27150"/>
                    <a:pt x="1603513" y="0"/>
                  </a:cubicBezTo>
                  <a:cubicBezTo>
                    <a:pt x="1614862" y="141052"/>
                    <a:pt x="1593078" y="195469"/>
                    <a:pt x="1603513" y="376719"/>
                  </a:cubicBezTo>
                  <a:cubicBezTo>
                    <a:pt x="1613948" y="557969"/>
                    <a:pt x="1608907" y="572171"/>
                    <a:pt x="1603513" y="738664"/>
                  </a:cubicBezTo>
                  <a:cubicBezTo>
                    <a:pt x="1321270" y="722895"/>
                    <a:pt x="1242107" y="736703"/>
                    <a:pt x="1036938" y="738664"/>
                  </a:cubicBezTo>
                  <a:cubicBezTo>
                    <a:pt x="831769" y="740625"/>
                    <a:pt x="704988" y="753955"/>
                    <a:pt x="550539" y="738664"/>
                  </a:cubicBezTo>
                  <a:cubicBezTo>
                    <a:pt x="396090" y="723373"/>
                    <a:pt x="215891" y="745803"/>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B986340A-3EBC-45F8-311F-3209F951BE11}"/>
                </a:ext>
              </a:extLst>
            </p:cNvPr>
            <p:cNvSpPr txBox="1"/>
            <p:nvPr/>
          </p:nvSpPr>
          <p:spPr>
            <a:xfrm>
              <a:off x="2840917" y="1562533"/>
              <a:ext cx="1603514" cy="523220"/>
            </a:xfrm>
            <a:prstGeom prst="rect">
              <a:avLst/>
            </a:prstGeom>
            <a:noFill/>
          </p:spPr>
          <p:txBody>
            <a:bodyPr wrap="square">
              <a:spAutoFit/>
            </a:bodyPr>
            <a:lstStyle/>
            <a:p>
              <a:pPr lvl="0" algn="ctr"/>
              <a:r>
                <a:rPr lang="nl-BE" sz="1400" b="1" dirty="0">
                  <a:solidFill>
                    <a:srgbClr val="005E77"/>
                  </a:solidFill>
                  <a:latin typeface="Arial" panose="020B0604020202020204" pitchFamily="34" charset="0"/>
                  <a:cs typeface="Arial" panose="020B0604020202020204" pitchFamily="34" charset="0"/>
                </a:rPr>
                <a:t>Code </a:t>
              </a:r>
              <a:r>
                <a:rPr lang="nl-BE" sz="1400" b="1" dirty="0" err="1">
                  <a:solidFill>
                    <a:srgbClr val="005E77"/>
                  </a:solidFill>
                  <a:latin typeface="Arial" panose="020B0604020202020204" pitchFamily="34" charset="0"/>
                  <a:cs typeface="Arial" panose="020B0604020202020204" pitchFamily="34" charset="0"/>
                </a:rPr>
                <a:t>comments</a:t>
              </a:r>
              <a:r>
                <a:rPr lang="nl-BE" sz="1400" b="1" dirty="0">
                  <a:solidFill>
                    <a:srgbClr val="005E77"/>
                  </a:solidFill>
                  <a:latin typeface="Arial" panose="020B0604020202020204" pitchFamily="34" charset="0"/>
                  <a:cs typeface="Arial" panose="020B0604020202020204" pitchFamily="34" charset="0"/>
                </a:rPr>
                <a:t> + </a:t>
              </a:r>
              <a:r>
                <a:rPr lang="nl-BE" sz="1400" b="1" dirty="0" err="1">
                  <a:solidFill>
                    <a:srgbClr val="005E77"/>
                  </a:solidFill>
                  <a:latin typeface="Arial" panose="020B0604020202020204" pitchFamily="34" charset="0"/>
                  <a:cs typeface="Arial" panose="020B0604020202020204" pitchFamily="34" charset="0"/>
                </a:rPr>
                <a:t>style</a:t>
              </a:r>
              <a:r>
                <a:rPr lang="nl-BE" sz="1400" b="1" dirty="0">
                  <a:solidFill>
                    <a:srgbClr val="005E77"/>
                  </a:solidFill>
                  <a:latin typeface="Arial" panose="020B0604020202020204" pitchFamily="34" charset="0"/>
                  <a:cs typeface="Arial" panose="020B0604020202020204" pitchFamily="34" charset="0"/>
                </a:rPr>
                <a:t> guide + GIT </a:t>
              </a:r>
              <a:r>
                <a:rPr lang="nl-BE" sz="1400" b="1" dirty="0" err="1">
                  <a:solidFill>
                    <a:srgbClr val="005E77"/>
                  </a:solidFill>
                  <a:latin typeface="Arial" panose="020B0604020202020204" pitchFamily="34" charset="0"/>
                  <a:cs typeface="Arial" panose="020B0604020202020204" pitchFamily="34" charset="0"/>
                </a:rPr>
                <a:t>commit</a:t>
              </a:r>
              <a:r>
                <a:rPr lang="nl-BE" sz="1400" b="1" dirty="0">
                  <a:solidFill>
                    <a:srgbClr val="005E77"/>
                  </a:solidFill>
                  <a:latin typeface="Arial" panose="020B0604020202020204" pitchFamily="34" charset="0"/>
                  <a:cs typeface="Arial" panose="020B0604020202020204" pitchFamily="34" charset="0"/>
                </a:rPr>
                <a:t> </a:t>
              </a:r>
              <a:r>
                <a:rPr lang="nl-BE" sz="1400" b="1" dirty="0" err="1">
                  <a:solidFill>
                    <a:srgbClr val="005E77"/>
                  </a:solidFill>
                  <a:latin typeface="Arial" panose="020B0604020202020204" pitchFamily="34" charset="0"/>
                  <a:cs typeface="Arial" panose="020B0604020202020204" pitchFamily="34" charset="0"/>
                </a:rPr>
                <a:t>messages</a:t>
              </a:r>
              <a:endParaRPr lang="nl-BE" sz="1400" b="1" dirty="0">
                <a:solidFill>
                  <a:srgbClr val="005E77"/>
                </a:solidFill>
                <a:latin typeface="Arial" panose="020B0604020202020204" pitchFamily="34" charset="0"/>
                <a:cs typeface="Arial" panose="020B0604020202020204" pitchFamily="34" charset="0"/>
              </a:endParaRPr>
            </a:p>
            <a:p>
              <a:pPr lvl="0" algn="ctr"/>
              <a:r>
                <a:rPr lang="nl-BE" sz="1400" b="1" dirty="0">
                  <a:solidFill>
                    <a:srgbClr val="005E77"/>
                  </a:solidFill>
                  <a:latin typeface="Arial" panose="020B0604020202020204" pitchFamily="34" charset="0"/>
                  <a:cs typeface="Arial" panose="020B0604020202020204" pitchFamily="34" charset="0"/>
                </a:rPr>
                <a:t>M&amp;M</a:t>
              </a:r>
            </a:p>
          </p:txBody>
        </p:sp>
      </p:grpSp>
      <p:grpSp>
        <p:nvGrpSpPr>
          <p:cNvPr id="23" name="Group 22">
            <a:extLst>
              <a:ext uri="{FF2B5EF4-FFF2-40B4-BE49-F238E27FC236}">
                <a16:creationId xmlns:a16="http://schemas.microsoft.com/office/drawing/2014/main" id="{E7CBC6EE-D230-AB1B-FF75-CA2FA2FC29CF}"/>
              </a:ext>
            </a:extLst>
          </p:cNvPr>
          <p:cNvGrpSpPr/>
          <p:nvPr/>
        </p:nvGrpSpPr>
        <p:grpSpPr>
          <a:xfrm>
            <a:off x="9221814" y="90340"/>
            <a:ext cx="2997800" cy="1818702"/>
            <a:chOff x="2741457" y="1433380"/>
            <a:chExt cx="1754352" cy="753371"/>
          </a:xfrm>
        </p:grpSpPr>
        <p:sp>
          <p:nvSpPr>
            <p:cNvPr id="30" name="Rectangle 29">
              <a:extLst>
                <a:ext uri="{FF2B5EF4-FFF2-40B4-BE49-F238E27FC236}">
                  <a16:creationId xmlns:a16="http://schemas.microsoft.com/office/drawing/2014/main" id="{40A2BB41-0E27-0FCB-5C7B-4D1C54AFEA2F}"/>
                </a:ext>
              </a:extLst>
            </p:cNvPr>
            <p:cNvSpPr/>
            <p:nvPr/>
          </p:nvSpPr>
          <p:spPr>
            <a:xfrm>
              <a:off x="2741457" y="1433380"/>
              <a:ext cx="1704579" cy="738664"/>
            </a:xfrm>
            <a:custGeom>
              <a:avLst/>
              <a:gdLst>
                <a:gd name="connsiteX0" fmla="*/ 0 w 1704579"/>
                <a:gd name="connsiteY0" fmla="*/ 0 h 738664"/>
                <a:gd name="connsiteX1" fmla="*/ 517056 w 1704579"/>
                <a:gd name="connsiteY1" fmla="*/ 0 h 738664"/>
                <a:gd name="connsiteX2" fmla="*/ 1102294 w 1704579"/>
                <a:gd name="connsiteY2" fmla="*/ 0 h 738664"/>
                <a:gd name="connsiteX3" fmla="*/ 1704579 w 1704579"/>
                <a:gd name="connsiteY3" fmla="*/ 0 h 738664"/>
                <a:gd name="connsiteX4" fmla="*/ 1704579 w 1704579"/>
                <a:gd name="connsiteY4" fmla="*/ 354559 h 738664"/>
                <a:gd name="connsiteX5" fmla="*/ 1704579 w 1704579"/>
                <a:gd name="connsiteY5" fmla="*/ 738664 h 738664"/>
                <a:gd name="connsiteX6" fmla="*/ 1170478 w 1704579"/>
                <a:gd name="connsiteY6" fmla="*/ 738664 h 738664"/>
                <a:gd name="connsiteX7" fmla="*/ 636376 w 1704579"/>
                <a:gd name="connsiteY7" fmla="*/ 738664 h 738664"/>
                <a:gd name="connsiteX8" fmla="*/ 0 w 1704579"/>
                <a:gd name="connsiteY8" fmla="*/ 738664 h 738664"/>
                <a:gd name="connsiteX9" fmla="*/ 0 w 1704579"/>
                <a:gd name="connsiteY9" fmla="*/ 369332 h 738664"/>
                <a:gd name="connsiteX10" fmla="*/ 0 w 1704579"/>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4579" h="738664" fill="none" extrusionOk="0">
                  <a:moveTo>
                    <a:pt x="0" y="0"/>
                  </a:moveTo>
                  <a:cubicBezTo>
                    <a:pt x="243863" y="18397"/>
                    <a:pt x="302920" y="6845"/>
                    <a:pt x="517056" y="0"/>
                  </a:cubicBezTo>
                  <a:cubicBezTo>
                    <a:pt x="731192" y="-6845"/>
                    <a:pt x="948162" y="23695"/>
                    <a:pt x="1102294" y="0"/>
                  </a:cubicBezTo>
                  <a:cubicBezTo>
                    <a:pt x="1256426" y="-23695"/>
                    <a:pt x="1517019" y="-6973"/>
                    <a:pt x="1704579" y="0"/>
                  </a:cubicBezTo>
                  <a:cubicBezTo>
                    <a:pt x="1701564" y="132257"/>
                    <a:pt x="1700433" y="201435"/>
                    <a:pt x="1704579" y="354559"/>
                  </a:cubicBezTo>
                  <a:cubicBezTo>
                    <a:pt x="1708725" y="507683"/>
                    <a:pt x="1713322" y="636729"/>
                    <a:pt x="1704579" y="738664"/>
                  </a:cubicBezTo>
                  <a:cubicBezTo>
                    <a:pt x="1460815" y="717818"/>
                    <a:pt x="1377928" y="721151"/>
                    <a:pt x="1170478" y="738664"/>
                  </a:cubicBezTo>
                  <a:cubicBezTo>
                    <a:pt x="963028" y="756177"/>
                    <a:pt x="751272" y="717224"/>
                    <a:pt x="636376" y="738664"/>
                  </a:cubicBezTo>
                  <a:cubicBezTo>
                    <a:pt x="521480" y="760104"/>
                    <a:pt x="201468" y="741800"/>
                    <a:pt x="0" y="738664"/>
                  </a:cubicBezTo>
                  <a:cubicBezTo>
                    <a:pt x="5702" y="593879"/>
                    <a:pt x="1485" y="517059"/>
                    <a:pt x="0" y="369332"/>
                  </a:cubicBezTo>
                  <a:cubicBezTo>
                    <a:pt x="-1485" y="221605"/>
                    <a:pt x="1006" y="93658"/>
                    <a:pt x="0" y="0"/>
                  </a:cubicBezTo>
                  <a:close/>
                </a:path>
                <a:path w="1704579" h="738664" stroke="0" extrusionOk="0">
                  <a:moveTo>
                    <a:pt x="0" y="0"/>
                  </a:moveTo>
                  <a:cubicBezTo>
                    <a:pt x="236791" y="-6424"/>
                    <a:pt x="332179" y="5130"/>
                    <a:pt x="551147" y="0"/>
                  </a:cubicBezTo>
                  <a:cubicBezTo>
                    <a:pt x="770115" y="-5130"/>
                    <a:pt x="923229" y="-341"/>
                    <a:pt x="1119340" y="0"/>
                  </a:cubicBezTo>
                  <a:cubicBezTo>
                    <a:pt x="1315451" y="341"/>
                    <a:pt x="1412788" y="10286"/>
                    <a:pt x="1704579" y="0"/>
                  </a:cubicBezTo>
                  <a:cubicBezTo>
                    <a:pt x="1715928" y="141052"/>
                    <a:pt x="1694144" y="195469"/>
                    <a:pt x="1704579" y="376719"/>
                  </a:cubicBezTo>
                  <a:cubicBezTo>
                    <a:pt x="1715014" y="557969"/>
                    <a:pt x="1709973" y="572171"/>
                    <a:pt x="1704579" y="738664"/>
                  </a:cubicBezTo>
                  <a:cubicBezTo>
                    <a:pt x="1567829" y="749946"/>
                    <a:pt x="1242024" y="733140"/>
                    <a:pt x="1102294" y="738664"/>
                  </a:cubicBezTo>
                  <a:cubicBezTo>
                    <a:pt x="962564" y="744188"/>
                    <a:pt x="806777" y="715402"/>
                    <a:pt x="585239" y="738664"/>
                  </a:cubicBezTo>
                  <a:cubicBezTo>
                    <a:pt x="363701" y="761926"/>
                    <a:pt x="189424" y="766188"/>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161472D7-DAE7-6D94-169E-C303B470752E}"/>
                </a:ext>
              </a:extLst>
            </p:cNvPr>
            <p:cNvSpPr txBox="1"/>
            <p:nvPr/>
          </p:nvSpPr>
          <p:spPr>
            <a:xfrm>
              <a:off x="2792835" y="1434548"/>
              <a:ext cx="1702974" cy="752203"/>
            </a:xfrm>
            <a:prstGeom prst="rect">
              <a:avLst/>
            </a:prstGeom>
            <a:noFill/>
          </p:spPr>
          <p:txBody>
            <a:bodyPr wrap="square">
              <a:spAutoFit/>
            </a:bodyPr>
            <a:lstStyle/>
            <a:p>
              <a:pPr lvl="0"/>
              <a:r>
                <a:rPr lang="nl-BE" sz="1400" b="1" dirty="0">
                  <a:solidFill>
                    <a:srgbClr val="005E77"/>
                  </a:solidFill>
                  <a:latin typeface="Arial" panose="020B0604020202020204" pitchFamily="34" charset="0"/>
                  <a:cs typeface="Arial" panose="020B0604020202020204" pitchFamily="34" charset="0"/>
                </a:rPr>
                <a:t>M&amp;M = </a:t>
              </a:r>
              <a:r>
                <a:rPr lang="nl-BE" sz="1400" b="1" dirty="0" err="1">
                  <a:solidFill>
                    <a:srgbClr val="005E77"/>
                  </a:solidFill>
                  <a:latin typeface="Arial" panose="020B0604020202020204" pitchFamily="34" charset="0"/>
                  <a:cs typeface="Arial" panose="020B0604020202020204" pitchFamily="34" charset="0"/>
                </a:rPr>
                <a:t>Materials</a:t>
              </a:r>
              <a:r>
                <a:rPr lang="nl-BE" sz="1400" b="1" dirty="0">
                  <a:solidFill>
                    <a:srgbClr val="005E77"/>
                  </a:solidFill>
                  <a:latin typeface="Arial" panose="020B0604020202020204" pitchFamily="34" charset="0"/>
                  <a:cs typeface="Arial" panose="020B0604020202020204" pitchFamily="34" charset="0"/>
                </a:rPr>
                <a:t> &amp; </a:t>
              </a:r>
              <a:r>
                <a:rPr lang="nl-BE" sz="1400" b="1" dirty="0" err="1">
                  <a:solidFill>
                    <a:srgbClr val="005E77"/>
                  </a:solidFill>
                  <a:latin typeface="Arial" panose="020B0604020202020204" pitchFamily="34" charset="0"/>
                  <a:cs typeface="Arial" panose="020B0604020202020204" pitchFamily="34" charset="0"/>
                </a:rPr>
                <a:t>Methods</a:t>
              </a:r>
              <a:r>
                <a:rPr lang="nl-BE" sz="1400" b="1" dirty="0">
                  <a:solidFill>
                    <a:srgbClr val="005E77"/>
                  </a:solidFill>
                  <a:latin typeface="Arial" panose="020B0604020202020204" pitchFamily="34" charset="0"/>
                  <a:cs typeface="Arial" panose="020B0604020202020204" pitchFamily="34" charset="0"/>
                </a:rPr>
                <a:t>:</a:t>
              </a:r>
            </a:p>
            <a:p>
              <a:pPr lvl="0"/>
              <a:r>
                <a:rPr lang="nl-BE" sz="1400" b="1" u="sng" dirty="0">
                  <a:solidFill>
                    <a:srgbClr val="005E77"/>
                  </a:solidFill>
                  <a:latin typeface="Arial" panose="020B0604020202020204" pitchFamily="34" charset="0"/>
                  <a:cs typeface="Arial" panose="020B0604020202020204" pitchFamily="34" charset="0"/>
                </a:rPr>
                <a:t>Intro:</a:t>
              </a:r>
              <a:r>
                <a:rPr lang="nl-BE" sz="1400"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Objectives</a:t>
              </a:r>
              <a:r>
                <a:rPr lang="nl-BE" sz="1400"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experimental</a:t>
              </a:r>
              <a:r>
                <a:rPr lang="nl-BE" sz="1400" dirty="0">
                  <a:solidFill>
                    <a:srgbClr val="005E77"/>
                  </a:solidFill>
                  <a:latin typeface="Arial" panose="020B0604020202020204" pitchFamily="34" charset="0"/>
                  <a:cs typeface="Arial" panose="020B0604020202020204" pitchFamily="34" charset="0"/>
                </a:rPr>
                <a:t> design</a:t>
              </a:r>
            </a:p>
            <a:p>
              <a:pPr lvl="0"/>
              <a:r>
                <a:rPr lang="nl-BE" sz="1400" b="1" u="sng" dirty="0" err="1">
                  <a:solidFill>
                    <a:srgbClr val="005E77"/>
                  </a:solidFill>
                  <a:latin typeface="Arial" panose="020B0604020202020204" pitchFamily="34" charset="0"/>
                  <a:cs typeface="Arial" panose="020B0604020202020204" pitchFamily="34" charset="0"/>
                </a:rPr>
                <a:t>Materials</a:t>
              </a:r>
              <a:r>
                <a:rPr lang="nl-BE" sz="1400" b="1" u="sng" dirty="0">
                  <a:solidFill>
                    <a:srgbClr val="005E77"/>
                  </a:solidFill>
                  <a:latin typeface="Arial" panose="020B0604020202020204" pitchFamily="34" charset="0"/>
                  <a:cs typeface="Arial" panose="020B0604020202020204" pitchFamily="34" charset="0"/>
                </a:rPr>
                <a:t>:</a:t>
              </a:r>
              <a:r>
                <a:rPr lang="nl-BE" sz="1400" dirty="0">
                  <a:solidFill>
                    <a:srgbClr val="005E77"/>
                  </a:solidFill>
                  <a:latin typeface="Arial" panose="020B0604020202020204" pitchFamily="34" charset="0"/>
                  <a:cs typeface="Arial" panose="020B0604020202020204" pitchFamily="34" charset="0"/>
                </a:rPr>
                <a:t> Samples, </a:t>
              </a:r>
              <a:r>
                <a:rPr lang="nl-BE" sz="1400" dirty="0" err="1">
                  <a:solidFill>
                    <a:srgbClr val="005E77"/>
                  </a:solidFill>
                  <a:latin typeface="Arial" panose="020B0604020202020204" pitchFamily="34" charset="0"/>
                  <a:cs typeface="Arial" panose="020B0604020202020204" pitchFamily="34" charset="0"/>
                </a:rPr>
                <a:t>Ingredients</a:t>
              </a:r>
              <a:r>
                <a:rPr lang="nl-BE" sz="1400"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instruments</a:t>
              </a:r>
              <a:r>
                <a:rPr lang="nl-BE" sz="1400" dirty="0">
                  <a:solidFill>
                    <a:srgbClr val="005E77"/>
                  </a:solidFill>
                  <a:latin typeface="Arial" panose="020B0604020202020204" pitchFamily="34" charset="0"/>
                  <a:cs typeface="Arial" panose="020B0604020202020204" pitchFamily="34" charset="0"/>
                </a:rPr>
                <a:t>, parameters, </a:t>
              </a:r>
              <a:r>
                <a:rPr lang="nl-BE" sz="1400" dirty="0" err="1">
                  <a:solidFill>
                    <a:srgbClr val="005E77"/>
                  </a:solidFill>
                  <a:latin typeface="Arial" panose="020B0604020202020204" pitchFamily="34" charset="0"/>
                  <a:cs typeface="Arial" panose="020B0604020202020204" pitchFamily="34" charset="0"/>
                </a:rPr>
                <a:t>SOP’s</a:t>
              </a:r>
              <a:endParaRPr lang="nl-BE" sz="1400" dirty="0">
                <a:solidFill>
                  <a:srgbClr val="005E77"/>
                </a:solidFill>
                <a:latin typeface="Arial" panose="020B0604020202020204" pitchFamily="34" charset="0"/>
                <a:cs typeface="Arial" panose="020B0604020202020204" pitchFamily="34" charset="0"/>
              </a:endParaRPr>
            </a:p>
            <a:p>
              <a:pPr lvl="0"/>
              <a:r>
                <a:rPr lang="nl-BE" sz="1400" b="1" u="sng" dirty="0" err="1">
                  <a:solidFill>
                    <a:srgbClr val="005E77"/>
                  </a:solidFill>
                  <a:latin typeface="Arial" panose="020B0604020202020204" pitchFamily="34" charset="0"/>
                  <a:cs typeface="Arial" panose="020B0604020202020204" pitchFamily="34" charset="0"/>
                </a:rPr>
                <a:t>Methods</a:t>
              </a:r>
              <a:r>
                <a:rPr lang="nl-BE" sz="1400" b="1" dirty="0">
                  <a:solidFill>
                    <a:srgbClr val="005E77"/>
                  </a:solidFill>
                  <a:latin typeface="Arial" panose="020B0604020202020204" pitchFamily="34" charset="0"/>
                  <a:cs typeface="Arial" panose="020B0604020202020204" pitchFamily="34" charset="0"/>
                </a:rPr>
                <a:t>: </a:t>
              </a:r>
              <a:r>
                <a:rPr lang="nl-BE" sz="1400" dirty="0">
                  <a:solidFill>
                    <a:srgbClr val="005E77"/>
                  </a:solidFill>
                  <a:latin typeface="Arial" panose="020B0604020202020204" pitchFamily="34" charset="0"/>
                  <a:cs typeface="Arial" panose="020B0604020202020204" pitchFamily="34" charset="0"/>
                </a:rPr>
                <a:t>Visual setup, workflow</a:t>
              </a:r>
            </a:p>
            <a:p>
              <a:pPr lvl="0"/>
              <a:r>
                <a:rPr lang="nl-BE" sz="1400" b="1" u="sng" dirty="0" err="1">
                  <a:solidFill>
                    <a:srgbClr val="005E77"/>
                  </a:solidFill>
                  <a:latin typeface="Arial" panose="020B0604020202020204" pitchFamily="34" charset="0"/>
                  <a:cs typeface="Arial" panose="020B0604020202020204" pitchFamily="34" charset="0"/>
                </a:rPr>
                <a:t>Conclusion</a:t>
              </a:r>
              <a:r>
                <a:rPr lang="nl-BE" sz="1400" u="sng"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Results</a:t>
              </a:r>
              <a:r>
                <a:rPr lang="nl-BE" sz="1400" dirty="0">
                  <a:solidFill>
                    <a:srgbClr val="005E77"/>
                  </a:solidFill>
                  <a:latin typeface="Arial" panose="020B0604020202020204" pitchFamily="34" charset="0"/>
                  <a:cs typeface="Arial" panose="020B0604020202020204" pitchFamily="34" charset="0"/>
                </a:rPr>
                <a:t>, link </a:t>
              </a:r>
              <a:r>
                <a:rPr lang="nl-BE" sz="1400" dirty="0" err="1">
                  <a:solidFill>
                    <a:srgbClr val="005E77"/>
                  </a:solidFill>
                  <a:latin typeface="Arial" panose="020B0604020202020204" pitchFamily="34" charset="0"/>
                  <a:cs typeface="Arial" panose="020B0604020202020204" pitchFamily="34" charset="0"/>
                </a:rPr>
                <a:t>to</a:t>
              </a:r>
              <a:r>
                <a:rPr lang="nl-BE" sz="1400" dirty="0">
                  <a:solidFill>
                    <a:srgbClr val="005E77"/>
                  </a:solidFill>
                  <a:latin typeface="Arial" panose="020B0604020202020204" pitchFamily="34" charset="0"/>
                  <a:cs typeface="Arial" panose="020B0604020202020204" pitchFamily="34" charset="0"/>
                </a:rPr>
                <a:t> output, next steps</a:t>
              </a:r>
              <a:endParaRPr lang="nl-BE" sz="1400" u="sng" dirty="0">
                <a:solidFill>
                  <a:srgbClr val="005E77"/>
                </a:solidFill>
                <a:latin typeface="Arial" panose="020B0604020202020204" pitchFamily="34" charset="0"/>
                <a:cs typeface="Arial" panose="020B0604020202020204" pitchFamily="34" charset="0"/>
              </a:endParaRPr>
            </a:p>
          </p:txBody>
        </p:sp>
      </p:grpSp>
      <p:grpSp>
        <p:nvGrpSpPr>
          <p:cNvPr id="38" name="Group 37">
            <a:extLst>
              <a:ext uri="{FF2B5EF4-FFF2-40B4-BE49-F238E27FC236}">
                <a16:creationId xmlns:a16="http://schemas.microsoft.com/office/drawing/2014/main" id="{9F54CA4E-39C8-F1D1-1ABC-9EA7141F255F}"/>
              </a:ext>
            </a:extLst>
          </p:cNvPr>
          <p:cNvGrpSpPr/>
          <p:nvPr/>
        </p:nvGrpSpPr>
        <p:grpSpPr>
          <a:xfrm>
            <a:off x="9168063" y="5039298"/>
            <a:ext cx="2997800" cy="1818702"/>
            <a:chOff x="2741457" y="1433380"/>
            <a:chExt cx="1754352" cy="753371"/>
          </a:xfrm>
        </p:grpSpPr>
        <p:sp>
          <p:nvSpPr>
            <p:cNvPr id="39" name="Rectangle 38">
              <a:extLst>
                <a:ext uri="{FF2B5EF4-FFF2-40B4-BE49-F238E27FC236}">
                  <a16:creationId xmlns:a16="http://schemas.microsoft.com/office/drawing/2014/main" id="{7C316CC3-2074-74AF-C59D-1B54C9C0D15D}"/>
                </a:ext>
              </a:extLst>
            </p:cNvPr>
            <p:cNvSpPr/>
            <p:nvPr/>
          </p:nvSpPr>
          <p:spPr>
            <a:xfrm>
              <a:off x="2741457" y="1433380"/>
              <a:ext cx="1704579" cy="738664"/>
            </a:xfrm>
            <a:custGeom>
              <a:avLst/>
              <a:gdLst>
                <a:gd name="connsiteX0" fmla="*/ 0 w 1704579"/>
                <a:gd name="connsiteY0" fmla="*/ 0 h 738664"/>
                <a:gd name="connsiteX1" fmla="*/ 517056 w 1704579"/>
                <a:gd name="connsiteY1" fmla="*/ 0 h 738664"/>
                <a:gd name="connsiteX2" fmla="*/ 1102294 w 1704579"/>
                <a:gd name="connsiteY2" fmla="*/ 0 h 738664"/>
                <a:gd name="connsiteX3" fmla="*/ 1704579 w 1704579"/>
                <a:gd name="connsiteY3" fmla="*/ 0 h 738664"/>
                <a:gd name="connsiteX4" fmla="*/ 1704579 w 1704579"/>
                <a:gd name="connsiteY4" fmla="*/ 354559 h 738664"/>
                <a:gd name="connsiteX5" fmla="*/ 1704579 w 1704579"/>
                <a:gd name="connsiteY5" fmla="*/ 738664 h 738664"/>
                <a:gd name="connsiteX6" fmla="*/ 1170478 w 1704579"/>
                <a:gd name="connsiteY6" fmla="*/ 738664 h 738664"/>
                <a:gd name="connsiteX7" fmla="*/ 636376 w 1704579"/>
                <a:gd name="connsiteY7" fmla="*/ 738664 h 738664"/>
                <a:gd name="connsiteX8" fmla="*/ 0 w 1704579"/>
                <a:gd name="connsiteY8" fmla="*/ 738664 h 738664"/>
                <a:gd name="connsiteX9" fmla="*/ 0 w 1704579"/>
                <a:gd name="connsiteY9" fmla="*/ 369332 h 738664"/>
                <a:gd name="connsiteX10" fmla="*/ 0 w 1704579"/>
                <a:gd name="connsiteY10" fmla="*/ 0 h 73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4579" h="738664" fill="none" extrusionOk="0">
                  <a:moveTo>
                    <a:pt x="0" y="0"/>
                  </a:moveTo>
                  <a:cubicBezTo>
                    <a:pt x="243863" y="18397"/>
                    <a:pt x="302920" y="6845"/>
                    <a:pt x="517056" y="0"/>
                  </a:cubicBezTo>
                  <a:cubicBezTo>
                    <a:pt x="731192" y="-6845"/>
                    <a:pt x="948162" y="23695"/>
                    <a:pt x="1102294" y="0"/>
                  </a:cubicBezTo>
                  <a:cubicBezTo>
                    <a:pt x="1256426" y="-23695"/>
                    <a:pt x="1517019" y="-6973"/>
                    <a:pt x="1704579" y="0"/>
                  </a:cubicBezTo>
                  <a:cubicBezTo>
                    <a:pt x="1701564" y="132257"/>
                    <a:pt x="1700433" y="201435"/>
                    <a:pt x="1704579" y="354559"/>
                  </a:cubicBezTo>
                  <a:cubicBezTo>
                    <a:pt x="1708725" y="507683"/>
                    <a:pt x="1713322" y="636729"/>
                    <a:pt x="1704579" y="738664"/>
                  </a:cubicBezTo>
                  <a:cubicBezTo>
                    <a:pt x="1460815" y="717818"/>
                    <a:pt x="1377928" y="721151"/>
                    <a:pt x="1170478" y="738664"/>
                  </a:cubicBezTo>
                  <a:cubicBezTo>
                    <a:pt x="963028" y="756177"/>
                    <a:pt x="751272" y="717224"/>
                    <a:pt x="636376" y="738664"/>
                  </a:cubicBezTo>
                  <a:cubicBezTo>
                    <a:pt x="521480" y="760104"/>
                    <a:pt x="201468" y="741800"/>
                    <a:pt x="0" y="738664"/>
                  </a:cubicBezTo>
                  <a:cubicBezTo>
                    <a:pt x="5702" y="593879"/>
                    <a:pt x="1485" y="517059"/>
                    <a:pt x="0" y="369332"/>
                  </a:cubicBezTo>
                  <a:cubicBezTo>
                    <a:pt x="-1485" y="221605"/>
                    <a:pt x="1006" y="93658"/>
                    <a:pt x="0" y="0"/>
                  </a:cubicBezTo>
                  <a:close/>
                </a:path>
                <a:path w="1704579" h="738664" stroke="0" extrusionOk="0">
                  <a:moveTo>
                    <a:pt x="0" y="0"/>
                  </a:moveTo>
                  <a:cubicBezTo>
                    <a:pt x="236791" y="-6424"/>
                    <a:pt x="332179" y="5130"/>
                    <a:pt x="551147" y="0"/>
                  </a:cubicBezTo>
                  <a:cubicBezTo>
                    <a:pt x="770115" y="-5130"/>
                    <a:pt x="923229" y="-341"/>
                    <a:pt x="1119340" y="0"/>
                  </a:cubicBezTo>
                  <a:cubicBezTo>
                    <a:pt x="1315451" y="341"/>
                    <a:pt x="1412788" y="10286"/>
                    <a:pt x="1704579" y="0"/>
                  </a:cubicBezTo>
                  <a:cubicBezTo>
                    <a:pt x="1715928" y="141052"/>
                    <a:pt x="1694144" y="195469"/>
                    <a:pt x="1704579" y="376719"/>
                  </a:cubicBezTo>
                  <a:cubicBezTo>
                    <a:pt x="1715014" y="557969"/>
                    <a:pt x="1709973" y="572171"/>
                    <a:pt x="1704579" y="738664"/>
                  </a:cubicBezTo>
                  <a:cubicBezTo>
                    <a:pt x="1567829" y="749946"/>
                    <a:pt x="1242024" y="733140"/>
                    <a:pt x="1102294" y="738664"/>
                  </a:cubicBezTo>
                  <a:cubicBezTo>
                    <a:pt x="962564" y="744188"/>
                    <a:pt x="806777" y="715402"/>
                    <a:pt x="585239" y="738664"/>
                  </a:cubicBezTo>
                  <a:cubicBezTo>
                    <a:pt x="363701" y="761926"/>
                    <a:pt x="189424" y="766188"/>
                    <a:pt x="0" y="738664"/>
                  </a:cubicBezTo>
                  <a:cubicBezTo>
                    <a:pt x="8389" y="572310"/>
                    <a:pt x="6479" y="474599"/>
                    <a:pt x="0" y="354559"/>
                  </a:cubicBezTo>
                  <a:cubicBezTo>
                    <a:pt x="-6479" y="234519"/>
                    <a:pt x="-397" y="151144"/>
                    <a:pt x="0" y="0"/>
                  </a:cubicBezTo>
                  <a:close/>
                </a:path>
              </a:pathLst>
            </a:custGeom>
            <a:solidFill>
              <a:srgbClr val="FF9999"/>
            </a:solidFill>
            <a:ln w="19050">
              <a:solidFill>
                <a:srgbClr val="005E77"/>
              </a:solidFill>
              <a:extLst>
                <a:ext uri="{C807C97D-BFC1-408E-A445-0C87EB9F89A2}">
                  <ask:lineSketchStyleProps xmlns:ask="http://schemas.microsoft.com/office/drawing/2018/sketchyshapes" sd="187621504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sz="1400" b="1" dirty="0">
                <a:solidFill>
                  <a:srgbClr val="FF9999"/>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A8EF1E7E-E939-43F2-C6DB-9F2540F765BC}"/>
                </a:ext>
              </a:extLst>
            </p:cNvPr>
            <p:cNvSpPr txBox="1"/>
            <p:nvPr/>
          </p:nvSpPr>
          <p:spPr>
            <a:xfrm>
              <a:off x="2792835" y="1434548"/>
              <a:ext cx="1702974" cy="752203"/>
            </a:xfrm>
            <a:prstGeom prst="rect">
              <a:avLst/>
            </a:prstGeom>
            <a:noFill/>
          </p:spPr>
          <p:txBody>
            <a:bodyPr wrap="square">
              <a:spAutoFit/>
            </a:bodyPr>
            <a:lstStyle/>
            <a:p>
              <a:pPr lvl="0"/>
              <a:r>
                <a:rPr lang="nl-BE" sz="1400" b="1" dirty="0">
                  <a:solidFill>
                    <a:srgbClr val="005E77"/>
                  </a:solidFill>
                  <a:latin typeface="Arial" panose="020B0604020202020204" pitchFamily="34" charset="0"/>
                  <a:cs typeface="Arial" panose="020B0604020202020204" pitchFamily="34" charset="0"/>
                </a:rPr>
                <a:t>M&amp;M = </a:t>
              </a:r>
              <a:r>
                <a:rPr lang="nl-BE" sz="1400" b="1" dirty="0" err="1">
                  <a:solidFill>
                    <a:srgbClr val="005E77"/>
                  </a:solidFill>
                  <a:latin typeface="Arial" panose="020B0604020202020204" pitchFamily="34" charset="0"/>
                  <a:cs typeface="Arial" panose="020B0604020202020204" pitchFamily="34" charset="0"/>
                </a:rPr>
                <a:t>Materials</a:t>
              </a:r>
              <a:r>
                <a:rPr lang="nl-BE" sz="1400" b="1" dirty="0">
                  <a:solidFill>
                    <a:srgbClr val="005E77"/>
                  </a:solidFill>
                  <a:latin typeface="Arial" panose="020B0604020202020204" pitchFamily="34" charset="0"/>
                  <a:cs typeface="Arial" panose="020B0604020202020204" pitchFamily="34" charset="0"/>
                </a:rPr>
                <a:t> &amp; </a:t>
              </a:r>
              <a:r>
                <a:rPr lang="nl-BE" sz="1400" b="1" dirty="0" err="1">
                  <a:solidFill>
                    <a:srgbClr val="005E77"/>
                  </a:solidFill>
                  <a:latin typeface="Arial" panose="020B0604020202020204" pitchFamily="34" charset="0"/>
                  <a:cs typeface="Arial" panose="020B0604020202020204" pitchFamily="34" charset="0"/>
                </a:rPr>
                <a:t>Methods</a:t>
              </a:r>
              <a:r>
                <a:rPr lang="nl-BE" sz="1400" b="1" dirty="0">
                  <a:solidFill>
                    <a:srgbClr val="005E77"/>
                  </a:solidFill>
                  <a:latin typeface="Arial" panose="020B0604020202020204" pitchFamily="34" charset="0"/>
                  <a:cs typeface="Arial" panose="020B0604020202020204" pitchFamily="34" charset="0"/>
                </a:rPr>
                <a:t>:</a:t>
              </a:r>
            </a:p>
            <a:p>
              <a:pPr lvl="0"/>
              <a:r>
                <a:rPr lang="nl-BE" sz="1400" b="1" u="sng" dirty="0">
                  <a:solidFill>
                    <a:srgbClr val="005E77"/>
                  </a:solidFill>
                  <a:latin typeface="Arial" panose="020B0604020202020204" pitchFamily="34" charset="0"/>
                  <a:cs typeface="Arial" panose="020B0604020202020204" pitchFamily="34" charset="0"/>
                </a:rPr>
                <a:t>Intro:</a:t>
              </a:r>
              <a:r>
                <a:rPr lang="nl-BE" sz="1400"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Objectives</a:t>
              </a:r>
              <a:endParaRPr lang="nl-BE" sz="1400" dirty="0">
                <a:solidFill>
                  <a:srgbClr val="005E77"/>
                </a:solidFill>
                <a:latin typeface="Arial" panose="020B0604020202020204" pitchFamily="34" charset="0"/>
                <a:cs typeface="Arial" panose="020B0604020202020204" pitchFamily="34" charset="0"/>
              </a:endParaRPr>
            </a:p>
            <a:p>
              <a:pPr lvl="0"/>
              <a:r>
                <a:rPr lang="nl-BE" sz="1400" b="1" u="sng" dirty="0" err="1">
                  <a:solidFill>
                    <a:srgbClr val="005E77"/>
                  </a:solidFill>
                  <a:latin typeface="Arial" panose="020B0604020202020204" pitchFamily="34" charset="0"/>
                  <a:cs typeface="Arial" panose="020B0604020202020204" pitchFamily="34" charset="0"/>
                </a:rPr>
                <a:t>Materials</a:t>
              </a:r>
              <a:r>
                <a:rPr lang="nl-BE" sz="1400" b="1" u="sng" dirty="0">
                  <a:solidFill>
                    <a:srgbClr val="005E77"/>
                  </a:solidFill>
                  <a:latin typeface="Arial" panose="020B0604020202020204" pitchFamily="34" charset="0"/>
                  <a:cs typeface="Arial" panose="020B0604020202020204" pitchFamily="34" charset="0"/>
                </a:rPr>
                <a:t>:</a:t>
              </a:r>
              <a:r>
                <a:rPr lang="nl-BE" sz="1400" dirty="0">
                  <a:solidFill>
                    <a:srgbClr val="005E77"/>
                  </a:solidFill>
                  <a:latin typeface="Arial" panose="020B0604020202020204" pitchFamily="34" charset="0"/>
                  <a:cs typeface="Arial" panose="020B0604020202020204" pitchFamily="34" charset="0"/>
                </a:rPr>
                <a:t> Input files, code source + </a:t>
              </a:r>
              <a:r>
                <a:rPr lang="nl-BE" sz="1400" dirty="0" err="1">
                  <a:solidFill>
                    <a:srgbClr val="005E77"/>
                  </a:solidFill>
                  <a:latin typeface="Arial" panose="020B0604020202020204" pitchFamily="34" charset="0"/>
                  <a:cs typeface="Arial" panose="020B0604020202020204" pitchFamily="34" charset="0"/>
                </a:rPr>
                <a:t>versions</a:t>
              </a:r>
              <a:r>
                <a:rPr lang="nl-BE" sz="1400" dirty="0">
                  <a:solidFill>
                    <a:srgbClr val="005E77"/>
                  </a:solidFill>
                  <a:latin typeface="Arial" panose="020B0604020202020204" pitchFamily="34" charset="0"/>
                  <a:cs typeface="Arial" panose="020B0604020202020204" pitchFamily="34" charset="0"/>
                </a:rPr>
                <a:t>, packages + </a:t>
              </a:r>
              <a:r>
                <a:rPr lang="nl-BE" sz="1400" dirty="0" err="1">
                  <a:solidFill>
                    <a:srgbClr val="005E77"/>
                  </a:solidFill>
                  <a:latin typeface="Arial" panose="020B0604020202020204" pitchFamily="34" charset="0"/>
                  <a:cs typeface="Arial" panose="020B0604020202020204" pitchFamily="34" charset="0"/>
                </a:rPr>
                <a:t>versions</a:t>
              </a:r>
              <a:r>
                <a:rPr lang="nl-BE" sz="1400" dirty="0">
                  <a:solidFill>
                    <a:srgbClr val="005E77"/>
                  </a:solidFill>
                  <a:latin typeface="Arial" panose="020B0604020202020204" pitchFamily="34" charset="0"/>
                  <a:cs typeface="Arial" panose="020B0604020202020204" pitchFamily="34" charset="0"/>
                </a:rPr>
                <a:t> </a:t>
              </a:r>
              <a:r>
                <a:rPr lang="nl-BE" sz="1400" b="1" u="sng" dirty="0" err="1">
                  <a:solidFill>
                    <a:srgbClr val="005E77"/>
                  </a:solidFill>
                  <a:latin typeface="Arial" panose="020B0604020202020204" pitchFamily="34" charset="0"/>
                  <a:cs typeface="Arial" panose="020B0604020202020204" pitchFamily="34" charset="0"/>
                </a:rPr>
                <a:t>Methods</a:t>
              </a:r>
              <a:r>
                <a:rPr lang="nl-BE" sz="1400" b="1" dirty="0">
                  <a:solidFill>
                    <a:srgbClr val="005E77"/>
                  </a:solidFill>
                  <a:latin typeface="Arial" panose="020B0604020202020204" pitchFamily="34" charset="0"/>
                  <a:cs typeface="Arial" panose="020B0604020202020204" pitchFamily="34" charset="0"/>
                </a:rPr>
                <a:t>: </a:t>
              </a:r>
              <a:r>
                <a:rPr lang="nl-BE" sz="1400" dirty="0">
                  <a:solidFill>
                    <a:srgbClr val="005E77"/>
                  </a:solidFill>
                  <a:latin typeface="Arial" panose="020B0604020202020204" pitchFamily="34" charset="0"/>
                  <a:cs typeface="Arial" panose="020B0604020202020204" pitchFamily="34" charset="0"/>
                </a:rPr>
                <a:t>Data cleaning, </a:t>
              </a:r>
              <a:br>
                <a:rPr lang="nl-BE" sz="1400" b="1" dirty="0">
                  <a:solidFill>
                    <a:srgbClr val="005E77"/>
                  </a:solidFill>
                  <a:latin typeface="Arial" panose="020B0604020202020204" pitchFamily="34" charset="0"/>
                  <a:cs typeface="Arial" panose="020B0604020202020204" pitchFamily="34" charset="0"/>
                </a:rPr>
              </a:br>
              <a:r>
                <a:rPr lang="nl-BE" sz="1400" dirty="0" err="1">
                  <a:solidFill>
                    <a:srgbClr val="005E77"/>
                  </a:solidFill>
                  <a:latin typeface="Arial" panose="020B0604020202020204" pitchFamily="34" charset="0"/>
                  <a:cs typeface="Arial" panose="020B0604020202020204" pitchFamily="34" charset="0"/>
                </a:rPr>
                <a:t>Step-by-step</a:t>
              </a:r>
              <a:r>
                <a:rPr lang="nl-BE" sz="1400" dirty="0">
                  <a:solidFill>
                    <a:srgbClr val="005E77"/>
                  </a:solidFill>
                  <a:latin typeface="Arial" panose="020B0604020202020204" pitchFamily="34" charset="0"/>
                  <a:cs typeface="Arial" panose="020B0604020202020204" pitchFamily="34" charset="0"/>
                </a:rPr>
                <a:t> (=code </a:t>
              </a:r>
              <a:r>
                <a:rPr lang="nl-BE" sz="1400" dirty="0" err="1">
                  <a:solidFill>
                    <a:srgbClr val="005E77"/>
                  </a:solidFill>
                  <a:latin typeface="Arial" panose="020B0604020202020204" pitchFamily="34" charset="0"/>
                  <a:cs typeface="Arial" panose="020B0604020202020204" pitchFamily="34" charset="0"/>
                </a:rPr>
                <a:t>itself</a:t>
              </a:r>
              <a:r>
                <a:rPr lang="nl-BE" sz="1400" dirty="0">
                  <a:solidFill>
                    <a:srgbClr val="005E77"/>
                  </a:solidFill>
                  <a:latin typeface="Arial" panose="020B0604020202020204" pitchFamily="34" charset="0"/>
                  <a:cs typeface="Arial" panose="020B0604020202020204" pitchFamily="34" charset="0"/>
                </a:rPr>
                <a:t>)</a:t>
              </a:r>
            </a:p>
            <a:p>
              <a:pPr lvl="0"/>
              <a:r>
                <a:rPr lang="nl-BE" sz="1400" b="1" u="sng" dirty="0" err="1">
                  <a:solidFill>
                    <a:srgbClr val="005E77"/>
                  </a:solidFill>
                  <a:latin typeface="Arial" panose="020B0604020202020204" pitchFamily="34" charset="0"/>
                  <a:cs typeface="Arial" panose="020B0604020202020204" pitchFamily="34" charset="0"/>
                </a:rPr>
                <a:t>Conclusion</a:t>
              </a:r>
              <a:r>
                <a:rPr lang="nl-BE" sz="1400" u="sng" dirty="0">
                  <a:solidFill>
                    <a:srgbClr val="005E77"/>
                  </a:solidFill>
                  <a:latin typeface="Arial" panose="020B0604020202020204" pitchFamily="34" charset="0"/>
                  <a:cs typeface="Arial" panose="020B0604020202020204" pitchFamily="34" charset="0"/>
                </a:rPr>
                <a:t>: </a:t>
              </a:r>
              <a:r>
                <a:rPr lang="nl-BE" sz="1400" dirty="0" err="1">
                  <a:solidFill>
                    <a:srgbClr val="005E77"/>
                  </a:solidFill>
                  <a:latin typeface="Arial" panose="020B0604020202020204" pitchFamily="34" charset="0"/>
                  <a:cs typeface="Arial" panose="020B0604020202020204" pitchFamily="34" charset="0"/>
                </a:rPr>
                <a:t>Results</a:t>
              </a:r>
              <a:r>
                <a:rPr lang="nl-BE" sz="1400" dirty="0">
                  <a:solidFill>
                    <a:srgbClr val="005E77"/>
                  </a:solidFill>
                  <a:latin typeface="Arial" panose="020B0604020202020204" pitchFamily="34" charset="0"/>
                  <a:cs typeface="Arial" panose="020B0604020202020204" pitchFamily="34" charset="0"/>
                </a:rPr>
                <a:t>, link </a:t>
              </a:r>
              <a:r>
                <a:rPr lang="nl-BE" sz="1400" dirty="0" err="1">
                  <a:solidFill>
                    <a:srgbClr val="005E77"/>
                  </a:solidFill>
                  <a:latin typeface="Arial" panose="020B0604020202020204" pitchFamily="34" charset="0"/>
                  <a:cs typeface="Arial" panose="020B0604020202020204" pitchFamily="34" charset="0"/>
                </a:rPr>
                <a:t>to</a:t>
              </a:r>
              <a:r>
                <a:rPr lang="nl-BE" sz="1400" dirty="0">
                  <a:solidFill>
                    <a:srgbClr val="005E77"/>
                  </a:solidFill>
                  <a:latin typeface="Arial" panose="020B0604020202020204" pitchFamily="34" charset="0"/>
                  <a:cs typeface="Arial" panose="020B0604020202020204" pitchFamily="34" charset="0"/>
                </a:rPr>
                <a:t> output, next steps</a:t>
              </a:r>
              <a:endParaRPr lang="nl-BE" sz="1400" u="sng" dirty="0">
                <a:solidFill>
                  <a:srgbClr val="005E77"/>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61398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2820-FCAA-A92B-AA54-F2DD83B19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22CF5-3F89-034D-A124-A9575E92E466}"/>
              </a:ext>
            </a:extLst>
          </p:cNvPr>
          <p:cNvSpPr>
            <a:spLocks noGrp="1"/>
          </p:cNvSpPr>
          <p:nvPr>
            <p:ph type="title"/>
          </p:nvPr>
        </p:nvSpPr>
        <p:spPr/>
        <p:txBody>
          <a:bodyPr/>
          <a:lstStyle/>
          <a:p>
            <a:r>
              <a:rPr lang="en-US" dirty="0"/>
              <a:t>Exercise 4: Documenting each </a:t>
            </a:r>
            <a:r>
              <a:rPr lang="en-US" dirty="0">
                <a:solidFill>
                  <a:srgbClr val="FFDF7F"/>
                </a:solidFill>
              </a:rPr>
              <a:t>step</a:t>
            </a:r>
            <a:r>
              <a:rPr lang="en-US" dirty="0"/>
              <a:t> of your dataflow</a:t>
            </a:r>
            <a:endParaRPr lang="en-GB" dirty="0"/>
          </a:p>
        </p:txBody>
      </p:sp>
      <p:sp>
        <p:nvSpPr>
          <p:cNvPr id="3" name="Content Placeholder 2">
            <a:extLst>
              <a:ext uri="{FF2B5EF4-FFF2-40B4-BE49-F238E27FC236}">
                <a16:creationId xmlns:a16="http://schemas.microsoft.com/office/drawing/2014/main" id="{8A8E01AD-58EC-5F0B-B996-C8DA0509EE2D}"/>
              </a:ext>
            </a:extLst>
          </p:cNvPr>
          <p:cNvSpPr>
            <a:spLocks noGrp="1"/>
          </p:cNvSpPr>
          <p:nvPr>
            <p:ph idx="1"/>
          </p:nvPr>
        </p:nvSpPr>
        <p:spPr/>
        <p:txBody>
          <a:bodyPr/>
          <a:lstStyle/>
          <a:p>
            <a:pPr marL="0" lvl="0" indent="0">
              <a:buNone/>
            </a:pPr>
            <a:r>
              <a:rPr lang="en-US" dirty="0"/>
              <a:t>Workbook p.3</a:t>
            </a:r>
          </a:p>
          <a:p>
            <a:pPr marL="514350" lvl="0" indent="-514350">
              <a:buFont typeface="+mj-lt"/>
              <a:buAutoNum type="arabicPeriod" startAt="2"/>
            </a:pPr>
            <a:r>
              <a:rPr lang="en-US" dirty="0"/>
              <a:t>Choose</a:t>
            </a:r>
            <a:r>
              <a:rPr lang="en-US" b="1" dirty="0"/>
              <a:t> tool </a:t>
            </a:r>
            <a:r>
              <a:rPr lang="en-US" dirty="0"/>
              <a:t>for “materials &amp; methods” documentation </a:t>
            </a:r>
            <a:br>
              <a:rPr lang="en-US" dirty="0"/>
            </a:br>
            <a:r>
              <a:rPr lang="en-US" dirty="0"/>
              <a:t>of each </a:t>
            </a:r>
            <a:r>
              <a:rPr lang="en-US" b="1" dirty="0">
                <a:solidFill>
                  <a:srgbClr val="FFDF7F"/>
                </a:solidFill>
              </a:rPr>
              <a:t>step</a:t>
            </a:r>
            <a:r>
              <a:rPr lang="en-US" dirty="0"/>
              <a:t> (ELN, …). </a:t>
            </a:r>
            <a:br>
              <a:rPr lang="en-US" dirty="0"/>
            </a:br>
            <a:r>
              <a:rPr lang="en-US" dirty="0"/>
              <a:t>Write this on a </a:t>
            </a:r>
            <a:r>
              <a:rPr lang="en-US" b="1" dirty="0">
                <a:solidFill>
                  <a:srgbClr val="FF9999"/>
                </a:solidFill>
              </a:rPr>
              <a:t>pink </a:t>
            </a:r>
            <a:r>
              <a:rPr lang="en-US" b="1" dirty="0" err="1">
                <a:solidFill>
                  <a:srgbClr val="FF9999"/>
                </a:solidFill>
              </a:rPr>
              <a:t>post-it</a:t>
            </a:r>
            <a:r>
              <a:rPr lang="en-US" b="1" dirty="0">
                <a:solidFill>
                  <a:srgbClr val="FF9999"/>
                </a:solidFill>
              </a:rPr>
              <a:t> </a:t>
            </a:r>
            <a:r>
              <a:rPr lang="en-US" dirty="0"/>
              <a:t>note and add it next to the step. </a:t>
            </a:r>
            <a:endParaRPr lang="nl-BE" dirty="0"/>
          </a:p>
          <a:p>
            <a:pPr marL="514350" lvl="0" indent="-514350">
              <a:buFont typeface="+mj-lt"/>
              <a:buAutoNum type="arabicPeriod" startAt="2"/>
            </a:pPr>
            <a:r>
              <a:rPr lang="en-US" dirty="0"/>
              <a:t>Add M&amp;M (“materials &amp; methods”) </a:t>
            </a:r>
            <a:r>
              <a:rPr lang="en-US" b="1" dirty="0"/>
              <a:t>template</a:t>
            </a:r>
            <a:r>
              <a:rPr lang="en-US" dirty="0"/>
              <a:t> to </a:t>
            </a:r>
            <a:r>
              <a:rPr lang="en-US" b="1" dirty="0">
                <a:solidFill>
                  <a:srgbClr val="FF9999"/>
                </a:solidFill>
              </a:rPr>
              <a:t>pink </a:t>
            </a:r>
            <a:r>
              <a:rPr lang="en-US" b="1" dirty="0" err="1">
                <a:solidFill>
                  <a:srgbClr val="FF9999"/>
                </a:solidFill>
              </a:rPr>
              <a:t>post-it</a:t>
            </a:r>
            <a:r>
              <a:rPr lang="en-US" b="1" dirty="0">
                <a:solidFill>
                  <a:srgbClr val="FF9999"/>
                </a:solidFill>
              </a:rPr>
              <a:t> notes</a:t>
            </a:r>
            <a:br>
              <a:rPr lang="en-US" b="1" dirty="0">
                <a:solidFill>
                  <a:srgbClr val="FF9999"/>
                </a:solidFill>
              </a:rPr>
            </a:br>
            <a:r>
              <a:rPr lang="en-US" dirty="0"/>
              <a:t>Select the correct terminology for you &amp; for each </a:t>
            </a:r>
            <a:r>
              <a:rPr lang="en-US" b="1" dirty="0">
                <a:solidFill>
                  <a:srgbClr val="FFDF7F"/>
                </a:solidFill>
              </a:rPr>
              <a:t>step</a:t>
            </a:r>
            <a:endParaRPr lang="en-GB" b="1" dirty="0">
              <a:solidFill>
                <a:srgbClr val="FFDF7F"/>
              </a:solidFill>
            </a:endParaRPr>
          </a:p>
        </p:txBody>
      </p:sp>
      <p:sp>
        <p:nvSpPr>
          <p:cNvPr id="4" name="Slide Number Placeholder 3">
            <a:extLst>
              <a:ext uri="{FF2B5EF4-FFF2-40B4-BE49-F238E27FC236}">
                <a16:creationId xmlns:a16="http://schemas.microsoft.com/office/drawing/2014/main" id="{76226D6C-DAD6-EEDD-444D-5EDCB774C8B6}"/>
              </a:ext>
            </a:extLst>
          </p:cNvPr>
          <p:cNvSpPr>
            <a:spLocks noGrp="1"/>
          </p:cNvSpPr>
          <p:nvPr>
            <p:ph type="sldNum" sz="quarter" idx="12"/>
          </p:nvPr>
        </p:nvSpPr>
        <p:spPr/>
        <p:txBody>
          <a:bodyPr/>
          <a:lstStyle/>
          <a:p>
            <a:fld id="{85114D95-D6A6-084A-9D9C-617B45E258AD}" type="slidenum">
              <a:rPr lang="nl-NL" smtClean="0"/>
              <a:t>21</a:t>
            </a:fld>
            <a:endParaRPr lang="nl-NL"/>
          </a:p>
        </p:txBody>
      </p:sp>
    </p:spTree>
    <p:extLst>
      <p:ext uri="{BB962C8B-B14F-4D97-AF65-F5344CB8AC3E}">
        <p14:creationId xmlns:p14="http://schemas.microsoft.com/office/powerpoint/2010/main" val="3442963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6108-21BF-23AB-B6F4-3DB27196F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BF9AB-D72F-E449-5EBA-BFC51FC66A7E}"/>
              </a:ext>
            </a:extLst>
          </p:cNvPr>
          <p:cNvSpPr>
            <a:spLocks noGrp="1"/>
          </p:cNvSpPr>
          <p:nvPr>
            <p:ph type="title"/>
          </p:nvPr>
        </p:nvSpPr>
        <p:spPr/>
        <p:txBody>
          <a:bodyPr/>
          <a:lstStyle/>
          <a:p>
            <a:r>
              <a:rPr lang="en-US" dirty="0"/>
              <a:t>Exercise 4: Documenting each </a:t>
            </a:r>
            <a:r>
              <a:rPr lang="en-US" dirty="0">
                <a:solidFill>
                  <a:srgbClr val="FFDF7F"/>
                </a:solidFill>
              </a:rPr>
              <a:t>step</a:t>
            </a:r>
            <a:r>
              <a:rPr lang="en-US" dirty="0"/>
              <a:t> of your dataflow</a:t>
            </a:r>
            <a:endParaRPr lang="en-GB" dirty="0"/>
          </a:p>
        </p:txBody>
      </p:sp>
      <p:sp>
        <p:nvSpPr>
          <p:cNvPr id="3" name="Content Placeholder 2">
            <a:extLst>
              <a:ext uri="{FF2B5EF4-FFF2-40B4-BE49-F238E27FC236}">
                <a16:creationId xmlns:a16="http://schemas.microsoft.com/office/drawing/2014/main" id="{FA9C1915-C0EC-AF33-BE9A-004FF305E796}"/>
              </a:ext>
            </a:extLst>
          </p:cNvPr>
          <p:cNvSpPr>
            <a:spLocks noGrp="1"/>
          </p:cNvSpPr>
          <p:nvPr>
            <p:ph idx="1"/>
          </p:nvPr>
        </p:nvSpPr>
        <p:spPr/>
        <p:txBody>
          <a:bodyPr>
            <a:normAutofit lnSpcReduction="10000"/>
          </a:bodyPr>
          <a:lstStyle/>
          <a:p>
            <a:pPr marL="0" lvl="0" indent="0">
              <a:buNone/>
            </a:pPr>
            <a:r>
              <a:rPr lang="en-GB" b="1" dirty="0"/>
              <a:t>Pair discussion:</a:t>
            </a:r>
          </a:p>
          <a:p>
            <a:pPr marL="514350" lvl="0" indent="-514350">
              <a:buFont typeface="+mj-lt"/>
              <a:buAutoNum type="alphaLcPeriod"/>
            </a:pPr>
            <a:r>
              <a:rPr lang="en-US" dirty="0"/>
              <a:t>Would you be able to recreate a certain step of the data flow?</a:t>
            </a:r>
            <a:endParaRPr lang="nl-BE" dirty="0"/>
          </a:p>
          <a:p>
            <a:pPr marL="514350" lvl="0" indent="-514350">
              <a:buFont typeface="+mj-lt"/>
              <a:buAutoNum type="alphaLcPeriod"/>
            </a:pPr>
            <a:r>
              <a:rPr lang="en-US" dirty="0"/>
              <a:t>Did you include all elements from 4a? If not, why?</a:t>
            </a:r>
            <a:endParaRPr lang="nl-BE" dirty="0"/>
          </a:p>
          <a:p>
            <a:pPr marL="514350" lvl="0" indent="-514350">
              <a:buFont typeface="+mj-lt"/>
              <a:buAutoNum type="alphaLcPeriod"/>
            </a:pPr>
            <a:r>
              <a:rPr lang="en-US" dirty="0"/>
              <a:t>Do you use similar words/terminology, or do the terms differ? </a:t>
            </a:r>
            <a:endParaRPr lang="nl-BE" dirty="0"/>
          </a:p>
          <a:p>
            <a:pPr marL="514350" lvl="0" indent="-514350">
              <a:buFont typeface="+mj-lt"/>
              <a:buAutoNum type="alphaLcPeriod"/>
            </a:pPr>
            <a:r>
              <a:rPr lang="en-US" dirty="0"/>
              <a:t>Do your documentation practices differ between wet lab and computational work? </a:t>
            </a:r>
          </a:p>
          <a:p>
            <a:pPr marL="514350" indent="-514350">
              <a:buFont typeface="+mj-lt"/>
              <a:buAutoNum type="alphaLcPeriod"/>
            </a:pPr>
            <a:r>
              <a:rPr lang="en-US" dirty="0"/>
              <a:t>Are there already templates available in your research group? Do you see missing elements (from there or here)? Are there templates for both </a:t>
            </a:r>
            <a:r>
              <a:rPr lang="en-US" dirty="0" err="1"/>
              <a:t>labwork</a:t>
            </a:r>
            <a:r>
              <a:rPr lang="en-US" dirty="0"/>
              <a:t> and </a:t>
            </a:r>
            <a:r>
              <a:rPr lang="en-US" dirty="0" err="1"/>
              <a:t>computerwork</a:t>
            </a:r>
            <a:r>
              <a:rPr lang="en-US" dirty="0"/>
              <a:t>? </a:t>
            </a:r>
            <a:endParaRPr lang="nl-BE" dirty="0"/>
          </a:p>
          <a:p>
            <a:pPr marL="514350" lvl="0" indent="-514350">
              <a:buFont typeface="+mj-lt"/>
              <a:buAutoNum type="alphaLcPeriod"/>
            </a:pPr>
            <a:endParaRPr lang="nl-BE" dirty="0"/>
          </a:p>
          <a:p>
            <a:pPr marL="0" lvl="0" indent="0">
              <a:buNone/>
            </a:pPr>
            <a:endParaRPr lang="en-GB" b="1" dirty="0"/>
          </a:p>
          <a:p>
            <a:pPr marL="0" lvl="0" indent="0">
              <a:buNone/>
            </a:pPr>
            <a:endParaRPr lang="en-GB" b="1" dirty="0"/>
          </a:p>
          <a:p>
            <a:pPr marL="0" lvl="0" indent="0">
              <a:buNone/>
            </a:pPr>
            <a:endParaRPr lang="en-GB" b="1" dirty="0"/>
          </a:p>
        </p:txBody>
      </p:sp>
      <p:sp>
        <p:nvSpPr>
          <p:cNvPr id="4" name="Slide Number Placeholder 3">
            <a:extLst>
              <a:ext uri="{FF2B5EF4-FFF2-40B4-BE49-F238E27FC236}">
                <a16:creationId xmlns:a16="http://schemas.microsoft.com/office/drawing/2014/main" id="{0A558DEE-885C-085D-A522-F1EF20D4343A}"/>
              </a:ext>
            </a:extLst>
          </p:cNvPr>
          <p:cNvSpPr>
            <a:spLocks noGrp="1"/>
          </p:cNvSpPr>
          <p:nvPr>
            <p:ph type="sldNum" sz="quarter" idx="12"/>
          </p:nvPr>
        </p:nvSpPr>
        <p:spPr/>
        <p:txBody>
          <a:bodyPr/>
          <a:lstStyle/>
          <a:p>
            <a:fld id="{85114D95-D6A6-084A-9D9C-617B45E258AD}" type="slidenum">
              <a:rPr lang="nl-NL" smtClean="0"/>
              <a:t>22</a:t>
            </a:fld>
            <a:endParaRPr lang="nl-NL"/>
          </a:p>
        </p:txBody>
      </p:sp>
    </p:spTree>
    <p:extLst>
      <p:ext uri="{BB962C8B-B14F-4D97-AF65-F5344CB8AC3E}">
        <p14:creationId xmlns:p14="http://schemas.microsoft.com/office/powerpoint/2010/main" val="569040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9A67-F40B-023D-AF27-0B7BDE55C959}"/>
              </a:ext>
            </a:extLst>
          </p:cNvPr>
          <p:cNvSpPr>
            <a:spLocks noGrp="1"/>
          </p:cNvSpPr>
          <p:nvPr>
            <p:ph type="title"/>
          </p:nvPr>
        </p:nvSpPr>
        <p:spPr/>
        <p:txBody>
          <a:bodyPr/>
          <a:lstStyle/>
          <a:p>
            <a:r>
              <a:rPr lang="en-US" dirty="0"/>
              <a:t>Plenary discussion</a:t>
            </a:r>
            <a:endParaRPr lang="nl-BE" dirty="0"/>
          </a:p>
        </p:txBody>
      </p:sp>
      <p:sp>
        <p:nvSpPr>
          <p:cNvPr id="3" name="Content Placeholder 2">
            <a:extLst>
              <a:ext uri="{FF2B5EF4-FFF2-40B4-BE49-F238E27FC236}">
                <a16:creationId xmlns:a16="http://schemas.microsoft.com/office/drawing/2014/main" id="{AAF9700F-2E0C-8BD3-CCF7-18208530539A}"/>
              </a:ext>
            </a:extLst>
          </p:cNvPr>
          <p:cNvSpPr>
            <a:spLocks noGrp="1"/>
          </p:cNvSpPr>
          <p:nvPr>
            <p:ph idx="1"/>
          </p:nvPr>
        </p:nvSpPr>
        <p:spPr/>
        <p:txBody>
          <a:bodyPr>
            <a:normAutofit lnSpcReduction="10000"/>
          </a:bodyPr>
          <a:lstStyle/>
          <a:p>
            <a:pPr marL="514350" lvl="0" indent="-514350">
              <a:buFont typeface="+mj-lt"/>
              <a:buAutoNum type="alphaLcPeriod"/>
            </a:pPr>
            <a:r>
              <a:rPr lang="en-US" dirty="0"/>
              <a:t>Have you encountered issues related to too little documentation and/or differences in terminology?</a:t>
            </a:r>
            <a:endParaRPr lang="nl-BE" dirty="0"/>
          </a:p>
          <a:p>
            <a:pPr marL="514350" lvl="0" indent="-514350">
              <a:buFont typeface="+mj-lt"/>
              <a:buAutoNum type="alphaLcPeriod"/>
            </a:pPr>
            <a:r>
              <a:rPr lang="en-US" dirty="0"/>
              <a:t>Are there templates in your group? Is one person in charge of actively updating/streamlining these templates?</a:t>
            </a:r>
            <a:endParaRPr lang="nl-BE" dirty="0"/>
          </a:p>
          <a:p>
            <a:pPr marL="514350" lvl="0" indent="-514350">
              <a:buFont typeface="+mj-lt"/>
              <a:buAutoNum type="alphaLcPeriod"/>
            </a:pPr>
            <a:r>
              <a:rPr lang="en-US" dirty="0"/>
              <a:t>How can we ensure consistency in documentation across team members? </a:t>
            </a:r>
            <a:endParaRPr lang="nl-BE" dirty="0"/>
          </a:p>
          <a:p>
            <a:pPr marL="514350" lvl="0" indent="-514350">
              <a:buFont typeface="+mj-lt"/>
              <a:buAutoNum type="alphaLcPeriod"/>
            </a:pPr>
            <a:r>
              <a:rPr lang="en-US" dirty="0"/>
              <a:t>How can we make documentation less burdensome but still effective?</a:t>
            </a:r>
            <a:endParaRPr lang="nl-BE" dirty="0"/>
          </a:p>
          <a:p>
            <a:pPr marL="514350" lvl="0" indent="-514350">
              <a:buFont typeface="+mj-lt"/>
              <a:buAutoNum type="alphaLcPeriod"/>
            </a:pPr>
            <a:r>
              <a:rPr lang="en-US" dirty="0"/>
              <a:t>What institutional or community support would help improve documentation?</a:t>
            </a:r>
            <a:endParaRPr lang="nl-BE" dirty="0"/>
          </a:p>
          <a:p>
            <a:endParaRPr lang="nl-BE" dirty="0"/>
          </a:p>
        </p:txBody>
      </p:sp>
      <p:sp>
        <p:nvSpPr>
          <p:cNvPr id="4" name="Slide Number Placeholder 3">
            <a:extLst>
              <a:ext uri="{FF2B5EF4-FFF2-40B4-BE49-F238E27FC236}">
                <a16:creationId xmlns:a16="http://schemas.microsoft.com/office/drawing/2014/main" id="{D02AEC8A-17C0-5B83-AE04-6A5DC3FD4F00}"/>
              </a:ext>
            </a:extLst>
          </p:cNvPr>
          <p:cNvSpPr>
            <a:spLocks noGrp="1"/>
          </p:cNvSpPr>
          <p:nvPr>
            <p:ph type="sldNum" sz="quarter" idx="12"/>
          </p:nvPr>
        </p:nvSpPr>
        <p:spPr/>
        <p:txBody>
          <a:bodyPr/>
          <a:lstStyle/>
          <a:p>
            <a:fld id="{85114D95-D6A6-084A-9D9C-617B45E258AD}" type="slidenum">
              <a:rPr lang="nl-NL" smtClean="0"/>
              <a:t>23</a:t>
            </a:fld>
            <a:endParaRPr lang="nl-NL"/>
          </a:p>
        </p:txBody>
      </p:sp>
    </p:spTree>
    <p:extLst>
      <p:ext uri="{BB962C8B-B14F-4D97-AF65-F5344CB8AC3E}">
        <p14:creationId xmlns:p14="http://schemas.microsoft.com/office/powerpoint/2010/main" val="2645430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F7096-966A-D61F-8227-02D0C89BD8E4}"/>
              </a:ext>
            </a:extLst>
          </p:cNvPr>
          <p:cNvSpPr>
            <a:spLocks noGrp="1"/>
          </p:cNvSpPr>
          <p:nvPr>
            <p:ph type="title"/>
          </p:nvPr>
        </p:nvSpPr>
        <p:spPr/>
        <p:txBody>
          <a:bodyPr/>
          <a:lstStyle/>
          <a:p>
            <a:r>
              <a:rPr lang="en-US" dirty="0">
                <a:latin typeface="Arial"/>
                <a:cs typeface="Arial"/>
              </a:rPr>
              <a:t>BREAK</a:t>
            </a:r>
            <a:endParaRPr lang="en-US" dirty="0"/>
          </a:p>
        </p:txBody>
      </p:sp>
      <p:sp>
        <p:nvSpPr>
          <p:cNvPr id="3" name="Slide Number Placeholder 2">
            <a:extLst>
              <a:ext uri="{FF2B5EF4-FFF2-40B4-BE49-F238E27FC236}">
                <a16:creationId xmlns:a16="http://schemas.microsoft.com/office/drawing/2014/main" id="{9B893767-B035-7FBE-996E-D9FFCDE4BDE5}"/>
              </a:ext>
            </a:extLst>
          </p:cNvPr>
          <p:cNvSpPr>
            <a:spLocks noGrp="1"/>
          </p:cNvSpPr>
          <p:nvPr>
            <p:ph type="sldNum" sz="quarter" idx="12"/>
          </p:nvPr>
        </p:nvSpPr>
        <p:spPr/>
        <p:txBody>
          <a:bodyPr/>
          <a:lstStyle/>
          <a:p>
            <a:fld id="{85114D95-D6A6-084A-9D9C-617B45E258AD}" type="slidenum">
              <a:rPr lang="nl-NL" smtClean="0"/>
              <a:t>24</a:t>
            </a:fld>
            <a:endParaRPr lang="nl-NL"/>
          </a:p>
        </p:txBody>
      </p:sp>
    </p:spTree>
    <p:extLst>
      <p:ext uri="{BB962C8B-B14F-4D97-AF65-F5344CB8AC3E}">
        <p14:creationId xmlns:p14="http://schemas.microsoft.com/office/powerpoint/2010/main" val="318830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2B47-85F4-40D6-65C1-64C2D90E5858}"/>
              </a:ext>
            </a:extLst>
          </p:cNvPr>
          <p:cNvSpPr>
            <a:spLocks noGrp="1"/>
          </p:cNvSpPr>
          <p:nvPr>
            <p:ph type="title"/>
          </p:nvPr>
        </p:nvSpPr>
        <p:spPr/>
        <p:txBody>
          <a:bodyPr/>
          <a:lstStyle/>
          <a:p>
            <a:r>
              <a:rPr lang="en-US" dirty="0"/>
              <a:t>Exercise 5: Beyond the steps – What else to document?</a:t>
            </a:r>
            <a:endParaRPr lang="nl-BE" dirty="0"/>
          </a:p>
        </p:txBody>
      </p:sp>
      <p:sp>
        <p:nvSpPr>
          <p:cNvPr id="3" name="Content Placeholder 2">
            <a:extLst>
              <a:ext uri="{FF2B5EF4-FFF2-40B4-BE49-F238E27FC236}">
                <a16:creationId xmlns:a16="http://schemas.microsoft.com/office/drawing/2014/main" id="{6DB0003C-FCA1-3351-B146-1CDF1D6631EE}"/>
              </a:ext>
            </a:extLst>
          </p:cNvPr>
          <p:cNvSpPr>
            <a:spLocks noGrp="1"/>
          </p:cNvSpPr>
          <p:nvPr>
            <p:ph idx="1"/>
          </p:nvPr>
        </p:nvSpPr>
        <p:spPr/>
        <p:txBody>
          <a:bodyPr/>
          <a:lstStyle/>
          <a:p>
            <a:pPr marL="0" indent="0">
              <a:buNone/>
            </a:pPr>
            <a:r>
              <a:rPr lang="en-US" b="1" dirty="0"/>
              <a:t>What other documentation do you provide for a project, other than the “materials &amp; methods” style?</a:t>
            </a:r>
          </a:p>
          <a:p>
            <a:pPr marL="0" indent="0">
              <a:buNone/>
            </a:pPr>
            <a:endParaRPr lang="en-US" dirty="0"/>
          </a:p>
        </p:txBody>
      </p:sp>
      <p:sp>
        <p:nvSpPr>
          <p:cNvPr id="4" name="Slide Number Placeholder 3">
            <a:extLst>
              <a:ext uri="{FF2B5EF4-FFF2-40B4-BE49-F238E27FC236}">
                <a16:creationId xmlns:a16="http://schemas.microsoft.com/office/drawing/2014/main" id="{E3F47F33-7613-5148-3BD3-F97B4655E00D}"/>
              </a:ext>
            </a:extLst>
          </p:cNvPr>
          <p:cNvSpPr>
            <a:spLocks noGrp="1"/>
          </p:cNvSpPr>
          <p:nvPr>
            <p:ph type="sldNum" sz="quarter" idx="12"/>
          </p:nvPr>
        </p:nvSpPr>
        <p:spPr/>
        <p:txBody>
          <a:bodyPr/>
          <a:lstStyle/>
          <a:p>
            <a:fld id="{85114D95-D6A6-084A-9D9C-617B45E258AD}" type="slidenum">
              <a:rPr lang="nl-NL" smtClean="0"/>
              <a:t>25</a:t>
            </a:fld>
            <a:endParaRPr lang="nl-NL"/>
          </a:p>
        </p:txBody>
      </p:sp>
    </p:spTree>
    <p:extLst>
      <p:ext uri="{BB962C8B-B14F-4D97-AF65-F5344CB8AC3E}">
        <p14:creationId xmlns:p14="http://schemas.microsoft.com/office/powerpoint/2010/main" val="2696164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DE5C-3516-CEAC-F389-78271C37E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CB22C-53B7-B036-96F9-776C0D1F03F3}"/>
              </a:ext>
            </a:extLst>
          </p:cNvPr>
          <p:cNvSpPr>
            <a:spLocks noGrp="1"/>
          </p:cNvSpPr>
          <p:nvPr>
            <p:ph type="title"/>
          </p:nvPr>
        </p:nvSpPr>
        <p:spPr/>
        <p:txBody>
          <a:bodyPr/>
          <a:lstStyle/>
          <a:p>
            <a:r>
              <a:rPr lang="en-US" dirty="0"/>
              <a:t>Exercise 5: Beyond the steps </a:t>
            </a:r>
            <a:br>
              <a:rPr lang="en-US" dirty="0"/>
            </a:br>
            <a:r>
              <a:rPr lang="en-US" dirty="0"/>
              <a:t>Documentation for </a:t>
            </a:r>
            <a:r>
              <a:rPr lang="en-US" dirty="0" err="1"/>
              <a:t>organisation</a:t>
            </a:r>
            <a:endParaRPr lang="nl-BE" dirty="0"/>
          </a:p>
        </p:txBody>
      </p:sp>
      <p:sp>
        <p:nvSpPr>
          <p:cNvPr id="4" name="Slide Number Placeholder 3">
            <a:extLst>
              <a:ext uri="{FF2B5EF4-FFF2-40B4-BE49-F238E27FC236}">
                <a16:creationId xmlns:a16="http://schemas.microsoft.com/office/drawing/2014/main" id="{D22B3E84-69A8-D7FC-8B5F-ACD5E68BBB78}"/>
              </a:ext>
            </a:extLst>
          </p:cNvPr>
          <p:cNvSpPr>
            <a:spLocks noGrp="1"/>
          </p:cNvSpPr>
          <p:nvPr>
            <p:ph type="sldNum" sz="quarter" idx="12"/>
          </p:nvPr>
        </p:nvSpPr>
        <p:spPr/>
        <p:txBody>
          <a:bodyPr/>
          <a:lstStyle/>
          <a:p>
            <a:fld id="{85114D95-D6A6-084A-9D9C-617B45E258AD}" type="slidenum">
              <a:rPr lang="nl-NL" smtClean="0"/>
              <a:t>26</a:t>
            </a:fld>
            <a:endParaRPr lang="nl-NL"/>
          </a:p>
        </p:txBody>
      </p:sp>
      <p:grpSp>
        <p:nvGrpSpPr>
          <p:cNvPr id="46" name="Group 45">
            <a:extLst>
              <a:ext uri="{FF2B5EF4-FFF2-40B4-BE49-F238E27FC236}">
                <a16:creationId xmlns:a16="http://schemas.microsoft.com/office/drawing/2014/main" id="{1EB76723-4A51-5696-500A-C3F9DD7E6C91}"/>
              </a:ext>
            </a:extLst>
          </p:cNvPr>
          <p:cNvGrpSpPr/>
          <p:nvPr/>
        </p:nvGrpSpPr>
        <p:grpSpPr>
          <a:xfrm>
            <a:off x="4371717" y="1516829"/>
            <a:ext cx="1659967" cy="1702984"/>
            <a:chOff x="4371717" y="1516829"/>
            <a:chExt cx="1659967" cy="1702984"/>
          </a:xfrm>
        </p:grpSpPr>
        <p:sp>
          <p:nvSpPr>
            <p:cNvPr id="9" name="Freeform: Shape 8">
              <a:extLst>
                <a:ext uri="{FF2B5EF4-FFF2-40B4-BE49-F238E27FC236}">
                  <a16:creationId xmlns:a16="http://schemas.microsoft.com/office/drawing/2014/main" id="{10FE6533-D95E-4F81-C32C-6A6B71FBB20D}"/>
                </a:ext>
              </a:extLst>
            </p:cNvPr>
            <p:cNvSpPr/>
            <p:nvPr/>
          </p:nvSpPr>
          <p:spPr>
            <a:xfrm>
              <a:off x="4371717" y="1516829"/>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9B9B"/>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marL="0" lvl="0" indent="0" algn="ctr" defTabSz="1600200">
                <a:lnSpc>
                  <a:spcPct val="90000"/>
                </a:lnSpc>
                <a:spcBef>
                  <a:spcPct val="0"/>
                </a:spcBef>
                <a:spcAft>
                  <a:spcPct val="35000"/>
                </a:spcAft>
                <a:buNone/>
              </a:pPr>
              <a:endParaRPr lang="nl-BE" sz="2000" kern="1200" dirty="0"/>
            </a:p>
          </p:txBody>
        </p:sp>
        <p:sp>
          <p:nvSpPr>
            <p:cNvPr id="16" name="TextBox 15">
              <a:extLst>
                <a:ext uri="{FF2B5EF4-FFF2-40B4-BE49-F238E27FC236}">
                  <a16:creationId xmlns:a16="http://schemas.microsoft.com/office/drawing/2014/main" id="{81B09281-BE5B-1E29-9E9C-F364D779183F}"/>
                </a:ext>
              </a:extLst>
            </p:cNvPr>
            <p:cNvSpPr txBox="1"/>
            <p:nvPr/>
          </p:nvSpPr>
          <p:spPr>
            <a:xfrm>
              <a:off x="4371717" y="1955637"/>
              <a:ext cx="1659967" cy="825369"/>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Sample list</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EE9EE600-487A-2D81-1B0A-11E7AF93A919}"/>
              </a:ext>
            </a:extLst>
          </p:cNvPr>
          <p:cNvGrpSpPr/>
          <p:nvPr/>
        </p:nvGrpSpPr>
        <p:grpSpPr>
          <a:xfrm>
            <a:off x="5264665" y="2962323"/>
            <a:ext cx="1659967" cy="1702984"/>
            <a:chOff x="5264665" y="2962323"/>
            <a:chExt cx="1659967" cy="1702984"/>
          </a:xfrm>
        </p:grpSpPr>
        <p:sp>
          <p:nvSpPr>
            <p:cNvPr id="10" name="Freeform: Shape 9">
              <a:extLst>
                <a:ext uri="{FF2B5EF4-FFF2-40B4-BE49-F238E27FC236}">
                  <a16:creationId xmlns:a16="http://schemas.microsoft.com/office/drawing/2014/main" id="{033B3990-2720-904E-DC11-8BF675A18220}"/>
                </a:ext>
              </a:extLst>
            </p:cNvPr>
            <p:cNvSpPr/>
            <p:nvPr/>
          </p:nvSpPr>
          <p:spPr>
            <a:xfrm>
              <a:off x="5264665" y="2962323"/>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B7B7"/>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dirty="0"/>
            </a:p>
          </p:txBody>
        </p:sp>
        <p:sp>
          <p:nvSpPr>
            <p:cNvPr id="17" name="TextBox 16">
              <a:extLst>
                <a:ext uri="{FF2B5EF4-FFF2-40B4-BE49-F238E27FC236}">
                  <a16:creationId xmlns:a16="http://schemas.microsoft.com/office/drawing/2014/main" id="{52A76DDB-177F-9101-CD89-388ACD52C2C6}"/>
                </a:ext>
              </a:extLst>
            </p:cNvPr>
            <p:cNvSpPr txBox="1"/>
            <p:nvPr/>
          </p:nvSpPr>
          <p:spPr>
            <a:xfrm>
              <a:off x="5264665" y="3400570"/>
              <a:ext cx="1659967" cy="826488"/>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Material inventory</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52" name="Group 51">
            <a:extLst>
              <a:ext uri="{FF2B5EF4-FFF2-40B4-BE49-F238E27FC236}">
                <a16:creationId xmlns:a16="http://schemas.microsoft.com/office/drawing/2014/main" id="{54ED9847-ED89-3AD2-F5D9-2A6F00F1551C}"/>
              </a:ext>
            </a:extLst>
          </p:cNvPr>
          <p:cNvGrpSpPr/>
          <p:nvPr/>
        </p:nvGrpSpPr>
        <p:grpSpPr>
          <a:xfrm>
            <a:off x="6164483" y="4407816"/>
            <a:ext cx="1659967" cy="1702984"/>
            <a:chOff x="6164483" y="4407816"/>
            <a:chExt cx="1659967" cy="1702984"/>
          </a:xfrm>
        </p:grpSpPr>
        <p:sp>
          <p:nvSpPr>
            <p:cNvPr id="13" name="Freeform: Shape 12">
              <a:extLst>
                <a:ext uri="{FF2B5EF4-FFF2-40B4-BE49-F238E27FC236}">
                  <a16:creationId xmlns:a16="http://schemas.microsoft.com/office/drawing/2014/main" id="{02C46508-CB6E-CFFE-0CE0-4856F33A3DAF}"/>
                </a:ext>
              </a:extLst>
            </p:cNvPr>
            <p:cNvSpPr/>
            <p:nvPr/>
          </p:nvSpPr>
          <p:spPr>
            <a:xfrm>
              <a:off x="6164483" y="4407816"/>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9B9B"/>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dirty="0"/>
            </a:p>
          </p:txBody>
        </p:sp>
        <p:sp>
          <p:nvSpPr>
            <p:cNvPr id="19" name="TextBox 18">
              <a:extLst>
                <a:ext uri="{FF2B5EF4-FFF2-40B4-BE49-F238E27FC236}">
                  <a16:creationId xmlns:a16="http://schemas.microsoft.com/office/drawing/2014/main" id="{30D3A6A6-F193-5E76-7C60-F4DCA1C88B37}"/>
                </a:ext>
              </a:extLst>
            </p:cNvPr>
            <p:cNvSpPr txBox="1"/>
            <p:nvPr/>
          </p:nvSpPr>
          <p:spPr>
            <a:xfrm>
              <a:off x="6164483" y="4846063"/>
              <a:ext cx="1659967" cy="826488"/>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Equipment inventory</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47" name="Group 46">
            <a:extLst>
              <a:ext uri="{FF2B5EF4-FFF2-40B4-BE49-F238E27FC236}">
                <a16:creationId xmlns:a16="http://schemas.microsoft.com/office/drawing/2014/main" id="{D230DB82-11FA-D1DD-EEC2-CF5643595491}"/>
              </a:ext>
            </a:extLst>
          </p:cNvPr>
          <p:cNvGrpSpPr/>
          <p:nvPr/>
        </p:nvGrpSpPr>
        <p:grpSpPr>
          <a:xfrm>
            <a:off x="6164483" y="1516829"/>
            <a:ext cx="1659967" cy="1702984"/>
            <a:chOff x="6164483" y="1516829"/>
            <a:chExt cx="1659967" cy="1702984"/>
          </a:xfrm>
        </p:grpSpPr>
        <p:sp>
          <p:nvSpPr>
            <p:cNvPr id="7" name="Freeform: Shape 6">
              <a:extLst>
                <a:ext uri="{FF2B5EF4-FFF2-40B4-BE49-F238E27FC236}">
                  <a16:creationId xmlns:a16="http://schemas.microsoft.com/office/drawing/2014/main" id="{862A61C1-F8D6-BC89-2AC8-90BC84079B02}"/>
                </a:ext>
              </a:extLst>
            </p:cNvPr>
            <p:cNvSpPr/>
            <p:nvPr/>
          </p:nvSpPr>
          <p:spPr>
            <a:xfrm>
              <a:off x="6164483" y="1516829"/>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8181"/>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dirty="0"/>
            </a:p>
          </p:txBody>
        </p:sp>
        <p:sp>
          <p:nvSpPr>
            <p:cNvPr id="40" name="TextBox 39">
              <a:extLst>
                <a:ext uri="{FF2B5EF4-FFF2-40B4-BE49-F238E27FC236}">
                  <a16:creationId xmlns:a16="http://schemas.microsoft.com/office/drawing/2014/main" id="{4849938F-40C3-A0C1-1F21-307A2CCF22EF}"/>
                </a:ext>
              </a:extLst>
            </p:cNvPr>
            <p:cNvSpPr txBox="1"/>
            <p:nvPr/>
          </p:nvSpPr>
          <p:spPr>
            <a:xfrm>
              <a:off x="6164483" y="1961990"/>
              <a:ext cx="1659967" cy="825369"/>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Variable list</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51" name="Group 50">
            <a:extLst>
              <a:ext uri="{FF2B5EF4-FFF2-40B4-BE49-F238E27FC236}">
                <a16:creationId xmlns:a16="http://schemas.microsoft.com/office/drawing/2014/main" id="{E06ABB1F-088A-B429-2018-007FD97376CF}"/>
              </a:ext>
            </a:extLst>
          </p:cNvPr>
          <p:cNvGrpSpPr/>
          <p:nvPr/>
        </p:nvGrpSpPr>
        <p:grpSpPr>
          <a:xfrm>
            <a:off x="4371717" y="4407816"/>
            <a:ext cx="1659967" cy="1702984"/>
            <a:chOff x="4371717" y="4407816"/>
            <a:chExt cx="1659967" cy="1702984"/>
          </a:xfrm>
        </p:grpSpPr>
        <p:sp>
          <p:nvSpPr>
            <p:cNvPr id="15" name="Freeform: Shape 14">
              <a:extLst>
                <a:ext uri="{FF2B5EF4-FFF2-40B4-BE49-F238E27FC236}">
                  <a16:creationId xmlns:a16="http://schemas.microsoft.com/office/drawing/2014/main" id="{AC632AAB-57C5-CE0E-6D6B-52A33F7772B6}"/>
                </a:ext>
              </a:extLst>
            </p:cNvPr>
            <p:cNvSpPr/>
            <p:nvPr/>
          </p:nvSpPr>
          <p:spPr>
            <a:xfrm>
              <a:off x="4371717" y="4407816"/>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5D5D"/>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a:p>
          </p:txBody>
        </p:sp>
        <p:sp>
          <p:nvSpPr>
            <p:cNvPr id="41" name="TextBox 40">
              <a:extLst>
                <a:ext uri="{FF2B5EF4-FFF2-40B4-BE49-F238E27FC236}">
                  <a16:creationId xmlns:a16="http://schemas.microsoft.com/office/drawing/2014/main" id="{10BFFE76-282A-F34A-DF56-B78624612EFE}"/>
                </a:ext>
              </a:extLst>
            </p:cNvPr>
            <p:cNvSpPr txBox="1"/>
            <p:nvPr/>
          </p:nvSpPr>
          <p:spPr>
            <a:xfrm>
              <a:off x="4371717" y="5025734"/>
              <a:ext cx="1659967" cy="467146"/>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Codebook</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50" name="Group 49">
            <a:extLst>
              <a:ext uri="{FF2B5EF4-FFF2-40B4-BE49-F238E27FC236}">
                <a16:creationId xmlns:a16="http://schemas.microsoft.com/office/drawing/2014/main" id="{1D7FE32E-85CD-B2F6-F9FC-04E9EBE82B11}"/>
              </a:ext>
            </a:extLst>
          </p:cNvPr>
          <p:cNvGrpSpPr/>
          <p:nvPr/>
        </p:nvGrpSpPr>
        <p:grpSpPr>
          <a:xfrm>
            <a:off x="7057431" y="2962323"/>
            <a:ext cx="1659967" cy="1702984"/>
            <a:chOff x="7057431" y="2962323"/>
            <a:chExt cx="1659967" cy="1702984"/>
          </a:xfrm>
        </p:grpSpPr>
        <p:sp>
          <p:nvSpPr>
            <p:cNvPr id="12" name="Freeform: Shape 11">
              <a:extLst>
                <a:ext uri="{FF2B5EF4-FFF2-40B4-BE49-F238E27FC236}">
                  <a16:creationId xmlns:a16="http://schemas.microsoft.com/office/drawing/2014/main" id="{0D75DC7E-21E1-6C6D-5868-487BD2BE92C8}"/>
                </a:ext>
              </a:extLst>
            </p:cNvPr>
            <p:cNvSpPr/>
            <p:nvPr/>
          </p:nvSpPr>
          <p:spPr>
            <a:xfrm>
              <a:off x="7057431" y="2962323"/>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5D5D"/>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a:p>
          </p:txBody>
        </p:sp>
        <p:sp>
          <p:nvSpPr>
            <p:cNvPr id="42" name="TextBox 41">
              <a:extLst>
                <a:ext uri="{FF2B5EF4-FFF2-40B4-BE49-F238E27FC236}">
                  <a16:creationId xmlns:a16="http://schemas.microsoft.com/office/drawing/2014/main" id="{805ECCFB-9CB7-3D6F-EB72-5A642B425BF4}"/>
                </a:ext>
              </a:extLst>
            </p:cNvPr>
            <p:cNvSpPr txBox="1"/>
            <p:nvPr/>
          </p:nvSpPr>
          <p:spPr>
            <a:xfrm>
              <a:off x="7057431" y="3406925"/>
              <a:ext cx="1659967" cy="826488"/>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Protocol inventory</a:t>
              </a:r>
              <a:endParaRPr lang="nl-BE" sz="2400" dirty="0">
                <a:solidFill>
                  <a:schemeClr val="bg1"/>
                </a:solidFill>
                <a:latin typeface="Arial" panose="020B0604020202020204" pitchFamily="34" charset="0"/>
                <a:cs typeface="Arial" panose="020B0604020202020204" pitchFamily="34" charset="0"/>
              </a:endParaRPr>
            </a:p>
          </p:txBody>
        </p:sp>
      </p:grpSp>
      <p:grpSp>
        <p:nvGrpSpPr>
          <p:cNvPr id="48" name="Group 47">
            <a:extLst>
              <a:ext uri="{FF2B5EF4-FFF2-40B4-BE49-F238E27FC236}">
                <a16:creationId xmlns:a16="http://schemas.microsoft.com/office/drawing/2014/main" id="{9D3CA90A-40B3-6F4F-D291-812A007F8632}"/>
              </a:ext>
            </a:extLst>
          </p:cNvPr>
          <p:cNvGrpSpPr/>
          <p:nvPr/>
        </p:nvGrpSpPr>
        <p:grpSpPr>
          <a:xfrm>
            <a:off x="3475335" y="2954992"/>
            <a:ext cx="1659967" cy="1702984"/>
            <a:chOff x="3475335" y="2954992"/>
            <a:chExt cx="1659967" cy="1702984"/>
          </a:xfrm>
        </p:grpSpPr>
        <p:sp>
          <p:nvSpPr>
            <p:cNvPr id="43" name="Freeform: Shape 42">
              <a:extLst>
                <a:ext uri="{FF2B5EF4-FFF2-40B4-BE49-F238E27FC236}">
                  <a16:creationId xmlns:a16="http://schemas.microsoft.com/office/drawing/2014/main" id="{E5FEE3B7-0C64-1E63-3892-D0F00ADFC1FE}"/>
                </a:ext>
              </a:extLst>
            </p:cNvPr>
            <p:cNvSpPr/>
            <p:nvPr/>
          </p:nvSpPr>
          <p:spPr>
            <a:xfrm>
              <a:off x="3475335" y="2954992"/>
              <a:ext cx="1659967" cy="1702984"/>
            </a:xfrm>
            <a:custGeom>
              <a:avLst/>
              <a:gdLst>
                <a:gd name="connsiteX0" fmla="*/ 0 w 1458603"/>
                <a:gd name="connsiteY0" fmla="*/ 634493 h 1268985"/>
                <a:gd name="connsiteX1" fmla="*/ 317246 w 1458603"/>
                <a:gd name="connsiteY1" fmla="*/ 0 h 1268985"/>
                <a:gd name="connsiteX2" fmla="*/ 1141357 w 1458603"/>
                <a:gd name="connsiteY2" fmla="*/ 0 h 1268985"/>
                <a:gd name="connsiteX3" fmla="*/ 1458603 w 1458603"/>
                <a:gd name="connsiteY3" fmla="*/ 634493 h 1268985"/>
                <a:gd name="connsiteX4" fmla="*/ 1141357 w 1458603"/>
                <a:gd name="connsiteY4" fmla="*/ 1268985 h 1268985"/>
                <a:gd name="connsiteX5" fmla="*/ 317246 w 1458603"/>
                <a:gd name="connsiteY5" fmla="*/ 1268985 h 1268985"/>
                <a:gd name="connsiteX6" fmla="*/ 0 w 1458603"/>
                <a:gd name="connsiteY6" fmla="*/ 634493 h 12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603" h="1268985">
                  <a:moveTo>
                    <a:pt x="729301" y="0"/>
                  </a:moveTo>
                  <a:lnTo>
                    <a:pt x="1458603" y="276004"/>
                  </a:lnTo>
                  <a:lnTo>
                    <a:pt x="1458603" y="992981"/>
                  </a:lnTo>
                  <a:lnTo>
                    <a:pt x="729301" y="1268985"/>
                  </a:lnTo>
                  <a:lnTo>
                    <a:pt x="0" y="992981"/>
                  </a:lnTo>
                  <a:lnTo>
                    <a:pt x="0" y="276004"/>
                  </a:lnTo>
                  <a:lnTo>
                    <a:pt x="729301" y="0"/>
                  </a:lnTo>
                  <a:close/>
                </a:path>
              </a:pathLst>
            </a:custGeom>
            <a:solidFill>
              <a:srgbClr val="FF8181"/>
            </a:solidFill>
          </p:spPr>
          <p:style>
            <a:lnRef idx="2">
              <a:schemeClr val="lt1">
                <a:hueOff val="0"/>
                <a:satOff val="0"/>
                <a:lumOff val="0"/>
                <a:alphaOff val="0"/>
              </a:schemeClr>
            </a:lnRef>
            <a:fillRef idx="1">
              <a:schemeClr val="accent4">
                <a:shade val="80000"/>
                <a:hueOff val="-102657"/>
                <a:satOff val="0"/>
                <a:lumOff val="6775"/>
                <a:alphaOff val="0"/>
              </a:schemeClr>
            </a:fillRef>
            <a:effectRef idx="0">
              <a:schemeClr val="accent4">
                <a:shade val="80000"/>
                <a:hueOff val="-102657"/>
                <a:satOff val="0"/>
                <a:lumOff val="6775"/>
                <a:alphaOff val="0"/>
              </a:schemeClr>
            </a:effectRef>
            <a:fontRef idx="minor">
              <a:schemeClr val="lt1"/>
            </a:fontRef>
          </p:style>
          <p:txBody>
            <a:bodyPr spcFirstLastPara="0" vert="horz" wrap="square" lIns="197750" tIns="227299" rIns="197750" bIns="227299" numCol="1" spcCol="1270" anchor="ctr" anchorCtr="0">
              <a:noAutofit/>
            </a:bodyPr>
            <a:lstStyle/>
            <a:p>
              <a:pPr algn="ctr" defTabSz="1600200">
                <a:lnSpc>
                  <a:spcPct val="90000"/>
                </a:lnSpc>
                <a:spcBef>
                  <a:spcPct val="0"/>
                </a:spcBef>
                <a:spcAft>
                  <a:spcPct val="35000"/>
                </a:spcAft>
              </a:pPr>
              <a:endParaRPr lang="nl-BE" sz="2000"/>
            </a:p>
          </p:txBody>
        </p:sp>
        <p:sp>
          <p:nvSpPr>
            <p:cNvPr id="44" name="TextBox 43">
              <a:extLst>
                <a:ext uri="{FF2B5EF4-FFF2-40B4-BE49-F238E27FC236}">
                  <a16:creationId xmlns:a16="http://schemas.microsoft.com/office/drawing/2014/main" id="{4A0494F3-116C-5513-7306-2D654CF21CCB}"/>
                </a:ext>
              </a:extLst>
            </p:cNvPr>
            <p:cNvSpPr txBox="1"/>
            <p:nvPr/>
          </p:nvSpPr>
          <p:spPr>
            <a:xfrm>
              <a:off x="3475335" y="3393239"/>
              <a:ext cx="1659967" cy="826488"/>
            </a:xfrm>
            <a:prstGeom prst="rect">
              <a:avLst/>
            </a:prstGeom>
            <a:noFill/>
          </p:spPr>
          <p:txBody>
            <a:bodyPr wrap="square" rtlCol="0" anchor="ctr">
              <a:spAutoFit/>
            </a:bodyPr>
            <a:lstStyle/>
            <a:p>
              <a:pPr algn="ctr"/>
              <a:r>
                <a:rPr lang="en-US" sz="2400" dirty="0">
                  <a:solidFill>
                    <a:schemeClr val="bg1"/>
                  </a:solidFill>
                  <a:latin typeface="Arial" panose="020B0604020202020204" pitchFamily="34" charset="0"/>
                  <a:cs typeface="Arial" panose="020B0604020202020204" pitchFamily="34" charset="0"/>
                </a:rPr>
                <a:t>Storage inventory</a:t>
              </a:r>
              <a:endParaRPr lang="nl-BE" sz="2400"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99395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4ECE-1578-2E8F-AEAA-8546603D327D}"/>
              </a:ext>
            </a:extLst>
          </p:cNvPr>
          <p:cNvSpPr>
            <a:spLocks noGrp="1"/>
          </p:cNvSpPr>
          <p:nvPr>
            <p:ph type="title"/>
          </p:nvPr>
        </p:nvSpPr>
        <p:spPr>
          <a:xfrm>
            <a:off x="838200" y="365125"/>
            <a:ext cx="10674096" cy="1325563"/>
          </a:xfrm>
        </p:spPr>
        <p:txBody>
          <a:bodyPr/>
          <a:lstStyle/>
          <a:p>
            <a:r>
              <a:rPr lang="en-US"/>
              <a:t>The platform</a:t>
            </a:r>
            <a:r>
              <a:rPr lang="en-US" dirty="0"/>
              <a:t> in 3 key modules</a:t>
            </a:r>
            <a:endParaRPr lang="en-BE"/>
          </a:p>
        </p:txBody>
      </p:sp>
      <p:grpSp>
        <p:nvGrpSpPr>
          <p:cNvPr id="10" name="Group 9">
            <a:extLst>
              <a:ext uri="{FF2B5EF4-FFF2-40B4-BE49-F238E27FC236}">
                <a16:creationId xmlns:a16="http://schemas.microsoft.com/office/drawing/2014/main" id="{05232C56-F500-505C-A36F-B86287721655}"/>
              </a:ext>
            </a:extLst>
          </p:cNvPr>
          <p:cNvGrpSpPr/>
          <p:nvPr/>
        </p:nvGrpSpPr>
        <p:grpSpPr>
          <a:xfrm>
            <a:off x="3056910" y="1690688"/>
            <a:ext cx="6078181" cy="3585944"/>
            <a:chOff x="3102117" y="1690688"/>
            <a:chExt cx="6078181" cy="3585944"/>
          </a:xfrm>
        </p:grpSpPr>
        <p:pic>
          <p:nvPicPr>
            <p:cNvPr id="5" name="Picture 6" descr="eLabNext – Lab Innovations UK">
              <a:extLst>
                <a:ext uri="{FF2B5EF4-FFF2-40B4-BE49-F238E27FC236}">
                  <a16:creationId xmlns:a16="http://schemas.microsoft.com/office/drawing/2014/main" id="{2CEDB486-6572-23E7-6FBD-DCAF00A879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174" r="72117" b="22624"/>
            <a:stretch>
              <a:fillRect/>
            </a:stretch>
          </p:blipFill>
          <p:spPr bwMode="auto">
            <a:xfrm>
              <a:off x="5244305" y="2770077"/>
              <a:ext cx="1851956" cy="2024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28A7FF-DD69-EFFA-2DED-1313A2158230}"/>
                </a:ext>
              </a:extLst>
            </p:cNvPr>
            <p:cNvSpPr txBox="1"/>
            <p:nvPr/>
          </p:nvSpPr>
          <p:spPr>
            <a:xfrm>
              <a:off x="5205882" y="1690688"/>
              <a:ext cx="1780235"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Journal</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TextBox 6">
              <a:extLst>
                <a:ext uri="{FF2B5EF4-FFF2-40B4-BE49-F238E27FC236}">
                  <a16:creationId xmlns:a16="http://schemas.microsoft.com/office/drawing/2014/main" id="{8CE2AD30-1449-D4C3-4D2B-DE15C2329E37}"/>
                </a:ext>
              </a:extLst>
            </p:cNvPr>
            <p:cNvSpPr txBox="1"/>
            <p:nvPr/>
          </p:nvSpPr>
          <p:spPr>
            <a:xfrm>
              <a:off x="6986117" y="4561543"/>
              <a:ext cx="2194181"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Inventory</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sp>
          <p:nvSpPr>
            <p:cNvPr id="8" name="TextBox 7">
              <a:extLst>
                <a:ext uri="{FF2B5EF4-FFF2-40B4-BE49-F238E27FC236}">
                  <a16:creationId xmlns:a16="http://schemas.microsoft.com/office/drawing/2014/main" id="{5A5773D3-431B-8045-A5AB-30F1DD775F6F}"/>
                </a:ext>
              </a:extLst>
            </p:cNvPr>
            <p:cNvSpPr txBox="1"/>
            <p:nvPr/>
          </p:nvSpPr>
          <p:spPr>
            <a:xfrm>
              <a:off x="3102117" y="4561543"/>
              <a:ext cx="2142188"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Trebuchet MS"/>
                  <a:ea typeface="+mn-ea"/>
                  <a:cs typeface="+mn-cs"/>
                </a:rPr>
                <a:t>Protocols</a:t>
              </a:r>
              <a:endParaRPr kumimoji="0" lang="en-BE" sz="3600" b="0" i="0" u="none" strike="noStrike" kern="1200" cap="none" spc="0" normalizeH="0" baseline="0" noProof="0">
                <a:ln>
                  <a:noFill/>
                </a:ln>
                <a:solidFill>
                  <a:srgbClr val="FFFFFF"/>
                </a:solidFill>
                <a:effectLst/>
                <a:uLnTx/>
                <a:uFillTx/>
                <a:latin typeface="Trebuchet MS"/>
                <a:ea typeface="+mn-ea"/>
                <a:cs typeface="+mn-cs"/>
              </a:endParaRPr>
            </a:p>
          </p:txBody>
        </p:sp>
      </p:grpSp>
    </p:spTree>
    <p:extLst>
      <p:ext uri="{BB962C8B-B14F-4D97-AF65-F5344CB8AC3E}">
        <p14:creationId xmlns:p14="http://schemas.microsoft.com/office/powerpoint/2010/main" val="290255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92E3-5EFD-9955-B39D-C0555DBD7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C3BF9-2668-5E27-AD1F-1955F03AA4F0}"/>
              </a:ext>
            </a:extLst>
          </p:cNvPr>
          <p:cNvSpPr>
            <a:spLocks noGrp="1"/>
          </p:cNvSpPr>
          <p:nvPr>
            <p:ph type="title"/>
          </p:nvPr>
        </p:nvSpPr>
        <p:spPr/>
        <p:txBody>
          <a:bodyPr/>
          <a:lstStyle/>
          <a:p>
            <a:r>
              <a:rPr lang="en-US"/>
              <a:t>The protocol</a:t>
            </a:r>
            <a:endParaRPr lang="en-BE"/>
          </a:p>
        </p:txBody>
      </p:sp>
      <p:sp>
        <p:nvSpPr>
          <p:cNvPr id="3" name="Content Placeholder 2">
            <a:extLst>
              <a:ext uri="{FF2B5EF4-FFF2-40B4-BE49-F238E27FC236}">
                <a16:creationId xmlns:a16="http://schemas.microsoft.com/office/drawing/2014/main" id="{DE0F251D-E0FF-7AFD-421E-277EE87CCEA1}"/>
              </a:ext>
            </a:extLst>
          </p:cNvPr>
          <p:cNvSpPr>
            <a:spLocks noGrp="1"/>
          </p:cNvSpPr>
          <p:nvPr>
            <p:ph sz="quarter" idx="10"/>
          </p:nvPr>
        </p:nvSpPr>
        <p:spPr/>
        <p:txBody>
          <a:bodyPr/>
          <a:lstStyle/>
          <a:p>
            <a:r>
              <a:rPr lang="en-US"/>
              <a:t>Also known as: SOPs, procedures, </a:t>
            </a:r>
            <a:r>
              <a:rPr lang="en-US" err="1"/>
              <a:t>etc</a:t>
            </a:r>
            <a:r>
              <a:rPr lang="en-US"/>
              <a:t>…</a:t>
            </a:r>
          </a:p>
          <a:p>
            <a:r>
              <a:rPr lang="en-US"/>
              <a:t>Create, share, adapt protocols</a:t>
            </a:r>
          </a:p>
          <a:p>
            <a:r>
              <a:rPr lang="en-US"/>
              <a:t>Versioning!</a:t>
            </a:r>
          </a:p>
          <a:p>
            <a:r>
              <a:rPr lang="en-US"/>
              <a:t>Automatic calculations, dynamic fields, minimization of human error</a:t>
            </a:r>
            <a:endParaRPr lang="en-BE"/>
          </a:p>
        </p:txBody>
      </p:sp>
      <p:pic>
        <p:nvPicPr>
          <p:cNvPr id="14" name="Graphic 13">
            <a:extLst>
              <a:ext uri="{FF2B5EF4-FFF2-40B4-BE49-F238E27FC236}">
                <a16:creationId xmlns:a16="http://schemas.microsoft.com/office/drawing/2014/main" id="{623D7798-2537-819D-65C7-30E004CACA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39317" y="1969559"/>
            <a:ext cx="2629968" cy="3891745"/>
          </a:xfrm>
          <a:prstGeom prst="rect">
            <a:avLst/>
          </a:prstGeom>
        </p:spPr>
      </p:pic>
      <p:pic>
        <p:nvPicPr>
          <p:cNvPr id="16" name="Graphic 15">
            <a:extLst>
              <a:ext uri="{FF2B5EF4-FFF2-40B4-BE49-F238E27FC236}">
                <a16:creationId xmlns:a16="http://schemas.microsoft.com/office/drawing/2014/main" id="{0C699EB5-91DD-9382-9A49-2C8FC32D07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80868" y="1619911"/>
            <a:ext cx="3481287" cy="4241393"/>
          </a:xfrm>
          <a:prstGeom prst="rect">
            <a:avLst/>
          </a:prstGeom>
        </p:spPr>
      </p:pic>
      <p:pic>
        <p:nvPicPr>
          <p:cNvPr id="18" name="Graphic 17">
            <a:extLst>
              <a:ext uri="{FF2B5EF4-FFF2-40B4-BE49-F238E27FC236}">
                <a16:creationId xmlns:a16="http://schemas.microsoft.com/office/drawing/2014/main" id="{F06C8F0A-E5D8-46FB-F12A-49123DF82C1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03846" y="1275623"/>
            <a:ext cx="1238250" cy="1038225"/>
          </a:xfrm>
          <a:prstGeom prst="rect">
            <a:avLst/>
          </a:prstGeom>
        </p:spPr>
      </p:pic>
    </p:spTree>
    <p:extLst>
      <p:ext uri="{BB962C8B-B14F-4D97-AF65-F5344CB8AC3E}">
        <p14:creationId xmlns:p14="http://schemas.microsoft.com/office/powerpoint/2010/main" val="1382733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8542-79D4-C558-DC06-0A2CE1A53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E14EE-3E0B-4BD2-0BAA-242DA08CB55C}"/>
              </a:ext>
            </a:extLst>
          </p:cNvPr>
          <p:cNvSpPr>
            <a:spLocks noGrp="1"/>
          </p:cNvSpPr>
          <p:nvPr>
            <p:ph type="title"/>
          </p:nvPr>
        </p:nvSpPr>
        <p:spPr/>
        <p:txBody>
          <a:bodyPr/>
          <a:lstStyle/>
          <a:p>
            <a:r>
              <a:rPr lang="en-US"/>
              <a:t>The Inventory</a:t>
            </a:r>
            <a:endParaRPr lang="en-BE"/>
          </a:p>
        </p:txBody>
      </p:sp>
      <p:sp>
        <p:nvSpPr>
          <p:cNvPr id="3" name="Content Placeholder 2">
            <a:extLst>
              <a:ext uri="{FF2B5EF4-FFF2-40B4-BE49-F238E27FC236}">
                <a16:creationId xmlns:a16="http://schemas.microsoft.com/office/drawing/2014/main" id="{30675D3C-9F19-35C0-706A-BEF548FA48FD}"/>
              </a:ext>
            </a:extLst>
          </p:cNvPr>
          <p:cNvSpPr>
            <a:spLocks noGrp="1"/>
          </p:cNvSpPr>
          <p:nvPr>
            <p:ph sz="quarter" idx="10"/>
          </p:nvPr>
        </p:nvSpPr>
        <p:spPr/>
        <p:txBody>
          <a:bodyPr lIns="91440" tIns="45720" rIns="91440" bIns="45720" anchor="t"/>
          <a:lstStyle/>
          <a:p>
            <a:r>
              <a:rPr lang="en-US" sz="2400"/>
              <a:t>Visualize your lab</a:t>
            </a:r>
          </a:p>
          <a:p>
            <a:r>
              <a:rPr lang="en-US" sz="2400"/>
              <a:t>Flexible integrated (bulk) sample management</a:t>
            </a:r>
            <a:endParaRPr lang="en-US" sz="2400">
              <a:solidFill>
                <a:srgbClr val="14274C">
                  <a:alpha val="85000"/>
                </a:srgbClr>
              </a:solidFill>
            </a:endParaRPr>
          </a:p>
          <a:p>
            <a:r>
              <a:rPr lang="en-US" sz="2400"/>
              <a:t>Audit trail</a:t>
            </a:r>
            <a:endParaRPr lang="en-US" sz="2400">
              <a:solidFill>
                <a:srgbClr val="14274C">
                  <a:alpha val="85000"/>
                </a:srgbClr>
              </a:solidFill>
            </a:endParaRPr>
          </a:p>
          <a:p>
            <a:r>
              <a:rPr lang="en-US" sz="2400"/>
              <a:t>Can be linked to supplies through product catalog to centralize ordering</a:t>
            </a:r>
            <a:endParaRPr lang="en-US" sz="2400">
              <a:solidFill>
                <a:srgbClr val="14274C">
                  <a:alpha val="85000"/>
                </a:srgbClr>
              </a:solidFill>
            </a:endParaRPr>
          </a:p>
          <a:p>
            <a:r>
              <a:rPr lang="en-US" sz="2400"/>
              <a:t>Equipment booking, maintenance, calibration, sharing, manuals, </a:t>
            </a:r>
            <a:r>
              <a:rPr lang="en-US" sz="2400" err="1"/>
              <a:t>etc</a:t>
            </a:r>
            <a:r>
              <a:rPr lang="en-US" sz="2400"/>
              <a:t>…</a:t>
            </a:r>
            <a:endParaRPr lang="en-BE" sz="2400"/>
          </a:p>
        </p:txBody>
      </p:sp>
      <p:grpSp>
        <p:nvGrpSpPr>
          <p:cNvPr id="11" name="Graphic 9">
            <a:extLst>
              <a:ext uri="{FF2B5EF4-FFF2-40B4-BE49-F238E27FC236}">
                <a16:creationId xmlns:a16="http://schemas.microsoft.com/office/drawing/2014/main" id="{7588CAC4-2652-6239-5281-28D5FC1DCF17}"/>
              </a:ext>
            </a:extLst>
          </p:cNvPr>
          <p:cNvGrpSpPr/>
          <p:nvPr/>
        </p:nvGrpSpPr>
        <p:grpSpPr>
          <a:xfrm>
            <a:off x="1186471" y="914848"/>
            <a:ext cx="3446243" cy="5028303"/>
            <a:chOff x="1186471" y="1817616"/>
            <a:chExt cx="3446243" cy="5028303"/>
          </a:xfrm>
        </p:grpSpPr>
        <p:sp>
          <p:nvSpPr>
            <p:cNvPr id="12" name="Freeform: Shape 11">
              <a:extLst>
                <a:ext uri="{FF2B5EF4-FFF2-40B4-BE49-F238E27FC236}">
                  <a16:creationId xmlns:a16="http://schemas.microsoft.com/office/drawing/2014/main" id="{A8FAF055-6938-0DB0-F4C8-8A8EB9FEA7C8}"/>
                </a:ext>
              </a:extLst>
            </p:cNvPr>
            <p:cNvSpPr/>
            <p:nvPr/>
          </p:nvSpPr>
          <p:spPr>
            <a:xfrm>
              <a:off x="1509897" y="3056767"/>
              <a:ext cx="3122817" cy="376421"/>
            </a:xfrm>
            <a:custGeom>
              <a:avLst/>
              <a:gdLst>
                <a:gd name="connsiteX0" fmla="*/ 0 w 3122817"/>
                <a:gd name="connsiteY0" fmla="*/ 0 h 376421"/>
                <a:gd name="connsiteX1" fmla="*/ 3122817 w 3122817"/>
                <a:gd name="connsiteY1" fmla="*/ 0 h 376421"/>
                <a:gd name="connsiteX2" fmla="*/ 3122817 w 3122817"/>
                <a:gd name="connsiteY2" fmla="*/ 376421 h 376421"/>
                <a:gd name="connsiteX3" fmla="*/ 0 w 3122817"/>
                <a:gd name="connsiteY3" fmla="*/ 376421 h 376421"/>
              </a:gdLst>
              <a:ahLst/>
              <a:cxnLst>
                <a:cxn ang="0">
                  <a:pos x="connsiteX0" y="connsiteY0"/>
                </a:cxn>
                <a:cxn ang="0">
                  <a:pos x="connsiteX1" y="connsiteY1"/>
                </a:cxn>
                <a:cxn ang="0">
                  <a:pos x="connsiteX2" y="connsiteY2"/>
                </a:cxn>
                <a:cxn ang="0">
                  <a:pos x="connsiteX3" y="connsiteY3"/>
                </a:cxn>
              </a:cxnLst>
              <a:rect l="l" t="t" r="r" b="b"/>
              <a:pathLst>
                <a:path w="3122817" h="376421">
                  <a:moveTo>
                    <a:pt x="0" y="0"/>
                  </a:moveTo>
                  <a:lnTo>
                    <a:pt x="3122817" y="0"/>
                  </a:lnTo>
                  <a:lnTo>
                    <a:pt x="3122817" y="376421"/>
                  </a:lnTo>
                  <a:lnTo>
                    <a:pt x="0" y="376421"/>
                  </a:ln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nvGrpSpPr>
            <p:cNvPr id="13" name="Graphic 9">
              <a:extLst>
                <a:ext uri="{FF2B5EF4-FFF2-40B4-BE49-F238E27FC236}">
                  <a16:creationId xmlns:a16="http://schemas.microsoft.com/office/drawing/2014/main" id="{498618BB-633D-747E-6DB1-4C798AB204C3}"/>
                </a:ext>
              </a:extLst>
            </p:cNvPr>
            <p:cNvGrpSpPr/>
            <p:nvPr/>
          </p:nvGrpSpPr>
          <p:grpSpPr>
            <a:xfrm>
              <a:off x="1186471" y="3432799"/>
              <a:ext cx="725176" cy="3413120"/>
              <a:chOff x="1186471" y="3432799"/>
              <a:chExt cx="725176" cy="3413120"/>
            </a:xfrm>
          </p:grpSpPr>
          <p:sp>
            <p:nvSpPr>
              <p:cNvPr id="14" name="Freeform: Shape 13">
                <a:extLst>
                  <a:ext uri="{FF2B5EF4-FFF2-40B4-BE49-F238E27FC236}">
                    <a16:creationId xmlns:a16="http://schemas.microsoft.com/office/drawing/2014/main" id="{871329C1-7DF4-8656-9D3B-EB43297232EC}"/>
                  </a:ext>
                </a:extLst>
              </p:cNvPr>
              <p:cNvSpPr/>
              <p:nvPr/>
            </p:nvSpPr>
            <p:spPr>
              <a:xfrm>
                <a:off x="1186471" y="6205302"/>
                <a:ext cx="640617" cy="640617"/>
              </a:xfrm>
              <a:custGeom>
                <a:avLst/>
                <a:gdLst>
                  <a:gd name="connsiteX0" fmla="*/ 640618 w 640617"/>
                  <a:gd name="connsiteY0" fmla="*/ 320309 h 640617"/>
                  <a:gd name="connsiteX1" fmla="*/ 320309 w 640617"/>
                  <a:gd name="connsiteY1" fmla="*/ 640618 h 640617"/>
                  <a:gd name="connsiteX2" fmla="*/ 0 w 640617"/>
                  <a:gd name="connsiteY2" fmla="*/ 320309 h 640617"/>
                  <a:gd name="connsiteX3" fmla="*/ 320309 w 640617"/>
                  <a:gd name="connsiteY3" fmla="*/ 0 h 640617"/>
                  <a:gd name="connsiteX4" fmla="*/ 640618 w 640617"/>
                  <a:gd name="connsiteY4" fmla="*/ 320309 h 640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617" h="640617">
                    <a:moveTo>
                      <a:pt x="640618" y="320309"/>
                    </a:moveTo>
                    <a:cubicBezTo>
                      <a:pt x="640618" y="497211"/>
                      <a:pt x="497211" y="640618"/>
                      <a:pt x="320309" y="640618"/>
                    </a:cubicBezTo>
                    <a:cubicBezTo>
                      <a:pt x="143407" y="640618"/>
                      <a:pt x="0" y="497211"/>
                      <a:pt x="0" y="320309"/>
                    </a:cubicBezTo>
                    <a:cubicBezTo>
                      <a:pt x="0" y="143407"/>
                      <a:pt x="143407" y="0"/>
                      <a:pt x="320309" y="0"/>
                    </a:cubicBezTo>
                    <a:cubicBezTo>
                      <a:pt x="497211" y="0"/>
                      <a:pt x="640618" y="143407"/>
                      <a:pt x="640618" y="320309"/>
                    </a:cubicBez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5" name="Freeform: Shape 14">
                <a:extLst>
                  <a:ext uri="{FF2B5EF4-FFF2-40B4-BE49-F238E27FC236}">
                    <a16:creationId xmlns:a16="http://schemas.microsoft.com/office/drawing/2014/main" id="{2C45598C-3A08-36DA-0C99-384EAB6F1FEE}"/>
                  </a:ext>
                </a:extLst>
              </p:cNvPr>
              <p:cNvSpPr/>
              <p:nvPr/>
            </p:nvSpPr>
            <p:spPr>
              <a:xfrm>
                <a:off x="1373123" y="6391954"/>
                <a:ext cx="267313" cy="267313"/>
              </a:xfrm>
              <a:custGeom>
                <a:avLst/>
                <a:gdLst>
                  <a:gd name="connsiteX0" fmla="*/ 267314 w 267313"/>
                  <a:gd name="connsiteY0" fmla="*/ 133657 h 267313"/>
                  <a:gd name="connsiteX1" fmla="*/ 133657 w 267313"/>
                  <a:gd name="connsiteY1" fmla="*/ 267314 h 267313"/>
                  <a:gd name="connsiteX2" fmla="*/ 0 w 267313"/>
                  <a:gd name="connsiteY2" fmla="*/ 133657 h 267313"/>
                  <a:gd name="connsiteX3" fmla="*/ 133657 w 267313"/>
                  <a:gd name="connsiteY3" fmla="*/ 0 h 267313"/>
                  <a:gd name="connsiteX4" fmla="*/ 267314 w 267313"/>
                  <a:gd name="connsiteY4" fmla="*/ 133657 h 267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313" h="267313">
                    <a:moveTo>
                      <a:pt x="267314" y="133657"/>
                    </a:moveTo>
                    <a:cubicBezTo>
                      <a:pt x="267314" y="207473"/>
                      <a:pt x="207474" y="267314"/>
                      <a:pt x="133657" y="267314"/>
                    </a:cubicBezTo>
                    <a:cubicBezTo>
                      <a:pt x="59840" y="267314"/>
                      <a:pt x="0" y="207474"/>
                      <a:pt x="0" y="133657"/>
                    </a:cubicBezTo>
                    <a:cubicBezTo>
                      <a:pt x="0" y="59840"/>
                      <a:pt x="59840" y="0"/>
                      <a:pt x="133657" y="0"/>
                    </a:cubicBezTo>
                    <a:cubicBezTo>
                      <a:pt x="207474" y="0"/>
                      <a:pt x="267314" y="59840"/>
                      <a:pt x="267314" y="133657"/>
                    </a:cubicBezTo>
                    <a:close/>
                  </a:path>
                </a:pathLst>
              </a:custGeom>
              <a:solidFill>
                <a:srgbClr val="D1E4F7"/>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6" name="Freeform: Shape 15">
                <a:extLst>
                  <a:ext uri="{FF2B5EF4-FFF2-40B4-BE49-F238E27FC236}">
                    <a16:creationId xmlns:a16="http://schemas.microsoft.com/office/drawing/2014/main" id="{FCB03E95-0B4C-C767-ADCF-683045ADD36C}"/>
                  </a:ext>
                </a:extLst>
              </p:cNvPr>
              <p:cNvSpPr/>
              <p:nvPr/>
            </p:nvSpPr>
            <p:spPr>
              <a:xfrm>
                <a:off x="1743310" y="3432799"/>
                <a:ext cx="168337" cy="2587020"/>
              </a:xfrm>
              <a:custGeom>
                <a:avLst/>
                <a:gdLst>
                  <a:gd name="connsiteX0" fmla="*/ 0 w 168337"/>
                  <a:gd name="connsiteY0" fmla="*/ 2587020 h 2587020"/>
                  <a:gd name="connsiteX1" fmla="*/ 84169 w 168337"/>
                  <a:gd name="connsiteY1" fmla="*/ 2587020 h 2587020"/>
                  <a:gd name="connsiteX2" fmla="*/ 168338 w 168337"/>
                  <a:gd name="connsiteY2" fmla="*/ 2587020 h 2587020"/>
                  <a:gd name="connsiteX3" fmla="*/ 168338 w 168337"/>
                  <a:gd name="connsiteY3" fmla="*/ 0 h 2587020"/>
                  <a:gd name="connsiteX4" fmla="*/ 0 w 168337"/>
                  <a:gd name="connsiteY4" fmla="*/ 0 h 2587020"/>
                  <a:gd name="connsiteX5" fmla="*/ 0 w 168337"/>
                  <a:gd name="connsiteY5" fmla="*/ 2587020 h 2587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337" h="2587020">
                    <a:moveTo>
                      <a:pt x="0" y="2587020"/>
                    </a:moveTo>
                    <a:lnTo>
                      <a:pt x="84169" y="2587020"/>
                    </a:lnTo>
                    <a:lnTo>
                      <a:pt x="168338" y="2587020"/>
                    </a:lnTo>
                    <a:lnTo>
                      <a:pt x="168338" y="0"/>
                    </a:lnTo>
                    <a:lnTo>
                      <a:pt x="0" y="0"/>
                    </a:lnTo>
                    <a:lnTo>
                      <a:pt x="0" y="2587020"/>
                    </a:ln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7" name="Freeform: Shape 16">
                <a:extLst>
                  <a:ext uri="{FF2B5EF4-FFF2-40B4-BE49-F238E27FC236}">
                    <a16:creationId xmlns:a16="http://schemas.microsoft.com/office/drawing/2014/main" id="{1D46E698-D4DB-14DE-5647-61761933C396}"/>
                  </a:ext>
                </a:extLst>
              </p:cNvPr>
              <p:cNvSpPr/>
              <p:nvPr/>
            </p:nvSpPr>
            <p:spPr>
              <a:xfrm>
                <a:off x="1827479" y="6019819"/>
                <a:ext cx="38967" cy="505791"/>
              </a:xfrm>
              <a:custGeom>
                <a:avLst/>
                <a:gdLst>
                  <a:gd name="connsiteX0" fmla="*/ 0 w 38967"/>
                  <a:gd name="connsiteY0" fmla="*/ 0 h 505791"/>
                  <a:gd name="connsiteX1" fmla="*/ 0 w 38967"/>
                  <a:gd name="connsiteY1" fmla="*/ 505792 h 505791"/>
                </a:gdLst>
                <a:ahLst/>
                <a:cxnLst>
                  <a:cxn ang="0">
                    <a:pos x="connsiteX0" y="connsiteY0"/>
                  </a:cxn>
                  <a:cxn ang="0">
                    <a:pos x="connsiteX1" y="connsiteY1"/>
                  </a:cxn>
                </a:cxnLst>
                <a:rect l="l" t="t" r="r" b="b"/>
                <a:pathLst>
                  <a:path w="38967" h="505791">
                    <a:moveTo>
                      <a:pt x="0" y="0"/>
                    </a:moveTo>
                    <a:lnTo>
                      <a:pt x="0" y="505792"/>
                    </a:lnTo>
                  </a:path>
                </a:pathLst>
              </a:custGeom>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grpSp>
          <p:nvGrpSpPr>
            <p:cNvPr id="18" name="Graphic 9">
              <a:extLst>
                <a:ext uri="{FF2B5EF4-FFF2-40B4-BE49-F238E27FC236}">
                  <a16:creationId xmlns:a16="http://schemas.microsoft.com/office/drawing/2014/main" id="{836A9CFB-B273-289E-4784-DC18B044A90D}"/>
                </a:ext>
              </a:extLst>
            </p:cNvPr>
            <p:cNvGrpSpPr/>
            <p:nvPr/>
          </p:nvGrpSpPr>
          <p:grpSpPr>
            <a:xfrm>
              <a:off x="3674905" y="3432799"/>
              <a:ext cx="725176" cy="3413120"/>
              <a:chOff x="3674905" y="3432799"/>
              <a:chExt cx="725176" cy="3413120"/>
            </a:xfrm>
          </p:grpSpPr>
          <p:sp>
            <p:nvSpPr>
              <p:cNvPr id="19" name="Freeform: Shape 18">
                <a:extLst>
                  <a:ext uri="{FF2B5EF4-FFF2-40B4-BE49-F238E27FC236}">
                    <a16:creationId xmlns:a16="http://schemas.microsoft.com/office/drawing/2014/main" id="{950DE2F0-A06C-5C25-26BC-09FEF2D3BE46}"/>
                  </a:ext>
                </a:extLst>
              </p:cNvPr>
              <p:cNvSpPr/>
              <p:nvPr/>
            </p:nvSpPr>
            <p:spPr>
              <a:xfrm>
                <a:off x="3674905" y="6205302"/>
                <a:ext cx="640617" cy="640617"/>
              </a:xfrm>
              <a:custGeom>
                <a:avLst/>
                <a:gdLst>
                  <a:gd name="connsiteX0" fmla="*/ 640618 w 640617"/>
                  <a:gd name="connsiteY0" fmla="*/ 320309 h 640617"/>
                  <a:gd name="connsiteX1" fmla="*/ 320309 w 640617"/>
                  <a:gd name="connsiteY1" fmla="*/ 640618 h 640617"/>
                  <a:gd name="connsiteX2" fmla="*/ 0 w 640617"/>
                  <a:gd name="connsiteY2" fmla="*/ 320309 h 640617"/>
                  <a:gd name="connsiteX3" fmla="*/ 320309 w 640617"/>
                  <a:gd name="connsiteY3" fmla="*/ 0 h 640617"/>
                  <a:gd name="connsiteX4" fmla="*/ 640618 w 640617"/>
                  <a:gd name="connsiteY4" fmla="*/ 320309 h 640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617" h="640617">
                    <a:moveTo>
                      <a:pt x="640618" y="320309"/>
                    </a:moveTo>
                    <a:cubicBezTo>
                      <a:pt x="640618" y="497211"/>
                      <a:pt x="497210" y="640618"/>
                      <a:pt x="320309" y="640618"/>
                    </a:cubicBezTo>
                    <a:cubicBezTo>
                      <a:pt x="143407" y="640618"/>
                      <a:pt x="0" y="497211"/>
                      <a:pt x="0" y="320309"/>
                    </a:cubicBezTo>
                    <a:cubicBezTo>
                      <a:pt x="0" y="143407"/>
                      <a:pt x="143407" y="0"/>
                      <a:pt x="320309" y="0"/>
                    </a:cubicBezTo>
                    <a:cubicBezTo>
                      <a:pt x="497210" y="0"/>
                      <a:pt x="640618" y="143407"/>
                      <a:pt x="640618" y="320309"/>
                    </a:cubicBez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0" name="Freeform: Shape 19">
                <a:extLst>
                  <a:ext uri="{FF2B5EF4-FFF2-40B4-BE49-F238E27FC236}">
                    <a16:creationId xmlns:a16="http://schemas.microsoft.com/office/drawing/2014/main" id="{10FB9164-CCA2-30AD-D5B7-01EDDD7A8A84}"/>
                  </a:ext>
                </a:extLst>
              </p:cNvPr>
              <p:cNvSpPr/>
              <p:nvPr/>
            </p:nvSpPr>
            <p:spPr>
              <a:xfrm>
                <a:off x="3861557" y="6391954"/>
                <a:ext cx="267313" cy="267313"/>
              </a:xfrm>
              <a:custGeom>
                <a:avLst/>
                <a:gdLst>
                  <a:gd name="connsiteX0" fmla="*/ 267314 w 267313"/>
                  <a:gd name="connsiteY0" fmla="*/ 133657 h 267313"/>
                  <a:gd name="connsiteX1" fmla="*/ 133657 w 267313"/>
                  <a:gd name="connsiteY1" fmla="*/ 267314 h 267313"/>
                  <a:gd name="connsiteX2" fmla="*/ 0 w 267313"/>
                  <a:gd name="connsiteY2" fmla="*/ 133657 h 267313"/>
                  <a:gd name="connsiteX3" fmla="*/ 133657 w 267313"/>
                  <a:gd name="connsiteY3" fmla="*/ 0 h 267313"/>
                  <a:gd name="connsiteX4" fmla="*/ 267314 w 267313"/>
                  <a:gd name="connsiteY4" fmla="*/ 133657 h 267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313" h="267313">
                    <a:moveTo>
                      <a:pt x="267314" y="133657"/>
                    </a:moveTo>
                    <a:cubicBezTo>
                      <a:pt x="267314" y="207473"/>
                      <a:pt x="207474" y="267314"/>
                      <a:pt x="133657" y="267314"/>
                    </a:cubicBezTo>
                    <a:cubicBezTo>
                      <a:pt x="59841" y="267314"/>
                      <a:pt x="0" y="207474"/>
                      <a:pt x="0" y="133657"/>
                    </a:cubicBezTo>
                    <a:cubicBezTo>
                      <a:pt x="0" y="59840"/>
                      <a:pt x="59840" y="0"/>
                      <a:pt x="133657" y="0"/>
                    </a:cubicBezTo>
                    <a:cubicBezTo>
                      <a:pt x="207474" y="0"/>
                      <a:pt x="267314" y="59840"/>
                      <a:pt x="267314" y="133657"/>
                    </a:cubicBezTo>
                    <a:close/>
                  </a:path>
                </a:pathLst>
              </a:custGeom>
              <a:solidFill>
                <a:srgbClr val="D1E4F7"/>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1" name="Freeform: Shape 20">
                <a:extLst>
                  <a:ext uri="{FF2B5EF4-FFF2-40B4-BE49-F238E27FC236}">
                    <a16:creationId xmlns:a16="http://schemas.microsoft.com/office/drawing/2014/main" id="{56427D55-D24C-FA57-B8A6-D612E180983C}"/>
                  </a:ext>
                </a:extLst>
              </p:cNvPr>
              <p:cNvSpPr/>
              <p:nvPr/>
            </p:nvSpPr>
            <p:spPr>
              <a:xfrm>
                <a:off x="4231744" y="3432799"/>
                <a:ext cx="168337" cy="2587020"/>
              </a:xfrm>
              <a:custGeom>
                <a:avLst/>
                <a:gdLst>
                  <a:gd name="connsiteX0" fmla="*/ 0 w 168337"/>
                  <a:gd name="connsiteY0" fmla="*/ 2587020 h 2587020"/>
                  <a:gd name="connsiteX1" fmla="*/ 84169 w 168337"/>
                  <a:gd name="connsiteY1" fmla="*/ 2587020 h 2587020"/>
                  <a:gd name="connsiteX2" fmla="*/ 168338 w 168337"/>
                  <a:gd name="connsiteY2" fmla="*/ 2587020 h 2587020"/>
                  <a:gd name="connsiteX3" fmla="*/ 168338 w 168337"/>
                  <a:gd name="connsiteY3" fmla="*/ 0 h 2587020"/>
                  <a:gd name="connsiteX4" fmla="*/ 0 w 168337"/>
                  <a:gd name="connsiteY4" fmla="*/ 0 h 2587020"/>
                  <a:gd name="connsiteX5" fmla="*/ 0 w 168337"/>
                  <a:gd name="connsiteY5" fmla="*/ 2587020 h 2587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337" h="2587020">
                    <a:moveTo>
                      <a:pt x="0" y="2587020"/>
                    </a:moveTo>
                    <a:lnTo>
                      <a:pt x="84169" y="2587020"/>
                    </a:lnTo>
                    <a:lnTo>
                      <a:pt x="168338" y="2587020"/>
                    </a:lnTo>
                    <a:lnTo>
                      <a:pt x="168338" y="0"/>
                    </a:lnTo>
                    <a:lnTo>
                      <a:pt x="0" y="0"/>
                    </a:lnTo>
                    <a:lnTo>
                      <a:pt x="0" y="2587020"/>
                    </a:ln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2" name="Freeform: Shape 21">
                <a:extLst>
                  <a:ext uri="{FF2B5EF4-FFF2-40B4-BE49-F238E27FC236}">
                    <a16:creationId xmlns:a16="http://schemas.microsoft.com/office/drawing/2014/main" id="{6AA68DB8-F3FB-0563-B49A-E0CD7601F4FE}"/>
                  </a:ext>
                </a:extLst>
              </p:cNvPr>
              <p:cNvSpPr/>
              <p:nvPr/>
            </p:nvSpPr>
            <p:spPr>
              <a:xfrm>
                <a:off x="4315913" y="6019819"/>
                <a:ext cx="38967" cy="505791"/>
              </a:xfrm>
              <a:custGeom>
                <a:avLst/>
                <a:gdLst>
                  <a:gd name="connsiteX0" fmla="*/ 0 w 38967"/>
                  <a:gd name="connsiteY0" fmla="*/ 0 h 505791"/>
                  <a:gd name="connsiteX1" fmla="*/ 0 w 38967"/>
                  <a:gd name="connsiteY1" fmla="*/ 505792 h 505791"/>
                </a:gdLst>
                <a:ahLst/>
                <a:cxnLst>
                  <a:cxn ang="0">
                    <a:pos x="connsiteX0" y="connsiteY0"/>
                  </a:cxn>
                  <a:cxn ang="0">
                    <a:pos x="connsiteX1" y="connsiteY1"/>
                  </a:cxn>
                </a:cxnLst>
                <a:rect l="l" t="t" r="r" b="b"/>
                <a:pathLst>
                  <a:path w="38967" h="505791">
                    <a:moveTo>
                      <a:pt x="0" y="0"/>
                    </a:moveTo>
                    <a:lnTo>
                      <a:pt x="0" y="505792"/>
                    </a:lnTo>
                  </a:path>
                </a:pathLst>
              </a:custGeom>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sp>
          <p:nvSpPr>
            <p:cNvPr id="23" name="Freeform: Shape 22">
              <a:extLst>
                <a:ext uri="{FF2B5EF4-FFF2-40B4-BE49-F238E27FC236}">
                  <a16:creationId xmlns:a16="http://schemas.microsoft.com/office/drawing/2014/main" id="{1C11EDA2-BD3A-64AB-3DBD-2FEB0CEEF2B4}"/>
                </a:ext>
              </a:extLst>
            </p:cNvPr>
            <p:cNvSpPr/>
            <p:nvPr/>
          </p:nvSpPr>
          <p:spPr>
            <a:xfrm rot="5400000">
              <a:off x="2987527" y="4076924"/>
              <a:ext cx="168337" cy="2320096"/>
            </a:xfrm>
            <a:custGeom>
              <a:avLst/>
              <a:gdLst>
                <a:gd name="connsiteX0" fmla="*/ 0 w 168337"/>
                <a:gd name="connsiteY0" fmla="*/ 0 h 2320096"/>
                <a:gd name="connsiteX1" fmla="*/ 168337 w 168337"/>
                <a:gd name="connsiteY1" fmla="*/ 0 h 2320096"/>
                <a:gd name="connsiteX2" fmla="*/ 168337 w 168337"/>
                <a:gd name="connsiteY2" fmla="*/ 2320096 h 2320096"/>
                <a:gd name="connsiteX3" fmla="*/ 0 w 168337"/>
                <a:gd name="connsiteY3" fmla="*/ 2320096 h 2320096"/>
              </a:gdLst>
              <a:ahLst/>
              <a:cxnLst>
                <a:cxn ang="0">
                  <a:pos x="connsiteX0" y="connsiteY0"/>
                </a:cxn>
                <a:cxn ang="0">
                  <a:pos x="connsiteX1" y="connsiteY1"/>
                </a:cxn>
                <a:cxn ang="0">
                  <a:pos x="connsiteX2" y="connsiteY2"/>
                </a:cxn>
                <a:cxn ang="0">
                  <a:pos x="connsiteX3" y="connsiteY3"/>
                </a:cxn>
              </a:cxnLst>
              <a:rect l="l" t="t" r="r" b="b"/>
              <a:pathLst>
                <a:path w="168337" h="2320096">
                  <a:moveTo>
                    <a:pt x="0" y="0"/>
                  </a:moveTo>
                  <a:lnTo>
                    <a:pt x="168337" y="0"/>
                  </a:lnTo>
                  <a:lnTo>
                    <a:pt x="168337" y="2320096"/>
                  </a:lnTo>
                  <a:lnTo>
                    <a:pt x="0" y="2320096"/>
                  </a:lnTo>
                  <a:close/>
                </a:path>
              </a:pathLst>
            </a:custGeom>
            <a:solidFill>
              <a:srgbClr val="FFFFFF"/>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nvGrpSpPr>
            <p:cNvPr id="24" name="Graphic 9">
              <a:extLst>
                <a:ext uri="{FF2B5EF4-FFF2-40B4-BE49-F238E27FC236}">
                  <a16:creationId xmlns:a16="http://schemas.microsoft.com/office/drawing/2014/main" id="{632A3BF3-98C2-BC63-A8A4-D50955C4C015}"/>
                </a:ext>
              </a:extLst>
            </p:cNvPr>
            <p:cNvGrpSpPr/>
            <p:nvPr/>
          </p:nvGrpSpPr>
          <p:grpSpPr>
            <a:xfrm>
              <a:off x="2175064" y="1817616"/>
              <a:ext cx="438379" cy="1238761"/>
              <a:chOff x="2175064" y="1817616"/>
              <a:chExt cx="438379" cy="1238761"/>
            </a:xfrm>
            <a:solidFill>
              <a:srgbClr val="FFFFFF"/>
            </a:solidFill>
          </p:grpSpPr>
          <p:sp>
            <p:nvSpPr>
              <p:cNvPr id="25" name="Freeform: Shape 24">
                <a:extLst>
                  <a:ext uri="{FF2B5EF4-FFF2-40B4-BE49-F238E27FC236}">
                    <a16:creationId xmlns:a16="http://schemas.microsoft.com/office/drawing/2014/main" id="{5597EC09-993C-8701-9C08-56656669E2E7}"/>
                  </a:ext>
                </a:extLst>
              </p:cNvPr>
              <p:cNvSpPr/>
              <p:nvPr/>
            </p:nvSpPr>
            <p:spPr>
              <a:xfrm>
                <a:off x="2295473" y="1817616"/>
                <a:ext cx="197952" cy="321477"/>
              </a:xfrm>
              <a:custGeom>
                <a:avLst/>
                <a:gdLst>
                  <a:gd name="connsiteX0" fmla="*/ 0 w 197952"/>
                  <a:gd name="connsiteY0" fmla="*/ 0 h 321477"/>
                  <a:gd name="connsiteX1" fmla="*/ 197953 w 197952"/>
                  <a:gd name="connsiteY1" fmla="*/ 0 h 321477"/>
                  <a:gd name="connsiteX2" fmla="*/ 197953 w 197952"/>
                  <a:gd name="connsiteY2" fmla="*/ 321478 h 321477"/>
                  <a:gd name="connsiteX3" fmla="*/ 0 w 197952"/>
                  <a:gd name="connsiteY3" fmla="*/ 321478 h 321477"/>
                </a:gdLst>
                <a:ahLst/>
                <a:cxnLst>
                  <a:cxn ang="0">
                    <a:pos x="connsiteX0" y="connsiteY0"/>
                  </a:cxn>
                  <a:cxn ang="0">
                    <a:pos x="connsiteX1" y="connsiteY1"/>
                  </a:cxn>
                  <a:cxn ang="0">
                    <a:pos x="connsiteX2" y="connsiteY2"/>
                  </a:cxn>
                  <a:cxn ang="0">
                    <a:pos x="connsiteX3" y="connsiteY3"/>
                  </a:cxn>
                </a:cxnLst>
                <a:rect l="l" t="t" r="r" b="b"/>
                <a:pathLst>
                  <a:path w="197952" h="321477">
                    <a:moveTo>
                      <a:pt x="0" y="0"/>
                    </a:moveTo>
                    <a:lnTo>
                      <a:pt x="197953" y="0"/>
                    </a:lnTo>
                    <a:lnTo>
                      <a:pt x="197953" y="321478"/>
                    </a:lnTo>
                    <a:lnTo>
                      <a:pt x="0" y="321478"/>
                    </a:lnTo>
                    <a:close/>
                  </a:path>
                </a:pathLst>
              </a:custGeom>
              <a:solidFill>
                <a:schemeClr val="accent4"/>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6" name="Freeform: Shape 25">
                <a:extLst>
                  <a:ext uri="{FF2B5EF4-FFF2-40B4-BE49-F238E27FC236}">
                    <a16:creationId xmlns:a16="http://schemas.microsoft.com/office/drawing/2014/main" id="{D37A98BF-1C08-64F2-887E-54CF2718EAC9}"/>
                  </a:ext>
                </a:extLst>
              </p:cNvPr>
              <p:cNvSpPr/>
              <p:nvPr/>
            </p:nvSpPr>
            <p:spPr>
              <a:xfrm>
                <a:off x="2175064" y="2036611"/>
                <a:ext cx="438379" cy="1019766"/>
              </a:xfrm>
              <a:custGeom>
                <a:avLst/>
                <a:gdLst>
                  <a:gd name="connsiteX0" fmla="*/ 219384 w 438379"/>
                  <a:gd name="connsiteY0" fmla="*/ 0 h 1019766"/>
                  <a:gd name="connsiteX1" fmla="*/ 219384 w 438379"/>
                  <a:gd name="connsiteY1" fmla="*/ 0 h 1019766"/>
                  <a:gd name="connsiteX2" fmla="*/ 438379 w 438379"/>
                  <a:gd name="connsiteY2" fmla="*/ 218995 h 1019766"/>
                  <a:gd name="connsiteX3" fmla="*/ 438379 w 438379"/>
                  <a:gd name="connsiteY3" fmla="*/ 1019767 h 1019766"/>
                  <a:gd name="connsiteX4" fmla="*/ 0 w 438379"/>
                  <a:gd name="connsiteY4" fmla="*/ 1019767 h 1019766"/>
                  <a:gd name="connsiteX5" fmla="*/ 0 w 438379"/>
                  <a:gd name="connsiteY5" fmla="*/ 218995 h 1019766"/>
                  <a:gd name="connsiteX6" fmla="*/ 218995 w 438379"/>
                  <a:gd name="connsiteY6" fmla="*/ 0 h 101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379" h="1019766">
                    <a:moveTo>
                      <a:pt x="219384" y="0"/>
                    </a:moveTo>
                    <a:lnTo>
                      <a:pt x="219384" y="0"/>
                    </a:lnTo>
                    <a:cubicBezTo>
                      <a:pt x="340182" y="0"/>
                      <a:pt x="438379" y="98197"/>
                      <a:pt x="438379" y="218995"/>
                    </a:cubicBezTo>
                    <a:lnTo>
                      <a:pt x="438379" y="1019767"/>
                    </a:lnTo>
                    <a:lnTo>
                      <a:pt x="0" y="1019767"/>
                    </a:lnTo>
                    <a:lnTo>
                      <a:pt x="0" y="218995"/>
                    </a:lnTo>
                    <a:cubicBezTo>
                      <a:pt x="0" y="98197"/>
                      <a:pt x="98197" y="0"/>
                      <a:pt x="218995" y="0"/>
                    </a:cubicBezTo>
                    <a:close/>
                  </a:path>
                </a:pathLst>
              </a:custGeom>
              <a:solidFill>
                <a:srgbClr val="D1E4F7"/>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grpSp>
          <p:nvGrpSpPr>
            <p:cNvPr id="27" name="Graphic 9">
              <a:extLst>
                <a:ext uri="{FF2B5EF4-FFF2-40B4-BE49-F238E27FC236}">
                  <a16:creationId xmlns:a16="http://schemas.microsoft.com/office/drawing/2014/main" id="{82C290F0-04F9-6DE4-5163-3F041ADF034A}"/>
                </a:ext>
              </a:extLst>
            </p:cNvPr>
            <p:cNvGrpSpPr/>
            <p:nvPr/>
          </p:nvGrpSpPr>
          <p:grpSpPr>
            <a:xfrm>
              <a:off x="2830879" y="1817616"/>
              <a:ext cx="438379" cy="1238761"/>
              <a:chOff x="2830879" y="1817616"/>
              <a:chExt cx="438379" cy="1238761"/>
            </a:xfrm>
            <a:solidFill>
              <a:srgbClr val="FFFFFF"/>
            </a:solidFill>
          </p:grpSpPr>
          <p:sp>
            <p:nvSpPr>
              <p:cNvPr id="28" name="Freeform: Shape 27">
                <a:extLst>
                  <a:ext uri="{FF2B5EF4-FFF2-40B4-BE49-F238E27FC236}">
                    <a16:creationId xmlns:a16="http://schemas.microsoft.com/office/drawing/2014/main" id="{B575FCB1-4729-418D-E95D-0FBE0A3DD49E}"/>
                  </a:ext>
                </a:extLst>
              </p:cNvPr>
              <p:cNvSpPr/>
              <p:nvPr/>
            </p:nvSpPr>
            <p:spPr>
              <a:xfrm>
                <a:off x="2951288" y="1817616"/>
                <a:ext cx="197952" cy="321477"/>
              </a:xfrm>
              <a:custGeom>
                <a:avLst/>
                <a:gdLst>
                  <a:gd name="connsiteX0" fmla="*/ 0 w 197952"/>
                  <a:gd name="connsiteY0" fmla="*/ 0 h 321477"/>
                  <a:gd name="connsiteX1" fmla="*/ 197952 w 197952"/>
                  <a:gd name="connsiteY1" fmla="*/ 0 h 321477"/>
                  <a:gd name="connsiteX2" fmla="*/ 197952 w 197952"/>
                  <a:gd name="connsiteY2" fmla="*/ 321478 h 321477"/>
                  <a:gd name="connsiteX3" fmla="*/ 0 w 197952"/>
                  <a:gd name="connsiteY3" fmla="*/ 321478 h 321477"/>
                </a:gdLst>
                <a:ahLst/>
                <a:cxnLst>
                  <a:cxn ang="0">
                    <a:pos x="connsiteX0" y="connsiteY0"/>
                  </a:cxn>
                  <a:cxn ang="0">
                    <a:pos x="connsiteX1" y="connsiteY1"/>
                  </a:cxn>
                  <a:cxn ang="0">
                    <a:pos x="connsiteX2" y="connsiteY2"/>
                  </a:cxn>
                  <a:cxn ang="0">
                    <a:pos x="connsiteX3" y="connsiteY3"/>
                  </a:cxn>
                </a:cxnLst>
                <a:rect l="l" t="t" r="r" b="b"/>
                <a:pathLst>
                  <a:path w="197952" h="321477">
                    <a:moveTo>
                      <a:pt x="0" y="0"/>
                    </a:moveTo>
                    <a:lnTo>
                      <a:pt x="197952" y="0"/>
                    </a:lnTo>
                    <a:lnTo>
                      <a:pt x="197952" y="321478"/>
                    </a:lnTo>
                    <a:lnTo>
                      <a:pt x="0" y="321478"/>
                    </a:lnTo>
                    <a:close/>
                  </a:path>
                </a:pathLst>
              </a:custGeom>
              <a:solidFill>
                <a:schemeClr val="accent4"/>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9" name="Freeform: Shape 28">
                <a:extLst>
                  <a:ext uri="{FF2B5EF4-FFF2-40B4-BE49-F238E27FC236}">
                    <a16:creationId xmlns:a16="http://schemas.microsoft.com/office/drawing/2014/main" id="{E94FE00C-F99D-C221-C4E3-3FC9577C9F4D}"/>
                  </a:ext>
                </a:extLst>
              </p:cNvPr>
              <p:cNvSpPr/>
              <p:nvPr/>
            </p:nvSpPr>
            <p:spPr>
              <a:xfrm>
                <a:off x="2830879" y="2036611"/>
                <a:ext cx="438379" cy="1019766"/>
              </a:xfrm>
              <a:custGeom>
                <a:avLst/>
                <a:gdLst>
                  <a:gd name="connsiteX0" fmla="*/ 219384 w 438379"/>
                  <a:gd name="connsiteY0" fmla="*/ 0 h 1019766"/>
                  <a:gd name="connsiteX1" fmla="*/ 219384 w 438379"/>
                  <a:gd name="connsiteY1" fmla="*/ 0 h 1019766"/>
                  <a:gd name="connsiteX2" fmla="*/ 438379 w 438379"/>
                  <a:gd name="connsiteY2" fmla="*/ 218995 h 1019766"/>
                  <a:gd name="connsiteX3" fmla="*/ 438379 w 438379"/>
                  <a:gd name="connsiteY3" fmla="*/ 1019767 h 1019766"/>
                  <a:gd name="connsiteX4" fmla="*/ 0 w 438379"/>
                  <a:gd name="connsiteY4" fmla="*/ 1019767 h 1019766"/>
                  <a:gd name="connsiteX5" fmla="*/ 0 w 438379"/>
                  <a:gd name="connsiteY5" fmla="*/ 218995 h 1019766"/>
                  <a:gd name="connsiteX6" fmla="*/ 218995 w 438379"/>
                  <a:gd name="connsiteY6" fmla="*/ 0 h 101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379" h="1019766">
                    <a:moveTo>
                      <a:pt x="219384" y="0"/>
                    </a:moveTo>
                    <a:lnTo>
                      <a:pt x="219384" y="0"/>
                    </a:lnTo>
                    <a:cubicBezTo>
                      <a:pt x="340182" y="0"/>
                      <a:pt x="438379" y="98197"/>
                      <a:pt x="438379" y="218995"/>
                    </a:cubicBezTo>
                    <a:lnTo>
                      <a:pt x="438379" y="1019767"/>
                    </a:lnTo>
                    <a:lnTo>
                      <a:pt x="0" y="1019767"/>
                    </a:lnTo>
                    <a:lnTo>
                      <a:pt x="0" y="218995"/>
                    </a:lnTo>
                    <a:cubicBezTo>
                      <a:pt x="0" y="98197"/>
                      <a:pt x="98197" y="0"/>
                      <a:pt x="218995" y="0"/>
                    </a:cubicBezTo>
                    <a:close/>
                  </a:path>
                </a:pathLst>
              </a:custGeom>
              <a:solidFill>
                <a:srgbClr val="D1E4F7"/>
              </a:solid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sp>
          <p:nvSpPr>
            <p:cNvPr id="30" name="Freeform: Shape 29">
              <a:extLst>
                <a:ext uri="{FF2B5EF4-FFF2-40B4-BE49-F238E27FC236}">
                  <a16:creationId xmlns:a16="http://schemas.microsoft.com/office/drawing/2014/main" id="{D44627DA-B756-777E-7E0A-BD5AFDA6C14F}"/>
                </a:ext>
              </a:extLst>
            </p:cNvPr>
            <p:cNvSpPr/>
            <p:nvPr/>
          </p:nvSpPr>
          <p:spPr>
            <a:xfrm>
              <a:off x="1509897" y="2615271"/>
              <a:ext cx="3122817" cy="441106"/>
            </a:xfrm>
            <a:custGeom>
              <a:avLst/>
              <a:gdLst>
                <a:gd name="connsiteX0" fmla="*/ 0 w 3122817"/>
                <a:gd name="connsiteY0" fmla="*/ 0 h 441106"/>
                <a:gd name="connsiteX1" fmla="*/ 3122817 w 3122817"/>
                <a:gd name="connsiteY1" fmla="*/ 0 h 441106"/>
                <a:gd name="connsiteX2" fmla="*/ 3122817 w 3122817"/>
                <a:gd name="connsiteY2" fmla="*/ 441107 h 441106"/>
                <a:gd name="connsiteX3" fmla="*/ 0 w 3122817"/>
                <a:gd name="connsiteY3" fmla="*/ 441107 h 441106"/>
              </a:gdLst>
              <a:ahLst/>
              <a:cxnLst>
                <a:cxn ang="0">
                  <a:pos x="connsiteX0" y="connsiteY0"/>
                </a:cxn>
                <a:cxn ang="0">
                  <a:pos x="connsiteX1" y="connsiteY1"/>
                </a:cxn>
                <a:cxn ang="0">
                  <a:pos x="connsiteX2" y="connsiteY2"/>
                </a:cxn>
                <a:cxn ang="0">
                  <a:pos x="connsiteX3" y="connsiteY3"/>
                </a:cxn>
              </a:cxnLst>
              <a:rect l="l" t="t" r="r" b="b"/>
              <a:pathLst>
                <a:path w="3122817" h="441106">
                  <a:moveTo>
                    <a:pt x="0" y="0"/>
                  </a:moveTo>
                  <a:lnTo>
                    <a:pt x="3122817" y="0"/>
                  </a:lnTo>
                  <a:lnTo>
                    <a:pt x="3122817" y="441107"/>
                  </a:lnTo>
                  <a:lnTo>
                    <a:pt x="0" y="441107"/>
                  </a:lnTo>
                  <a:close/>
                </a:path>
              </a:pathLst>
            </a:custGeom>
            <a:noFill/>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31" name="Freeform: Shape 30">
              <a:extLst>
                <a:ext uri="{FF2B5EF4-FFF2-40B4-BE49-F238E27FC236}">
                  <a16:creationId xmlns:a16="http://schemas.microsoft.com/office/drawing/2014/main" id="{9ACAB1EE-B0B7-ECB6-54F9-74E163FAF4DB}"/>
                </a:ext>
              </a:extLst>
            </p:cNvPr>
            <p:cNvSpPr/>
            <p:nvPr/>
          </p:nvSpPr>
          <p:spPr>
            <a:xfrm>
              <a:off x="1509897" y="2800754"/>
              <a:ext cx="3122817" cy="38967"/>
            </a:xfrm>
            <a:custGeom>
              <a:avLst/>
              <a:gdLst>
                <a:gd name="connsiteX0" fmla="*/ 0 w 3122817"/>
                <a:gd name="connsiteY0" fmla="*/ 0 h 38967"/>
                <a:gd name="connsiteX1" fmla="*/ 3122817 w 3122817"/>
                <a:gd name="connsiteY1" fmla="*/ 0 h 38967"/>
              </a:gdLst>
              <a:ahLst/>
              <a:cxnLst>
                <a:cxn ang="0">
                  <a:pos x="connsiteX0" y="connsiteY0"/>
                </a:cxn>
                <a:cxn ang="0">
                  <a:pos x="connsiteX1" y="connsiteY1"/>
                </a:cxn>
              </a:cxnLst>
              <a:rect l="l" t="t" r="r" b="b"/>
              <a:pathLst>
                <a:path w="3122817" h="38967">
                  <a:moveTo>
                    <a:pt x="0" y="0"/>
                  </a:moveTo>
                  <a:lnTo>
                    <a:pt x="3122817" y="0"/>
                  </a:lnTo>
                </a:path>
              </a:pathLst>
            </a:custGeom>
            <a:ln w="50631" cap="flat">
              <a:solidFill>
                <a:schemeClr val="tx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14274C"/>
                </a:solidFill>
                <a:effectLst/>
                <a:uLnTx/>
                <a:uFillTx/>
                <a:latin typeface="Trebuchet MS"/>
                <a:ea typeface="+mn-ea"/>
                <a:cs typeface="+mn-cs"/>
              </a:endParaRPr>
            </a:p>
          </p:txBody>
        </p:sp>
      </p:grpSp>
    </p:spTree>
    <p:extLst>
      <p:ext uri="{BB962C8B-B14F-4D97-AF65-F5344CB8AC3E}">
        <p14:creationId xmlns:p14="http://schemas.microsoft.com/office/powerpoint/2010/main" val="1426152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6960-C748-8633-3771-3E5B07671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07A69-8E48-CE8F-C1EB-FF5B76B26AE6}"/>
              </a:ext>
            </a:extLst>
          </p:cNvPr>
          <p:cNvSpPr>
            <a:spLocks noGrp="1"/>
          </p:cNvSpPr>
          <p:nvPr>
            <p:ph type="title"/>
          </p:nvPr>
        </p:nvSpPr>
        <p:spPr/>
        <p:txBody>
          <a:bodyPr/>
          <a:lstStyle/>
          <a:p>
            <a:r>
              <a:rPr lang="en-US" dirty="0"/>
              <a:t>Exercise 5: Beyond the steps </a:t>
            </a:r>
            <a:br>
              <a:rPr lang="en-US" dirty="0"/>
            </a:br>
            <a:r>
              <a:rPr lang="en-US" dirty="0"/>
              <a:t>Documentation for </a:t>
            </a:r>
            <a:r>
              <a:rPr lang="en-US" dirty="0" err="1"/>
              <a:t>organisation</a:t>
            </a:r>
            <a:endParaRPr lang="nl-BE" dirty="0"/>
          </a:p>
        </p:txBody>
      </p:sp>
      <p:sp>
        <p:nvSpPr>
          <p:cNvPr id="4" name="Slide Number Placeholder 3">
            <a:extLst>
              <a:ext uri="{FF2B5EF4-FFF2-40B4-BE49-F238E27FC236}">
                <a16:creationId xmlns:a16="http://schemas.microsoft.com/office/drawing/2014/main" id="{B18AB530-10F5-9911-1078-38BC6D607433}"/>
              </a:ext>
            </a:extLst>
          </p:cNvPr>
          <p:cNvSpPr>
            <a:spLocks noGrp="1"/>
          </p:cNvSpPr>
          <p:nvPr>
            <p:ph type="sldNum" sz="quarter" idx="12"/>
          </p:nvPr>
        </p:nvSpPr>
        <p:spPr/>
        <p:txBody>
          <a:bodyPr/>
          <a:lstStyle/>
          <a:p>
            <a:fld id="{85114D95-D6A6-084A-9D9C-617B45E258AD}" type="slidenum">
              <a:rPr lang="nl-NL" smtClean="0"/>
              <a:t>30</a:t>
            </a:fld>
            <a:endParaRPr lang="nl-NL"/>
          </a:p>
        </p:txBody>
      </p:sp>
      <p:sp>
        <p:nvSpPr>
          <p:cNvPr id="6" name="Content Placeholder 2">
            <a:extLst>
              <a:ext uri="{FF2B5EF4-FFF2-40B4-BE49-F238E27FC236}">
                <a16:creationId xmlns:a16="http://schemas.microsoft.com/office/drawing/2014/main" id="{124FA099-8CC8-2B38-8C3A-6953FD53DE67}"/>
              </a:ext>
            </a:extLst>
          </p:cNvPr>
          <p:cNvSpPr>
            <a:spLocks noGrp="1"/>
          </p:cNvSpPr>
          <p:nvPr>
            <p:ph idx="1"/>
          </p:nvPr>
        </p:nvSpPr>
        <p:spPr>
          <a:xfrm>
            <a:off x="576000" y="2045563"/>
            <a:ext cx="11041200" cy="3938548"/>
          </a:xfrm>
        </p:spPr>
        <p:txBody>
          <a:bodyPr/>
          <a:lstStyle/>
          <a:p>
            <a:pPr marL="0" indent="0">
              <a:buNone/>
            </a:pPr>
            <a:r>
              <a:rPr lang="en-US" dirty="0"/>
              <a:t>Workbook p. 4. </a:t>
            </a:r>
          </a:p>
          <a:p>
            <a:pPr marL="0" indent="0">
              <a:buNone/>
            </a:pPr>
            <a:endParaRPr lang="en-US" dirty="0"/>
          </a:p>
          <a:p>
            <a:pPr marL="514350" indent="-514350">
              <a:buFont typeface="+mj-lt"/>
              <a:buAutoNum type="arabicPeriod"/>
            </a:pPr>
            <a:r>
              <a:rPr lang="en-US" dirty="0"/>
              <a:t>Add the missing documentation on your dataflow with </a:t>
            </a:r>
            <a:r>
              <a:rPr lang="en-US" dirty="0">
                <a:solidFill>
                  <a:srgbClr val="FF9B9B"/>
                </a:solidFill>
              </a:rPr>
              <a:t>pink </a:t>
            </a:r>
            <a:r>
              <a:rPr lang="en-US" dirty="0" err="1">
                <a:solidFill>
                  <a:srgbClr val="FF9B9B"/>
                </a:solidFill>
              </a:rPr>
              <a:t>post-its</a:t>
            </a:r>
            <a:br>
              <a:rPr lang="en-US" dirty="0">
                <a:solidFill>
                  <a:srgbClr val="FF9B9B"/>
                </a:solidFill>
              </a:rPr>
            </a:br>
            <a:r>
              <a:rPr lang="en-US" dirty="0"/>
              <a:t>Add the </a:t>
            </a:r>
            <a:r>
              <a:rPr lang="en-US" b="1" dirty="0"/>
              <a:t>tool</a:t>
            </a:r>
            <a:r>
              <a:rPr lang="en-US" dirty="0"/>
              <a:t> you will use.</a:t>
            </a:r>
          </a:p>
          <a:p>
            <a:pPr marL="514350" indent="-514350">
              <a:buFont typeface="+mj-lt"/>
              <a:buAutoNum type="arabicPeriod"/>
            </a:pPr>
            <a:endParaRPr lang="en-US" dirty="0"/>
          </a:p>
          <a:p>
            <a:pPr marL="514350" indent="-514350">
              <a:buFont typeface="+mj-lt"/>
              <a:buAutoNum type="arabicPeriod"/>
            </a:pPr>
            <a:r>
              <a:rPr lang="en-US" dirty="0"/>
              <a:t>Take a global view of all the </a:t>
            </a:r>
            <a:r>
              <a:rPr lang="en-US" dirty="0">
                <a:solidFill>
                  <a:srgbClr val="FF9B9B"/>
                </a:solidFill>
              </a:rPr>
              <a:t>pink </a:t>
            </a:r>
            <a:r>
              <a:rPr lang="en-US" dirty="0" err="1">
                <a:solidFill>
                  <a:srgbClr val="FF9B9B"/>
                </a:solidFill>
              </a:rPr>
              <a:t>post-its</a:t>
            </a:r>
            <a:r>
              <a:rPr lang="en-US" dirty="0"/>
              <a:t>.</a:t>
            </a:r>
            <a:br>
              <a:rPr lang="en-US" dirty="0"/>
            </a:br>
            <a:r>
              <a:rPr lang="en-US" dirty="0"/>
              <a:t>Go </a:t>
            </a:r>
            <a:r>
              <a:rPr lang="en-US" dirty="0" err="1"/>
              <a:t>DMPonline</a:t>
            </a:r>
            <a:r>
              <a:rPr lang="en-US" dirty="0"/>
              <a:t> – fill in </a:t>
            </a:r>
            <a:r>
              <a:rPr lang="en-US" b="1" dirty="0"/>
              <a:t>section 2</a:t>
            </a:r>
            <a:r>
              <a:rPr lang="en-US" dirty="0"/>
              <a:t> of your DMP (documentation &amp; metadata). </a:t>
            </a:r>
            <a:endParaRPr lang="en-US" dirty="0">
              <a:solidFill>
                <a:srgbClr val="FF9B9B"/>
              </a:solidFill>
            </a:endParaRPr>
          </a:p>
        </p:txBody>
      </p:sp>
    </p:spTree>
    <p:extLst>
      <p:ext uri="{BB962C8B-B14F-4D97-AF65-F5344CB8AC3E}">
        <p14:creationId xmlns:p14="http://schemas.microsoft.com/office/powerpoint/2010/main" val="3322225280"/>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a:t>Storage</a:t>
            </a:r>
          </a:p>
        </p:txBody>
      </p:sp>
      <p:sp>
        <p:nvSpPr>
          <p:cNvPr id="3" name="Ondertitel 2"/>
          <p:cNvSpPr>
            <a:spLocks noGrp="1"/>
          </p:cNvSpPr>
          <p:nvPr>
            <p:ph type="subTitle" idx="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5114D95-D6A6-084A-9D9C-617B45E258AD}" type="slidenum">
              <a:rPr lang="nl-NL" smtClean="0"/>
              <a:pPr/>
              <a:t>31</a:t>
            </a:fld>
            <a:endParaRPr lang="nl-NL"/>
          </a:p>
        </p:txBody>
      </p:sp>
    </p:spTree>
    <p:extLst>
      <p:ext uri="{BB962C8B-B14F-4D97-AF65-F5344CB8AC3E}">
        <p14:creationId xmlns:p14="http://schemas.microsoft.com/office/powerpoint/2010/main" val="601872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3ACB4-2F8D-878C-6475-0559B5B1E85B}"/>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6F2DAACC-55DD-30CE-FA55-28D6AC189DB4}"/>
              </a:ext>
            </a:extLst>
          </p:cNvPr>
          <p:cNvGrpSpPr/>
          <p:nvPr/>
        </p:nvGrpSpPr>
        <p:grpSpPr>
          <a:xfrm>
            <a:off x="1342418" y="2513601"/>
            <a:ext cx="2694039" cy="1884345"/>
            <a:chOff x="7344696" y="2510674"/>
            <a:chExt cx="2694039" cy="1884345"/>
          </a:xfrm>
        </p:grpSpPr>
        <p:sp>
          <p:nvSpPr>
            <p:cNvPr id="17" name="Rechthoek: afgeronde hoeken 18">
              <a:extLst>
                <a:ext uri="{FF2B5EF4-FFF2-40B4-BE49-F238E27FC236}">
                  <a16:creationId xmlns:a16="http://schemas.microsoft.com/office/drawing/2014/main" id="{FBF86213-5343-94F2-0150-459F6E1207C9}"/>
                </a:ext>
              </a:extLst>
            </p:cNvPr>
            <p:cNvSpPr/>
            <p:nvPr/>
          </p:nvSpPr>
          <p:spPr>
            <a:xfrm>
              <a:off x="7344696" y="2510674"/>
              <a:ext cx="2694039" cy="1884345"/>
            </a:xfrm>
            <a:prstGeom prst="roundRect">
              <a:avLst/>
            </a:prstGeom>
            <a:solidFill>
              <a:srgbClr val="1D8DB0"/>
            </a:solidFill>
            <a:ln>
              <a:solidFill>
                <a:srgbClr val="1D8D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8" name="Content Placeholder 2">
              <a:extLst>
                <a:ext uri="{FF2B5EF4-FFF2-40B4-BE49-F238E27FC236}">
                  <a16:creationId xmlns:a16="http://schemas.microsoft.com/office/drawing/2014/main" id="{A38DAE5D-3192-9AF3-7F28-0A137214A894}"/>
                </a:ext>
              </a:extLst>
            </p:cNvPr>
            <p:cNvSpPr txBox="1">
              <a:spLocks/>
            </p:cNvSpPr>
            <p:nvPr/>
          </p:nvSpPr>
          <p:spPr>
            <a:xfrm>
              <a:off x="7344696" y="2596884"/>
              <a:ext cx="2694039" cy="1798135"/>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a:buChar char="•"/>
                <a:defRPr sz="28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GB" sz="2400" dirty="0">
                  <a:solidFill>
                    <a:schemeClr val="bg1"/>
                  </a:solidFill>
                </a:rPr>
                <a:t>Personal data</a:t>
              </a:r>
            </a:p>
            <a:p>
              <a:pPr marL="0" indent="0" algn="ctr">
                <a:buNone/>
              </a:pPr>
              <a:r>
                <a:rPr lang="en-GB" sz="2400" dirty="0">
                  <a:solidFill>
                    <a:schemeClr val="bg1"/>
                  </a:solidFill>
                </a:rPr>
                <a:t>Confidential data</a:t>
              </a:r>
            </a:p>
            <a:p>
              <a:pPr marL="0" indent="0" algn="ctr">
                <a:buNone/>
              </a:pPr>
              <a:r>
                <a:rPr lang="en-GB" sz="2400" dirty="0">
                  <a:solidFill>
                    <a:schemeClr val="bg1"/>
                  </a:solidFill>
                </a:rPr>
                <a:t>Trade secrets</a:t>
              </a:r>
            </a:p>
            <a:p>
              <a:pPr marL="0" indent="0" algn="ctr">
                <a:buNone/>
              </a:pPr>
              <a:r>
                <a:rPr lang="en-GB" sz="2400" dirty="0">
                  <a:solidFill>
                    <a:schemeClr val="bg1"/>
                  </a:solidFill>
                </a:rPr>
                <a:t>Dual use data</a:t>
              </a:r>
              <a:endParaRPr lang="en-US" dirty="0">
                <a:solidFill>
                  <a:schemeClr val="bg1"/>
                </a:solidFill>
                <a:sym typeface="Wingdings" panose="05000000000000000000" pitchFamily="2" charset="2"/>
              </a:endParaRPr>
            </a:p>
          </p:txBody>
        </p:sp>
      </p:grpSp>
      <p:sp>
        <p:nvSpPr>
          <p:cNvPr id="2" name="Title 1">
            <a:extLst>
              <a:ext uri="{FF2B5EF4-FFF2-40B4-BE49-F238E27FC236}">
                <a16:creationId xmlns:a16="http://schemas.microsoft.com/office/drawing/2014/main" id="{D8EA0C54-CBD8-1487-4E3F-5E03A2FFFF2D}"/>
              </a:ext>
            </a:extLst>
          </p:cNvPr>
          <p:cNvSpPr>
            <a:spLocks noGrp="1"/>
          </p:cNvSpPr>
          <p:nvPr>
            <p:ph type="title"/>
          </p:nvPr>
        </p:nvSpPr>
        <p:spPr/>
        <p:txBody>
          <a:bodyPr/>
          <a:lstStyle/>
          <a:p>
            <a:r>
              <a:rPr lang="en-US" dirty="0"/>
              <a:t>Data storage – secure &amp; reliable</a:t>
            </a:r>
            <a:endParaRPr lang="nl-BE" dirty="0"/>
          </a:p>
        </p:txBody>
      </p:sp>
      <p:sp>
        <p:nvSpPr>
          <p:cNvPr id="3" name="Content Placeholder 2">
            <a:extLst>
              <a:ext uri="{FF2B5EF4-FFF2-40B4-BE49-F238E27FC236}">
                <a16:creationId xmlns:a16="http://schemas.microsoft.com/office/drawing/2014/main" id="{15703808-49FC-4C6A-B79A-5BB86FEE0BA3}"/>
              </a:ext>
            </a:extLst>
          </p:cNvPr>
          <p:cNvSpPr>
            <a:spLocks noGrp="1"/>
          </p:cNvSpPr>
          <p:nvPr>
            <p:ph idx="1"/>
          </p:nvPr>
        </p:nvSpPr>
        <p:spPr>
          <a:xfrm>
            <a:off x="1656226" y="2045563"/>
            <a:ext cx="9960974" cy="3938548"/>
          </a:xfrm>
        </p:spPr>
        <p:txBody>
          <a:bodyPr vert="horz" lIns="0" tIns="0" rIns="0" bIns="0" rtlCol="0" anchor="t">
            <a:normAutofit/>
          </a:bodyPr>
          <a:lstStyle/>
          <a:p>
            <a:pPr marL="0" indent="0">
              <a:buNone/>
            </a:pPr>
            <a:r>
              <a:rPr lang="en-US" dirty="0"/>
              <a:t>Secure = </a:t>
            </a:r>
            <a:r>
              <a:rPr lang="en-GB" dirty="0"/>
              <a:t>Protection from hacking and other attempts of theft</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b="1" dirty="0"/>
          </a:p>
          <a:p>
            <a:endParaRPr lang="nl-BE" dirty="0"/>
          </a:p>
        </p:txBody>
      </p:sp>
      <p:sp>
        <p:nvSpPr>
          <p:cNvPr id="4" name="Slide Number Placeholder 3">
            <a:extLst>
              <a:ext uri="{FF2B5EF4-FFF2-40B4-BE49-F238E27FC236}">
                <a16:creationId xmlns:a16="http://schemas.microsoft.com/office/drawing/2014/main" id="{E26BF86A-27A4-68A9-1D0C-57D77266210E}"/>
              </a:ext>
            </a:extLst>
          </p:cNvPr>
          <p:cNvSpPr>
            <a:spLocks noGrp="1"/>
          </p:cNvSpPr>
          <p:nvPr>
            <p:ph type="sldNum" sz="quarter" idx="12"/>
          </p:nvPr>
        </p:nvSpPr>
        <p:spPr/>
        <p:txBody>
          <a:bodyPr/>
          <a:lstStyle/>
          <a:p>
            <a:fld id="{CC571AF6-6671-4538-974D-3AEC00AC0B82}" type="slidenum">
              <a:rPr lang="en-GB" smtClean="0"/>
              <a:t>32</a:t>
            </a:fld>
            <a:endParaRPr lang="en-GB"/>
          </a:p>
        </p:txBody>
      </p:sp>
      <p:sp>
        <p:nvSpPr>
          <p:cNvPr id="5" name="Text Placeholder 4">
            <a:extLst>
              <a:ext uri="{FF2B5EF4-FFF2-40B4-BE49-F238E27FC236}">
                <a16:creationId xmlns:a16="http://schemas.microsoft.com/office/drawing/2014/main" id="{E6E9C29E-87C3-5C5C-C0F6-07625749E3ED}"/>
              </a:ext>
            </a:extLst>
          </p:cNvPr>
          <p:cNvSpPr>
            <a:spLocks noGrp="1"/>
          </p:cNvSpPr>
          <p:nvPr>
            <p:ph type="body" sz="quarter" idx="10"/>
          </p:nvPr>
        </p:nvSpPr>
        <p:spPr/>
        <p:txBody>
          <a:bodyPr/>
          <a:lstStyle/>
          <a:p>
            <a:endParaRPr lang="nl-BE"/>
          </a:p>
        </p:txBody>
      </p:sp>
      <p:grpSp>
        <p:nvGrpSpPr>
          <p:cNvPr id="8" name="Group 7">
            <a:extLst>
              <a:ext uri="{FF2B5EF4-FFF2-40B4-BE49-F238E27FC236}">
                <a16:creationId xmlns:a16="http://schemas.microsoft.com/office/drawing/2014/main" id="{C63FBDC6-DBD9-3782-B3C5-6063B0CAE971}"/>
              </a:ext>
            </a:extLst>
          </p:cNvPr>
          <p:cNvGrpSpPr/>
          <p:nvPr/>
        </p:nvGrpSpPr>
        <p:grpSpPr>
          <a:xfrm>
            <a:off x="452284" y="1418932"/>
            <a:ext cx="1041864" cy="1433791"/>
            <a:chOff x="8383806" y="565339"/>
            <a:chExt cx="3409804" cy="5170614"/>
          </a:xfrm>
        </p:grpSpPr>
        <p:sp>
          <p:nvSpPr>
            <p:cNvPr id="9" name="Block Arc 8">
              <a:extLst>
                <a:ext uri="{FF2B5EF4-FFF2-40B4-BE49-F238E27FC236}">
                  <a16:creationId xmlns:a16="http://schemas.microsoft.com/office/drawing/2014/main" id="{151A7277-E97F-E9DF-042C-D75500CB807E}"/>
                </a:ext>
              </a:extLst>
            </p:cNvPr>
            <p:cNvSpPr/>
            <p:nvPr/>
          </p:nvSpPr>
          <p:spPr>
            <a:xfrm>
              <a:off x="8607523" y="565339"/>
              <a:ext cx="2789551" cy="3894117"/>
            </a:xfrm>
            <a:prstGeom prst="blockArc">
              <a:avLst>
                <a:gd name="adj1" fmla="val 10800000"/>
                <a:gd name="adj2" fmla="val 0"/>
                <a:gd name="adj3" fmla="val 15316"/>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E3CE9B9E-F97D-2B1B-752C-3C767B006EEE}"/>
                </a:ext>
              </a:extLst>
            </p:cNvPr>
            <p:cNvSpPr/>
            <p:nvPr/>
          </p:nvSpPr>
          <p:spPr>
            <a:xfrm>
              <a:off x="8383806" y="2327683"/>
              <a:ext cx="3233394" cy="2485649"/>
            </a:xfrm>
            <a:prstGeom prst="roundRect">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9A4B4719-7586-CE9C-A1FC-EE670262BAB3}"/>
                </a:ext>
              </a:extLst>
            </p:cNvPr>
            <p:cNvSpPr/>
            <p:nvPr/>
          </p:nvSpPr>
          <p:spPr>
            <a:xfrm>
              <a:off x="9712739" y="2884966"/>
              <a:ext cx="575528" cy="721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rapezoid 11">
              <a:extLst>
                <a:ext uri="{FF2B5EF4-FFF2-40B4-BE49-F238E27FC236}">
                  <a16:creationId xmlns:a16="http://schemas.microsoft.com/office/drawing/2014/main" id="{BE865EBF-8897-35EA-AD2F-C625E3DFF02C}"/>
                </a:ext>
              </a:extLst>
            </p:cNvPr>
            <p:cNvSpPr/>
            <p:nvPr/>
          </p:nvSpPr>
          <p:spPr>
            <a:xfrm>
              <a:off x="9712739" y="3509610"/>
              <a:ext cx="575528" cy="670560"/>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4303247A-49D3-DF39-75F9-8E406792C243}"/>
                </a:ext>
              </a:extLst>
            </p:cNvPr>
            <p:cNvSpPr/>
            <p:nvPr/>
          </p:nvSpPr>
          <p:spPr>
            <a:xfrm>
              <a:off x="10545535" y="4502437"/>
              <a:ext cx="1248075" cy="1233516"/>
            </a:xfrm>
            <a:prstGeom prst="ellipse">
              <a:avLst/>
            </a:prstGeom>
            <a:solidFill>
              <a:schemeClr val="bg1"/>
            </a:solidFill>
            <a:ln w="155575">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90C9E08-B2E1-8AB2-2243-6306D30F60CB}"/>
                </a:ext>
              </a:extLst>
            </p:cNvPr>
            <p:cNvSpPr/>
            <p:nvPr/>
          </p:nvSpPr>
          <p:spPr>
            <a:xfrm>
              <a:off x="8689760" y="5002572"/>
              <a:ext cx="1848255" cy="286305"/>
            </a:xfrm>
            <a:prstGeom prst="rect">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lowchart: Direct Access Storage 14">
              <a:extLst>
                <a:ext uri="{FF2B5EF4-FFF2-40B4-BE49-F238E27FC236}">
                  <a16:creationId xmlns:a16="http://schemas.microsoft.com/office/drawing/2014/main" id="{D4EF7B0D-CEF0-7C77-93C5-63103373C155}"/>
                </a:ext>
              </a:extLst>
            </p:cNvPr>
            <p:cNvSpPr/>
            <p:nvPr/>
          </p:nvSpPr>
          <p:spPr>
            <a:xfrm>
              <a:off x="8455491" y="4964266"/>
              <a:ext cx="303999" cy="531071"/>
            </a:xfrm>
            <a:prstGeom prst="flowChartMagneticDrum">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apezoid 15">
              <a:extLst>
                <a:ext uri="{FF2B5EF4-FFF2-40B4-BE49-F238E27FC236}">
                  <a16:creationId xmlns:a16="http://schemas.microsoft.com/office/drawing/2014/main" id="{803CD10E-9029-2923-ED7A-AFFCE7156E6F}"/>
                </a:ext>
              </a:extLst>
            </p:cNvPr>
            <p:cNvSpPr/>
            <p:nvPr/>
          </p:nvSpPr>
          <p:spPr>
            <a:xfrm>
              <a:off x="8383806" y="5145724"/>
              <a:ext cx="447371" cy="569837"/>
            </a:xfrm>
            <a:prstGeom prst="trapezoid">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2" name="Group 31">
            <a:extLst>
              <a:ext uri="{FF2B5EF4-FFF2-40B4-BE49-F238E27FC236}">
                <a16:creationId xmlns:a16="http://schemas.microsoft.com/office/drawing/2014/main" id="{E591D29E-DE6E-3300-0ED6-F97F731FF0CA}"/>
              </a:ext>
            </a:extLst>
          </p:cNvPr>
          <p:cNvGrpSpPr/>
          <p:nvPr/>
        </p:nvGrpSpPr>
        <p:grpSpPr>
          <a:xfrm>
            <a:off x="5289693" y="2513601"/>
            <a:ext cx="2694039" cy="1884345"/>
            <a:chOff x="7344696" y="2520506"/>
            <a:chExt cx="2694039" cy="1884345"/>
          </a:xfrm>
        </p:grpSpPr>
        <p:sp>
          <p:nvSpPr>
            <p:cNvPr id="33" name="Rechthoek: afgeronde hoeken 18">
              <a:extLst>
                <a:ext uri="{FF2B5EF4-FFF2-40B4-BE49-F238E27FC236}">
                  <a16:creationId xmlns:a16="http://schemas.microsoft.com/office/drawing/2014/main" id="{C601450C-1276-BBD4-27DB-97862BEA065E}"/>
                </a:ext>
              </a:extLst>
            </p:cNvPr>
            <p:cNvSpPr/>
            <p:nvPr/>
          </p:nvSpPr>
          <p:spPr>
            <a:xfrm>
              <a:off x="7344696" y="2520506"/>
              <a:ext cx="2694039" cy="188434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34" name="Content Placeholder 2">
              <a:extLst>
                <a:ext uri="{FF2B5EF4-FFF2-40B4-BE49-F238E27FC236}">
                  <a16:creationId xmlns:a16="http://schemas.microsoft.com/office/drawing/2014/main" id="{2B900FBB-5AA0-05EB-DAB0-EE5C49747E5A}"/>
                </a:ext>
              </a:extLst>
            </p:cNvPr>
            <p:cNvSpPr txBox="1">
              <a:spLocks/>
            </p:cNvSpPr>
            <p:nvPr/>
          </p:nvSpPr>
          <p:spPr>
            <a:xfrm>
              <a:off x="7344696" y="2596884"/>
              <a:ext cx="2694039" cy="1798135"/>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a:buChar char="•"/>
                <a:defRPr sz="28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GB" sz="2400" dirty="0">
                  <a:solidFill>
                    <a:schemeClr val="bg1"/>
                  </a:solidFill>
                </a:rPr>
                <a:t>Encryption</a:t>
              </a:r>
            </a:p>
            <a:p>
              <a:pPr marL="0" indent="0" algn="ctr">
                <a:buNone/>
              </a:pPr>
              <a:r>
                <a:rPr lang="en-GB" sz="2400" dirty="0">
                  <a:solidFill>
                    <a:schemeClr val="bg1"/>
                  </a:solidFill>
                </a:rPr>
                <a:t>Controlled access</a:t>
              </a:r>
            </a:p>
            <a:p>
              <a:pPr marL="0" indent="0" algn="ctr">
                <a:buNone/>
              </a:pPr>
              <a:r>
                <a:rPr lang="en-GB" sz="2400" dirty="0">
                  <a:solidFill>
                    <a:schemeClr val="bg1"/>
                  </a:solidFill>
                </a:rPr>
                <a:t>Password &amp; MFA</a:t>
              </a:r>
            </a:p>
            <a:p>
              <a:pPr marL="0" indent="0" algn="ctr">
                <a:buNone/>
              </a:pPr>
              <a:r>
                <a:rPr lang="en-GB" sz="2400" dirty="0">
                  <a:solidFill>
                    <a:schemeClr val="bg1"/>
                  </a:solidFill>
                </a:rPr>
                <a:t>Secure transfer</a:t>
              </a:r>
              <a:endParaRPr lang="en-US" dirty="0">
                <a:solidFill>
                  <a:schemeClr val="bg1"/>
                </a:solidFill>
                <a:sym typeface="Wingdings" panose="05000000000000000000" pitchFamily="2" charset="2"/>
              </a:endParaRPr>
            </a:p>
          </p:txBody>
        </p:sp>
      </p:grpSp>
    </p:spTree>
    <p:extLst>
      <p:ext uri="{BB962C8B-B14F-4D97-AF65-F5344CB8AC3E}">
        <p14:creationId xmlns:p14="http://schemas.microsoft.com/office/powerpoint/2010/main" val="104311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E7DB-987F-8BBF-4A76-5D490E5211E8}"/>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47CE6E02-E5D8-22F2-4020-56580D2BD920}"/>
              </a:ext>
            </a:extLst>
          </p:cNvPr>
          <p:cNvPicPr>
            <a:picLocks noChangeAspect="1"/>
          </p:cNvPicPr>
          <p:nvPr/>
        </p:nvPicPr>
        <p:blipFill>
          <a:blip r:embed="rId2"/>
          <a:stretch>
            <a:fillRect/>
          </a:stretch>
        </p:blipFill>
        <p:spPr>
          <a:xfrm>
            <a:off x="452284" y="3174631"/>
            <a:ext cx="1500343" cy="1239772"/>
          </a:xfrm>
          <a:prstGeom prst="rect">
            <a:avLst/>
          </a:prstGeom>
        </p:spPr>
      </p:pic>
      <p:sp>
        <p:nvSpPr>
          <p:cNvPr id="2" name="Title 1">
            <a:extLst>
              <a:ext uri="{FF2B5EF4-FFF2-40B4-BE49-F238E27FC236}">
                <a16:creationId xmlns:a16="http://schemas.microsoft.com/office/drawing/2014/main" id="{9CB75A2F-5AB5-AEFF-2384-FCA770905D8C}"/>
              </a:ext>
            </a:extLst>
          </p:cNvPr>
          <p:cNvSpPr>
            <a:spLocks noGrp="1"/>
          </p:cNvSpPr>
          <p:nvPr>
            <p:ph type="title"/>
          </p:nvPr>
        </p:nvSpPr>
        <p:spPr/>
        <p:txBody>
          <a:bodyPr/>
          <a:lstStyle/>
          <a:p>
            <a:r>
              <a:rPr lang="en-US" dirty="0"/>
              <a:t>Data storage – secure &amp; reliable</a:t>
            </a:r>
            <a:endParaRPr lang="nl-BE" dirty="0"/>
          </a:p>
        </p:txBody>
      </p:sp>
      <p:sp>
        <p:nvSpPr>
          <p:cNvPr id="3" name="Content Placeholder 2">
            <a:extLst>
              <a:ext uri="{FF2B5EF4-FFF2-40B4-BE49-F238E27FC236}">
                <a16:creationId xmlns:a16="http://schemas.microsoft.com/office/drawing/2014/main" id="{D74CE888-C3B3-4263-A75C-AD273E35766E}"/>
              </a:ext>
            </a:extLst>
          </p:cNvPr>
          <p:cNvSpPr>
            <a:spLocks noGrp="1"/>
          </p:cNvSpPr>
          <p:nvPr>
            <p:ph idx="1"/>
          </p:nvPr>
        </p:nvSpPr>
        <p:spPr>
          <a:xfrm>
            <a:off x="1656226" y="2045563"/>
            <a:ext cx="9960974" cy="3938548"/>
          </a:xfrm>
        </p:spPr>
        <p:txBody>
          <a:bodyPr>
            <a:normAutofit/>
          </a:bodyPr>
          <a:lstStyle/>
          <a:p>
            <a:pPr marL="0" indent="0">
              <a:buNone/>
            </a:pPr>
            <a:r>
              <a:rPr lang="en-US" dirty="0"/>
              <a:t>Secure = </a:t>
            </a:r>
            <a:r>
              <a:rPr lang="en-GB" dirty="0"/>
              <a:t>Protection from hacking and other attempts of theft</a:t>
            </a:r>
          </a:p>
          <a:p>
            <a:pPr marL="0" indent="0">
              <a:buNone/>
            </a:pPr>
            <a:endParaRPr lang="en-GB" dirty="0"/>
          </a:p>
          <a:p>
            <a:pPr marL="0" indent="0">
              <a:buNone/>
            </a:pPr>
            <a:endParaRPr lang="en-GB" dirty="0"/>
          </a:p>
          <a:p>
            <a:pPr marL="0" indent="0">
              <a:buNone/>
            </a:pPr>
            <a:r>
              <a:rPr lang="en-GB" dirty="0"/>
              <a:t>Reliable = prevent loss by hardware failure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b="1" dirty="0"/>
          </a:p>
          <a:p>
            <a:pPr marL="0" indent="0">
              <a:buNone/>
            </a:pPr>
            <a:endParaRPr lang="nl-BE" dirty="0"/>
          </a:p>
        </p:txBody>
      </p:sp>
      <p:sp>
        <p:nvSpPr>
          <p:cNvPr id="4" name="Slide Number Placeholder 3">
            <a:extLst>
              <a:ext uri="{FF2B5EF4-FFF2-40B4-BE49-F238E27FC236}">
                <a16:creationId xmlns:a16="http://schemas.microsoft.com/office/drawing/2014/main" id="{196F4ABE-E91A-1D5F-87B5-229D8D1D8E0A}"/>
              </a:ext>
            </a:extLst>
          </p:cNvPr>
          <p:cNvSpPr>
            <a:spLocks noGrp="1"/>
          </p:cNvSpPr>
          <p:nvPr>
            <p:ph type="sldNum" sz="quarter" idx="12"/>
          </p:nvPr>
        </p:nvSpPr>
        <p:spPr/>
        <p:txBody>
          <a:bodyPr/>
          <a:lstStyle/>
          <a:p>
            <a:fld id="{CC571AF6-6671-4538-974D-3AEC00AC0B82}" type="slidenum">
              <a:rPr lang="en-GB" smtClean="0"/>
              <a:t>33</a:t>
            </a:fld>
            <a:endParaRPr lang="en-GB"/>
          </a:p>
        </p:txBody>
      </p:sp>
      <p:sp>
        <p:nvSpPr>
          <p:cNvPr id="5" name="Text Placeholder 4">
            <a:extLst>
              <a:ext uri="{FF2B5EF4-FFF2-40B4-BE49-F238E27FC236}">
                <a16:creationId xmlns:a16="http://schemas.microsoft.com/office/drawing/2014/main" id="{98204007-B337-93A3-1C5F-3EF000958DE7}"/>
              </a:ext>
            </a:extLst>
          </p:cNvPr>
          <p:cNvSpPr>
            <a:spLocks noGrp="1"/>
          </p:cNvSpPr>
          <p:nvPr>
            <p:ph type="body" sz="quarter" idx="10"/>
          </p:nvPr>
        </p:nvSpPr>
        <p:spPr/>
        <p:txBody>
          <a:bodyPr/>
          <a:lstStyle/>
          <a:p>
            <a:endParaRPr lang="nl-BE"/>
          </a:p>
        </p:txBody>
      </p:sp>
      <p:grpSp>
        <p:nvGrpSpPr>
          <p:cNvPr id="8" name="Group 7">
            <a:extLst>
              <a:ext uri="{FF2B5EF4-FFF2-40B4-BE49-F238E27FC236}">
                <a16:creationId xmlns:a16="http://schemas.microsoft.com/office/drawing/2014/main" id="{CF9B122F-F9A5-3747-8D55-4A693E405A54}"/>
              </a:ext>
            </a:extLst>
          </p:cNvPr>
          <p:cNvGrpSpPr/>
          <p:nvPr/>
        </p:nvGrpSpPr>
        <p:grpSpPr>
          <a:xfrm>
            <a:off x="452284" y="1418932"/>
            <a:ext cx="1041864" cy="1433791"/>
            <a:chOff x="8383806" y="565339"/>
            <a:chExt cx="3409804" cy="5170614"/>
          </a:xfrm>
        </p:grpSpPr>
        <p:sp>
          <p:nvSpPr>
            <p:cNvPr id="9" name="Block Arc 8">
              <a:extLst>
                <a:ext uri="{FF2B5EF4-FFF2-40B4-BE49-F238E27FC236}">
                  <a16:creationId xmlns:a16="http://schemas.microsoft.com/office/drawing/2014/main" id="{680DBFF5-F05C-B0E1-14E8-EF91D9681F4E}"/>
                </a:ext>
              </a:extLst>
            </p:cNvPr>
            <p:cNvSpPr/>
            <p:nvPr/>
          </p:nvSpPr>
          <p:spPr>
            <a:xfrm>
              <a:off x="8607523" y="565339"/>
              <a:ext cx="2789551" cy="3894117"/>
            </a:xfrm>
            <a:prstGeom prst="blockArc">
              <a:avLst>
                <a:gd name="adj1" fmla="val 10800000"/>
                <a:gd name="adj2" fmla="val 0"/>
                <a:gd name="adj3" fmla="val 15316"/>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C8952FAA-8075-0D69-BD76-D52045A4A2F7}"/>
                </a:ext>
              </a:extLst>
            </p:cNvPr>
            <p:cNvSpPr/>
            <p:nvPr/>
          </p:nvSpPr>
          <p:spPr>
            <a:xfrm>
              <a:off x="8383806" y="2327683"/>
              <a:ext cx="3233394" cy="2485649"/>
            </a:xfrm>
            <a:prstGeom prst="roundRect">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40DA482-97C9-3118-2E1D-E2374CDFB204}"/>
                </a:ext>
              </a:extLst>
            </p:cNvPr>
            <p:cNvSpPr/>
            <p:nvPr/>
          </p:nvSpPr>
          <p:spPr>
            <a:xfrm>
              <a:off x="9712739" y="2884966"/>
              <a:ext cx="575528" cy="721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rapezoid 11">
              <a:extLst>
                <a:ext uri="{FF2B5EF4-FFF2-40B4-BE49-F238E27FC236}">
                  <a16:creationId xmlns:a16="http://schemas.microsoft.com/office/drawing/2014/main" id="{2233E68B-6608-7B6F-497F-396AFB87725C}"/>
                </a:ext>
              </a:extLst>
            </p:cNvPr>
            <p:cNvSpPr/>
            <p:nvPr/>
          </p:nvSpPr>
          <p:spPr>
            <a:xfrm>
              <a:off x="9712739" y="3509610"/>
              <a:ext cx="575528" cy="670560"/>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2948BBB-2C45-C9AA-1FF1-9F7026B256EA}"/>
                </a:ext>
              </a:extLst>
            </p:cNvPr>
            <p:cNvSpPr/>
            <p:nvPr/>
          </p:nvSpPr>
          <p:spPr>
            <a:xfrm>
              <a:off x="10545535" y="4502437"/>
              <a:ext cx="1248075" cy="1233516"/>
            </a:xfrm>
            <a:prstGeom prst="ellipse">
              <a:avLst/>
            </a:prstGeom>
            <a:solidFill>
              <a:schemeClr val="bg1"/>
            </a:solidFill>
            <a:ln w="155575">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243EC52-B29C-FB5F-6A4D-4CF369D54E3A}"/>
                </a:ext>
              </a:extLst>
            </p:cNvPr>
            <p:cNvSpPr/>
            <p:nvPr/>
          </p:nvSpPr>
          <p:spPr>
            <a:xfrm>
              <a:off x="8689760" y="5002572"/>
              <a:ext cx="1848255" cy="286305"/>
            </a:xfrm>
            <a:prstGeom prst="rect">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lowchart: Direct Access Storage 14">
              <a:extLst>
                <a:ext uri="{FF2B5EF4-FFF2-40B4-BE49-F238E27FC236}">
                  <a16:creationId xmlns:a16="http://schemas.microsoft.com/office/drawing/2014/main" id="{7B04BCE2-9D4E-51E2-5A5A-D2C43FA71CF9}"/>
                </a:ext>
              </a:extLst>
            </p:cNvPr>
            <p:cNvSpPr/>
            <p:nvPr/>
          </p:nvSpPr>
          <p:spPr>
            <a:xfrm>
              <a:off x="8455491" y="4964266"/>
              <a:ext cx="303999" cy="531071"/>
            </a:xfrm>
            <a:prstGeom prst="flowChartMagneticDrum">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apezoid 15">
              <a:extLst>
                <a:ext uri="{FF2B5EF4-FFF2-40B4-BE49-F238E27FC236}">
                  <a16:creationId xmlns:a16="http://schemas.microsoft.com/office/drawing/2014/main" id="{8A6B9204-F7E9-A0C1-0815-FED6517A30C5}"/>
                </a:ext>
              </a:extLst>
            </p:cNvPr>
            <p:cNvSpPr/>
            <p:nvPr/>
          </p:nvSpPr>
          <p:spPr>
            <a:xfrm>
              <a:off x="8383806" y="5145724"/>
              <a:ext cx="447371" cy="569837"/>
            </a:xfrm>
            <a:prstGeom prst="trapezoid">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2D4D888A-2475-C9B3-1CE6-9C7FC21C6A6D}"/>
              </a:ext>
            </a:extLst>
          </p:cNvPr>
          <p:cNvGrpSpPr/>
          <p:nvPr/>
        </p:nvGrpSpPr>
        <p:grpSpPr>
          <a:xfrm>
            <a:off x="8642492" y="2847069"/>
            <a:ext cx="2694039" cy="1884345"/>
            <a:chOff x="7344696" y="2530338"/>
            <a:chExt cx="2694039" cy="1884345"/>
          </a:xfrm>
        </p:grpSpPr>
        <p:sp>
          <p:nvSpPr>
            <p:cNvPr id="7" name="Rechthoek: afgeronde hoeken 18">
              <a:extLst>
                <a:ext uri="{FF2B5EF4-FFF2-40B4-BE49-F238E27FC236}">
                  <a16:creationId xmlns:a16="http://schemas.microsoft.com/office/drawing/2014/main" id="{D9060D40-977C-E345-A39B-B0BB5E6F5F94}"/>
                </a:ext>
              </a:extLst>
            </p:cNvPr>
            <p:cNvSpPr/>
            <p:nvPr/>
          </p:nvSpPr>
          <p:spPr>
            <a:xfrm>
              <a:off x="7344696" y="2530338"/>
              <a:ext cx="2694039" cy="188434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7" name="Content Placeholder 2">
              <a:extLst>
                <a:ext uri="{FF2B5EF4-FFF2-40B4-BE49-F238E27FC236}">
                  <a16:creationId xmlns:a16="http://schemas.microsoft.com/office/drawing/2014/main" id="{1BC5A481-DEA5-9430-591B-74A53E9D4C55}"/>
                </a:ext>
              </a:extLst>
            </p:cNvPr>
            <p:cNvSpPr txBox="1">
              <a:spLocks/>
            </p:cNvSpPr>
            <p:nvPr/>
          </p:nvSpPr>
          <p:spPr>
            <a:xfrm>
              <a:off x="7344696" y="2530338"/>
              <a:ext cx="2694039" cy="1864681"/>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a:buChar char="•"/>
                <a:defRPr sz="2800" kern="1200" baseline="0">
                  <a:solidFill>
                    <a:srgbClr val="005E77"/>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5E77"/>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5E77"/>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5E77"/>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GB" sz="2400" dirty="0">
                  <a:solidFill>
                    <a:schemeClr val="bg1"/>
                  </a:solidFill>
                </a:rPr>
                <a:t>Backup</a:t>
              </a:r>
            </a:p>
            <a:p>
              <a:pPr marL="0" indent="0" algn="ctr">
                <a:buNone/>
              </a:pPr>
              <a:r>
                <a:rPr lang="en-GB" sz="2400" dirty="0">
                  <a:solidFill>
                    <a:schemeClr val="bg1"/>
                  </a:solidFill>
                  <a:sym typeface="Wingdings" panose="05000000000000000000" pitchFamily="2" charset="2"/>
                </a:rPr>
                <a:t>Mirroring</a:t>
              </a:r>
            </a:p>
            <a:p>
              <a:pPr marL="0" indent="0" algn="ctr">
                <a:buNone/>
              </a:pPr>
              <a:r>
                <a:rPr lang="en-GB" sz="2400" dirty="0">
                  <a:solidFill>
                    <a:schemeClr val="bg1"/>
                  </a:solidFill>
                  <a:sym typeface="Wingdings" panose="05000000000000000000" pitchFamily="2" charset="2"/>
                </a:rPr>
                <a:t>Snapshot</a:t>
              </a:r>
              <a:endParaRPr lang="en-US" dirty="0">
                <a:solidFill>
                  <a:schemeClr val="bg1"/>
                </a:solidFill>
                <a:sym typeface="Wingdings" panose="05000000000000000000" pitchFamily="2" charset="2"/>
              </a:endParaRPr>
            </a:p>
          </p:txBody>
        </p:sp>
      </p:grpSp>
    </p:spTree>
    <p:extLst>
      <p:ext uri="{BB962C8B-B14F-4D97-AF65-F5344CB8AC3E}">
        <p14:creationId xmlns:p14="http://schemas.microsoft.com/office/powerpoint/2010/main" val="145528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01A10-8867-6697-5D34-6238B3714716}"/>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A855F475-E9EC-4C93-5532-02EC4539EC71}"/>
              </a:ext>
            </a:extLst>
          </p:cNvPr>
          <p:cNvPicPr>
            <a:picLocks noChangeAspect="1"/>
          </p:cNvPicPr>
          <p:nvPr/>
        </p:nvPicPr>
        <p:blipFill>
          <a:blip r:embed="rId2"/>
          <a:stretch>
            <a:fillRect/>
          </a:stretch>
        </p:blipFill>
        <p:spPr>
          <a:xfrm>
            <a:off x="452284" y="3174631"/>
            <a:ext cx="1500343" cy="1239772"/>
          </a:xfrm>
          <a:prstGeom prst="rect">
            <a:avLst/>
          </a:prstGeom>
        </p:spPr>
      </p:pic>
      <p:sp>
        <p:nvSpPr>
          <p:cNvPr id="2" name="Title 1">
            <a:extLst>
              <a:ext uri="{FF2B5EF4-FFF2-40B4-BE49-F238E27FC236}">
                <a16:creationId xmlns:a16="http://schemas.microsoft.com/office/drawing/2014/main" id="{BF58C5D7-1579-B1DC-8AF6-3A5666D37C43}"/>
              </a:ext>
            </a:extLst>
          </p:cNvPr>
          <p:cNvSpPr>
            <a:spLocks noGrp="1"/>
          </p:cNvSpPr>
          <p:nvPr>
            <p:ph type="title"/>
          </p:nvPr>
        </p:nvSpPr>
        <p:spPr/>
        <p:txBody>
          <a:bodyPr/>
          <a:lstStyle/>
          <a:p>
            <a:r>
              <a:rPr lang="en-US" dirty="0"/>
              <a:t>Data storage – secure &amp; reliable</a:t>
            </a:r>
            <a:endParaRPr lang="nl-BE" dirty="0"/>
          </a:p>
        </p:txBody>
      </p:sp>
      <p:sp>
        <p:nvSpPr>
          <p:cNvPr id="3" name="Content Placeholder 2">
            <a:extLst>
              <a:ext uri="{FF2B5EF4-FFF2-40B4-BE49-F238E27FC236}">
                <a16:creationId xmlns:a16="http://schemas.microsoft.com/office/drawing/2014/main" id="{1E0632B6-D720-E556-D245-ADB2184B8FEC}"/>
              </a:ext>
            </a:extLst>
          </p:cNvPr>
          <p:cNvSpPr>
            <a:spLocks noGrp="1"/>
          </p:cNvSpPr>
          <p:nvPr>
            <p:ph idx="1"/>
          </p:nvPr>
        </p:nvSpPr>
        <p:spPr>
          <a:xfrm>
            <a:off x="1656226" y="2045563"/>
            <a:ext cx="9960974" cy="3938548"/>
          </a:xfrm>
        </p:spPr>
        <p:txBody>
          <a:bodyPr>
            <a:normAutofit/>
          </a:bodyPr>
          <a:lstStyle/>
          <a:p>
            <a:pPr marL="0" indent="0">
              <a:buNone/>
            </a:pPr>
            <a:r>
              <a:rPr lang="en-US" dirty="0"/>
              <a:t>Secure = </a:t>
            </a:r>
            <a:r>
              <a:rPr lang="en-GB" dirty="0"/>
              <a:t>Protection from hacking and other attempts of theft</a:t>
            </a:r>
          </a:p>
          <a:p>
            <a:pPr marL="0" indent="0">
              <a:buNone/>
            </a:pPr>
            <a:endParaRPr lang="en-GB" dirty="0"/>
          </a:p>
          <a:p>
            <a:pPr marL="0" indent="0">
              <a:buNone/>
            </a:pPr>
            <a:endParaRPr lang="en-GB" dirty="0"/>
          </a:p>
          <a:p>
            <a:pPr marL="0" indent="0">
              <a:buNone/>
            </a:pPr>
            <a:r>
              <a:rPr lang="en-GB" dirty="0"/>
              <a:t>Reliable = prevent loss by hardware failure</a:t>
            </a:r>
          </a:p>
          <a:p>
            <a:pPr marL="0" indent="0">
              <a:buNone/>
            </a:pPr>
            <a:endParaRPr lang="en-GB" dirty="0"/>
          </a:p>
          <a:p>
            <a:pPr marL="0" indent="0">
              <a:buNone/>
            </a:pPr>
            <a:endParaRPr lang="en-GB" dirty="0"/>
          </a:p>
          <a:p>
            <a:pPr marL="0" indent="0">
              <a:buNone/>
            </a:pPr>
            <a:r>
              <a:rPr lang="en-GB" b="1" dirty="0"/>
              <a:t>Use storage approved by your institution</a:t>
            </a:r>
            <a:endParaRPr lang="en-GB" dirty="0"/>
          </a:p>
          <a:p>
            <a:pPr marL="0" indent="0">
              <a:buNone/>
            </a:pPr>
            <a:endParaRPr lang="en-GB" dirty="0"/>
          </a:p>
          <a:p>
            <a:pPr marL="0" indent="0">
              <a:buNone/>
            </a:pPr>
            <a:endParaRPr lang="en-GB" dirty="0"/>
          </a:p>
          <a:p>
            <a:pPr marL="0" indent="0">
              <a:buNone/>
            </a:pPr>
            <a:endParaRPr lang="en-GB" b="1" dirty="0"/>
          </a:p>
          <a:p>
            <a:pPr marL="0" indent="0">
              <a:buNone/>
            </a:pPr>
            <a:endParaRPr lang="nl-BE" dirty="0"/>
          </a:p>
        </p:txBody>
      </p:sp>
      <p:sp>
        <p:nvSpPr>
          <p:cNvPr id="4" name="Slide Number Placeholder 3">
            <a:extLst>
              <a:ext uri="{FF2B5EF4-FFF2-40B4-BE49-F238E27FC236}">
                <a16:creationId xmlns:a16="http://schemas.microsoft.com/office/drawing/2014/main" id="{E53FB707-BBCA-C27E-BCEF-94F7A08B4CE3}"/>
              </a:ext>
            </a:extLst>
          </p:cNvPr>
          <p:cNvSpPr>
            <a:spLocks noGrp="1"/>
          </p:cNvSpPr>
          <p:nvPr>
            <p:ph type="sldNum" sz="quarter" idx="12"/>
          </p:nvPr>
        </p:nvSpPr>
        <p:spPr/>
        <p:txBody>
          <a:bodyPr/>
          <a:lstStyle/>
          <a:p>
            <a:fld id="{CC571AF6-6671-4538-974D-3AEC00AC0B82}" type="slidenum">
              <a:rPr lang="en-GB" smtClean="0"/>
              <a:t>34</a:t>
            </a:fld>
            <a:endParaRPr lang="en-GB"/>
          </a:p>
        </p:txBody>
      </p:sp>
      <p:sp>
        <p:nvSpPr>
          <p:cNvPr id="5" name="Text Placeholder 4">
            <a:extLst>
              <a:ext uri="{FF2B5EF4-FFF2-40B4-BE49-F238E27FC236}">
                <a16:creationId xmlns:a16="http://schemas.microsoft.com/office/drawing/2014/main" id="{13D2A3C6-81F0-DBE0-31BC-9E1221DD5140}"/>
              </a:ext>
            </a:extLst>
          </p:cNvPr>
          <p:cNvSpPr>
            <a:spLocks noGrp="1"/>
          </p:cNvSpPr>
          <p:nvPr>
            <p:ph type="body" sz="quarter" idx="10"/>
          </p:nvPr>
        </p:nvSpPr>
        <p:spPr/>
        <p:txBody>
          <a:bodyPr/>
          <a:lstStyle/>
          <a:p>
            <a:endParaRPr lang="nl-BE"/>
          </a:p>
        </p:txBody>
      </p:sp>
      <p:grpSp>
        <p:nvGrpSpPr>
          <p:cNvPr id="8" name="Group 7">
            <a:extLst>
              <a:ext uri="{FF2B5EF4-FFF2-40B4-BE49-F238E27FC236}">
                <a16:creationId xmlns:a16="http://schemas.microsoft.com/office/drawing/2014/main" id="{E70C6715-4B9D-C768-4176-870AA161AD98}"/>
              </a:ext>
            </a:extLst>
          </p:cNvPr>
          <p:cNvGrpSpPr/>
          <p:nvPr/>
        </p:nvGrpSpPr>
        <p:grpSpPr>
          <a:xfrm>
            <a:off x="452284" y="1418932"/>
            <a:ext cx="1041864" cy="1433791"/>
            <a:chOff x="8383806" y="565339"/>
            <a:chExt cx="3409804" cy="5170614"/>
          </a:xfrm>
        </p:grpSpPr>
        <p:sp>
          <p:nvSpPr>
            <p:cNvPr id="9" name="Block Arc 8">
              <a:extLst>
                <a:ext uri="{FF2B5EF4-FFF2-40B4-BE49-F238E27FC236}">
                  <a16:creationId xmlns:a16="http://schemas.microsoft.com/office/drawing/2014/main" id="{8679FD62-F3F0-FB0F-7CC5-27072EA59FAC}"/>
                </a:ext>
              </a:extLst>
            </p:cNvPr>
            <p:cNvSpPr/>
            <p:nvPr/>
          </p:nvSpPr>
          <p:spPr>
            <a:xfrm>
              <a:off x="8607523" y="565339"/>
              <a:ext cx="2789551" cy="3894117"/>
            </a:xfrm>
            <a:prstGeom prst="blockArc">
              <a:avLst>
                <a:gd name="adj1" fmla="val 10800000"/>
                <a:gd name="adj2" fmla="val 0"/>
                <a:gd name="adj3" fmla="val 15316"/>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1C3133DC-1AAA-DE7C-5CBF-FEB72EA83A40}"/>
                </a:ext>
              </a:extLst>
            </p:cNvPr>
            <p:cNvSpPr/>
            <p:nvPr/>
          </p:nvSpPr>
          <p:spPr>
            <a:xfrm>
              <a:off x="8383806" y="2327683"/>
              <a:ext cx="3233394" cy="2485649"/>
            </a:xfrm>
            <a:prstGeom prst="roundRect">
              <a:avLst/>
            </a:prstGeom>
            <a:solidFill>
              <a:srgbClr val="304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84C42DCC-E3DD-5A6F-7DB7-8E6193EB7479}"/>
                </a:ext>
              </a:extLst>
            </p:cNvPr>
            <p:cNvSpPr/>
            <p:nvPr/>
          </p:nvSpPr>
          <p:spPr>
            <a:xfrm>
              <a:off x="9712739" y="2884966"/>
              <a:ext cx="575528" cy="721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rapezoid 11">
              <a:extLst>
                <a:ext uri="{FF2B5EF4-FFF2-40B4-BE49-F238E27FC236}">
                  <a16:creationId xmlns:a16="http://schemas.microsoft.com/office/drawing/2014/main" id="{1CF20462-DB56-D4B4-7878-C2F3D169D4A4}"/>
                </a:ext>
              </a:extLst>
            </p:cNvPr>
            <p:cNvSpPr/>
            <p:nvPr/>
          </p:nvSpPr>
          <p:spPr>
            <a:xfrm>
              <a:off x="9712739" y="3509610"/>
              <a:ext cx="575528" cy="670560"/>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A56806A0-3112-2870-7A75-732E1DBFD7BF}"/>
                </a:ext>
              </a:extLst>
            </p:cNvPr>
            <p:cNvSpPr/>
            <p:nvPr/>
          </p:nvSpPr>
          <p:spPr>
            <a:xfrm>
              <a:off x="10545535" y="4502437"/>
              <a:ext cx="1248075" cy="1233516"/>
            </a:xfrm>
            <a:prstGeom prst="ellipse">
              <a:avLst/>
            </a:prstGeom>
            <a:solidFill>
              <a:schemeClr val="bg1"/>
            </a:solidFill>
            <a:ln w="155575">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349A9F4-CFF8-B110-A496-130173295A7E}"/>
                </a:ext>
              </a:extLst>
            </p:cNvPr>
            <p:cNvSpPr/>
            <p:nvPr/>
          </p:nvSpPr>
          <p:spPr>
            <a:xfrm>
              <a:off x="8689760" y="5002572"/>
              <a:ext cx="1848255" cy="286305"/>
            </a:xfrm>
            <a:prstGeom prst="rect">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lowchart: Direct Access Storage 14">
              <a:extLst>
                <a:ext uri="{FF2B5EF4-FFF2-40B4-BE49-F238E27FC236}">
                  <a16:creationId xmlns:a16="http://schemas.microsoft.com/office/drawing/2014/main" id="{E03A2A11-B6F2-CF73-EAA0-A2E12C1E17E7}"/>
                </a:ext>
              </a:extLst>
            </p:cNvPr>
            <p:cNvSpPr/>
            <p:nvPr/>
          </p:nvSpPr>
          <p:spPr>
            <a:xfrm>
              <a:off x="8455491" y="4964266"/>
              <a:ext cx="303999" cy="531071"/>
            </a:xfrm>
            <a:prstGeom prst="flowChartMagneticDrum">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apezoid 15">
              <a:extLst>
                <a:ext uri="{FF2B5EF4-FFF2-40B4-BE49-F238E27FC236}">
                  <a16:creationId xmlns:a16="http://schemas.microsoft.com/office/drawing/2014/main" id="{5E4DB077-7944-06DC-11A1-C1B9CFF92CFB}"/>
                </a:ext>
              </a:extLst>
            </p:cNvPr>
            <p:cNvSpPr/>
            <p:nvPr/>
          </p:nvSpPr>
          <p:spPr>
            <a:xfrm>
              <a:off x="8383806" y="5145724"/>
              <a:ext cx="447371" cy="569837"/>
            </a:xfrm>
            <a:prstGeom prst="trapezoid">
              <a:avLst/>
            </a:prstGeom>
            <a:solidFill>
              <a:srgbClr val="D5A534"/>
            </a:solidFill>
            <a:ln>
              <a:solidFill>
                <a:srgbClr val="D5A5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7322767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46F60-DBBD-7A81-80DB-6A569AF15EB1}"/>
              </a:ext>
            </a:extLst>
          </p:cNvPr>
          <p:cNvSpPr>
            <a:spLocks noGrp="1"/>
          </p:cNvSpPr>
          <p:nvPr>
            <p:ph type="title"/>
          </p:nvPr>
        </p:nvSpPr>
        <p:spPr>
          <a:xfrm>
            <a:off x="576000" y="576000"/>
            <a:ext cx="11041200" cy="1325563"/>
          </a:xfrm>
        </p:spPr>
        <p:txBody>
          <a:bodyPr anchor="t">
            <a:normAutofit/>
          </a:bodyPr>
          <a:lstStyle/>
          <a:p>
            <a:r>
              <a:rPr lang="en-US" dirty="0"/>
              <a:t>Physical data</a:t>
            </a:r>
            <a:endParaRPr lang="nl-BE" dirty="0"/>
          </a:p>
        </p:txBody>
      </p:sp>
      <p:sp>
        <p:nvSpPr>
          <p:cNvPr id="3" name="Content Placeholder 2">
            <a:extLst>
              <a:ext uri="{FF2B5EF4-FFF2-40B4-BE49-F238E27FC236}">
                <a16:creationId xmlns:a16="http://schemas.microsoft.com/office/drawing/2014/main" id="{EE31CF86-2EB8-F827-1233-25DB7F56FD6D}"/>
              </a:ext>
            </a:extLst>
          </p:cNvPr>
          <p:cNvSpPr>
            <a:spLocks noGrp="1"/>
          </p:cNvSpPr>
          <p:nvPr>
            <p:ph idx="1"/>
          </p:nvPr>
        </p:nvSpPr>
        <p:spPr>
          <a:xfrm>
            <a:off x="576000" y="2045563"/>
            <a:ext cx="5520000" cy="3938548"/>
          </a:xfrm>
        </p:spPr>
        <p:txBody>
          <a:bodyPr>
            <a:normAutofit/>
          </a:bodyPr>
          <a:lstStyle/>
          <a:p>
            <a:pPr marL="0" indent="0">
              <a:buNone/>
            </a:pPr>
            <a:r>
              <a:rPr lang="en-US" dirty="0"/>
              <a:t>Store physical data and documentation appropriately</a:t>
            </a:r>
          </a:p>
          <a:p>
            <a:pPr lvl="1"/>
            <a:r>
              <a:rPr lang="en-US" dirty="0"/>
              <a:t>Tubes, … </a:t>
            </a:r>
            <a:r>
              <a:rPr lang="en-US" dirty="0">
                <a:sym typeface="Wingdings" panose="05000000000000000000" pitchFamily="2" charset="2"/>
              </a:rPr>
              <a:t></a:t>
            </a:r>
            <a:r>
              <a:rPr lang="en-US" dirty="0"/>
              <a:t> freezer, fridge, …</a:t>
            </a:r>
          </a:p>
          <a:p>
            <a:pPr lvl="1"/>
            <a:r>
              <a:rPr lang="en-US" dirty="0"/>
              <a:t>Paper ICF, … </a:t>
            </a:r>
            <a:r>
              <a:rPr lang="en-US" dirty="0">
                <a:sym typeface="Wingdings" panose="05000000000000000000" pitchFamily="2" charset="2"/>
              </a:rPr>
              <a:t></a:t>
            </a:r>
            <a:r>
              <a:rPr lang="en-US" dirty="0"/>
              <a:t> filing cabinet (locked!)</a:t>
            </a:r>
          </a:p>
          <a:p>
            <a:pPr lvl="1"/>
            <a:endParaRPr lang="en-US" dirty="0"/>
          </a:p>
          <a:p>
            <a:pPr marL="0" indent="0">
              <a:buNone/>
            </a:pPr>
            <a:endParaRPr lang="en-US" dirty="0"/>
          </a:p>
          <a:p>
            <a:pPr marL="0" indent="0">
              <a:buNone/>
            </a:pPr>
            <a:r>
              <a:rPr lang="en-US" dirty="0"/>
              <a:t>! Check security requirements</a:t>
            </a:r>
          </a:p>
          <a:p>
            <a:pPr marL="0" indent="0">
              <a:buNone/>
            </a:pPr>
            <a:r>
              <a:rPr lang="en-US" dirty="0"/>
              <a:t>! Think about copies</a:t>
            </a:r>
          </a:p>
          <a:p>
            <a:endParaRPr lang="nl-BE" dirty="0"/>
          </a:p>
        </p:txBody>
      </p:sp>
      <p:sp>
        <p:nvSpPr>
          <p:cNvPr id="4" name="Slide Number Placeholder 3">
            <a:extLst>
              <a:ext uri="{FF2B5EF4-FFF2-40B4-BE49-F238E27FC236}">
                <a16:creationId xmlns:a16="http://schemas.microsoft.com/office/drawing/2014/main" id="{07B3B85C-F669-0361-B78C-65F2B4F7B57B}"/>
              </a:ext>
            </a:extLst>
          </p:cNvPr>
          <p:cNvSpPr>
            <a:spLocks noGrp="1"/>
          </p:cNvSpPr>
          <p:nvPr>
            <p:ph type="sldNum" sz="quarter" idx="12"/>
          </p:nvPr>
        </p:nvSpPr>
        <p:spPr>
          <a:xfrm>
            <a:off x="576000" y="6218376"/>
            <a:ext cx="648000" cy="648002"/>
          </a:xfrm>
        </p:spPr>
        <p:txBody>
          <a:bodyPr anchor="ctr">
            <a:normAutofit/>
          </a:bodyPr>
          <a:lstStyle/>
          <a:p>
            <a:pPr>
              <a:spcAft>
                <a:spcPts val="600"/>
              </a:spcAft>
            </a:pPr>
            <a:fld id="{CC571AF6-6671-4538-974D-3AEC00AC0B82}" type="slidenum">
              <a:rPr lang="en-GB" smtClean="0"/>
              <a:pPr>
                <a:spcAft>
                  <a:spcPts val="600"/>
                </a:spcAft>
              </a:pPr>
              <a:t>35</a:t>
            </a:fld>
            <a:endParaRPr lang="en-GB"/>
          </a:p>
        </p:txBody>
      </p:sp>
      <p:pic>
        <p:nvPicPr>
          <p:cNvPr id="6" name="Picture 5" descr="A mouse next to a test tube rack&#10;&#10;AI-generated content may be incorrect.">
            <a:extLst>
              <a:ext uri="{FF2B5EF4-FFF2-40B4-BE49-F238E27FC236}">
                <a16:creationId xmlns:a16="http://schemas.microsoft.com/office/drawing/2014/main" id="{59165303-B6B7-808A-695A-E638FF7A300E}"/>
              </a:ext>
            </a:extLst>
          </p:cNvPr>
          <p:cNvPicPr>
            <a:picLocks noChangeAspect="1"/>
          </p:cNvPicPr>
          <p:nvPr/>
        </p:nvPicPr>
        <p:blipFill>
          <a:blip r:embed="rId2"/>
          <a:srcRect r="8051" b="-1"/>
          <a:stretch>
            <a:fillRect/>
          </a:stretch>
        </p:blipFill>
        <p:spPr>
          <a:xfrm>
            <a:off x="6191850" y="2045563"/>
            <a:ext cx="5425350" cy="3938548"/>
          </a:xfrm>
          <a:prstGeom prst="rect">
            <a:avLst/>
          </a:prstGeom>
          <a:noFill/>
        </p:spPr>
      </p:pic>
    </p:spTree>
    <p:extLst>
      <p:ext uri="{BB962C8B-B14F-4D97-AF65-F5344CB8AC3E}">
        <p14:creationId xmlns:p14="http://schemas.microsoft.com/office/powerpoint/2010/main" val="487811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B458-D8C7-EAEA-C6DA-7EA0D3094F17}"/>
              </a:ext>
            </a:extLst>
          </p:cNvPr>
          <p:cNvSpPr>
            <a:spLocks noGrp="1"/>
          </p:cNvSpPr>
          <p:nvPr>
            <p:ph type="title"/>
          </p:nvPr>
        </p:nvSpPr>
        <p:spPr/>
        <p:txBody>
          <a:bodyPr/>
          <a:lstStyle/>
          <a:p>
            <a:r>
              <a:rPr lang="en-US" dirty="0"/>
              <a:t>Digital data</a:t>
            </a:r>
            <a:endParaRPr lang="nl-BE" dirty="0"/>
          </a:p>
        </p:txBody>
      </p:sp>
      <p:sp>
        <p:nvSpPr>
          <p:cNvPr id="3" name="Content Placeholder 2">
            <a:extLst>
              <a:ext uri="{FF2B5EF4-FFF2-40B4-BE49-F238E27FC236}">
                <a16:creationId xmlns:a16="http://schemas.microsoft.com/office/drawing/2014/main" id="{57520E68-0A45-70E4-8201-ABBA9A68B09F}"/>
              </a:ext>
            </a:extLst>
          </p:cNvPr>
          <p:cNvSpPr>
            <a:spLocks noGrp="1"/>
          </p:cNvSpPr>
          <p:nvPr>
            <p:ph idx="1"/>
          </p:nvPr>
        </p:nvSpPr>
        <p:spPr/>
        <p:txBody>
          <a:bodyPr/>
          <a:lstStyle/>
          <a:p>
            <a:r>
              <a:rPr lang="en-US" dirty="0"/>
              <a:t>Institutional storage!</a:t>
            </a:r>
          </a:p>
          <a:p>
            <a:endParaRPr lang="en-US" dirty="0"/>
          </a:p>
          <a:p>
            <a:r>
              <a:rPr lang="en-US" dirty="0"/>
              <a:t>Use </a:t>
            </a:r>
            <a:r>
              <a:rPr lang="en-US" b="1" dirty="0"/>
              <a:t>project/group-bound </a:t>
            </a:r>
            <a:r>
              <a:rPr lang="en-US" dirty="0"/>
              <a:t>storage locations:​</a:t>
            </a:r>
          </a:p>
          <a:p>
            <a:pPr lvl="1"/>
            <a:r>
              <a:rPr lang="en-US" dirty="0"/>
              <a:t>Primary copy always in secure project/group storage location.​</a:t>
            </a:r>
          </a:p>
          <a:p>
            <a:pPr lvl="1"/>
            <a:r>
              <a:rPr lang="en-US" dirty="0"/>
              <a:t>Avoid personal storage like OneDrive, I: drive, or local drives as primary storage.​</a:t>
            </a:r>
          </a:p>
          <a:p>
            <a:pPr lvl="1"/>
            <a:r>
              <a:rPr lang="en-US" dirty="0"/>
              <a:t>Okay to use local copy for processing</a:t>
            </a:r>
          </a:p>
          <a:p>
            <a:pPr lvl="1"/>
            <a:r>
              <a:rPr lang="en-US" dirty="0"/>
              <a:t>Don’t store sensitive data on portable devices (USB / Hard drives)!</a:t>
            </a:r>
          </a:p>
          <a:p>
            <a:endParaRPr lang="nl-BE" dirty="0"/>
          </a:p>
        </p:txBody>
      </p:sp>
      <p:sp>
        <p:nvSpPr>
          <p:cNvPr id="4" name="Slide Number Placeholder 3">
            <a:extLst>
              <a:ext uri="{FF2B5EF4-FFF2-40B4-BE49-F238E27FC236}">
                <a16:creationId xmlns:a16="http://schemas.microsoft.com/office/drawing/2014/main" id="{B77F06E2-1D7F-40BE-E292-AB11C4E12754}"/>
              </a:ext>
            </a:extLst>
          </p:cNvPr>
          <p:cNvSpPr>
            <a:spLocks noGrp="1"/>
          </p:cNvSpPr>
          <p:nvPr>
            <p:ph type="sldNum" sz="quarter" idx="12"/>
          </p:nvPr>
        </p:nvSpPr>
        <p:spPr/>
        <p:txBody>
          <a:bodyPr/>
          <a:lstStyle/>
          <a:p>
            <a:fld id="{85114D95-D6A6-084A-9D9C-617B45E258AD}" type="slidenum">
              <a:rPr lang="nl-NL" smtClean="0"/>
              <a:t>36</a:t>
            </a:fld>
            <a:endParaRPr lang="nl-NL"/>
          </a:p>
        </p:txBody>
      </p:sp>
    </p:spTree>
    <p:extLst>
      <p:ext uri="{BB962C8B-B14F-4D97-AF65-F5344CB8AC3E}">
        <p14:creationId xmlns:p14="http://schemas.microsoft.com/office/powerpoint/2010/main" val="221773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66C20-19F2-CE58-C0FD-1CC0999BDA71}"/>
              </a:ext>
            </a:extLst>
          </p:cNvPr>
          <p:cNvSpPr>
            <a:spLocks noGrp="1"/>
          </p:cNvSpPr>
          <p:nvPr>
            <p:ph type="title"/>
          </p:nvPr>
        </p:nvSpPr>
        <p:spPr>
          <a:xfrm>
            <a:off x="838200" y="365125"/>
            <a:ext cx="10515600" cy="1325563"/>
          </a:xfrm>
        </p:spPr>
        <p:txBody>
          <a:bodyPr>
            <a:normAutofit/>
          </a:bodyPr>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4000" dirty="0">
                <a:solidFill>
                  <a:schemeClr val="tx2"/>
                </a:solidFill>
              </a:rPr>
              <a:t>Data Core storage solutions</a:t>
            </a:r>
          </a:p>
        </p:txBody>
      </p:sp>
      <p:sp>
        <p:nvSpPr>
          <p:cNvPr id="3" name="Content Placeholder 2">
            <a:extLst>
              <a:ext uri="{FF2B5EF4-FFF2-40B4-BE49-F238E27FC236}">
                <a16:creationId xmlns:a16="http://schemas.microsoft.com/office/drawing/2014/main" id="{E1EFC610-837A-4F99-D9F1-2F82EB14B31F}"/>
              </a:ext>
            </a:extLst>
          </p:cNvPr>
          <p:cNvSpPr>
            <a:spLocks noGrp="1"/>
          </p:cNvSpPr>
          <p:nvPr>
            <p:ph sz="quarter" idx="10"/>
          </p:nvPr>
        </p:nvSpPr>
        <p:spPr>
          <a:xfrm>
            <a:off x="838200" y="1792288"/>
            <a:ext cx="10515600" cy="4700587"/>
          </a:xfrm>
        </p:spPr>
        <p:txBody>
          <a:bodyPr lIns="64294" tIns="32147" rIns="64294" bIns="32147" anchor="t"/>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dirty="0"/>
              <a:t>Ideal for large files</a:t>
            </a:r>
          </a:p>
          <a:p>
            <a:r>
              <a:rPr lang="en-US" dirty="0"/>
              <a:t>Ideal for collaborations </a:t>
            </a:r>
            <a:br>
              <a:rPr lang="en-US" dirty="0"/>
            </a:br>
            <a:r>
              <a:rPr lang="en-US" dirty="0"/>
              <a:t>between departments</a:t>
            </a:r>
          </a:p>
          <a:p>
            <a:endParaRPr lang="en-US" dirty="0"/>
          </a:p>
          <a:p>
            <a:endParaRPr lang="en-US" dirty="0"/>
          </a:p>
          <a:p>
            <a:endParaRPr lang="en-US" dirty="0"/>
          </a:p>
          <a:p>
            <a:r>
              <a:rPr lang="en-US" dirty="0"/>
              <a:t>More info? </a:t>
            </a:r>
            <a:br>
              <a:rPr lang="en-US" dirty="0"/>
            </a:br>
            <a:r>
              <a:rPr lang="it-IT" dirty="0"/>
              <a:t>     </a:t>
            </a:r>
            <a:r>
              <a:rPr lang="it-IT" dirty="0">
                <a:hlinkClick r:id="rId3"/>
              </a:rPr>
              <a:t>Data Storage | VIB Data Core Documentation</a:t>
            </a:r>
            <a:endParaRPr lang="it-IT" dirty="0"/>
          </a:p>
          <a:p>
            <a:pPr indent="0">
              <a:buNone/>
            </a:pPr>
            <a:r>
              <a:rPr lang="en-US" dirty="0"/>
              <a:t>     </a:t>
            </a:r>
            <a:r>
              <a:rPr lang="en-US" dirty="0">
                <a:hlinkClick r:id="rId4"/>
              </a:rPr>
              <a:t>datacore.help@vib.be</a:t>
            </a:r>
            <a:r>
              <a:rPr lang="en-US" dirty="0"/>
              <a:t> </a:t>
            </a:r>
            <a:endParaRPr lang="en-BE" dirty="0"/>
          </a:p>
        </p:txBody>
      </p:sp>
      <p:pic>
        <p:nvPicPr>
          <p:cNvPr id="5" name="Picture 4">
            <a:extLst>
              <a:ext uri="{FF2B5EF4-FFF2-40B4-BE49-F238E27FC236}">
                <a16:creationId xmlns:a16="http://schemas.microsoft.com/office/drawing/2014/main" id="{9E92D848-0853-D886-B2F7-2C3800DBF201}"/>
              </a:ext>
            </a:extLst>
          </p:cNvPr>
          <p:cNvPicPr>
            <a:picLocks noChangeAspect="1"/>
          </p:cNvPicPr>
          <p:nvPr/>
        </p:nvPicPr>
        <p:blipFill>
          <a:blip r:embed="rId5"/>
          <a:stretch>
            <a:fillRect/>
          </a:stretch>
        </p:blipFill>
        <p:spPr>
          <a:xfrm>
            <a:off x="5545427" y="2260568"/>
            <a:ext cx="6095628" cy="3386598"/>
          </a:xfrm>
          <a:prstGeom prst="rect">
            <a:avLst/>
          </a:prstGeom>
        </p:spPr>
      </p:pic>
      <p:pic>
        <p:nvPicPr>
          <p:cNvPr id="7" name="Graphic 6" descr="Envelope with solid fill">
            <a:extLst>
              <a:ext uri="{FF2B5EF4-FFF2-40B4-BE49-F238E27FC236}">
                <a16:creationId xmlns:a16="http://schemas.microsoft.com/office/drawing/2014/main" id="{F4178F79-4C45-C71B-BBA3-C757BB20AA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8521" y="6217681"/>
            <a:ext cx="349024" cy="349024"/>
          </a:xfrm>
          <a:prstGeom prst="rect">
            <a:avLst/>
          </a:prstGeom>
        </p:spPr>
      </p:pic>
      <p:pic>
        <p:nvPicPr>
          <p:cNvPr id="9" name="Graphic 8" descr="Internet with solid fill">
            <a:extLst>
              <a:ext uri="{FF2B5EF4-FFF2-40B4-BE49-F238E27FC236}">
                <a16:creationId xmlns:a16="http://schemas.microsoft.com/office/drawing/2014/main" id="{880FEDDD-ECD9-F1D2-F1BD-E4D87271025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8521" y="5647166"/>
            <a:ext cx="349024" cy="349024"/>
          </a:xfrm>
          <a:prstGeom prst="rect">
            <a:avLst/>
          </a:prstGeom>
        </p:spPr>
      </p:pic>
    </p:spTree>
    <p:extLst>
      <p:ext uri="{BB962C8B-B14F-4D97-AF65-F5344CB8AC3E}">
        <p14:creationId xmlns:p14="http://schemas.microsoft.com/office/powerpoint/2010/main" val="3431814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2F8F-B373-B00E-9C3F-D4F1DFBC6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40D8B-A4A0-9817-4130-84506A4308C7}"/>
              </a:ext>
            </a:extLst>
          </p:cNvPr>
          <p:cNvSpPr>
            <a:spLocks noGrp="1"/>
          </p:cNvSpPr>
          <p:nvPr>
            <p:ph type="title"/>
          </p:nvPr>
        </p:nvSpPr>
        <p:spPr/>
        <p:txBody>
          <a:bodyPr/>
          <a:lstStyle/>
          <a:p>
            <a:r>
              <a:rPr lang="en-US" dirty="0"/>
              <a:t>Exercise 6: add storage to dataflow</a:t>
            </a:r>
            <a:endParaRPr lang="nl-BE" dirty="0"/>
          </a:p>
        </p:txBody>
      </p:sp>
      <p:sp>
        <p:nvSpPr>
          <p:cNvPr id="3" name="Content Placeholder 2">
            <a:extLst>
              <a:ext uri="{FF2B5EF4-FFF2-40B4-BE49-F238E27FC236}">
                <a16:creationId xmlns:a16="http://schemas.microsoft.com/office/drawing/2014/main" id="{95349AEF-D1DE-5926-1126-07B9F255CD9C}"/>
              </a:ext>
            </a:extLst>
          </p:cNvPr>
          <p:cNvSpPr>
            <a:spLocks noGrp="1"/>
          </p:cNvSpPr>
          <p:nvPr>
            <p:ph idx="1"/>
          </p:nvPr>
        </p:nvSpPr>
        <p:spPr/>
        <p:txBody>
          <a:bodyPr>
            <a:normAutofit/>
          </a:bodyPr>
          <a:lstStyle/>
          <a:p>
            <a:pPr marL="0" lvl="0" indent="0" fontAlgn="base">
              <a:buNone/>
            </a:pPr>
            <a:r>
              <a:rPr lang="en-US" dirty="0"/>
              <a:t>Workbook p.4</a:t>
            </a:r>
          </a:p>
          <a:p>
            <a:pPr marL="514350" lvl="0" indent="-514350" fontAlgn="base">
              <a:buFont typeface="+mj-lt"/>
              <a:buAutoNum type="arabicPeriod"/>
            </a:pPr>
            <a:r>
              <a:rPr lang="en-US" dirty="0"/>
              <a:t>For all data points (</a:t>
            </a:r>
            <a:r>
              <a:rPr lang="en-US" dirty="0">
                <a:solidFill>
                  <a:srgbClr val="7FD7F7"/>
                </a:solidFill>
              </a:rPr>
              <a:t>blue</a:t>
            </a:r>
            <a:r>
              <a:rPr lang="en-US" dirty="0"/>
              <a:t>):​</a:t>
            </a:r>
            <a:endParaRPr lang="nl-BE" dirty="0"/>
          </a:p>
          <a:p>
            <a:pPr marL="914400" lvl="1" indent="-457200" fontAlgn="base">
              <a:buFont typeface="+mj-lt"/>
              <a:buAutoNum type="alphaLcPeriod"/>
            </a:pPr>
            <a:r>
              <a:rPr lang="en-US" dirty="0"/>
              <a:t>Is the recommended storage place from my research group appropriate for this datapoint?​ (both physical and digital)</a:t>
            </a:r>
            <a:endParaRPr lang="nl-BE" dirty="0"/>
          </a:p>
          <a:p>
            <a:pPr marL="914400" lvl="1" indent="-457200" fontAlgn="base">
              <a:buFont typeface="+mj-lt"/>
              <a:buAutoNum type="alphaLcPeriod"/>
            </a:pPr>
            <a:r>
              <a:rPr lang="en-US" dirty="0"/>
              <a:t>If not, where is the best place to store this?​</a:t>
            </a:r>
            <a:endParaRPr lang="nl-BE" dirty="0"/>
          </a:p>
          <a:p>
            <a:pPr marL="914400" lvl="1" indent="-457200" fontAlgn="base">
              <a:buFont typeface="+mj-lt"/>
              <a:buAutoNum type="alphaLcPeriod"/>
            </a:pPr>
            <a:r>
              <a:rPr lang="en-US" dirty="0"/>
              <a:t>Do I need additional security measures for this data?​</a:t>
            </a:r>
            <a:endParaRPr lang="nl-BE" dirty="0"/>
          </a:p>
          <a:p>
            <a:pPr marL="914400" lvl="1" indent="-457200" fontAlgn="base">
              <a:buFont typeface="+mj-lt"/>
              <a:buAutoNum type="alphaLcPeriod"/>
            </a:pPr>
            <a:r>
              <a:rPr lang="en-US" dirty="0"/>
              <a:t>Do I have enough space available (both physical and digital)?</a:t>
            </a:r>
            <a:endParaRPr lang="nl-BE" dirty="0"/>
          </a:p>
          <a:p>
            <a:pPr marL="0" indent="0" fontAlgn="base">
              <a:buNone/>
            </a:pPr>
            <a:endParaRPr lang="nl-BE" dirty="0"/>
          </a:p>
        </p:txBody>
      </p:sp>
      <p:sp>
        <p:nvSpPr>
          <p:cNvPr id="4" name="Slide Number Placeholder 3">
            <a:extLst>
              <a:ext uri="{FF2B5EF4-FFF2-40B4-BE49-F238E27FC236}">
                <a16:creationId xmlns:a16="http://schemas.microsoft.com/office/drawing/2014/main" id="{70944488-D140-F51B-DC33-5095F40F2D8B}"/>
              </a:ext>
            </a:extLst>
          </p:cNvPr>
          <p:cNvSpPr>
            <a:spLocks noGrp="1"/>
          </p:cNvSpPr>
          <p:nvPr>
            <p:ph type="sldNum" sz="quarter" idx="12"/>
          </p:nvPr>
        </p:nvSpPr>
        <p:spPr/>
        <p:txBody>
          <a:bodyPr/>
          <a:lstStyle/>
          <a:p>
            <a:fld id="{85114D95-D6A6-084A-9D9C-617B45E258AD}" type="slidenum">
              <a:rPr lang="nl-NL" smtClean="0"/>
              <a:t>38</a:t>
            </a:fld>
            <a:endParaRPr lang="nl-NL"/>
          </a:p>
        </p:txBody>
      </p:sp>
    </p:spTree>
    <p:extLst>
      <p:ext uri="{BB962C8B-B14F-4D97-AF65-F5344CB8AC3E}">
        <p14:creationId xmlns:p14="http://schemas.microsoft.com/office/powerpoint/2010/main" val="1655276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6272-9144-B50F-AAE2-CC71604E3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C81EC-2B26-826E-ECF3-F2391250918C}"/>
              </a:ext>
            </a:extLst>
          </p:cNvPr>
          <p:cNvSpPr>
            <a:spLocks noGrp="1"/>
          </p:cNvSpPr>
          <p:nvPr>
            <p:ph type="title"/>
          </p:nvPr>
        </p:nvSpPr>
        <p:spPr/>
        <p:txBody>
          <a:bodyPr/>
          <a:lstStyle/>
          <a:p>
            <a:r>
              <a:rPr lang="en-US" dirty="0"/>
              <a:t>Exercise 6: add storage to dataflow</a:t>
            </a:r>
            <a:endParaRPr lang="nl-BE" dirty="0"/>
          </a:p>
        </p:txBody>
      </p:sp>
      <p:sp>
        <p:nvSpPr>
          <p:cNvPr id="3" name="Content Placeholder 2">
            <a:extLst>
              <a:ext uri="{FF2B5EF4-FFF2-40B4-BE49-F238E27FC236}">
                <a16:creationId xmlns:a16="http://schemas.microsoft.com/office/drawing/2014/main" id="{675A1DE7-ED5A-DAC2-9A62-D71C5A404D0A}"/>
              </a:ext>
            </a:extLst>
          </p:cNvPr>
          <p:cNvSpPr>
            <a:spLocks noGrp="1"/>
          </p:cNvSpPr>
          <p:nvPr>
            <p:ph idx="1"/>
          </p:nvPr>
        </p:nvSpPr>
        <p:spPr/>
        <p:txBody>
          <a:bodyPr>
            <a:normAutofit/>
          </a:bodyPr>
          <a:lstStyle/>
          <a:p>
            <a:pPr marL="514350" indent="-514350" fontAlgn="base">
              <a:buFont typeface="+mj-lt"/>
              <a:buAutoNum type="arabicPeriod" startAt="2"/>
            </a:pPr>
            <a:r>
              <a:rPr lang="en-US" dirty="0"/>
              <a:t>For all documentation (</a:t>
            </a:r>
            <a:r>
              <a:rPr lang="en-US" dirty="0">
                <a:solidFill>
                  <a:srgbClr val="FF9999"/>
                </a:solidFill>
              </a:rPr>
              <a:t>pink</a:t>
            </a:r>
            <a:r>
              <a:rPr lang="en-US" dirty="0"/>
              <a:t>)​:</a:t>
            </a:r>
          </a:p>
          <a:p>
            <a:pPr marL="914400" lvl="1" indent="-457200" fontAlgn="base">
              <a:buFont typeface="+mj-lt"/>
              <a:buAutoNum type="alphaLcPeriod"/>
            </a:pPr>
            <a:r>
              <a:rPr lang="en-US" dirty="0"/>
              <a:t>Does this documentation fit in the same storage location as my data?​</a:t>
            </a:r>
            <a:endParaRPr lang="nl-BE" dirty="0"/>
          </a:p>
          <a:p>
            <a:pPr marL="914400" lvl="1" indent="-457200" fontAlgn="base">
              <a:buFont typeface="+mj-lt"/>
              <a:buAutoNum type="alphaLcPeriod"/>
            </a:pPr>
            <a:r>
              <a:rPr lang="en-US" dirty="0"/>
              <a:t>If not, how will I solve this problem? (documentation is best kept in same location)​</a:t>
            </a:r>
            <a:endParaRPr lang="nl-BE" dirty="0"/>
          </a:p>
          <a:p>
            <a:pPr marL="0" lvl="0" indent="0" fontAlgn="base">
              <a:buNone/>
            </a:pPr>
            <a:endParaRPr lang="en-US" dirty="0"/>
          </a:p>
          <a:p>
            <a:pPr marL="514350" lvl="0" indent="-514350" fontAlgn="base">
              <a:buFont typeface="+mj-lt"/>
              <a:buAutoNum type="arabicPeriod" startAt="3"/>
            </a:pPr>
            <a:r>
              <a:rPr lang="en-US" dirty="0"/>
              <a:t>Define proper storage space for all </a:t>
            </a:r>
            <a:r>
              <a:rPr lang="en-US" dirty="0">
                <a:solidFill>
                  <a:srgbClr val="7FD7F7"/>
                </a:solidFill>
              </a:rPr>
              <a:t>blue</a:t>
            </a:r>
            <a:r>
              <a:rPr lang="en-US" dirty="0"/>
              <a:t> and </a:t>
            </a:r>
            <a:r>
              <a:rPr lang="en-US" dirty="0">
                <a:solidFill>
                  <a:srgbClr val="FF9999"/>
                </a:solidFill>
              </a:rPr>
              <a:t>pink</a:t>
            </a:r>
            <a:r>
              <a:rPr lang="en-US" dirty="0"/>
              <a:t> </a:t>
            </a:r>
            <a:r>
              <a:rPr lang="en-US" dirty="0" err="1"/>
              <a:t>post-its</a:t>
            </a:r>
            <a:endParaRPr lang="en-US" dirty="0"/>
          </a:p>
          <a:p>
            <a:pPr marL="514350" lvl="0" indent="-514350" fontAlgn="base">
              <a:buFont typeface="+mj-lt"/>
              <a:buAutoNum type="arabicPeriod" startAt="3"/>
            </a:pPr>
            <a:endParaRPr lang="en-US" dirty="0"/>
          </a:p>
          <a:p>
            <a:pPr marL="514350" lvl="0" indent="-514350" fontAlgn="base">
              <a:buFont typeface="+mj-lt"/>
              <a:buAutoNum type="arabicPeriod" startAt="3"/>
            </a:pPr>
            <a:r>
              <a:rPr lang="en-US" dirty="0"/>
              <a:t>Fill in the questions in section 3 (storage) in your DMP template</a:t>
            </a:r>
            <a:br>
              <a:rPr lang="en-US" dirty="0"/>
            </a:br>
            <a:endParaRPr lang="nl-BE" dirty="0"/>
          </a:p>
        </p:txBody>
      </p:sp>
      <p:sp>
        <p:nvSpPr>
          <p:cNvPr id="4" name="Slide Number Placeholder 3">
            <a:extLst>
              <a:ext uri="{FF2B5EF4-FFF2-40B4-BE49-F238E27FC236}">
                <a16:creationId xmlns:a16="http://schemas.microsoft.com/office/drawing/2014/main" id="{B2B89E7D-0A7C-5C37-0A4A-1CB4486C3C4C}"/>
              </a:ext>
            </a:extLst>
          </p:cNvPr>
          <p:cNvSpPr>
            <a:spLocks noGrp="1"/>
          </p:cNvSpPr>
          <p:nvPr>
            <p:ph type="sldNum" sz="quarter" idx="12"/>
          </p:nvPr>
        </p:nvSpPr>
        <p:spPr/>
        <p:txBody>
          <a:bodyPr/>
          <a:lstStyle/>
          <a:p>
            <a:fld id="{85114D95-D6A6-084A-9D9C-617B45E258AD}" type="slidenum">
              <a:rPr lang="nl-NL" smtClean="0"/>
              <a:t>39</a:t>
            </a:fld>
            <a:endParaRPr lang="nl-NL"/>
          </a:p>
        </p:txBody>
      </p:sp>
    </p:spTree>
    <p:extLst>
      <p:ext uri="{BB962C8B-B14F-4D97-AF65-F5344CB8AC3E}">
        <p14:creationId xmlns:p14="http://schemas.microsoft.com/office/powerpoint/2010/main" val="838599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vy3cq54xo12rt497t2cwtv2oka5oxz"/>
</p:tagLst>
</file>

<file path=ppt/theme/theme1.xml><?xml version="1.0" encoding="utf-8"?>
<a:theme xmlns:a="http://schemas.openxmlformats.org/drawingml/2006/main" name="ppt_2Bergen_E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2Bergen_ENG" id="{206DA0AB-20BE-45A2-9D16-6FBACF0B9CF1}" vid="{867A2822-7A75-4382-B8A9-712C3BAA818E}"/>
    </a:ext>
  </a:extLst>
</a:theme>
</file>

<file path=ppt/theme/theme2.xml><?xml version="1.0" encoding="utf-8"?>
<a:theme xmlns:a="http://schemas.openxmlformats.org/drawingml/2006/main" name="4 - Dark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4625B343-1F57-425B-AFBF-7AC84AD49721}"/>
    </a:ext>
  </a:extLst>
</a:theme>
</file>

<file path=ppt/theme/theme3.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4.xml><?xml version="1.0" encoding="utf-8"?>
<a:theme xmlns:a="http://schemas.openxmlformats.org/drawingml/2006/main" name="1_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da3c8d9-d598-4f93-96af-21376e439572">
      <Terms xmlns="http://schemas.microsoft.com/office/infopath/2007/PartnerControls"/>
    </lcf76f155ced4ddcb4097134ff3c332f>
    <Documentstatus xmlns="9da3c8d9-d598-4f93-96af-21376e439572" xsi:nil="true"/>
    <FirstAuthor xmlns="9da3c8d9-d598-4f93-96af-21376e439572" xsi:nil="true"/>
    <TaxCatchAll xmlns="6093c75b-2217-4201-9fc4-f5ea412e3c47" xsi:nil="true"/>
    <Doepubliek xmlns="9da3c8d9-d598-4f93-96af-21376e439572" xsi:nil="true"/>
    <Opleidingsniveau xmlns="9da3c8d9-d598-4f93-96af-21376e439572" xsi:nil="true"/>
    <Domein xmlns="9da3c8d9-d598-4f93-96af-21376e439572" xsi:nil="true"/>
    <DOI xmlns="9da3c8d9-d598-4f93-96af-21376e4395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1271F1EA0C1CE4D8FAA68334E68C28E" ma:contentTypeVersion="25" ma:contentTypeDescription="Een nieuw document maken." ma:contentTypeScope="" ma:versionID="1d0f8e40399272023d750b1886a3fcff">
  <xsd:schema xmlns:xsd="http://www.w3.org/2001/XMLSchema" xmlns:xs="http://www.w3.org/2001/XMLSchema" xmlns:p="http://schemas.microsoft.com/office/2006/metadata/properties" xmlns:ns2="9da3c8d9-d598-4f93-96af-21376e439572" xmlns:ns3="6093c75b-2217-4201-9fc4-f5ea412e3c47" targetNamespace="http://schemas.microsoft.com/office/2006/metadata/properties" ma:root="true" ma:fieldsID="8aa5a3d6c703762f304d1ddf3e108a9b" ns2:_="" ns3:_="">
    <xsd:import namespace="9da3c8d9-d598-4f93-96af-21376e439572"/>
    <xsd:import namespace="6093c75b-2217-4201-9fc4-f5ea412e3c4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SearchProperties" minOccurs="0"/>
                <xsd:element ref="ns2:FirstAuthor" minOccurs="0"/>
                <xsd:element ref="ns2:DOI" minOccurs="0"/>
                <xsd:element ref="ns2:MediaServiceLocation" minOccurs="0"/>
                <xsd:element ref="ns2:Doepubliek" minOccurs="0"/>
                <xsd:element ref="ns2:Domein" minOccurs="0"/>
                <xsd:element ref="ns2:Opleidingsniveau" minOccurs="0"/>
                <xsd:element ref="ns2:Document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a3c8d9-d598-4f93-96af-21376e439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FirstAuthor" ma:index="22" nillable="true" ma:displayName="First Author" ma:description="Naam van de persoon die de sessie geeft" ma:format="Dropdown" ma:internalName="FirstAuthor">
      <xsd:complexType>
        <xsd:complexContent>
          <xsd:extension base="dms:MultiChoiceFillIn">
            <xsd:sequence>
              <xsd:element name="Value" maxOccurs="unbounded" minOccurs="0" nillable="true">
                <xsd:simpleType>
                  <xsd:union memberTypes="dms:Text">
                    <xsd:simpleType>
                      <xsd:restriction base="dms:Choice">
                        <xsd:enumeration value="Thomas Vandendriesche"/>
                        <xsd:enumeration value="Anouk D'Hont"/>
                        <xsd:enumeration value="Chayenne Van Meel"/>
                        <xsd:enumeration value="Inge Mannaerts"/>
                        <xsd:enumeration value="Krizia Tuand"/>
                        <xsd:enumeration value="Maarten Jackers"/>
                        <xsd:enumeration value="Norin Hamouda"/>
                        <xsd:enumeration value="Sylvette Vanderstraeten"/>
                        <xsd:enumeration value="Daan Soenens"/>
                        <xsd:enumeration value="Erik Verraedt"/>
                        <xsd:enumeration value="Greet Peters"/>
                        <xsd:enumeration value="Inge Discaert"/>
                        <xsd:enumeration value="Veronique Trippas"/>
                        <xsd:enumeration value="Andere"/>
                        <xsd:enumeration value="Choice 15"/>
                      </xsd:restriction>
                    </xsd:simpleType>
                  </xsd:union>
                </xsd:simpleType>
              </xsd:element>
            </xsd:sequence>
          </xsd:extension>
        </xsd:complexContent>
      </xsd:complexType>
    </xsd:element>
    <xsd:element name="DOI" ma:index="23" nillable="true" ma:displayName="DOI" ma:format="Dropdown" ma:internalName="DOI">
      <xsd:simpleType>
        <xsd:restriction base="dms:Text">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Doepubliek" ma:index="25" nillable="true" ma:displayName="Doepubliek" ma:description="Geef aan voor wie de presentatie gegeven is:&#10;&#10;Curriculaire sessies, selcteer de juiste richtingsdetails&#10;&#10;Sessies voor onderzoeksgroepen/op vraag duid Sessies op maat aan en geef details in de kolom opmerkingen." ma:format="Dropdown" ma:internalName="Doepubliek">
      <xsd:complexType>
        <xsd:complexContent>
          <xsd:extension base="dms:MultiChoice">
            <xsd:sequence>
              <xsd:element name="Value" maxOccurs="unbounded" minOccurs="0" nillable="true">
                <xsd:simpleType>
                  <xsd:restriction base="dms:Choice">
                    <xsd:enumeration value="Sessies op maat"/>
                    <xsd:enumeration value="DS_BMW"/>
                    <xsd:enumeration value="DS_Architectuur"/>
                    <xsd:enumeration value="DS_WT"/>
                    <xsd:enumeration value="Bewegingswetenschappen"/>
                    <xsd:enumeration value="Deglutology"/>
                    <xsd:enumeration value="Farmacie"/>
                    <xsd:enumeration value="Ergotherapie"/>
                    <xsd:enumeration value="Geneeskunde"/>
                    <xsd:enumeration value="LogopedieEnAudiologie"/>
                    <xsd:enumeration value="Seksuologie"/>
                    <xsd:enumeration value="StatisticsAndDataScience"/>
                    <xsd:enumeration value="Tandheelkunde"/>
                    <xsd:enumeration value="VerpleegkundeEnVroedkunde"/>
                    <xsd:enumeration value="Personeel"/>
                    <xsd:enumeration value="Conferentie"/>
                    <xsd:enumeration value="Biomedische wetenschappen"/>
                    <xsd:enumeration value="Lichamelijke opvoeding en bewegingswetenschappen"/>
                    <xsd:enumeration value="Revalidatiewetenschappen en Kinesitherapie"/>
                    <xsd:enumeration value="Industriële ingenieurswetenschappen"/>
                    <xsd:enumeration value="Ingenieurswetenschappen"/>
                    <xsd:enumeration value="Architectuur"/>
                  </xsd:restriction>
                </xsd:simpleType>
              </xsd:element>
            </xsd:sequence>
          </xsd:extension>
        </xsd:complexContent>
      </xsd:complexType>
    </xsd:element>
    <xsd:element name="Domein" ma:index="26" nillable="true" ma:displayName="Domein" ma:format="Dropdown" ma:internalName="Domein">
      <xsd:simpleType>
        <xsd:restriction base="dms:Choice">
          <xsd:enumeration value="Onderwijs (OW)"/>
          <xsd:enumeration value="Onderzoek (OZ)"/>
          <xsd:enumeration value="Overkoepelend (OW+OZ)"/>
        </xsd:restriction>
      </xsd:simpleType>
    </xsd:element>
    <xsd:element name="Opleidingsniveau" ma:index="27" nillable="true" ma:displayName="Opleidingsniveau" ma:description="Selecteer de opleidingsfase van het doelpubliek." ma:format="Dropdown" ma:internalName="Opleidingsniveau">
      <xsd:simpleType>
        <xsd:union memberTypes="dms:Text">
          <xsd:simpleType>
            <xsd:restriction base="dms:Choice">
              <xsd:enumeration value="1e Bachelor"/>
              <xsd:enumeration value="2e Bachelor"/>
              <xsd:enumeration value="3e Bachelor"/>
              <xsd:enumeration value="1e Master"/>
              <xsd:enumeration value="2e Master"/>
              <xsd:enumeration value="PhD en/of postdoc"/>
              <xsd:enumeration value="Onderzoeksgroep"/>
              <xsd:enumeration value="Bibliotheek"/>
              <xsd:enumeration value="MaNaMa"/>
              <xsd:enumeration value="Schakel"/>
            </xsd:restriction>
          </xsd:simpleType>
        </xsd:union>
      </xsd:simpleType>
    </xsd:element>
    <xsd:element name="Documentstatus" ma:index="28" nillable="true" ma:displayName="Document status" ma:format="Dropdown" ma:internalName="Documentstatus">
      <xsd:simpleType>
        <xsd:restriction base="dms:Choice">
          <xsd:enumeration value="Draft"/>
          <xsd:enumeration value="To review"/>
          <xsd:enumeration value="Reviewed"/>
          <xsd:enumeration value="Finaal"/>
          <xsd:enumeration value="Presented"/>
          <xsd:enumeration value="Shared"/>
          <xsd:enumeration value="Feedbackform"/>
          <xsd:enumeration value="Lopend project"/>
          <xsd:enumeration value="Afgerond project"/>
          <xsd:enumeration value="Archief project"/>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93c75b-2217-4201-9fc4-f5ea412e3c47"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3868a3e2-2ab9-4f07-a8e7-8a1ee1d839a7}" ma:internalName="TaxCatchAll" ma:showField="CatchAllData" ma:web="6093c75b-2217-4201-9fc4-f5ea412e3c4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C895FC-15D7-49C1-AD9A-9F487C4EAFB2}">
  <ds:schemaRefs>
    <ds:schemaRef ds:uri="9da3c8d9-d598-4f93-96af-21376e439572"/>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elements/1.1/"/>
    <ds:schemaRef ds:uri="http://purl.org/dc/terms/"/>
    <ds:schemaRef ds:uri="http://purl.org/dc/dcmitype/"/>
    <ds:schemaRef ds:uri="http://schemas.microsoft.com/office/infopath/2007/PartnerControls"/>
    <ds:schemaRef ds:uri="6093c75b-2217-4201-9fc4-f5ea412e3c47"/>
  </ds:schemaRefs>
</ds:datastoreItem>
</file>

<file path=customXml/itemProps2.xml><?xml version="1.0" encoding="utf-8"?>
<ds:datastoreItem xmlns:ds="http://schemas.openxmlformats.org/officeDocument/2006/customXml" ds:itemID="{B1ECFB28-F235-4ACC-BFBE-160356F3B65E}">
  <ds:schemaRefs>
    <ds:schemaRef ds:uri="http://schemas.microsoft.com/sharepoint/v3/contenttype/forms"/>
  </ds:schemaRefs>
</ds:datastoreItem>
</file>

<file path=customXml/itemProps3.xml><?xml version="1.0" encoding="utf-8"?>
<ds:datastoreItem xmlns:ds="http://schemas.openxmlformats.org/officeDocument/2006/customXml" ds:itemID="{96DCF818-8D66-4589-ABC3-B9BA8A1A1E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a3c8d9-d598-4f93-96af-21376e439572"/>
    <ds:schemaRef ds:uri="6093c75b-2217-4201-9fc4-f5ea412e3c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2905</Words>
  <Application>Microsoft Office PowerPoint</Application>
  <PresentationFormat>Widescreen</PresentationFormat>
  <Paragraphs>421</Paragraphs>
  <Slides>39</Slides>
  <Notes>14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39</vt:i4>
      </vt:variant>
    </vt:vector>
  </HeadingPairs>
  <TitlesOfParts>
    <vt:vector size="49" baseType="lpstr">
      <vt:lpstr>Aptos</vt:lpstr>
      <vt:lpstr>Arial</vt:lpstr>
      <vt:lpstr>Calibri</vt:lpstr>
      <vt:lpstr>Consolas</vt:lpstr>
      <vt:lpstr>Trebuchet MS</vt:lpstr>
      <vt:lpstr>Wingdings</vt:lpstr>
      <vt:lpstr>ppt_2Bergen_ENG</vt:lpstr>
      <vt:lpstr>4 - Dark body slides</vt:lpstr>
      <vt:lpstr>3 - Light body slides</vt:lpstr>
      <vt:lpstr>1_3 - Light body slides</vt:lpstr>
      <vt:lpstr>Introduction to RDM in Life Sciences Session 4: Plan for the micro-level</vt:lpstr>
      <vt:lpstr>Let’s build a paper airplane! </vt:lpstr>
      <vt:lpstr>Let’s build a paper airplane! </vt:lpstr>
      <vt:lpstr>Let’s build a paper airplane! </vt:lpstr>
      <vt:lpstr>What is documentation?</vt:lpstr>
      <vt:lpstr>Why does documentation matter?</vt:lpstr>
      <vt:lpstr>Exercise 4a: What to document?</vt:lpstr>
      <vt:lpstr>Exercise 4a: What to document?</vt:lpstr>
      <vt:lpstr>Data re-use</vt:lpstr>
      <vt:lpstr>Exercise 4b: What tools do you use to document  each step (yellow post-it) in your dataflow? </vt:lpstr>
      <vt:lpstr>Tools to document with</vt:lpstr>
      <vt:lpstr>PowerPoint Presentation</vt:lpstr>
      <vt:lpstr>The platform in 3 key modules</vt:lpstr>
      <vt:lpstr>The journal</vt:lpstr>
      <vt:lpstr>Tools to document with</vt:lpstr>
      <vt:lpstr>Tools to document with</vt:lpstr>
      <vt:lpstr>Metadata</vt:lpstr>
      <vt:lpstr>Metadata</vt:lpstr>
      <vt:lpstr>PowerPoint Presentation</vt:lpstr>
      <vt:lpstr>Exercise 4: Documenting each step – Example  Jie’s project</vt:lpstr>
      <vt:lpstr>Exercise 4: Documenting each step of your dataflow</vt:lpstr>
      <vt:lpstr>Exercise 4: Documenting each step of your dataflow</vt:lpstr>
      <vt:lpstr>Plenary discussion</vt:lpstr>
      <vt:lpstr>BREAK</vt:lpstr>
      <vt:lpstr>Exercise 5: Beyond the steps – What else to document?</vt:lpstr>
      <vt:lpstr>Exercise 5: Beyond the steps  Documentation for organisation</vt:lpstr>
      <vt:lpstr>The platform in 3 key modules</vt:lpstr>
      <vt:lpstr>The protocol</vt:lpstr>
      <vt:lpstr>The Inventory</vt:lpstr>
      <vt:lpstr>Exercise 5: Beyond the steps  Documentation for organisation</vt:lpstr>
      <vt:lpstr>Storage</vt:lpstr>
      <vt:lpstr>Data storage – secure &amp; reliable</vt:lpstr>
      <vt:lpstr>Data storage – secure &amp; reliable</vt:lpstr>
      <vt:lpstr>Data storage – secure &amp; reliable</vt:lpstr>
      <vt:lpstr>Physical data</vt:lpstr>
      <vt:lpstr>Digital data</vt:lpstr>
      <vt:lpstr>Data Core storage solutions</vt:lpstr>
      <vt:lpstr>Exercise 6: add storage to dataflow</vt:lpstr>
      <vt:lpstr>Exercise 6: add storage to dataflow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Maarten Jackers</dc:creator>
  <cp:lastModifiedBy>Sylvette Vanderstraeten</cp:lastModifiedBy>
  <cp:revision>21</cp:revision>
  <cp:lastPrinted>2025-11-19T15:42:11Z</cp:lastPrinted>
  <dcterms:created xsi:type="dcterms:W3CDTF">2025-04-02T10:10:41Z</dcterms:created>
  <dcterms:modified xsi:type="dcterms:W3CDTF">2025-11-24T11:30:06Z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0x010100B1271F1EA0C1CE4D8FAA68334E68C28E</vt:lpwstr>
  </property>
  <property fmtid="{D5CDD505-2E9C-101B-9397-08002B2CF9AE}" pid="3" name="MediaServiceImageTags">
    <vt:lpwstr/>
  </property>
</Properties>
</file>