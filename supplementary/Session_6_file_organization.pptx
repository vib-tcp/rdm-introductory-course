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7BBF5A98_C829CA8.xml" ContentType="application/vnd.ms-powerpoint.comment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comments/modernComment_7BBF5A97_6F5BBB01.xml" ContentType="application/vnd.ms-powerpoint.comments+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60" r:id="rId4"/>
    <p:sldMasterId id="2147483664" r:id="rId5"/>
    <p:sldMasterId id="2147483683" r:id="rId6"/>
  </p:sldMasterIdLst>
  <p:notesMasterIdLst>
    <p:notesMasterId r:id="rId62"/>
  </p:notesMasterIdLst>
  <p:sldIdLst>
    <p:sldId id="407" r:id="rId7"/>
    <p:sldId id="650" r:id="rId8"/>
    <p:sldId id="509" r:id="rId9"/>
    <p:sldId id="929" r:id="rId10"/>
    <p:sldId id="933" r:id="rId11"/>
    <p:sldId id="2076138136" r:id="rId12"/>
    <p:sldId id="2076138133" r:id="rId13"/>
    <p:sldId id="726" r:id="rId14"/>
    <p:sldId id="882" r:id="rId15"/>
    <p:sldId id="878" r:id="rId16"/>
    <p:sldId id="879" r:id="rId17"/>
    <p:sldId id="880" r:id="rId18"/>
    <p:sldId id="881" r:id="rId19"/>
    <p:sldId id="912" r:id="rId20"/>
    <p:sldId id="883" r:id="rId21"/>
    <p:sldId id="676" r:id="rId22"/>
    <p:sldId id="724" r:id="rId23"/>
    <p:sldId id="656" r:id="rId24"/>
    <p:sldId id="723" r:id="rId25"/>
    <p:sldId id="665" r:id="rId26"/>
    <p:sldId id="675" r:id="rId27"/>
    <p:sldId id="725" r:id="rId28"/>
    <p:sldId id="413" r:id="rId29"/>
    <p:sldId id="668" r:id="rId30"/>
    <p:sldId id="909" r:id="rId31"/>
    <p:sldId id="279" r:id="rId32"/>
    <p:sldId id="1274" r:id="rId33"/>
    <p:sldId id="1278" r:id="rId34"/>
    <p:sldId id="1276" r:id="rId35"/>
    <p:sldId id="1277" r:id="rId36"/>
    <p:sldId id="661" r:id="rId37"/>
    <p:sldId id="522" r:id="rId38"/>
    <p:sldId id="678" r:id="rId39"/>
    <p:sldId id="524" r:id="rId40"/>
    <p:sldId id="669" r:id="rId41"/>
    <p:sldId id="526" r:id="rId42"/>
    <p:sldId id="671" r:id="rId43"/>
    <p:sldId id="527" r:id="rId44"/>
    <p:sldId id="673" r:id="rId45"/>
    <p:sldId id="674" r:id="rId46"/>
    <p:sldId id="672" r:id="rId47"/>
    <p:sldId id="913" r:id="rId48"/>
    <p:sldId id="657" r:id="rId49"/>
    <p:sldId id="915" r:id="rId50"/>
    <p:sldId id="917" r:id="rId51"/>
    <p:sldId id="914" r:id="rId52"/>
    <p:sldId id="885" r:id="rId53"/>
    <p:sldId id="889" r:id="rId54"/>
    <p:sldId id="892" r:id="rId55"/>
    <p:sldId id="910" r:id="rId56"/>
    <p:sldId id="662" r:id="rId57"/>
    <p:sldId id="285" r:id="rId58"/>
    <p:sldId id="919" r:id="rId59"/>
    <p:sldId id="908" r:id="rId60"/>
    <p:sldId id="2076138135" r:id="rId61"/>
  </p:sldIdLst>
  <p:sldSz cx="17338675" cy="9753600"/>
  <p:notesSz cx="6858000" cy="9144000"/>
  <p:embeddedFontLst>
    <p:embeddedFont>
      <p:font typeface="Trebuchet MS" panose="020B0603020202020204" pitchFamily="34" charset="0"/>
      <p:regular r:id="rId63"/>
      <p:bold r:id="rId64"/>
      <p:italic r:id="rId65"/>
      <p:boldItalic r:id="rId66"/>
    </p:embeddedFont>
    <p:embeddedFont>
      <p:font typeface="UGent Panno Text" panose="020B0604020202020204" charset="0"/>
      <p:regular r:id="rId67"/>
    </p:embeddedFont>
  </p:embeddedFontLst>
  <p:defaultTex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072" userDrawn="1">
          <p15:clr>
            <a:srgbClr val="A4A3A4"/>
          </p15:clr>
        </p15:guide>
        <p15:guide id="2" pos="543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D86320-BC27-A3DF-8CE0-E1433B891016}" name="Matheus Pereira da Cruz Gomes Lourenço" initials="ML" userId="S::matheus.lourenco_vib.be#ext#@ugentbe.onmicrosoft.com::ae6d5a95-b5a1-4d9c-8838-34e6fca5965f" providerId="AD"/>
  <p188:author id="{FBE647A1-DFDB-FA82-3F01-2F90D0389F67}" name="Laura Standaert" initials="LS" userId="S::lauralucia.standaert@ugent.be::57751787-d58b-49ec-bf32-1c6c653d8c17"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Jan Lammertyn" initials="JL" lastIdx="3" clrIdx="0">
    <p:extLst>
      <p:ext uri="{19B8F6BF-5375-455C-9EA6-DF929625EA0E}">
        <p15:presenceInfo xmlns:p15="http://schemas.microsoft.com/office/powerpoint/2012/main" userId="S::Jan.Lammertyn@UGent.be::b70920f9-58ce-435a-9440-019e4bc18b66" providerId="AD"/>
      </p:ext>
    </p:extLst>
  </p:cmAuthor>
  <p:cmAuthor id="2" name="Stefanie De Bodt" initials="SB" lastIdx="1" clrIdx="1">
    <p:extLst>
      <p:ext uri="{19B8F6BF-5375-455C-9EA6-DF929625EA0E}">
        <p15:presenceInfo xmlns:p15="http://schemas.microsoft.com/office/powerpoint/2012/main" userId="S::stefanie.debodt@ugent.be::1356c8e2-e336-4a3c-9bed-644cfa7a3883" providerId="AD"/>
      </p:ext>
    </p:extLst>
  </p:cmAuthor>
  <p:cmAuthor id="3" name="Paula Oset Garcia" initials="POG" lastIdx="2" clrIdx="2">
    <p:extLst>
      <p:ext uri="{19B8F6BF-5375-455C-9EA6-DF929625EA0E}">
        <p15:presenceInfo xmlns:p15="http://schemas.microsoft.com/office/powerpoint/2012/main" userId="S-1-5-21-4030456262-320625612-449655040-28803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00"/>
    <a:srgbClr val="FFD200"/>
    <a:srgbClr val="1E64C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505" autoAdjust="0"/>
    <p:restoredTop sz="68768" autoAdjust="0"/>
  </p:normalViewPr>
  <p:slideViewPr>
    <p:cSldViewPr snapToGrid="0" showGuides="1">
      <p:cViewPr varScale="1">
        <p:scale>
          <a:sx n="40" d="100"/>
          <a:sy n="40" d="100"/>
        </p:scale>
        <p:origin x="912" y="43"/>
      </p:cViewPr>
      <p:guideLst>
        <p:guide orient="horz" pos="3072"/>
        <p:guide pos="5438"/>
      </p:guideLst>
    </p:cSldViewPr>
  </p:slideViewPr>
  <p:outlineViewPr>
    <p:cViewPr>
      <p:scale>
        <a:sx n="33" d="100"/>
        <a:sy n="33" d="100"/>
      </p:scale>
      <p:origin x="0" y="-10386"/>
    </p:cViewPr>
  </p:outlineViewPr>
  <p:notesTextViewPr>
    <p:cViewPr>
      <p:scale>
        <a:sx n="3" d="2"/>
        <a:sy n="3" d="2"/>
      </p:scale>
      <p:origin x="0" y="0"/>
    </p:cViewPr>
  </p:notesTextViewPr>
  <p:sorterViewPr>
    <p:cViewPr varScale="1">
      <p:scale>
        <a:sx n="100" d="100"/>
        <a:sy n="100" d="100"/>
      </p:scale>
      <p:origin x="0" y="-2678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font" Target="fonts/font1.fntdata"/><Relationship Id="rId68"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3" Type="http://schemas.openxmlformats.org/officeDocument/2006/relationships/slide" Target="slides/slide47.xml"/><Relationship Id="rId58" Type="http://schemas.openxmlformats.org/officeDocument/2006/relationships/slide" Target="slides/slide52.xml"/><Relationship Id="rId66" Type="http://schemas.openxmlformats.org/officeDocument/2006/relationships/font" Target="fonts/font4.fntdata"/><Relationship Id="rId5" Type="http://schemas.openxmlformats.org/officeDocument/2006/relationships/slideMaster" Target="slideMasters/slideMaster2.xml"/><Relationship Id="rId61" Type="http://schemas.openxmlformats.org/officeDocument/2006/relationships/slide" Target="slides/slide55.xml"/><Relationship Id="rId19" Type="http://schemas.openxmlformats.org/officeDocument/2006/relationships/slide" Target="slides/slide1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slide" Target="slides/slide42.xml"/><Relationship Id="rId56" Type="http://schemas.openxmlformats.org/officeDocument/2006/relationships/slide" Target="slides/slide50.xml"/><Relationship Id="rId64" Type="http://schemas.openxmlformats.org/officeDocument/2006/relationships/font" Target="fonts/font2.fntdata"/><Relationship Id="rId69" Type="http://schemas.openxmlformats.org/officeDocument/2006/relationships/presProps" Target="presProps.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59" Type="http://schemas.openxmlformats.org/officeDocument/2006/relationships/slide" Target="slides/slide53.xml"/><Relationship Id="rId67" Type="http://schemas.openxmlformats.org/officeDocument/2006/relationships/font" Target="fonts/font5.fntdata"/><Relationship Id="rId20" Type="http://schemas.openxmlformats.org/officeDocument/2006/relationships/slide" Target="slides/slide14.xml"/><Relationship Id="rId41" Type="http://schemas.openxmlformats.org/officeDocument/2006/relationships/slide" Target="slides/slide35.xml"/><Relationship Id="rId54" Type="http://schemas.openxmlformats.org/officeDocument/2006/relationships/slide" Target="slides/slide48.xml"/><Relationship Id="rId62" Type="http://schemas.openxmlformats.org/officeDocument/2006/relationships/notesMaster" Target="notesMasters/notesMaster1.xml"/><Relationship Id="rId7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font" Target="fonts/font3.fntdata"/><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 Type="http://schemas.openxmlformats.org/officeDocument/2006/relationships/slide" Target="slides/slide1.xml"/><Relationship Id="rId71" Type="http://schemas.openxmlformats.org/officeDocument/2006/relationships/theme" Target="theme/theme1.xml"/></Relationships>
</file>

<file path=ppt/comments/modernComment_7BBF5A97_6F5BBB01.xml><?xml version="1.0" encoding="utf-8"?>
<p188:cmLst xmlns:a="http://schemas.openxmlformats.org/drawingml/2006/main" xmlns:r="http://schemas.openxmlformats.org/officeDocument/2006/relationships" xmlns:p188="http://schemas.microsoft.com/office/powerpoint/2018/8/main">
  <p188:cm id="{9D1C7616-71F2-4509-B1A3-88F604349174}" authorId="{74D86320-BC27-A3DF-8CE0-E1433B891016}" created="2025-10-15T09:21:18.936">
    <pc:sldMkLst xmlns:pc="http://schemas.microsoft.com/office/powerpoint/2013/main/command">
      <pc:docMk/>
      <pc:sldMk cId="1868282625" sldId="2076138135"/>
    </pc:sldMkLst>
    <p188:txBody>
      <a:bodyPr/>
      <a:lstStyle/>
      <a:p>
        <a:r>
          <a:rPr lang="en-US"/>
          <a:t>This looks really nice!</a:t>
        </a:r>
      </a:p>
    </p188:txBody>
  </p188:cm>
</p188:cmLst>
</file>

<file path=ppt/comments/modernComment_7BBF5A98_C829CA8.xml><?xml version="1.0" encoding="utf-8"?>
<p188:cmLst xmlns:a="http://schemas.openxmlformats.org/drawingml/2006/main" xmlns:r="http://schemas.openxmlformats.org/officeDocument/2006/relationships" xmlns:p188="http://schemas.microsoft.com/office/powerpoint/2018/8/main">
  <p188:cm id="{470D8F27-40F9-4065-936B-F198966C584C}" authorId="{74D86320-BC27-A3DF-8CE0-E1433B891016}" created="2025-10-15T09:25:56.553">
    <pc:sldMkLst xmlns:pc="http://schemas.microsoft.com/office/powerpoint/2013/main/command">
      <pc:docMk/>
      <pc:sldMk cId="209886376" sldId="2076138136"/>
    </pc:sldMkLst>
    <p188:txBody>
      <a:bodyPr/>
      <a:lstStyle/>
      <a:p>
        <a:r>
          <a:rPr lang="en-US"/>
          <a:t>The style of the slide is a little different. I hope this is ok for you. I thought it would be important to show that this is a VIB resource and to keep it simple and to the point.</a:t>
        </a:r>
      </a:p>
    </p188:txBody>
    <p188:extLst>
      <p:ext xmlns:p="http://schemas.openxmlformats.org/presentationml/2006/main" uri="{57CB4572-C831-44C2-8A1C-0ADB6CCDFE69}">
        <p223:reactions xmlns:p223="http://schemas.microsoft.com/office/powerpoint/2022/03/main">
          <p223:rxn type="👍">
            <p223:instance time="2025-10-16T11:56:21.337" authorId="{FBE647A1-DFDB-FA82-3F01-2F90D0389F67}"/>
          </p223:rxn>
        </p223:reaction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6680C0C-85DF-417F-8238-DB0D15743621}" type="datetimeFigureOut">
              <a:rPr lang="en-GB" smtClean="0"/>
              <a:t>02/11/2025</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A0A48-EDB1-4AFE-B1B7-10CE2A416496}" type="slidenum">
              <a:rPr lang="en-GB" smtClean="0"/>
              <a:t>‹#›</a:t>
            </a:fld>
            <a:endParaRPr lang="en-GB"/>
          </a:p>
        </p:txBody>
      </p:sp>
    </p:spTree>
    <p:extLst>
      <p:ext uri="{BB962C8B-B14F-4D97-AF65-F5344CB8AC3E}">
        <p14:creationId xmlns:p14="http://schemas.microsoft.com/office/powerpoint/2010/main" val="326201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app.whiteboard.microsoft.com/me/whiteboards/p/c3BvOmh0dHBzOi8vdWdlbnRiZS1teS5zaGFyZXBvaW50LmNvbS9wZXJzb25hbC9sYXVyYWx1Y2lhX3N0YW5kYWVydF91Z2VudF9iZQ%3D%3D/b!v6ZVWOOno0SS-tKC8LLojGrsY3KTANBIlpt-6NdWiXthUuSfKZgjQ4NptAlhHJPd/01CQC2UWF2G42YD3N5LZAIKXWZTGGPPXRT?encodedShareLink=aHR0cHM6Ly91Z2VudGJlLW15LnNoYXJlcG9pbnQuY29tLzp3YjovZy9wZXJzb25hbC9sYXVyYWx1Y2lhX3N0YW5kYWVydF91Z2VudF9iZS9FYm8zTllIdHZWNUFoVjdabVl6MzNqTUJ2dmVpcFdKcXJZZ21keGp4Z2JxTzJ3P25hdj1jejBsTWtad1pYSnpiMjVoYkNVeVJteGhkWEpoYkhWamFXRmZjM1JoYm1SaFpYSjBYM1ZuWlc1MFgySmxKbVE5WWlGMk5scFdWMDlQYm04d1UxTXRkRXRET0V4TWIycEhjbk5aTTB0VVFVNUNTV3h3ZEMwMlRtUlhhVmgwYUZWMVUyWkxXbWRxVVRST2NIUkJiR2hJU2xCa0ptWTlNREZEVVVNeVZWZEdNa2MwTWxsRU0wNDFURnBCU1V0WVYxcFVSMGRRVUZoU1ZDWmpQU1V5UmlabWJIVnBaRDB4"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2</a:t>
            </a:fld>
            <a:endParaRPr lang="en-GB"/>
          </a:p>
        </p:txBody>
      </p:sp>
    </p:spTree>
    <p:extLst>
      <p:ext uri="{BB962C8B-B14F-4D97-AF65-F5344CB8AC3E}">
        <p14:creationId xmlns:p14="http://schemas.microsoft.com/office/powerpoint/2010/main" val="19426117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effectLst/>
                <a:latin typeface="Calibri" panose="020F0502020204030204" pitchFamily="34" charset="0"/>
                <a:ea typeface="Calibri" panose="020F0502020204030204" pitchFamily="34" charset="0"/>
                <a:cs typeface="Times New Roman" panose="02020603050405020304" pitchFamily="18" charset="0"/>
              </a:rPr>
              <a:t>But when can we say that our data is secure?</a:t>
            </a: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endParaRPr lang="en-US"/>
          </a:p>
          <a:p>
            <a:r>
              <a:rPr lang="en-US"/>
              <a:t>To secure data, we need to consider the three core information security principles: Confidentiality, Integrity and availability . </a:t>
            </a:r>
          </a:p>
          <a:p>
            <a:endParaRPr lang="en-US"/>
          </a:p>
          <a:p>
            <a:r>
              <a:rPr lang="nl-BE" sz="1200">
                <a:effectLst/>
                <a:latin typeface="Calibri" panose="020F0502020204030204" pitchFamily="34" charset="0"/>
                <a:ea typeface="Calibri" panose="020F0502020204030204" pitchFamily="34" charset="0"/>
                <a:cs typeface="Times New Roman" panose="02020603050405020304" pitchFamily="18" charset="0"/>
              </a:rPr>
              <a:t>Handhaving van de </a:t>
            </a:r>
            <a:r>
              <a:rPr lang="nl-BE" sz="1200" b="1">
                <a:effectLst/>
                <a:latin typeface="Calibri" panose="020F0502020204030204" pitchFamily="34" charset="0"/>
                <a:ea typeface="Calibri" panose="020F0502020204030204" pitchFamily="34" charset="0"/>
                <a:cs typeface="Times New Roman" panose="02020603050405020304" pitchFamily="18" charset="0"/>
              </a:rPr>
              <a:t>vertrouwelijkheid</a:t>
            </a:r>
            <a:r>
              <a:rPr lang="nl-BE" sz="1200">
                <a:effectLst/>
                <a:latin typeface="Calibri" panose="020F0502020204030204" pitchFamily="34" charset="0"/>
                <a:ea typeface="Calibri" panose="020F0502020204030204" pitchFamily="34" charset="0"/>
                <a:cs typeface="Times New Roman" panose="02020603050405020304" pitchFamily="18" charset="0"/>
              </a:rPr>
              <a:t> betekent dat er passende </a:t>
            </a:r>
            <a:r>
              <a:rPr lang="nl-BE" sz="1200" b="1">
                <a:effectLst/>
                <a:latin typeface="Calibri" panose="020F0502020204030204" pitchFamily="34" charset="0"/>
                <a:ea typeface="Calibri" panose="020F0502020204030204" pitchFamily="34" charset="0"/>
                <a:cs typeface="Times New Roman" panose="02020603050405020304" pitchFamily="18" charset="0"/>
              </a:rPr>
              <a:t>technische en organisatorische maatregelen </a:t>
            </a:r>
            <a:r>
              <a:rPr lang="nl-BE" sz="1200">
                <a:effectLst/>
                <a:latin typeface="Calibri" panose="020F0502020204030204" pitchFamily="34" charset="0"/>
                <a:ea typeface="Calibri" panose="020F0502020204030204" pitchFamily="34" charset="0"/>
                <a:cs typeface="Times New Roman" panose="02020603050405020304" pitchFamily="18" charset="0"/>
              </a:rPr>
              <a:t>moeten worden genomen, zodat de juiste informatie alleen in de juiste handen terechtkomt.</a:t>
            </a:r>
          </a:p>
          <a:p>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r>
              <a:rPr lang="nl-BE" sz="1200">
                <a:effectLst/>
                <a:latin typeface="Calibri" panose="020F0502020204030204" pitchFamily="34" charset="0"/>
                <a:ea typeface="Calibri" panose="020F0502020204030204" pitchFamily="34" charset="0"/>
                <a:cs typeface="Times New Roman" panose="02020603050405020304" pitchFamily="18" charset="0"/>
              </a:rPr>
              <a:t>Maar welke gegevens zijn vertrouwelijk?</a:t>
            </a:r>
          </a:p>
          <a:p>
            <a:r>
              <a:rPr lang="nl-BE" sz="1200">
                <a:effectLst/>
                <a:latin typeface="Calibri" panose="020F0502020204030204" pitchFamily="34" charset="0"/>
                <a:ea typeface="Calibri" panose="020F0502020204030204" pitchFamily="34" charset="0"/>
                <a:cs typeface="Times New Roman" panose="02020603050405020304" pitchFamily="18" charset="0"/>
              </a:rPr>
              <a:t>Bij de beoordeling van de vertrouwelijkheid van gegevens is het belangrijk om in termen van risico's te denken. Vaak zijn vertrouwelijke gegevens </a:t>
            </a:r>
            <a:r>
              <a:rPr lang="nl-BE" sz="1200" err="1">
                <a:effectLst/>
                <a:latin typeface="Calibri" panose="020F0502020204030204" pitchFamily="34" charset="0"/>
                <a:ea typeface="Calibri" panose="020F0502020204030204" pitchFamily="34" charset="0"/>
                <a:cs typeface="Times New Roman" panose="02020603050405020304" pitchFamily="18" charset="0"/>
              </a:rPr>
              <a:t>gegevens</a:t>
            </a:r>
            <a:r>
              <a:rPr lang="nl-BE" sz="1200">
                <a:effectLst/>
                <a:latin typeface="Calibri" panose="020F0502020204030204" pitchFamily="34" charset="0"/>
                <a:ea typeface="Calibri" panose="020F0502020204030204" pitchFamily="34" charset="0"/>
                <a:cs typeface="Times New Roman" panose="02020603050405020304" pitchFamily="18" charset="0"/>
              </a:rPr>
              <a:t> waarvan de ongewenste openbaarmaking negatieve of schadelijke gevolgen heeft. Het kan bijvoorbeeld de deelnemers aan een onderzoek schaden, of het kan het valorisatiepotentieel in gevaar brengen. </a:t>
            </a:r>
          </a:p>
          <a:p>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r>
              <a:rPr lang="nl-BE" sz="1200">
                <a:effectLst/>
                <a:latin typeface="Calibri" panose="020F0502020204030204" pitchFamily="34" charset="0"/>
                <a:ea typeface="Calibri" panose="020F0502020204030204" pitchFamily="34" charset="0"/>
                <a:cs typeface="Times New Roman" panose="02020603050405020304" pitchFamily="18" charset="0"/>
              </a:rPr>
              <a:t>In feite zijn er drie veel voorkomende redenen waarom onderzoeksgegevens vertrouwelijk zijn.</a:t>
            </a:r>
          </a:p>
          <a:p>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r>
              <a:rPr lang="nl-BE" sz="1200">
                <a:effectLst/>
                <a:latin typeface="Calibri" panose="020F0502020204030204" pitchFamily="34" charset="0"/>
                <a:ea typeface="Calibri" panose="020F0502020204030204" pitchFamily="34" charset="0"/>
                <a:cs typeface="Times New Roman" panose="02020603050405020304" pitchFamily="18" charset="0"/>
              </a:rPr>
              <a:t>Ten eerste: </a:t>
            </a:r>
            <a:r>
              <a:rPr lang="nl-BE" sz="1200" b="1">
                <a:effectLst/>
                <a:latin typeface="Calibri" panose="020F0502020204030204" pitchFamily="34" charset="0"/>
                <a:ea typeface="Calibri" panose="020F0502020204030204" pitchFamily="34" charset="0"/>
                <a:cs typeface="Times New Roman" panose="02020603050405020304" pitchFamily="18" charset="0"/>
              </a:rPr>
              <a:t>persoonsgegevens</a:t>
            </a:r>
            <a:r>
              <a:rPr lang="nl-BE" sz="1200">
                <a:effectLst/>
                <a:latin typeface="Calibri" panose="020F0502020204030204" pitchFamily="34" charset="0"/>
                <a:ea typeface="Calibri" panose="020F0502020204030204" pitchFamily="34" charset="0"/>
                <a:cs typeface="Times New Roman" panose="02020603050405020304" pitchFamily="18" charset="0"/>
              </a:rPr>
              <a:t> of, met andere woorden, gegevens die betrekking hebben op een geïdentificeerde of identificeerbare persoon. Het </a:t>
            </a:r>
            <a:r>
              <a:rPr lang="nl-BE" sz="1200" b="1">
                <a:effectLst/>
                <a:latin typeface="Calibri" panose="020F0502020204030204" pitchFamily="34" charset="0"/>
                <a:ea typeface="Calibri" panose="020F0502020204030204" pitchFamily="34" charset="0"/>
                <a:cs typeface="Times New Roman" panose="02020603050405020304" pitchFamily="18" charset="0"/>
              </a:rPr>
              <a:t>risico</a:t>
            </a:r>
            <a:r>
              <a:rPr lang="nl-BE" sz="1200">
                <a:effectLst/>
                <a:latin typeface="Calibri" panose="020F0502020204030204" pitchFamily="34" charset="0"/>
                <a:ea typeface="Calibri" panose="020F0502020204030204" pitchFamily="34" charset="0"/>
                <a:cs typeface="Times New Roman" panose="02020603050405020304" pitchFamily="18" charset="0"/>
              </a:rPr>
              <a:t> hiervan is een inbreuk op de </a:t>
            </a:r>
            <a:r>
              <a:rPr lang="nl-BE" sz="1200" err="1">
                <a:effectLst/>
                <a:latin typeface="Calibri" panose="020F0502020204030204" pitchFamily="34" charset="0"/>
                <a:ea typeface="Calibri" panose="020F0502020204030204" pitchFamily="34" charset="0"/>
                <a:cs typeface="Times New Roman" panose="02020603050405020304" pitchFamily="18" charset="0"/>
              </a:rPr>
              <a:t>privacyrechten</a:t>
            </a:r>
            <a:r>
              <a:rPr lang="nl-BE" sz="1200">
                <a:effectLst/>
                <a:latin typeface="Calibri" panose="020F0502020204030204" pitchFamily="34" charset="0"/>
                <a:ea typeface="Calibri" panose="020F0502020204030204" pitchFamily="34" charset="0"/>
                <a:cs typeface="Times New Roman" panose="02020603050405020304" pitchFamily="18" charset="0"/>
              </a:rPr>
              <a:t>. Dit is bijvoorbeeld van belang voor speciale categorieën van persoonsgegevens zoals patiëntgegevens.</a:t>
            </a:r>
          </a:p>
          <a:p>
            <a:pPr marL="342900" indent="-342900">
              <a:buFont typeface="+mj-lt"/>
              <a:buAutoNum type="arabicPeriod"/>
            </a:pPr>
            <a:r>
              <a:rPr lang="nl-BE" sz="1200">
                <a:effectLst/>
                <a:latin typeface="Calibri" panose="020F0502020204030204" pitchFamily="34" charset="0"/>
                <a:ea typeface="Calibri" panose="020F0502020204030204" pitchFamily="34" charset="0"/>
                <a:cs typeface="Times New Roman" panose="02020603050405020304" pitchFamily="18" charset="0"/>
              </a:rPr>
              <a:t>Een tweede reden om gegevens als vertrouwelijk te bestempelen is omdat we </a:t>
            </a:r>
            <a:r>
              <a:rPr lang="nl-BE" sz="1200" b="1">
                <a:effectLst/>
                <a:latin typeface="Calibri" panose="020F0502020204030204" pitchFamily="34" charset="0"/>
                <a:ea typeface="Calibri" panose="020F0502020204030204" pitchFamily="34" charset="0"/>
                <a:cs typeface="Times New Roman" panose="02020603050405020304" pitchFamily="18" charset="0"/>
              </a:rPr>
              <a:t>intellectuele eigendom willen veiligstellen</a:t>
            </a:r>
            <a:r>
              <a:rPr lang="nl-BE" sz="1200">
                <a:effectLst/>
                <a:latin typeface="Calibri" panose="020F0502020204030204" pitchFamily="34" charset="0"/>
                <a:ea typeface="Calibri" panose="020F0502020204030204" pitchFamily="34" charset="0"/>
                <a:cs typeface="Times New Roman" panose="02020603050405020304" pitchFamily="18" charset="0"/>
              </a:rPr>
              <a:t>, bijvoorbeeld door het indienen van een octrooiaanvraag. Het </a:t>
            </a:r>
            <a:r>
              <a:rPr lang="nl-BE" sz="1200" b="1">
                <a:effectLst/>
                <a:latin typeface="Calibri" panose="020F0502020204030204" pitchFamily="34" charset="0"/>
                <a:ea typeface="Calibri" panose="020F0502020204030204" pitchFamily="34" charset="0"/>
                <a:cs typeface="Times New Roman" panose="02020603050405020304" pitchFamily="18" charset="0"/>
              </a:rPr>
              <a:t>risico</a:t>
            </a:r>
            <a:r>
              <a:rPr lang="nl-BE" sz="1200">
                <a:effectLst/>
                <a:latin typeface="Calibri" panose="020F0502020204030204" pitchFamily="34" charset="0"/>
                <a:ea typeface="Calibri" panose="020F0502020204030204" pitchFamily="34" charset="0"/>
                <a:cs typeface="Times New Roman" panose="02020603050405020304" pitchFamily="18" charset="0"/>
              </a:rPr>
              <a:t> hiervan heeft betrekking op het ondermijnen van het valorisatiepotentieel van onze onderzoeksresultaten. </a:t>
            </a:r>
          </a:p>
          <a:p>
            <a:pPr marL="342900" indent="-342900">
              <a:buFont typeface="+mj-lt"/>
              <a:buAutoNum type="arabicPeriod"/>
            </a:pPr>
            <a:r>
              <a:rPr lang="nl-BE" sz="1200">
                <a:effectLst/>
                <a:latin typeface="Calibri" panose="020F0502020204030204" pitchFamily="34" charset="0"/>
                <a:ea typeface="Calibri" panose="020F0502020204030204" pitchFamily="34" charset="0"/>
                <a:cs typeface="Times New Roman" panose="02020603050405020304" pitchFamily="18" charset="0"/>
              </a:rPr>
              <a:t>En ten derde kunnen gegevens vertrouwelijk zijn wanneer </a:t>
            </a:r>
            <a:r>
              <a:rPr lang="nl-BE" sz="1200" b="1">
                <a:effectLst/>
                <a:latin typeface="Calibri" panose="020F0502020204030204" pitchFamily="34" charset="0"/>
                <a:ea typeface="Calibri" panose="020F0502020204030204" pitchFamily="34" charset="0"/>
                <a:cs typeface="Times New Roman" panose="02020603050405020304" pitchFamily="18" charset="0"/>
              </a:rPr>
              <a:t>contracten met derden </a:t>
            </a:r>
            <a:r>
              <a:rPr lang="nl-BE" sz="1200">
                <a:effectLst/>
                <a:latin typeface="Calibri" panose="020F0502020204030204" pitchFamily="34" charset="0"/>
                <a:ea typeface="Calibri" panose="020F0502020204030204" pitchFamily="34" charset="0"/>
                <a:cs typeface="Times New Roman" panose="02020603050405020304" pitchFamily="18" charset="0"/>
              </a:rPr>
              <a:t>bepaalde beperkingen opleggen aan wie wel of niet toegang heeft tot de onderzoeksgegevens. Het </a:t>
            </a:r>
            <a:r>
              <a:rPr lang="nl-BE" sz="1200" b="1">
                <a:effectLst/>
                <a:latin typeface="Calibri" panose="020F0502020204030204" pitchFamily="34" charset="0"/>
                <a:ea typeface="Calibri" panose="020F0502020204030204" pitchFamily="34" charset="0"/>
                <a:cs typeface="Times New Roman" panose="02020603050405020304" pitchFamily="18" charset="0"/>
              </a:rPr>
              <a:t>risico</a:t>
            </a:r>
            <a:r>
              <a:rPr lang="nl-BE" sz="1200">
                <a:effectLst/>
                <a:latin typeface="Calibri" panose="020F0502020204030204" pitchFamily="34" charset="0"/>
                <a:ea typeface="Calibri" panose="020F0502020204030204" pitchFamily="34" charset="0"/>
                <a:cs typeface="Times New Roman" panose="02020603050405020304" pitchFamily="18" charset="0"/>
              </a:rPr>
              <a:t> dat we hier willen afdekken is het niet nakomen van contractuele verplichtingen.  </a:t>
            </a:r>
          </a:p>
          <a:p>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r>
              <a:rPr lang="nl-BE" sz="1200">
                <a:effectLst/>
                <a:latin typeface="Calibri" panose="020F0502020204030204" pitchFamily="34" charset="0"/>
                <a:ea typeface="Calibri" panose="020F0502020204030204" pitchFamily="34" charset="0"/>
                <a:cs typeface="Times New Roman" panose="02020603050405020304" pitchFamily="18" charset="0"/>
              </a:rPr>
              <a:t>Wat de reden ook is om gegevens als vertrouwelijk te beschouwen, de implicatie is altijd dat ze niet openbaar mogen worden gemaakt aan of toegankelijk zijn voor onbevoegden. </a:t>
            </a:r>
          </a:p>
          <a:p>
            <a:endParaRPr lang="en-US" sz="12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Nu, hoe zit het met het tweede principe, integriteit? </a:t>
            </a:r>
          </a:p>
          <a:p>
            <a:pPr>
              <a:lnSpc>
                <a:spcPct val="107000"/>
              </a:lnSpc>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Integriteit betekent dat we moeten garanderen dat de gegevens gedurende de hele levenscyclus accuraat en volledig blijven. Dat ze niet onbedoeld gewijzigd worden Risico's voor de integriteit kunnen voortkomen uit technische problemen of menselijk handelen.</a:t>
            </a:r>
          </a:p>
          <a:p>
            <a:pPr>
              <a:lnSpc>
                <a:spcPct val="107000"/>
              </a:lnSpc>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Problemen van technische aard zijn meestal het gevolg van onvoorziene </a:t>
            </a:r>
            <a:r>
              <a:rPr lang="nl-BE" sz="1200" err="1">
                <a:effectLst/>
                <a:latin typeface="Calibri" panose="020F0502020204030204" pitchFamily="34" charset="0"/>
                <a:ea typeface="Calibri" panose="020F0502020204030204" pitchFamily="34" charset="0"/>
                <a:cs typeface="Times New Roman" panose="02020603050405020304" pitchFamily="18" charset="0"/>
              </a:rPr>
              <a:t>hardwarefouten</a:t>
            </a:r>
            <a:r>
              <a:rPr lang="nl-BE" sz="1200">
                <a:effectLst/>
                <a:latin typeface="Calibri" panose="020F0502020204030204" pitchFamily="34" charset="0"/>
                <a:ea typeface="Calibri" panose="020F0502020204030204" pitchFamily="34" charset="0"/>
                <a:cs typeface="Times New Roman" panose="02020603050405020304" pitchFamily="18" charset="0"/>
              </a:rPr>
              <a:t>, degradatie of misconfiguratie, en kunnen leiden tot gegevenscorruptie of -verlies. </a:t>
            </a:r>
          </a:p>
          <a:p>
            <a:pPr>
              <a:lnSpc>
                <a:spcPct val="107000"/>
              </a:lnSpc>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Aan de andere kant kunnen integriteitsproblemen, veroorzaakt door menselijk ingrijpen, zowel opzettelijk als onopzettelijk zijn. </a:t>
            </a:r>
          </a:p>
          <a:p>
            <a:pPr>
              <a:lnSpc>
                <a:spcPct val="107000"/>
              </a:lnSpc>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Onderzoekers kunnen bijvoorbeeld per ongeluk gegevens wijzigen in een databestand.</a:t>
            </a:r>
          </a:p>
          <a:p>
            <a:endParaRPr lang="en-US"/>
          </a:p>
          <a:p>
            <a:pPr>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Dat brengt ons bij het laatste principe van informatiebeveiliging: Beschikbaarheid. </a:t>
            </a:r>
          </a:p>
          <a:p>
            <a:pPr>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In het ideale geval moeten gegevens direct beschikbaar zijn wanneer ze nodig zijn, waar ze nodig zijn en in de vorm waarin je ze verwacht. </a:t>
            </a:r>
          </a:p>
          <a:p>
            <a:pPr>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Maar... zo is het niet altijd. Data of hardware kan verloren gaan of gestolen worden, er kunnen storingen zijn in het netwerk, of in de beschikbaarheid van een clouddienst.   </a:t>
            </a:r>
          </a:p>
          <a:p>
            <a:pPr>
              <a:spcAft>
                <a:spcPts val="800"/>
              </a:spcAft>
            </a:pPr>
            <a:endParaRPr lang="nl-BE" sz="1200">
              <a:effectLst/>
              <a:latin typeface="Calibri" panose="020F0502020204030204" pitchFamily="34" charset="0"/>
              <a:ea typeface="Calibri" panose="020F0502020204030204" pitchFamily="34" charset="0"/>
              <a:cs typeface="Times New Roman" panose="02020603050405020304" pitchFamily="18" charset="0"/>
            </a:endParaRPr>
          </a:p>
          <a:p>
            <a:pPr>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Conclusie </a:t>
            </a:r>
          </a:p>
          <a:p>
            <a:pPr>
              <a:spcAft>
                <a:spcPts val="800"/>
              </a:spcAft>
            </a:pPr>
            <a:r>
              <a:rPr lang="nl-BE" sz="1200">
                <a:effectLst/>
                <a:latin typeface="Calibri" panose="020F0502020204030204" pitchFamily="34" charset="0"/>
                <a:ea typeface="Calibri" panose="020F0502020204030204" pitchFamily="34" charset="0"/>
                <a:cs typeface="Times New Roman" panose="02020603050405020304" pitchFamily="18" charset="0"/>
              </a:rPr>
              <a:t>Dus, zoals je ziet, zijn er een paar risico's die de veiligheid van onze gegevens bedreigen. De vraag is dan ook wat we kunnen doen om deze risico's te minimaliseren. </a:t>
            </a:r>
            <a:endParaRPr lang="en-US"/>
          </a:p>
          <a:p>
            <a:endParaRPr lang="en-BE"/>
          </a:p>
        </p:txBody>
      </p:sp>
      <p:sp>
        <p:nvSpPr>
          <p:cNvPr id="4" name="Slide Number Placeholder 3"/>
          <p:cNvSpPr>
            <a:spLocks noGrp="1"/>
          </p:cNvSpPr>
          <p:nvPr>
            <p:ph type="sldNum" sz="quarter" idx="5"/>
          </p:nvPr>
        </p:nvSpPr>
        <p:spPr/>
        <p:txBody>
          <a:bodyPr/>
          <a:lstStyle/>
          <a:p>
            <a:fld id="{539A0A48-EDB1-4AFE-B1B7-10CE2A416496}" type="slidenum">
              <a:rPr lang="en-GB" smtClean="0"/>
              <a:t>3</a:t>
            </a:fld>
            <a:endParaRPr lang="en-GB"/>
          </a:p>
        </p:txBody>
      </p:sp>
    </p:spTree>
    <p:extLst>
      <p:ext uri="{BB962C8B-B14F-4D97-AF65-F5344CB8AC3E}">
        <p14:creationId xmlns:p14="http://schemas.microsoft.com/office/powerpoint/2010/main" val="35805444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Calibri" panose="020F0502020204030204" pitchFamily="34" charset="0"/>
              </a:rPr>
              <a:t> with post its or digital </a:t>
            </a:r>
            <a:r>
              <a:rPr lang="en-US" sz="1800">
                <a:effectLst/>
                <a:latin typeface="Calibri" panose="020F0502020204030204" pitchFamily="34" charset="0"/>
                <a:hlinkClick r:id="rId3"/>
              </a:rPr>
              <a:t>white board</a:t>
            </a:r>
            <a:r>
              <a:rPr lang="en-US" sz="1800">
                <a:effectLst/>
                <a:latin typeface="Calibri" panose="020F0502020204030204" pitchFamily="34" charset="0"/>
              </a:rPr>
              <a:t> in teams chat</a:t>
            </a:r>
            <a:endParaRPr lang="en-BE"/>
          </a:p>
        </p:txBody>
      </p:sp>
      <p:sp>
        <p:nvSpPr>
          <p:cNvPr id="4" name="Slide Number Placeholder 3"/>
          <p:cNvSpPr>
            <a:spLocks noGrp="1"/>
          </p:cNvSpPr>
          <p:nvPr>
            <p:ph type="sldNum" sz="quarter" idx="5"/>
          </p:nvPr>
        </p:nvSpPr>
        <p:spPr/>
        <p:txBody>
          <a:bodyPr/>
          <a:lstStyle/>
          <a:p>
            <a:fld id="{539A0A48-EDB1-4AFE-B1B7-10CE2A416496}" type="slidenum">
              <a:rPr lang="en-GB" smtClean="0"/>
              <a:t>5</a:t>
            </a:fld>
            <a:endParaRPr lang="en-GB"/>
          </a:p>
        </p:txBody>
      </p:sp>
    </p:spTree>
    <p:extLst>
      <p:ext uri="{BB962C8B-B14F-4D97-AF65-F5344CB8AC3E}">
        <p14:creationId xmlns:p14="http://schemas.microsoft.com/office/powerpoint/2010/main" val="20153535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7</a:t>
            </a:fld>
            <a:endParaRPr lang="en-GB"/>
          </a:p>
        </p:txBody>
      </p:sp>
    </p:spTree>
    <p:extLst>
      <p:ext uri="{BB962C8B-B14F-4D97-AF65-F5344CB8AC3E}">
        <p14:creationId xmlns:p14="http://schemas.microsoft.com/office/powerpoint/2010/main" val="35462378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200" b="0" dirty="0"/>
              <a:t>What is a file format?</a:t>
            </a:r>
          </a:p>
          <a:p>
            <a:pPr>
              <a:buFont typeface="Arial" panose="020B0604020202020204" pitchFamily="34" charset="0"/>
              <a:buChar char="•"/>
            </a:pPr>
            <a:r>
              <a:rPr lang="en-GB" sz="1200" b="0" dirty="0"/>
              <a:t>A file format determines how information is stored (or "encoded") within a digital file.</a:t>
            </a:r>
          </a:p>
          <a:p>
            <a:pPr>
              <a:buFont typeface="Arial" panose="020B0604020202020204" pitchFamily="34" charset="0"/>
              <a:buChar char="•"/>
            </a:pPr>
            <a:r>
              <a:rPr lang="en-GB" sz="1200" b="0" dirty="0"/>
              <a:t>Examples can be identified by their file extensions, such as .docx, .jpg, .pdf.</a:t>
            </a:r>
          </a:p>
          <a:p>
            <a:r>
              <a:rPr lang="en-GB" sz="1200" b="0" dirty="0"/>
              <a:t>Factors influencing file format choice:</a:t>
            </a:r>
          </a:p>
          <a:p>
            <a:pPr>
              <a:buFont typeface="Arial" panose="020B0604020202020204" pitchFamily="34" charset="0"/>
              <a:buChar char="•"/>
            </a:pPr>
            <a:r>
              <a:rPr lang="en-GB" sz="1200" b="0" dirty="0"/>
              <a:t>Domain norms &amp; software: Some fields have preferred formats (e.g., .</a:t>
            </a:r>
            <a:r>
              <a:rPr lang="en-GB" sz="1200" b="0" dirty="0" err="1"/>
              <a:t>fasta</a:t>
            </a:r>
            <a:r>
              <a:rPr lang="en-GB" sz="1200" b="0" dirty="0"/>
              <a:t> for bioinformatics or .</a:t>
            </a:r>
            <a:r>
              <a:rPr lang="en-GB" sz="1200" b="0" dirty="0" err="1"/>
              <a:t>dicom</a:t>
            </a:r>
            <a:r>
              <a:rPr lang="en-GB" sz="1200" b="0" dirty="0"/>
              <a:t> for medical imaging).</a:t>
            </a:r>
          </a:p>
          <a:p>
            <a:pPr>
              <a:buFont typeface="Arial" panose="020B0604020202020204" pitchFamily="34" charset="0"/>
              <a:buChar char="•"/>
            </a:pPr>
            <a:r>
              <a:rPr lang="en-GB" sz="1200" b="0" dirty="0"/>
              <a:t>Previous work &amp; colleagues: Consistency with existing data or ensuring compatibility with collaborators' tools.</a:t>
            </a:r>
          </a:p>
          <a:p>
            <a:pPr>
              <a:buFont typeface="Arial" panose="020B0604020202020204" pitchFamily="34" charset="0"/>
              <a:buChar char="•"/>
            </a:pPr>
            <a:r>
              <a:rPr lang="en-GB" sz="1200" b="0" dirty="0"/>
              <a:t>Hardware &amp; instrumentation: Certain formats are dictated by the equipment or software used to generate the data.</a:t>
            </a:r>
          </a:p>
          <a:p>
            <a:pPr>
              <a:buFont typeface="Arial" panose="020B0604020202020204" pitchFamily="34" charset="0"/>
              <a:buChar char="•"/>
            </a:pPr>
            <a:r>
              <a:rPr lang="en-GB" sz="1200" b="0" dirty="0"/>
              <a:t>Facilitate collaboration: Choosing formats that are widely used and accessible ensures smoother collaboration.</a:t>
            </a:r>
          </a:p>
          <a:p>
            <a:pPr>
              <a:buFont typeface="Arial" panose="020B0604020202020204" pitchFamily="34" charset="0"/>
              <a:buChar char="•"/>
            </a:pPr>
            <a:r>
              <a:rPr lang="en-GB" sz="1200" b="0" dirty="0"/>
              <a:t>Vulnerability to obsolescence: Consider whether the format is likely to become outdated or if it will remain accessible in the future.</a:t>
            </a:r>
          </a:p>
          <a:p>
            <a:r>
              <a:rPr lang="en-GB" sz="1200" b="1" dirty="0"/>
              <a:t>Key takeaway:</a:t>
            </a:r>
          </a:p>
          <a:p>
            <a:pPr>
              <a:buFont typeface="Arial" panose="020B0604020202020204" pitchFamily="34" charset="0"/>
              <a:buChar char="•"/>
            </a:pPr>
            <a:r>
              <a:rPr lang="en-GB" sz="1200" b="0" dirty="0"/>
              <a:t>Choosing the right file format is essential for data compatibility, longevity, and collaboration.</a:t>
            </a:r>
          </a:p>
          <a:p>
            <a:endParaRPr lang="en-GB" sz="1000" b="0" dirty="0"/>
          </a:p>
        </p:txBody>
      </p:sp>
      <p:sp>
        <p:nvSpPr>
          <p:cNvPr id="4" name="Slide Number Placeholder 3"/>
          <p:cNvSpPr>
            <a:spLocks noGrp="1"/>
          </p:cNvSpPr>
          <p:nvPr>
            <p:ph type="sldNum" sz="quarter" idx="5"/>
          </p:nvPr>
        </p:nvSpPr>
        <p:spPr/>
        <p:txBody>
          <a:bodyPr/>
          <a:lstStyle/>
          <a:p>
            <a:fld id="{539A0A48-EDB1-4AFE-B1B7-10CE2A416496}" type="slidenum">
              <a:rPr lang="en-GB" smtClean="0"/>
              <a:t>10</a:t>
            </a:fld>
            <a:endParaRPr lang="en-GB"/>
          </a:p>
        </p:txBody>
      </p:sp>
    </p:spTree>
    <p:extLst>
      <p:ext uri="{BB962C8B-B14F-4D97-AF65-F5344CB8AC3E}">
        <p14:creationId xmlns:p14="http://schemas.microsoft.com/office/powerpoint/2010/main" val="856296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Closed Formats</a:t>
            </a:r>
          </a:p>
          <a:p>
            <a:pPr>
              <a:buFont typeface="Arial" panose="020B0604020202020204" pitchFamily="34" charset="0"/>
              <a:buChar char="•"/>
            </a:pPr>
            <a:r>
              <a:rPr lang="en-GB" b="0" dirty="0"/>
              <a:t>Definition: Proprietary formats controlled by specific companies or organizations.</a:t>
            </a:r>
          </a:p>
          <a:p>
            <a:pPr>
              <a:buFont typeface="Arial" panose="020B0604020202020204" pitchFamily="34" charset="0"/>
              <a:buChar char="•"/>
            </a:pPr>
            <a:r>
              <a:rPr lang="en-GB" b="0" dirty="0"/>
              <a:t>Characteristics:</a:t>
            </a:r>
          </a:p>
          <a:p>
            <a:pPr marL="742950" lvl="1" indent="-285750">
              <a:buFont typeface="Arial" panose="020B0604020202020204" pitchFamily="34" charset="0"/>
              <a:buChar char="•"/>
            </a:pPr>
            <a:r>
              <a:rPr lang="en-GB" b="0" dirty="0"/>
              <a:t>Dependence on third-party software to access or edit files (e.g., WMA, PSD).</a:t>
            </a:r>
          </a:p>
          <a:p>
            <a:pPr marL="742950" lvl="1" indent="-285750">
              <a:buFont typeface="Arial" panose="020B0604020202020204" pitchFamily="34" charset="0"/>
              <a:buChar char="•"/>
            </a:pPr>
            <a:r>
              <a:rPr lang="en-GB" b="0" dirty="0"/>
              <a:t>Limited compatibility between different software versions.</a:t>
            </a:r>
          </a:p>
          <a:p>
            <a:pPr marL="742950" lvl="1" indent="-285750">
              <a:buFont typeface="Arial" panose="020B0604020202020204" pitchFamily="34" charset="0"/>
              <a:buChar char="•"/>
            </a:pPr>
            <a:r>
              <a:rPr lang="en-GB" b="0" dirty="0"/>
              <a:t>High vulnerability to obsolescence, as the format might not be supported in the future.</a:t>
            </a:r>
          </a:p>
          <a:p>
            <a:r>
              <a:rPr lang="en-GB" b="0" dirty="0"/>
              <a:t>Open Formats</a:t>
            </a:r>
          </a:p>
          <a:p>
            <a:pPr>
              <a:buFont typeface="Arial" panose="020B0604020202020204" pitchFamily="34" charset="0"/>
              <a:buChar char="•"/>
            </a:pPr>
            <a:r>
              <a:rPr lang="en-GB" b="0" dirty="0"/>
              <a:t>Definition: Formats that are platform- and software-independent, designed for interoperability and reuse.</a:t>
            </a:r>
          </a:p>
          <a:p>
            <a:pPr>
              <a:buFont typeface="Arial" panose="020B0604020202020204" pitchFamily="34" charset="0"/>
              <a:buChar char="•"/>
            </a:pPr>
            <a:r>
              <a:rPr lang="en-GB" b="0" dirty="0"/>
              <a:t>Characteristics:</a:t>
            </a:r>
          </a:p>
          <a:p>
            <a:pPr marL="742950" lvl="1" indent="-285750">
              <a:buFont typeface="Arial" panose="020B0604020202020204" pitchFamily="34" charset="0"/>
              <a:buChar char="•"/>
            </a:pPr>
            <a:r>
              <a:rPr lang="en-GB" b="0" dirty="0"/>
              <a:t>Can be either proprietary or non-proprietary but are widely accessible (e.g., PDF, CSV, PNG, TIFF).</a:t>
            </a:r>
          </a:p>
          <a:p>
            <a:pPr marL="742950" lvl="1" indent="-285750">
              <a:buFont typeface="Arial" panose="020B0604020202020204" pitchFamily="34" charset="0"/>
              <a:buChar char="•"/>
            </a:pPr>
            <a:r>
              <a:rPr lang="en-GB" b="0" dirty="0"/>
              <a:t>Platform and software independent, maximizing usability across tools.</a:t>
            </a:r>
          </a:p>
          <a:p>
            <a:pPr marL="742950" lvl="1" indent="-285750">
              <a:buFont typeface="Arial" panose="020B0604020202020204" pitchFamily="34" charset="0"/>
              <a:buChar char="•"/>
            </a:pPr>
            <a:r>
              <a:rPr lang="en-GB" b="0" dirty="0"/>
              <a:t>Designed for compatibility between versions to ensure long-term accessibility.</a:t>
            </a:r>
          </a:p>
          <a:p>
            <a:pPr marL="742950" lvl="1" indent="-285750">
              <a:buFont typeface="Arial" panose="020B0604020202020204" pitchFamily="34" charset="0"/>
              <a:buChar char="•"/>
            </a:pPr>
            <a:r>
              <a:rPr lang="en-GB" b="0" dirty="0"/>
              <a:t>Low vulnerability to obsolescence, making them better for archiving and sharing.</a:t>
            </a:r>
          </a:p>
          <a:p>
            <a:r>
              <a:rPr lang="en-GB" b="1" dirty="0"/>
              <a:t>Key takeaway</a:t>
            </a:r>
          </a:p>
          <a:p>
            <a:pPr>
              <a:buFont typeface="Arial" panose="020B0604020202020204" pitchFamily="34" charset="0"/>
              <a:buChar char="•"/>
            </a:pPr>
            <a:r>
              <a:rPr lang="en-GB" b="0" dirty="0"/>
              <a:t>Use open formats whenever possible, especially for sharing and archiving data, to ensure compatibility and future access.</a:t>
            </a:r>
          </a:p>
          <a:p>
            <a:pPr>
              <a:buFont typeface="Arial" panose="020B0604020202020204" pitchFamily="34" charset="0"/>
              <a:buChar char="•"/>
            </a:pPr>
            <a:r>
              <a:rPr lang="en-GB" b="0" dirty="0"/>
              <a:t>Rely on closed formats only when necessary, such as for specific tools or workflows.</a:t>
            </a:r>
          </a:p>
          <a:p>
            <a:endParaRPr lang="en-GB" b="0" dirty="0"/>
          </a:p>
        </p:txBody>
      </p:sp>
      <p:sp>
        <p:nvSpPr>
          <p:cNvPr id="4" name="Slide Number Placeholder 3"/>
          <p:cNvSpPr>
            <a:spLocks noGrp="1"/>
          </p:cNvSpPr>
          <p:nvPr>
            <p:ph type="sldNum" sz="quarter" idx="5"/>
          </p:nvPr>
        </p:nvSpPr>
        <p:spPr/>
        <p:txBody>
          <a:bodyPr/>
          <a:lstStyle/>
          <a:p>
            <a:fld id="{539A0A48-EDB1-4AFE-B1B7-10CE2A416496}" type="slidenum">
              <a:rPr lang="en-GB" smtClean="0"/>
              <a:t>11</a:t>
            </a:fld>
            <a:endParaRPr lang="en-GB"/>
          </a:p>
        </p:txBody>
      </p:sp>
    </p:spTree>
    <p:extLst>
      <p:ext uri="{BB962C8B-B14F-4D97-AF65-F5344CB8AC3E}">
        <p14:creationId xmlns:p14="http://schemas.microsoft.com/office/powerpoint/2010/main" val="15046572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Sometimes we might need to migrate files to a different format. How can be make sure we preserve data quality?</a:t>
            </a:r>
          </a:p>
          <a:p>
            <a:r>
              <a:rPr lang="en-GB" b="1" dirty="0"/>
              <a:t>File migration risks</a:t>
            </a:r>
          </a:p>
          <a:p>
            <a:pPr>
              <a:buFont typeface="+mj-lt"/>
              <a:buAutoNum type="arabicPeriod"/>
            </a:pPr>
            <a:r>
              <a:rPr lang="en-GB" b="0" dirty="0"/>
              <a:t>Possible loss of content, metadata, and quality:</a:t>
            </a:r>
          </a:p>
          <a:p>
            <a:pPr marL="742950" lvl="1" indent="-285750">
              <a:buFont typeface="+mj-lt"/>
              <a:buAutoNum type="arabicPeriod"/>
            </a:pPr>
            <a:r>
              <a:rPr lang="en-GB" b="0" dirty="0"/>
              <a:t>For example, converting XLSX to CSV:</a:t>
            </a:r>
          </a:p>
          <a:p>
            <a:pPr marL="1143000" lvl="2" indent="-228600">
              <a:buFont typeface="+mj-lt"/>
              <a:buAutoNum type="arabicPeriod"/>
            </a:pPr>
            <a:r>
              <a:rPr lang="en-GB" b="0" dirty="0"/>
              <a:t>Loss of formulas, embedded charts, comments, and visual formatting.</a:t>
            </a:r>
          </a:p>
          <a:p>
            <a:pPr marL="1143000" lvl="2" indent="-228600">
              <a:buFont typeface="+mj-lt"/>
              <a:buAutoNum type="arabicPeriod"/>
            </a:pPr>
            <a:r>
              <a:rPr lang="en-GB" b="0" dirty="0"/>
              <a:t>Other issues: Misalignment due to multiple tables, merged cells, or dates not properly formatted.</a:t>
            </a:r>
          </a:p>
          <a:p>
            <a:pPr>
              <a:buFont typeface="+mj-lt"/>
              <a:buAutoNum type="arabicPeriod"/>
            </a:pPr>
            <a:r>
              <a:rPr lang="en-GB" b="0" dirty="0"/>
              <a:t>Strategies:</a:t>
            </a:r>
          </a:p>
          <a:p>
            <a:pPr marL="742950" lvl="1" indent="-285750">
              <a:buFont typeface="+mj-lt"/>
              <a:buAutoNum type="arabicPeriod"/>
            </a:pPr>
            <a:r>
              <a:rPr lang="en-GB" b="0" dirty="0"/>
              <a:t>Always keep a copy of the original file to revert to in case of data loss.</a:t>
            </a:r>
          </a:p>
          <a:p>
            <a:pPr marL="742950" lvl="1" indent="-285750">
              <a:buFont typeface="+mj-lt"/>
              <a:buAutoNum type="arabicPeriod"/>
            </a:pPr>
            <a:r>
              <a:rPr lang="en-GB" b="0" dirty="0"/>
              <a:t>Check and repair damage after migration to ensure the integrity of the data.</a:t>
            </a:r>
          </a:p>
          <a:p>
            <a:r>
              <a:rPr lang="en-GB" b="1" dirty="0"/>
              <a:t>Compression types</a:t>
            </a:r>
          </a:p>
          <a:p>
            <a:pPr>
              <a:buFont typeface="+mj-lt"/>
              <a:buAutoNum type="arabicPeriod"/>
            </a:pPr>
            <a:r>
              <a:rPr lang="en-GB" b="0" dirty="0"/>
              <a:t>Lossless compression:</a:t>
            </a:r>
          </a:p>
          <a:p>
            <a:pPr marL="742950" lvl="1" indent="-285750">
              <a:buFont typeface="+mj-lt"/>
              <a:buAutoNum type="arabicPeriod"/>
            </a:pPr>
            <a:r>
              <a:rPr lang="en-GB" b="0" dirty="0"/>
              <a:t>Formats like TIFF allow perfect reconstruction of the original data after decompression.</a:t>
            </a:r>
          </a:p>
          <a:p>
            <a:pPr marL="742950" lvl="1" indent="-285750">
              <a:buFont typeface="+mj-lt"/>
              <a:buAutoNum type="arabicPeriod"/>
            </a:pPr>
            <a:r>
              <a:rPr lang="en-GB" b="0" dirty="0"/>
              <a:t>Useful for data where quality and accuracy must be maintained (e.g., research data or high-quality images).</a:t>
            </a:r>
          </a:p>
          <a:p>
            <a:pPr>
              <a:buFont typeface="+mj-lt"/>
              <a:buAutoNum type="arabicPeriod"/>
            </a:pPr>
            <a:r>
              <a:rPr lang="en-GB" b="0" dirty="0"/>
              <a:t>Lossy compression:</a:t>
            </a:r>
          </a:p>
          <a:p>
            <a:pPr marL="742950" lvl="1" indent="-285750">
              <a:buFont typeface="+mj-lt"/>
              <a:buAutoNum type="arabicPeriod"/>
            </a:pPr>
            <a:r>
              <a:rPr lang="en-GB" b="0" dirty="0"/>
              <a:t>Formats like JPG use approximations, discarding some data to reduce file size.</a:t>
            </a:r>
          </a:p>
          <a:p>
            <a:pPr marL="742950" lvl="1" indent="-285750">
              <a:buFont typeface="+mj-lt"/>
              <a:buAutoNum type="arabicPeriod"/>
            </a:pPr>
            <a:r>
              <a:rPr lang="en-GB" b="0" dirty="0"/>
              <a:t>Suitable for applications where slight quality loss is acceptable (e.g., web images).</a:t>
            </a:r>
          </a:p>
          <a:p>
            <a:endParaRPr lang="en-GB" b="1" dirty="0"/>
          </a:p>
          <a:p>
            <a:r>
              <a:rPr lang="en-GB" b="1" dirty="0"/>
              <a:t>Key takeaways</a:t>
            </a:r>
          </a:p>
          <a:p>
            <a:pPr>
              <a:buFont typeface="Arial" panose="020B0604020202020204" pitchFamily="34" charset="0"/>
              <a:buChar char="•"/>
            </a:pPr>
            <a:r>
              <a:rPr lang="en-GB" b="0" dirty="0"/>
              <a:t>Always be aware of the risks when migrating or compressing files.</a:t>
            </a:r>
          </a:p>
          <a:p>
            <a:pPr>
              <a:buFont typeface="Arial" panose="020B0604020202020204" pitchFamily="34" charset="0"/>
              <a:buChar char="•"/>
            </a:pPr>
            <a:r>
              <a:rPr lang="en-GB" b="0" dirty="0"/>
              <a:t>Use lossless formats for critical data and lossy formats when smaller file sizes are more important than precision.</a:t>
            </a:r>
          </a:p>
          <a:p>
            <a:pPr>
              <a:buFont typeface="Arial" panose="020B0604020202020204" pitchFamily="34" charset="0"/>
              <a:buChar char="•"/>
            </a:pPr>
            <a:r>
              <a:rPr lang="en-GB" b="0" dirty="0"/>
              <a:t>Regularly validate the integrity of migrated or compressed files.</a:t>
            </a:r>
          </a:p>
          <a:p>
            <a:endParaRPr lang="en-GB" b="0" dirty="0"/>
          </a:p>
        </p:txBody>
      </p:sp>
      <p:sp>
        <p:nvSpPr>
          <p:cNvPr id="4" name="Slide Number Placeholder 3"/>
          <p:cNvSpPr>
            <a:spLocks noGrp="1"/>
          </p:cNvSpPr>
          <p:nvPr>
            <p:ph type="sldNum" sz="quarter" idx="5"/>
          </p:nvPr>
        </p:nvSpPr>
        <p:spPr/>
        <p:txBody>
          <a:bodyPr/>
          <a:lstStyle/>
          <a:p>
            <a:fld id="{539A0A48-EDB1-4AFE-B1B7-10CE2A416496}" type="slidenum">
              <a:rPr lang="en-GB" smtClean="0"/>
              <a:t>12</a:t>
            </a:fld>
            <a:endParaRPr lang="en-GB"/>
          </a:p>
        </p:txBody>
      </p:sp>
    </p:spTree>
    <p:extLst>
      <p:ext uri="{BB962C8B-B14F-4D97-AF65-F5344CB8AC3E}">
        <p14:creationId xmlns:p14="http://schemas.microsoft.com/office/powerpoint/2010/main" val="685986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GB" b="1" dirty="0"/>
              <a:t>In NS + BSE</a:t>
            </a:r>
          </a:p>
          <a:p>
            <a:pPr marL="0" indent="0">
              <a:buFont typeface="Arial" panose="020B0604020202020204" pitchFamily="34" charset="0"/>
              <a:buNone/>
            </a:pPr>
            <a:r>
              <a:rPr lang="en-GB" b="1" dirty="0"/>
              <a:t>FITS (.fits)</a:t>
            </a:r>
            <a:r>
              <a:rPr lang="en-GB" dirty="0"/>
              <a:t>: Flexible Image Transport System, widely used for storing astronomical data, images, and metadata</a:t>
            </a:r>
          </a:p>
          <a:p>
            <a:pPr marL="0" indent="0">
              <a:buFont typeface="Arial" panose="020B0604020202020204" pitchFamily="34" charset="0"/>
              <a:buNone/>
            </a:pPr>
            <a:r>
              <a:rPr lang="en-GB" b="1" dirty="0"/>
              <a:t>ASCII (.txt)</a:t>
            </a:r>
            <a:r>
              <a:rPr lang="en-GB" dirty="0"/>
              <a:t>: Simple, plain text format for data sharing.</a:t>
            </a:r>
          </a:p>
          <a:p>
            <a:pPr marL="0" indent="0">
              <a:buFont typeface="Arial" panose="020B0604020202020204" pitchFamily="34" charset="0"/>
              <a:buNone/>
            </a:pPr>
            <a:r>
              <a:rPr lang="en-GB" b="1" dirty="0"/>
              <a:t>CIF (.</a:t>
            </a:r>
            <a:r>
              <a:rPr lang="en-GB" b="1" dirty="0" err="1"/>
              <a:t>cif</a:t>
            </a:r>
            <a:r>
              <a:rPr lang="en-GB" b="1" dirty="0"/>
              <a:t>)</a:t>
            </a:r>
            <a:r>
              <a:rPr lang="en-GB" dirty="0"/>
              <a:t>: Crystallographic Information File for crystal structure data.</a:t>
            </a:r>
          </a:p>
          <a:p>
            <a:pPr marL="0" indent="0">
              <a:buFont typeface="Arial" panose="020B0604020202020204" pitchFamily="34" charset="0"/>
              <a:buNone/>
            </a:pPr>
            <a:r>
              <a:rPr lang="en-GB" b="1" dirty="0"/>
              <a:t>MOL (.mol, .</a:t>
            </a:r>
            <a:r>
              <a:rPr lang="en-GB" b="1" dirty="0" err="1"/>
              <a:t>sdf</a:t>
            </a:r>
            <a:r>
              <a:rPr lang="en-GB" b="1" dirty="0"/>
              <a:t>)</a:t>
            </a:r>
            <a:r>
              <a:rPr lang="en-GB" dirty="0"/>
              <a:t>: Representations of molecules and chemical structures.</a:t>
            </a:r>
          </a:p>
          <a:p>
            <a:pPr marL="0" indent="0">
              <a:buFont typeface="Arial" panose="020B0604020202020204" pitchFamily="34" charset="0"/>
              <a:buNone/>
            </a:pPr>
            <a:r>
              <a:rPr lang="en-GB" b="1" dirty="0" err="1"/>
              <a:t>GeoTIFF</a:t>
            </a:r>
            <a:r>
              <a:rPr lang="en-GB" b="1" dirty="0"/>
              <a:t> (.</a:t>
            </a:r>
            <a:r>
              <a:rPr lang="en-GB" b="1" dirty="0" err="1"/>
              <a:t>tif</a:t>
            </a:r>
            <a:r>
              <a:rPr lang="en-GB" b="1" dirty="0"/>
              <a:t>, .tiff)</a:t>
            </a:r>
            <a:r>
              <a:rPr lang="en-GB" dirty="0"/>
              <a:t>: Tagged Image File Format with georeferencing information, used in GIS and remote sensing.</a:t>
            </a:r>
          </a:p>
          <a:p>
            <a:pPr marL="0" indent="0">
              <a:buFont typeface="Arial" panose="020B0604020202020204" pitchFamily="34" charset="0"/>
              <a:buNone/>
            </a:pPr>
            <a:r>
              <a:rPr lang="en-GB" b="1" dirty="0"/>
              <a:t>Shapefile (.</a:t>
            </a:r>
            <a:r>
              <a:rPr lang="en-GB" b="1" dirty="0" err="1"/>
              <a:t>shp</a:t>
            </a:r>
            <a:r>
              <a:rPr lang="en-GB" b="1" dirty="0"/>
              <a:t>, .</a:t>
            </a:r>
            <a:r>
              <a:rPr lang="en-GB" b="1" dirty="0" err="1"/>
              <a:t>shx</a:t>
            </a:r>
            <a:r>
              <a:rPr lang="en-GB" b="1" dirty="0"/>
              <a:t>, .</a:t>
            </a:r>
            <a:r>
              <a:rPr lang="en-GB" b="1" dirty="0" err="1"/>
              <a:t>dbf</a:t>
            </a:r>
            <a:r>
              <a:rPr lang="en-GB" b="1" dirty="0"/>
              <a:t>)</a:t>
            </a:r>
            <a:r>
              <a:rPr lang="en-GB" dirty="0"/>
              <a:t>: Standard format for vector data (points, lines, polygons) in GIS.</a:t>
            </a:r>
          </a:p>
          <a:p>
            <a:pPr marL="0" indent="0">
              <a:buFont typeface="Arial" panose="020B0604020202020204" pitchFamily="34" charset="0"/>
              <a:buNone/>
            </a:pPr>
            <a:r>
              <a:rPr lang="en-GB" b="1" dirty="0" err="1"/>
              <a:t>NetCDF</a:t>
            </a:r>
            <a:r>
              <a:rPr lang="en-GB" b="1" dirty="0"/>
              <a:t> (.</a:t>
            </a:r>
            <a:r>
              <a:rPr lang="en-GB" b="1" dirty="0" err="1"/>
              <a:t>nc</a:t>
            </a:r>
            <a:r>
              <a:rPr lang="en-GB" b="1" dirty="0"/>
              <a:t>)</a:t>
            </a:r>
            <a:r>
              <a:rPr lang="en-GB" dirty="0"/>
              <a:t>: Network Common Data Format, used for multidimensional geospatial datasets like climate models.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1" dirty="0"/>
              <a:t>DEM (.</a:t>
            </a:r>
            <a:r>
              <a:rPr lang="en-GB" b="1" dirty="0" err="1"/>
              <a:t>dem</a:t>
            </a:r>
            <a:r>
              <a:rPr lang="en-GB" b="1" dirty="0"/>
              <a:t>)</a:t>
            </a:r>
            <a:r>
              <a:rPr lang="en-GB" dirty="0"/>
              <a:t>: Digital Elevation Model, used for topography and terrain analysis.</a:t>
            </a:r>
          </a:p>
          <a:p>
            <a:pPr>
              <a:buFont typeface="Arial" panose="020B0604020202020204" pitchFamily="34" charset="0"/>
              <a:buNone/>
            </a:pPr>
            <a:r>
              <a:rPr lang="en-GB" b="1" dirty="0"/>
              <a:t>FASTA (.</a:t>
            </a:r>
            <a:r>
              <a:rPr lang="en-GB" b="1" dirty="0" err="1"/>
              <a:t>fasta</a:t>
            </a:r>
            <a:r>
              <a:rPr lang="en-GB" b="1" dirty="0"/>
              <a:t>, .fa)</a:t>
            </a:r>
            <a:r>
              <a:rPr lang="en-GB" dirty="0"/>
              <a:t>:Text-based format for nucleotide or amino acid sequences.</a:t>
            </a:r>
          </a:p>
          <a:p>
            <a:pPr>
              <a:buFont typeface="Arial" panose="020B0604020202020204" pitchFamily="34" charset="0"/>
              <a:buNone/>
            </a:pPr>
            <a:r>
              <a:rPr lang="en-GB" b="1" dirty="0"/>
              <a:t>MATLAB (.mat, .m)</a:t>
            </a:r>
            <a:r>
              <a:rPr lang="en-GB" dirty="0"/>
              <a:t>:Proprietary format for computational models, simulations, and data analysis.</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GB" b="1" dirty="0"/>
              <a:t>AutoCAD (.</a:t>
            </a:r>
            <a:r>
              <a:rPr lang="en-GB" b="1" dirty="0" err="1"/>
              <a:t>dwg</a:t>
            </a:r>
            <a:r>
              <a:rPr lang="en-GB" b="1" dirty="0"/>
              <a:t>, .</a:t>
            </a:r>
            <a:r>
              <a:rPr lang="en-GB" b="1" dirty="0" err="1"/>
              <a:t>dxf</a:t>
            </a:r>
            <a:r>
              <a:rPr lang="en-GB" b="1" dirty="0"/>
              <a:t>)</a:t>
            </a:r>
            <a:r>
              <a:rPr lang="en-GB" dirty="0"/>
              <a:t>:Proprietary formats for engineering drawings and architectural plans.</a:t>
            </a:r>
          </a:p>
          <a:p>
            <a:pPr>
              <a:buFont typeface="Arial" panose="020B0604020202020204" pitchFamily="34" charset="0"/>
              <a:buNone/>
            </a:pPr>
            <a:endParaRPr lang="en-GB" dirty="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14</a:t>
            </a:fld>
            <a:endParaRPr lang="en-GB"/>
          </a:p>
        </p:txBody>
      </p:sp>
    </p:spTree>
    <p:extLst>
      <p:ext uri="{BB962C8B-B14F-4D97-AF65-F5344CB8AC3E}">
        <p14:creationId xmlns:p14="http://schemas.microsoft.com/office/powerpoint/2010/main" val="41744732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Challenges of poor file organization</a:t>
            </a:r>
            <a:r>
              <a:rPr lang="en-GB" dirty="0"/>
              <a:t>:</a:t>
            </a:r>
          </a:p>
          <a:p>
            <a:pPr>
              <a:buFont typeface="Arial" panose="020B0604020202020204" pitchFamily="34" charset="0"/>
              <a:buChar char="•"/>
            </a:pPr>
            <a:r>
              <a:rPr lang="en-GB" b="0" dirty="0"/>
              <a:t>Cluttered workspace: A disorganized desktop makes it difficult to locate files quickly.</a:t>
            </a:r>
          </a:p>
          <a:p>
            <a:pPr>
              <a:buFont typeface="Arial" panose="020B0604020202020204" pitchFamily="34" charset="0"/>
              <a:buChar char="•"/>
            </a:pPr>
            <a:r>
              <a:rPr lang="en-GB" b="0" dirty="0"/>
              <a:t>Inefficient workflows: Wastes time searching for the correct document or resource.</a:t>
            </a:r>
          </a:p>
          <a:p>
            <a:pPr>
              <a:buFont typeface="Arial" panose="020B0604020202020204" pitchFamily="34" charset="0"/>
              <a:buChar char="•"/>
            </a:pPr>
            <a:r>
              <a:rPr lang="en-GB" b="0" dirty="0"/>
              <a:t>Risk of data loss: Important files may accidentally be deleted or overlooked.</a:t>
            </a:r>
          </a:p>
          <a:p>
            <a:pPr>
              <a:buFont typeface="Arial" panose="020B0604020202020204" pitchFamily="34" charset="0"/>
              <a:buChar char="•"/>
            </a:pPr>
            <a:r>
              <a:rPr lang="en-GB" b="0" dirty="0"/>
              <a:t>Stress and frustration: A messy digital environment can negatively affect productivity and focus.</a:t>
            </a:r>
          </a:p>
          <a:p>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16</a:t>
            </a:fld>
            <a:endParaRPr lang="en-GB"/>
          </a:p>
        </p:txBody>
      </p:sp>
    </p:spTree>
    <p:extLst>
      <p:ext uri="{BB962C8B-B14F-4D97-AF65-F5344CB8AC3E}">
        <p14:creationId xmlns:p14="http://schemas.microsoft.com/office/powerpoint/2010/main" val="655686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What?</a:t>
            </a:r>
          </a:p>
          <a:p>
            <a:pPr>
              <a:buFont typeface="+mj-lt"/>
              <a:buAutoNum type="arabicPeriod"/>
            </a:pPr>
            <a:r>
              <a:rPr lang="en-GB" b="0" dirty="0"/>
              <a:t>Folder structure: organizing files into a logical hierarchy of folders to group related files.</a:t>
            </a:r>
          </a:p>
          <a:p>
            <a:pPr>
              <a:buFont typeface="+mj-lt"/>
              <a:buAutoNum type="arabicPeriod"/>
            </a:pPr>
            <a:r>
              <a:rPr lang="en-GB" b="0" dirty="0"/>
              <a:t>File naming: using clear, descriptive, and consistent names for files.</a:t>
            </a:r>
          </a:p>
          <a:p>
            <a:pPr>
              <a:buFont typeface="+mj-lt"/>
              <a:buAutoNum type="arabicPeriod"/>
            </a:pPr>
            <a:r>
              <a:rPr lang="en-GB" b="0" dirty="0"/>
              <a:t>Versioning: keeping track of changes over time</a:t>
            </a:r>
          </a:p>
          <a:p>
            <a:endParaRPr lang="en-GB" b="0" dirty="0"/>
          </a:p>
          <a:p>
            <a:r>
              <a:rPr lang="en-GB" b="0" dirty="0"/>
              <a:t>Why?</a:t>
            </a:r>
          </a:p>
          <a:p>
            <a:pPr>
              <a:buFont typeface="+mj-lt"/>
              <a:buAutoNum type="arabicPeriod"/>
            </a:pPr>
            <a:r>
              <a:rPr lang="en-GB" b="0" dirty="0"/>
              <a:t>As documentation:</a:t>
            </a:r>
          </a:p>
          <a:p>
            <a:pPr marL="742950" lvl="1" indent="-285750">
              <a:buFont typeface="+mj-lt"/>
              <a:buAutoNum type="arabicPeriod"/>
            </a:pPr>
            <a:r>
              <a:rPr lang="en-GB" b="0" dirty="0"/>
              <a:t>Makes files easier to use and locate.</a:t>
            </a:r>
          </a:p>
          <a:p>
            <a:pPr marL="742950" lvl="1" indent="-285750">
              <a:buFont typeface="+mj-lt"/>
              <a:buAutoNum type="arabicPeriod"/>
            </a:pPr>
            <a:r>
              <a:rPr lang="en-GB" b="0" dirty="0"/>
              <a:t>Helps you (or others) understand your work at a later time, reduces confusion.</a:t>
            </a:r>
          </a:p>
          <a:p>
            <a:pPr marL="742950" lvl="1" indent="-285750">
              <a:buFont typeface="+mj-lt"/>
              <a:buAutoNum type="arabicPeriod"/>
            </a:pPr>
            <a:r>
              <a:rPr lang="en-GB" b="0" dirty="0"/>
              <a:t>Hint: “That someone” who needs to understand your files is often your future self.</a:t>
            </a:r>
          </a:p>
          <a:p>
            <a:pPr>
              <a:buFont typeface="+mj-lt"/>
              <a:buAutoNum type="arabicPeriod"/>
            </a:pPr>
            <a:r>
              <a:rPr lang="en-GB" b="0" dirty="0"/>
              <a:t>To increase productivity:</a:t>
            </a:r>
          </a:p>
          <a:p>
            <a:pPr marL="742950" lvl="1" indent="-285750">
              <a:buFont typeface="+mj-lt"/>
              <a:buAutoNum type="arabicPeriod"/>
            </a:pPr>
            <a:r>
              <a:rPr lang="en-GB" b="0" dirty="0"/>
              <a:t>Saves time spent searching for misplaced or ambiguously named files.</a:t>
            </a:r>
          </a:p>
          <a:p>
            <a:endParaRPr lang="en-GB" b="0" dirty="0"/>
          </a:p>
          <a:p>
            <a:r>
              <a:rPr lang="en-GB" b="0" dirty="0"/>
              <a:t>Key takeaway</a:t>
            </a:r>
          </a:p>
          <a:p>
            <a:pPr>
              <a:buFont typeface="Arial" panose="020B0604020202020204" pitchFamily="34" charset="0"/>
              <a:buNone/>
            </a:pPr>
            <a:r>
              <a:rPr lang="en-GB" b="0" dirty="0"/>
              <a:t>Any system is better than no system: Even basic organization improves file management compared to leaving everything scattered.</a:t>
            </a:r>
          </a:p>
          <a:p>
            <a:endParaRPr lang="en-GB" b="0" dirty="0"/>
          </a:p>
        </p:txBody>
      </p:sp>
      <p:sp>
        <p:nvSpPr>
          <p:cNvPr id="4" name="Slide Number Placeholder 3"/>
          <p:cNvSpPr>
            <a:spLocks noGrp="1"/>
          </p:cNvSpPr>
          <p:nvPr>
            <p:ph type="sldNum" sz="quarter" idx="5"/>
          </p:nvPr>
        </p:nvSpPr>
        <p:spPr/>
        <p:txBody>
          <a:bodyPr/>
          <a:lstStyle/>
          <a:p>
            <a:fld id="{539A0A48-EDB1-4AFE-B1B7-10CE2A416496}" type="slidenum">
              <a:rPr lang="en-GB" smtClean="0"/>
              <a:t>17</a:t>
            </a:fld>
            <a:endParaRPr lang="en-GB"/>
          </a:p>
        </p:txBody>
      </p:sp>
    </p:spTree>
    <p:extLst>
      <p:ext uri="{BB962C8B-B14F-4D97-AF65-F5344CB8AC3E}">
        <p14:creationId xmlns:p14="http://schemas.microsoft.com/office/powerpoint/2010/main" val="21878702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t>Steps to organize files:</a:t>
            </a:r>
          </a:p>
          <a:p>
            <a:pPr>
              <a:buFont typeface="+mj-lt"/>
              <a:buAutoNum type="arabicPeriod"/>
            </a:pPr>
            <a:r>
              <a:rPr lang="en-GB" b="0" dirty="0"/>
              <a:t>Make a file organization plan:</a:t>
            </a:r>
          </a:p>
          <a:p>
            <a:pPr marL="742950" lvl="1" indent="-285750">
              <a:buFont typeface="+mj-lt"/>
              <a:buAutoNum type="arabicPeriod"/>
            </a:pPr>
            <a:r>
              <a:rPr lang="en-GB" b="0" dirty="0"/>
              <a:t>Plan folder hierarchy: define a logical structure (e.g., by project, year, or category).</a:t>
            </a:r>
          </a:p>
          <a:p>
            <a:pPr marL="742950" lvl="1" indent="-285750">
              <a:buFont typeface="+mj-lt"/>
              <a:buAutoNum type="arabicPeriod"/>
            </a:pPr>
            <a:r>
              <a:rPr lang="en-GB" b="0" dirty="0"/>
              <a:t>Develop file naming conventions: use clear, consistent names (e.g., ProjectName_Date_v1.docx).</a:t>
            </a:r>
          </a:p>
          <a:p>
            <a:pPr marL="742950" lvl="1" indent="-285750">
              <a:buFont typeface="+mj-lt"/>
              <a:buAutoNum type="arabicPeriod"/>
            </a:pPr>
            <a:r>
              <a:rPr lang="en-GB" b="0" dirty="0"/>
              <a:t>Develop a versioning strategy: use version numbers or dates to track changes (e.g., v1, v2, or Final).</a:t>
            </a:r>
          </a:p>
          <a:p>
            <a:pPr>
              <a:buFont typeface="+mj-lt"/>
              <a:buAutoNum type="arabicPeriod"/>
            </a:pPr>
            <a:r>
              <a:rPr lang="en-GB" b="0" dirty="0"/>
              <a:t>Document the file organization system: </a:t>
            </a:r>
            <a:r>
              <a:rPr lang="en-GB" b="1" dirty="0"/>
              <a:t>create a guide </a:t>
            </a:r>
            <a:r>
              <a:rPr lang="en-GB" b="0" dirty="0"/>
              <a:t>or document to explain the structure and conventions to yourself and collaborators.</a:t>
            </a:r>
          </a:p>
          <a:p>
            <a:pPr>
              <a:buFont typeface="+mj-lt"/>
              <a:buAutoNum type="arabicPeriod"/>
            </a:pPr>
            <a:r>
              <a:rPr lang="en-GB" b="0" dirty="0"/>
              <a:t>Use the system consistently: </a:t>
            </a:r>
            <a:r>
              <a:rPr lang="en-GB" b="1" dirty="0"/>
              <a:t>stick to the plan </a:t>
            </a:r>
            <a:r>
              <a:rPr lang="en-GB" b="0" dirty="0"/>
              <a:t>for all new files and folders to ensure long-term organization.</a:t>
            </a:r>
          </a:p>
          <a:p>
            <a:endParaRPr lang="en-GB" b="0" dirty="0"/>
          </a:p>
        </p:txBody>
      </p:sp>
      <p:sp>
        <p:nvSpPr>
          <p:cNvPr id="4" name="Slide Number Placeholder 3"/>
          <p:cNvSpPr>
            <a:spLocks noGrp="1"/>
          </p:cNvSpPr>
          <p:nvPr>
            <p:ph type="sldNum" sz="quarter" idx="5"/>
          </p:nvPr>
        </p:nvSpPr>
        <p:spPr/>
        <p:txBody>
          <a:bodyPr/>
          <a:lstStyle/>
          <a:p>
            <a:fld id="{539A0A48-EDB1-4AFE-B1B7-10CE2A416496}" type="slidenum">
              <a:rPr lang="en-GB" smtClean="0"/>
              <a:t>20</a:t>
            </a:fld>
            <a:endParaRPr lang="en-GB"/>
          </a:p>
        </p:txBody>
      </p:sp>
    </p:spTree>
    <p:extLst>
      <p:ext uri="{BB962C8B-B14F-4D97-AF65-F5344CB8AC3E}">
        <p14:creationId xmlns:p14="http://schemas.microsoft.com/office/powerpoint/2010/main" val="141098811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539A0A48-EDB1-4AFE-B1B7-10CE2A416496}" type="slidenum">
              <a:rPr lang="en-GB" smtClean="0"/>
              <a:t>21</a:t>
            </a:fld>
            <a:endParaRPr lang="en-GB"/>
          </a:p>
        </p:txBody>
      </p:sp>
    </p:spTree>
    <p:extLst>
      <p:ext uri="{BB962C8B-B14F-4D97-AF65-F5344CB8AC3E}">
        <p14:creationId xmlns:p14="http://schemas.microsoft.com/office/powerpoint/2010/main" val="319862973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Top-level organization</a:t>
            </a:r>
            <a:r>
              <a:rPr lang="en-GB" dirty="0"/>
              <a:t> should reflect the most important attribute of the data. This is subjective and depends on the context (e.g., treatment type, assay type, experiment date).</a:t>
            </a:r>
          </a:p>
        </p:txBody>
      </p:sp>
      <p:sp>
        <p:nvSpPr>
          <p:cNvPr id="4" name="Slide Number Placeholder 3"/>
          <p:cNvSpPr>
            <a:spLocks noGrp="1"/>
          </p:cNvSpPr>
          <p:nvPr>
            <p:ph type="sldNum" sz="quarter" idx="5"/>
          </p:nvPr>
        </p:nvSpPr>
        <p:spPr/>
        <p:txBody>
          <a:bodyPr/>
          <a:lstStyle/>
          <a:p>
            <a:fld id="{539A0A48-EDB1-4AFE-B1B7-10CE2A416496}" type="slidenum">
              <a:rPr lang="en-GB" smtClean="0"/>
              <a:t>25</a:t>
            </a:fld>
            <a:endParaRPr lang="en-GB"/>
          </a:p>
        </p:txBody>
      </p:sp>
    </p:spTree>
    <p:extLst>
      <p:ext uri="{BB962C8B-B14F-4D97-AF65-F5344CB8AC3E}">
        <p14:creationId xmlns:p14="http://schemas.microsoft.com/office/powerpoint/2010/main" val="82093094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26</a:t>
            </a:fld>
            <a:endParaRPr lang="en-GB"/>
          </a:p>
        </p:txBody>
      </p:sp>
    </p:spTree>
    <p:extLst>
      <p:ext uri="{BB962C8B-B14F-4D97-AF65-F5344CB8AC3E}">
        <p14:creationId xmlns:p14="http://schemas.microsoft.com/office/powerpoint/2010/main" val="1689860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Introduced yesterday in S4 (Storage and security)</a:t>
            </a:r>
          </a:p>
        </p:txBody>
      </p:sp>
      <p:sp>
        <p:nvSpPr>
          <p:cNvPr id="4" name="Slide Number Placeholder 3"/>
          <p:cNvSpPr>
            <a:spLocks noGrp="1"/>
          </p:cNvSpPr>
          <p:nvPr>
            <p:ph type="sldNum" sz="quarter" idx="5"/>
          </p:nvPr>
        </p:nvSpPr>
        <p:spPr/>
        <p:txBody>
          <a:bodyPr/>
          <a:lstStyle/>
          <a:p>
            <a:fld id="{539A0A48-EDB1-4AFE-B1B7-10CE2A416496}" type="slidenum">
              <a:rPr lang="en-GB" smtClean="0"/>
              <a:t>27</a:t>
            </a:fld>
            <a:endParaRPr lang="en-GB"/>
          </a:p>
        </p:txBody>
      </p:sp>
    </p:spTree>
    <p:extLst>
      <p:ext uri="{BB962C8B-B14F-4D97-AF65-F5344CB8AC3E}">
        <p14:creationId xmlns:p14="http://schemas.microsoft.com/office/powerpoint/2010/main" val="37961515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Metadata provides structured information about your data files, enabling better organization, discoverability, and usability within the SharePoint environment.</a:t>
            </a:r>
          </a:p>
          <a:p>
            <a:r>
              <a:rPr lang="en-GB" dirty="0"/>
              <a:t>To find and track data &amp; files, filtering and sorting</a:t>
            </a:r>
          </a:p>
          <a:p>
            <a:r>
              <a:rPr lang="en-GB" b="1" dirty="0"/>
              <a:t>Nutrient Recycle RDM Workspace:</a:t>
            </a:r>
            <a:endParaRPr lang="en-GB" dirty="0"/>
          </a:p>
          <a:p>
            <a:pPr>
              <a:buFont typeface="Arial" panose="020B0604020202020204" pitchFamily="34" charset="0"/>
              <a:buChar char="•"/>
            </a:pPr>
            <a:r>
              <a:rPr lang="en-GB" dirty="0"/>
              <a:t>To demonstrate how SharePoint is used effectively in managing data inventories.</a:t>
            </a:r>
          </a:p>
          <a:p>
            <a:pPr>
              <a:buFont typeface="Arial" panose="020B0604020202020204" pitchFamily="34" charset="0"/>
              <a:buChar char="•"/>
            </a:pPr>
            <a:r>
              <a:rPr lang="en-GB" dirty="0"/>
              <a:t>It shows custom metadata fields tailored to project needs.</a:t>
            </a:r>
          </a:p>
          <a:p>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28</a:t>
            </a:fld>
            <a:endParaRPr lang="en-GB"/>
          </a:p>
        </p:txBody>
      </p:sp>
    </p:spTree>
    <p:extLst>
      <p:ext uri="{BB962C8B-B14F-4D97-AF65-F5344CB8AC3E}">
        <p14:creationId xmlns:p14="http://schemas.microsoft.com/office/powerpoint/2010/main" val="23423499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29</a:t>
            </a:fld>
            <a:endParaRPr lang="en-GB"/>
          </a:p>
        </p:txBody>
      </p:sp>
    </p:spTree>
    <p:extLst>
      <p:ext uri="{BB962C8B-B14F-4D97-AF65-F5344CB8AC3E}">
        <p14:creationId xmlns:p14="http://schemas.microsoft.com/office/powerpoint/2010/main" val="38458893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Folder structure: </a:t>
            </a:r>
          </a:p>
          <a:p>
            <a:pPr marL="171450" indent="-171450">
              <a:buFont typeface="Arial" panose="020B0604020202020204" pitchFamily="34" charset="0"/>
              <a:buChar char="•"/>
            </a:pPr>
            <a:r>
              <a:rPr lang="en-GB" b="0" dirty="0"/>
              <a:t>Hierarchical organization: Data is stored in nested folders based on attributes (e.g. condition, treatment, or other criteria).</a:t>
            </a:r>
          </a:p>
          <a:p>
            <a:pPr marL="171450" indent="-171450">
              <a:buFont typeface="Arial" panose="020B0604020202020204" pitchFamily="34" charset="0"/>
              <a:buChar char="•"/>
            </a:pPr>
            <a:r>
              <a:rPr lang="en-GB" b="0" dirty="0"/>
              <a:t>Static structure: The arrangement is fixed; finding data often requires knowing the folder hierarchy.</a:t>
            </a:r>
          </a:p>
          <a:p>
            <a:endParaRPr lang="en-GB" dirty="0"/>
          </a:p>
          <a:p>
            <a:r>
              <a:rPr lang="en-GB" b="1" dirty="0"/>
              <a:t>Metadata:</a:t>
            </a:r>
          </a:p>
          <a:p>
            <a:pPr marL="171450" indent="-171450">
              <a:buFont typeface="Arial" panose="020B0604020202020204" pitchFamily="34" charset="0"/>
              <a:buChar char="•"/>
            </a:pPr>
            <a:r>
              <a:rPr lang="en-GB" b="0" dirty="0"/>
              <a:t>Dynamic labelling: Information about the files is tagged rather than embedded in the structure.</a:t>
            </a:r>
          </a:p>
          <a:p>
            <a:pPr marL="171450" indent="-171450">
              <a:buFont typeface="Arial" panose="020B0604020202020204" pitchFamily="34" charset="0"/>
              <a:buChar char="•"/>
            </a:pPr>
            <a:r>
              <a:rPr lang="en-GB" b="0" dirty="0"/>
              <a:t>Searchable and flexible: Allows filtering and querying files across categories without navigating through folders.</a:t>
            </a:r>
          </a:p>
          <a:p>
            <a:pPr marL="171450" indent="-171450">
              <a:buFont typeface="Arial" panose="020B0604020202020204" pitchFamily="34" charset="0"/>
              <a:buChar char="•"/>
            </a:pPr>
            <a:r>
              <a:rPr lang="en-GB" b="0" dirty="0"/>
              <a:t>Supports overlaps: One file can have multiple tags (e.g., a file tagged with both “Belgium" and “Spain").</a:t>
            </a:r>
          </a:p>
          <a:p>
            <a:pPr marL="171450" indent="-171450">
              <a:buFont typeface="Arial" panose="020B0604020202020204" pitchFamily="34" charset="0"/>
              <a:buChar char="•"/>
            </a:pPr>
            <a:endParaRPr lang="en-GB" b="0" dirty="0"/>
          </a:p>
          <a:p>
            <a:r>
              <a:rPr lang="en-GB" b="1" dirty="0"/>
              <a:t>Key differences:</a:t>
            </a:r>
            <a:endParaRPr lang="en-GB" dirty="0"/>
          </a:p>
          <a:p>
            <a:pPr>
              <a:buFont typeface="+mj-lt"/>
              <a:buAutoNum type="arabicPeriod"/>
            </a:pPr>
            <a:r>
              <a:rPr lang="en-GB" b="0" u="sng" dirty="0"/>
              <a:t>Flexibility</a:t>
            </a:r>
            <a:r>
              <a:rPr lang="en-GB" b="0" dirty="0"/>
              <a:t>: Metadata allows for </a:t>
            </a:r>
            <a:r>
              <a:rPr lang="en-GB" b="0" u="sng" dirty="0"/>
              <a:t>multiple classifications per file</a:t>
            </a:r>
            <a:r>
              <a:rPr lang="en-GB" b="0" dirty="0"/>
              <a:t>, unlike the rigid single-path folder structure.</a:t>
            </a:r>
          </a:p>
          <a:p>
            <a:pPr>
              <a:buFont typeface="+mj-lt"/>
              <a:buAutoNum type="arabicPeriod"/>
            </a:pPr>
            <a:r>
              <a:rPr lang="en-GB" b="0" dirty="0"/>
              <a:t>Scalability: Metadata can easily scale with large datasets; folder structures become cumbersome.</a:t>
            </a:r>
          </a:p>
          <a:p>
            <a:pPr>
              <a:buFont typeface="+mj-lt"/>
              <a:buAutoNum type="arabicPeriod"/>
            </a:pPr>
            <a:r>
              <a:rPr lang="en-GB" b="0" u="sng" dirty="0"/>
              <a:t>Search &amp; filtering</a:t>
            </a:r>
            <a:r>
              <a:rPr lang="en-GB" b="0" dirty="0"/>
              <a:t>: Metadata enables advanced search and filtering across multiple parameters.</a:t>
            </a:r>
          </a:p>
          <a:p>
            <a:pPr marL="0" indent="0">
              <a:buFont typeface="Arial" panose="020B0604020202020204" pitchFamily="34" charset="0"/>
              <a:buNone/>
            </a:pPr>
            <a:endParaRPr lang="en-GB" b="0" dirty="0"/>
          </a:p>
          <a:p>
            <a:r>
              <a:rPr lang="en-GB" dirty="0"/>
              <a:t>SharePoint allows you to combine both approaches (for optimal data management), using libraries to organize and tag files effectively. E.g.:</a:t>
            </a:r>
          </a:p>
          <a:p>
            <a:pPr marL="171450" indent="-171450">
              <a:buFont typeface="Arial" panose="020B0604020202020204" pitchFamily="34" charset="0"/>
              <a:buChar char="•"/>
            </a:pPr>
            <a:r>
              <a:rPr lang="en-GB" dirty="0"/>
              <a:t>Use folders for broad, high-level organization (e.g., separating projects or major categories).</a:t>
            </a:r>
          </a:p>
          <a:p>
            <a:pPr marL="171450" indent="-171450">
              <a:buFont typeface="Arial" panose="020B0604020202020204" pitchFamily="34" charset="0"/>
              <a:buChar char="•"/>
            </a:pPr>
            <a:r>
              <a:rPr lang="en-GB" dirty="0"/>
              <a:t>Use metadata for detailed and flexible labelling, enabling efficient search, filtering, and cross-referencing.</a:t>
            </a:r>
          </a:p>
          <a:p>
            <a:endParaRPr lang="en-GB" dirty="0"/>
          </a:p>
        </p:txBody>
      </p:sp>
      <p:sp>
        <p:nvSpPr>
          <p:cNvPr id="4" name="Slide Number Placeholder 3"/>
          <p:cNvSpPr>
            <a:spLocks noGrp="1"/>
          </p:cNvSpPr>
          <p:nvPr>
            <p:ph type="sldNum" sz="quarter" idx="5"/>
          </p:nvPr>
        </p:nvSpPr>
        <p:spPr/>
        <p:txBody>
          <a:bodyPr/>
          <a:lstStyle/>
          <a:p>
            <a:fld id="{539A0A48-EDB1-4AFE-B1B7-10CE2A416496}" type="slidenum">
              <a:rPr lang="en-GB" smtClean="0"/>
              <a:t>30</a:t>
            </a:fld>
            <a:endParaRPr lang="en-GB"/>
          </a:p>
        </p:txBody>
      </p:sp>
    </p:spTree>
    <p:extLst>
      <p:ext uri="{BB962C8B-B14F-4D97-AF65-F5344CB8AC3E}">
        <p14:creationId xmlns:p14="http://schemas.microsoft.com/office/powerpoint/2010/main" val="198448016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457200" lvl="1" indent="0">
              <a:buFont typeface="+mj-lt"/>
              <a:buNone/>
            </a:pPr>
            <a:r>
              <a:rPr lang="en-GB" dirty="0"/>
              <a:t>The comic reflects the frustration of managing multiple revisions without a proper versioning strategy.</a:t>
            </a:r>
          </a:p>
          <a:p>
            <a:pPr>
              <a:buFont typeface="+mj-lt"/>
              <a:buNone/>
            </a:pPr>
            <a:r>
              <a:rPr lang="en-GB" b="1" dirty="0"/>
              <a:t>Common issues</a:t>
            </a:r>
            <a:r>
              <a:rPr lang="en-GB" dirty="0"/>
              <a:t>:</a:t>
            </a:r>
          </a:p>
          <a:p>
            <a:pPr marL="742950" lvl="1" indent="-285750">
              <a:buFont typeface="Arial" panose="020B0604020202020204" pitchFamily="34" charset="0"/>
              <a:buChar char="•"/>
            </a:pPr>
            <a:r>
              <a:rPr lang="en-GB" dirty="0"/>
              <a:t>Confusion over which file is the most recent or accurate.</a:t>
            </a:r>
          </a:p>
          <a:p>
            <a:pPr marL="742950" lvl="1" indent="-285750">
              <a:buFont typeface="Arial" panose="020B0604020202020204" pitchFamily="34" charset="0"/>
              <a:buChar char="•"/>
            </a:pPr>
            <a:r>
              <a:rPr lang="en-GB" dirty="0"/>
              <a:t>Overwriting or losing earlier versions.</a:t>
            </a:r>
          </a:p>
          <a:p>
            <a:pPr marL="742950" lvl="1" indent="-285750">
              <a:buFont typeface="Arial" panose="020B0604020202020204" pitchFamily="34" charset="0"/>
              <a:buChar char="•"/>
            </a:pPr>
            <a:r>
              <a:rPr lang="en-GB" dirty="0"/>
              <a:t>Difficulty collaborating when changes are not tracked systematically.</a:t>
            </a:r>
          </a:p>
          <a:p>
            <a:endParaRPr lang="en-GB" dirty="0"/>
          </a:p>
        </p:txBody>
      </p:sp>
      <p:sp>
        <p:nvSpPr>
          <p:cNvPr id="4" name="Slide Number Placeholder 3"/>
          <p:cNvSpPr>
            <a:spLocks noGrp="1"/>
          </p:cNvSpPr>
          <p:nvPr>
            <p:ph type="sldNum" sz="quarter" idx="10"/>
          </p:nvPr>
        </p:nvSpPr>
        <p:spPr/>
        <p:txBody>
          <a:bodyPr/>
          <a:lstStyle/>
          <a:p>
            <a:fld id="{539A0A48-EDB1-4AFE-B1B7-10CE2A416496}" type="slidenum">
              <a:rPr lang="en-GB" smtClean="0"/>
              <a:t>32</a:t>
            </a:fld>
            <a:endParaRPr lang="en-GB"/>
          </a:p>
        </p:txBody>
      </p:sp>
    </p:spTree>
    <p:extLst>
      <p:ext uri="{BB962C8B-B14F-4D97-AF65-F5344CB8AC3E}">
        <p14:creationId xmlns:p14="http://schemas.microsoft.com/office/powerpoint/2010/main" val="221002140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What</a:t>
            </a:r>
          </a:p>
          <a:p>
            <a:pPr>
              <a:buFont typeface="Arial" panose="020B0604020202020204" pitchFamily="34" charset="0"/>
              <a:buChar char="•"/>
            </a:pPr>
            <a:r>
              <a:rPr lang="en-GB" b="0" dirty="0"/>
              <a:t>Continuously making records of data and files as you work on them.</a:t>
            </a:r>
          </a:p>
          <a:p>
            <a:r>
              <a:rPr lang="en-GB" b="1" dirty="0"/>
              <a:t>Why</a:t>
            </a:r>
          </a:p>
          <a:p>
            <a:pPr>
              <a:buFont typeface="Arial" panose="020B0604020202020204" pitchFamily="34" charset="0"/>
              <a:buChar char="•"/>
            </a:pPr>
            <a:r>
              <a:rPr lang="en-GB" b="0" dirty="0"/>
              <a:t>To locate the correct version of a file.</a:t>
            </a:r>
          </a:p>
          <a:p>
            <a:pPr>
              <a:buFont typeface="Arial" panose="020B0604020202020204" pitchFamily="34" charset="0"/>
              <a:buChar char="•"/>
            </a:pPr>
            <a:r>
              <a:rPr lang="en-GB" b="0" dirty="0"/>
              <a:t>To track the history of changes (what, when, who, why).</a:t>
            </a:r>
          </a:p>
          <a:p>
            <a:pPr>
              <a:buFont typeface="Arial" panose="020B0604020202020204" pitchFamily="34" charset="0"/>
              <a:buChar char="•"/>
            </a:pPr>
            <a:r>
              <a:rPr lang="en-GB" b="0" dirty="0"/>
              <a:t>To review changes made over time.</a:t>
            </a:r>
          </a:p>
          <a:p>
            <a:pPr>
              <a:buFont typeface="Arial" panose="020B0604020202020204" pitchFamily="34" charset="0"/>
              <a:buChar char="•"/>
            </a:pPr>
            <a:r>
              <a:rPr lang="en-GB" b="0" dirty="0"/>
              <a:t>To avoid data loss.</a:t>
            </a:r>
          </a:p>
          <a:p>
            <a:r>
              <a:rPr lang="en-GB" b="1" dirty="0"/>
              <a:t>How</a:t>
            </a:r>
          </a:p>
          <a:p>
            <a:r>
              <a:rPr lang="en-GB" b="0" u="sng" dirty="0"/>
              <a:t>When writing a paper:</a:t>
            </a:r>
          </a:p>
          <a:p>
            <a:pPr>
              <a:buFont typeface="Arial" panose="020B0604020202020204" pitchFamily="34" charset="0"/>
              <a:buChar char="•"/>
            </a:pPr>
            <a:r>
              <a:rPr lang="en-GB" b="0" dirty="0"/>
              <a:t>Use Track Changes in Word or equivalent tools.</a:t>
            </a:r>
          </a:p>
          <a:p>
            <a:pPr>
              <a:buFont typeface="Arial" panose="020B0604020202020204" pitchFamily="34" charset="0"/>
              <a:buChar char="•"/>
            </a:pPr>
            <a:r>
              <a:rPr lang="en-GB" b="0" dirty="0"/>
              <a:t>Use Office or SharePoint version history.</a:t>
            </a:r>
          </a:p>
          <a:p>
            <a:pPr>
              <a:buFont typeface="Arial" panose="020B0604020202020204" pitchFamily="34" charset="0"/>
              <a:buChar char="•"/>
            </a:pPr>
            <a:r>
              <a:rPr lang="en-GB" b="0" dirty="0"/>
              <a:t>Adopt clear, systematic file naming conventions.</a:t>
            </a:r>
          </a:p>
          <a:p>
            <a:r>
              <a:rPr lang="en-GB" b="0" u="sng" dirty="0"/>
              <a:t>When describing methods:</a:t>
            </a:r>
          </a:p>
          <a:p>
            <a:pPr>
              <a:buFont typeface="Arial" panose="020B0604020202020204" pitchFamily="34" charset="0"/>
              <a:buChar char="•"/>
            </a:pPr>
            <a:r>
              <a:rPr lang="en-GB" b="0" dirty="0"/>
              <a:t>If you write protocols in Word, use versioning features described above.</a:t>
            </a:r>
          </a:p>
          <a:p>
            <a:pPr>
              <a:buFont typeface="Arial" panose="020B0604020202020204" pitchFamily="34" charset="0"/>
              <a:buChar char="•"/>
            </a:pPr>
            <a:r>
              <a:rPr lang="en-GB" b="0" dirty="0"/>
              <a:t>Use Git or similar tools for analysis scripts.</a:t>
            </a:r>
          </a:p>
          <a:p>
            <a:r>
              <a:rPr lang="en-GB" b="0" u="sng" dirty="0"/>
              <a:t>When processing/</a:t>
            </a:r>
            <a:r>
              <a:rPr lang="en-GB" b="0" u="sng" dirty="0" err="1"/>
              <a:t>analyzing</a:t>
            </a:r>
            <a:r>
              <a:rPr lang="en-GB" b="0" u="sng" dirty="0"/>
              <a:t> data:</a:t>
            </a:r>
          </a:p>
          <a:p>
            <a:pPr>
              <a:buFont typeface="Arial" panose="020B0604020202020204" pitchFamily="34" charset="0"/>
              <a:buChar char="•"/>
            </a:pPr>
            <a:r>
              <a:rPr lang="en-GB" b="0" dirty="0"/>
              <a:t>Use Git or other version control tools.</a:t>
            </a:r>
          </a:p>
          <a:p>
            <a:pPr>
              <a:buFont typeface="Arial" panose="020B0604020202020204" pitchFamily="34" charset="0"/>
              <a:buChar char="•"/>
            </a:pPr>
            <a:r>
              <a:rPr lang="en-GB" b="0" dirty="0"/>
              <a:t>Ensure file names are clear and systematic.</a:t>
            </a:r>
          </a:p>
          <a:p>
            <a:r>
              <a:rPr lang="en-GB" b="0" u="sng" dirty="0"/>
              <a:t>When publishing/reporting data:</a:t>
            </a:r>
          </a:p>
          <a:p>
            <a:pPr>
              <a:buFont typeface="Arial" panose="020B0604020202020204" pitchFamily="34" charset="0"/>
              <a:buChar char="•"/>
            </a:pPr>
            <a:r>
              <a:rPr lang="en-GB" b="0" dirty="0"/>
              <a:t>Assign unique and persistent identifiers (e.g., DOIs).</a:t>
            </a:r>
          </a:p>
          <a:p>
            <a:pPr>
              <a:buFont typeface="Arial" panose="020B0604020202020204" pitchFamily="34" charset="0"/>
              <a:buChar char="•"/>
            </a:pPr>
            <a:r>
              <a:rPr lang="en-GB" b="0" dirty="0"/>
              <a:t>Use stable version numbers in data repositories or Git to ensure reproducibility.</a:t>
            </a:r>
          </a:p>
          <a:p>
            <a:endParaRPr lang="en-GB" b="0" dirty="0"/>
          </a:p>
          <a:p>
            <a:r>
              <a:rPr lang="en-GB" b="1" dirty="0"/>
              <a:t>Key takeaway</a:t>
            </a:r>
          </a:p>
          <a:p>
            <a:r>
              <a:rPr lang="en-GB" b="0" dirty="0"/>
              <a:t>Implementing version control is essential for managing changes, improving collaboration, and ensuring data integrity throughout the research lifecycle.</a:t>
            </a:r>
          </a:p>
          <a:p>
            <a:endParaRPr lang="en-GB" b="0" dirty="0"/>
          </a:p>
        </p:txBody>
      </p:sp>
      <p:sp>
        <p:nvSpPr>
          <p:cNvPr id="4" name="Slide Number Placeholder 3"/>
          <p:cNvSpPr>
            <a:spLocks noGrp="1"/>
          </p:cNvSpPr>
          <p:nvPr>
            <p:ph type="sldNum" sz="quarter" idx="5"/>
          </p:nvPr>
        </p:nvSpPr>
        <p:spPr/>
        <p:txBody>
          <a:bodyPr/>
          <a:lstStyle/>
          <a:p>
            <a:fld id="{539A0A48-EDB1-4AFE-B1B7-10CE2A416496}" type="slidenum">
              <a:rPr lang="en-GB" smtClean="0"/>
              <a:t>33</a:t>
            </a:fld>
            <a:endParaRPr lang="en-GB"/>
          </a:p>
        </p:txBody>
      </p:sp>
    </p:spTree>
    <p:extLst>
      <p:ext uri="{BB962C8B-B14F-4D97-AF65-F5344CB8AC3E}">
        <p14:creationId xmlns:p14="http://schemas.microsoft.com/office/powerpoint/2010/main" val="43396182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34</a:t>
            </a:fld>
            <a:endParaRPr lang="en-GB"/>
          </a:p>
        </p:txBody>
      </p:sp>
    </p:spTree>
    <p:extLst>
      <p:ext uri="{BB962C8B-B14F-4D97-AF65-F5344CB8AC3E}">
        <p14:creationId xmlns:p14="http://schemas.microsoft.com/office/powerpoint/2010/main" val="13554572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35</a:t>
            </a:fld>
            <a:endParaRPr lang="en-GB"/>
          </a:p>
        </p:txBody>
      </p:sp>
    </p:spTree>
    <p:extLst>
      <p:ext uri="{BB962C8B-B14F-4D97-AF65-F5344CB8AC3E}">
        <p14:creationId xmlns:p14="http://schemas.microsoft.com/office/powerpoint/2010/main" val="7997482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36</a:t>
            </a:fld>
            <a:endParaRPr lang="en-GB"/>
          </a:p>
        </p:txBody>
      </p:sp>
    </p:spTree>
    <p:extLst>
      <p:ext uri="{BB962C8B-B14F-4D97-AF65-F5344CB8AC3E}">
        <p14:creationId xmlns:p14="http://schemas.microsoft.com/office/powerpoint/2010/main" val="26986247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37</a:t>
            </a:fld>
            <a:endParaRPr lang="en-GB"/>
          </a:p>
        </p:txBody>
      </p:sp>
    </p:spTree>
    <p:extLst>
      <p:ext uri="{BB962C8B-B14F-4D97-AF65-F5344CB8AC3E}">
        <p14:creationId xmlns:p14="http://schemas.microsoft.com/office/powerpoint/2010/main" val="328004689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38</a:t>
            </a:fld>
            <a:endParaRPr lang="en-GB"/>
          </a:p>
        </p:txBody>
      </p:sp>
    </p:spTree>
    <p:extLst>
      <p:ext uri="{BB962C8B-B14F-4D97-AF65-F5344CB8AC3E}">
        <p14:creationId xmlns:p14="http://schemas.microsoft.com/office/powerpoint/2010/main" val="311779134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39</a:t>
            </a:fld>
            <a:endParaRPr lang="en-GB"/>
          </a:p>
        </p:txBody>
      </p:sp>
    </p:spTree>
    <p:extLst>
      <p:ext uri="{BB962C8B-B14F-4D97-AF65-F5344CB8AC3E}">
        <p14:creationId xmlns:p14="http://schemas.microsoft.com/office/powerpoint/2010/main" val="1334287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40</a:t>
            </a:fld>
            <a:endParaRPr lang="en-GB"/>
          </a:p>
        </p:txBody>
      </p:sp>
    </p:spTree>
    <p:extLst>
      <p:ext uri="{BB962C8B-B14F-4D97-AF65-F5344CB8AC3E}">
        <p14:creationId xmlns:p14="http://schemas.microsoft.com/office/powerpoint/2010/main" val="228840657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539A0A48-EDB1-4AFE-B1B7-10CE2A416496}" type="slidenum">
              <a:rPr lang="en-GB" smtClean="0"/>
              <a:t>41</a:t>
            </a:fld>
            <a:endParaRPr lang="en-GB"/>
          </a:p>
        </p:txBody>
      </p:sp>
    </p:spTree>
    <p:extLst>
      <p:ext uri="{BB962C8B-B14F-4D97-AF65-F5344CB8AC3E}">
        <p14:creationId xmlns:p14="http://schemas.microsoft.com/office/powerpoint/2010/main" val="9735363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a:lnSpc>
                <a:spcPct val="120000"/>
              </a:lnSpc>
            </a:pPr>
            <a:r>
              <a:rPr lang="nl-BE" sz="1200" dirty="0">
                <a:solidFill>
                  <a:srgbClr val="FF0000"/>
                </a:solidFill>
              </a:rPr>
              <a:t>Afbeelding: duim omhoog en duim omlaag</a:t>
            </a:r>
          </a:p>
        </p:txBody>
      </p:sp>
      <p:sp>
        <p:nvSpPr>
          <p:cNvPr id="4" name="Tijdelijke aanduiding voor dianummer 3"/>
          <p:cNvSpPr>
            <a:spLocks noGrp="1"/>
          </p:cNvSpPr>
          <p:nvPr>
            <p:ph type="sldNum" sz="quarter" idx="10"/>
          </p:nvPr>
        </p:nvSpPr>
        <p:spPr/>
        <p:txBody>
          <a:bodyPr/>
          <a:lstStyle/>
          <a:p>
            <a:fld id="{539A0A48-EDB1-4AFE-B1B7-10CE2A416496}" type="slidenum">
              <a:rPr lang="en-GB" smtClean="0"/>
              <a:t>52</a:t>
            </a:fld>
            <a:endParaRPr lang="en-GB"/>
          </a:p>
        </p:txBody>
      </p:sp>
    </p:spTree>
    <p:extLst>
      <p:ext uri="{BB962C8B-B14F-4D97-AF65-F5344CB8AC3E}">
        <p14:creationId xmlns:p14="http://schemas.microsoft.com/office/powerpoint/2010/main" val="169785287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blank" preserve="1">
  <p:cSld name="Corporate Log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A24147F-ED97-47AF-A1B3-C82A179CF7F3}" type="datetime1">
              <a:rPr lang="nl-NL" smtClean="0"/>
              <a:t>2-11-2025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7AE184E0-0BD4-4705-A12B-9B71DDE63301}" type="slidenum">
              <a:rPr lang="en-GB" smtClean="0"/>
              <a:t>‹#›</a:t>
            </a:fld>
            <a:endParaRPr lang="en-GB"/>
          </a:p>
        </p:txBody>
      </p:sp>
      <p:pic>
        <p:nvPicPr>
          <p:cNvPr id="9" name="Logo Large"/>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109518" y="2275285"/>
            <a:ext cx="5462027" cy="4172720"/>
          </a:xfrm>
          <a:prstGeom prst="rect">
            <a:avLst/>
          </a:prstGeom>
        </p:spPr>
      </p:pic>
    </p:spTree>
    <p:extLst>
      <p:ext uri="{BB962C8B-B14F-4D97-AF65-F5344CB8AC3E}">
        <p14:creationId xmlns:p14="http://schemas.microsoft.com/office/powerpoint/2010/main" val="1091436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1"/>
          <p:cNvSpPr>
            <a:spLocks noGrp="1"/>
          </p:cNvSpPr>
          <p:nvPr>
            <p:ph type="ctrTitle"/>
          </p:nvPr>
        </p:nvSpPr>
        <p:spPr bwMode="white">
          <a:xfrm>
            <a:off x="1291074" y="228600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en-US" noProof="0"/>
              <a:t>Click to edit Master title style</a:t>
            </a:r>
            <a:endParaRPr lang="nl-BE" noProof="0" dirty="0"/>
          </a:p>
        </p:txBody>
      </p:sp>
      <p:sp>
        <p:nvSpPr>
          <p:cNvPr id="3" name="Subtitle 2"/>
          <p:cNvSpPr>
            <a:spLocks noGrp="1"/>
          </p:cNvSpPr>
          <p:nvPr>
            <p:ph type="subTitle" idx="1" hasCustomPrompt="1"/>
          </p:nvPr>
        </p:nvSpPr>
        <p:spPr bwMode="white">
          <a:xfrm>
            <a:off x="1283414" y="6874716"/>
            <a:ext cx="15191026" cy="583200"/>
          </a:xfrm>
        </p:spPr>
        <p:txBody>
          <a:bodyPr>
            <a:normAutofit/>
          </a:bodyPr>
          <a:lstStyle>
            <a:lvl1pPr marL="0" indent="0" algn="l">
              <a:lnSpc>
                <a:spcPts val="3600"/>
              </a:lnSpc>
              <a:buNone/>
              <a:defRPr sz="3000" baseline="0">
                <a:solidFill>
                  <a:srgbClr val="FFD200"/>
                </a:solidFill>
              </a:defRPr>
            </a:lvl1pPr>
            <a:lvl2pPr marL="650184" indent="0" algn="ctr">
              <a:buNone/>
              <a:defRPr sz="2844"/>
            </a:lvl2pPr>
            <a:lvl3pPr marL="1300368" indent="0" algn="ctr">
              <a:buNone/>
              <a:defRPr sz="2560"/>
            </a:lvl3pPr>
            <a:lvl4pPr marL="1950552" indent="0" algn="ctr">
              <a:buNone/>
              <a:defRPr sz="2275"/>
            </a:lvl4pPr>
            <a:lvl5pPr marL="2600736" indent="0" algn="ctr">
              <a:buNone/>
              <a:defRPr sz="2275"/>
            </a:lvl5pPr>
            <a:lvl6pPr marL="3250921" indent="0" algn="ctr">
              <a:buNone/>
              <a:defRPr sz="2275"/>
            </a:lvl6pPr>
            <a:lvl7pPr marL="3901105" indent="0" algn="ctr">
              <a:buNone/>
              <a:defRPr sz="2275"/>
            </a:lvl7pPr>
            <a:lvl8pPr marL="4551289" indent="0" algn="ctr">
              <a:buNone/>
              <a:defRPr sz="2275"/>
            </a:lvl8pPr>
            <a:lvl9pPr marL="5201473" indent="0" algn="ctr">
              <a:buNone/>
              <a:defRPr sz="2275"/>
            </a:lvl9pPr>
          </a:lstStyle>
          <a:p>
            <a:r>
              <a:rPr lang="nl-BE" noProof="0" dirty="0"/>
              <a:t>Klik om de ondertitel / presentator / datum [</a:t>
            </a:r>
            <a:r>
              <a:rPr lang="nl-BE" noProof="0" dirty="0" err="1"/>
              <a:t>dd</a:t>
            </a:r>
            <a:r>
              <a:rPr lang="nl-BE" noProof="0" dirty="0"/>
              <a:t>-mm-</a:t>
            </a:r>
            <a:r>
              <a:rPr lang="nl-BE" noProof="0" dirty="0" err="1"/>
              <a:t>yyyy</a:t>
            </a:r>
            <a:r>
              <a:rPr lang="nl-BE" noProof="0" dirty="0"/>
              <a:t>] te maken</a:t>
            </a:r>
          </a:p>
        </p:txBody>
      </p:sp>
      <p:sp>
        <p:nvSpPr>
          <p:cNvPr id="8" name="Titles positoning box" hidden="1"/>
          <p:cNvSpPr/>
          <p:nvPr userDrawn="1"/>
        </p:nvSpPr>
        <p:spPr>
          <a:xfrm>
            <a:off x="1371600" y="6408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Text Placeholder 9"/>
          <p:cNvSpPr>
            <a:spLocks noGrp="1"/>
          </p:cNvSpPr>
          <p:nvPr>
            <p:ph type="body" sz="quarter" idx="10" hasCustomPrompt="1"/>
          </p:nvPr>
        </p:nvSpPr>
        <p:spPr bwMode="white">
          <a:xfrm>
            <a:off x="1291074" y="270000"/>
            <a:ext cx="15183366" cy="540000"/>
          </a:xfrm>
        </p:spPr>
        <p:txBody>
          <a:bodyPr anchor="b" anchorCtr="0">
            <a:normAutofit/>
          </a:bodyPr>
          <a:lstStyle>
            <a:lvl1pPr marL="0" indent="0">
              <a:lnSpc>
                <a:spcPts val="1700"/>
              </a:lnSpc>
              <a:buNone/>
              <a:defRPr sz="1400" b="1" i="0" u="sng" cap="all" baseline="0">
                <a:solidFill>
                  <a:schemeClr val="bg1"/>
                </a:solidFill>
                <a:uFill>
                  <a:solidFill>
                    <a:schemeClr val="bg1"/>
                  </a:solidFill>
                </a:uFill>
              </a:defRPr>
            </a:lvl1pPr>
            <a:lvl2pPr marL="0" indent="0">
              <a:lnSpc>
                <a:spcPts val="1700"/>
              </a:lnSpc>
              <a:buNone/>
              <a:defRPr sz="1400" cap="all" baseline="0">
                <a:solidFill>
                  <a:schemeClr val="bg1"/>
                </a:solidFill>
                <a:uFill>
                  <a:solidFill>
                    <a:schemeClr val="bg1"/>
                  </a:solidFill>
                </a:uFill>
              </a:defRPr>
            </a:lvl2pPr>
          </a:lstStyle>
          <a:p>
            <a:pPr lvl="0"/>
            <a:r>
              <a:rPr lang="nl-BE" noProof="0" dirty="0"/>
              <a:t>Klik om de organisatie stijlen te bewerken</a:t>
            </a:r>
          </a:p>
          <a:p>
            <a:pPr lvl="1"/>
            <a:r>
              <a:rPr lang="nl-BE" noProof="0" dirty="0"/>
              <a:t>tweede niveau</a:t>
            </a:r>
          </a:p>
        </p:txBody>
      </p:sp>
      <p:sp>
        <p:nvSpPr>
          <p:cNvPr id="12" name="Picture Placeholder 11"/>
          <p:cNvSpPr>
            <a:spLocks noGrp="1"/>
          </p:cNvSpPr>
          <p:nvPr>
            <p:ph type="pic" sz="quarter" idx="11" hasCustomPrompt="1"/>
          </p:nvPr>
        </p:nvSpPr>
        <p:spPr>
          <a:xfrm>
            <a:off x="3200400" y="8366400"/>
            <a:ext cx="2286000" cy="928800"/>
          </a:xfrm>
        </p:spPr>
        <p:txBody>
          <a:bodyPr/>
          <a:lstStyle>
            <a:lvl1pPr marL="85725" indent="0">
              <a:buNone/>
              <a:defRPr sz="1600">
                <a:solidFill>
                  <a:schemeClr val="bg1">
                    <a:lumMod val="50000"/>
                  </a:schemeClr>
                </a:solidFill>
              </a:defRPr>
            </a:lvl1pPr>
          </a:lstStyle>
          <a:p>
            <a:r>
              <a:rPr lang="nl-BE" noProof="0"/>
              <a:t>Partnerlogo 1</a:t>
            </a:r>
          </a:p>
        </p:txBody>
      </p:sp>
      <p:sp>
        <p:nvSpPr>
          <p:cNvPr id="13" name="Picture Placeholder 11"/>
          <p:cNvSpPr>
            <a:spLocks noGrp="1"/>
          </p:cNvSpPr>
          <p:nvPr>
            <p:ph type="pic" sz="quarter" idx="12" hasCustomPrompt="1"/>
          </p:nvPr>
        </p:nvSpPr>
        <p:spPr>
          <a:xfrm>
            <a:off x="5713200" y="8366400"/>
            <a:ext cx="2286000" cy="928800"/>
          </a:xfrm>
        </p:spPr>
        <p:txBody>
          <a:bodyPr/>
          <a:lstStyle>
            <a:lvl1pPr marL="85725" indent="0">
              <a:buNone/>
              <a:defRPr sz="1600">
                <a:solidFill>
                  <a:schemeClr val="bg1">
                    <a:lumMod val="50000"/>
                  </a:schemeClr>
                </a:solidFill>
              </a:defRPr>
            </a:lvl1pPr>
          </a:lstStyle>
          <a:p>
            <a:r>
              <a:rPr lang="nl-BE" noProof="0"/>
              <a:t>Partnerlogo 2</a:t>
            </a:r>
          </a:p>
        </p:txBody>
      </p:sp>
      <p:sp>
        <p:nvSpPr>
          <p:cNvPr id="14" name="Picture Placeholder 11"/>
          <p:cNvSpPr>
            <a:spLocks noGrp="1"/>
          </p:cNvSpPr>
          <p:nvPr>
            <p:ph type="pic" sz="quarter" idx="13" hasCustomPrompt="1"/>
          </p:nvPr>
        </p:nvSpPr>
        <p:spPr>
          <a:xfrm>
            <a:off x="8229600" y="8366400"/>
            <a:ext cx="2322000" cy="928800"/>
          </a:xfrm>
        </p:spPr>
        <p:txBody>
          <a:bodyPr/>
          <a:lstStyle>
            <a:lvl1pPr marL="85725" indent="0">
              <a:buNone/>
              <a:defRPr sz="1600">
                <a:solidFill>
                  <a:schemeClr val="bg1">
                    <a:lumMod val="50000"/>
                  </a:schemeClr>
                </a:solidFill>
              </a:defRPr>
            </a:lvl1pPr>
          </a:lstStyle>
          <a:p>
            <a:r>
              <a:rPr lang="nl-BE" noProof="0"/>
              <a:t>Partnerlogo 3</a:t>
            </a:r>
          </a:p>
        </p:txBody>
      </p:sp>
      <p:sp>
        <p:nvSpPr>
          <p:cNvPr id="15" name="Picture Placeholder 11"/>
          <p:cNvSpPr>
            <a:spLocks noGrp="1"/>
          </p:cNvSpPr>
          <p:nvPr>
            <p:ph type="pic" sz="quarter" idx="14" hasCustomPrompt="1"/>
          </p:nvPr>
        </p:nvSpPr>
        <p:spPr>
          <a:xfrm>
            <a:off x="10746000" y="8366400"/>
            <a:ext cx="2322000" cy="928800"/>
          </a:xfrm>
        </p:spPr>
        <p:txBody>
          <a:bodyPr/>
          <a:lstStyle>
            <a:lvl1pPr marL="85725" indent="0">
              <a:buNone/>
              <a:defRPr sz="1600">
                <a:solidFill>
                  <a:schemeClr val="bg1">
                    <a:lumMod val="50000"/>
                  </a:schemeClr>
                </a:solidFill>
              </a:defRPr>
            </a:lvl1pPr>
          </a:lstStyle>
          <a:p>
            <a:r>
              <a:rPr lang="nl-BE" noProof="0"/>
              <a:t>Partnerlogo 4</a:t>
            </a:r>
          </a:p>
        </p:txBody>
      </p:sp>
    </p:spTree>
    <p:extLst>
      <p:ext uri="{BB962C8B-B14F-4D97-AF65-F5344CB8AC3E}">
        <p14:creationId xmlns:p14="http://schemas.microsoft.com/office/powerpoint/2010/main" val="941814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hapter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2" name="Title 1"/>
          <p:cNvSpPr>
            <a:spLocks noGrp="1"/>
          </p:cNvSpPr>
          <p:nvPr>
            <p:ph type="ctrTitle" hasCustomPrompt="1"/>
          </p:nvPr>
        </p:nvSpPr>
        <p:spPr bwMode="white">
          <a:xfrm>
            <a:off x="1291074" y="3246120"/>
            <a:ext cx="15183366" cy="4436316"/>
          </a:xfrm>
        </p:spPr>
        <p:txBody>
          <a:bodyPr anchor="b">
            <a:noAutofit/>
          </a:bodyPr>
          <a:lstStyle>
            <a:lvl1pPr algn="l">
              <a:lnSpc>
                <a:spcPts val="11000"/>
              </a:lnSpc>
              <a:defRPr sz="10000" u="sng" baseline="0">
                <a:solidFill>
                  <a:schemeClr val="bg1"/>
                </a:solidFill>
                <a:uFill>
                  <a:solidFill>
                    <a:schemeClr val="bg1"/>
                  </a:solidFill>
                </a:uFill>
              </a:defRPr>
            </a:lvl1pPr>
          </a:lstStyle>
          <a:p>
            <a:r>
              <a:rPr lang="nl-BE" noProof="0" dirty="0"/>
              <a:t>klik om een hoofdstuktitel te maken.</a:t>
            </a:r>
          </a:p>
        </p:txBody>
      </p:sp>
      <p:sp>
        <p:nvSpPr>
          <p:cNvPr id="8" name="Titles positoning box" hidden="1"/>
          <p:cNvSpPr/>
          <p:nvPr userDrawn="1"/>
        </p:nvSpPr>
        <p:spPr>
          <a:xfrm>
            <a:off x="1371600" y="7344000"/>
            <a:ext cx="15012000" cy="576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a:t>
            </a:fld>
            <a:endParaRPr lang="nl-BE" noProof="0"/>
          </a:p>
        </p:txBody>
      </p:sp>
    </p:spTree>
    <p:extLst>
      <p:ext uri="{BB962C8B-B14F-4D97-AF65-F5344CB8AC3E}">
        <p14:creationId xmlns:p14="http://schemas.microsoft.com/office/powerpoint/2010/main" val="12947326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UGent Panno Text" panose="02000506040000040003" pitchFamily="2" charset="0"/>
              </a:defRPr>
            </a:lvl1pPr>
          </a:lstStyle>
          <a:p>
            <a:r>
              <a:rPr lang="en-US" noProof="0"/>
              <a:t>Click to edit Master title style</a:t>
            </a:r>
            <a:endParaRPr lang="nl-BE" noProof="0" dirty="0"/>
          </a:p>
        </p:txBody>
      </p:sp>
      <p:sp>
        <p:nvSpPr>
          <p:cNvPr id="3" name="Content Placeholder 2"/>
          <p:cNvSpPr>
            <a:spLocks noGrp="1"/>
          </p:cNvSpPr>
          <p:nvPr>
            <p:ph idx="1" hasCustomPrompt="1"/>
          </p:nvPr>
        </p:nvSpPr>
        <p:spPr>
          <a:xfrm>
            <a:off x="835825" y="1194364"/>
            <a:ext cx="15699575" cy="6696000"/>
          </a:xfrm>
        </p:spPr>
        <p:txBody>
          <a:bodyPr/>
          <a:lstStyle>
            <a:lvl1pPr defTabSz="457200">
              <a:lnSpc>
                <a:spcPct val="120000"/>
              </a:lnSpc>
              <a:defRPr>
                <a:latin typeface="UGent Panno Text" panose="02000506040000040003" pitchFamily="2" charset="0"/>
              </a:defRPr>
            </a:lvl1pPr>
            <a:lvl2pPr>
              <a:lnSpc>
                <a:spcPct val="120000"/>
              </a:lnSpc>
              <a:defRPr>
                <a:latin typeface="UGent Panno Text" panose="02000506040000040003" pitchFamily="2" charset="0"/>
              </a:defRPr>
            </a:lvl2pPr>
            <a:lvl3pPr defTabSz="457200">
              <a:lnSpc>
                <a:spcPct val="120000"/>
              </a:lnSpc>
              <a:defRPr>
                <a:latin typeface="UGent Panno Text" panose="02000506040000040003" pitchFamily="2" charset="0"/>
              </a:defRPr>
            </a:lvl3pPr>
            <a:lvl4pPr marL="2328863" indent="-550863" defTabSz="1912938">
              <a:lnSpc>
                <a:spcPct val="120000"/>
              </a:lnSpc>
              <a:tabLst/>
              <a:defRPr>
                <a:latin typeface="UGent Panno Text" panose="02000506040000040003" pitchFamily="2" charset="0"/>
              </a:defRPr>
            </a:lvl4pPr>
            <a:lvl5pPr marL="2962275" indent="-442913" defTabSz="457200">
              <a:lnSpc>
                <a:spcPct val="120000"/>
              </a:lnSpc>
              <a:buFont typeface="Arial" panose="020B0604020202020204" pitchFamily="34" charset="0"/>
              <a:buChar char="̶"/>
              <a:defRPr>
                <a:latin typeface="UGent Panno Text" panose="02000506040000040003" pitchFamily="2" charset="0"/>
              </a:defRPr>
            </a:lvl5p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a:p>
            <a:pPr lvl="3"/>
            <a:r>
              <a:rPr lang="nl-BE" noProof="0" dirty="0" err="1"/>
              <a:t>Fourth</a:t>
            </a:r>
            <a:r>
              <a:rPr lang="nl-BE" noProof="0" dirty="0"/>
              <a:t> level</a:t>
            </a:r>
          </a:p>
          <a:p>
            <a:pPr lvl="4"/>
            <a:r>
              <a:rPr lang="nl-BE" noProof="0" dirty="0" err="1"/>
              <a:t>Fifth</a:t>
            </a:r>
            <a:r>
              <a:rPr lang="nl-BE" noProof="0" dirty="0"/>
              <a:t> level</a:t>
            </a:r>
          </a:p>
        </p:txBody>
      </p:sp>
      <p:sp>
        <p:nvSpPr>
          <p:cNvPr id="4" name="Date Placeholder 3"/>
          <p:cNvSpPr>
            <a:spLocks noGrp="1"/>
          </p:cNvSpPr>
          <p:nvPr>
            <p:ph type="dt" sz="half" idx="10"/>
          </p:nvPr>
        </p:nvSpPr>
        <p:spPr/>
        <p:txBody>
          <a:bodyPr/>
          <a:lstStyle>
            <a:lvl1pPr>
              <a:defRPr>
                <a:latin typeface="UGent Panno Text" panose="02000506040000040003" pitchFamily="2" charset="0"/>
              </a:defRPr>
            </a:lvl1pPr>
          </a:lstStyle>
          <a:p>
            <a:fld id="{25470885-0B31-4E06-AE71-7E16801F2838}" type="datetime1">
              <a:rPr lang="nl-BE" smtClean="0"/>
              <a:pPr/>
              <a:t>2/11/2025</a:t>
            </a:fld>
            <a:endParaRPr lang="nl-BE"/>
          </a:p>
        </p:txBody>
      </p:sp>
      <p:sp>
        <p:nvSpPr>
          <p:cNvPr id="5" name="Footer Placeholder 4"/>
          <p:cNvSpPr>
            <a:spLocks noGrp="1"/>
          </p:cNvSpPr>
          <p:nvPr>
            <p:ph type="ftr" sz="quarter" idx="11"/>
          </p:nvPr>
        </p:nvSpPr>
        <p:spPr/>
        <p:txBody>
          <a:bodyPr/>
          <a:lstStyle>
            <a:lvl1pPr>
              <a:defRPr>
                <a:latin typeface="UGent Panno Text" panose="02000506040000040003" pitchFamily="2" charset="0"/>
              </a:defRPr>
            </a:lvl1pPr>
          </a:lstStyle>
          <a:p>
            <a:endParaRPr lang="nl-BE"/>
          </a:p>
        </p:txBody>
      </p:sp>
      <p:sp>
        <p:nvSpPr>
          <p:cNvPr id="6" name="Slide Number Placeholder 5"/>
          <p:cNvSpPr>
            <a:spLocks noGrp="1"/>
          </p:cNvSpPr>
          <p:nvPr>
            <p:ph type="sldNum" sz="quarter" idx="12"/>
          </p:nvPr>
        </p:nvSpPr>
        <p:spPr/>
        <p:txBody>
          <a:bodyPr/>
          <a:lstStyle>
            <a:lvl1pPr>
              <a:defRPr>
                <a:latin typeface="UGent Panno Text" panose="02000506040000040003" pitchFamily="2" charset="0"/>
              </a:defRPr>
            </a:lvl1pPr>
          </a:lstStyle>
          <a:p>
            <a:fld id="{7AE184E0-0BD4-4705-A12B-9B71DDE63301}" type="slidenum">
              <a:rPr lang="nl-BE" smtClean="0"/>
              <a:pPr/>
              <a:t>‹#›</a:t>
            </a:fld>
            <a:endParaRPr lang="nl-BE"/>
          </a:p>
        </p:txBody>
      </p:sp>
    </p:spTree>
    <p:extLst>
      <p:ext uri="{BB962C8B-B14F-4D97-AF65-F5344CB8AC3E}">
        <p14:creationId xmlns:p14="http://schemas.microsoft.com/office/powerpoint/2010/main" val="30815775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Text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nl-BE" noProof="0" dirty="0"/>
          </a:p>
        </p:txBody>
      </p:sp>
      <p:sp>
        <p:nvSpPr>
          <p:cNvPr id="4" name="Date Placeholder 3"/>
          <p:cNvSpPr>
            <a:spLocks noGrp="1"/>
          </p:cNvSpPr>
          <p:nvPr>
            <p:ph type="dt" sz="half" idx="10"/>
          </p:nvPr>
        </p:nvSpPr>
        <p:spPr/>
        <p:txBody>
          <a:bodyPr/>
          <a:lstStyle/>
          <a:p>
            <a:fld id="{E7410F60-8C93-4C37-B51A-4DDAE36F7E9B}" type="datetime1">
              <a:rPr lang="nl-BE" noProof="0" smtClean="0"/>
              <a:t>2/11/2025</a:t>
            </a:fld>
            <a:endParaRPr lang="nl-BE" noProof="0"/>
          </a:p>
        </p:txBody>
      </p:sp>
      <p:sp>
        <p:nvSpPr>
          <p:cNvPr id="5" name="Footer Placeholder 4"/>
          <p:cNvSpPr>
            <a:spLocks noGrp="1"/>
          </p:cNvSpPr>
          <p:nvPr>
            <p:ph type="ftr" sz="quarter" idx="11"/>
          </p:nvPr>
        </p:nvSpPr>
        <p:spPr/>
        <p:txBody>
          <a:bodyPr/>
          <a:lstStyle/>
          <a:p>
            <a:endParaRPr lang="nl-BE" noProof="0"/>
          </a:p>
        </p:txBody>
      </p:sp>
      <p:sp>
        <p:nvSpPr>
          <p:cNvPr id="8" name="Picture Placeholder 7"/>
          <p:cNvSpPr>
            <a:spLocks noGrp="1"/>
          </p:cNvSpPr>
          <p:nvPr>
            <p:ph type="pic" sz="quarter" idx="13" hasCustomPrompt="1"/>
          </p:nvPr>
        </p:nvSpPr>
        <p:spPr>
          <a:xfrm>
            <a:off x="10104438" y="1371918"/>
            <a:ext cx="6300000" cy="6498000"/>
          </a:xfrm>
        </p:spPr>
        <p:txBody>
          <a:bodyPr/>
          <a:lstStyle>
            <a:lvl1pPr marL="85725" indent="0">
              <a:buNone/>
              <a:defRPr>
                <a:solidFill>
                  <a:schemeClr val="bg1">
                    <a:lumMod val="50000"/>
                  </a:schemeClr>
                </a:solidFill>
              </a:defRPr>
            </a:lvl1pPr>
          </a:lstStyle>
          <a:p>
            <a:r>
              <a:rPr lang="nl-BE" noProof="0"/>
              <a:t>Photo</a:t>
            </a:r>
          </a:p>
        </p:txBody>
      </p:sp>
      <p:sp>
        <p:nvSpPr>
          <p:cNvPr id="9"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a:t>
            </a:fld>
            <a:endParaRPr lang="nl-BE" noProof="0"/>
          </a:p>
        </p:txBody>
      </p:sp>
      <p:sp>
        <p:nvSpPr>
          <p:cNvPr id="12" name="Content Placeholder 2"/>
          <p:cNvSpPr>
            <a:spLocks noGrp="1"/>
          </p:cNvSpPr>
          <p:nvPr>
            <p:ph idx="1" hasCustomPrompt="1"/>
          </p:nvPr>
        </p:nvSpPr>
        <p:spPr>
          <a:xfrm>
            <a:off x="835825" y="1194364"/>
            <a:ext cx="8442000" cy="6696000"/>
          </a:xfrm>
        </p:spPr>
        <p:txBody>
          <a:bodyPr/>
          <a:lstStyle>
            <a:lvl1pPr defTabSz="457200">
              <a:lnSpc>
                <a:spcPct val="120000"/>
              </a:lnSpc>
              <a:defRPr/>
            </a:lvl1pPr>
            <a:lvl2pPr>
              <a:lnSpc>
                <a:spcPct val="120000"/>
              </a:lnSpc>
              <a:defRPr/>
            </a:lvl2pPr>
            <a:lvl3pPr defTabSz="457200">
              <a:lnSpc>
                <a:spcPct val="120000"/>
              </a:lnSpc>
              <a:defRPr/>
            </a:lvl3pPr>
            <a:lvl4pPr defTabSz="457200">
              <a:lnSpc>
                <a:spcPct val="120000"/>
              </a:lnSpc>
              <a:defRPr/>
            </a:lvl4pPr>
            <a:lvl5pPr defTabSz="457200">
              <a:lnSpc>
                <a:spcPct val="120000"/>
              </a:lnSpc>
              <a:defRPr/>
            </a:lvl5p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p:txBody>
      </p:sp>
    </p:spTree>
    <p:extLst>
      <p:ext uri="{BB962C8B-B14F-4D97-AF65-F5344CB8AC3E}">
        <p14:creationId xmlns:p14="http://schemas.microsoft.com/office/powerpoint/2010/main" val="13148871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Pho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endParaRPr lang="nl-BE" noProof="0" dirty="0"/>
          </a:p>
        </p:txBody>
      </p:sp>
      <p:sp>
        <p:nvSpPr>
          <p:cNvPr id="3" name="Date Placeholder 2"/>
          <p:cNvSpPr>
            <a:spLocks noGrp="1"/>
          </p:cNvSpPr>
          <p:nvPr>
            <p:ph type="dt" sz="half" idx="10"/>
          </p:nvPr>
        </p:nvSpPr>
        <p:spPr/>
        <p:txBody>
          <a:bodyPr/>
          <a:lstStyle/>
          <a:p>
            <a:fld id="{656594B6-17DF-4759-A7A5-128AFEA77F2C}" type="datetime1">
              <a:rPr lang="nl-BE" noProof="0" smtClean="0"/>
              <a:t>2/11/2025</a:t>
            </a:fld>
            <a:endParaRPr lang="nl-BE" noProof="0"/>
          </a:p>
        </p:txBody>
      </p:sp>
      <p:sp>
        <p:nvSpPr>
          <p:cNvPr id="4" name="Footer Placeholder 3"/>
          <p:cNvSpPr>
            <a:spLocks noGrp="1"/>
          </p:cNvSpPr>
          <p:nvPr>
            <p:ph type="ftr" sz="quarter" idx="11"/>
          </p:nvPr>
        </p:nvSpPr>
        <p:spPr/>
        <p:txBody>
          <a:bodyPr/>
          <a:lstStyle/>
          <a:p>
            <a:endParaRPr lang="nl-BE" noProof="0"/>
          </a:p>
        </p:txBody>
      </p:sp>
      <p:sp>
        <p:nvSpPr>
          <p:cNvPr id="5" name="Slide Number Placeholder 4"/>
          <p:cNvSpPr>
            <a:spLocks noGrp="1"/>
          </p:cNvSpPr>
          <p:nvPr>
            <p:ph type="sldNum" sz="quarter" idx="12"/>
          </p:nvPr>
        </p:nvSpPr>
        <p:spPr/>
        <p:txBody>
          <a:bodyPr/>
          <a:lstStyle/>
          <a:p>
            <a:fld id="{7AE184E0-0BD4-4705-A12B-9B71DDE63301}" type="slidenum">
              <a:rPr lang="nl-BE" noProof="0" smtClean="0"/>
              <a:t>‹#›</a:t>
            </a:fld>
            <a:endParaRPr lang="nl-BE" noProof="0"/>
          </a:p>
        </p:txBody>
      </p:sp>
      <p:sp>
        <p:nvSpPr>
          <p:cNvPr id="7" name="Picture Placeholder 6"/>
          <p:cNvSpPr>
            <a:spLocks noGrp="1"/>
          </p:cNvSpPr>
          <p:nvPr>
            <p:ph type="pic" sz="quarter" idx="13" hasCustomPrompt="1"/>
          </p:nvPr>
        </p:nvSpPr>
        <p:spPr>
          <a:xfrm>
            <a:off x="952038" y="1371600"/>
            <a:ext cx="15480000" cy="6501600"/>
          </a:xfrm>
        </p:spPr>
        <p:txBody>
          <a:bodyPr/>
          <a:lstStyle>
            <a:lvl1pPr marL="0" indent="0">
              <a:buNone/>
              <a:defRPr>
                <a:solidFill>
                  <a:schemeClr val="bg1">
                    <a:lumMod val="50000"/>
                  </a:schemeClr>
                </a:solidFill>
              </a:defRPr>
            </a:lvl1pPr>
          </a:lstStyle>
          <a:p>
            <a:r>
              <a:rPr lang="nl-BE" noProof="0"/>
              <a:t>Photo</a:t>
            </a:r>
          </a:p>
        </p:txBody>
      </p:sp>
    </p:spTree>
    <p:extLst>
      <p:ext uri="{BB962C8B-B14F-4D97-AF65-F5344CB8AC3E}">
        <p14:creationId xmlns:p14="http://schemas.microsoft.com/office/powerpoint/2010/main" val="3745163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Only">
    <p:bg>
      <p:bgPr>
        <a:solidFill>
          <a:schemeClr val="bg1"/>
        </a:solidFill>
        <a:effectLst/>
      </p:bgPr>
    </p:bg>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6A81384-1200-4D40-BEF0-3A17A1F906F4}" type="datetime1">
              <a:rPr lang="nl-NL" noProof="0" smtClean="0"/>
              <a:t>2-11-2025</a:t>
            </a:fld>
            <a:endParaRPr lang="nl-NL" noProof="0"/>
          </a:p>
        </p:txBody>
      </p:sp>
      <p:sp>
        <p:nvSpPr>
          <p:cNvPr id="3" name="Footer Placeholder 2"/>
          <p:cNvSpPr>
            <a:spLocks noGrp="1"/>
          </p:cNvSpPr>
          <p:nvPr>
            <p:ph type="ftr" sz="quarter" idx="11"/>
          </p:nvPr>
        </p:nvSpPr>
        <p:spPr/>
        <p:txBody>
          <a:bodyPr/>
          <a:lstStyle/>
          <a:p>
            <a:endParaRPr lang="nl-NL" noProof="0"/>
          </a:p>
        </p:txBody>
      </p:sp>
      <p:sp>
        <p:nvSpPr>
          <p:cNvPr id="7" name="Covering Background"/>
          <p:cNvSpPr/>
          <p:nvPr userDrawn="1"/>
        </p:nvSpPr>
        <p:spPr>
          <a:xfrm>
            <a:off x="-1" y="0"/>
            <a:ext cx="17337600" cy="975360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noProof="0"/>
          </a:p>
        </p:txBody>
      </p:sp>
      <p:sp>
        <p:nvSpPr>
          <p:cNvPr id="6" name="Picture Placeholder 5"/>
          <p:cNvSpPr>
            <a:spLocks noGrp="1"/>
          </p:cNvSpPr>
          <p:nvPr>
            <p:ph type="pic" sz="quarter" idx="12" hasCustomPrompt="1"/>
          </p:nvPr>
        </p:nvSpPr>
        <p:spPr>
          <a:xfrm>
            <a:off x="-1" y="0"/>
            <a:ext cx="17337600" cy="9753600"/>
          </a:xfrm>
        </p:spPr>
        <p:txBody>
          <a:bodyPr/>
          <a:lstStyle>
            <a:lvl1pPr marL="85725" indent="0">
              <a:buNone/>
              <a:defRPr>
                <a:solidFill>
                  <a:schemeClr val="bg1">
                    <a:lumMod val="50000"/>
                  </a:schemeClr>
                </a:solidFill>
              </a:defRPr>
            </a:lvl1pPr>
          </a:lstStyle>
          <a:p>
            <a:r>
              <a:rPr lang="nl-BE" noProof="0"/>
              <a:t>Photo</a:t>
            </a:r>
          </a:p>
        </p:txBody>
      </p:sp>
    </p:spTree>
    <p:extLst>
      <p:ext uri="{BB962C8B-B14F-4D97-AF65-F5344CB8AC3E}">
        <p14:creationId xmlns:p14="http://schemas.microsoft.com/office/powerpoint/2010/main" val="29494181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ue textbox over picture">
    <p:bg>
      <p:bgPr>
        <a:solidFill>
          <a:schemeClr val="bg1"/>
        </a:solidFill>
        <a:effectLst/>
      </p:bgPr>
    </p:bg>
    <p:spTree>
      <p:nvGrpSpPr>
        <p:cNvPr id="1" name=""/>
        <p:cNvGrpSpPr/>
        <p:nvPr/>
      </p:nvGrpSpPr>
      <p:grpSpPr>
        <a:xfrm>
          <a:off x="0" y="0"/>
          <a:ext cx="0" cy="0"/>
          <a:chOff x="0" y="0"/>
          <a:chExt cx="0" cy="0"/>
        </a:xfrm>
      </p:grpSpPr>
      <p:sp>
        <p:nvSpPr>
          <p:cNvPr id="6" name="Picture Placeholder 5"/>
          <p:cNvSpPr>
            <a:spLocks noGrp="1"/>
          </p:cNvSpPr>
          <p:nvPr>
            <p:ph type="pic" sz="quarter" idx="12" hasCustomPrompt="1"/>
          </p:nvPr>
        </p:nvSpPr>
        <p:spPr>
          <a:xfrm>
            <a:off x="914400" y="0"/>
            <a:ext cx="16424275" cy="7920000"/>
          </a:xfrm>
        </p:spPr>
        <p:txBody>
          <a:bodyPr/>
          <a:lstStyle>
            <a:lvl1pPr marL="85725" indent="0">
              <a:buNone/>
              <a:defRPr>
                <a:solidFill>
                  <a:schemeClr val="bg1">
                    <a:lumMod val="50000"/>
                  </a:schemeClr>
                </a:solidFill>
              </a:defRPr>
            </a:lvl1pPr>
          </a:lstStyle>
          <a:p>
            <a:r>
              <a:rPr lang="nl-BE" noProof="0"/>
              <a:t>Picture</a:t>
            </a:r>
          </a:p>
        </p:txBody>
      </p:sp>
      <p:sp>
        <p:nvSpPr>
          <p:cNvPr id="2" name="Date Placeholder 1"/>
          <p:cNvSpPr>
            <a:spLocks noGrp="1"/>
          </p:cNvSpPr>
          <p:nvPr>
            <p:ph type="dt" sz="half" idx="10"/>
          </p:nvPr>
        </p:nvSpPr>
        <p:spPr/>
        <p:txBody>
          <a:bodyPr/>
          <a:lstStyle/>
          <a:p>
            <a:fld id="{66A81384-1200-4D40-BEF0-3A17A1F906F4}" type="datetime1">
              <a:rPr lang="nl-NL" noProof="0" smtClean="0"/>
              <a:t>2-11-2025</a:t>
            </a:fld>
            <a:endParaRPr lang="nl-NL" noProof="0"/>
          </a:p>
        </p:txBody>
      </p:sp>
      <p:sp>
        <p:nvSpPr>
          <p:cNvPr id="3" name="Footer Placeholder 2"/>
          <p:cNvSpPr>
            <a:spLocks noGrp="1"/>
          </p:cNvSpPr>
          <p:nvPr>
            <p:ph type="ftr" sz="quarter" idx="11"/>
          </p:nvPr>
        </p:nvSpPr>
        <p:spPr/>
        <p:txBody>
          <a:bodyPr/>
          <a:lstStyle/>
          <a:p>
            <a:endParaRPr lang="nl-NL" noProof="0"/>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p:nvPr>
        </p:nvSpPr>
        <p:spPr>
          <a:xfrm>
            <a:off x="914400" y="2691979"/>
            <a:ext cx="6764400" cy="5230800"/>
          </a:xfrm>
          <a:solidFill>
            <a:srgbClr val="1E64C8"/>
          </a:solidFill>
        </p:spPr>
        <p:txBody>
          <a:bodyPr anchor="b" anchorCtr="0">
            <a:noAutofit/>
          </a:bodyPr>
          <a:lstStyle>
            <a:lvl1pPr marL="85725" indent="0">
              <a:buNone/>
              <a:defRPr sz="10000" u="sng" cap="all" baseline="0">
                <a:solidFill>
                  <a:schemeClr val="bg1"/>
                </a:solidFill>
              </a:defRPr>
            </a:lvl1pPr>
            <a:lvl2pPr marL="984250" indent="-625475">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spTree>
    <p:extLst>
      <p:ext uri="{BB962C8B-B14F-4D97-AF65-F5344CB8AC3E}">
        <p14:creationId xmlns:p14="http://schemas.microsoft.com/office/powerpoint/2010/main" val="42546461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Light blue textbox over picture">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76AD30-96E8-448B-B97A-24B00ADE12C5}"/>
              </a:ext>
            </a:extLst>
          </p:cNvPr>
          <p:cNvSpPr/>
          <p:nvPr userDrawn="1"/>
        </p:nvSpPr>
        <p:spPr>
          <a:xfrm>
            <a:off x="914400" y="0"/>
            <a:ext cx="16424275" cy="7898400"/>
          </a:xfrm>
          <a:prstGeom prst="rect">
            <a:avLst/>
          </a:prstGeom>
          <a:solidFill>
            <a:srgbClr val="1E64C8"/>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6" name="Picture Placeholder 5"/>
          <p:cNvSpPr>
            <a:spLocks noGrp="1"/>
          </p:cNvSpPr>
          <p:nvPr>
            <p:ph type="pic" sz="quarter" idx="12" hasCustomPrompt="1"/>
          </p:nvPr>
        </p:nvSpPr>
        <p:spPr>
          <a:xfrm>
            <a:off x="914400" y="0"/>
            <a:ext cx="16424275" cy="7920000"/>
          </a:xfrm>
        </p:spPr>
        <p:txBody>
          <a:bodyPr/>
          <a:lstStyle>
            <a:lvl1pPr marL="85725" indent="0">
              <a:buNone/>
              <a:defRPr>
                <a:solidFill>
                  <a:schemeClr val="bg1">
                    <a:lumMod val="50000"/>
                  </a:schemeClr>
                </a:solidFill>
              </a:defRPr>
            </a:lvl1pPr>
          </a:lstStyle>
          <a:p>
            <a:r>
              <a:rPr lang="nl-BE" noProof="0"/>
              <a:t>Picture</a:t>
            </a:r>
          </a:p>
        </p:txBody>
      </p:sp>
      <p:sp>
        <p:nvSpPr>
          <p:cNvPr id="2" name="Date Placeholder 1"/>
          <p:cNvSpPr>
            <a:spLocks noGrp="1"/>
          </p:cNvSpPr>
          <p:nvPr>
            <p:ph type="dt" sz="half" idx="10"/>
          </p:nvPr>
        </p:nvSpPr>
        <p:spPr/>
        <p:txBody>
          <a:bodyPr/>
          <a:lstStyle/>
          <a:p>
            <a:fld id="{66A81384-1200-4D40-BEF0-3A17A1F906F4}" type="datetime1">
              <a:rPr lang="nl-NL" noProof="0" smtClean="0"/>
              <a:t>2-11-2025</a:t>
            </a:fld>
            <a:endParaRPr lang="nl-NL" noProof="0"/>
          </a:p>
        </p:txBody>
      </p:sp>
      <p:sp>
        <p:nvSpPr>
          <p:cNvPr id="3" name="Footer Placeholder 2"/>
          <p:cNvSpPr>
            <a:spLocks noGrp="1"/>
          </p:cNvSpPr>
          <p:nvPr>
            <p:ph type="ftr" sz="quarter" idx="11"/>
          </p:nvPr>
        </p:nvSpPr>
        <p:spPr/>
        <p:txBody>
          <a:bodyPr/>
          <a:lstStyle/>
          <a:p>
            <a:endParaRPr lang="nl-NL" noProof="0"/>
          </a:p>
        </p:txBody>
      </p:sp>
      <p:sp>
        <p:nvSpPr>
          <p:cNvPr id="8" name="Tijdelijke aanduiding voor tekst 7">
            <a:extLst>
              <a:ext uri="{FF2B5EF4-FFF2-40B4-BE49-F238E27FC236}">
                <a16:creationId xmlns:a16="http://schemas.microsoft.com/office/drawing/2014/main" id="{0301F6D1-3E66-4198-8305-F0FF1745CC94}"/>
              </a:ext>
            </a:extLst>
          </p:cNvPr>
          <p:cNvSpPr>
            <a:spLocks noGrp="1"/>
          </p:cNvSpPr>
          <p:nvPr>
            <p:ph type="body" sz="quarter" idx="13"/>
          </p:nvPr>
        </p:nvSpPr>
        <p:spPr>
          <a:xfrm>
            <a:off x="914399" y="1011602"/>
            <a:ext cx="7754938" cy="6908398"/>
          </a:xfrm>
          <a:solidFill>
            <a:srgbClr val="E9F0FA"/>
          </a:solidFill>
        </p:spPr>
        <p:txBody>
          <a:bodyPr>
            <a:normAutofit/>
          </a:bodyPr>
          <a:lstStyle>
            <a:lvl1pPr marL="85725" indent="0">
              <a:buNone/>
              <a:defRPr sz="5400" u="sng" cap="all" baseline="0">
                <a:solidFill>
                  <a:srgbClr val="1E64C8"/>
                </a:solidFill>
              </a:defRPr>
            </a:lvl1pPr>
            <a:lvl2pPr marL="984250" indent="-625475">
              <a:defRPr>
                <a:solidFill>
                  <a:srgbClr val="1E64C8"/>
                </a:solidFill>
              </a:defRPr>
            </a:lvl2pPr>
            <a:lvl3pPr>
              <a:defRPr>
                <a:solidFill>
                  <a:srgbClr val="1E64C8"/>
                </a:solidFill>
              </a:defRPr>
            </a:lvl3pPr>
            <a:lvl4pPr>
              <a:defRPr>
                <a:solidFill>
                  <a:srgbClr val="1E64C8"/>
                </a:solidFill>
              </a:defRPr>
            </a:lvl4pPr>
            <a:lvl5pPr>
              <a:defRPr>
                <a:solidFill>
                  <a:srgbClr val="1E64C8"/>
                </a:solidFill>
              </a:defRPr>
            </a:lvl5pPr>
          </a:lstStyle>
          <a:p>
            <a:pPr lvl="0"/>
            <a:r>
              <a:rPr lang="en-US"/>
              <a:t>Click to edit Master text styles</a:t>
            </a:r>
          </a:p>
        </p:txBody>
      </p:sp>
    </p:spTree>
    <p:extLst>
      <p:ext uri="{BB962C8B-B14F-4D97-AF65-F5344CB8AC3E}">
        <p14:creationId xmlns:p14="http://schemas.microsoft.com/office/powerpoint/2010/main" val="37723802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losing Slide">
    <p:spTree>
      <p:nvGrpSpPr>
        <p:cNvPr id="1" name=""/>
        <p:cNvGrpSpPr/>
        <p:nvPr/>
      </p:nvGrpSpPr>
      <p:grpSpPr>
        <a:xfrm>
          <a:off x="0" y="0"/>
          <a:ext cx="0" cy="0"/>
          <a:chOff x="0" y="0"/>
          <a:chExt cx="0" cy="0"/>
        </a:xfrm>
      </p:grpSpPr>
      <p:sp>
        <p:nvSpPr>
          <p:cNvPr id="7" name="Rectangle 6"/>
          <p:cNvSpPr/>
          <p:nvPr userDrawn="1"/>
        </p:nvSpPr>
        <p:spPr>
          <a:xfrm>
            <a:off x="914400" y="0"/>
            <a:ext cx="16424275" cy="7898400"/>
          </a:xfrm>
          <a:prstGeom prst="rect">
            <a:avLst/>
          </a:prstGeom>
          <a:solidFill>
            <a:srgbClr val="1E64C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BE" noProof="0"/>
          </a:p>
        </p:txBody>
      </p:sp>
      <p:sp>
        <p:nvSpPr>
          <p:cNvPr id="5" name="Tijdelijke aanduiding voor tekst 4"/>
          <p:cNvSpPr>
            <a:spLocks noGrp="1"/>
          </p:cNvSpPr>
          <p:nvPr>
            <p:ph type="body" sz="quarter" idx="10" hasCustomPrompt="1"/>
          </p:nvPr>
        </p:nvSpPr>
        <p:spPr bwMode="white">
          <a:xfrm>
            <a:off x="9215999" y="3095999"/>
            <a:ext cx="7257600" cy="2125481"/>
          </a:xfrm>
        </p:spPr>
        <p:txBody>
          <a:bodyPr>
            <a:normAutofit/>
          </a:bodyPr>
          <a:lstStyle>
            <a:lvl1pPr marL="0" indent="0">
              <a:lnSpc>
                <a:spcPts val="3500"/>
              </a:lnSpc>
              <a:buNone/>
              <a:defRPr sz="2400">
                <a:solidFill>
                  <a:schemeClr val="bg1"/>
                </a:solidFill>
              </a:defRPr>
            </a:lvl1pPr>
          </a:lstStyle>
          <a:p>
            <a:pPr lvl="0"/>
            <a:r>
              <a:rPr lang="nl-NL" dirty="0"/>
              <a:t>Klik om de namen van </a:t>
            </a:r>
            <a:r>
              <a:rPr lang="nl-NL" dirty="0" err="1"/>
              <a:t>social</a:t>
            </a:r>
            <a:r>
              <a:rPr lang="nl-NL" dirty="0"/>
              <a:t> media in te typen</a:t>
            </a:r>
          </a:p>
        </p:txBody>
      </p:sp>
      <p:sp>
        <p:nvSpPr>
          <p:cNvPr id="2" name="Title 1"/>
          <p:cNvSpPr>
            <a:spLocks noGrp="1"/>
          </p:cNvSpPr>
          <p:nvPr>
            <p:ph type="ctrTitle" hasCustomPrompt="1"/>
          </p:nvPr>
        </p:nvSpPr>
        <p:spPr bwMode="white">
          <a:xfrm>
            <a:off x="1291074" y="1743240"/>
            <a:ext cx="7419544" cy="5769600"/>
          </a:xfrm>
        </p:spPr>
        <p:txBody>
          <a:bodyPr anchor="t" anchorCtr="0">
            <a:noAutofit/>
          </a:bodyPr>
          <a:lstStyle>
            <a:lvl1pPr algn="l">
              <a:lnSpc>
                <a:spcPts val="3500"/>
              </a:lnSpc>
              <a:defRPr sz="2500" u="none" cap="none" baseline="0">
                <a:solidFill>
                  <a:schemeClr val="bg1"/>
                </a:solidFill>
                <a:uFill>
                  <a:solidFill>
                    <a:schemeClr val="bg1"/>
                  </a:solidFill>
                </a:uFill>
                <a:latin typeface="+mn-lt"/>
              </a:defRPr>
            </a:lvl1pPr>
          </a:lstStyle>
          <a:p>
            <a:r>
              <a:rPr lang="nl-BE" noProof="0" dirty="0"/>
              <a:t>Klik om de gegevens van de presentator in </a:t>
            </a:r>
            <a:r>
              <a:rPr lang="nl-BE" noProof="0"/>
              <a:t>te typen</a:t>
            </a:r>
            <a:endParaRPr lang="nl-BE" noProof="0" dirty="0"/>
          </a:p>
        </p:txBody>
      </p:sp>
      <p:sp>
        <p:nvSpPr>
          <p:cNvPr id="8" name="Titles positoning box" hidden="1"/>
          <p:cNvSpPr/>
          <p:nvPr userDrawn="1"/>
        </p:nvSpPr>
        <p:spPr>
          <a:xfrm>
            <a:off x="1371600" y="1828800"/>
            <a:ext cx="15012000" cy="599976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10378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173424470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20460436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3979967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1192034" y="519290"/>
            <a:ext cx="7029143" cy="1885245"/>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9117501" y="0"/>
            <a:ext cx="8221173" cy="9753600"/>
          </a:xfrm>
          <a:prstGeom prst="rect">
            <a:avLst/>
          </a:prstGeom>
        </p:spPr>
        <p:txBody>
          <a:bodyPr/>
          <a:lstStyle/>
          <a:p>
            <a:endParaRPr lang="en-BE"/>
          </a:p>
        </p:txBody>
      </p:sp>
    </p:spTree>
    <p:extLst>
      <p:ext uri="{BB962C8B-B14F-4D97-AF65-F5344CB8AC3E}">
        <p14:creationId xmlns:p14="http://schemas.microsoft.com/office/powerpoint/2010/main" val="21976615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7343" y="0"/>
            <a:ext cx="8221173" cy="97536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7014980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8213828" cy="9753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560"/>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3088" y="9132269"/>
            <a:ext cx="851323" cy="452294"/>
          </a:xfrm>
          <a:prstGeom prst="rect">
            <a:avLst/>
          </a:prstGeom>
        </p:spPr>
      </p:pic>
    </p:spTree>
    <p:extLst>
      <p:ext uri="{BB962C8B-B14F-4D97-AF65-F5344CB8AC3E}">
        <p14:creationId xmlns:p14="http://schemas.microsoft.com/office/powerpoint/2010/main" val="2828553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0" y="409601"/>
            <a:ext cx="1300395" cy="690879"/>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7702765" y="3269828"/>
            <a:ext cx="7809118" cy="3251210"/>
          </a:xfrm>
          <a:prstGeom prst="rect">
            <a:avLst/>
          </a:prstGeom>
        </p:spPr>
        <p:txBody>
          <a:bodyPr anchor="b"/>
          <a:lstStyle>
            <a:lvl1pPr marL="0" indent="0">
              <a:buNone/>
              <a:defRPr sz="6826"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7583803" y="3060072"/>
            <a:ext cx="0" cy="3705867"/>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958598" y="3268947"/>
            <a:ext cx="6501968" cy="3251210"/>
          </a:xfrm>
          <a:prstGeom prst="rect">
            <a:avLst/>
          </a:prstGeom>
        </p:spPr>
        <p:txBody>
          <a:bodyPr anchor="t"/>
          <a:lstStyle>
            <a:lvl1pPr marL="0" indent="0" algn="r">
              <a:buNone/>
              <a:defRPr sz="6826"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9252284" y="13126"/>
            <a:ext cx="8089991" cy="9759060"/>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sz="2560"/>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sz="2560"/>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sz="2560"/>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sz="2560"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grpSp>
    </p:spTree>
    <p:extLst>
      <p:ext uri="{BB962C8B-B14F-4D97-AF65-F5344CB8AC3E}">
        <p14:creationId xmlns:p14="http://schemas.microsoft.com/office/powerpoint/2010/main" val="4011528806"/>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5461"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40273450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971326064"/>
      </p:ext>
    </p:extLst>
  </p:cSld>
  <p:clrMapOvr>
    <a:overrideClrMapping bg1="dk1" tx1="lt1" bg2="dk2" tx2="lt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Dark end 1">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92E722-A1F2-E192-63DB-1754A87ED2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06930" y="8394761"/>
            <a:ext cx="1300401" cy="690880"/>
          </a:xfrm>
          <a:prstGeom prst="rect">
            <a:avLst/>
          </a:prstGeom>
        </p:spPr>
      </p:pic>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2129642" y="8394761"/>
            <a:ext cx="8269535" cy="799815"/>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1126324" y="8394761"/>
            <a:ext cx="692827" cy="691048"/>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sz="2560"/>
          </a:p>
        </p:txBody>
      </p:sp>
      <p:grpSp>
        <p:nvGrpSpPr>
          <p:cNvPr id="23" name="Groep 22">
            <a:extLst>
              <a:ext uri="{FF2B5EF4-FFF2-40B4-BE49-F238E27FC236}">
                <a16:creationId xmlns:a16="http://schemas.microsoft.com/office/drawing/2014/main" id="{EEB7A8C9-A0CF-CA2C-72EC-3DAFC8609B0F}"/>
              </a:ext>
            </a:extLst>
          </p:cNvPr>
          <p:cNvGrpSpPr/>
          <p:nvPr/>
        </p:nvGrpSpPr>
        <p:grpSpPr>
          <a:xfrm>
            <a:off x="0" y="0"/>
            <a:ext cx="17342415" cy="6939918"/>
            <a:chOff x="0" y="0"/>
            <a:chExt cx="12194630" cy="4879630"/>
          </a:xfrm>
        </p:grpSpPr>
        <p:sp>
          <p:nvSpPr>
            <p:cNvPr id="24" name="Vrije vorm: vorm 23">
              <a:extLst>
                <a:ext uri="{FF2B5EF4-FFF2-40B4-BE49-F238E27FC236}">
                  <a16:creationId xmlns:a16="http://schemas.microsoft.com/office/drawing/2014/main" id="{399869FA-D253-8BB4-38AA-1B852323535C}"/>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sz="2560"/>
            </a:p>
          </p:txBody>
        </p:sp>
        <p:sp>
          <p:nvSpPr>
            <p:cNvPr id="27" name="Vrije vorm: vorm 26">
              <a:extLst>
                <a:ext uri="{FF2B5EF4-FFF2-40B4-BE49-F238E27FC236}">
                  <a16:creationId xmlns:a16="http://schemas.microsoft.com/office/drawing/2014/main" id="{C35772DD-53DE-CFEB-1FAC-4D509FC0FA36}"/>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sz="2560"/>
            </a:p>
          </p:txBody>
        </p:sp>
        <p:sp>
          <p:nvSpPr>
            <p:cNvPr id="29" name="Vrije vorm: vorm 28">
              <a:extLst>
                <a:ext uri="{FF2B5EF4-FFF2-40B4-BE49-F238E27FC236}">
                  <a16:creationId xmlns:a16="http://schemas.microsoft.com/office/drawing/2014/main" id="{EBF7AA89-4192-DE80-15A1-6176A69496A6}"/>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sz="2560"/>
            </a:p>
          </p:txBody>
        </p:sp>
        <p:sp>
          <p:nvSpPr>
            <p:cNvPr id="31" name="Vrije vorm: vorm 30">
              <a:extLst>
                <a:ext uri="{FF2B5EF4-FFF2-40B4-BE49-F238E27FC236}">
                  <a16:creationId xmlns:a16="http://schemas.microsoft.com/office/drawing/2014/main" id="{8CA819EA-8739-A14D-2D18-5C32F4FF0FED}"/>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3" name="Vrije vorm: vorm 32">
              <a:extLst>
                <a:ext uri="{FF2B5EF4-FFF2-40B4-BE49-F238E27FC236}">
                  <a16:creationId xmlns:a16="http://schemas.microsoft.com/office/drawing/2014/main" id="{F369B62F-76FA-B585-4EB8-4F2B669BB002}"/>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sz="2560"/>
            </a:p>
          </p:txBody>
        </p:sp>
        <p:sp>
          <p:nvSpPr>
            <p:cNvPr id="34" name="Vrije vorm: vorm 33">
              <a:extLst>
                <a:ext uri="{FF2B5EF4-FFF2-40B4-BE49-F238E27FC236}">
                  <a16:creationId xmlns:a16="http://schemas.microsoft.com/office/drawing/2014/main" id="{E54444B7-1442-E4D6-0F66-19D1AF25DD78}"/>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sz="2560"/>
            </a:p>
          </p:txBody>
        </p:sp>
        <p:sp>
          <p:nvSpPr>
            <p:cNvPr id="35" name="Vrije vorm: vorm 34">
              <a:extLst>
                <a:ext uri="{FF2B5EF4-FFF2-40B4-BE49-F238E27FC236}">
                  <a16:creationId xmlns:a16="http://schemas.microsoft.com/office/drawing/2014/main" id="{B9542184-1726-825C-0E63-9970ACBF8780}"/>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sz="2560"/>
            </a:p>
          </p:txBody>
        </p:sp>
        <p:sp>
          <p:nvSpPr>
            <p:cNvPr id="37" name="Vrije vorm: vorm 36">
              <a:extLst>
                <a:ext uri="{FF2B5EF4-FFF2-40B4-BE49-F238E27FC236}">
                  <a16:creationId xmlns:a16="http://schemas.microsoft.com/office/drawing/2014/main" id="{338163DE-406C-D74C-77C8-EB0938CE5415}"/>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8" name="Vrije vorm: vorm 37">
              <a:extLst>
                <a:ext uri="{FF2B5EF4-FFF2-40B4-BE49-F238E27FC236}">
                  <a16:creationId xmlns:a16="http://schemas.microsoft.com/office/drawing/2014/main" id="{D4AA38CC-0CF1-283A-A334-0A47D8A86A74}"/>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sz="2560"/>
            </a:p>
          </p:txBody>
        </p:sp>
        <p:sp>
          <p:nvSpPr>
            <p:cNvPr id="39" name="Vrije vorm: vorm 38">
              <a:extLst>
                <a:ext uri="{FF2B5EF4-FFF2-40B4-BE49-F238E27FC236}">
                  <a16:creationId xmlns:a16="http://schemas.microsoft.com/office/drawing/2014/main" id="{A9CE4EB0-A0FC-4DF3-14C1-33C6C336355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sp>
          <p:nvSpPr>
            <p:cNvPr id="40" name="Vrije vorm: vorm 39">
              <a:extLst>
                <a:ext uri="{FF2B5EF4-FFF2-40B4-BE49-F238E27FC236}">
                  <a16:creationId xmlns:a16="http://schemas.microsoft.com/office/drawing/2014/main" id="{5721DBB0-BD72-473D-5AEA-59403DC4F6B8}"/>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grpSp>
    </p:spTree>
    <p:extLst>
      <p:ext uri="{BB962C8B-B14F-4D97-AF65-F5344CB8AC3E}">
        <p14:creationId xmlns:p14="http://schemas.microsoft.com/office/powerpoint/2010/main" val="3189485916"/>
      </p:ext>
    </p:extLst>
  </p:cSld>
  <p:clrMapOvr>
    <a:overrideClrMapping bg1="dk1" tx1="lt1" bg2="dk2" tx2="lt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Light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26B32-B4FE-C49A-FCAA-16FA6107D3AA}"/>
              </a:ext>
            </a:extLst>
          </p:cNvPr>
          <p:cNvSpPr>
            <a:spLocks noGrp="1"/>
          </p:cNvSpPr>
          <p:nvPr>
            <p:ph type="title"/>
          </p:nvPr>
        </p:nvSpPr>
        <p:spPr/>
        <p:txBody>
          <a:bodyPr/>
          <a:lstStyle/>
          <a:p>
            <a:r>
              <a:rPr lang="en-US"/>
              <a:t>Click to edit Master title style</a:t>
            </a:r>
            <a:endParaRPr lang="en-BE"/>
          </a:p>
        </p:txBody>
      </p:sp>
    </p:spTree>
    <p:extLst>
      <p:ext uri="{BB962C8B-B14F-4D97-AF65-F5344CB8AC3E}">
        <p14:creationId xmlns:p14="http://schemas.microsoft.com/office/powerpoint/2010/main" val="20460436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Light basic">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3979967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Light picture r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47D328-C1FC-DBD4-5B51-18F689FDC17A}"/>
              </a:ext>
            </a:extLst>
          </p:cNvPr>
          <p:cNvSpPr>
            <a:spLocks noGrp="1"/>
          </p:cNvSpPr>
          <p:nvPr>
            <p:ph type="title"/>
          </p:nvPr>
        </p:nvSpPr>
        <p:spPr>
          <a:xfrm>
            <a:off x="1192034" y="519290"/>
            <a:ext cx="7029143" cy="1885245"/>
          </a:xfrm>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1192034"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9117501" y="0"/>
            <a:ext cx="8221173" cy="9753600"/>
          </a:xfrm>
          <a:prstGeom prst="rect">
            <a:avLst/>
          </a:prstGeom>
        </p:spPr>
        <p:txBody>
          <a:bodyPr/>
          <a:lstStyle/>
          <a:p>
            <a:endParaRPr lang="en-BE"/>
          </a:p>
        </p:txBody>
      </p:sp>
    </p:spTree>
    <p:extLst>
      <p:ext uri="{BB962C8B-B14F-4D97-AF65-F5344CB8AC3E}">
        <p14:creationId xmlns:p14="http://schemas.microsoft.com/office/powerpoint/2010/main" val="219766156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Light pictur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FE34CE09-B55D-55FB-8D4D-D437CC047AA1}"/>
              </a:ext>
            </a:extLst>
          </p:cNvPr>
          <p:cNvSpPr>
            <a:spLocks noGrp="1"/>
          </p:cNvSpPr>
          <p:nvPr>
            <p:ph type="pic" sz="quarter" idx="11"/>
          </p:nvPr>
        </p:nvSpPr>
        <p:spPr>
          <a:xfrm>
            <a:off x="-7343" y="0"/>
            <a:ext cx="8221173" cy="9753600"/>
          </a:xfrm>
          <a:prstGeom prst="rect">
            <a:avLst/>
          </a:prstGeom>
        </p:spPr>
        <p:txBody>
          <a:bodyPr/>
          <a:lstStyle/>
          <a:p>
            <a:endParaRPr lang="en-BE"/>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7014980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Light split">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092BD40-8862-2BF5-57C7-5DD0CD67407D}"/>
              </a:ext>
            </a:extLst>
          </p:cNvPr>
          <p:cNvSpPr/>
          <p:nvPr userDrawn="1"/>
        </p:nvSpPr>
        <p:spPr>
          <a:xfrm>
            <a:off x="0" y="0"/>
            <a:ext cx="8213828" cy="9753600"/>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BE" sz="2560"/>
          </a:p>
        </p:txBody>
      </p:sp>
      <p:sp>
        <p:nvSpPr>
          <p:cNvPr id="4" name="Title 1">
            <a:extLst>
              <a:ext uri="{FF2B5EF4-FFF2-40B4-BE49-F238E27FC236}">
                <a16:creationId xmlns:a16="http://schemas.microsoft.com/office/drawing/2014/main" id="{F247D328-C1FC-DBD4-5B51-18F689FDC17A}"/>
              </a:ext>
            </a:extLst>
          </p:cNvPr>
          <p:cNvSpPr>
            <a:spLocks noGrp="1"/>
          </p:cNvSpPr>
          <p:nvPr>
            <p:ph type="title"/>
          </p:nvPr>
        </p:nvSpPr>
        <p:spPr>
          <a:xfrm>
            <a:off x="9124849" y="519290"/>
            <a:ext cx="7029143" cy="1885245"/>
          </a:xfrm>
        </p:spPr>
        <p:txBody>
          <a:bodyPr/>
          <a:lstStyle/>
          <a:p>
            <a:r>
              <a:rPr lang="en-US" dirty="0"/>
              <a:t>Click to edit Master title style</a:t>
            </a:r>
            <a:endParaRPr lang="en-BE" dirty="0"/>
          </a:p>
        </p:txBody>
      </p:sp>
      <p:sp>
        <p:nvSpPr>
          <p:cNvPr id="7" name="Content Placeholder 2">
            <a:extLst>
              <a:ext uri="{FF2B5EF4-FFF2-40B4-BE49-F238E27FC236}">
                <a16:creationId xmlns:a16="http://schemas.microsoft.com/office/drawing/2014/main" id="{B6B2AFF7-54A2-B63D-267C-D90444BA2016}"/>
              </a:ext>
            </a:extLst>
          </p:cNvPr>
          <p:cNvSpPr>
            <a:spLocks noGrp="1"/>
          </p:cNvSpPr>
          <p:nvPr>
            <p:ph sz="quarter" idx="10"/>
          </p:nvPr>
        </p:nvSpPr>
        <p:spPr>
          <a:xfrm>
            <a:off x="9124849" y="2549033"/>
            <a:ext cx="7029143"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pic>
        <p:nvPicPr>
          <p:cNvPr id="3" name="Graphic 2">
            <a:extLst>
              <a:ext uri="{FF2B5EF4-FFF2-40B4-BE49-F238E27FC236}">
                <a16:creationId xmlns:a16="http://schemas.microsoft.com/office/drawing/2014/main" id="{13296F21-DE6D-2C73-089E-A813135E54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83088" y="9132269"/>
            <a:ext cx="851323" cy="452294"/>
          </a:xfrm>
          <a:prstGeom prst="rect">
            <a:avLst/>
          </a:prstGeom>
        </p:spPr>
      </p:pic>
    </p:spTree>
    <p:extLst>
      <p:ext uri="{BB962C8B-B14F-4D97-AF65-F5344CB8AC3E}">
        <p14:creationId xmlns:p14="http://schemas.microsoft.com/office/powerpoint/2010/main" val="28285538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Light chapter">
    <p:spTree>
      <p:nvGrpSpPr>
        <p:cNvPr id="1" name=""/>
        <p:cNvGrpSpPr/>
        <p:nvPr/>
      </p:nvGrpSpPr>
      <p:grpSpPr>
        <a:xfrm>
          <a:off x="0" y="0"/>
          <a:ext cx="0" cy="0"/>
          <a:chOff x="0" y="0"/>
          <a:chExt cx="0" cy="0"/>
        </a:xfrm>
      </p:grpSpPr>
      <p:pic>
        <p:nvPicPr>
          <p:cNvPr id="15" name="Graphic 14">
            <a:extLst>
              <a:ext uri="{FF2B5EF4-FFF2-40B4-BE49-F238E27FC236}">
                <a16:creationId xmlns:a16="http://schemas.microsoft.com/office/drawing/2014/main" id="{C37D8072-9EE3-917B-7F33-372174E2B6B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30" y="409601"/>
            <a:ext cx="1300395" cy="690879"/>
          </a:xfrm>
          <a:prstGeom prst="rect">
            <a:avLst/>
          </a:prstGeom>
        </p:spPr>
      </p:pic>
      <p:sp>
        <p:nvSpPr>
          <p:cNvPr id="14" name="Text Placeholder 4">
            <a:extLst>
              <a:ext uri="{FF2B5EF4-FFF2-40B4-BE49-F238E27FC236}">
                <a16:creationId xmlns:a16="http://schemas.microsoft.com/office/drawing/2014/main" id="{FD35E4C5-AED2-E9A8-7D65-14800B632E6C}"/>
              </a:ext>
            </a:extLst>
          </p:cNvPr>
          <p:cNvSpPr>
            <a:spLocks noGrp="1"/>
          </p:cNvSpPr>
          <p:nvPr>
            <p:ph type="body" sz="quarter" idx="10" hasCustomPrompt="1"/>
          </p:nvPr>
        </p:nvSpPr>
        <p:spPr>
          <a:xfrm>
            <a:off x="7702765" y="3269828"/>
            <a:ext cx="7809118" cy="3251210"/>
          </a:xfrm>
          <a:prstGeom prst="rect">
            <a:avLst/>
          </a:prstGeom>
        </p:spPr>
        <p:txBody>
          <a:bodyPr anchor="b"/>
          <a:lstStyle>
            <a:lvl1pPr marL="0" indent="0">
              <a:buNone/>
              <a:defRPr sz="6826" b="1">
                <a:solidFill>
                  <a:schemeClr val="tx2"/>
                </a:solidFill>
                <a:latin typeface="+mj-lt"/>
              </a:defRPr>
            </a:lvl1pPr>
          </a:lstStyle>
          <a:p>
            <a:pPr lvl="0"/>
            <a:r>
              <a:rPr lang="en-US" dirty="0"/>
              <a:t>Title</a:t>
            </a:r>
          </a:p>
        </p:txBody>
      </p:sp>
      <p:cxnSp>
        <p:nvCxnSpPr>
          <p:cNvPr id="22" name="Straight Connector 21">
            <a:extLst>
              <a:ext uri="{FF2B5EF4-FFF2-40B4-BE49-F238E27FC236}">
                <a16:creationId xmlns:a16="http://schemas.microsoft.com/office/drawing/2014/main" id="{A5CF1C14-D13B-9574-C8BD-CA3AF6086669}"/>
              </a:ext>
            </a:extLst>
          </p:cNvPr>
          <p:cNvCxnSpPr>
            <a:cxnSpLocks/>
          </p:cNvCxnSpPr>
          <p:nvPr userDrawn="1"/>
        </p:nvCxnSpPr>
        <p:spPr>
          <a:xfrm>
            <a:off x="7583803" y="3060072"/>
            <a:ext cx="0" cy="3705867"/>
          </a:xfrm>
          <a:prstGeom prst="line">
            <a:avLst/>
          </a:prstGeom>
          <a:ln>
            <a:solidFill>
              <a:srgbClr val="617FC0"/>
            </a:solidFill>
          </a:ln>
        </p:spPr>
        <p:style>
          <a:lnRef idx="2">
            <a:schemeClr val="accent1"/>
          </a:lnRef>
          <a:fillRef idx="0">
            <a:schemeClr val="accent1"/>
          </a:fillRef>
          <a:effectRef idx="1">
            <a:schemeClr val="accent1"/>
          </a:effectRef>
          <a:fontRef idx="minor">
            <a:schemeClr val="tx1"/>
          </a:fontRef>
        </p:style>
      </p:cxnSp>
      <p:sp>
        <p:nvSpPr>
          <p:cNvPr id="23" name="Text Placeholder 4">
            <a:extLst>
              <a:ext uri="{FF2B5EF4-FFF2-40B4-BE49-F238E27FC236}">
                <a16:creationId xmlns:a16="http://schemas.microsoft.com/office/drawing/2014/main" id="{C2FA6B88-2EA8-B1CD-1B6F-84AFBEAAB3F3}"/>
              </a:ext>
            </a:extLst>
          </p:cNvPr>
          <p:cNvSpPr>
            <a:spLocks noGrp="1"/>
          </p:cNvSpPr>
          <p:nvPr>
            <p:ph type="body" sz="quarter" idx="11" hasCustomPrompt="1"/>
          </p:nvPr>
        </p:nvSpPr>
        <p:spPr>
          <a:xfrm>
            <a:off x="958598" y="3268947"/>
            <a:ext cx="6501968" cy="3251210"/>
          </a:xfrm>
          <a:prstGeom prst="rect">
            <a:avLst/>
          </a:prstGeom>
        </p:spPr>
        <p:txBody>
          <a:bodyPr anchor="t"/>
          <a:lstStyle>
            <a:lvl1pPr marL="0" indent="0" algn="r">
              <a:buNone/>
              <a:defRPr sz="6826" b="1">
                <a:solidFill>
                  <a:schemeClr val="tx2"/>
                </a:solidFill>
                <a:latin typeface="+mj-lt"/>
              </a:defRPr>
            </a:lvl1pPr>
          </a:lstStyle>
          <a:p>
            <a:pPr lvl="0"/>
            <a:r>
              <a:rPr lang="en-US" dirty="0"/>
              <a:t>01</a:t>
            </a:r>
          </a:p>
        </p:txBody>
      </p:sp>
      <p:grpSp>
        <p:nvGrpSpPr>
          <p:cNvPr id="12" name="Group 11">
            <a:extLst>
              <a:ext uri="{FF2B5EF4-FFF2-40B4-BE49-F238E27FC236}">
                <a16:creationId xmlns:a16="http://schemas.microsoft.com/office/drawing/2014/main" id="{8DA0560F-A4B9-6D60-DA89-678D8AA3B9FC}"/>
              </a:ext>
            </a:extLst>
          </p:cNvPr>
          <p:cNvGrpSpPr/>
          <p:nvPr userDrawn="1"/>
        </p:nvGrpSpPr>
        <p:grpSpPr>
          <a:xfrm>
            <a:off x="9252284" y="13126"/>
            <a:ext cx="8089991" cy="9759060"/>
            <a:chOff x="6476020" y="-8"/>
            <a:chExt cx="5718513" cy="6897894"/>
          </a:xfrm>
        </p:grpSpPr>
        <p:sp>
          <p:nvSpPr>
            <p:cNvPr id="13" name="Vrije vorm: vorm 9">
              <a:extLst>
                <a:ext uri="{FF2B5EF4-FFF2-40B4-BE49-F238E27FC236}">
                  <a16:creationId xmlns:a16="http://schemas.microsoft.com/office/drawing/2014/main" id="{9D7D31D0-E3AC-9AED-7DFC-600F0A869084}"/>
                </a:ext>
              </a:extLst>
            </p:cNvPr>
            <p:cNvSpPr/>
            <p:nvPr userDrawn="1"/>
          </p:nvSpPr>
          <p:spPr>
            <a:xfrm flipH="1">
              <a:off x="6476020" y="4608573"/>
              <a:ext cx="2289313" cy="228931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noFill/>
            <a:ln w="0" cap="flat">
              <a:solidFill>
                <a:srgbClr val="D1E4F7"/>
              </a:solidFill>
              <a:prstDash val="solid"/>
              <a:miter/>
            </a:ln>
          </p:spPr>
          <p:txBody>
            <a:bodyPr rtlCol="0" anchor="ctr"/>
            <a:lstStyle/>
            <a:p>
              <a:endParaRPr lang="nl-NL" sz="2560"/>
            </a:p>
          </p:txBody>
        </p:sp>
        <p:sp>
          <p:nvSpPr>
            <p:cNvPr id="16" name="Vrije vorm: vorm 18">
              <a:extLst>
                <a:ext uri="{FF2B5EF4-FFF2-40B4-BE49-F238E27FC236}">
                  <a16:creationId xmlns:a16="http://schemas.microsoft.com/office/drawing/2014/main" id="{F5FCDA4F-39E8-1B34-6039-23A6929D29CF}"/>
                </a:ext>
              </a:extLst>
            </p:cNvPr>
            <p:cNvSpPr/>
            <p:nvPr userDrawn="1"/>
          </p:nvSpPr>
          <p:spPr>
            <a:xfrm flipH="1">
              <a:off x="9893073" y="-8"/>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sp>
          <p:nvSpPr>
            <p:cNvPr id="17" name="Vrije vorm: vorm 11">
              <a:extLst>
                <a:ext uri="{FF2B5EF4-FFF2-40B4-BE49-F238E27FC236}">
                  <a16:creationId xmlns:a16="http://schemas.microsoft.com/office/drawing/2014/main" id="{BBDB3D9B-C250-7032-0ACC-7C5B8B0FAD88}"/>
                </a:ext>
              </a:extLst>
            </p:cNvPr>
            <p:cNvSpPr/>
            <p:nvPr/>
          </p:nvSpPr>
          <p:spPr>
            <a:xfrm>
              <a:off x="8765334" y="4581825"/>
              <a:ext cx="1144651" cy="2289302"/>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noFill/>
            <a:ln w="0" cap="flat">
              <a:solidFill>
                <a:srgbClr val="D1E4F7"/>
              </a:solidFill>
              <a:prstDash val="solid"/>
              <a:miter/>
            </a:ln>
          </p:spPr>
          <p:txBody>
            <a:bodyPr rtlCol="0" anchor="ctr"/>
            <a:lstStyle/>
            <a:p>
              <a:endParaRPr lang="nl-NL" sz="2560"/>
            </a:p>
          </p:txBody>
        </p:sp>
        <p:sp>
          <p:nvSpPr>
            <p:cNvPr id="18" name="Vrije vorm: vorm 16">
              <a:extLst>
                <a:ext uri="{FF2B5EF4-FFF2-40B4-BE49-F238E27FC236}">
                  <a16:creationId xmlns:a16="http://schemas.microsoft.com/office/drawing/2014/main" id="{F7A11193-8342-CC7D-4893-9DA72119E1F8}"/>
                </a:ext>
              </a:extLst>
            </p:cNvPr>
            <p:cNvSpPr/>
            <p:nvPr userDrawn="1"/>
          </p:nvSpPr>
          <p:spPr>
            <a:xfrm rot="18900000" flipH="1">
              <a:off x="7939042" y="325447"/>
              <a:ext cx="1618773" cy="1618773"/>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noFill/>
            <a:ln w="0" cap="flat">
              <a:solidFill>
                <a:srgbClr val="D1E4F7"/>
              </a:solidFill>
              <a:prstDash val="solid"/>
              <a:miter/>
            </a:ln>
          </p:spPr>
          <p:txBody>
            <a:bodyPr rtlCol="0" anchor="ctr"/>
            <a:lstStyle/>
            <a:p>
              <a:endParaRPr lang="nl-NL" sz="2560"/>
            </a:p>
          </p:txBody>
        </p:sp>
        <p:sp>
          <p:nvSpPr>
            <p:cNvPr id="19" name="Vrije vorm: vorm 17">
              <a:extLst>
                <a:ext uri="{FF2B5EF4-FFF2-40B4-BE49-F238E27FC236}">
                  <a16:creationId xmlns:a16="http://schemas.microsoft.com/office/drawing/2014/main" id="{A3F6D955-1692-3320-C7CD-A1960CC43330}"/>
                </a:ext>
              </a:extLst>
            </p:cNvPr>
            <p:cNvSpPr/>
            <p:nvPr userDrawn="1"/>
          </p:nvSpPr>
          <p:spPr>
            <a:xfrm>
              <a:off x="9905975" y="2295800"/>
              <a:ext cx="2286025" cy="2286025"/>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noFill/>
            <a:ln w="0" cap="flat">
              <a:solidFill>
                <a:srgbClr val="D1E4F7"/>
              </a:solidFill>
              <a:prstDash val="solid"/>
              <a:miter/>
            </a:ln>
          </p:spPr>
          <p:txBody>
            <a:bodyPr rtlCol="0" anchor="ctr"/>
            <a:lstStyle/>
            <a:p>
              <a:endParaRPr lang="nl-NL" sz="2560" dirty="0"/>
            </a:p>
          </p:txBody>
        </p:sp>
        <p:sp>
          <p:nvSpPr>
            <p:cNvPr id="20" name="Vrije vorm: vorm 18">
              <a:extLst>
                <a:ext uri="{FF2B5EF4-FFF2-40B4-BE49-F238E27FC236}">
                  <a16:creationId xmlns:a16="http://schemas.microsoft.com/office/drawing/2014/main" id="{23AF75C3-7660-CDC9-64BF-2397504B8386}"/>
                </a:ext>
              </a:extLst>
            </p:cNvPr>
            <p:cNvSpPr/>
            <p:nvPr userDrawn="1"/>
          </p:nvSpPr>
          <p:spPr>
            <a:xfrm flipH="1">
              <a:off x="9905231" y="4581825"/>
              <a:ext cx="2289302" cy="2289302"/>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noFill/>
            <a:ln w="0" cap="flat">
              <a:solidFill>
                <a:srgbClr val="D1E4F7"/>
              </a:solidFill>
              <a:prstDash val="solid"/>
              <a:miter/>
            </a:ln>
          </p:spPr>
          <p:txBody>
            <a:bodyPr rtlCol="0" anchor="ctr"/>
            <a:lstStyle/>
            <a:p>
              <a:endParaRPr lang="nl-NL" sz="2560"/>
            </a:p>
          </p:txBody>
        </p:sp>
      </p:grpSp>
    </p:spTree>
    <p:extLst>
      <p:ext uri="{BB962C8B-B14F-4D97-AF65-F5344CB8AC3E}">
        <p14:creationId xmlns:p14="http://schemas.microsoft.com/office/powerpoint/2010/main" val="4011528806"/>
      </p:ext>
    </p:extLst>
  </p:cSld>
  <p:clrMapOvr>
    <a:masterClrMapping/>
  </p:clrMapOvr>
  <p:extLst>
    <p:ext uri="{DCECCB84-F9BA-43D5-87BE-67443E8EF086}">
      <p15:sldGuideLst xmlns:p15="http://schemas.microsoft.com/office/powerpoint/2012/main">
        <p15:guide id="1" orient="horz" pos="3072" userDrawn="1">
          <p15:clr>
            <a:srgbClr val="FBAE40"/>
          </p15:clr>
        </p15:guide>
        <p15:guide id="2" pos="5461" userDrawn="1">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Colourful with bulle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3D785F4-84F3-536F-6440-66F991F268A8}"/>
              </a:ext>
            </a:extLst>
          </p:cNvPr>
          <p:cNvSpPr>
            <a:spLocks noGrp="1"/>
          </p:cNvSpPr>
          <p:nvPr>
            <p:ph type="title"/>
          </p:nvPr>
        </p:nvSpPr>
        <p:spPr/>
        <p:txBody>
          <a:bodyPr/>
          <a:lstStyle/>
          <a:p>
            <a:r>
              <a:rPr lang="en-US"/>
              <a:t>Click to edit Master title style</a:t>
            </a:r>
            <a:endParaRPr lang="en-BE"/>
          </a:p>
        </p:txBody>
      </p:sp>
      <p:sp>
        <p:nvSpPr>
          <p:cNvPr id="3" name="Content Placeholder 2">
            <a:extLst>
              <a:ext uri="{FF2B5EF4-FFF2-40B4-BE49-F238E27FC236}">
                <a16:creationId xmlns:a16="http://schemas.microsoft.com/office/drawing/2014/main" id="{2CCD9DE4-34A8-6015-30D9-04F6F47C0ACA}"/>
              </a:ext>
            </a:extLst>
          </p:cNvPr>
          <p:cNvSpPr>
            <a:spLocks noGrp="1"/>
          </p:cNvSpPr>
          <p:nvPr>
            <p:ph sz="quarter" idx="10"/>
          </p:nvPr>
        </p:nvSpPr>
        <p:spPr>
          <a:xfrm>
            <a:off x="1192034" y="2549033"/>
            <a:ext cx="14954607" cy="6685279"/>
          </a:xfrm>
          <a:prstGeom prst="rect">
            <a:avLst/>
          </a:prstGeom>
        </p:spPr>
        <p:txBody>
          <a:bodyPr/>
          <a:lstStyle>
            <a:lvl1pPr>
              <a:buClr>
                <a:schemeClr val="tx2"/>
              </a:buClr>
              <a:defRPr sz="3982">
                <a:solidFill>
                  <a:schemeClr val="tx1">
                    <a:alpha val="85000"/>
                  </a:schemeClr>
                </a:solidFill>
              </a:defRPr>
            </a:lvl1pPr>
            <a:lvl2pPr>
              <a:buClr>
                <a:schemeClr val="tx2"/>
              </a:buClr>
              <a:defRPr sz="3982">
                <a:solidFill>
                  <a:schemeClr val="tx1">
                    <a:alpha val="85000"/>
                  </a:schemeClr>
                </a:solidFill>
              </a:defRPr>
            </a:lvl2pPr>
            <a:lvl3pPr>
              <a:buClr>
                <a:schemeClr val="tx2"/>
              </a:buClr>
              <a:defRPr sz="3982">
                <a:solidFill>
                  <a:schemeClr val="tx1">
                    <a:alpha val="85000"/>
                  </a:schemeClr>
                </a:solidFill>
              </a:defRPr>
            </a:lvl3pPr>
            <a:lvl4pPr>
              <a:buClr>
                <a:schemeClr val="tx2"/>
              </a:buClr>
              <a:defRPr sz="3413">
                <a:solidFill>
                  <a:schemeClr val="tx1">
                    <a:alpha val="85000"/>
                  </a:schemeClr>
                </a:solidFill>
              </a:defRPr>
            </a:lvl4pPr>
            <a:lvl5pPr>
              <a:buClr>
                <a:schemeClr val="tx2"/>
              </a:buClr>
              <a:defRPr sz="3413">
                <a:solidFill>
                  <a:schemeClr val="tx1">
                    <a:alpha val="85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BE"/>
          </a:p>
        </p:txBody>
      </p:sp>
    </p:spTree>
    <p:extLst>
      <p:ext uri="{BB962C8B-B14F-4D97-AF65-F5344CB8AC3E}">
        <p14:creationId xmlns:p14="http://schemas.microsoft.com/office/powerpoint/2010/main" val="40273450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ark title">
    <p:bg>
      <p:bgRef idx="1001">
        <a:schemeClr val="bg1"/>
      </p:bgRef>
    </p:bg>
    <p:spTree>
      <p:nvGrpSpPr>
        <p:cNvPr id="1" name=""/>
        <p:cNvGrpSpPr/>
        <p:nvPr/>
      </p:nvGrpSpPr>
      <p:grpSpPr>
        <a:xfrm>
          <a:off x="0" y="0"/>
          <a:ext cx="0" cy="0"/>
          <a:chOff x="0" y="0"/>
          <a:chExt cx="0" cy="0"/>
        </a:xfrm>
      </p:grpSpPr>
      <p:sp>
        <p:nvSpPr>
          <p:cNvPr id="10" name="Vrije vorm: vorm 9">
            <a:extLst>
              <a:ext uri="{FF2B5EF4-FFF2-40B4-BE49-F238E27FC236}">
                <a16:creationId xmlns:a16="http://schemas.microsoft.com/office/drawing/2014/main" id="{052EB2AD-0448-9FA2-2FA3-F449EC1693EF}"/>
              </a:ext>
            </a:extLst>
          </p:cNvPr>
          <p:cNvSpPr/>
          <p:nvPr/>
        </p:nvSpPr>
        <p:spPr>
          <a:xfrm rot="13500000">
            <a:off x="11314342" y="5353001"/>
            <a:ext cx="2298958" cy="2298818"/>
          </a:xfrm>
          <a:custGeom>
            <a:avLst/>
            <a:gdLst>
              <a:gd name="connsiteX0" fmla="*/ 0 w 1616455"/>
              <a:gd name="connsiteY0" fmla="*/ 0 h 1616455"/>
              <a:gd name="connsiteX1" fmla="*/ 1616455 w 1616455"/>
              <a:gd name="connsiteY1" fmla="*/ 0 h 1616455"/>
              <a:gd name="connsiteX2" fmla="*/ 1616455 w 1616455"/>
              <a:gd name="connsiteY2" fmla="*/ 1616455 h 1616455"/>
              <a:gd name="connsiteX3" fmla="*/ 0 w 1616455"/>
              <a:gd name="connsiteY3" fmla="*/ 1616455 h 1616455"/>
            </a:gdLst>
            <a:ahLst/>
            <a:cxnLst>
              <a:cxn ang="0">
                <a:pos x="connsiteX0" y="connsiteY0"/>
              </a:cxn>
              <a:cxn ang="0">
                <a:pos x="connsiteX1" y="connsiteY1"/>
              </a:cxn>
              <a:cxn ang="0">
                <a:pos x="connsiteX2" y="connsiteY2"/>
              </a:cxn>
              <a:cxn ang="0">
                <a:pos x="connsiteX3" y="connsiteY3"/>
              </a:cxn>
            </a:cxnLst>
            <a:rect l="l" t="t" r="r" b="b"/>
            <a:pathLst>
              <a:path w="1616455" h="1616455">
                <a:moveTo>
                  <a:pt x="0" y="0"/>
                </a:moveTo>
                <a:lnTo>
                  <a:pt x="1616455" y="0"/>
                </a:lnTo>
                <a:lnTo>
                  <a:pt x="1616455" y="1616455"/>
                </a:lnTo>
                <a:lnTo>
                  <a:pt x="0" y="1616455"/>
                </a:lnTo>
                <a:close/>
              </a:path>
            </a:pathLst>
          </a:custGeom>
          <a:solidFill>
            <a:srgbClr val="EE641C"/>
          </a:solidFill>
          <a:ln w="0" cap="flat">
            <a:noFill/>
            <a:prstDash val="solid"/>
            <a:miter/>
          </a:ln>
        </p:spPr>
        <p:txBody>
          <a:bodyPr rtlCol="0" anchor="ctr"/>
          <a:lstStyle/>
          <a:p>
            <a:endParaRPr lang="nl-NL" sz="2560"/>
          </a:p>
        </p:txBody>
      </p:sp>
      <p:sp>
        <p:nvSpPr>
          <p:cNvPr id="13" name="Vrije vorm: vorm 12">
            <a:extLst>
              <a:ext uri="{FF2B5EF4-FFF2-40B4-BE49-F238E27FC236}">
                <a16:creationId xmlns:a16="http://schemas.microsoft.com/office/drawing/2014/main" id="{FC85976D-EE45-AE2D-287E-345B5F157F96}"/>
              </a:ext>
            </a:extLst>
          </p:cNvPr>
          <p:cNvSpPr/>
          <p:nvPr/>
        </p:nvSpPr>
        <p:spPr>
          <a:xfrm>
            <a:off x="10838305" y="3252256"/>
            <a:ext cx="3251037" cy="3251236"/>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68398E"/>
          </a:solidFill>
          <a:ln w="0" cap="flat">
            <a:noFill/>
            <a:prstDash val="solid"/>
            <a:miter/>
          </a:ln>
        </p:spPr>
        <p:txBody>
          <a:bodyPr rtlCol="0" anchor="ctr"/>
          <a:lstStyle/>
          <a:p>
            <a:endParaRPr lang="nl-NL" sz="2560"/>
          </a:p>
        </p:txBody>
      </p:sp>
      <p:sp>
        <p:nvSpPr>
          <p:cNvPr id="15" name="Vrije vorm: vorm 14">
            <a:extLst>
              <a:ext uri="{FF2B5EF4-FFF2-40B4-BE49-F238E27FC236}">
                <a16:creationId xmlns:a16="http://schemas.microsoft.com/office/drawing/2014/main" id="{5CB21A53-6FB1-525B-E4F0-F59E8EDA975E}"/>
              </a:ext>
            </a:extLst>
          </p:cNvPr>
          <p:cNvSpPr/>
          <p:nvPr/>
        </p:nvSpPr>
        <p:spPr>
          <a:xfrm>
            <a:off x="10838305" y="0"/>
            <a:ext cx="3251037" cy="3251236"/>
          </a:xfrm>
          <a:custGeom>
            <a:avLst/>
            <a:gdLst>
              <a:gd name="connsiteX0" fmla="*/ 2286026 w 2286025"/>
              <a:gd name="connsiteY0" fmla="*/ 1143013 h 2286025"/>
              <a:gd name="connsiteX1" fmla="*/ 1143012 w 2286025"/>
              <a:gd name="connsiteY1" fmla="*/ 2286026 h 2286025"/>
              <a:gd name="connsiteX2" fmla="*/ -1 w 2286025"/>
              <a:gd name="connsiteY2" fmla="*/ 1143013 h 2286025"/>
              <a:gd name="connsiteX3" fmla="*/ 1143012 w 2286025"/>
              <a:gd name="connsiteY3" fmla="*/ 0 h 2286025"/>
              <a:gd name="connsiteX4" fmla="*/ 2286026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6" y="1143013"/>
                </a:moveTo>
                <a:cubicBezTo>
                  <a:pt x="2286026" y="1774282"/>
                  <a:pt x="1774282" y="2286026"/>
                  <a:pt x="1143012" y="2286026"/>
                </a:cubicBezTo>
                <a:cubicBezTo>
                  <a:pt x="511744" y="2286026"/>
                  <a:pt x="-1" y="1774282"/>
                  <a:pt x="-1" y="1143013"/>
                </a:cubicBezTo>
                <a:cubicBezTo>
                  <a:pt x="-1" y="511744"/>
                  <a:pt x="511743" y="0"/>
                  <a:pt x="1143012" y="0"/>
                </a:cubicBezTo>
                <a:cubicBezTo>
                  <a:pt x="1774281" y="0"/>
                  <a:pt x="2286026" y="511744"/>
                  <a:pt x="2286026" y="1143013"/>
                </a:cubicBezTo>
                <a:close/>
              </a:path>
            </a:pathLst>
          </a:custGeom>
          <a:solidFill>
            <a:srgbClr val="00A3A6"/>
          </a:solidFill>
          <a:ln w="0" cap="flat">
            <a:noFill/>
            <a:prstDash val="solid"/>
            <a:miter/>
          </a:ln>
        </p:spPr>
        <p:txBody>
          <a:bodyPr rtlCol="0" anchor="ctr"/>
          <a:lstStyle/>
          <a:p>
            <a:endParaRPr lang="nl-NL" sz="2560"/>
          </a:p>
        </p:txBody>
      </p:sp>
      <p:sp>
        <p:nvSpPr>
          <p:cNvPr id="23" name="Vrije vorm: vorm 22">
            <a:extLst>
              <a:ext uri="{FF2B5EF4-FFF2-40B4-BE49-F238E27FC236}">
                <a16:creationId xmlns:a16="http://schemas.microsoft.com/office/drawing/2014/main" id="{7835CE72-ED67-FFB3-4AF2-B219E802D267}"/>
              </a:ext>
            </a:extLst>
          </p:cNvPr>
          <p:cNvSpPr/>
          <p:nvPr/>
        </p:nvSpPr>
        <p:spPr>
          <a:xfrm>
            <a:off x="14089344" y="6502030"/>
            <a:ext cx="3251037" cy="1625618"/>
          </a:xfrm>
          <a:custGeom>
            <a:avLst/>
            <a:gdLst>
              <a:gd name="connsiteX0" fmla="*/ 2286026 w 2286025"/>
              <a:gd name="connsiteY0" fmla="*/ 1143012 h 1143013"/>
              <a:gd name="connsiteX1" fmla="*/ 0 w 2286025"/>
              <a:gd name="connsiteY1" fmla="*/ 1143014 h 1143013"/>
              <a:gd name="connsiteX2" fmla="*/ 1143012 w 2286025"/>
              <a:gd name="connsiteY2" fmla="*/ 0 h 1143013"/>
              <a:gd name="connsiteX3" fmla="*/ 2286026 w 2286025"/>
              <a:gd name="connsiteY3" fmla="*/ 1143012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2"/>
                </a:moveTo>
                <a:lnTo>
                  <a:pt x="0" y="1143014"/>
                </a:lnTo>
                <a:cubicBezTo>
                  <a:pt x="-1" y="511785"/>
                  <a:pt x="511783" y="0"/>
                  <a:pt x="1143012" y="0"/>
                </a:cubicBezTo>
                <a:cubicBezTo>
                  <a:pt x="1774241" y="0"/>
                  <a:pt x="2286026" y="511783"/>
                  <a:pt x="2286026" y="1143012"/>
                </a:cubicBezTo>
                <a:close/>
              </a:path>
            </a:pathLst>
          </a:custGeom>
          <a:solidFill>
            <a:schemeClr val="accent4"/>
          </a:solidFill>
          <a:ln w="0" cap="flat">
            <a:noFill/>
            <a:prstDash val="solid"/>
            <a:miter/>
          </a:ln>
        </p:spPr>
        <p:txBody>
          <a:bodyPr rtlCol="0" anchor="ctr"/>
          <a:lstStyle/>
          <a:p>
            <a:endParaRPr lang="nl-NL" sz="2560"/>
          </a:p>
        </p:txBody>
      </p:sp>
      <p:sp>
        <p:nvSpPr>
          <p:cNvPr id="24" name="Vrije vorm: vorm 23">
            <a:extLst>
              <a:ext uri="{FF2B5EF4-FFF2-40B4-BE49-F238E27FC236}">
                <a16:creationId xmlns:a16="http://schemas.microsoft.com/office/drawing/2014/main" id="{B0FB8D35-F14F-4A1B-A129-BCD790B43475}"/>
              </a:ext>
            </a:extLst>
          </p:cNvPr>
          <p:cNvSpPr/>
          <p:nvPr/>
        </p:nvSpPr>
        <p:spPr>
          <a:xfrm>
            <a:off x="14089344" y="1624820"/>
            <a:ext cx="3251037" cy="1625618"/>
          </a:xfrm>
          <a:custGeom>
            <a:avLst/>
            <a:gdLst>
              <a:gd name="connsiteX0" fmla="*/ 2286026 w 2286025"/>
              <a:gd name="connsiteY0" fmla="*/ 1143013 h 1143013"/>
              <a:gd name="connsiteX1" fmla="*/ 0 w 2286025"/>
              <a:gd name="connsiteY1" fmla="*/ 1143013 h 1143013"/>
              <a:gd name="connsiteX2" fmla="*/ 1143012 w 2286025"/>
              <a:gd name="connsiteY2" fmla="*/ 0 h 1143013"/>
              <a:gd name="connsiteX3" fmla="*/ 2286026 w 2286025"/>
              <a:gd name="connsiteY3" fmla="*/ 1143013 h 1143013"/>
            </a:gdLst>
            <a:ahLst/>
            <a:cxnLst>
              <a:cxn ang="0">
                <a:pos x="connsiteX0" y="connsiteY0"/>
              </a:cxn>
              <a:cxn ang="0">
                <a:pos x="connsiteX1" y="connsiteY1"/>
              </a:cxn>
              <a:cxn ang="0">
                <a:pos x="connsiteX2" y="connsiteY2"/>
              </a:cxn>
              <a:cxn ang="0">
                <a:pos x="connsiteX3" y="connsiteY3"/>
              </a:cxn>
            </a:cxnLst>
            <a:rect l="l" t="t" r="r" b="b"/>
            <a:pathLst>
              <a:path w="2286025" h="1143013">
                <a:moveTo>
                  <a:pt x="2286026" y="1143013"/>
                </a:moveTo>
                <a:lnTo>
                  <a:pt x="0" y="1143013"/>
                </a:lnTo>
                <a:cubicBezTo>
                  <a:pt x="-1" y="511784"/>
                  <a:pt x="511784" y="0"/>
                  <a:pt x="1143012" y="0"/>
                </a:cubicBezTo>
                <a:cubicBezTo>
                  <a:pt x="1774241" y="0"/>
                  <a:pt x="2286026" y="511784"/>
                  <a:pt x="2286026" y="1143013"/>
                </a:cubicBezTo>
                <a:close/>
              </a:path>
            </a:pathLst>
          </a:custGeom>
          <a:solidFill>
            <a:srgbClr val="FBB70C"/>
          </a:solidFill>
          <a:ln w="0" cap="flat">
            <a:noFill/>
            <a:prstDash val="solid"/>
            <a:miter/>
          </a:ln>
        </p:spPr>
        <p:txBody>
          <a:bodyPr rtlCol="0" anchor="ctr"/>
          <a:lstStyle/>
          <a:p>
            <a:endParaRPr lang="nl-NL" sz="2560"/>
          </a:p>
        </p:txBody>
      </p:sp>
      <p:sp>
        <p:nvSpPr>
          <p:cNvPr id="26" name="Vrije vorm: vorm 25">
            <a:extLst>
              <a:ext uri="{FF2B5EF4-FFF2-40B4-BE49-F238E27FC236}">
                <a16:creationId xmlns:a16="http://schemas.microsoft.com/office/drawing/2014/main" id="{DC9D5A06-4B5F-5150-061F-8455585C64F0}"/>
              </a:ext>
            </a:extLst>
          </p:cNvPr>
          <p:cNvSpPr/>
          <p:nvPr/>
        </p:nvSpPr>
        <p:spPr>
          <a:xfrm>
            <a:off x="14089334" y="3250783"/>
            <a:ext cx="3251053" cy="3251255"/>
          </a:xfrm>
          <a:custGeom>
            <a:avLst/>
            <a:gdLst>
              <a:gd name="connsiteX0" fmla="*/ 2286033 w 2286036"/>
              <a:gd name="connsiteY0" fmla="*/ 0 h 2286039"/>
              <a:gd name="connsiteX1" fmla="*/ 2286037 w 2286036"/>
              <a:gd name="connsiteY1" fmla="*/ 2286036 h 2286039"/>
              <a:gd name="connsiteX2" fmla="*/ 0 w 2286036"/>
              <a:gd name="connsiteY2" fmla="*/ 2286039 h 2286039"/>
              <a:gd name="connsiteX3" fmla="*/ 2286033 w 2286036"/>
              <a:gd name="connsiteY3" fmla="*/ 0 h 2286039"/>
            </a:gdLst>
            <a:ahLst/>
            <a:cxnLst>
              <a:cxn ang="0">
                <a:pos x="connsiteX0" y="connsiteY0"/>
              </a:cxn>
              <a:cxn ang="0">
                <a:pos x="connsiteX1" y="connsiteY1"/>
              </a:cxn>
              <a:cxn ang="0">
                <a:pos x="connsiteX2" y="connsiteY2"/>
              </a:cxn>
              <a:cxn ang="0">
                <a:pos x="connsiteX3" y="connsiteY3"/>
              </a:cxn>
            </a:cxnLst>
            <a:rect l="l" t="t" r="r" b="b"/>
            <a:pathLst>
              <a:path w="2286036" h="2286039">
                <a:moveTo>
                  <a:pt x="2286033" y="0"/>
                </a:moveTo>
                <a:lnTo>
                  <a:pt x="2286037" y="2286036"/>
                </a:lnTo>
                <a:lnTo>
                  <a:pt x="0" y="2286039"/>
                </a:lnTo>
                <a:lnTo>
                  <a:pt x="2286033" y="0"/>
                </a:lnTo>
                <a:close/>
              </a:path>
            </a:pathLst>
          </a:custGeom>
          <a:solidFill>
            <a:srgbClr val="00A143"/>
          </a:solidFill>
          <a:ln w="0" cap="flat">
            <a:noFill/>
            <a:prstDash val="solid"/>
            <a:miter/>
          </a:ln>
        </p:spPr>
        <p:txBody>
          <a:bodyPr rtlCol="0" anchor="ctr"/>
          <a:lstStyle/>
          <a:p>
            <a:endParaRPr lang="nl-NL" sz="2560"/>
          </a:p>
        </p:txBody>
      </p:sp>
      <p:pic>
        <p:nvPicPr>
          <p:cNvPr id="7" name="Graphic 6">
            <a:extLst>
              <a:ext uri="{FF2B5EF4-FFF2-40B4-BE49-F238E27FC236}">
                <a16:creationId xmlns:a16="http://schemas.microsoft.com/office/drawing/2014/main" id="{5528156B-733A-E015-B005-B2352FABCC6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126324" y="400902"/>
            <a:ext cx="1300401" cy="690880"/>
          </a:xfrm>
          <a:prstGeom prst="rect">
            <a:avLst/>
          </a:prstGeom>
        </p:spPr>
      </p:pic>
      <p:sp>
        <p:nvSpPr>
          <p:cNvPr id="3" name="Title 1">
            <a:extLst>
              <a:ext uri="{FF2B5EF4-FFF2-40B4-BE49-F238E27FC236}">
                <a16:creationId xmlns:a16="http://schemas.microsoft.com/office/drawing/2014/main" id="{1D769654-84DF-F3A4-AA96-CF3AB34A95D3}"/>
              </a:ext>
            </a:extLst>
          </p:cNvPr>
          <p:cNvSpPr>
            <a:spLocks noGrp="1"/>
          </p:cNvSpPr>
          <p:nvPr>
            <p:ph type="title" hasCustomPrompt="1"/>
          </p:nvPr>
        </p:nvSpPr>
        <p:spPr>
          <a:xfrm>
            <a:off x="1126325" y="3138114"/>
            <a:ext cx="7986713" cy="2786724"/>
          </a:xfrm>
          <a:prstGeom prst="rect">
            <a:avLst/>
          </a:prstGeom>
        </p:spPr>
        <p:txBody>
          <a:bodyPr anchor="b">
            <a:normAutofit/>
          </a:bodyPr>
          <a:lstStyle>
            <a:lvl1pPr>
              <a:defRPr sz="6542" b="1">
                <a:solidFill>
                  <a:schemeClr val="tx1"/>
                </a:solidFill>
                <a:latin typeface="+mj-lt"/>
                <a:cs typeface="Arial" panose="020B0604020202020204" pitchFamily="34" charset="0"/>
              </a:defRPr>
            </a:lvl1pPr>
          </a:lstStyle>
          <a:p>
            <a:r>
              <a:rPr lang="en-US"/>
              <a:t>Title</a:t>
            </a:r>
          </a:p>
        </p:txBody>
      </p:sp>
      <p:sp>
        <p:nvSpPr>
          <p:cNvPr id="4" name="Tijdelijke aanduiding voor tekst 26">
            <a:extLst>
              <a:ext uri="{FF2B5EF4-FFF2-40B4-BE49-F238E27FC236}">
                <a16:creationId xmlns:a16="http://schemas.microsoft.com/office/drawing/2014/main" id="{B0AC4634-2567-5C02-64AA-03E99D27573C}"/>
              </a:ext>
            </a:extLst>
          </p:cNvPr>
          <p:cNvSpPr>
            <a:spLocks noGrp="1"/>
          </p:cNvSpPr>
          <p:nvPr>
            <p:ph type="body" sz="quarter" idx="10" hasCustomPrompt="1"/>
          </p:nvPr>
        </p:nvSpPr>
        <p:spPr>
          <a:xfrm>
            <a:off x="1126325" y="8802961"/>
            <a:ext cx="7986713" cy="549737"/>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Date</a:t>
            </a:r>
          </a:p>
        </p:txBody>
      </p:sp>
      <p:sp>
        <p:nvSpPr>
          <p:cNvPr id="8" name="Text Placeholder 2">
            <a:extLst>
              <a:ext uri="{FF2B5EF4-FFF2-40B4-BE49-F238E27FC236}">
                <a16:creationId xmlns:a16="http://schemas.microsoft.com/office/drawing/2014/main" id="{104F83EB-068C-DEF0-6261-68679FF0E88A}"/>
              </a:ext>
            </a:extLst>
          </p:cNvPr>
          <p:cNvSpPr>
            <a:spLocks noGrp="1"/>
          </p:cNvSpPr>
          <p:nvPr>
            <p:ph type="body" sz="quarter" idx="11" hasCustomPrompt="1"/>
          </p:nvPr>
        </p:nvSpPr>
        <p:spPr>
          <a:xfrm>
            <a:off x="1126564" y="7161672"/>
            <a:ext cx="7987530" cy="1379503"/>
          </a:xfrm>
          <a:prstGeom prst="rect">
            <a:avLst/>
          </a:prstGeom>
        </p:spPr>
        <p:txBody>
          <a:bodyPr/>
          <a:lstStyle>
            <a:lvl1pPr marL="0" indent="0">
              <a:buNone/>
              <a:defRPr sz="3413"/>
            </a:lvl1pPr>
          </a:lstStyle>
          <a:p>
            <a:pPr lvl="0"/>
            <a:r>
              <a:rPr lang="en-US"/>
              <a:t>Name</a:t>
            </a:r>
            <a:endParaRPr lang="en-BE"/>
          </a:p>
        </p:txBody>
      </p:sp>
      <p:sp>
        <p:nvSpPr>
          <p:cNvPr id="9" name="Text Placeholder 13">
            <a:extLst>
              <a:ext uri="{FF2B5EF4-FFF2-40B4-BE49-F238E27FC236}">
                <a16:creationId xmlns:a16="http://schemas.microsoft.com/office/drawing/2014/main" id="{2FC02C50-EA58-B185-F07D-13121035B548}"/>
              </a:ext>
            </a:extLst>
          </p:cNvPr>
          <p:cNvSpPr>
            <a:spLocks noGrp="1"/>
          </p:cNvSpPr>
          <p:nvPr>
            <p:ph type="body" sz="quarter" idx="14" hasCustomPrompt="1"/>
          </p:nvPr>
        </p:nvSpPr>
        <p:spPr>
          <a:xfrm>
            <a:off x="1126327" y="6068907"/>
            <a:ext cx="7987768" cy="988907"/>
          </a:xfrm>
          <a:prstGeom prst="rect">
            <a:avLst/>
          </a:prstGeom>
        </p:spPr>
        <p:txBody>
          <a:bodyPr>
            <a:normAutofit/>
          </a:bodyPr>
          <a:lstStyle>
            <a:lvl1pPr marL="0" indent="0">
              <a:buNone/>
              <a:defRPr sz="3982">
                <a:solidFill>
                  <a:srgbClr val="D1E4F7"/>
                </a:solidFill>
                <a:latin typeface="+mj-lt"/>
              </a:defRPr>
            </a:lvl1pPr>
          </a:lstStyle>
          <a:p>
            <a:pPr lvl="0"/>
            <a:r>
              <a:rPr lang="en-US"/>
              <a:t>Subtitle</a:t>
            </a:r>
            <a:endParaRPr lang="en-BE"/>
          </a:p>
        </p:txBody>
      </p:sp>
      <p:sp>
        <p:nvSpPr>
          <p:cNvPr id="11" name="Picture Placeholder 342">
            <a:extLst>
              <a:ext uri="{FF2B5EF4-FFF2-40B4-BE49-F238E27FC236}">
                <a16:creationId xmlns:a16="http://schemas.microsoft.com/office/drawing/2014/main" id="{1C69DBB6-CB01-17DC-A53A-3AD090FDE7F5}"/>
              </a:ext>
            </a:extLst>
          </p:cNvPr>
          <p:cNvSpPr>
            <a:spLocks noGrp="1"/>
          </p:cNvSpPr>
          <p:nvPr>
            <p:ph type="pic" sz="quarter" idx="13"/>
          </p:nvPr>
        </p:nvSpPr>
        <p:spPr>
          <a:xfrm>
            <a:off x="10372245" y="0"/>
            <a:ext cx="6966431" cy="9753600"/>
          </a:xfrm>
          <a:prstGeom prst="rect">
            <a:avLst/>
          </a:prstGeom>
        </p:spPr>
        <p:txBody>
          <a:bodyPr/>
          <a:lstStyle/>
          <a:p>
            <a:r>
              <a:rPr lang="en-US"/>
              <a:t>Click icon to add picture</a:t>
            </a:r>
            <a:endParaRPr lang="en-BE"/>
          </a:p>
        </p:txBody>
      </p:sp>
    </p:spTree>
    <p:extLst>
      <p:ext uri="{BB962C8B-B14F-4D97-AF65-F5344CB8AC3E}">
        <p14:creationId xmlns:p14="http://schemas.microsoft.com/office/powerpoint/2010/main" val="971326064"/>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Dark end 1">
    <p:bg>
      <p:bgRef idx="1001">
        <a:schemeClr val="bg1"/>
      </p:bgRef>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B92E722-A1F2-E192-63DB-1754A87ED290}"/>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4906930" y="8394761"/>
            <a:ext cx="1300401" cy="690880"/>
          </a:xfrm>
          <a:prstGeom prst="rect">
            <a:avLst/>
          </a:prstGeom>
        </p:spPr>
      </p:pic>
      <p:sp>
        <p:nvSpPr>
          <p:cNvPr id="30" name="Tijdelijke aanduiding voor tekst 26">
            <a:extLst>
              <a:ext uri="{FF2B5EF4-FFF2-40B4-BE49-F238E27FC236}">
                <a16:creationId xmlns:a16="http://schemas.microsoft.com/office/drawing/2014/main" id="{040DDA4E-DCB6-FDBA-CC4C-07183759BBE8}"/>
              </a:ext>
            </a:extLst>
          </p:cNvPr>
          <p:cNvSpPr>
            <a:spLocks noGrp="1"/>
          </p:cNvSpPr>
          <p:nvPr>
            <p:ph type="body" sz="quarter" idx="10" hasCustomPrompt="1"/>
          </p:nvPr>
        </p:nvSpPr>
        <p:spPr>
          <a:xfrm>
            <a:off x="2129642" y="8394761"/>
            <a:ext cx="8269535" cy="799815"/>
          </a:xfrm>
          <a:prstGeom prst="rect">
            <a:avLst/>
          </a:prstGeom>
        </p:spPr>
        <p:txBody>
          <a:bodyPr anchor="b">
            <a:noAutofit/>
          </a:bodyPr>
          <a:lstStyle>
            <a:lvl1pPr marL="0" indent="0">
              <a:buNone/>
              <a:defRPr sz="2275"/>
            </a:lvl1pPr>
            <a:lvl2pPr marL="650184" indent="0">
              <a:buNone/>
              <a:defRPr/>
            </a:lvl2pPr>
            <a:lvl3pPr marL="1300368" indent="0">
              <a:buNone/>
              <a:defRPr/>
            </a:lvl3pPr>
            <a:lvl4pPr marL="1950552" indent="0">
              <a:buNone/>
              <a:defRPr/>
            </a:lvl4pPr>
            <a:lvl5pPr marL="2600736" indent="0">
              <a:buNone/>
              <a:defRPr/>
            </a:lvl5pPr>
          </a:lstStyle>
          <a:p>
            <a:pPr lvl="0"/>
            <a:r>
              <a:rPr lang="nl-NL"/>
              <a:t>Click </a:t>
            </a:r>
            <a:r>
              <a:rPr lang="nl-NL" err="1"/>
              <a:t>to</a:t>
            </a:r>
            <a:r>
              <a:rPr lang="nl-NL"/>
              <a:t> </a:t>
            </a:r>
            <a:r>
              <a:rPr lang="nl-NL" err="1"/>
              <a:t>add</a:t>
            </a:r>
            <a:br>
              <a:rPr lang="nl-NL"/>
            </a:br>
            <a:r>
              <a:rPr lang="nl-NL"/>
              <a:t>contact information</a:t>
            </a:r>
          </a:p>
        </p:txBody>
      </p:sp>
      <p:sp>
        <p:nvSpPr>
          <p:cNvPr id="36" name="Vrije vorm: vorm 35">
            <a:extLst>
              <a:ext uri="{FF2B5EF4-FFF2-40B4-BE49-F238E27FC236}">
                <a16:creationId xmlns:a16="http://schemas.microsoft.com/office/drawing/2014/main" id="{457BF113-0FED-881D-D3F9-480737E7A0DD}"/>
              </a:ext>
            </a:extLst>
          </p:cNvPr>
          <p:cNvSpPr>
            <a:spLocks noChangeAspect="1"/>
          </p:cNvSpPr>
          <p:nvPr/>
        </p:nvSpPr>
        <p:spPr>
          <a:xfrm>
            <a:off x="1126324" y="8394761"/>
            <a:ext cx="692827" cy="691048"/>
          </a:xfrm>
          <a:custGeom>
            <a:avLst/>
            <a:gdLst>
              <a:gd name="connsiteX0" fmla="*/ 1257492 w 2520001"/>
              <a:gd name="connsiteY0" fmla="*/ 0 h 2513375"/>
              <a:gd name="connsiteX1" fmla="*/ 1887492 w 2520001"/>
              <a:gd name="connsiteY1" fmla="*/ 630000 h 2513375"/>
              <a:gd name="connsiteX2" fmla="*/ 1384459 w 2520001"/>
              <a:gd name="connsiteY2" fmla="*/ 1247201 h 2513375"/>
              <a:gd name="connsiteX3" fmla="*/ 1302120 w 2520001"/>
              <a:gd name="connsiteY3" fmla="*/ 1255502 h 2513375"/>
              <a:gd name="connsiteX4" fmla="*/ 1388821 w 2520001"/>
              <a:gd name="connsiteY4" fmla="*/ 1259881 h 2513375"/>
              <a:gd name="connsiteX5" fmla="*/ 2520001 w 2520001"/>
              <a:gd name="connsiteY5" fmla="*/ 2513375 h 2513375"/>
              <a:gd name="connsiteX6" fmla="*/ 0 w 2520001"/>
              <a:gd name="connsiteY6" fmla="*/ 2513375 h 2513375"/>
              <a:gd name="connsiteX7" fmla="*/ 1131180 w 2520001"/>
              <a:gd name="connsiteY7" fmla="*/ 1259881 h 2513375"/>
              <a:gd name="connsiteX8" fmla="*/ 1214539 w 2520001"/>
              <a:gd name="connsiteY8" fmla="*/ 1255671 h 2513375"/>
              <a:gd name="connsiteX9" fmla="*/ 1130525 w 2520001"/>
              <a:gd name="connsiteY9" fmla="*/ 1247201 h 2513375"/>
              <a:gd name="connsiteX10" fmla="*/ 627492 w 2520001"/>
              <a:gd name="connsiteY10" fmla="*/ 630000 h 2513375"/>
              <a:gd name="connsiteX11" fmla="*/ 1257492 w 2520001"/>
              <a:gd name="connsiteY11" fmla="*/ 0 h 25133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20001" h="2513375">
                <a:moveTo>
                  <a:pt x="1257492" y="0"/>
                </a:moveTo>
                <a:cubicBezTo>
                  <a:pt x="1605432" y="0"/>
                  <a:pt x="1887492" y="282061"/>
                  <a:pt x="1887492" y="630000"/>
                </a:cubicBezTo>
                <a:cubicBezTo>
                  <a:pt x="1887492" y="934447"/>
                  <a:pt x="1671540" y="1188456"/>
                  <a:pt x="1384459" y="1247201"/>
                </a:cubicBezTo>
                <a:lnTo>
                  <a:pt x="1302120" y="1255502"/>
                </a:lnTo>
                <a:lnTo>
                  <a:pt x="1388821" y="1259881"/>
                </a:lnTo>
                <a:cubicBezTo>
                  <a:pt x="2024152" y="1324410"/>
                  <a:pt x="2520001" y="1861030"/>
                  <a:pt x="2520001" y="2513375"/>
                </a:cubicBezTo>
                <a:lnTo>
                  <a:pt x="0" y="2513375"/>
                </a:lnTo>
                <a:cubicBezTo>
                  <a:pt x="0" y="1861030"/>
                  <a:pt x="495849" y="1324410"/>
                  <a:pt x="1131180" y="1259881"/>
                </a:cubicBezTo>
                <a:lnTo>
                  <a:pt x="1214539" y="1255671"/>
                </a:lnTo>
                <a:lnTo>
                  <a:pt x="1130525" y="1247201"/>
                </a:lnTo>
                <a:cubicBezTo>
                  <a:pt x="843445" y="1188456"/>
                  <a:pt x="627492" y="934447"/>
                  <a:pt x="627492" y="630000"/>
                </a:cubicBezTo>
                <a:cubicBezTo>
                  <a:pt x="627492" y="282061"/>
                  <a:pt x="909553" y="0"/>
                  <a:pt x="1257492" y="0"/>
                </a:cubicBezTo>
                <a:close/>
              </a:path>
            </a:pathLst>
          </a:custGeom>
          <a:solidFill>
            <a:schemeClr val="accent1"/>
          </a:solidFill>
          <a:ln w="0" cap="flat">
            <a:noFill/>
            <a:prstDash val="solid"/>
            <a:miter/>
          </a:ln>
        </p:spPr>
        <p:txBody>
          <a:bodyPr wrap="square" rtlCol="0" anchor="ctr">
            <a:noAutofit/>
          </a:bodyPr>
          <a:lstStyle/>
          <a:p>
            <a:endParaRPr lang="nl-NL" sz="2560"/>
          </a:p>
        </p:txBody>
      </p:sp>
      <p:grpSp>
        <p:nvGrpSpPr>
          <p:cNvPr id="23" name="Groep 22">
            <a:extLst>
              <a:ext uri="{FF2B5EF4-FFF2-40B4-BE49-F238E27FC236}">
                <a16:creationId xmlns:a16="http://schemas.microsoft.com/office/drawing/2014/main" id="{EEB7A8C9-A0CF-CA2C-72EC-3DAFC8609B0F}"/>
              </a:ext>
            </a:extLst>
          </p:cNvPr>
          <p:cNvGrpSpPr/>
          <p:nvPr/>
        </p:nvGrpSpPr>
        <p:grpSpPr>
          <a:xfrm>
            <a:off x="0" y="0"/>
            <a:ext cx="17342415" cy="6939918"/>
            <a:chOff x="0" y="0"/>
            <a:chExt cx="12194630" cy="4879630"/>
          </a:xfrm>
        </p:grpSpPr>
        <p:sp>
          <p:nvSpPr>
            <p:cNvPr id="24" name="Vrije vorm: vorm 23">
              <a:extLst>
                <a:ext uri="{FF2B5EF4-FFF2-40B4-BE49-F238E27FC236}">
                  <a16:creationId xmlns:a16="http://schemas.microsoft.com/office/drawing/2014/main" id="{399869FA-D253-8BB4-38AA-1B852323535C}"/>
                </a:ext>
              </a:extLst>
            </p:cNvPr>
            <p:cNvSpPr/>
            <p:nvPr/>
          </p:nvSpPr>
          <p:spPr>
            <a:xfrm>
              <a:off x="0" y="2439819"/>
              <a:ext cx="2439811" cy="2439811"/>
            </a:xfrm>
            <a:custGeom>
              <a:avLst/>
              <a:gdLst>
                <a:gd name="connsiteX0" fmla="*/ 2286025 w 2286025"/>
                <a:gd name="connsiteY0" fmla="*/ 1143013 h 2286025"/>
                <a:gd name="connsiteX1" fmla="*/ 1143013 w 2286025"/>
                <a:gd name="connsiteY1" fmla="*/ 2286026 h 2286025"/>
                <a:gd name="connsiteX2" fmla="*/ 1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1" y="1774281"/>
                    <a:pt x="1" y="1143013"/>
                  </a:cubicBezTo>
                  <a:cubicBezTo>
                    <a:pt x="1" y="511744"/>
                    <a:pt x="511744" y="0"/>
                    <a:pt x="1143013" y="0"/>
                  </a:cubicBezTo>
                  <a:cubicBezTo>
                    <a:pt x="1774281" y="0"/>
                    <a:pt x="2286025" y="511744"/>
                    <a:pt x="2286025" y="1143013"/>
                  </a:cubicBezTo>
                  <a:close/>
                </a:path>
              </a:pathLst>
            </a:custGeom>
            <a:solidFill>
              <a:srgbClr val="00A143"/>
            </a:solidFill>
            <a:ln w="0" cap="flat">
              <a:noFill/>
              <a:prstDash val="solid"/>
              <a:miter/>
            </a:ln>
          </p:spPr>
          <p:txBody>
            <a:bodyPr rtlCol="0" anchor="ctr"/>
            <a:lstStyle/>
            <a:p>
              <a:endParaRPr lang="nl-NL" sz="2560"/>
            </a:p>
          </p:txBody>
        </p:sp>
        <p:sp>
          <p:nvSpPr>
            <p:cNvPr id="27" name="Vrije vorm: vorm 26">
              <a:extLst>
                <a:ext uri="{FF2B5EF4-FFF2-40B4-BE49-F238E27FC236}">
                  <a16:creationId xmlns:a16="http://schemas.microsoft.com/office/drawing/2014/main" id="{C35772DD-53DE-CFEB-1FAC-4D509FC0FA36}"/>
                </a:ext>
              </a:extLst>
            </p:cNvPr>
            <p:cNvSpPr/>
            <p:nvPr/>
          </p:nvSpPr>
          <p:spPr>
            <a:xfrm rot="2700000">
              <a:off x="7672321" y="2796523"/>
              <a:ext cx="1725199" cy="1725199"/>
            </a:xfrm>
            <a:custGeom>
              <a:avLst/>
              <a:gdLst>
                <a:gd name="connsiteX0" fmla="*/ 0 w 1616456"/>
                <a:gd name="connsiteY0" fmla="*/ 0 h 1616456"/>
                <a:gd name="connsiteX1" fmla="*/ 1616457 w 1616456"/>
                <a:gd name="connsiteY1" fmla="*/ 0 h 1616456"/>
                <a:gd name="connsiteX2" fmla="*/ 1616457 w 1616456"/>
                <a:gd name="connsiteY2" fmla="*/ 1616457 h 1616456"/>
                <a:gd name="connsiteX3" fmla="*/ 0 w 1616456"/>
                <a:gd name="connsiteY3" fmla="*/ 1616457 h 1616456"/>
              </a:gdLst>
              <a:ahLst/>
              <a:cxnLst>
                <a:cxn ang="0">
                  <a:pos x="connsiteX0" y="connsiteY0"/>
                </a:cxn>
                <a:cxn ang="0">
                  <a:pos x="connsiteX1" y="connsiteY1"/>
                </a:cxn>
                <a:cxn ang="0">
                  <a:pos x="connsiteX2" y="connsiteY2"/>
                </a:cxn>
                <a:cxn ang="0">
                  <a:pos x="connsiteX3" y="connsiteY3"/>
                </a:cxn>
              </a:cxnLst>
              <a:rect l="l" t="t" r="r" b="b"/>
              <a:pathLst>
                <a:path w="1616456" h="1616456">
                  <a:moveTo>
                    <a:pt x="0" y="0"/>
                  </a:moveTo>
                  <a:lnTo>
                    <a:pt x="1616457" y="0"/>
                  </a:lnTo>
                  <a:lnTo>
                    <a:pt x="1616457" y="1616457"/>
                  </a:lnTo>
                  <a:lnTo>
                    <a:pt x="0" y="1616457"/>
                  </a:lnTo>
                  <a:close/>
                </a:path>
              </a:pathLst>
            </a:custGeom>
            <a:solidFill>
              <a:schemeClr val="accent2"/>
            </a:solidFill>
            <a:ln w="0" cap="flat">
              <a:noFill/>
              <a:prstDash val="solid"/>
              <a:miter/>
            </a:ln>
          </p:spPr>
          <p:txBody>
            <a:bodyPr rtlCol="0" anchor="ctr"/>
            <a:lstStyle/>
            <a:p>
              <a:endParaRPr lang="nl-NL" sz="2560"/>
            </a:p>
          </p:txBody>
        </p:sp>
        <p:sp>
          <p:nvSpPr>
            <p:cNvPr id="29" name="Vrije vorm: vorm 28">
              <a:extLst>
                <a:ext uri="{FF2B5EF4-FFF2-40B4-BE49-F238E27FC236}">
                  <a16:creationId xmlns:a16="http://schemas.microsoft.com/office/drawing/2014/main" id="{EBF7AA89-4192-DE80-15A1-6176A69496A6}"/>
                </a:ext>
              </a:extLst>
            </p:cNvPr>
            <p:cNvSpPr/>
            <p:nvPr/>
          </p:nvSpPr>
          <p:spPr>
            <a:xfrm>
              <a:off x="7311261" y="8"/>
              <a:ext cx="2439811" cy="2439811"/>
            </a:xfrm>
            <a:custGeom>
              <a:avLst/>
              <a:gdLst>
                <a:gd name="connsiteX0" fmla="*/ 2286025 w 2286025"/>
                <a:gd name="connsiteY0" fmla="*/ 1143013 h 2286025"/>
                <a:gd name="connsiteX1" fmla="*/ 1143013 w 2286025"/>
                <a:gd name="connsiteY1" fmla="*/ 2286026 h 2286025"/>
                <a:gd name="connsiteX2" fmla="*/ 0 w 2286025"/>
                <a:gd name="connsiteY2" fmla="*/ 1143013 h 2286025"/>
                <a:gd name="connsiteX3" fmla="*/ 1143013 w 2286025"/>
                <a:gd name="connsiteY3" fmla="*/ 0 h 2286025"/>
                <a:gd name="connsiteX4" fmla="*/ 2286025 w 2286025"/>
                <a:gd name="connsiteY4" fmla="*/ 1143013 h 22860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025" h="2286025">
                  <a:moveTo>
                    <a:pt x="2286025" y="1143013"/>
                  </a:moveTo>
                  <a:cubicBezTo>
                    <a:pt x="2286025" y="1774281"/>
                    <a:pt x="1774281" y="2286026"/>
                    <a:pt x="1143013" y="2286026"/>
                  </a:cubicBezTo>
                  <a:cubicBezTo>
                    <a:pt x="511744" y="2286026"/>
                    <a:pt x="0" y="1774281"/>
                    <a:pt x="0" y="1143013"/>
                  </a:cubicBezTo>
                  <a:cubicBezTo>
                    <a:pt x="0" y="511744"/>
                    <a:pt x="511744" y="0"/>
                    <a:pt x="1143013" y="0"/>
                  </a:cubicBezTo>
                  <a:cubicBezTo>
                    <a:pt x="1774281" y="0"/>
                    <a:pt x="2286025" y="511744"/>
                    <a:pt x="2286025" y="1143013"/>
                  </a:cubicBezTo>
                  <a:close/>
                </a:path>
              </a:pathLst>
            </a:custGeom>
            <a:solidFill>
              <a:schemeClr val="accent3"/>
            </a:solidFill>
            <a:ln w="0" cap="flat">
              <a:noFill/>
              <a:prstDash val="solid"/>
              <a:miter/>
            </a:ln>
          </p:spPr>
          <p:txBody>
            <a:bodyPr rtlCol="0" anchor="ctr"/>
            <a:lstStyle/>
            <a:p>
              <a:endParaRPr lang="nl-NL" sz="2560"/>
            </a:p>
          </p:txBody>
        </p:sp>
        <p:sp>
          <p:nvSpPr>
            <p:cNvPr id="31" name="Vrije vorm: vorm 30">
              <a:extLst>
                <a:ext uri="{FF2B5EF4-FFF2-40B4-BE49-F238E27FC236}">
                  <a16:creationId xmlns:a16="http://schemas.microsoft.com/office/drawing/2014/main" id="{8CA819EA-8739-A14D-2D18-5C32F4FF0FED}"/>
                </a:ext>
              </a:extLst>
            </p:cNvPr>
            <p:cNvSpPr/>
            <p:nvPr/>
          </p:nvSpPr>
          <p:spPr>
            <a:xfrm rot="10800000">
              <a:off x="4872558"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3" name="Vrije vorm: vorm 32">
              <a:extLst>
                <a:ext uri="{FF2B5EF4-FFF2-40B4-BE49-F238E27FC236}">
                  <a16:creationId xmlns:a16="http://schemas.microsoft.com/office/drawing/2014/main" id="{F369B62F-76FA-B585-4EB8-4F2B669BB002}"/>
                </a:ext>
              </a:extLst>
            </p:cNvPr>
            <p:cNvSpPr/>
            <p:nvPr/>
          </p:nvSpPr>
          <p:spPr>
            <a:xfrm rot="10800000">
              <a:off x="4875204" y="2439816"/>
              <a:ext cx="2439813" cy="2439814"/>
            </a:xfrm>
            <a:custGeom>
              <a:avLst/>
              <a:gdLst>
                <a:gd name="connsiteX0" fmla="*/ 1 w 2286027"/>
                <a:gd name="connsiteY0" fmla="*/ 2286028 h 2286028"/>
                <a:gd name="connsiteX1" fmla="*/ 1 w 2286027"/>
                <a:gd name="connsiteY1" fmla="*/ 2285457 h 2286028"/>
                <a:gd name="connsiteX2" fmla="*/ 1 w 2286027"/>
                <a:gd name="connsiteY2" fmla="*/ 2 h 2286028"/>
                <a:gd name="connsiteX3" fmla="*/ 285709 w 2286027"/>
                <a:gd name="connsiteY3" fmla="*/ 285709 h 2286028"/>
                <a:gd name="connsiteX4" fmla="*/ 0 w 2286027"/>
                <a:gd name="connsiteY4" fmla="*/ 0 h 2286028"/>
                <a:gd name="connsiteX5" fmla="*/ 2286026 w 2286027"/>
                <a:gd name="connsiteY5" fmla="*/ 0 h 2286028"/>
                <a:gd name="connsiteX6" fmla="*/ 1143300 w 2286027"/>
                <a:gd name="connsiteY6" fmla="*/ 1142728 h 2286028"/>
                <a:gd name="connsiteX7" fmla="*/ 2286027 w 2286027"/>
                <a:gd name="connsiteY7" fmla="*/ 2285457 h 2286028"/>
                <a:gd name="connsiteX8" fmla="*/ 572 w 2286027"/>
                <a:gd name="connsiteY8" fmla="*/ 2285457 h 2286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286027" h="2286028">
                  <a:moveTo>
                    <a:pt x="1" y="2286028"/>
                  </a:moveTo>
                  <a:lnTo>
                    <a:pt x="1" y="2285457"/>
                  </a:lnTo>
                  <a:lnTo>
                    <a:pt x="1" y="2"/>
                  </a:lnTo>
                  <a:lnTo>
                    <a:pt x="285709" y="285709"/>
                  </a:lnTo>
                  <a:lnTo>
                    <a:pt x="0" y="0"/>
                  </a:lnTo>
                  <a:lnTo>
                    <a:pt x="2286026" y="0"/>
                  </a:lnTo>
                  <a:lnTo>
                    <a:pt x="1143300" y="1142728"/>
                  </a:lnTo>
                  <a:lnTo>
                    <a:pt x="2286027" y="2285457"/>
                  </a:lnTo>
                  <a:lnTo>
                    <a:pt x="572" y="2285457"/>
                  </a:lnTo>
                  <a:close/>
                </a:path>
              </a:pathLst>
            </a:custGeom>
            <a:solidFill>
              <a:srgbClr val="FBB70C"/>
            </a:solidFill>
            <a:ln w="0" cap="flat">
              <a:noFill/>
              <a:prstDash val="solid"/>
              <a:miter/>
            </a:ln>
          </p:spPr>
          <p:txBody>
            <a:bodyPr wrap="square" rtlCol="0" anchor="ctr">
              <a:noAutofit/>
            </a:bodyPr>
            <a:lstStyle/>
            <a:p>
              <a:endParaRPr lang="nl-NL" sz="2560"/>
            </a:p>
          </p:txBody>
        </p:sp>
        <p:sp>
          <p:nvSpPr>
            <p:cNvPr id="34" name="Vrije vorm: vorm 33">
              <a:extLst>
                <a:ext uri="{FF2B5EF4-FFF2-40B4-BE49-F238E27FC236}">
                  <a16:creationId xmlns:a16="http://schemas.microsoft.com/office/drawing/2014/main" id="{E54444B7-1442-E4D6-0F66-19D1AF25DD78}"/>
                </a:ext>
              </a:extLst>
            </p:cNvPr>
            <p:cNvSpPr/>
            <p:nvPr/>
          </p:nvSpPr>
          <p:spPr>
            <a:xfrm>
              <a:off x="0" y="0"/>
              <a:ext cx="4872558" cy="2440421"/>
            </a:xfrm>
            <a:custGeom>
              <a:avLst/>
              <a:gdLst>
                <a:gd name="connsiteX0" fmla="*/ 2279394 w 4565431"/>
                <a:gd name="connsiteY0" fmla="*/ 0 h 2286596"/>
                <a:gd name="connsiteX1" fmla="*/ 2279964 w 4565431"/>
                <a:gd name="connsiteY1" fmla="*/ 570 h 2286596"/>
                <a:gd name="connsiteX2" fmla="*/ 2286026 w 4565431"/>
                <a:gd name="connsiteY2" fmla="*/ 570 h 2286596"/>
                <a:gd name="connsiteX3" fmla="*/ 2286026 w 4565431"/>
                <a:gd name="connsiteY3" fmla="*/ 6632 h 2286596"/>
                <a:gd name="connsiteX4" fmla="*/ 4565431 w 4565431"/>
                <a:gd name="connsiteY4" fmla="*/ 2286036 h 2286596"/>
                <a:gd name="connsiteX5" fmla="*/ 2286026 w 4565431"/>
                <a:gd name="connsiteY5" fmla="*/ 2286036 h 2286596"/>
                <a:gd name="connsiteX6" fmla="*/ 2286026 w 4565431"/>
                <a:gd name="connsiteY6" fmla="*/ 2286596 h 2286596"/>
                <a:gd name="connsiteX7" fmla="*/ 0 w 4565431"/>
                <a:gd name="connsiteY7" fmla="*/ 2286596 h 2286596"/>
                <a:gd name="connsiteX8" fmla="*/ 0 w 4565431"/>
                <a:gd name="connsiteY8" fmla="*/ 570 h 2286596"/>
                <a:gd name="connsiteX9" fmla="*/ 2279394 w 4565431"/>
                <a:gd name="connsiteY9" fmla="*/ 570 h 22865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65431" h="2286596">
                  <a:moveTo>
                    <a:pt x="2279394" y="0"/>
                  </a:moveTo>
                  <a:lnTo>
                    <a:pt x="2279964" y="570"/>
                  </a:lnTo>
                  <a:lnTo>
                    <a:pt x="2286026" y="570"/>
                  </a:lnTo>
                  <a:lnTo>
                    <a:pt x="2286026" y="6632"/>
                  </a:lnTo>
                  <a:lnTo>
                    <a:pt x="4565431" y="2286036"/>
                  </a:lnTo>
                  <a:lnTo>
                    <a:pt x="2286026" y="2286036"/>
                  </a:lnTo>
                  <a:lnTo>
                    <a:pt x="2286026" y="2286596"/>
                  </a:lnTo>
                  <a:lnTo>
                    <a:pt x="0" y="2286596"/>
                  </a:lnTo>
                  <a:lnTo>
                    <a:pt x="0" y="570"/>
                  </a:lnTo>
                  <a:lnTo>
                    <a:pt x="2279394" y="570"/>
                  </a:lnTo>
                  <a:close/>
                </a:path>
              </a:pathLst>
            </a:custGeom>
            <a:solidFill>
              <a:schemeClr val="accent2"/>
            </a:solidFill>
            <a:ln w="0" cap="flat">
              <a:noFill/>
              <a:prstDash val="solid"/>
              <a:miter/>
            </a:ln>
          </p:spPr>
          <p:txBody>
            <a:bodyPr wrap="square" rtlCol="0" anchor="ctr">
              <a:noAutofit/>
            </a:bodyPr>
            <a:lstStyle/>
            <a:p>
              <a:endParaRPr lang="nl-NL" sz="2560"/>
            </a:p>
          </p:txBody>
        </p:sp>
        <p:sp>
          <p:nvSpPr>
            <p:cNvPr id="35" name="Vrije vorm: vorm 34">
              <a:extLst>
                <a:ext uri="{FF2B5EF4-FFF2-40B4-BE49-F238E27FC236}">
                  <a16:creationId xmlns:a16="http://schemas.microsoft.com/office/drawing/2014/main" id="{B9542184-1726-825C-0E63-9970ACBF8780}"/>
                </a:ext>
              </a:extLst>
            </p:cNvPr>
            <p:cNvSpPr/>
            <p:nvPr/>
          </p:nvSpPr>
          <p:spPr>
            <a:xfrm>
              <a:off x="9752177" y="0"/>
              <a:ext cx="2439823" cy="2439823"/>
            </a:xfrm>
            <a:custGeom>
              <a:avLst/>
              <a:gdLst>
                <a:gd name="connsiteX0" fmla="*/ 2286037 w 2286036"/>
                <a:gd name="connsiteY0" fmla="*/ 2286036 h 2286036"/>
                <a:gd name="connsiteX1" fmla="*/ 0 w 2286036"/>
                <a:gd name="connsiteY1" fmla="*/ 2286036 h 2286036"/>
                <a:gd name="connsiteX2" fmla="*/ 0 w 2286036"/>
                <a:gd name="connsiteY2" fmla="*/ 0 h 2286036"/>
                <a:gd name="connsiteX3" fmla="*/ 2286037 w 2286036"/>
                <a:gd name="connsiteY3" fmla="*/ 2286036 h 2286036"/>
              </a:gdLst>
              <a:ahLst/>
              <a:cxnLst>
                <a:cxn ang="0">
                  <a:pos x="connsiteX0" y="connsiteY0"/>
                </a:cxn>
                <a:cxn ang="0">
                  <a:pos x="connsiteX1" y="connsiteY1"/>
                </a:cxn>
                <a:cxn ang="0">
                  <a:pos x="connsiteX2" y="connsiteY2"/>
                </a:cxn>
                <a:cxn ang="0">
                  <a:pos x="connsiteX3" y="connsiteY3"/>
                </a:cxn>
              </a:cxnLst>
              <a:rect l="l" t="t" r="r" b="b"/>
              <a:pathLst>
                <a:path w="2286036" h="2286036">
                  <a:moveTo>
                    <a:pt x="2286037" y="2286036"/>
                  </a:moveTo>
                  <a:lnTo>
                    <a:pt x="0" y="2286036"/>
                  </a:lnTo>
                  <a:lnTo>
                    <a:pt x="0" y="0"/>
                  </a:lnTo>
                  <a:lnTo>
                    <a:pt x="2286037" y="2286036"/>
                  </a:lnTo>
                  <a:close/>
                </a:path>
              </a:pathLst>
            </a:custGeom>
            <a:solidFill>
              <a:schemeClr val="accent6"/>
            </a:solidFill>
            <a:ln w="0" cap="flat">
              <a:noFill/>
              <a:prstDash val="solid"/>
              <a:miter/>
            </a:ln>
          </p:spPr>
          <p:txBody>
            <a:bodyPr rtlCol="0" anchor="ctr"/>
            <a:lstStyle/>
            <a:p>
              <a:endParaRPr lang="nl-NL" sz="2560"/>
            </a:p>
          </p:txBody>
        </p:sp>
        <p:sp>
          <p:nvSpPr>
            <p:cNvPr id="37" name="Vrije vorm: vorm 36">
              <a:extLst>
                <a:ext uri="{FF2B5EF4-FFF2-40B4-BE49-F238E27FC236}">
                  <a16:creationId xmlns:a16="http://schemas.microsoft.com/office/drawing/2014/main" id="{338163DE-406C-D74C-77C8-EB0938CE5415}"/>
                </a:ext>
              </a:extLst>
            </p:cNvPr>
            <p:cNvSpPr/>
            <p:nvPr/>
          </p:nvSpPr>
          <p:spPr>
            <a:xfrm rot="10800000">
              <a:off x="6092462" y="613"/>
              <a:ext cx="1219906" cy="2439811"/>
            </a:xfrm>
            <a:custGeom>
              <a:avLst/>
              <a:gdLst>
                <a:gd name="connsiteX0" fmla="*/ 1143013 w 1143013"/>
                <a:gd name="connsiteY0" fmla="*/ 0 h 2286025"/>
                <a:gd name="connsiteX1" fmla="*/ 1143013 w 1143013"/>
                <a:gd name="connsiteY1" fmla="*/ 2286026 h 2286025"/>
                <a:gd name="connsiteX2" fmla="*/ 0 w 1143013"/>
                <a:gd name="connsiteY2" fmla="*/ 1143013 h 2286025"/>
                <a:gd name="connsiteX3" fmla="*/ 1143013 w 1143013"/>
                <a:gd name="connsiteY3" fmla="*/ 0 h 2286025"/>
              </a:gdLst>
              <a:ahLst/>
              <a:cxnLst>
                <a:cxn ang="0">
                  <a:pos x="connsiteX0" y="connsiteY0"/>
                </a:cxn>
                <a:cxn ang="0">
                  <a:pos x="connsiteX1" y="connsiteY1"/>
                </a:cxn>
                <a:cxn ang="0">
                  <a:pos x="connsiteX2" y="connsiteY2"/>
                </a:cxn>
                <a:cxn ang="0">
                  <a:pos x="connsiteX3" y="connsiteY3"/>
                </a:cxn>
              </a:cxnLst>
              <a:rect l="l" t="t" r="r" b="b"/>
              <a:pathLst>
                <a:path w="1143013" h="2286025">
                  <a:moveTo>
                    <a:pt x="1143013" y="0"/>
                  </a:moveTo>
                  <a:lnTo>
                    <a:pt x="1143013" y="2286026"/>
                  </a:lnTo>
                  <a:cubicBezTo>
                    <a:pt x="511785" y="2286026"/>
                    <a:pt x="0" y="1774241"/>
                    <a:pt x="0" y="1143013"/>
                  </a:cubicBezTo>
                  <a:cubicBezTo>
                    <a:pt x="0" y="511785"/>
                    <a:pt x="511785" y="0"/>
                    <a:pt x="1143013" y="0"/>
                  </a:cubicBezTo>
                  <a:close/>
                </a:path>
              </a:pathLst>
            </a:custGeom>
            <a:solidFill>
              <a:schemeClr val="accent4"/>
            </a:solidFill>
            <a:ln w="0" cap="flat">
              <a:noFill/>
              <a:prstDash val="solid"/>
              <a:miter/>
            </a:ln>
          </p:spPr>
          <p:txBody>
            <a:bodyPr rtlCol="0" anchor="ctr"/>
            <a:lstStyle/>
            <a:p>
              <a:endParaRPr lang="nl-NL" sz="2560"/>
            </a:p>
          </p:txBody>
        </p:sp>
        <p:sp>
          <p:nvSpPr>
            <p:cNvPr id="38" name="Vrije vorm: vorm 37">
              <a:extLst>
                <a:ext uri="{FF2B5EF4-FFF2-40B4-BE49-F238E27FC236}">
                  <a16:creationId xmlns:a16="http://schemas.microsoft.com/office/drawing/2014/main" id="{D4AA38CC-0CF1-283A-A334-0A47D8A86A74}"/>
                </a:ext>
              </a:extLst>
            </p:cNvPr>
            <p:cNvSpPr/>
            <p:nvPr/>
          </p:nvSpPr>
          <p:spPr>
            <a:xfrm rot="10800000">
              <a:off x="2436503" y="2439818"/>
              <a:ext cx="2439811" cy="2439811"/>
            </a:xfrm>
            <a:custGeom>
              <a:avLst/>
              <a:gdLst>
                <a:gd name="connsiteX0" fmla="*/ 0 w 2286025"/>
                <a:gd name="connsiteY0" fmla="*/ 0 h 2286025"/>
                <a:gd name="connsiteX1" fmla="*/ 2286026 w 2286025"/>
                <a:gd name="connsiteY1" fmla="*/ 0 h 2286025"/>
                <a:gd name="connsiteX2" fmla="*/ 2286026 w 2286025"/>
                <a:gd name="connsiteY2" fmla="*/ 2286026 h 2286025"/>
                <a:gd name="connsiteX3" fmla="*/ 0 w 2286025"/>
                <a:gd name="connsiteY3" fmla="*/ 2286026 h 2286025"/>
              </a:gdLst>
              <a:ahLst/>
              <a:cxnLst>
                <a:cxn ang="0">
                  <a:pos x="connsiteX0" y="connsiteY0"/>
                </a:cxn>
                <a:cxn ang="0">
                  <a:pos x="connsiteX1" y="connsiteY1"/>
                </a:cxn>
                <a:cxn ang="0">
                  <a:pos x="connsiteX2" y="connsiteY2"/>
                </a:cxn>
                <a:cxn ang="0">
                  <a:pos x="connsiteX3" y="connsiteY3"/>
                </a:cxn>
              </a:cxnLst>
              <a:rect l="l" t="t" r="r" b="b"/>
              <a:pathLst>
                <a:path w="2286025" h="2286025">
                  <a:moveTo>
                    <a:pt x="0" y="0"/>
                  </a:moveTo>
                  <a:lnTo>
                    <a:pt x="2286026" y="0"/>
                  </a:lnTo>
                  <a:lnTo>
                    <a:pt x="2286026" y="2286026"/>
                  </a:lnTo>
                  <a:lnTo>
                    <a:pt x="0" y="2286026"/>
                  </a:lnTo>
                  <a:close/>
                </a:path>
              </a:pathLst>
            </a:custGeom>
            <a:solidFill>
              <a:srgbClr val="123F93"/>
            </a:solidFill>
            <a:ln w="0" cap="flat">
              <a:noFill/>
              <a:prstDash val="solid"/>
              <a:miter/>
            </a:ln>
          </p:spPr>
          <p:txBody>
            <a:bodyPr rtlCol="0" anchor="ctr"/>
            <a:lstStyle/>
            <a:p>
              <a:endParaRPr lang="nl-NL" sz="2560"/>
            </a:p>
          </p:txBody>
        </p:sp>
        <p:sp>
          <p:nvSpPr>
            <p:cNvPr id="39" name="Vrije vorm: vorm 38">
              <a:extLst>
                <a:ext uri="{FF2B5EF4-FFF2-40B4-BE49-F238E27FC236}">
                  <a16:creationId xmlns:a16="http://schemas.microsoft.com/office/drawing/2014/main" id="{A9CE4EB0-A0FC-4DF3-14C1-33C6C3363551}"/>
                </a:ext>
              </a:extLst>
            </p:cNvPr>
            <p:cNvSpPr/>
            <p:nvPr/>
          </p:nvSpPr>
          <p:spPr>
            <a:xfrm rot="5400000">
              <a:off x="9144314"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sp>
          <p:nvSpPr>
            <p:cNvPr id="40" name="Vrije vorm: vorm 39">
              <a:extLst>
                <a:ext uri="{FF2B5EF4-FFF2-40B4-BE49-F238E27FC236}">
                  <a16:creationId xmlns:a16="http://schemas.microsoft.com/office/drawing/2014/main" id="{5721DBB0-BD72-473D-5AEA-59403DC4F6B8}"/>
                </a:ext>
              </a:extLst>
            </p:cNvPr>
            <p:cNvSpPr/>
            <p:nvPr/>
          </p:nvSpPr>
          <p:spPr>
            <a:xfrm rot="16200000">
              <a:off x="10364772" y="3049175"/>
              <a:ext cx="2439811" cy="1219905"/>
            </a:xfrm>
            <a:custGeom>
              <a:avLst/>
              <a:gdLst>
                <a:gd name="connsiteX0" fmla="*/ 0 w 2286025"/>
                <a:gd name="connsiteY0" fmla="*/ 1143013 h 1143012"/>
                <a:gd name="connsiteX1" fmla="*/ 2286026 w 2286025"/>
                <a:gd name="connsiteY1" fmla="*/ 1143013 h 1143012"/>
                <a:gd name="connsiteX2" fmla="*/ 1143013 w 2286025"/>
                <a:gd name="connsiteY2" fmla="*/ 0 h 1143012"/>
                <a:gd name="connsiteX3" fmla="*/ 0 w 2286025"/>
                <a:gd name="connsiteY3" fmla="*/ 1143013 h 1143012"/>
              </a:gdLst>
              <a:ahLst/>
              <a:cxnLst>
                <a:cxn ang="0">
                  <a:pos x="connsiteX0" y="connsiteY0"/>
                </a:cxn>
                <a:cxn ang="0">
                  <a:pos x="connsiteX1" y="connsiteY1"/>
                </a:cxn>
                <a:cxn ang="0">
                  <a:pos x="connsiteX2" y="connsiteY2"/>
                </a:cxn>
                <a:cxn ang="0">
                  <a:pos x="connsiteX3" y="connsiteY3"/>
                </a:cxn>
              </a:cxnLst>
              <a:rect l="l" t="t" r="r" b="b"/>
              <a:pathLst>
                <a:path w="2286025" h="1143012">
                  <a:moveTo>
                    <a:pt x="0" y="1143013"/>
                  </a:moveTo>
                  <a:lnTo>
                    <a:pt x="2286026" y="1143013"/>
                  </a:lnTo>
                  <a:lnTo>
                    <a:pt x="1143013" y="0"/>
                  </a:lnTo>
                  <a:lnTo>
                    <a:pt x="0" y="1143013"/>
                  </a:lnTo>
                  <a:close/>
                </a:path>
              </a:pathLst>
            </a:custGeom>
            <a:solidFill>
              <a:schemeClr val="accent1"/>
            </a:solidFill>
            <a:ln w="0" cap="flat">
              <a:noFill/>
              <a:prstDash val="solid"/>
              <a:miter/>
            </a:ln>
          </p:spPr>
          <p:txBody>
            <a:bodyPr rtlCol="0" anchor="ctr"/>
            <a:lstStyle/>
            <a:p>
              <a:endParaRPr lang="nl-NL" sz="2560"/>
            </a:p>
          </p:txBody>
        </p:sp>
      </p:grpSp>
    </p:spTree>
    <p:extLst>
      <p:ext uri="{BB962C8B-B14F-4D97-AF65-F5344CB8AC3E}">
        <p14:creationId xmlns:p14="http://schemas.microsoft.com/office/powerpoint/2010/main" val="3189485916"/>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6.sv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image" Target="../media/image5.png"/><Relationship Id="rId5" Type="http://schemas.openxmlformats.org/officeDocument/2006/relationships/slideLayout" Target="../slideLayouts/slideLayout16.xml"/><Relationship Id="rId10" Type="http://schemas.openxmlformats.org/officeDocument/2006/relationships/theme" Target="../theme/theme2.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image" Target="../media/image6.svg"/><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image" Target="../media/image5.png"/><Relationship Id="rId5" Type="http://schemas.openxmlformats.org/officeDocument/2006/relationships/slideLayout" Target="../slideLayouts/slideLayout25.xml"/><Relationship Id="rId10" Type="http://schemas.openxmlformats.org/officeDocument/2006/relationships/theme" Target="../theme/theme3.xml"/><Relationship Id="rId4" Type="http://schemas.openxmlformats.org/officeDocument/2006/relationships/slideLayout" Target="../slideLayouts/slideLayout24.xml"/><Relationship Id="rId9" Type="http://schemas.openxmlformats.org/officeDocument/2006/relationships/slideLayout" Target="../slideLayouts/slideLayout2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0118" y="136025"/>
            <a:ext cx="15705282" cy="863693"/>
          </a:xfrm>
          <a:prstGeom prst="rect">
            <a:avLst/>
          </a:prstGeom>
        </p:spPr>
        <p:txBody>
          <a:bodyPr vert="horz" lIns="91440" tIns="45720" rIns="91440" bIns="45720" rtlCol="0" anchor="t" anchorCtr="0">
            <a:noAutofit/>
          </a:bodyPr>
          <a:lstStyle/>
          <a:p>
            <a:r>
              <a:rPr lang="nl-BE" noProof="0" dirty="0"/>
              <a:t>Klik om de stijl te bewerken</a:t>
            </a:r>
          </a:p>
        </p:txBody>
      </p:sp>
      <p:sp>
        <p:nvSpPr>
          <p:cNvPr id="3" name="Text Placeholder 2"/>
          <p:cNvSpPr>
            <a:spLocks noGrp="1"/>
          </p:cNvSpPr>
          <p:nvPr>
            <p:ph type="body" idx="1"/>
          </p:nvPr>
        </p:nvSpPr>
        <p:spPr>
          <a:xfrm>
            <a:off x="835825" y="1194364"/>
            <a:ext cx="15699575" cy="6696000"/>
          </a:xfrm>
          <a:prstGeom prst="rect">
            <a:avLst/>
          </a:prstGeom>
        </p:spPr>
        <p:txBody>
          <a:bodyPr vert="horz" lIns="91440" tIns="45720" rIns="91440" bIns="45720" rtlCol="0">
            <a:normAutofit/>
          </a:bodyPr>
          <a:lstStyle/>
          <a:p>
            <a:pPr lvl="0"/>
            <a:r>
              <a:rPr lang="nl-BE" noProof="0" dirty="0"/>
              <a:t>Click </a:t>
            </a:r>
            <a:r>
              <a:rPr lang="nl-BE" noProof="0" dirty="0" err="1"/>
              <a:t>to</a:t>
            </a:r>
            <a:r>
              <a:rPr lang="nl-BE" noProof="0" dirty="0"/>
              <a:t> </a:t>
            </a:r>
            <a:r>
              <a:rPr lang="nl-BE" noProof="0" dirty="0" err="1"/>
              <a:t>edit</a:t>
            </a:r>
            <a:r>
              <a:rPr lang="nl-BE" noProof="0" dirty="0"/>
              <a:t> Master </a:t>
            </a:r>
            <a:r>
              <a:rPr lang="nl-BE" noProof="0" dirty="0" err="1"/>
              <a:t>text</a:t>
            </a:r>
            <a:r>
              <a:rPr lang="nl-BE" noProof="0" dirty="0"/>
              <a:t> </a:t>
            </a:r>
            <a:r>
              <a:rPr lang="nl-BE" noProof="0" dirty="0" err="1"/>
              <a:t>styles</a:t>
            </a:r>
            <a:endParaRPr lang="nl-BE" noProof="0" dirty="0"/>
          </a:p>
          <a:p>
            <a:pPr lvl="1"/>
            <a:r>
              <a:rPr lang="nl-BE" noProof="0" dirty="0"/>
              <a:t>Second level</a:t>
            </a:r>
          </a:p>
          <a:p>
            <a:pPr lvl="2"/>
            <a:r>
              <a:rPr lang="nl-BE" noProof="0" dirty="0" err="1"/>
              <a:t>Third</a:t>
            </a:r>
            <a:r>
              <a:rPr lang="nl-BE" noProof="0" dirty="0"/>
              <a:t> level</a:t>
            </a:r>
          </a:p>
        </p:txBody>
      </p:sp>
      <p:sp>
        <p:nvSpPr>
          <p:cNvPr id="4" name="Date Placeholder 3"/>
          <p:cNvSpPr>
            <a:spLocks noGrp="1"/>
          </p:cNvSpPr>
          <p:nvPr>
            <p:ph type="dt" sz="half" idx="2"/>
          </p:nvPr>
        </p:nvSpPr>
        <p:spPr>
          <a:xfrm>
            <a:off x="4072394" y="8948703"/>
            <a:ext cx="2297926" cy="519289"/>
          </a:xfrm>
          <a:prstGeom prst="rect">
            <a:avLst/>
          </a:prstGeom>
        </p:spPr>
        <p:txBody>
          <a:bodyPr vert="horz" lIns="91440" tIns="45720" rIns="91440" bIns="45720" rtlCol="0" anchor="ctr"/>
          <a:lstStyle>
            <a:lvl1pPr algn="l">
              <a:defRPr sz="1707">
                <a:solidFill>
                  <a:schemeClr val="tx1">
                    <a:tint val="75000"/>
                  </a:schemeClr>
                </a:solidFill>
              </a:defRPr>
            </a:lvl1pPr>
          </a:lstStyle>
          <a:p>
            <a:fld id="{FA870D1A-A3AB-4E9F-892E-C45B5A80FDBF}" type="datetime1">
              <a:rPr lang="nl-BE" noProof="0" smtClean="0"/>
              <a:t>2/11/2025</a:t>
            </a:fld>
            <a:endParaRPr lang="nl-BE" noProof="0"/>
          </a:p>
        </p:txBody>
      </p:sp>
      <p:sp>
        <p:nvSpPr>
          <p:cNvPr id="5" name="Footer Placeholder 4"/>
          <p:cNvSpPr>
            <a:spLocks noGrp="1"/>
          </p:cNvSpPr>
          <p:nvPr>
            <p:ph type="ftr" sz="quarter" idx="3"/>
          </p:nvPr>
        </p:nvSpPr>
        <p:spPr>
          <a:xfrm>
            <a:off x="6810236" y="8994423"/>
            <a:ext cx="8353564" cy="437932"/>
          </a:xfrm>
          <a:prstGeom prst="rect">
            <a:avLst/>
          </a:prstGeom>
        </p:spPr>
        <p:txBody>
          <a:bodyPr vert="horz" lIns="91440" tIns="45720" rIns="91440" bIns="45720" rtlCol="0" anchor="ctr"/>
          <a:lstStyle>
            <a:lvl1pPr algn="ctr">
              <a:defRPr sz="1707">
                <a:solidFill>
                  <a:schemeClr val="tx1">
                    <a:tint val="75000"/>
                  </a:schemeClr>
                </a:solidFill>
              </a:defRPr>
            </a:lvl1pPr>
          </a:lstStyle>
          <a:p>
            <a:endParaRPr lang="nl-BE" noProof="0"/>
          </a:p>
        </p:txBody>
      </p:sp>
      <p:sp>
        <p:nvSpPr>
          <p:cNvPr id="6" name="Slide Number Placeholder 5"/>
          <p:cNvSpPr>
            <a:spLocks noGrp="1"/>
          </p:cNvSpPr>
          <p:nvPr>
            <p:ph type="sldNum" sz="quarter" idx="4"/>
          </p:nvPr>
        </p:nvSpPr>
        <p:spPr>
          <a:xfrm>
            <a:off x="15590520" y="8948703"/>
            <a:ext cx="921880" cy="519289"/>
          </a:xfrm>
          <a:prstGeom prst="rect">
            <a:avLst/>
          </a:prstGeom>
        </p:spPr>
        <p:txBody>
          <a:bodyPr vert="horz" lIns="91440" tIns="45720" rIns="91440" bIns="45720" rtlCol="0" anchor="ctr"/>
          <a:lstStyle>
            <a:lvl1pPr algn="r">
              <a:defRPr sz="1707">
                <a:solidFill>
                  <a:srgbClr val="1E64C8"/>
                </a:solidFill>
              </a:defRPr>
            </a:lvl1pPr>
          </a:lstStyle>
          <a:p>
            <a:fld id="{7AE184E0-0BD4-4705-A12B-9B71DDE63301}" type="slidenum">
              <a:rPr lang="nl-BE" noProof="0" smtClean="0"/>
              <a:pPr/>
              <a:t>‹#›</a:t>
            </a:fld>
            <a:endParaRPr lang="nl-BE" noProof="0"/>
          </a:p>
        </p:txBody>
      </p:sp>
      <p:sp>
        <p:nvSpPr>
          <p:cNvPr id="7" name="Title positioning box" hidden="1"/>
          <p:cNvSpPr/>
          <p:nvPr userDrawn="1"/>
        </p:nvSpPr>
        <p:spPr>
          <a:xfrm>
            <a:off x="927265" y="367200"/>
            <a:ext cx="15480000" cy="463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8" name="Text positoning box" hidden="1"/>
          <p:cNvSpPr/>
          <p:nvPr userDrawn="1"/>
        </p:nvSpPr>
        <p:spPr>
          <a:xfrm>
            <a:off x="927265" y="1584000"/>
            <a:ext cx="82296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Logo positioning box" hidden="1"/>
          <p:cNvSpPr/>
          <p:nvPr userDrawn="1"/>
        </p:nvSpPr>
        <p:spPr>
          <a:xfrm flipV="1">
            <a:off x="928800" y="7878842"/>
            <a:ext cx="15478465" cy="141635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11" name="Picture 10"/>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483617" y="7906160"/>
            <a:ext cx="2308379" cy="1847440"/>
          </a:xfrm>
          <a:prstGeom prst="rect">
            <a:avLst/>
          </a:prstGeom>
        </p:spPr>
      </p:pic>
      <p:sp>
        <p:nvSpPr>
          <p:cNvPr id="12" name="Text positoning box" hidden="1"/>
          <p:cNvSpPr/>
          <p:nvPr userDrawn="1"/>
        </p:nvSpPr>
        <p:spPr>
          <a:xfrm>
            <a:off x="9172105" y="1584000"/>
            <a:ext cx="914400" cy="630000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Text positoning box" hidden="1"/>
          <p:cNvSpPr/>
          <p:nvPr userDrawn="1"/>
        </p:nvSpPr>
        <p:spPr>
          <a:xfrm>
            <a:off x="10099369" y="1356360"/>
            <a:ext cx="6307895" cy="6527640"/>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770589907"/>
      </p:ext>
    </p:extLst>
  </p:cSld>
  <p:clrMap bg1="lt1" tx1="dk1" bg2="lt2" tx2="dk2" accent1="accent1" accent2="accent2" accent3="accent3" accent4="accent4" accent5="accent5" accent6="accent6" hlink="hlink" folHlink="folHlink"/>
  <p:sldLayoutIdLst>
    <p:sldLayoutId id="2147483681" r:id="rId1"/>
    <p:sldLayoutId id="2147483661" r:id="rId2"/>
    <p:sldLayoutId id="2147483682" r:id="rId3"/>
    <p:sldLayoutId id="2147483662" r:id="rId4"/>
    <p:sldLayoutId id="2147483674" r:id="rId5"/>
    <p:sldLayoutId id="2147483680" r:id="rId6"/>
    <p:sldLayoutId id="2147483675" r:id="rId7"/>
    <p:sldLayoutId id="2147483677" r:id="rId8"/>
    <p:sldLayoutId id="2147483678" r:id="rId9"/>
    <p:sldLayoutId id="2147483676" r:id="rId10"/>
    <p:sldLayoutId id="2147483679" r:id="rId11"/>
  </p:sldLayoutIdLst>
  <p:hf hdr="0" ftr="0" dt="0"/>
  <p:txStyles>
    <p:titleStyle>
      <a:lvl1pPr algn="l" defTabSz="1300368" rtl="0" eaLnBrk="1" latinLnBrk="0" hangingPunct="1">
        <a:lnSpc>
          <a:spcPct val="90000"/>
        </a:lnSpc>
        <a:spcBef>
          <a:spcPct val="0"/>
        </a:spcBef>
        <a:buNone/>
        <a:defRPr sz="5400" u="sng" kern="1200" cap="all" baseline="0">
          <a:solidFill>
            <a:srgbClr val="1E64C8"/>
          </a:solidFill>
          <a:uFill>
            <a:solidFill>
              <a:srgbClr val="1E64C8"/>
            </a:solidFill>
          </a:uFill>
          <a:latin typeface="+mj-lt"/>
          <a:ea typeface="+mj-ea"/>
          <a:cs typeface="+mj-cs"/>
        </a:defRPr>
      </a:lvl1pPr>
    </p:titleStyle>
    <p:bodyStyle>
      <a:lvl1pPr marL="536575" indent="-45085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69988" indent="-45085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5775" indent="-450000"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1441450" indent="-550863" algn="l" defTabSz="1300368"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600325" indent="-1158875" algn="l" defTabSz="1300368" rtl="0" eaLnBrk="1" latinLnBrk="0" hangingPunct="1">
        <a:lnSpc>
          <a:spcPct val="120000"/>
        </a:lnSpc>
        <a:spcBef>
          <a:spcPts val="0"/>
        </a:spcBef>
        <a:buFont typeface="Arial" panose="020B0604020202020204" pitchFamily="34" charset="0"/>
        <a:buNone/>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p:bodyStyle>
    <p:other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4947036" y="10092965"/>
            <a:ext cx="689195" cy="689237"/>
          </a:xfrm>
          <a:prstGeom prst="rect">
            <a:avLst/>
          </a:prstGeom>
          <a:solidFill>
            <a:srgbClr val="E82E4F"/>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6649480" y="10092965"/>
            <a:ext cx="689195" cy="689237"/>
          </a:xfrm>
          <a:prstGeom prst="rect">
            <a:avLst/>
          </a:prstGeom>
          <a:solidFill>
            <a:srgbClr val="FBB60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5798259" y="10092965"/>
            <a:ext cx="689195" cy="689237"/>
          </a:xfrm>
          <a:prstGeom prst="rect">
            <a:avLst/>
          </a:prstGeom>
          <a:solidFill>
            <a:srgbClr val="00A042"/>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14095812" y="10092965"/>
            <a:ext cx="689195" cy="689237"/>
          </a:xfrm>
          <a:prstGeom prst="rect">
            <a:avLst/>
          </a:prstGeom>
          <a:solidFill>
            <a:srgbClr val="123F93"/>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11542437" y="10094079"/>
            <a:ext cx="689097" cy="689139"/>
          </a:xfrm>
          <a:prstGeom prst="rect">
            <a:avLst/>
          </a:prstGeom>
          <a:solidFill>
            <a:srgbClr val="ED631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10691312" y="10094079"/>
            <a:ext cx="689097" cy="689139"/>
          </a:xfrm>
          <a:prstGeom prst="rect">
            <a:avLst/>
          </a:prstGeom>
          <a:solidFill>
            <a:srgbClr val="01A2A6"/>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12393563" y="10094079"/>
            <a:ext cx="689097" cy="689139"/>
          </a:xfrm>
          <a:prstGeom prst="rect">
            <a:avLst/>
          </a:prstGeom>
          <a:solidFill>
            <a:srgbClr val="68398E"/>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13244688" y="10094079"/>
            <a:ext cx="689097" cy="689139"/>
          </a:xfrm>
          <a:prstGeom prst="rect">
            <a:avLst/>
          </a:prstGeom>
          <a:solidFill>
            <a:srgbClr val="14274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1192034" y="519290"/>
            <a:ext cx="14954607" cy="1885245"/>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83088" y="9132270"/>
            <a:ext cx="851323" cy="452294"/>
          </a:xfrm>
          <a:prstGeom prst="rect">
            <a:avLst/>
          </a:prstGeom>
        </p:spPr>
      </p:pic>
    </p:spTree>
    <p:extLst>
      <p:ext uri="{BB962C8B-B14F-4D97-AF65-F5344CB8AC3E}">
        <p14:creationId xmlns:p14="http://schemas.microsoft.com/office/powerpoint/2010/main" val="4106062483"/>
      </p:ext>
    </p:extLst>
  </p:cSld>
  <p:clrMap bg1="lt1" tx1="dk1" bg2="lt2" tx2="dk2" accent1="accent1" accent2="accent2" accent3="accent3" accent4="accent4" accent5="accent5" accent6="accent6" hlink="hlink" folHlink="folHlink"/>
  <p:sldLayoutIdLst>
    <p:sldLayoutId id="2147483665" r:id="rId1"/>
    <p:sldLayoutId id="2147483666" r:id="rId2"/>
    <p:sldLayoutId id="2147483667" r:id="rId3"/>
    <p:sldLayoutId id="2147483668" r:id="rId4"/>
    <p:sldLayoutId id="2147483669" r:id="rId5"/>
    <p:sldLayoutId id="2147483670" r:id="rId6"/>
    <p:sldLayoutId id="2147483671" r:id="rId7"/>
    <p:sldLayoutId id="2147483672" r:id="rId8"/>
    <p:sldLayoutId id="2147483673" r:id="rId9"/>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0B73330C-98C0-1B0D-52F8-45B9299D669A}"/>
              </a:ext>
            </a:extLst>
          </p:cNvPr>
          <p:cNvSpPr/>
          <p:nvPr userDrawn="1"/>
        </p:nvSpPr>
        <p:spPr>
          <a:xfrm>
            <a:off x="14947036" y="10092965"/>
            <a:ext cx="689195" cy="689237"/>
          </a:xfrm>
          <a:prstGeom prst="rect">
            <a:avLst/>
          </a:prstGeom>
          <a:solidFill>
            <a:srgbClr val="E82E4F"/>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E82E4F"/>
              </a:solidFill>
              <a:effectLst/>
              <a:uLnTx/>
              <a:uFillTx/>
              <a:latin typeface="Trebuchet MS"/>
              <a:ea typeface="+mn-ea"/>
              <a:cs typeface="+mn-cs"/>
            </a:endParaRPr>
          </a:p>
        </p:txBody>
      </p:sp>
      <p:sp>
        <p:nvSpPr>
          <p:cNvPr id="23" name="Rectangle 22">
            <a:extLst>
              <a:ext uri="{FF2B5EF4-FFF2-40B4-BE49-F238E27FC236}">
                <a16:creationId xmlns:a16="http://schemas.microsoft.com/office/drawing/2014/main" id="{5E373E07-4C75-D255-061A-8A962B0B8FBD}"/>
              </a:ext>
            </a:extLst>
          </p:cNvPr>
          <p:cNvSpPr/>
          <p:nvPr userDrawn="1"/>
        </p:nvSpPr>
        <p:spPr>
          <a:xfrm>
            <a:off x="16649480" y="10092965"/>
            <a:ext cx="689195" cy="689237"/>
          </a:xfrm>
          <a:prstGeom prst="rect">
            <a:avLst/>
          </a:prstGeom>
          <a:solidFill>
            <a:srgbClr val="FBB60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26" name="Rectangle 25">
            <a:extLst>
              <a:ext uri="{FF2B5EF4-FFF2-40B4-BE49-F238E27FC236}">
                <a16:creationId xmlns:a16="http://schemas.microsoft.com/office/drawing/2014/main" id="{90474E47-B448-ED97-4F01-A9F9D0BBF5C1}"/>
              </a:ext>
            </a:extLst>
          </p:cNvPr>
          <p:cNvSpPr/>
          <p:nvPr userDrawn="1"/>
        </p:nvSpPr>
        <p:spPr>
          <a:xfrm>
            <a:off x="15798259" y="10092965"/>
            <a:ext cx="689195" cy="689237"/>
          </a:xfrm>
          <a:prstGeom prst="rect">
            <a:avLst/>
          </a:prstGeom>
          <a:solidFill>
            <a:srgbClr val="00A042"/>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0" name="Rectangle 29">
            <a:extLst>
              <a:ext uri="{FF2B5EF4-FFF2-40B4-BE49-F238E27FC236}">
                <a16:creationId xmlns:a16="http://schemas.microsoft.com/office/drawing/2014/main" id="{570FA137-02D5-B271-7378-A8045B1D4BEE}"/>
              </a:ext>
            </a:extLst>
          </p:cNvPr>
          <p:cNvSpPr/>
          <p:nvPr userDrawn="1"/>
        </p:nvSpPr>
        <p:spPr>
          <a:xfrm>
            <a:off x="14095812" y="10092965"/>
            <a:ext cx="689195" cy="689237"/>
          </a:xfrm>
          <a:prstGeom prst="rect">
            <a:avLst/>
          </a:prstGeom>
          <a:solidFill>
            <a:srgbClr val="123F93"/>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3" name="Rectangle 32">
            <a:extLst>
              <a:ext uri="{FF2B5EF4-FFF2-40B4-BE49-F238E27FC236}">
                <a16:creationId xmlns:a16="http://schemas.microsoft.com/office/drawing/2014/main" id="{7FA26E3C-9DFD-5D6D-E082-13EF995483B4}"/>
              </a:ext>
            </a:extLst>
          </p:cNvPr>
          <p:cNvSpPr/>
          <p:nvPr userDrawn="1"/>
        </p:nvSpPr>
        <p:spPr>
          <a:xfrm>
            <a:off x="11542437" y="10094079"/>
            <a:ext cx="689097" cy="689139"/>
          </a:xfrm>
          <a:prstGeom prst="rect">
            <a:avLst/>
          </a:prstGeom>
          <a:solidFill>
            <a:srgbClr val="ED631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6" name="Rectangle 35">
            <a:extLst>
              <a:ext uri="{FF2B5EF4-FFF2-40B4-BE49-F238E27FC236}">
                <a16:creationId xmlns:a16="http://schemas.microsoft.com/office/drawing/2014/main" id="{E901917A-8EB8-3640-8362-1AA09C1E71AE}"/>
              </a:ext>
            </a:extLst>
          </p:cNvPr>
          <p:cNvSpPr/>
          <p:nvPr userDrawn="1"/>
        </p:nvSpPr>
        <p:spPr>
          <a:xfrm>
            <a:off x="10691312" y="10094079"/>
            <a:ext cx="689097" cy="689139"/>
          </a:xfrm>
          <a:prstGeom prst="rect">
            <a:avLst/>
          </a:prstGeom>
          <a:solidFill>
            <a:srgbClr val="01A2A6"/>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2" name="Rectangle 91">
            <a:extLst>
              <a:ext uri="{FF2B5EF4-FFF2-40B4-BE49-F238E27FC236}">
                <a16:creationId xmlns:a16="http://schemas.microsoft.com/office/drawing/2014/main" id="{59F41B0F-A427-209F-11F6-27BCED46708C}"/>
              </a:ext>
            </a:extLst>
          </p:cNvPr>
          <p:cNvSpPr/>
          <p:nvPr userDrawn="1"/>
        </p:nvSpPr>
        <p:spPr>
          <a:xfrm>
            <a:off x="12393563" y="10094079"/>
            <a:ext cx="689097" cy="689139"/>
          </a:xfrm>
          <a:prstGeom prst="rect">
            <a:avLst/>
          </a:prstGeom>
          <a:solidFill>
            <a:srgbClr val="68398E"/>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97" name="Rectangle 96">
            <a:extLst>
              <a:ext uri="{FF2B5EF4-FFF2-40B4-BE49-F238E27FC236}">
                <a16:creationId xmlns:a16="http://schemas.microsoft.com/office/drawing/2014/main" id="{658F2F93-6B04-1ED7-FDA9-4B522341BE6C}"/>
              </a:ext>
            </a:extLst>
          </p:cNvPr>
          <p:cNvSpPr/>
          <p:nvPr userDrawn="1"/>
        </p:nvSpPr>
        <p:spPr>
          <a:xfrm>
            <a:off x="13244688" y="10094079"/>
            <a:ext cx="689097" cy="689139"/>
          </a:xfrm>
          <a:prstGeom prst="rect">
            <a:avLst/>
          </a:prstGeom>
          <a:solidFill>
            <a:srgbClr val="14274C"/>
          </a:solidFill>
          <a:ln w="19050" cap="flat" cmpd="sng" algn="ctr">
            <a:noFill/>
            <a:prstDash val="solid"/>
            <a:miter lim="800000"/>
          </a:ln>
          <a:effectLst/>
        </p:spPr>
        <p:txBody>
          <a:bodyPr rtlCol="0" anchor="ctr"/>
          <a:lstStyle/>
          <a:p>
            <a:pPr marL="0" marR="0" lvl="0" indent="0" algn="ctr" defTabSz="1300368" eaLnBrk="1" fontAlgn="auto" latinLnBrk="0" hangingPunct="1">
              <a:lnSpc>
                <a:spcPct val="100000"/>
              </a:lnSpc>
              <a:spcBef>
                <a:spcPts val="0"/>
              </a:spcBef>
              <a:spcAft>
                <a:spcPts val="0"/>
              </a:spcAft>
              <a:buClrTx/>
              <a:buSzTx/>
              <a:buFontTx/>
              <a:buNone/>
              <a:tabLst/>
              <a:defRPr/>
            </a:pPr>
            <a:endParaRPr kumimoji="0" lang="en-BE" sz="2560" b="0" i="0" u="none" strike="noStrike" kern="0" cap="none" spc="0" normalizeH="0" baseline="0" noProof="0">
              <a:ln>
                <a:noFill/>
              </a:ln>
              <a:solidFill>
                <a:srgbClr val="FFFFFF"/>
              </a:solidFill>
              <a:effectLst/>
              <a:uLnTx/>
              <a:uFillTx/>
              <a:latin typeface="Trebuchet MS"/>
              <a:ea typeface="+mn-ea"/>
              <a:cs typeface="+mn-cs"/>
            </a:endParaRPr>
          </a:p>
        </p:txBody>
      </p:sp>
      <p:sp>
        <p:nvSpPr>
          <p:cNvPr id="3" name="Title Placeholder 2">
            <a:extLst>
              <a:ext uri="{FF2B5EF4-FFF2-40B4-BE49-F238E27FC236}">
                <a16:creationId xmlns:a16="http://schemas.microsoft.com/office/drawing/2014/main" id="{CBAADC2A-7985-CBAA-20D7-6B5B334A7288}"/>
              </a:ext>
            </a:extLst>
          </p:cNvPr>
          <p:cNvSpPr>
            <a:spLocks noGrp="1"/>
          </p:cNvSpPr>
          <p:nvPr>
            <p:ph type="title"/>
          </p:nvPr>
        </p:nvSpPr>
        <p:spPr>
          <a:xfrm>
            <a:off x="1192034" y="519290"/>
            <a:ext cx="14954607" cy="1885245"/>
          </a:xfrm>
          <a:prstGeom prst="rect">
            <a:avLst/>
          </a:prstGeom>
        </p:spPr>
        <p:txBody>
          <a:bodyPr vert="horz" lIns="91440" tIns="45720" rIns="91440" bIns="45720" rtlCol="0" anchor="ctr">
            <a:normAutofit/>
          </a:bodyPr>
          <a:lstStyle/>
          <a:p>
            <a:r>
              <a:rPr lang="en-US" dirty="0"/>
              <a:t>Click to edit Master title style</a:t>
            </a:r>
            <a:endParaRPr lang="en-BE" dirty="0"/>
          </a:p>
        </p:txBody>
      </p:sp>
      <p:pic>
        <p:nvPicPr>
          <p:cNvPr id="2" name="Graphic 1">
            <a:extLst>
              <a:ext uri="{FF2B5EF4-FFF2-40B4-BE49-F238E27FC236}">
                <a16:creationId xmlns:a16="http://schemas.microsoft.com/office/drawing/2014/main" id="{B89C4CD0-0C85-A877-E1B1-ABA52C8895D6}"/>
              </a:ext>
            </a:extLst>
          </p:cNvPr>
          <p:cNvPicPr>
            <a:picLocks noChangeAspect="1"/>
          </p:cNvPicPr>
          <p:nvPr userDrawn="1"/>
        </p:nvPicPr>
        <p:blipFill>
          <a:blip r:embed="rId11">
            <a:extLst>
              <a:ext uri="{96DAC541-7B7A-43D3-8B79-37D633B846F1}">
                <asvg:svgBlip xmlns:asvg="http://schemas.microsoft.com/office/drawing/2016/SVG/main" r:embed="rId12"/>
              </a:ext>
            </a:extLst>
          </a:blip>
          <a:stretch>
            <a:fillRect/>
          </a:stretch>
        </p:blipFill>
        <p:spPr>
          <a:xfrm>
            <a:off x="183088" y="9132270"/>
            <a:ext cx="851323" cy="452294"/>
          </a:xfrm>
          <a:prstGeom prst="rect">
            <a:avLst/>
          </a:prstGeom>
        </p:spPr>
      </p:pic>
    </p:spTree>
    <p:extLst>
      <p:ext uri="{BB962C8B-B14F-4D97-AF65-F5344CB8AC3E}">
        <p14:creationId xmlns:p14="http://schemas.microsoft.com/office/powerpoint/2010/main" val="4106062483"/>
      </p:ext>
    </p:extLst>
  </p:cSld>
  <p:clrMap bg1="lt1" tx1="dk1" bg2="lt2" tx2="dk2" accent1="accent1" accent2="accent2" accent3="accent3" accent4="accent4" accent5="accent5" accent6="accent6" hlink="hlink" folHlink="folHlink"/>
  <p:sldLayoutIdLst>
    <p:sldLayoutId id="2147483684" r:id="rId1"/>
    <p:sldLayoutId id="2147483685" r:id="rId2"/>
    <p:sldLayoutId id="2147483686" r:id="rId3"/>
    <p:sldLayoutId id="2147483687" r:id="rId4"/>
    <p:sldLayoutId id="2147483688" r:id="rId5"/>
    <p:sldLayoutId id="2147483689" r:id="rId6"/>
    <p:sldLayoutId id="2147483690" r:id="rId7"/>
    <p:sldLayoutId id="2147483691" r:id="rId8"/>
    <p:sldLayoutId id="2147483692" r:id="rId9"/>
  </p:sldLayoutIdLst>
  <p:hf sldNum="0" hdr="0" ftr="0"/>
  <p:txStyles>
    <p:titleStyle>
      <a:lvl1pPr algn="l" defTabSz="914400" rtl="0" eaLnBrk="1" latinLnBrk="0" hangingPunct="1">
        <a:lnSpc>
          <a:spcPct val="90000"/>
        </a:lnSpc>
        <a:spcBef>
          <a:spcPct val="0"/>
        </a:spcBef>
        <a:buNone/>
        <a:defRPr sz="4000" b="1" kern="1200">
          <a:solidFill>
            <a:schemeClr val="tx2"/>
          </a:solidFill>
          <a:latin typeface="+mj-lt"/>
          <a:ea typeface="+mj-ea"/>
          <a:cs typeface="+mj-cs"/>
        </a:defRPr>
      </a:lvl1pPr>
    </p:titleStyle>
    <p:bodyStyle>
      <a:lvl1pPr marL="228600" indent="-228600" algn="l" defTabSz="914400" rtl="0" eaLnBrk="1" latinLnBrk="0" hangingPunct="1">
        <a:lnSpc>
          <a:spcPct val="114000"/>
        </a:lnSpc>
        <a:spcBef>
          <a:spcPts val="10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1pPr>
      <a:lvl2pPr marL="6858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2pPr>
      <a:lvl3pPr marL="1143000" indent="-228600" algn="l" defTabSz="914400" rtl="0" eaLnBrk="1" latinLnBrk="0" hangingPunct="1">
        <a:lnSpc>
          <a:spcPct val="114000"/>
        </a:lnSpc>
        <a:spcBef>
          <a:spcPts val="500"/>
        </a:spcBef>
        <a:buClr>
          <a:srgbClr val="507AC2"/>
        </a:buClr>
        <a:buFont typeface="Wingdings" panose="05000000000000000000" pitchFamily="2" charset="2"/>
        <a:buChar char="§"/>
        <a:defRPr sz="2000" kern="1200">
          <a:solidFill>
            <a:srgbClr val="00205F">
              <a:alpha val="85000"/>
            </a:srgbClr>
          </a:solidFill>
          <a:latin typeface="+mn-lt"/>
          <a:ea typeface="+mn-ea"/>
          <a:cs typeface="+mn-cs"/>
        </a:defRPr>
      </a:lvl3pPr>
      <a:lvl4pPr marL="16002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4pPr>
      <a:lvl5pPr marL="2057400" indent="-228600" algn="l" defTabSz="914400" rtl="0" eaLnBrk="1" latinLnBrk="0" hangingPunct="1">
        <a:lnSpc>
          <a:spcPct val="114000"/>
        </a:lnSpc>
        <a:spcBef>
          <a:spcPts val="500"/>
        </a:spcBef>
        <a:buClr>
          <a:srgbClr val="507AC2"/>
        </a:buClr>
        <a:buFont typeface="Wingdings" panose="05000000000000000000" pitchFamily="2" charset="2"/>
        <a:buChar char="§"/>
        <a:defRPr sz="1800" kern="1200">
          <a:solidFill>
            <a:srgbClr val="00205F">
              <a:alpha val="85000"/>
            </a:srgb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xml"/><Relationship Id="rId1" Type="http://schemas.openxmlformats.org/officeDocument/2006/relationships/slideLayout" Target="../slideLayouts/slideLayout4.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image" Target="../media/image15.svg"/><Relationship Id="rId5" Type="http://schemas.openxmlformats.org/officeDocument/2006/relationships/image" Target="../media/image14.png"/><Relationship Id="rId10" Type="http://schemas.openxmlformats.org/officeDocument/2006/relationships/image" Target="../media/image19.svg"/><Relationship Id="rId4" Type="http://schemas.openxmlformats.org/officeDocument/2006/relationships/image" Target="../media/image13.svg"/><Relationship Id="rId9" Type="http://schemas.openxmlformats.org/officeDocument/2006/relationships/image" Target="../media/image18.png"/></Relationships>
</file>

<file path=ppt/slides/_rels/slide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0.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hyperlink" Target="https://docs.datacore.vib.be/data-storage/" TargetMode="External"/><Relationship Id="rId7" Type="http://schemas.openxmlformats.org/officeDocument/2006/relationships/image" Target="../media/image24.svg"/><Relationship Id="rId2" Type="http://schemas.microsoft.com/office/2018/10/relationships/comments" Target="../comments/modernComment_7BBF5A98_C829CA8.xml"/><Relationship Id="rId1" Type="http://schemas.openxmlformats.org/officeDocument/2006/relationships/slideLayout" Target="../slideLayouts/slideLayout2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hyperlink" Target="mailto:datacore.help@vib.be" TargetMode="External"/><Relationship Id="rId9" Type="http://schemas.openxmlformats.org/officeDocument/2006/relationships/image" Target="../media/image26.svg"/></Relationships>
</file>

<file path=ppt/slides/_rels/slide7.xml.rels><?xml version="1.0" encoding="UTF-8" standalone="yes"?>
<Relationships xmlns="http://schemas.openxmlformats.org/package/2006/relationships"><Relationship Id="rId8" Type="http://schemas.openxmlformats.org/officeDocument/2006/relationships/hyperlink" Target="https://ugentbe.sharepoint.com/sites/SelfService" TargetMode="External"/><Relationship Id="rId3" Type="http://schemas.openxmlformats.org/officeDocument/2006/relationships/hyperlink" Target="https://dictselfservice.ugent.be/index.php?page=requestform&amp;form=sharedNetworkDrive" TargetMode="External"/><Relationship Id="rId7" Type="http://schemas.openxmlformats.org/officeDocument/2006/relationships/hyperlink" Target="https://helpdesk.ugent.be/netdisk/en/sharesaclntfs.php"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hyperlink" Target="https://helpdesk.ugent.be/netdisk/en/sharesACL.php" TargetMode="External"/><Relationship Id="rId11" Type="http://schemas.openxmlformats.org/officeDocument/2006/relationships/hyperlink" Target="https://osf.io/nx8km/" TargetMode="External"/><Relationship Id="rId5" Type="http://schemas.openxmlformats.org/officeDocument/2006/relationships/hyperlink" Target="https://helpdesk.ugent.be/netdisk/snapshots.php" TargetMode="External"/><Relationship Id="rId10" Type="http://schemas.openxmlformats.org/officeDocument/2006/relationships/hyperlink" Target="https://helpdesk.ugent.be/teams/en/index.php" TargetMode="External"/><Relationship Id="rId4" Type="http://schemas.openxmlformats.org/officeDocument/2006/relationships/hyperlink" Target="https://helpdesk.ugent.be/netdisk/en/bestand_mount.php" TargetMode="External"/><Relationship Id="rId9" Type="http://schemas.openxmlformats.org/officeDocument/2006/relationships/hyperlink" Target="https://ugentbe.sharepoint.com/sites/M365Kennisplatform/"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32.svg"/><Relationship Id="rId3" Type="http://schemas.openxmlformats.org/officeDocument/2006/relationships/image" Target="../media/image27.png"/><Relationship Id="rId7" Type="http://schemas.openxmlformats.org/officeDocument/2006/relationships/image" Target="../media/image31.png"/><Relationship Id="rId12" Type="http://schemas.openxmlformats.org/officeDocument/2006/relationships/image" Target="../media/image36.sv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30.sv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svg"/><Relationship Id="rId4" Type="http://schemas.openxmlformats.org/officeDocument/2006/relationships/image" Target="../media/image28.svg"/><Relationship Id="rId9" Type="http://schemas.openxmlformats.org/officeDocument/2006/relationships/image" Target="../media/image33.png"/></Relationships>
</file>

<file path=ppt/slides/_rels/slide11.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hyperlink" Target="http://www.flaticon.com/" TargetMode="External"/><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 Id="rId14" Type="http://schemas.openxmlformats.org/officeDocument/2006/relationships/image" Target="../media/image48.svg"/></Relationships>
</file>

<file path=ppt/slides/_rels/slide12.xml.rels><?xml version="1.0" encoding="UTF-8" standalone="yes"?>
<Relationships xmlns="http://schemas.openxmlformats.org/package/2006/relationships"><Relationship Id="rId8" Type="http://schemas.openxmlformats.org/officeDocument/2006/relationships/image" Target="../media/image54.png"/><Relationship Id="rId13" Type="http://schemas.openxmlformats.org/officeDocument/2006/relationships/image" Target="../media/image44.svg"/><Relationship Id="rId18" Type="http://schemas.openxmlformats.org/officeDocument/2006/relationships/image" Target="../media/image46.svg"/><Relationship Id="rId3" Type="http://schemas.openxmlformats.org/officeDocument/2006/relationships/image" Target="../media/image49.png"/><Relationship Id="rId7" Type="http://schemas.openxmlformats.org/officeDocument/2006/relationships/image" Target="../media/image53.svg"/><Relationship Id="rId12" Type="http://schemas.openxmlformats.org/officeDocument/2006/relationships/image" Target="../media/image43.png"/><Relationship Id="rId17" Type="http://schemas.openxmlformats.org/officeDocument/2006/relationships/image" Target="../media/image45.png"/><Relationship Id="rId2" Type="http://schemas.openxmlformats.org/officeDocument/2006/relationships/notesSlide" Target="../notesSlides/notesSlide7.xml"/><Relationship Id="rId16" Type="http://schemas.openxmlformats.org/officeDocument/2006/relationships/image" Target="../media/image60.svg"/><Relationship Id="rId20" Type="http://schemas.openxmlformats.org/officeDocument/2006/relationships/image" Target="../media/image62.svg"/><Relationship Id="rId1" Type="http://schemas.openxmlformats.org/officeDocument/2006/relationships/slideLayout" Target="../slideLayouts/slideLayout4.xml"/><Relationship Id="rId6" Type="http://schemas.openxmlformats.org/officeDocument/2006/relationships/image" Target="../media/image52.png"/><Relationship Id="rId11" Type="http://schemas.openxmlformats.org/officeDocument/2006/relationships/image" Target="../media/image57.svg"/><Relationship Id="rId5" Type="http://schemas.openxmlformats.org/officeDocument/2006/relationships/image" Target="../media/image51.svg"/><Relationship Id="rId15" Type="http://schemas.openxmlformats.org/officeDocument/2006/relationships/image" Target="../media/image59.svg"/><Relationship Id="rId10" Type="http://schemas.openxmlformats.org/officeDocument/2006/relationships/image" Target="../media/image56.png"/><Relationship Id="rId19" Type="http://schemas.openxmlformats.org/officeDocument/2006/relationships/image" Target="../media/image61.png"/><Relationship Id="rId4" Type="http://schemas.openxmlformats.org/officeDocument/2006/relationships/image" Target="../media/image50.png"/><Relationship Id="rId9" Type="http://schemas.openxmlformats.org/officeDocument/2006/relationships/image" Target="../media/image55.svg"/><Relationship Id="rId14" Type="http://schemas.openxmlformats.org/officeDocument/2006/relationships/image" Target="../media/image58.png"/></Relationships>
</file>

<file path=ppt/slides/_rels/slide13.xml.rels><?xml version="1.0" encoding="UTF-8" standalone="yes"?>
<Relationships xmlns="http://schemas.openxmlformats.org/package/2006/relationships"><Relationship Id="rId3" Type="http://schemas.openxmlformats.org/officeDocument/2006/relationships/hyperlink" Target="https://www.ukdataservice.ac.uk/manage-data/format/recommended-formats" TargetMode="External"/><Relationship Id="rId2" Type="http://schemas.openxmlformats.org/officeDocument/2006/relationships/hyperlink" Target="https://dans.knaw.nl/en/file-formats/" TargetMode="External"/><Relationship Id="rId1" Type="http://schemas.openxmlformats.org/officeDocument/2006/relationships/slideLayout" Target="../slideLayouts/slideLayout4.xml"/><Relationship Id="rId5" Type="http://schemas.openxmlformats.org/officeDocument/2006/relationships/image" Target="../media/image63.png"/><Relationship Id="rId4" Type="http://schemas.openxmlformats.org/officeDocument/2006/relationships/hyperlink" Target="https://datacurationnetwork.org/outputs/data-curation-primers/" TargetMode="Externa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hyperlink" Target="https://phdcomics.com/comics/archive_print.php?comicid=1323" TargetMode="External"/><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hyperlink" Target="https://osf.io/hjntb/" TargetMode="External"/><Relationship Id="rId4" Type="http://schemas.openxmlformats.org/officeDocument/2006/relationships/image" Target="../media/image65.gif"/></Relationships>
</file>

<file path=ppt/slides/_rels/slide18.xml.rels><?xml version="1.0" encoding="UTF-8" standalone="yes"?>
<Relationships xmlns="http://schemas.openxmlformats.org/package/2006/relationships"><Relationship Id="rId3" Type="http://schemas.openxmlformats.org/officeDocument/2006/relationships/image" Target="../media/image66.jpeg"/><Relationship Id="rId2" Type="http://schemas.openxmlformats.org/officeDocument/2006/relationships/hyperlink" Target="https://osf.io/hjntb/" TargetMode="Externa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11.xml"/><Relationship Id="rId1" Type="http://schemas.openxmlformats.org/officeDocument/2006/relationships/slideLayout" Target="../slideLayouts/slideLayout4.xml"/><Relationship Id="rId5" Type="http://schemas.openxmlformats.org/officeDocument/2006/relationships/hyperlink" Target="https://libraries.mit.edu/data-management/store/organize/" TargetMode="External"/><Relationship Id="rId4" Type="http://schemas.openxmlformats.org/officeDocument/2006/relationships/image" Target="../media/image68.sv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8" Type="http://schemas.openxmlformats.org/officeDocument/2006/relationships/hyperlink" Target="http://www.nongnu.org/gcmd/" TargetMode="External"/><Relationship Id="rId3" Type="http://schemas.openxmlformats.org/officeDocument/2006/relationships/hyperlink" Target="http://www.bulkrenameutility.co.uk/" TargetMode="External"/><Relationship Id="rId7" Type="http://schemas.openxmlformats.org/officeDocument/2006/relationships/hyperlink" Target="https://www.qdev.de/?location=mac/exifrenamer" TargetMode="External"/><Relationship Id="rId2" Type="http://schemas.openxmlformats.org/officeDocument/2006/relationships/hyperlink" Target="http://www.antp.be/software/renamer" TargetMode="External"/><Relationship Id="rId1" Type="http://schemas.openxmlformats.org/officeDocument/2006/relationships/slideLayout" Target="../slideLayouts/slideLayout4.xml"/><Relationship Id="rId6" Type="http://schemas.openxmlformats.org/officeDocument/2006/relationships/hyperlink" Target="https://mrrsoftware.com/namechanger/" TargetMode="External"/><Relationship Id="rId5" Type="http://schemas.openxmlformats.org/officeDocument/2006/relationships/hyperlink" Target="https://renamer.com/" TargetMode="External"/><Relationship Id="rId10" Type="http://schemas.openxmlformats.org/officeDocument/2006/relationships/hyperlink" Target="https://doi.org/10.5281/zenodo.1212496" TargetMode="External"/><Relationship Id="rId4" Type="http://schemas.openxmlformats.org/officeDocument/2006/relationships/hyperlink" Target="https://www.ghisler.com/deutsch.htm" TargetMode="External"/><Relationship Id="rId9" Type="http://schemas.openxmlformats.org/officeDocument/2006/relationships/hyperlink" Target="http://gprename.sourceforge.net/"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Layout" Target="../slideLayouts/slideLayout4.xml"/><Relationship Id="rId6" Type="http://schemas.openxmlformats.org/officeDocument/2006/relationships/hyperlink" Target="https://osf.io/hjntb/" TargetMode="External"/><Relationship Id="rId5" Type="http://schemas.openxmlformats.org/officeDocument/2006/relationships/image" Target="../media/image72.svg"/><Relationship Id="rId4" Type="http://schemas.openxmlformats.org/officeDocument/2006/relationships/image" Target="../media/image71.png"/></Relationships>
</file>

<file path=ppt/slides/_rels/slide25.xml.rels><?xml version="1.0" encoding="UTF-8" standalone="yes"?>
<Relationships xmlns="http://schemas.openxmlformats.org/package/2006/relationships"><Relationship Id="rId3" Type="http://schemas.openxmlformats.org/officeDocument/2006/relationships/hyperlink" Target="https://osf.io/hjntb/" TargetMode="External"/><Relationship Id="rId7" Type="http://schemas.openxmlformats.org/officeDocument/2006/relationships/image" Target="../media/image74.sv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9.png"/><Relationship Id="rId5" Type="http://schemas.openxmlformats.org/officeDocument/2006/relationships/image" Target="../media/image73.svg"/><Relationship Id="rId4" Type="http://schemas.openxmlformats.org/officeDocument/2006/relationships/image" Target="../media/image71.png"/></Relationships>
</file>

<file path=ppt/slides/_rels/slide26.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76.png"/></Relationships>
</file>

<file path=ppt/slides/_rels/slide27.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16.xml"/><Relationship Id="rId1" Type="http://schemas.openxmlformats.org/officeDocument/2006/relationships/slideLayout" Target="../slideLayouts/slideLayout4.xml"/><Relationship Id="rId5" Type="http://schemas.openxmlformats.org/officeDocument/2006/relationships/hyperlink" Target="https://ugentbe.sharepoint.com/sites/PR202302595" TargetMode="External"/><Relationship Id="rId4" Type="http://schemas.openxmlformats.org/officeDocument/2006/relationships/image" Target="../media/image79.png"/></Relationships>
</file>

<file path=ppt/slides/_rels/slide29.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69.png"/><Relationship Id="rId7" Type="http://schemas.openxmlformats.org/officeDocument/2006/relationships/image" Target="../media/image80.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73.svg"/><Relationship Id="rId5" Type="http://schemas.openxmlformats.org/officeDocument/2006/relationships/image" Target="../media/image71.png"/><Relationship Id="rId4" Type="http://schemas.openxmlformats.org/officeDocument/2006/relationships/image" Target="../media/image74.svg"/></Relationships>
</file>

<file path=ppt/slides/_rels/slide30.xml.rels><?xml version="1.0" encoding="UTF-8" standalone="yes"?>
<Relationships xmlns="http://schemas.openxmlformats.org/package/2006/relationships"><Relationship Id="rId8" Type="http://schemas.openxmlformats.org/officeDocument/2006/relationships/image" Target="../media/image81.svg"/><Relationship Id="rId3" Type="http://schemas.openxmlformats.org/officeDocument/2006/relationships/image" Target="../media/image69.png"/><Relationship Id="rId7" Type="http://schemas.openxmlformats.org/officeDocument/2006/relationships/image" Target="../media/image80.png"/><Relationship Id="rId2" Type="http://schemas.openxmlformats.org/officeDocument/2006/relationships/notesSlide" Target="../notesSlides/notesSlide18.xml"/><Relationship Id="rId1" Type="http://schemas.openxmlformats.org/officeDocument/2006/relationships/slideLayout" Target="../slideLayouts/slideLayout4.xml"/><Relationship Id="rId6" Type="http://schemas.openxmlformats.org/officeDocument/2006/relationships/image" Target="../media/image73.svg"/><Relationship Id="rId5" Type="http://schemas.openxmlformats.org/officeDocument/2006/relationships/image" Target="../media/image71.png"/><Relationship Id="rId4" Type="http://schemas.openxmlformats.org/officeDocument/2006/relationships/image" Target="../media/image7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2.xml"/><Relationship Id="rId1" Type="http://schemas.openxmlformats.org/officeDocument/2006/relationships/slideLayout" Target="../slideLayouts/slideLayout4.xml"/><Relationship Id="rId5" Type="http://schemas.openxmlformats.org/officeDocument/2006/relationships/hyperlink" Target="https://keepachangelog.com/en/1.0.0/" TargetMode="External"/><Relationship Id="rId4" Type="http://schemas.openxmlformats.org/officeDocument/2006/relationships/image" Target="../media/image85.png"/></Relationships>
</file>

<file path=ppt/slides/_rels/slide36.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0.png"/><Relationship Id="rId2" Type="http://schemas.openxmlformats.org/officeDocument/2006/relationships/notesSlide" Target="../notesSlides/notesSlide23.xml"/><Relationship Id="rId1" Type="http://schemas.openxmlformats.org/officeDocument/2006/relationships/slideLayout" Target="../slideLayouts/slideLayout4.xml"/><Relationship Id="rId6" Type="http://schemas.openxmlformats.org/officeDocument/2006/relationships/image" Target="../media/image89.png"/><Relationship Id="rId5" Type="http://schemas.openxmlformats.org/officeDocument/2006/relationships/image" Target="../media/image88.png"/><Relationship Id="rId4" Type="http://schemas.openxmlformats.org/officeDocument/2006/relationships/image" Target="../media/image87.pn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notesSlide" Target="../notesSlides/notesSlide25.xml"/><Relationship Id="rId1" Type="http://schemas.openxmlformats.org/officeDocument/2006/relationships/slideLayout" Target="../slideLayouts/slideLayout4.xml"/><Relationship Id="rId5" Type="http://schemas.openxmlformats.org/officeDocument/2006/relationships/hyperlink" Target="https://support.microsoft.com/en-us/office/view-previous-versions-of-office-files-5c1e076f-a9c9-41b8-8ace-f77b9642e2c2" TargetMode="External"/><Relationship Id="rId4" Type="http://schemas.openxmlformats.org/officeDocument/2006/relationships/image" Target="../media/image92.png"/></Relationships>
</file>

<file path=ppt/slides/_rels/slide39.xml.rels><?xml version="1.0" encoding="UTF-8" standalone="yes"?>
<Relationships xmlns="http://schemas.openxmlformats.org/package/2006/relationships"><Relationship Id="rId3" Type="http://schemas.openxmlformats.org/officeDocument/2006/relationships/hyperlink" Target="https://support.microsoft.com/en-us/office/how-versioning-works-in-lists-and-libraries-0f6cd105-974f-44a4-aadb-43ac5bdfd247" TargetMode="External"/><Relationship Id="rId2" Type="http://schemas.openxmlformats.org/officeDocument/2006/relationships/notesSlide" Target="../notesSlides/notesSlide26.xml"/><Relationship Id="rId1" Type="http://schemas.openxmlformats.org/officeDocument/2006/relationships/slideLayout" Target="../slideLayouts/slideLayout4.xml"/><Relationship Id="rId5" Type="http://schemas.openxmlformats.org/officeDocument/2006/relationships/image" Target="../media/image94.png"/><Relationship Id="rId4" Type="http://schemas.openxmlformats.org/officeDocument/2006/relationships/image" Target="../media/image93.png"/></Relationships>
</file>

<file path=ppt/slides/_rels/slide40.xml.rels><?xml version="1.0" encoding="UTF-8" standalone="yes"?>
<Relationships xmlns="http://schemas.openxmlformats.org/package/2006/relationships"><Relationship Id="rId3" Type="http://schemas.openxmlformats.org/officeDocument/2006/relationships/hyperlink" Target="https://support.microsoft.com/en-us/office/how-versioning-works-in-lists-and-libraries-0f6cd105-974f-44a4-aadb-43ac5bdfd247" TargetMode="External"/><Relationship Id="rId2" Type="http://schemas.openxmlformats.org/officeDocument/2006/relationships/notesSlide" Target="../notesSlides/notesSlide27.xml"/><Relationship Id="rId1" Type="http://schemas.openxmlformats.org/officeDocument/2006/relationships/slideLayout" Target="../slideLayouts/slideLayout4.xml"/><Relationship Id="rId5" Type="http://schemas.openxmlformats.org/officeDocument/2006/relationships/image" Target="../media/image96.png"/><Relationship Id="rId4" Type="http://schemas.openxmlformats.org/officeDocument/2006/relationships/image" Target="../media/image95.png"/></Relationships>
</file>

<file path=ppt/slides/_rels/slide41.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28.xml"/><Relationship Id="rId1" Type="http://schemas.openxmlformats.org/officeDocument/2006/relationships/slideLayout" Target="../slideLayouts/slideLayout4.xml"/><Relationship Id="rId4" Type="http://schemas.openxmlformats.org/officeDocument/2006/relationships/hyperlink" Target="https://swcarpentry.github.io/git-novice/" TargetMode="Externa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0.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4.xml"/></Relationships>
</file>

<file path=ppt/slides/_rels/slide51.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4.xml"/></Relationships>
</file>

<file path=ppt/slides/_rels/slide52.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04.svg"/><Relationship Id="rId5" Type="http://schemas.openxmlformats.org/officeDocument/2006/relationships/image" Target="../media/image103.png"/><Relationship Id="rId4" Type="http://schemas.openxmlformats.org/officeDocument/2006/relationships/image" Target="../media/image102.svg"/></Relationships>
</file>

<file path=ppt/slides/_rels/slide5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3" Type="http://schemas.openxmlformats.org/officeDocument/2006/relationships/image" Target="../media/image108.png"/><Relationship Id="rId2" Type="http://schemas.microsoft.com/office/2018/10/relationships/comments" Target="../comments/modernComment_7BBF5A97_6F5BBB01.xml"/><Relationship Id="rId1" Type="http://schemas.openxmlformats.org/officeDocument/2006/relationships/slideLayout" Target="../slideLayouts/slideLayout11.xml"/><Relationship Id="rId4" Type="http://schemas.openxmlformats.org/officeDocument/2006/relationships/image" Target="../media/image109.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19D2-40DF-4A60-B9D0-84F0BDFB51CE}"/>
              </a:ext>
            </a:extLst>
          </p:cNvPr>
          <p:cNvSpPr>
            <a:spLocks noGrp="1"/>
          </p:cNvSpPr>
          <p:nvPr>
            <p:ph type="ctrTitle"/>
          </p:nvPr>
        </p:nvSpPr>
        <p:spPr/>
        <p:txBody>
          <a:bodyPr/>
          <a:lstStyle/>
          <a:p>
            <a:r>
              <a:rPr lang="nl-BE">
                <a:latin typeface="UGent Panno Text" panose="02000506040000040003" pitchFamily="50" charset="0"/>
              </a:rPr>
              <a:t>Storing research information </a:t>
            </a:r>
            <a:r>
              <a:rPr lang="nl-BE" err="1">
                <a:latin typeface="UGent Panno Text" panose="02000506040000040003" pitchFamily="50" charset="0"/>
              </a:rPr>
              <a:t>safely</a:t>
            </a:r>
            <a:endParaRPr lang="nl-BE">
              <a:latin typeface="UGent Panno Text" panose="02000506040000040003" pitchFamily="50" charset="0"/>
            </a:endParaRPr>
          </a:p>
        </p:txBody>
      </p:sp>
      <p:sp>
        <p:nvSpPr>
          <p:cNvPr id="3" name="Slide Number Placeholder 2">
            <a:extLst>
              <a:ext uri="{FF2B5EF4-FFF2-40B4-BE49-F238E27FC236}">
                <a16:creationId xmlns:a16="http://schemas.microsoft.com/office/drawing/2014/main" id="{C6794714-8335-42DC-A2D6-29803B875711}"/>
              </a:ext>
            </a:extLst>
          </p:cNvPr>
          <p:cNvSpPr>
            <a:spLocks noGrp="1"/>
          </p:cNvSpPr>
          <p:nvPr>
            <p:ph type="sldNum" sz="quarter" idx="4"/>
          </p:nvPr>
        </p:nvSpPr>
        <p:spPr/>
        <p:txBody>
          <a:bodyPr/>
          <a:lstStyle/>
          <a:p>
            <a:fld id="{7AE184E0-0BD4-4705-A12B-9B71DDE63301}" type="slidenum">
              <a:rPr lang="en-GB" noProof="0" smtClean="0"/>
              <a:pPr/>
              <a:t>1</a:t>
            </a:fld>
            <a:endParaRPr lang="en-GB" noProof="0"/>
          </a:p>
        </p:txBody>
      </p:sp>
    </p:spTree>
    <p:extLst>
      <p:ext uri="{BB962C8B-B14F-4D97-AF65-F5344CB8AC3E}">
        <p14:creationId xmlns:p14="http://schemas.microsoft.com/office/powerpoint/2010/main" val="29038693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a map&#10;&#10;Description generated with very high confidence">
            <a:extLst>
              <a:ext uri="{FF2B5EF4-FFF2-40B4-BE49-F238E27FC236}">
                <a16:creationId xmlns:a16="http://schemas.microsoft.com/office/drawing/2014/main" id="{C2D239B8-0FE1-48A2-8C35-16A27834AA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634744" y="854543"/>
            <a:ext cx="4416716" cy="4980552"/>
          </a:xfrm>
          <a:prstGeom prst="rect">
            <a:avLst/>
          </a:prstGeom>
          <a:ln>
            <a:noFill/>
          </a:ln>
          <a:effectLst>
            <a:outerShdw blurRad="292100" dist="139700" dir="2700000" algn="tl" rotWithShape="0">
              <a:srgbClr val="333333">
                <a:alpha val="65000"/>
              </a:srgbClr>
            </a:outerShdw>
          </a:effectLst>
        </p:spPr>
      </p:pic>
      <p:sp>
        <p:nvSpPr>
          <p:cNvPr id="7" name="Title 6"/>
          <p:cNvSpPr>
            <a:spLocks noGrp="1"/>
          </p:cNvSpPr>
          <p:nvPr>
            <p:ph type="title"/>
          </p:nvPr>
        </p:nvSpPr>
        <p:spPr/>
        <p:txBody>
          <a:bodyPr/>
          <a:lstStyle/>
          <a:p>
            <a:r>
              <a:rPr lang="en-US">
                <a:latin typeface="UGent Panno Text" panose="02000506040000040003" pitchFamily="50" charset="0"/>
              </a:rPr>
              <a:t>Things go wrong</a:t>
            </a:r>
            <a:endParaRPr lang="en-GB">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2</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6"/>
            <a:ext cx="7833512" cy="6644887"/>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86400" indent="0">
              <a:buNone/>
            </a:pPr>
            <a:endParaRPr lang="en-US">
              <a:latin typeface="UGent Panno Text" panose="02000506040000040003" pitchFamily="50" charset="0"/>
            </a:endParaRPr>
          </a:p>
        </p:txBody>
      </p:sp>
      <p:pic>
        <p:nvPicPr>
          <p:cNvPr id="4" name="Picture 3">
            <a:extLst>
              <a:ext uri="{FF2B5EF4-FFF2-40B4-BE49-F238E27FC236}">
                <a16:creationId xmlns:a16="http://schemas.microsoft.com/office/drawing/2014/main" id="{BBBC4C12-12F5-4018-9A5A-E627776E243F}"/>
              </a:ext>
            </a:extLst>
          </p:cNvPr>
          <p:cNvPicPr>
            <a:picLocks noChangeAspect="1"/>
          </p:cNvPicPr>
          <p:nvPr/>
        </p:nvPicPr>
        <p:blipFill>
          <a:blip r:embed="rId4"/>
          <a:stretch>
            <a:fillRect/>
          </a:stretch>
        </p:blipFill>
        <p:spPr>
          <a:xfrm>
            <a:off x="3065057" y="1182122"/>
            <a:ext cx="6524505" cy="3900683"/>
          </a:xfrm>
          <a:prstGeom prst="rect">
            <a:avLst/>
          </a:prstGeom>
          <a:ln>
            <a:noFill/>
          </a:ln>
          <a:effectLst>
            <a:outerShdw blurRad="292100" dist="139700" dir="2700000" algn="tl" rotWithShape="0">
              <a:srgbClr val="333333">
                <a:alpha val="65000"/>
              </a:srgbClr>
            </a:outerShdw>
          </a:effectLst>
        </p:spPr>
      </p:pic>
      <p:pic>
        <p:nvPicPr>
          <p:cNvPr id="5" name="Picture 4" descr="A train on a track with smoke coming out of it&#10;&#10;Description generated with high confidence">
            <a:extLst>
              <a:ext uri="{FF2B5EF4-FFF2-40B4-BE49-F238E27FC236}">
                <a16:creationId xmlns:a16="http://schemas.microsoft.com/office/drawing/2014/main" id="{85C14138-3C33-4AE5-BA1F-4D96BAF9318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847760" y="5299430"/>
            <a:ext cx="4556614" cy="3062045"/>
          </a:xfrm>
          <a:prstGeom prst="rect">
            <a:avLst/>
          </a:prstGeom>
          <a:ln>
            <a:noFill/>
          </a:ln>
          <a:effectLst>
            <a:outerShdw blurRad="292100" dist="139700" dir="2700000" algn="tl" rotWithShape="0">
              <a:srgbClr val="333333">
                <a:alpha val="65000"/>
              </a:srgbClr>
            </a:outerShdw>
          </a:effectLst>
        </p:spPr>
      </p:pic>
      <p:pic>
        <p:nvPicPr>
          <p:cNvPr id="6" name="Picture 5" descr="A screen shot of a computer&#10;&#10;Description generated with high confidence">
            <a:extLst>
              <a:ext uri="{FF2B5EF4-FFF2-40B4-BE49-F238E27FC236}">
                <a16:creationId xmlns:a16="http://schemas.microsoft.com/office/drawing/2014/main" id="{89C95F78-CB53-44A3-B206-0C83349512E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53042" y="4054890"/>
            <a:ext cx="3965751" cy="5275078"/>
          </a:xfrm>
          <a:prstGeom prst="rect">
            <a:avLst/>
          </a:prstGeom>
          <a:ln>
            <a:noFill/>
          </a:ln>
          <a:effectLst>
            <a:outerShdw blurRad="292100" dist="139700" dir="2700000" algn="tl" rotWithShape="0">
              <a:srgbClr val="333333">
                <a:alpha val="65000"/>
              </a:srgbClr>
            </a:outerShdw>
          </a:effectLst>
        </p:spPr>
      </p:pic>
      <p:sp>
        <p:nvSpPr>
          <p:cNvPr id="12" name="TextBox 11">
            <a:extLst>
              <a:ext uri="{FF2B5EF4-FFF2-40B4-BE49-F238E27FC236}">
                <a16:creationId xmlns:a16="http://schemas.microsoft.com/office/drawing/2014/main" id="{C3F78FB0-D368-4889-AFEF-8B8D3C01F668}"/>
              </a:ext>
            </a:extLst>
          </p:cNvPr>
          <p:cNvSpPr txBox="1"/>
          <p:nvPr/>
        </p:nvSpPr>
        <p:spPr>
          <a:xfrm rot="16200000">
            <a:off x="1166661" y="2477531"/>
            <a:ext cx="3345788" cy="516873"/>
          </a:xfrm>
          <a:prstGeom prst="rect">
            <a:avLst/>
          </a:prstGeom>
          <a:noFill/>
        </p:spPr>
        <p:txBody>
          <a:bodyPr wrap="none" rtlCol="0">
            <a:spAutoFit/>
          </a:bodyPr>
          <a:lstStyle/>
          <a:p>
            <a:pPr algn="l">
              <a:lnSpc>
                <a:spcPct val="120000"/>
              </a:lnSpc>
            </a:pPr>
            <a:r>
              <a:rPr lang="en-US" sz="2500">
                <a:latin typeface="UGent Panno Text" panose="02000506040000040003" pitchFamily="2" charset="0"/>
              </a:rPr>
              <a:t>Hacking/ransomware attacks</a:t>
            </a:r>
          </a:p>
        </p:txBody>
      </p:sp>
      <p:sp>
        <p:nvSpPr>
          <p:cNvPr id="14" name="TextBox 13">
            <a:extLst>
              <a:ext uri="{FF2B5EF4-FFF2-40B4-BE49-F238E27FC236}">
                <a16:creationId xmlns:a16="http://schemas.microsoft.com/office/drawing/2014/main" id="{7E371DB9-708B-450B-B0D0-4E09E1434E94}"/>
              </a:ext>
            </a:extLst>
          </p:cNvPr>
          <p:cNvSpPr txBox="1"/>
          <p:nvPr/>
        </p:nvSpPr>
        <p:spPr>
          <a:xfrm>
            <a:off x="5389236" y="8351729"/>
            <a:ext cx="979755" cy="516873"/>
          </a:xfrm>
          <a:prstGeom prst="rect">
            <a:avLst/>
          </a:prstGeom>
          <a:noFill/>
        </p:spPr>
        <p:txBody>
          <a:bodyPr wrap="none" rtlCol="0">
            <a:spAutoFit/>
          </a:bodyPr>
          <a:lstStyle/>
          <a:p>
            <a:pPr algn="l">
              <a:lnSpc>
                <a:spcPct val="120000"/>
              </a:lnSpc>
            </a:pPr>
            <a:r>
              <a:rPr lang="en-US" sz="2500">
                <a:latin typeface="UGent Panno Text" panose="02000506040000040003" pitchFamily="2" charset="0"/>
              </a:rPr>
              <a:t>Inferno</a:t>
            </a:r>
          </a:p>
        </p:txBody>
      </p:sp>
      <p:sp>
        <p:nvSpPr>
          <p:cNvPr id="16" name="TextBox 15">
            <a:extLst>
              <a:ext uri="{FF2B5EF4-FFF2-40B4-BE49-F238E27FC236}">
                <a16:creationId xmlns:a16="http://schemas.microsoft.com/office/drawing/2014/main" id="{6D36F1D8-FAAB-48AA-B926-6EEB7814D456}"/>
              </a:ext>
            </a:extLst>
          </p:cNvPr>
          <p:cNvSpPr txBox="1"/>
          <p:nvPr/>
        </p:nvSpPr>
        <p:spPr>
          <a:xfrm>
            <a:off x="13951205" y="5835095"/>
            <a:ext cx="2100255" cy="516873"/>
          </a:xfrm>
          <a:prstGeom prst="rect">
            <a:avLst/>
          </a:prstGeom>
          <a:noFill/>
        </p:spPr>
        <p:txBody>
          <a:bodyPr wrap="none" rtlCol="0">
            <a:spAutoFit/>
          </a:bodyPr>
          <a:lstStyle/>
          <a:p>
            <a:pPr algn="l">
              <a:lnSpc>
                <a:spcPct val="120000"/>
              </a:lnSpc>
            </a:pPr>
            <a:r>
              <a:rPr lang="en-US" sz="2500">
                <a:latin typeface="UGent Panno Text" panose="02000506040000040003" pitchFamily="2" charset="0"/>
              </a:rPr>
              <a:t>Hard disk crashes</a:t>
            </a:r>
          </a:p>
        </p:txBody>
      </p:sp>
      <p:sp>
        <p:nvSpPr>
          <p:cNvPr id="18" name="TextBox 17">
            <a:extLst>
              <a:ext uri="{FF2B5EF4-FFF2-40B4-BE49-F238E27FC236}">
                <a16:creationId xmlns:a16="http://schemas.microsoft.com/office/drawing/2014/main" id="{194F2E59-8D3A-4024-9D0F-A39A09E93CA9}"/>
              </a:ext>
            </a:extLst>
          </p:cNvPr>
          <p:cNvSpPr txBox="1"/>
          <p:nvPr/>
        </p:nvSpPr>
        <p:spPr>
          <a:xfrm>
            <a:off x="11260282" y="9208347"/>
            <a:ext cx="748923" cy="516873"/>
          </a:xfrm>
          <a:prstGeom prst="rect">
            <a:avLst/>
          </a:prstGeom>
          <a:noFill/>
        </p:spPr>
        <p:txBody>
          <a:bodyPr wrap="none" rtlCol="0">
            <a:spAutoFit/>
          </a:bodyPr>
          <a:lstStyle/>
          <a:p>
            <a:pPr algn="l">
              <a:lnSpc>
                <a:spcPct val="120000"/>
              </a:lnSpc>
            </a:pPr>
            <a:r>
              <a:rPr lang="en-US" sz="2500">
                <a:latin typeface="UGent Panno Text" panose="02000506040000040003" pitchFamily="2" charset="0"/>
              </a:rPr>
              <a:t>Theft</a:t>
            </a:r>
          </a:p>
        </p:txBody>
      </p:sp>
    </p:spTree>
    <p:extLst>
      <p:ext uri="{BB962C8B-B14F-4D97-AF65-F5344CB8AC3E}">
        <p14:creationId xmlns:p14="http://schemas.microsoft.com/office/powerpoint/2010/main" val="198571813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A4D23AB8-2493-4C0E-A59A-84EEE8F129D6}"/>
              </a:ext>
            </a:extLst>
          </p:cNvPr>
          <p:cNvGrpSpPr/>
          <p:nvPr/>
        </p:nvGrpSpPr>
        <p:grpSpPr>
          <a:xfrm>
            <a:off x="824559" y="1006746"/>
            <a:ext cx="16053557" cy="4512510"/>
            <a:chOff x="579804" y="453191"/>
            <a:chExt cx="11288346" cy="3173052"/>
          </a:xfrm>
        </p:grpSpPr>
        <p:grpSp>
          <p:nvGrpSpPr>
            <p:cNvPr id="10" name="Group 9">
              <a:extLst>
                <a:ext uri="{FF2B5EF4-FFF2-40B4-BE49-F238E27FC236}">
                  <a16:creationId xmlns:a16="http://schemas.microsoft.com/office/drawing/2014/main" id="{C4073403-1969-4CF3-AF1D-D9E3D79EBA32}"/>
                </a:ext>
              </a:extLst>
            </p:cNvPr>
            <p:cNvGrpSpPr/>
            <p:nvPr/>
          </p:nvGrpSpPr>
          <p:grpSpPr>
            <a:xfrm>
              <a:off x="1011504" y="1911557"/>
              <a:ext cx="2338402" cy="1714686"/>
              <a:chOff x="1011504" y="1911557"/>
              <a:chExt cx="2338402" cy="1714686"/>
            </a:xfrm>
          </p:grpSpPr>
          <p:sp>
            <p:nvSpPr>
              <p:cNvPr id="28" name="TextBox 27">
                <a:extLst>
                  <a:ext uri="{FF2B5EF4-FFF2-40B4-BE49-F238E27FC236}">
                    <a16:creationId xmlns:a16="http://schemas.microsoft.com/office/drawing/2014/main" id="{3301A9A9-6CF1-4C07-AF81-51257E1F5049}"/>
                  </a:ext>
                </a:extLst>
              </p:cNvPr>
              <p:cNvSpPr txBox="1"/>
              <p:nvPr/>
            </p:nvSpPr>
            <p:spPr>
              <a:xfrm>
                <a:off x="1011504" y="3130419"/>
                <a:ext cx="2338402" cy="495824"/>
              </a:xfrm>
              <a:prstGeom prst="rect">
                <a:avLst/>
              </a:prstGeom>
              <a:noFill/>
            </p:spPr>
            <p:txBody>
              <a:bodyPr wrap="square" rtlCol="0">
                <a:spAutoFit/>
              </a:bodyPr>
              <a:lstStyle/>
              <a:p>
                <a:pPr algn="ctr"/>
                <a:r>
                  <a:rPr lang="en-US" sz="3982">
                    <a:latin typeface="UGent Panno Text" panose="02000506040000040003" pitchFamily="50" charset="0"/>
                  </a:rPr>
                  <a:t>CONFIDENTIALITY</a:t>
                </a:r>
                <a:endParaRPr lang="en-US" sz="1991">
                  <a:latin typeface="UGent Panno Text" panose="02000506040000040003" pitchFamily="50" charset="0"/>
                </a:endParaRPr>
              </a:p>
            </p:txBody>
          </p:sp>
          <p:pic>
            <p:nvPicPr>
              <p:cNvPr id="40" name="Graphic 39" descr="Lock">
                <a:extLst>
                  <a:ext uri="{FF2B5EF4-FFF2-40B4-BE49-F238E27FC236}">
                    <a16:creationId xmlns:a16="http://schemas.microsoft.com/office/drawing/2014/main" id="{70890E59-1429-41F3-A3FC-3DBFFF6D869B}"/>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723505" y="1911557"/>
                <a:ext cx="914400" cy="914400"/>
              </a:xfrm>
              <a:prstGeom prst="rect">
                <a:avLst/>
              </a:prstGeom>
            </p:spPr>
          </p:pic>
        </p:grpSp>
        <p:sp>
          <p:nvSpPr>
            <p:cNvPr id="4" name="TextBox 3">
              <a:extLst>
                <a:ext uri="{FF2B5EF4-FFF2-40B4-BE49-F238E27FC236}">
                  <a16:creationId xmlns:a16="http://schemas.microsoft.com/office/drawing/2014/main" id="{349ADE4B-A9EE-4E1E-9F9D-28792312854D}"/>
                </a:ext>
              </a:extLst>
            </p:cNvPr>
            <p:cNvSpPr txBox="1"/>
            <p:nvPr/>
          </p:nvSpPr>
          <p:spPr>
            <a:xfrm>
              <a:off x="579804" y="453191"/>
              <a:ext cx="11288346" cy="988267"/>
            </a:xfrm>
            <a:prstGeom prst="rect">
              <a:avLst/>
            </a:prstGeom>
            <a:noFill/>
          </p:spPr>
          <p:txBody>
            <a:bodyPr wrap="square" rtlCol="0" anchor="ctr">
              <a:spAutoFit/>
            </a:bodyPr>
            <a:lstStyle/>
            <a:p>
              <a:r>
                <a:rPr lang="en-US" sz="8533">
                  <a:solidFill>
                    <a:schemeClr val="accent1"/>
                  </a:solidFill>
                  <a:latin typeface="UGent Panno Text" panose="02000506040000040003" pitchFamily="50" charset="0"/>
                </a:rPr>
                <a:t>INFORMATION SECURITY CORE PRINCIPLES</a:t>
              </a:r>
            </a:p>
          </p:txBody>
        </p:sp>
        <p:grpSp>
          <p:nvGrpSpPr>
            <p:cNvPr id="11" name="Group 10">
              <a:extLst>
                <a:ext uri="{FF2B5EF4-FFF2-40B4-BE49-F238E27FC236}">
                  <a16:creationId xmlns:a16="http://schemas.microsoft.com/office/drawing/2014/main" id="{C54A629F-AB7B-4A44-887A-270815F120DE}"/>
                </a:ext>
              </a:extLst>
            </p:cNvPr>
            <p:cNvGrpSpPr/>
            <p:nvPr/>
          </p:nvGrpSpPr>
          <p:grpSpPr>
            <a:xfrm>
              <a:off x="4996616" y="1911557"/>
              <a:ext cx="2198767" cy="1714686"/>
              <a:chOff x="4996616" y="1911557"/>
              <a:chExt cx="2198767" cy="1714686"/>
            </a:xfrm>
          </p:grpSpPr>
          <p:pic>
            <p:nvPicPr>
              <p:cNvPr id="21" name="Graphic 20" descr="Puzzle pieces">
                <a:extLst>
                  <a:ext uri="{FF2B5EF4-FFF2-40B4-BE49-F238E27FC236}">
                    <a16:creationId xmlns:a16="http://schemas.microsoft.com/office/drawing/2014/main" id="{531FB1B7-E5DA-414F-9A42-5EC0172F68F1}"/>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642886" y="1911557"/>
                <a:ext cx="914400" cy="914400"/>
              </a:xfrm>
              <a:prstGeom prst="rect">
                <a:avLst/>
              </a:prstGeom>
            </p:spPr>
          </p:pic>
          <p:sp>
            <p:nvSpPr>
              <p:cNvPr id="31" name="TextBox 30">
                <a:extLst>
                  <a:ext uri="{FF2B5EF4-FFF2-40B4-BE49-F238E27FC236}">
                    <a16:creationId xmlns:a16="http://schemas.microsoft.com/office/drawing/2014/main" id="{1D9E2986-890F-48A6-9133-3F63E709D712}"/>
                  </a:ext>
                </a:extLst>
              </p:cNvPr>
              <p:cNvSpPr txBox="1"/>
              <p:nvPr/>
            </p:nvSpPr>
            <p:spPr>
              <a:xfrm>
                <a:off x="4996616" y="3130419"/>
                <a:ext cx="2198767" cy="495824"/>
              </a:xfrm>
              <a:prstGeom prst="rect">
                <a:avLst/>
              </a:prstGeom>
              <a:noFill/>
            </p:spPr>
            <p:txBody>
              <a:bodyPr wrap="square" rtlCol="0">
                <a:spAutoFit/>
              </a:bodyPr>
              <a:lstStyle/>
              <a:p>
                <a:pPr algn="ctr"/>
                <a:r>
                  <a:rPr lang="en-US" sz="3982">
                    <a:latin typeface="UGent Panno Text" panose="02000506040000040003" pitchFamily="50" charset="0"/>
                  </a:rPr>
                  <a:t>INTEGRITY</a:t>
                </a:r>
                <a:endParaRPr lang="en-US" sz="1991">
                  <a:latin typeface="UGent Panno Text" panose="02000506040000040003" pitchFamily="50" charset="0"/>
                </a:endParaRPr>
              </a:p>
            </p:txBody>
          </p:sp>
        </p:grpSp>
        <p:grpSp>
          <p:nvGrpSpPr>
            <p:cNvPr id="12" name="Group 11">
              <a:extLst>
                <a:ext uri="{FF2B5EF4-FFF2-40B4-BE49-F238E27FC236}">
                  <a16:creationId xmlns:a16="http://schemas.microsoft.com/office/drawing/2014/main" id="{AA752817-2DFE-413D-984B-7B5AD110BCC1}"/>
                </a:ext>
              </a:extLst>
            </p:cNvPr>
            <p:cNvGrpSpPr/>
            <p:nvPr/>
          </p:nvGrpSpPr>
          <p:grpSpPr>
            <a:xfrm>
              <a:off x="9252182" y="2043145"/>
              <a:ext cx="1868830" cy="1583098"/>
              <a:chOff x="9252182" y="2043145"/>
              <a:chExt cx="1868830" cy="1583098"/>
            </a:xfrm>
          </p:grpSpPr>
          <p:sp>
            <p:nvSpPr>
              <p:cNvPr id="39" name="TextBox 38">
                <a:extLst>
                  <a:ext uri="{FF2B5EF4-FFF2-40B4-BE49-F238E27FC236}">
                    <a16:creationId xmlns:a16="http://schemas.microsoft.com/office/drawing/2014/main" id="{2027B02B-8AE5-487B-BD86-4B6D5ED7EC20}"/>
                  </a:ext>
                </a:extLst>
              </p:cNvPr>
              <p:cNvSpPr txBox="1"/>
              <p:nvPr/>
            </p:nvSpPr>
            <p:spPr>
              <a:xfrm>
                <a:off x="9252182" y="3130419"/>
                <a:ext cx="1868830" cy="495824"/>
              </a:xfrm>
              <a:prstGeom prst="rect">
                <a:avLst/>
              </a:prstGeom>
              <a:noFill/>
            </p:spPr>
            <p:txBody>
              <a:bodyPr wrap="square" rtlCol="0">
                <a:spAutoFit/>
              </a:bodyPr>
              <a:lstStyle/>
              <a:p>
                <a:pPr algn="ctr"/>
                <a:r>
                  <a:rPr lang="en-US" sz="3982">
                    <a:latin typeface="UGent Panno Text" panose="02000506040000040003" pitchFamily="50" charset="0"/>
                  </a:rPr>
                  <a:t>AVAILABILITY</a:t>
                </a:r>
                <a:endParaRPr lang="en-US" sz="1991">
                  <a:latin typeface="UGent Panno Text" panose="02000506040000040003" pitchFamily="50" charset="0"/>
                </a:endParaRPr>
              </a:p>
            </p:txBody>
          </p:sp>
          <p:grpSp>
            <p:nvGrpSpPr>
              <p:cNvPr id="9" name="Group 8">
                <a:extLst>
                  <a:ext uri="{FF2B5EF4-FFF2-40B4-BE49-F238E27FC236}">
                    <a16:creationId xmlns:a16="http://schemas.microsoft.com/office/drawing/2014/main" id="{D8C1589D-7BE9-440B-81D0-7A732EC3AD0B}"/>
                  </a:ext>
                </a:extLst>
              </p:cNvPr>
              <p:cNvGrpSpPr/>
              <p:nvPr/>
            </p:nvGrpSpPr>
            <p:grpSpPr>
              <a:xfrm>
                <a:off x="9729397" y="2043145"/>
                <a:ext cx="914400" cy="1000837"/>
                <a:chOff x="9729397" y="2043145"/>
                <a:chExt cx="914400" cy="1000837"/>
              </a:xfrm>
            </p:grpSpPr>
            <p:pic>
              <p:nvPicPr>
                <p:cNvPr id="38" name="Graphic 37" descr="Open hand">
                  <a:extLst>
                    <a:ext uri="{FF2B5EF4-FFF2-40B4-BE49-F238E27FC236}">
                      <a16:creationId xmlns:a16="http://schemas.microsoft.com/office/drawing/2014/main" id="{5BB76D83-3A79-4E20-90C6-96F368FCE57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29397" y="2129582"/>
                  <a:ext cx="914400" cy="914400"/>
                </a:xfrm>
                <a:prstGeom prst="rect">
                  <a:avLst/>
                </a:prstGeom>
              </p:spPr>
            </p:pic>
            <p:pic>
              <p:nvPicPr>
                <p:cNvPr id="6" name="Graphic 5" descr="Database">
                  <a:extLst>
                    <a:ext uri="{FF2B5EF4-FFF2-40B4-BE49-F238E27FC236}">
                      <a16:creationId xmlns:a16="http://schemas.microsoft.com/office/drawing/2014/main" id="{F2A71BD3-6E49-41F8-9798-327703633D0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025053" y="2043145"/>
                  <a:ext cx="359664" cy="359664"/>
                </a:xfrm>
                <a:prstGeom prst="rect">
                  <a:avLst/>
                </a:prstGeom>
              </p:spPr>
            </p:pic>
          </p:grpSp>
        </p:grpSp>
      </p:grpSp>
    </p:spTree>
    <p:extLst>
      <p:ext uri="{BB962C8B-B14F-4D97-AF65-F5344CB8AC3E}">
        <p14:creationId xmlns:p14="http://schemas.microsoft.com/office/powerpoint/2010/main" val="37246684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930AD-5B9F-44B3-BB3A-4FD592200887}"/>
              </a:ext>
            </a:extLst>
          </p:cNvPr>
          <p:cNvSpPr>
            <a:spLocks noGrp="1"/>
          </p:cNvSpPr>
          <p:nvPr>
            <p:ph type="title"/>
          </p:nvPr>
        </p:nvSpPr>
        <p:spPr/>
        <p:txBody>
          <a:bodyPr/>
          <a:lstStyle/>
          <a:p>
            <a:r>
              <a:rPr lang="en-US">
                <a:latin typeface="UGent Panno Text" panose="02000506040000040003" pitchFamily="2" charset="0"/>
              </a:rPr>
              <a:t>Keeping data safe</a:t>
            </a:r>
          </a:p>
        </p:txBody>
      </p:sp>
      <p:sp>
        <p:nvSpPr>
          <p:cNvPr id="4" name="Slide Number Placeholder 3">
            <a:extLst>
              <a:ext uri="{FF2B5EF4-FFF2-40B4-BE49-F238E27FC236}">
                <a16:creationId xmlns:a16="http://schemas.microsoft.com/office/drawing/2014/main" id="{94605866-5D22-4188-A698-02038837102F}"/>
              </a:ext>
            </a:extLst>
          </p:cNvPr>
          <p:cNvSpPr>
            <a:spLocks noGrp="1"/>
          </p:cNvSpPr>
          <p:nvPr>
            <p:ph type="sldNum" sz="quarter" idx="12"/>
          </p:nvPr>
        </p:nvSpPr>
        <p:spPr/>
        <p:txBody>
          <a:bodyPr/>
          <a:lstStyle/>
          <a:p>
            <a:fld id="{7AE184E0-0BD4-4705-A12B-9B71DDE63301}" type="slidenum">
              <a:rPr lang="en-GB" noProof="0" smtClean="0"/>
              <a:t>4</a:t>
            </a:fld>
            <a:endParaRPr lang="en-GB" noProof="0"/>
          </a:p>
        </p:txBody>
      </p:sp>
      <p:sp>
        <p:nvSpPr>
          <p:cNvPr id="7" name="Content Placeholder 2">
            <a:extLst>
              <a:ext uri="{FF2B5EF4-FFF2-40B4-BE49-F238E27FC236}">
                <a16:creationId xmlns:a16="http://schemas.microsoft.com/office/drawing/2014/main" id="{08790693-D938-43D6-BAB4-07758DECC76C}"/>
              </a:ext>
            </a:extLst>
          </p:cNvPr>
          <p:cNvSpPr>
            <a:spLocks noGrp="1"/>
          </p:cNvSpPr>
          <p:nvPr>
            <p:ph idx="1"/>
          </p:nvPr>
        </p:nvSpPr>
        <p:spPr>
          <a:xfrm>
            <a:off x="835825" y="1194364"/>
            <a:ext cx="15699575" cy="2272167"/>
          </a:xfrm>
        </p:spPr>
        <p:txBody>
          <a:bodyPr>
            <a:normAutofit/>
          </a:bodyPr>
          <a:lstStyle/>
          <a:p>
            <a:pPr marL="86400" indent="0">
              <a:buNone/>
            </a:pPr>
            <a:r>
              <a:rPr lang="en-US" sz="4000">
                <a:latin typeface="UGent Panno Text" panose="02000506040000040003" pitchFamily="2" charset="0"/>
                <a:ea typeface="UD Digi Kyokasho NP-B" panose="02020700000000000000" pitchFamily="18" charset="-128"/>
              </a:rPr>
              <a:t>Data for which the </a:t>
            </a:r>
            <a:r>
              <a:rPr lang="en-US" sz="4000">
                <a:solidFill>
                  <a:schemeClr val="tx2"/>
                </a:solidFill>
                <a:latin typeface="UGent Panno Text" panose="02000506040000040003" pitchFamily="2" charset="0"/>
                <a:ea typeface="UD Digi Kyokasho NP-B" panose="02020700000000000000" pitchFamily="18" charset="-128"/>
              </a:rPr>
              <a:t>unwanted disclosure </a:t>
            </a:r>
            <a:r>
              <a:rPr lang="en-US" sz="4000">
                <a:latin typeface="UGent Panno Text" panose="02000506040000040003" pitchFamily="2" charset="0"/>
                <a:ea typeface="UD Digi Kyokasho NP-B" panose="02020700000000000000" pitchFamily="18" charset="-128"/>
              </a:rPr>
              <a:t>will have negative or </a:t>
            </a:r>
            <a:r>
              <a:rPr lang="en-US" sz="4000">
                <a:solidFill>
                  <a:schemeClr val="tx2"/>
                </a:solidFill>
                <a:latin typeface="UGent Panno Text" panose="02000506040000040003" pitchFamily="2" charset="0"/>
                <a:ea typeface="UD Digi Kyokasho NP-B" panose="02020700000000000000" pitchFamily="18" charset="-128"/>
              </a:rPr>
              <a:t>harmful consequences</a:t>
            </a:r>
            <a:r>
              <a:rPr lang="en-US" sz="4000">
                <a:latin typeface="UGent Panno Text" panose="02000506040000040003" pitchFamily="2" charset="0"/>
                <a:ea typeface="UD Digi Kyokasho NP-B" panose="02020700000000000000" pitchFamily="18" charset="-128"/>
              </a:rPr>
              <a:t>* (may be unlawful, put participants at risk, put business processes at risk)…</a:t>
            </a:r>
          </a:p>
        </p:txBody>
      </p:sp>
      <p:sp>
        <p:nvSpPr>
          <p:cNvPr id="8" name="TextBox 7">
            <a:extLst>
              <a:ext uri="{FF2B5EF4-FFF2-40B4-BE49-F238E27FC236}">
                <a16:creationId xmlns:a16="http://schemas.microsoft.com/office/drawing/2014/main" id="{72171B6F-E178-447F-95F2-383CCAB912ED}"/>
              </a:ext>
            </a:extLst>
          </p:cNvPr>
          <p:cNvSpPr txBox="1"/>
          <p:nvPr/>
        </p:nvSpPr>
        <p:spPr>
          <a:xfrm>
            <a:off x="2593168" y="4542898"/>
            <a:ext cx="3325524" cy="1938992"/>
          </a:xfrm>
          <a:prstGeom prst="rect">
            <a:avLst/>
          </a:prstGeom>
          <a:noFill/>
        </p:spPr>
        <p:txBody>
          <a:bodyPr wrap="square" rtlCol="0">
            <a:spAutoFit/>
          </a:bodyPr>
          <a:lstStyle/>
          <a:p>
            <a:pPr algn="ctr"/>
            <a:r>
              <a:rPr lang="en-US" sz="12000">
                <a:solidFill>
                  <a:schemeClr val="accent1"/>
                </a:solidFill>
                <a:latin typeface="UGent Panno Text" panose="02000506040000040003" pitchFamily="50" charset="0"/>
              </a:rPr>
              <a:t>RISKS</a:t>
            </a:r>
          </a:p>
        </p:txBody>
      </p:sp>
      <p:sp>
        <p:nvSpPr>
          <p:cNvPr id="9" name="TextBox 8">
            <a:extLst>
              <a:ext uri="{FF2B5EF4-FFF2-40B4-BE49-F238E27FC236}">
                <a16:creationId xmlns:a16="http://schemas.microsoft.com/office/drawing/2014/main" id="{D67DA2B7-EBA9-47C2-89FB-1D3E2AA8CBA9}"/>
              </a:ext>
            </a:extLst>
          </p:cNvPr>
          <p:cNvSpPr txBox="1"/>
          <p:nvPr/>
        </p:nvSpPr>
        <p:spPr>
          <a:xfrm>
            <a:off x="8341901" y="4542898"/>
            <a:ext cx="7248619" cy="1938992"/>
          </a:xfrm>
          <a:prstGeom prst="rect">
            <a:avLst/>
          </a:prstGeom>
          <a:noFill/>
        </p:spPr>
        <p:txBody>
          <a:bodyPr wrap="square" rtlCol="0">
            <a:spAutoFit/>
          </a:bodyPr>
          <a:lstStyle/>
          <a:p>
            <a:pPr algn="ctr"/>
            <a:r>
              <a:rPr lang="en-US" sz="12000">
                <a:solidFill>
                  <a:schemeClr val="accent1"/>
                </a:solidFill>
                <a:latin typeface="UGent Panno Text" panose="02000506040000040003" pitchFamily="50" charset="0"/>
              </a:rPr>
              <a:t>MEASURES</a:t>
            </a:r>
          </a:p>
        </p:txBody>
      </p:sp>
      <p:pic>
        <p:nvPicPr>
          <p:cNvPr id="10" name="Graphic 9" descr="Arrow circle">
            <a:extLst>
              <a:ext uri="{FF2B5EF4-FFF2-40B4-BE49-F238E27FC236}">
                <a16:creationId xmlns:a16="http://schemas.microsoft.com/office/drawing/2014/main" id="{0EF4AD79-79EE-4D26-B310-B816C17D470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194677" y="4514916"/>
            <a:ext cx="2305298" cy="2305298"/>
          </a:xfrm>
          <a:prstGeom prst="rect">
            <a:avLst/>
          </a:prstGeom>
        </p:spPr>
      </p:pic>
    </p:spTree>
    <p:extLst>
      <p:ext uri="{BB962C8B-B14F-4D97-AF65-F5344CB8AC3E}">
        <p14:creationId xmlns:p14="http://schemas.microsoft.com/office/powerpoint/2010/main" val="345697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F797-AC74-C772-F05C-F373B152C7D8}"/>
              </a:ext>
            </a:extLst>
          </p:cNvPr>
          <p:cNvSpPr>
            <a:spLocks noGrp="1"/>
          </p:cNvSpPr>
          <p:nvPr>
            <p:ph type="title"/>
          </p:nvPr>
        </p:nvSpPr>
        <p:spPr/>
        <p:txBody>
          <a:bodyPr/>
          <a:lstStyle/>
          <a:p>
            <a:r>
              <a:rPr lang="en-US">
                <a:latin typeface="UGent Panno Text" panose="02000506040000040003" pitchFamily="2" charset="0"/>
              </a:rPr>
              <a:t>Exercise</a:t>
            </a:r>
          </a:p>
        </p:txBody>
      </p:sp>
      <p:sp>
        <p:nvSpPr>
          <p:cNvPr id="3" name="Content Placeholder 2">
            <a:extLst>
              <a:ext uri="{FF2B5EF4-FFF2-40B4-BE49-F238E27FC236}">
                <a16:creationId xmlns:a16="http://schemas.microsoft.com/office/drawing/2014/main" id="{9E354B75-EBA7-BEBF-0623-48676A33C363}"/>
              </a:ext>
            </a:extLst>
          </p:cNvPr>
          <p:cNvSpPr>
            <a:spLocks noGrp="1"/>
          </p:cNvSpPr>
          <p:nvPr>
            <p:ph idx="1"/>
          </p:nvPr>
        </p:nvSpPr>
        <p:spPr>
          <a:xfrm>
            <a:off x="835825" y="3661831"/>
            <a:ext cx="15712485" cy="4228533"/>
          </a:xfrm>
        </p:spPr>
        <p:txBody>
          <a:bodyPr vert="horz" lIns="91440" tIns="45720" rIns="91440" bIns="45720" rtlCol="0" anchor="t">
            <a:normAutofit/>
          </a:bodyPr>
          <a:lstStyle/>
          <a:p>
            <a:pPr marL="85725" indent="0">
              <a:buNone/>
            </a:pPr>
            <a:r>
              <a:rPr lang="en-US">
                <a:latin typeface="UGent Panno Text" panose="02000506040000040003" pitchFamily="2" charset="0"/>
                <a:cs typeface="Arial"/>
              </a:rPr>
              <a:t>Data security: categorize the Do’s and Don’ts</a:t>
            </a:r>
          </a:p>
        </p:txBody>
      </p:sp>
      <p:sp>
        <p:nvSpPr>
          <p:cNvPr id="4" name="Slide Number Placeholder 3">
            <a:extLst>
              <a:ext uri="{FF2B5EF4-FFF2-40B4-BE49-F238E27FC236}">
                <a16:creationId xmlns:a16="http://schemas.microsoft.com/office/drawing/2014/main" id="{E184EB60-3C38-BFCA-5975-859A855509A0}"/>
              </a:ext>
            </a:extLst>
          </p:cNvPr>
          <p:cNvSpPr>
            <a:spLocks noGrp="1"/>
          </p:cNvSpPr>
          <p:nvPr>
            <p:ph type="sldNum" sz="quarter" idx="12"/>
          </p:nvPr>
        </p:nvSpPr>
        <p:spPr/>
        <p:txBody>
          <a:bodyPr/>
          <a:lstStyle/>
          <a:p>
            <a:fld id="{7AE184E0-0BD4-4705-A12B-9B71DDE63301}" type="slidenum">
              <a:rPr lang="nl-BE" noProof="0" smtClean="0"/>
              <a:t>5</a:t>
            </a:fld>
            <a:endParaRPr lang="nl-BE" noProof="0"/>
          </a:p>
        </p:txBody>
      </p:sp>
    </p:spTree>
    <p:extLst>
      <p:ext uri="{BB962C8B-B14F-4D97-AF65-F5344CB8AC3E}">
        <p14:creationId xmlns:p14="http://schemas.microsoft.com/office/powerpoint/2010/main" val="1729574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366C20-19F2-CE58-C0FD-1CC0999BDA71}"/>
              </a:ext>
            </a:extLst>
          </p:cNvPr>
          <p:cNvSpPr>
            <a:spLocks noGrp="1"/>
          </p:cNvSpPr>
          <p:nvPr>
            <p:ph type="title"/>
          </p:nvPr>
        </p:nvSpPr>
        <p:spPr/>
        <p:txBody>
          <a:bodyPr>
            <a:normAutofit/>
          </a:bodyPr>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r>
              <a:rPr lang="en-US" sz="4800" dirty="0">
                <a:solidFill>
                  <a:schemeClr val="tx2"/>
                </a:solidFill>
              </a:rPr>
              <a:t>Data Core storage solutions</a:t>
            </a:r>
          </a:p>
        </p:txBody>
      </p:sp>
      <p:sp>
        <p:nvSpPr>
          <p:cNvPr id="3" name="Content Placeholder 2">
            <a:extLst>
              <a:ext uri="{FF2B5EF4-FFF2-40B4-BE49-F238E27FC236}">
                <a16:creationId xmlns:a16="http://schemas.microsoft.com/office/drawing/2014/main" id="{E1EFC610-837A-4F99-D9F1-2F82EB14B31F}"/>
              </a:ext>
            </a:extLst>
          </p:cNvPr>
          <p:cNvSpPr>
            <a:spLocks noGrp="1"/>
          </p:cNvSpPr>
          <p:nvPr>
            <p:ph sz="quarter" idx="10"/>
          </p:nvPr>
        </p:nvSpPr>
        <p:spPr>
          <a:xfrm>
            <a:off x="1192033" y="2549175"/>
            <a:ext cx="8330255" cy="6684871"/>
          </a:xfrm>
        </p:spPr>
        <p:txBody>
          <a:bodyPr lIns="91440" tIns="45720" rIns="91440" bIns="45720" anchor="t"/>
          <a:lstStyle>
            <a:defPPr>
              <a:defRPr lang="en-BE"/>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fontAlgn="base"/>
            <a:r>
              <a:rPr lang="en-US" sz="3600" dirty="0"/>
              <a:t>Ideal for large files</a:t>
            </a:r>
          </a:p>
          <a:p>
            <a:pPr fontAlgn="base"/>
            <a:r>
              <a:rPr lang="en-US" sz="3600" dirty="0"/>
              <a:t>Ideal for collaborations </a:t>
            </a:r>
            <a:br>
              <a:rPr lang="en-US" sz="3600" dirty="0"/>
            </a:br>
            <a:r>
              <a:rPr lang="en-US" sz="3600" dirty="0"/>
              <a:t>between departments</a:t>
            </a:r>
          </a:p>
          <a:p>
            <a:pPr fontAlgn="base"/>
            <a:endParaRPr lang="en-US" sz="3600" dirty="0"/>
          </a:p>
          <a:p>
            <a:pPr fontAlgn="base"/>
            <a:endParaRPr lang="en-US" sz="3600" dirty="0"/>
          </a:p>
          <a:p>
            <a:pPr fontAlgn="base"/>
            <a:endParaRPr lang="en-US" sz="3600" dirty="0"/>
          </a:p>
          <a:p>
            <a:pPr fontAlgn="base"/>
            <a:r>
              <a:rPr lang="en-US" sz="3600" dirty="0"/>
              <a:t>More info? </a:t>
            </a:r>
          </a:p>
          <a:p>
            <a:pPr marL="0" indent="0" fontAlgn="base">
              <a:buNone/>
            </a:pPr>
            <a:r>
              <a:rPr lang="it-IT" sz="2800" dirty="0"/>
              <a:t>     </a:t>
            </a:r>
            <a:r>
              <a:rPr lang="it-IT" sz="2800" dirty="0">
                <a:hlinkClick r:id="rId3"/>
              </a:rPr>
              <a:t>Data Storage | VIB Data Core Documentation</a:t>
            </a:r>
            <a:endParaRPr lang="it-IT" sz="2800" dirty="0"/>
          </a:p>
          <a:p>
            <a:pPr marL="0" indent="0" fontAlgn="base">
              <a:buNone/>
            </a:pPr>
            <a:r>
              <a:rPr lang="en-US" sz="2800" dirty="0"/>
              <a:t>     </a:t>
            </a:r>
            <a:r>
              <a:rPr lang="en-US" sz="2800" dirty="0">
                <a:hlinkClick r:id="rId4"/>
              </a:rPr>
              <a:t>datacore.help@vib.be</a:t>
            </a:r>
            <a:r>
              <a:rPr lang="en-US" sz="2800" dirty="0"/>
              <a:t> </a:t>
            </a:r>
            <a:endParaRPr lang="en-BE" sz="2800"/>
          </a:p>
        </p:txBody>
      </p:sp>
      <p:pic>
        <p:nvPicPr>
          <p:cNvPr id="5" name="Picture 4">
            <a:extLst>
              <a:ext uri="{FF2B5EF4-FFF2-40B4-BE49-F238E27FC236}">
                <a16:creationId xmlns:a16="http://schemas.microsoft.com/office/drawing/2014/main" id="{9E92D848-0853-D886-B2F7-2C3800DBF201}"/>
              </a:ext>
            </a:extLst>
          </p:cNvPr>
          <p:cNvPicPr>
            <a:picLocks noChangeAspect="1"/>
          </p:cNvPicPr>
          <p:nvPr/>
        </p:nvPicPr>
        <p:blipFill>
          <a:blip r:embed="rId5"/>
          <a:stretch>
            <a:fillRect/>
          </a:stretch>
        </p:blipFill>
        <p:spPr>
          <a:xfrm>
            <a:off x="7886299" y="3215030"/>
            <a:ext cx="8669338" cy="4816495"/>
          </a:xfrm>
          <a:prstGeom prst="rect">
            <a:avLst/>
          </a:prstGeom>
        </p:spPr>
      </p:pic>
      <p:pic>
        <p:nvPicPr>
          <p:cNvPr id="7" name="Graphic 6" descr="Envelope with solid fill">
            <a:extLst>
              <a:ext uri="{FF2B5EF4-FFF2-40B4-BE49-F238E27FC236}">
                <a16:creationId xmlns:a16="http://schemas.microsoft.com/office/drawing/2014/main" id="{F4178F79-4C45-C71B-BBA3-C757BB20AA4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192033" y="8364928"/>
            <a:ext cx="496389" cy="496389"/>
          </a:xfrm>
          <a:prstGeom prst="rect">
            <a:avLst/>
          </a:prstGeom>
        </p:spPr>
      </p:pic>
      <p:pic>
        <p:nvPicPr>
          <p:cNvPr id="9" name="Graphic 8" descr="Internet with solid fill">
            <a:extLst>
              <a:ext uri="{FF2B5EF4-FFF2-40B4-BE49-F238E27FC236}">
                <a16:creationId xmlns:a16="http://schemas.microsoft.com/office/drawing/2014/main" id="{880FEDDD-ECD9-F1D2-F1BD-E4D87271025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1192034" y="7777565"/>
            <a:ext cx="496389" cy="496389"/>
          </a:xfrm>
          <a:prstGeom prst="rect">
            <a:avLst/>
          </a:prstGeom>
        </p:spPr>
      </p:pic>
    </p:spTree>
    <p:extLst>
      <p:ext uri="{BB962C8B-B14F-4D97-AF65-F5344CB8AC3E}">
        <p14:creationId xmlns:p14="http://schemas.microsoft.com/office/powerpoint/2010/main" val="209886376"/>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a:rPr>
              <a:t>recommended practices: </a:t>
            </a:r>
            <a:r>
              <a:rPr lang="en-US" dirty="0" err="1">
                <a:latin typeface="UGent Panno Text"/>
              </a:rPr>
              <a:t>UGent</a:t>
            </a:r>
            <a:r>
              <a:rPr lang="en-US" dirty="0">
                <a:latin typeface="UGent Panno Text"/>
              </a:rPr>
              <a:t> platforms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7</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7"/>
            <a:ext cx="14545201" cy="7262646"/>
          </a:xfrm>
          <a:prstGeom prst="rect">
            <a:avLst/>
          </a:prstGeom>
        </p:spPr>
        <p:txBody>
          <a:bodyPr vert="horz" lIns="91440" tIns="45720" rIns="91440" bIns="45720" rtlCol="0">
            <a:normAutofit fontScale="92500" lnSpcReduction="10000"/>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86400" indent="0">
              <a:buNone/>
            </a:pPr>
            <a:r>
              <a:rPr lang="en-US" sz="4000">
                <a:latin typeface="UGent Panno Text" panose="02000506040000040003" pitchFamily="50" charset="0"/>
              </a:rPr>
              <a:t>Where to store research data during projects?</a:t>
            </a:r>
          </a:p>
          <a:p>
            <a:pPr marL="86400" indent="0">
              <a:buNone/>
            </a:pPr>
            <a:endParaRPr lang="en-US" sz="4000">
              <a:latin typeface="UGent Panno Text" panose="02000506040000040003" pitchFamily="50" charset="0"/>
            </a:endParaRPr>
          </a:p>
          <a:p>
            <a:pPr lvl="1"/>
            <a:r>
              <a:rPr lang="en-US" sz="4000" b="1">
                <a:latin typeface="UGent Panno Text" panose="02000506040000040003" pitchFamily="50" charset="0"/>
              </a:rPr>
              <a:t>Project Share</a:t>
            </a:r>
            <a:br>
              <a:rPr lang="en-US" sz="4000">
                <a:latin typeface="UGent Panno Text" panose="02000506040000040003" pitchFamily="50" charset="0"/>
              </a:rPr>
            </a:br>
            <a:r>
              <a:rPr lang="en-US" sz="4000">
                <a:latin typeface="UGent Panno Text" panose="02000506040000040003" pitchFamily="50" charset="0"/>
              </a:rPr>
              <a:t>	→ share with promotor</a:t>
            </a:r>
          </a:p>
          <a:p>
            <a:pPr marL="1306800" lvl="2" indent="0">
              <a:buNone/>
            </a:pPr>
            <a:r>
              <a:rPr lang="en-US" sz="4000">
                <a:latin typeface="UGent Panno Text" panose="02000506040000040003" pitchFamily="50" charset="0"/>
              </a:rPr>
              <a:t>		→ work directly on the shares</a:t>
            </a:r>
          </a:p>
          <a:p>
            <a:pPr marL="1634400" lvl="1" indent="-914400">
              <a:buFont typeface="+mj-lt"/>
              <a:buAutoNum type="arabicPeriod"/>
            </a:pPr>
            <a:endParaRPr lang="en-US" sz="4000">
              <a:latin typeface="UGent Panno Text" panose="02000506040000040003" pitchFamily="50" charset="0"/>
            </a:endParaRPr>
          </a:p>
          <a:p>
            <a:pPr lvl="1"/>
            <a:r>
              <a:rPr lang="en-US" sz="4000" b="1" err="1">
                <a:latin typeface="UGent Panno Text" panose="02000506040000040003" pitchFamily="50" charset="0"/>
              </a:rPr>
              <a:t>Sharepoint</a:t>
            </a:r>
            <a:r>
              <a:rPr lang="en-US" sz="4000" b="1">
                <a:latin typeface="UGent Panno Text" panose="02000506040000040003" pitchFamily="50" charset="0"/>
              </a:rPr>
              <a:t> Online / Teams</a:t>
            </a:r>
            <a:br>
              <a:rPr lang="en-US" sz="4000">
                <a:latin typeface="UGent Panno Text" panose="02000506040000040003" pitchFamily="50" charset="0"/>
              </a:rPr>
            </a:br>
            <a:r>
              <a:rPr lang="en-US" sz="4000">
                <a:latin typeface="UGent Panno Text" panose="02000506040000040003" pitchFamily="50" charset="0"/>
              </a:rPr>
              <a:t>	→ share with promotor</a:t>
            </a:r>
            <a:br>
              <a:rPr lang="en-US" sz="4000">
                <a:latin typeface="UGent Panno Text" panose="02000506040000040003" pitchFamily="50" charset="0"/>
              </a:rPr>
            </a:br>
            <a:r>
              <a:rPr lang="en-US" sz="4000">
                <a:latin typeface="UGent Panno Text" panose="02000506040000040003" pitchFamily="50" charset="0"/>
              </a:rPr>
              <a:t>	</a:t>
            </a:r>
          </a:p>
          <a:p>
            <a:pPr marL="720000" lvl="1" indent="0">
              <a:buNone/>
            </a:pPr>
            <a:r>
              <a:rPr lang="en-US" sz="4000">
                <a:latin typeface="UGent Panno Text" panose="02000506040000040003" pitchFamily="50" charset="0"/>
              </a:rPr>
              <a:t>! Avoid external cloud providers (Google Drive, Dropbox)</a:t>
            </a:r>
          </a:p>
          <a:p>
            <a:pPr marL="720000" lvl="1" indent="0">
              <a:buNone/>
            </a:pPr>
            <a:r>
              <a:rPr lang="en-US" sz="4000">
                <a:latin typeface="UGent Panno Text" panose="02000506040000040003" pitchFamily="50" charset="0"/>
              </a:rPr>
              <a:t>If you have to </a:t>
            </a:r>
            <a:r>
              <a:rPr lang="en-US" sz="4000" b="1">
                <a:latin typeface="UGent Panno Text" panose="02000506040000040003" pitchFamily="50" charset="0"/>
              </a:rPr>
              <a:t>=&gt; Encryption!</a:t>
            </a:r>
          </a:p>
        </p:txBody>
      </p:sp>
      <p:sp>
        <p:nvSpPr>
          <p:cNvPr id="2" name="TextBox 1">
            <a:extLst>
              <a:ext uri="{FF2B5EF4-FFF2-40B4-BE49-F238E27FC236}">
                <a16:creationId xmlns:a16="http://schemas.microsoft.com/office/drawing/2014/main" id="{3C921D28-658F-48AF-81FC-0C3BCEA74766}"/>
              </a:ext>
            </a:extLst>
          </p:cNvPr>
          <p:cNvSpPr txBox="1"/>
          <p:nvPr/>
        </p:nvSpPr>
        <p:spPr>
          <a:xfrm>
            <a:off x="12774873" y="1245477"/>
            <a:ext cx="4205027" cy="517065"/>
          </a:xfrm>
          <a:prstGeom prst="rect">
            <a:avLst/>
          </a:prstGeom>
          <a:noFill/>
        </p:spPr>
        <p:txBody>
          <a:bodyPr wrap="square" rtlCol="0">
            <a:spAutoFit/>
          </a:bodyPr>
          <a:lstStyle/>
          <a:p>
            <a:pPr>
              <a:lnSpc>
                <a:spcPct val="120000"/>
              </a:lnSpc>
            </a:pPr>
            <a:r>
              <a:rPr lang="en-US" sz="2400" u="sng">
                <a:latin typeface="UGent Panno Text" panose="02000506040000040003" pitchFamily="50" charset="0"/>
              </a:rPr>
              <a:t>Useful guidelines:</a:t>
            </a:r>
          </a:p>
        </p:txBody>
      </p:sp>
      <p:sp>
        <p:nvSpPr>
          <p:cNvPr id="3" name="TextBox 2">
            <a:extLst>
              <a:ext uri="{FF2B5EF4-FFF2-40B4-BE49-F238E27FC236}">
                <a16:creationId xmlns:a16="http://schemas.microsoft.com/office/drawing/2014/main" id="{253275A3-22CB-40D9-9FF0-D4146553567D}"/>
              </a:ext>
            </a:extLst>
          </p:cNvPr>
          <p:cNvSpPr txBox="1"/>
          <p:nvPr/>
        </p:nvSpPr>
        <p:spPr>
          <a:xfrm>
            <a:off x="12774873" y="1898222"/>
            <a:ext cx="4205027" cy="2272673"/>
          </a:xfrm>
          <a:prstGeom prst="rect">
            <a:avLst/>
          </a:prstGeom>
          <a:noFill/>
        </p:spPr>
        <p:txBody>
          <a:bodyPr wrap="square" rtlCol="0">
            <a:spAutoFit/>
          </a:bodyPr>
          <a:lstStyle/>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3"/>
              </a:rPr>
              <a:t>Requesting a project share</a:t>
            </a:r>
            <a:endParaRPr lang="en-US" sz="2400">
              <a:latin typeface="UGent Panno Text" panose="02000506040000040003" pitchFamily="50" charset="0"/>
            </a:endParaRP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4"/>
              </a:rPr>
              <a:t>Mounting network drives</a:t>
            </a:r>
            <a:endParaRPr lang="en-US" sz="2400">
              <a:latin typeface="UGent Panno Text" panose="02000506040000040003" pitchFamily="50" charset="0"/>
            </a:endParaRP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5"/>
              </a:rPr>
              <a:t>Retrieving snapshots</a:t>
            </a:r>
            <a:endParaRPr lang="en-US" sz="2400">
              <a:latin typeface="UGent Panno Text" panose="02000506040000040003" pitchFamily="50" charset="0"/>
            </a:endParaRP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6"/>
              </a:rPr>
              <a:t>ACL shares</a:t>
            </a:r>
            <a:r>
              <a:rPr lang="en-US" sz="2400">
                <a:latin typeface="UGent Panno Text" panose="02000506040000040003" pitchFamily="50" charset="0"/>
              </a:rPr>
              <a:t> and </a:t>
            </a:r>
            <a:r>
              <a:rPr lang="en-US" sz="2400">
                <a:latin typeface="UGent Panno Text" panose="02000506040000040003" pitchFamily="50" charset="0"/>
                <a:hlinkClick r:id="rId7"/>
              </a:rPr>
              <a:t>Adjusting permissions on ACL shares</a:t>
            </a:r>
            <a:endParaRPr lang="en-US" sz="2400">
              <a:latin typeface="UGent Panno Text" panose="02000506040000040003" pitchFamily="50" charset="0"/>
            </a:endParaRPr>
          </a:p>
        </p:txBody>
      </p:sp>
      <p:sp>
        <p:nvSpPr>
          <p:cNvPr id="9" name="TextBox 8">
            <a:extLst>
              <a:ext uri="{FF2B5EF4-FFF2-40B4-BE49-F238E27FC236}">
                <a16:creationId xmlns:a16="http://schemas.microsoft.com/office/drawing/2014/main" id="{2C681B75-4E38-4520-A592-C21F8FD7A228}"/>
              </a:ext>
            </a:extLst>
          </p:cNvPr>
          <p:cNvSpPr txBox="1"/>
          <p:nvPr/>
        </p:nvSpPr>
        <p:spPr>
          <a:xfrm>
            <a:off x="12774873" y="4971622"/>
            <a:ext cx="4205027" cy="2272673"/>
          </a:xfrm>
          <a:prstGeom prst="rect">
            <a:avLst/>
          </a:prstGeom>
          <a:noFill/>
        </p:spPr>
        <p:txBody>
          <a:bodyPr wrap="square" rtlCol="0">
            <a:spAutoFit/>
          </a:bodyPr>
          <a:lstStyle/>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8"/>
              </a:rPr>
              <a:t>Requesting a Team or SharePoint site</a:t>
            </a: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9"/>
              </a:rPr>
              <a:t>M365 </a:t>
            </a:r>
            <a:r>
              <a:rPr lang="en-US" sz="2400" err="1">
                <a:latin typeface="UGent Panno Text" panose="02000506040000040003" pitchFamily="50" charset="0"/>
                <a:hlinkClick r:id="rId9"/>
              </a:rPr>
              <a:t>Kennisplatform</a:t>
            </a:r>
            <a:endParaRPr lang="en-US" sz="2400">
              <a:latin typeface="UGent Panno Text" panose="02000506040000040003" pitchFamily="50" charset="0"/>
            </a:endParaRP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10"/>
              </a:rPr>
              <a:t>Microsoft Teams</a:t>
            </a:r>
            <a:endParaRPr lang="en-US" sz="2400">
              <a:latin typeface="UGent Panno Text" panose="02000506040000040003" pitchFamily="50" charset="0"/>
            </a:endParaRPr>
          </a:p>
          <a:p>
            <a:pPr marL="342900" indent="-342900" algn="l">
              <a:lnSpc>
                <a:spcPct val="120000"/>
              </a:lnSpc>
              <a:buFont typeface="Arial" panose="020B0604020202020204" pitchFamily="34" charset="0"/>
              <a:buChar char="‒"/>
            </a:pPr>
            <a:r>
              <a:rPr lang="en-US" sz="2400">
                <a:latin typeface="UGent Panno Text" panose="02000506040000040003" pitchFamily="50" charset="0"/>
                <a:hlinkClick r:id="rId11"/>
              </a:rPr>
              <a:t>Encryption guidelines</a:t>
            </a:r>
            <a:endParaRPr lang="en-US" sz="2400">
              <a:latin typeface="UGent Panno Text" panose="02000506040000040003" pitchFamily="50" charset="0"/>
            </a:endParaRPr>
          </a:p>
        </p:txBody>
      </p:sp>
    </p:spTree>
    <p:extLst>
      <p:ext uri="{BB962C8B-B14F-4D97-AF65-F5344CB8AC3E}">
        <p14:creationId xmlns:p14="http://schemas.microsoft.com/office/powerpoint/2010/main" val="18504952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19D2-40DF-4A60-B9D0-84F0BDFB51CE}"/>
              </a:ext>
            </a:extLst>
          </p:cNvPr>
          <p:cNvSpPr>
            <a:spLocks noGrp="1"/>
          </p:cNvSpPr>
          <p:nvPr>
            <p:ph type="ctrTitle"/>
          </p:nvPr>
        </p:nvSpPr>
        <p:spPr/>
        <p:txBody>
          <a:bodyPr/>
          <a:lstStyle/>
          <a:p>
            <a:r>
              <a:rPr lang="nl-BE" dirty="0">
                <a:latin typeface="UGent Panno Text" panose="02000506040000040003" pitchFamily="50" charset="0"/>
              </a:rPr>
              <a:t>File formats</a:t>
            </a:r>
            <a:br>
              <a:rPr lang="nl-BE" dirty="0">
                <a:latin typeface="UGent Panno Text" panose="02000506040000040003" pitchFamily="50" charset="0"/>
              </a:rPr>
            </a:br>
            <a:r>
              <a:rPr lang="nl-BE" dirty="0">
                <a:latin typeface="UGent Panno Text" panose="02000506040000040003" pitchFamily="50" charset="0"/>
              </a:rPr>
              <a:t>file </a:t>
            </a:r>
            <a:r>
              <a:rPr lang="nl-BE" dirty="0" err="1">
                <a:latin typeface="UGent Panno Text" panose="02000506040000040003" pitchFamily="50" charset="0"/>
              </a:rPr>
              <a:t>organization</a:t>
            </a:r>
            <a:br>
              <a:rPr lang="nl-BE" dirty="0">
                <a:latin typeface="UGent Panno Text" panose="02000506040000040003" pitchFamily="50" charset="0"/>
              </a:rPr>
            </a:br>
            <a:r>
              <a:rPr lang="nl-BE" dirty="0">
                <a:latin typeface="UGent Panno Text" panose="02000506040000040003" pitchFamily="50" charset="0"/>
              </a:rPr>
              <a:t>&amp; </a:t>
            </a:r>
            <a:r>
              <a:rPr lang="nl-BE" dirty="0" err="1">
                <a:latin typeface="UGent Panno Text" panose="02000506040000040003" pitchFamily="50" charset="0"/>
              </a:rPr>
              <a:t>version</a:t>
            </a:r>
            <a:r>
              <a:rPr lang="nl-BE" dirty="0">
                <a:latin typeface="UGent Panno Text" panose="02000506040000040003" pitchFamily="50" charset="0"/>
              </a:rPr>
              <a:t> control</a:t>
            </a:r>
          </a:p>
        </p:txBody>
      </p:sp>
      <p:sp>
        <p:nvSpPr>
          <p:cNvPr id="3" name="Slide Number Placeholder 2">
            <a:extLst>
              <a:ext uri="{FF2B5EF4-FFF2-40B4-BE49-F238E27FC236}">
                <a16:creationId xmlns:a16="http://schemas.microsoft.com/office/drawing/2014/main" id="{C6794714-8335-42DC-A2D6-29803B875711}"/>
              </a:ext>
            </a:extLst>
          </p:cNvPr>
          <p:cNvSpPr>
            <a:spLocks noGrp="1"/>
          </p:cNvSpPr>
          <p:nvPr>
            <p:ph type="sldNum" sz="quarter" idx="4"/>
          </p:nvPr>
        </p:nvSpPr>
        <p:spPr/>
        <p:txBody>
          <a:bodyPr/>
          <a:lstStyle/>
          <a:p>
            <a:fld id="{7AE184E0-0BD4-4705-A12B-9B71DDE63301}" type="slidenum">
              <a:rPr lang="en-GB" noProof="0" smtClean="0"/>
              <a:pPr/>
              <a:t>8</a:t>
            </a:fld>
            <a:endParaRPr lang="en-GB" noProof="0"/>
          </a:p>
        </p:txBody>
      </p:sp>
    </p:spTree>
    <p:extLst>
      <p:ext uri="{BB962C8B-B14F-4D97-AF65-F5344CB8AC3E}">
        <p14:creationId xmlns:p14="http://schemas.microsoft.com/office/powerpoint/2010/main" val="37511298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A351A35-77B4-4CEE-BB0F-3360E4C3DF20}"/>
              </a:ext>
            </a:extLst>
          </p:cNvPr>
          <p:cNvSpPr>
            <a:spLocks noGrp="1"/>
          </p:cNvSpPr>
          <p:nvPr>
            <p:ph type="ctrTitle"/>
          </p:nvPr>
        </p:nvSpPr>
        <p:spPr/>
        <p:txBody>
          <a:bodyPr/>
          <a:lstStyle/>
          <a:p>
            <a:r>
              <a:rPr lang="en-US" dirty="0">
                <a:latin typeface="UGent Panno Text" panose="02000506040000040003" pitchFamily="2" charset="0"/>
              </a:rPr>
              <a:t>File formats</a:t>
            </a:r>
          </a:p>
        </p:txBody>
      </p:sp>
      <p:sp>
        <p:nvSpPr>
          <p:cNvPr id="3" name="Slide Number Placeholder 2">
            <a:extLst>
              <a:ext uri="{FF2B5EF4-FFF2-40B4-BE49-F238E27FC236}">
                <a16:creationId xmlns:a16="http://schemas.microsoft.com/office/drawing/2014/main" id="{4D0C7C41-3165-4109-B72D-45232F445B5C}"/>
              </a:ext>
            </a:extLst>
          </p:cNvPr>
          <p:cNvSpPr>
            <a:spLocks noGrp="1"/>
          </p:cNvSpPr>
          <p:nvPr>
            <p:ph type="sldNum" sz="quarter" idx="4"/>
          </p:nvPr>
        </p:nvSpPr>
        <p:spPr/>
        <p:txBody>
          <a:bodyPr/>
          <a:lstStyle/>
          <a:p>
            <a:fld id="{7AE184E0-0BD4-4705-A12B-9B71DDE63301}" type="slidenum">
              <a:rPr lang="nl-BE" noProof="0" smtClean="0">
                <a:latin typeface="UGent Panno Text" panose="02000506040000040003" pitchFamily="2" charset="0"/>
              </a:rPr>
              <a:pPr/>
              <a:t>9</a:t>
            </a:fld>
            <a:endParaRPr lang="nl-BE" noProof="0">
              <a:latin typeface="UGent Panno Text" panose="02000506040000040003" pitchFamily="2" charset="0"/>
            </a:endParaRPr>
          </a:p>
        </p:txBody>
      </p:sp>
    </p:spTree>
    <p:extLst>
      <p:ext uri="{BB962C8B-B14F-4D97-AF65-F5344CB8AC3E}">
        <p14:creationId xmlns:p14="http://schemas.microsoft.com/office/powerpoint/2010/main" val="24662827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9BA9-9912-4B02-9F32-35A3DFCF9CD5}"/>
              </a:ext>
            </a:extLst>
          </p:cNvPr>
          <p:cNvSpPr>
            <a:spLocks noGrp="1"/>
          </p:cNvSpPr>
          <p:nvPr>
            <p:ph type="title"/>
          </p:nvPr>
        </p:nvSpPr>
        <p:spPr/>
        <p:txBody>
          <a:bodyPr/>
          <a:lstStyle/>
          <a:p>
            <a:r>
              <a:rPr lang="en-US" dirty="0">
                <a:latin typeface="UGent Panno Text" panose="02000506040000040003" pitchFamily="2" charset="0"/>
              </a:rPr>
              <a:t>FILE FORMATs </a:t>
            </a:r>
          </a:p>
        </p:txBody>
      </p:sp>
      <p:sp>
        <p:nvSpPr>
          <p:cNvPr id="3" name="Content Placeholder 2">
            <a:extLst>
              <a:ext uri="{FF2B5EF4-FFF2-40B4-BE49-F238E27FC236}">
                <a16:creationId xmlns:a16="http://schemas.microsoft.com/office/drawing/2014/main" id="{9B00101D-0227-4D3C-82E9-C3E56E3B7660}"/>
              </a:ext>
            </a:extLst>
          </p:cNvPr>
          <p:cNvSpPr>
            <a:spLocks noGrp="1"/>
          </p:cNvSpPr>
          <p:nvPr>
            <p:ph idx="1"/>
          </p:nvPr>
        </p:nvSpPr>
        <p:spPr/>
        <p:txBody>
          <a:bodyPr>
            <a:normAutofit/>
          </a:bodyPr>
          <a:lstStyle/>
          <a:p>
            <a:r>
              <a:rPr lang="en-US" sz="4000" dirty="0">
                <a:latin typeface="UGent Panno Text" panose="02000506040000040003" pitchFamily="2" charset="0"/>
              </a:rPr>
              <a:t>A file format describes how information is stored (“encoded”) within a digital file</a:t>
            </a:r>
          </a:p>
          <a:p>
            <a:r>
              <a:rPr lang="en-US" sz="4000" dirty="0">
                <a:latin typeface="UGent Panno Text" panose="02000506040000040003" pitchFamily="2" charset="0"/>
              </a:rPr>
              <a:t>Can be recognized by file extension (e.g. *.docx, *.jpg, *.pdf)</a:t>
            </a:r>
          </a:p>
          <a:p>
            <a:r>
              <a:rPr lang="en-US" sz="4000" dirty="0">
                <a:latin typeface="UGent Panno Text" panose="02000506040000040003" pitchFamily="2" charset="0"/>
              </a:rPr>
              <a:t>Choosing a file format might be influenced by different factors:</a:t>
            </a:r>
          </a:p>
        </p:txBody>
      </p:sp>
      <p:sp>
        <p:nvSpPr>
          <p:cNvPr id="4" name="Slide Number Placeholder 3">
            <a:extLst>
              <a:ext uri="{FF2B5EF4-FFF2-40B4-BE49-F238E27FC236}">
                <a16:creationId xmlns:a16="http://schemas.microsoft.com/office/drawing/2014/main" id="{2F2C751C-EEED-421B-9D00-FA795A30E380}"/>
              </a:ext>
            </a:extLst>
          </p:cNvPr>
          <p:cNvSpPr>
            <a:spLocks noGrp="1"/>
          </p:cNvSpPr>
          <p:nvPr>
            <p:ph type="sldNum" sz="quarter" idx="12"/>
          </p:nvPr>
        </p:nvSpPr>
        <p:spPr/>
        <p:txBody>
          <a:bodyPr/>
          <a:lstStyle/>
          <a:p>
            <a:fld id="{7AE184E0-0BD4-4705-A12B-9B71DDE63301}" type="slidenum">
              <a:rPr lang="en-GB" noProof="0" smtClean="0"/>
              <a:t>10</a:t>
            </a:fld>
            <a:endParaRPr lang="en-GB" noProof="0" dirty="0"/>
          </a:p>
        </p:txBody>
      </p:sp>
      <p:grpSp>
        <p:nvGrpSpPr>
          <p:cNvPr id="20" name="Group 19">
            <a:extLst>
              <a:ext uri="{FF2B5EF4-FFF2-40B4-BE49-F238E27FC236}">
                <a16:creationId xmlns:a16="http://schemas.microsoft.com/office/drawing/2014/main" id="{C676E5F8-49A6-4A1E-B2BF-2835783AD20D}"/>
              </a:ext>
            </a:extLst>
          </p:cNvPr>
          <p:cNvGrpSpPr/>
          <p:nvPr/>
        </p:nvGrpSpPr>
        <p:grpSpPr>
          <a:xfrm>
            <a:off x="1538489" y="4389195"/>
            <a:ext cx="14261695" cy="2809941"/>
            <a:chOff x="3468564" y="4383057"/>
            <a:chExt cx="11072381" cy="2181559"/>
          </a:xfrm>
        </p:grpSpPr>
        <p:grpSp>
          <p:nvGrpSpPr>
            <p:cNvPr id="5" name="Group 4">
              <a:extLst>
                <a:ext uri="{FF2B5EF4-FFF2-40B4-BE49-F238E27FC236}">
                  <a16:creationId xmlns:a16="http://schemas.microsoft.com/office/drawing/2014/main" id="{887CBD48-B441-4093-AE87-82C912871012}"/>
                </a:ext>
              </a:extLst>
            </p:cNvPr>
            <p:cNvGrpSpPr/>
            <p:nvPr/>
          </p:nvGrpSpPr>
          <p:grpSpPr>
            <a:xfrm>
              <a:off x="3468564" y="4383057"/>
              <a:ext cx="1735991" cy="2181559"/>
              <a:chOff x="744429" y="2681257"/>
              <a:chExt cx="1735991" cy="2181559"/>
            </a:xfrm>
          </p:grpSpPr>
          <p:pic>
            <p:nvPicPr>
              <p:cNvPr id="6" name="Graphic 5" descr="DNA">
                <a:extLst>
                  <a:ext uri="{FF2B5EF4-FFF2-40B4-BE49-F238E27FC236}">
                    <a16:creationId xmlns:a16="http://schemas.microsoft.com/office/drawing/2014/main" id="{B963317E-9CD6-40C2-B79A-9033FC49298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35919" y="2681257"/>
                <a:ext cx="1153011" cy="1153011"/>
              </a:xfrm>
              <a:prstGeom prst="rect">
                <a:avLst/>
              </a:prstGeom>
            </p:spPr>
          </p:pic>
          <p:sp>
            <p:nvSpPr>
              <p:cNvPr id="7" name="TextBox 6">
                <a:extLst>
                  <a:ext uri="{FF2B5EF4-FFF2-40B4-BE49-F238E27FC236}">
                    <a16:creationId xmlns:a16="http://schemas.microsoft.com/office/drawing/2014/main" id="{972FB3E2-DA18-47BD-9273-EA066BCF87F1}"/>
                  </a:ext>
                </a:extLst>
              </p:cNvPr>
              <p:cNvSpPr txBox="1"/>
              <p:nvPr/>
            </p:nvSpPr>
            <p:spPr>
              <a:xfrm>
                <a:off x="744429" y="4074284"/>
                <a:ext cx="1735991" cy="788532"/>
              </a:xfrm>
              <a:prstGeom prst="rect">
                <a:avLst/>
              </a:prstGeom>
              <a:noFill/>
            </p:spPr>
            <p:txBody>
              <a:bodyPr wrap="square" rtlCol="0">
                <a:spAutoFit/>
              </a:bodyPr>
              <a:lstStyle/>
              <a:p>
                <a:pPr algn="ctr"/>
                <a:r>
                  <a:rPr lang="en-US" sz="3000" dirty="0">
                    <a:latin typeface="UGent Panno Text" panose="02000506040000040003" pitchFamily="50" charset="0"/>
                  </a:rPr>
                  <a:t>Domain norms &amp; software</a:t>
                </a:r>
              </a:p>
            </p:txBody>
          </p:sp>
        </p:grpSp>
        <p:grpSp>
          <p:nvGrpSpPr>
            <p:cNvPr id="8" name="Group 7">
              <a:extLst>
                <a:ext uri="{FF2B5EF4-FFF2-40B4-BE49-F238E27FC236}">
                  <a16:creationId xmlns:a16="http://schemas.microsoft.com/office/drawing/2014/main" id="{9DB3E549-E466-4026-9D3F-2A7B7FDB7B5D}"/>
                </a:ext>
              </a:extLst>
            </p:cNvPr>
            <p:cNvGrpSpPr/>
            <p:nvPr/>
          </p:nvGrpSpPr>
          <p:grpSpPr>
            <a:xfrm>
              <a:off x="5483404" y="4383057"/>
              <a:ext cx="1735991" cy="2181559"/>
              <a:chOff x="2972553" y="2681257"/>
              <a:chExt cx="1735991" cy="2181559"/>
            </a:xfrm>
          </p:grpSpPr>
          <p:pic>
            <p:nvPicPr>
              <p:cNvPr id="9" name="Graphic 8" descr="Users">
                <a:extLst>
                  <a:ext uri="{FF2B5EF4-FFF2-40B4-BE49-F238E27FC236}">
                    <a16:creationId xmlns:a16="http://schemas.microsoft.com/office/drawing/2014/main" id="{97A754AE-E462-436E-A66F-38510F08F684}"/>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264044" y="2681257"/>
                <a:ext cx="1153011" cy="1153011"/>
              </a:xfrm>
              <a:prstGeom prst="rect">
                <a:avLst/>
              </a:prstGeom>
            </p:spPr>
          </p:pic>
          <p:sp>
            <p:nvSpPr>
              <p:cNvPr id="10" name="TextBox 9">
                <a:extLst>
                  <a:ext uri="{FF2B5EF4-FFF2-40B4-BE49-F238E27FC236}">
                    <a16:creationId xmlns:a16="http://schemas.microsoft.com/office/drawing/2014/main" id="{FD84FCC9-CA8C-4011-BC18-17B9784DFDE5}"/>
                  </a:ext>
                </a:extLst>
              </p:cNvPr>
              <p:cNvSpPr txBox="1"/>
              <p:nvPr/>
            </p:nvSpPr>
            <p:spPr>
              <a:xfrm>
                <a:off x="2972553" y="4074284"/>
                <a:ext cx="1735991" cy="788532"/>
              </a:xfrm>
              <a:prstGeom prst="rect">
                <a:avLst/>
              </a:prstGeom>
              <a:noFill/>
            </p:spPr>
            <p:txBody>
              <a:bodyPr wrap="square" rtlCol="0">
                <a:spAutoFit/>
              </a:bodyPr>
              <a:lstStyle/>
              <a:p>
                <a:pPr algn="ctr"/>
                <a:r>
                  <a:rPr lang="en-US" sz="3000" dirty="0">
                    <a:latin typeface="UGent Panno Text" panose="02000506040000040003" pitchFamily="50" charset="0"/>
                  </a:rPr>
                  <a:t>Previous work &amp; colleagues</a:t>
                </a:r>
              </a:p>
            </p:txBody>
          </p:sp>
        </p:grpSp>
        <p:grpSp>
          <p:nvGrpSpPr>
            <p:cNvPr id="11" name="Group 10">
              <a:extLst>
                <a:ext uri="{FF2B5EF4-FFF2-40B4-BE49-F238E27FC236}">
                  <a16:creationId xmlns:a16="http://schemas.microsoft.com/office/drawing/2014/main" id="{45E01F83-DF21-473A-B3F1-F0FDB7FA084B}"/>
                </a:ext>
              </a:extLst>
            </p:cNvPr>
            <p:cNvGrpSpPr/>
            <p:nvPr/>
          </p:nvGrpSpPr>
          <p:grpSpPr>
            <a:xfrm>
              <a:off x="7678763" y="4383057"/>
              <a:ext cx="1981148" cy="2181559"/>
              <a:chOff x="5168359" y="2681257"/>
              <a:chExt cx="1981148" cy="2181559"/>
            </a:xfrm>
          </p:grpSpPr>
          <p:pic>
            <p:nvPicPr>
              <p:cNvPr id="12" name="Graphic 11" descr="Microscope">
                <a:extLst>
                  <a:ext uri="{FF2B5EF4-FFF2-40B4-BE49-F238E27FC236}">
                    <a16:creationId xmlns:a16="http://schemas.microsoft.com/office/drawing/2014/main" id="{ECD45C7D-778C-4837-99B0-445358AE493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582428" y="2681257"/>
                <a:ext cx="1153011" cy="1153011"/>
              </a:xfrm>
              <a:prstGeom prst="rect">
                <a:avLst/>
              </a:prstGeom>
            </p:spPr>
          </p:pic>
          <p:sp>
            <p:nvSpPr>
              <p:cNvPr id="13" name="TextBox 12">
                <a:extLst>
                  <a:ext uri="{FF2B5EF4-FFF2-40B4-BE49-F238E27FC236}">
                    <a16:creationId xmlns:a16="http://schemas.microsoft.com/office/drawing/2014/main" id="{B940C81F-41B4-421E-AB0F-B043AA4CE6A7}"/>
                  </a:ext>
                </a:extLst>
              </p:cNvPr>
              <p:cNvSpPr txBox="1"/>
              <p:nvPr/>
            </p:nvSpPr>
            <p:spPr>
              <a:xfrm>
                <a:off x="5168359" y="4074284"/>
                <a:ext cx="1981148" cy="788532"/>
              </a:xfrm>
              <a:prstGeom prst="rect">
                <a:avLst/>
              </a:prstGeom>
              <a:noFill/>
            </p:spPr>
            <p:txBody>
              <a:bodyPr wrap="square" rtlCol="0">
                <a:spAutoFit/>
              </a:bodyPr>
              <a:lstStyle/>
              <a:p>
                <a:pPr algn="ctr"/>
                <a:r>
                  <a:rPr lang="en-US" sz="3000" dirty="0">
                    <a:latin typeface="UGent Panno Text" panose="02000506040000040003" pitchFamily="50" charset="0"/>
                  </a:rPr>
                  <a:t>Hardware &amp; instrumentation</a:t>
                </a:r>
              </a:p>
            </p:txBody>
          </p:sp>
        </p:grpSp>
        <p:grpSp>
          <p:nvGrpSpPr>
            <p:cNvPr id="14" name="Group 13">
              <a:extLst>
                <a:ext uri="{FF2B5EF4-FFF2-40B4-BE49-F238E27FC236}">
                  <a16:creationId xmlns:a16="http://schemas.microsoft.com/office/drawing/2014/main" id="{533FBD45-5361-4919-8F12-E1CA2182652A}"/>
                </a:ext>
              </a:extLst>
            </p:cNvPr>
            <p:cNvGrpSpPr/>
            <p:nvPr/>
          </p:nvGrpSpPr>
          <p:grpSpPr>
            <a:xfrm>
              <a:off x="10119279" y="4383057"/>
              <a:ext cx="1981148" cy="2181558"/>
              <a:chOff x="7556212" y="2681257"/>
              <a:chExt cx="1981148" cy="2181558"/>
            </a:xfrm>
          </p:grpSpPr>
          <p:pic>
            <p:nvPicPr>
              <p:cNvPr id="15" name="Graphic 14" descr="Connections">
                <a:extLst>
                  <a:ext uri="{FF2B5EF4-FFF2-40B4-BE49-F238E27FC236}">
                    <a16:creationId xmlns:a16="http://schemas.microsoft.com/office/drawing/2014/main" id="{29A0046E-7FE3-4A92-8ABE-CC7E7F0D23A8}"/>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970281" y="2681257"/>
                <a:ext cx="1153011" cy="1153011"/>
              </a:xfrm>
              <a:prstGeom prst="rect">
                <a:avLst/>
              </a:prstGeom>
            </p:spPr>
          </p:pic>
          <p:sp>
            <p:nvSpPr>
              <p:cNvPr id="16" name="TextBox 15">
                <a:extLst>
                  <a:ext uri="{FF2B5EF4-FFF2-40B4-BE49-F238E27FC236}">
                    <a16:creationId xmlns:a16="http://schemas.microsoft.com/office/drawing/2014/main" id="{AE9EB551-CD10-4505-B9B0-074EAF463FF1}"/>
                  </a:ext>
                </a:extLst>
              </p:cNvPr>
              <p:cNvSpPr txBox="1"/>
              <p:nvPr/>
            </p:nvSpPr>
            <p:spPr>
              <a:xfrm>
                <a:off x="7556212" y="4074283"/>
                <a:ext cx="1981148" cy="788532"/>
              </a:xfrm>
              <a:prstGeom prst="rect">
                <a:avLst/>
              </a:prstGeom>
              <a:noFill/>
            </p:spPr>
            <p:txBody>
              <a:bodyPr wrap="square" rtlCol="0">
                <a:spAutoFit/>
              </a:bodyPr>
              <a:lstStyle/>
              <a:p>
                <a:pPr algn="ctr"/>
                <a:r>
                  <a:rPr lang="en-US" sz="3000" dirty="0">
                    <a:latin typeface="UGent Panno Text" panose="02000506040000040003" pitchFamily="50" charset="0"/>
                  </a:rPr>
                  <a:t>Facilitate collaboration</a:t>
                </a:r>
              </a:p>
            </p:txBody>
          </p:sp>
        </p:grpSp>
        <p:grpSp>
          <p:nvGrpSpPr>
            <p:cNvPr id="17" name="Group 16">
              <a:extLst>
                <a:ext uri="{FF2B5EF4-FFF2-40B4-BE49-F238E27FC236}">
                  <a16:creationId xmlns:a16="http://schemas.microsoft.com/office/drawing/2014/main" id="{BA21EE17-F406-4FDD-9D96-433B1C3A51AC}"/>
                </a:ext>
              </a:extLst>
            </p:cNvPr>
            <p:cNvGrpSpPr/>
            <p:nvPr/>
          </p:nvGrpSpPr>
          <p:grpSpPr>
            <a:xfrm>
              <a:off x="12559797" y="4383057"/>
              <a:ext cx="1981148" cy="2181559"/>
              <a:chOff x="9835662" y="2681257"/>
              <a:chExt cx="1981148" cy="2181559"/>
            </a:xfrm>
          </p:grpSpPr>
          <p:pic>
            <p:nvPicPr>
              <p:cNvPr id="18" name="Graphic 17" descr="Brontosaurus">
                <a:extLst>
                  <a:ext uri="{FF2B5EF4-FFF2-40B4-BE49-F238E27FC236}">
                    <a16:creationId xmlns:a16="http://schemas.microsoft.com/office/drawing/2014/main" id="{C232F66C-62BB-4721-8A9D-B15477403C44}"/>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0249731" y="2681257"/>
                <a:ext cx="1153011" cy="1153011"/>
              </a:xfrm>
              <a:prstGeom prst="rect">
                <a:avLst/>
              </a:prstGeom>
            </p:spPr>
          </p:pic>
          <p:sp>
            <p:nvSpPr>
              <p:cNvPr id="19" name="TextBox 18">
                <a:extLst>
                  <a:ext uri="{FF2B5EF4-FFF2-40B4-BE49-F238E27FC236}">
                    <a16:creationId xmlns:a16="http://schemas.microsoft.com/office/drawing/2014/main" id="{FB47B145-0F39-4ADF-A7E8-25E05BF0C7A1}"/>
                  </a:ext>
                </a:extLst>
              </p:cNvPr>
              <p:cNvSpPr txBox="1"/>
              <p:nvPr/>
            </p:nvSpPr>
            <p:spPr>
              <a:xfrm>
                <a:off x="9835662" y="4074284"/>
                <a:ext cx="1981148" cy="788532"/>
              </a:xfrm>
              <a:prstGeom prst="rect">
                <a:avLst/>
              </a:prstGeom>
              <a:noFill/>
            </p:spPr>
            <p:txBody>
              <a:bodyPr wrap="square" rtlCol="0">
                <a:spAutoFit/>
              </a:bodyPr>
              <a:lstStyle/>
              <a:p>
                <a:pPr algn="ctr"/>
                <a:r>
                  <a:rPr lang="en-US" sz="3000" dirty="0">
                    <a:latin typeface="UGent Panno Text" panose="02000506040000040003" pitchFamily="50" charset="0"/>
                  </a:rPr>
                  <a:t>Vulnerability to obsolescence</a:t>
                </a:r>
              </a:p>
            </p:txBody>
          </p:sp>
        </p:grpSp>
      </p:grpSp>
    </p:spTree>
    <p:extLst>
      <p:ext uri="{BB962C8B-B14F-4D97-AF65-F5344CB8AC3E}">
        <p14:creationId xmlns:p14="http://schemas.microsoft.com/office/powerpoint/2010/main" val="2925935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9BA9-9912-4B02-9F32-35A3DFCF9CD5}"/>
              </a:ext>
            </a:extLst>
          </p:cNvPr>
          <p:cNvSpPr>
            <a:spLocks noGrp="1"/>
          </p:cNvSpPr>
          <p:nvPr>
            <p:ph type="title"/>
          </p:nvPr>
        </p:nvSpPr>
        <p:spPr>
          <a:xfrm>
            <a:off x="830118" y="252000"/>
            <a:ext cx="15705282" cy="863693"/>
          </a:xfrm>
        </p:spPr>
        <p:txBody>
          <a:bodyPr/>
          <a:lstStyle/>
          <a:p>
            <a:r>
              <a:rPr lang="en-US" dirty="0">
                <a:latin typeface="UGent Panno Text" panose="02000506040000040003" pitchFamily="2" charset="0"/>
              </a:rPr>
              <a:t>FILE FORMATs: Open vs. closed</a:t>
            </a:r>
          </a:p>
        </p:txBody>
      </p:sp>
      <p:sp>
        <p:nvSpPr>
          <p:cNvPr id="4" name="Slide Number Placeholder 3">
            <a:extLst>
              <a:ext uri="{FF2B5EF4-FFF2-40B4-BE49-F238E27FC236}">
                <a16:creationId xmlns:a16="http://schemas.microsoft.com/office/drawing/2014/main" id="{2F2C751C-EEED-421B-9D00-FA795A30E380}"/>
              </a:ext>
            </a:extLst>
          </p:cNvPr>
          <p:cNvSpPr>
            <a:spLocks noGrp="1"/>
          </p:cNvSpPr>
          <p:nvPr>
            <p:ph type="sldNum" sz="quarter" idx="12"/>
          </p:nvPr>
        </p:nvSpPr>
        <p:spPr/>
        <p:txBody>
          <a:bodyPr/>
          <a:lstStyle/>
          <a:p>
            <a:fld id="{7AE184E0-0BD4-4705-A12B-9B71DDE63301}" type="slidenum">
              <a:rPr lang="en-GB" noProof="0" smtClean="0"/>
              <a:t>11</a:t>
            </a:fld>
            <a:endParaRPr lang="en-GB" noProof="0" dirty="0"/>
          </a:p>
        </p:txBody>
      </p:sp>
      <p:grpSp>
        <p:nvGrpSpPr>
          <p:cNvPr id="30" name="Group 29">
            <a:extLst>
              <a:ext uri="{FF2B5EF4-FFF2-40B4-BE49-F238E27FC236}">
                <a16:creationId xmlns:a16="http://schemas.microsoft.com/office/drawing/2014/main" id="{FEF71744-122C-4FA3-9B1F-1C9FFE24587D}"/>
              </a:ext>
            </a:extLst>
          </p:cNvPr>
          <p:cNvGrpSpPr/>
          <p:nvPr/>
        </p:nvGrpSpPr>
        <p:grpSpPr>
          <a:xfrm>
            <a:off x="833317" y="1928095"/>
            <a:ext cx="15159476" cy="5705409"/>
            <a:chOff x="7783973" y="1288825"/>
            <a:chExt cx="10274377" cy="3866852"/>
          </a:xfrm>
        </p:grpSpPr>
        <p:sp>
          <p:nvSpPr>
            <p:cNvPr id="20" name="TextBox 19">
              <a:extLst>
                <a:ext uri="{FF2B5EF4-FFF2-40B4-BE49-F238E27FC236}">
                  <a16:creationId xmlns:a16="http://schemas.microsoft.com/office/drawing/2014/main" id="{D91FA19B-FE1E-4A07-BFFD-617164C431DF}"/>
                </a:ext>
              </a:extLst>
            </p:cNvPr>
            <p:cNvSpPr txBox="1"/>
            <p:nvPr/>
          </p:nvSpPr>
          <p:spPr>
            <a:xfrm>
              <a:off x="8572150" y="1288825"/>
              <a:ext cx="3051692" cy="521491"/>
            </a:xfrm>
            <a:prstGeom prst="rect">
              <a:avLst/>
            </a:prstGeom>
            <a:noFill/>
          </p:spPr>
          <p:txBody>
            <a:bodyPr wrap="square" rtlCol="0">
              <a:spAutoFit/>
            </a:bodyPr>
            <a:lstStyle/>
            <a:p>
              <a:pPr algn="ctr"/>
              <a:r>
                <a:rPr lang="en-US" sz="4400" dirty="0">
                  <a:latin typeface="UGent Panno Text" panose="02000506040000040003" pitchFamily="50" charset="0"/>
                </a:rPr>
                <a:t>CLOSED FORMATS</a:t>
              </a:r>
            </a:p>
          </p:txBody>
        </p:sp>
        <p:sp>
          <p:nvSpPr>
            <p:cNvPr id="21" name="TextBox 20">
              <a:extLst>
                <a:ext uri="{FF2B5EF4-FFF2-40B4-BE49-F238E27FC236}">
                  <a16:creationId xmlns:a16="http://schemas.microsoft.com/office/drawing/2014/main" id="{E20F6BFF-9415-448E-BF58-9EBD9BA2F693}"/>
                </a:ext>
              </a:extLst>
            </p:cNvPr>
            <p:cNvSpPr txBox="1"/>
            <p:nvPr/>
          </p:nvSpPr>
          <p:spPr>
            <a:xfrm>
              <a:off x="13357060" y="1288825"/>
              <a:ext cx="2923355" cy="521491"/>
            </a:xfrm>
            <a:prstGeom prst="rect">
              <a:avLst/>
            </a:prstGeom>
            <a:noFill/>
          </p:spPr>
          <p:txBody>
            <a:bodyPr wrap="square" rtlCol="0">
              <a:spAutoFit/>
            </a:bodyPr>
            <a:lstStyle/>
            <a:p>
              <a:pPr algn="ctr"/>
              <a:r>
                <a:rPr lang="en-US" sz="4400" dirty="0">
                  <a:latin typeface="UGent Panno Text" panose="02000506040000040003" pitchFamily="50" charset="0"/>
                </a:rPr>
                <a:t>OPEN FORMATS</a:t>
              </a:r>
            </a:p>
          </p:txBody>
        </p:sp>
        <p:sp>
          <p:nvSpPr>
            <p:cNvPr id="22" name="TextBox 21">
              <a:extLst>
                <a:ext uri="{FF2B5EF4-FFF2-40B4-BE49-F238E27FC236}">
                  <a16:creationId xmlns:a16="http://schemas.microsoft.com/office/drawing/2014/main" id="{E0D8924C-6505-4D17-BFDA-F48855C9FE01}"/>
                </a:ext>
              </a:extLst>
            </p:cNvPr>
            <p:cNvSpPr txBox="1"/>
            <p:nvPr/>
          </p:nvSpPr>
          <p:spPr>
            <a:xfrm>
              <a:off x="8817810" y="2151889"/>
              <a:ext cx="3308605" cy="3003788"/>
            </a:xfrm>
            <a:prstGeom prst="rect">
              <a:avLst/>
            </a:prstGeom>
            <a:noFill/>
          </p:spPr>
          <p:txBody>
            <a:bodyPr wrap="square" rtlCol="0">
              <a:spAutoFit/>
            </a:bodyPr>
            <a:lstStyle/>
            <a:p>
              <a:pPr marL="457200" indent="-457200">
                <a:spcAft>
                  <a:spcPts val="1200"/>
                </a:spcAft>
                <a:buFont typeface="Arial" panose="020B0604020202020204" pitchFamily="34" charset="0"/>
                <a:buChar char="•"/>
              </a:pPr>
              <a:r>
                <a:rPr lang="en-US" sz="3600" dirty="0">
                  <a:latin typeface="UGent Panno Text" panose="02000506040000040003" pitchFamily="50" charset="0"/>
                </a:rPr>
                <a:t>Proprietary</a:t>
              </a:r>
            </a:p>
            <a:p>
              <a:pPr marL="457200" indent="-457200">
                <a:spcAft>
                  <a:spcPts val="1200"/>
                </a:spcAft>
                <a:buFont typeface="Arial" panose="020B0604020202020204" pitchFamily="34" charset="0"/>
                <a:buChar char="•"/>
              </a:pPr>
              <a:r>
                <a:rPr lang="en-US" sz="3600" dirty="0">
                  <a:latin typeface="UGent Panno Text" panose="02000506040000040003" pitchFamily="50" charset="0"/>
                </a:rPr>
                <a:t>Dependence on third-party software</a:t>
              </a:r>
            </a:p>
            <a:p>
              <a:pPr marL="457200" indent="-457200">
                <a:spcAft>
                  <a:spcPts val="1200"/>
                </a:spcAft>
                <a:buFont typeface="Arial" panose="020B0604020202020204" pitchFamily="34" charset="0"/>
                <a:buChar char="•"/>
              </a:pPr>
              <a:r>
                <a:rPr lang="en-US" sz="3600" dirty="0">
                  <a:latin typeface="UGent Panno Text" panose="02000506040000040003" pitchFamily="50" charset="0"/>
                </a:rPr>
                <a:t>Limited compatibility between versions</a:t>
              </a:r>
            </a:p>
            <a:p>
              <a:pPr marL="457200" indent="-457200">
                <a:spcAft>
                  <a:spcPts val="1200"/>
                </a:spcAft>
                <a:buFont typeface="Arial" panose="020B0604020202020204" pitchFamily="34" charset="0"/>
                <a:buChar char="•"/>
              </a:pPr>
              <a:r>
                <a:rPr lang="en-US" sz="3600" dirty="0">
                  <a:solidFill>
                    <a:schemeClr val="accent1"/>
                  </a:solidFill>
                  <a:latin typeface="UGent Panno Text" panose="02000506040000040003" pitchFamily="50" charset="0"/>
                </a:rPr>
                <a:t>High vulnerability to obsolescence</a:t>
              </a:r>
            </a:p>
          </p:txBody>
        </p:sp>
        <p:sp>
          <p:nvSpPr>
            <p:cNvPr id="23" name="TextBox 22">
              <a:extLst>
                <a:ext uri="{FF2B5EF4-FFF2-40B4-BE49-F238E27FC236}">
                  <a16:creationId xmlns:a16="http://schemas.microsoft.com/office/drawing/2014/main" id="{FF959D42-E201-4F65-8BEA-C52C3FF7253A}"/>
                </a:ext>
              </a:extLst>
            </p:cNvPr>
            <p:cNvSpPr txBox="1"/>
            <p:nvPr/>
          </p:nvSpPr>
          <p:spPr>
            <a:xfrm>
              <a:off x="13456323" y="2151889"/>
              <a:ext cx="4602027" cy="2847337"/>
            </a:xfrm>
            <a:prstGeom prst="rect">
              <a:avLst/>
            </a:prstGeom>
            <a:noFill/>
          </p:spPr>
          <p:txBody>
            <a:bodyPr wrap="square" rtlCol="0">
              <a:spAutoFit/>
            </a:bodyPr>
            <a:lstStyle/>
            <a:p>
              <a:pPr marL="457200" indent="-457200">
                <a:buFont typeface="Arial" panose="020B0604020202020204" pitchFamily="34" charset="0"/>
                <a:buChar char="•"/>
              </a:pPr>
              <a:r>
                <a:rPr lang="en-US" sz="3600" dirty="0">
                  <a:latin typeface="UGent Panno Text" panose="02000506040000040003" pitchFamily="50" charset="0"/>
                </a:rPr>
                <a:t>Proprietary &amp;</a:t>
              </a:r>
            </a:p>
            <a:p>
              <a:pPr indent="450850">
                <a:spcAft>
                  <a:spcPts val="600"/>
                </a:spcAft>
              </a:pPr>
              <a:r>
                <a:rPr lang="en-US" sz="3600" dirty="0">
                  <a:latin typeface="UGent Panno Text" panose="02000506040000040003" pitchFamily="50" charset="0"/>
                </a:rPr>
                <a:t>non-proprietary</a:t>
              </a:r>
            </a:p>
            <a:p>
              <a:pPr marL="457200" indent="-457200">
                <a:spcAft>
                  <a:spcPts val="600"/>
                </a:spcAft>
                <a:buFont typeface="Arial" panose="020B0604020202020204" pitchFamily="34" charset="0"/>
                <a:buChar char="•"/>
              </a:pPr>
              <a:r>
                <a:rPr lang="en-US" sz="3600" dirty="0">
                  <a:latin typeface="UGent Panno Text" panose="02000506040000040003" pitchFamily="50" charset="0"/>
                </a:rPr>
                <a:t>Platform and software independent: maximize interoperability &amp; reuse</a:t>
              </a:r>
            </a:p>
            <a:p>
              <a:pPr marL="457200" indent="-457200">
                <a:spcAft>
                  <a:spcPts val="600"/>
                </a:spcAft>
                <a:buFont typeface="Arial" panose="020B0604020202020204" pitchFamily="34" charset="0"/>
                <a:buChar char="•"/>
              </a:pPr>
              <a:r>
                <a:rPr lang="en-US" sz="3600" dirty="0">
                  <a:latin typeface="UGent Panno Text" panose="02000506040000040003" pitchFamily="50" charset="0"/>
                </a:rPr>
                <a:t>Compatibility between versions by design</a:t>
              </a:r>
            </a:p>
            <a:p>
              <a:pPr marL="457200" indent="-457200">
                <a:spcAft>
                  <a:spcPts val="600"/>
                </a:spcAft>
                <a:buFont typeface="Arial" panose="020B0604020202020204" pitchFamily="34" charset="0"/>
                <a:buChar char="•"/>
              </a:pPr>
              <a:r>
                <a:rPr lang="en-US" sz="3600" dirty="0">
                  <a:solidFill>
                    <a:schemeClr val="accent1"/>
                  </a:solidFill>
                  <a:latin typeface="UGent Panno Text" panose="02000506040000040003" pitchFamily="50" charset="0"/>
                </a:rPr>
                <a:t>Low vulnerability to obsolescence</a:t>
              </a:r>
            </a:p>
          </p:txBody>
        </p:sp>
        <p:pic>
          <p:nvPicPr>
            <p:cNvPr id="24" name="Graphic 23">
              <a:extLst>
                <a:ext uri="{FF2B5EF4-FFF2-40B4-BE49-F238E27FC236}">
                  <a16:creationId xmlns:a16="http://schemas.microsoft.com/office/drawing/2014/main" id="{B8C26448-BA17-4FBF-8EB7-6A14927EB52E}"/>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783973" y="2124593"/>
              <a:ext cx="432000" cy="432000"/>
            </a:xfrm>
            <a:prstGeom prst="rect">
              <a:avLst/>
            </a:prstGeom>
          </p:spPr>
        </p:pic>
        <p:pic>
          <p:nvPicPr>
            <p:cNvPr id="25" name="Graphic 24">
              <a:extLst>
                <a:ext uri="{FF2B5EF4-FFF2-40B4-BE49-F238E27FC236}">
                  <a16:creationId xmlns:a16="http://schemas.microsoft.com/office/drawing/2014/main" id="{641AEE73-3DFB-4118-A497-5C5979EFDB6A}"/>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422487" y="2124593"/>
              <a:ext cx="432000" cy="432000"/>
            </a:xfrm>
            <a:prstGeom prst="rect">
              <a:avLst/>
            </a:prstGeom>
          </p:spPr>
        </p:pic>
        <p:pic>
          <p:nvPicPr>
            <p:cNvPr id="26" name="Graphic 25">
              <a:extLst>
                <a:ext uri="{FF2B5EF4-FFF2-40B4-BE49-F238E27FC236}">
                  <a16:creationId xmlns:a16="http://schemas.microsoft.com/office/drawing/2014/main" id="{CC495E28-4C4E-4F7D-B42A-9991266FED95}"/>
                </a:ext>
              </a:extLst>
            </p:cNvPr>
            <p:cNvPicPr>
              <a:picLocks noChangeAspect="1"/>
            </p:cNvPicPr>
            <p:nvPr/>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854487" y="2650814"/>
              <a:ext cx="432000" cy="432000"/>
            </a:xfrm>
            <a:prstGeom prst="rect">
              <a:avLst/>
            </a:prstGeom>
          </p:spPr>
        </p:pic>
        <p:pic>
          <p:nvPicPr>
            <p:cNvPr id="27" name="Graphic 26">
              <a:extLst>
                <a:ext uri="{FF2B5EF4-FFF2-40B4-BE49-F238E27FC236}">
                  <a16:creationId xmlns:a16="http://schemas.microsoft.com/office/drawing/2014/main" id="{707DF857-BC66-46EB-A48B-ABC9495E143F}"/>
                </a:ext>
              </a:extLst>
            </p:cNvPr>
            <p:cNvPicPr>
              <a:picLocks noChangeAspect="1"/>
            </p:cNvPicPr>
            <p:nvPr/>
          </p:nvPicPr>
          <p:blipFill>
            <a:blip r:embed="rId9" cstate="print">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422487" y="2650814"/>
              <a:ext cx="432000" cy="432000"/>
            </a:xfrm>
            <a:prstGeom prst="rect">
              <a:avLst/>
            </a:prstGeom>
          </p:spPr>
        </p:pic>
        <p:pic>
          <p:nvPicPr>
            <p:cNvPr id="28" name="Graphic 27">
              <a:extLst>
                <a:ext uri="{FF2B5EF4-FFF2-40B4-BE49-F238E27FC236}">
                  <a16:creationId xmlns:a16="http://schemas.microsoft.com/office/drawing/2014/main" id="{91CED571-279B-41F4-8BA4-B05DFA80D91F}"/>
                </a:ext>
              </a:extLst>
            </p:cNvPr>
            <p:cNvPicPr>
              <a:picLocks noChangeAspect="1"/>
            </p:cNvPicPr>
            <p:nvPr/>
          </p:nvPicPr>
          <p:blipFill>
            <a:blip r:embed="rId11" cstate="print">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2854487" y="2124593"/>
              <a:ext cx="432000" cy="432000"/>
            </a:xfrm>
            <a:prstGeom prst="rect">
              <a:avLst/>
            </a:prstGeom>
          </p:spPr>
        </p:pic>
        <p:pic>
          <p:nvPicPr>
            <p:cNvPr id="29" name="Graphic 28">
              <a:extLst>
                <a:ext uri="{FF2B5EF4-FFF2-40B4-BE49-F238E27FC236}">
                  <a16:creationId xmlns:a16="http://schemas.microsoft.com/office/drawing/2014/main" id="{A70CBD31-45F0-413C-8875-975BA38F481B}"/>
                </a:ext>
              </a:extLst>
            </p:cNvPr>
            <p:cNvPicPr>
              <a:picLocks noChangeAspect="1"/>
            </p:cNvPicPr>
            <p:nvPr/>
          </p:nvPicPr>
          <p:blipFill>
            <a:blip r:embed="rId13" cstate="print">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8215973" y="2124593"/>
              <a:ext cx="432000" cy="432000"/>
            </a:xfrm>
            <a:prstGeom prst="rect">
              <a:avLst/>
            </a:prstGeom>
          </p:spPr>
        </p:pic>
      </p:grpSp>
      <p:sp>
        <p:nvSpPr>
          <p:cNvPr id="7" name="TextBox 6">
            <a:extLst>
              <a:ext uri="{FF2B5EF4-FFF2-40B4-BE49-F238E27FC236}">
                <a16:creationId xmlns:a16="http://schemas.microsoft.com/office/drawing/2014/main" id="{C90B2557-E706-4CF4-8562-0A0E93EB0B03}"/>
              </a:ext>
            </a:extLst>
          </p:cNvPr>
          <p:cNvSpPr txBox="1"/>
          <p:nvPr/>
        </p:nvSpPr>
        <p:spPr>
          <a:xfrm>
            <a:off x="10506396" y="8908722"/>
            <a:ext cx="5406620" cy="517065"/>
          </a:xfrm>
          <a:prstGeom prst="rect">
            <a:avLst/>
          </a:prstGeom>
          <a:noFill/>
        </p:spPr>
        <p:txBody>
          <a:bodyPr wrap="square" rtlCol="0">
            <a:spAutoFit/>
          </a:bodyPr>
          <a:lstStyle/>
          <a:p>
            <a:pPr>
              <a:lnSpc>
                <a:spcPct val="120000"/>
              </a:lnSpc>
            </a:pPr>
            <a:r>
              <a:rPr lang="en-US" sz="2400" dirty="0">
                <a:latin typeface="UGent Panno Text" panose="02000506040000040003" pitchFamily="50" charset="0"/>
              </a:rPr>
              <a:t>Icons made by </a:t>
            </a:r>
            <a:r>
              <a:rPr lang="en-US" sz="2400" dirty="0" err="1">
                <a:latin typeface="UGent Panno Text" panose="02000506040000040003" pitchFamily="50" charset="0"/>
              </a:rPr>
              <a:t>Freepik</a:t>
            </a:r>
            <a:r>
              <a:rPr lang="en-US" sz="2400" dirty="0">
                <a:latin typeface="UGent Panno Text" panose="02000506040000040003" pitchFamily="50" charset="0"/>
              </a:rPr>
              <a:t> from </a:t>
            </a:r>
            <a:r>
              <a:rPr lang="en-US" sz="2400" dirty="0">
                <a:latin typeface="UGent Panno Text" panose="02000506040000040003" pitchFamily="50" charset="0"/>
                <a:hlinkClick r:id="rId15"/>
              </a:rPr>
              <a:t>www.flaticon.com</a:t>
            </a:r>
            <a:r>
              <a:rPr lang="en-US" sz="2400" dirty="0">
                <a:latin typeface="UGent Panno Text" panose="02000506040000040003" pitchFamily="50" charset="0"/>
              </a:rPr>
              <a:t> </a:t>
            </a:r>
          </a:p>
        </p:txBody>
      </p:sp>
    </p:spTree>
    <p:extLst>
      <p:ext uri="{BB962C8B-B14F-4D97-AF65-F5344CB8AC3E}">
        <p14:creationId xmlns:p14="http://schemas.microsoft.com/office/powerpoint/2010/main" val="41935786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9BA9-9912-4B02-9F32-35A3DFCF9CD5}"/>
              </a:ext>
            </a:extLst>
          </p:cNvPr>
          <p:cNvSpPr>
            <a:spLocks noGrp="1"/>
          </p:cNvSpPr>
          <p:nvPr>
            <p:ph type="title"/>
          </p:nvPr>
        </p:nvSpPr>
        <p:spPr/>
        <p:txBody>
          <a:bodyPr/>
          <a:lstStyle/>
          <a:p>
            <a:r>
              <a:rPr lang="en-US" dirty="0">
                <a:latin typeface="UGent Panno Text" panose="02000506040000040003" pitchFamily="2" charset="0"/>
              </a:rPr>
              <a:t>file migration &amp; compression</a:t>
            </a:r>
          </a:p>
        </p:txBody>
      </p:sp>
      <p:sp>
        <p:nvSpPr>
          <p:cNvPr id="4" name="Slide Number Placeholder 3">
            <a:extLst>
              <a:ext uri="{FF2B5EF4-FFF2-40B4-BE49-F238E27FC236}">
                <a16:creationId xmlns:a16="http://schemas.microsoft.com/office/drawing/2014/main" id="{2F2C751C-EEED-421B-9D00-FA795A30E380}"/>
              </a:ext>
            </a:extLst>
          </p:cNvPr>
          <p:cNvSpPr>
            <a:spLocks noGrp="1"/>
          </p:cNvSpPr>
          <p:nvPr>
            <p:ph type="sldNum" sz="quarter" idx="12"/>
          </p:nvPr>
        </p:nvSpPr>
        <p:spPr/>
        <p:txBody>
          <a:bodyPr/>
          <a:lstStyle/>
          <a:p>
            <a:fld id="{7AE184E0-0BD4-4705-A12B-9B71DDE63301}" type="slidenum">
              <a:rPr lang="en-GB" noProof="0" smtClean="0"/>
              <a:t>12</a:t>
            </a:fld>
            <a:endParaRPr lang="en-GB" noProof="0" dirty="0"/>
          </a:p>
        </p:txBody>
      </p:sp>
      <p:grpSp>
        <p:nvGrpSpPr>
          <p:cNvPr id="16" name="Group 15">
            <a:extLst>
              <a:ext uri="{FF2B5EF4-FFF2-40B4-BE49-F238E27FC236}">
                <a16:creationId xmlns:a16="http://schemas.microsoft.com/office/drawing/2014/main" id="{0270CAA3-69A6-425F-B603-B64354C34C04}"/>
              </a:ext>
            </a:extLst>
          </p:cNvPr>
          <p:cNvGrpSpPr/>
          <p:nvPr/>
        </p:nvGrpSpPr>
        <p:grpSpPr>
          <a:xfrm>
            <a:off x="637065" y="1424598"/>
            <a:ext cx="2852029" cy="1864583"/>
            <a:chOff x="512837" y="2529000"/>
            <a:chExt cx="2852029" cy="1864583"/>
          </a:xfrm>
        </p:grpSpPr>
        <p:pic>
          <p:nvPicPr>
            <p:cNvPr id="17" name="Picture 16">
              <a:extLst>
                <a:ext uri="{FF2B5EF4-FFF2-40B4-BE49-F238E27FC236}">
                  <a16:creationId xmlns:a16="http://schemas.microsoft.com/office/drawing/2014/main" id="{BAABB3C9-C038-46A0-9479-53FC51CDDC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01710" y="2529000"/>
              <a:ext cx="874284" cy="900000"/>
            </a:xfrm>
            <a:prstGeom prst="rect">
              <a:avLst/>
            </a:prstGeom>
          </p:spPr>
        </p:pic>
        <p:sp>
          <p:nvSpPr>
            <p:cNvPr id="18" name="TextBox 17">
              <a:extLst>
                <a:ext uri="{FF2B5EF4-FFF2-40B4-BE49-F238E27FC236}">
                  <a16:creationId xmlns:a16="http://schemas.microsoft.com/office/drawing/2014/main" id="{E39F43C0-9FBD-422B-8C7D-8F99E16E8462}"/>
                </a:ext>
              </a:extLst>
            </p:cNvPr>
            <p:cNvSpPr txBox="1"/>
            <p:nvPr/>
          </p:nvSpPr>
          <p:spPr>
            <a:xfrm>
              <a:off x="512837" y="3562586"/>
              <a:ext cx="2852029" cy="830997"/>
            </a:xfrm>
            <a:prstGeom prst="rect">
              <a:avLst/>
            </a:prstGeom>
            <a:noFill/>
          </p:spPr>
          <p:txBody>
            <a:bodyPr wrap="square" rtlCol="0">
              <a:spAutoFit/>
            </a:bodyPr>
            <a:lstStyle/>
            <a:p>
              <a:pPr algn="ctr"/>
              <a:r>
                <a:rPr lang="en-US" sz="2400" dirty="0">
                  <a:latin typeface="UGent Panno Text" panose="02000506040000040003" pitchFamily="50" charset="0"/>
                </a:rPr>
                <a:t>Possible loss of content, metadata &amp; quality</a:t>
              </a:r>
              <a:endParaRPr lang="en-US" sz="1200" dirty="0">
                <a:latin typeface="UGent Panno Text" panose="02000506040000040003" pitchFamily="50" charset="0"/>
              </a:endParaRPr>
            </a:p>
          </p:txBody>
        </p:sp>
      </p:grpSp>
      <p:grpSp>
        <p:nvGrpSpPr>
          <p:cNvPr id="19" name="Group 18">
            <a:extLst>
              <a:ext uri="{FF2B5EF4-FFF2-40B4-BE49-F238E27FC236}">
                <a16:creationId xmlns:a16="http://schemas.microsoft.com/office/drawing/2014/main" id="{5F2A2D66-D85E-481B-87B6-34BBEF4794AB}"/>
              </a:ext>
            </a:extLst>
          </p:cNvPr>
          <p:cNvGrpSpPr/>
          <p:nvPr/>
        </p:nvGrpSpPr>
        <p:grpSpPr>
          <a:xfrm>
            <a:off x="4761650" y="1424598"/>
            <a:ext cx="2433989" cy="1501873"/>
            <a:chOff x="3548115" y="2559700"/>
            <a:chExt cx="2433989" cy="1501873"/>
          </a:xfrm>
        </p:grpSpPr>
        <p:sp>
          <p:nvSpPr>
            <p:cNvPr id="31" name="TextBox 30">
              <a:extLst>
                <a:ext uri="{FF2B5EF4-FFF2-40B4-BE49-F238E27FC236}">
                  <a16:creationId xmlns:a16="http://schemas.microsoft.com/office/drawing/2014/main" id="{FD26B2AD-AFDD-4A5F-AC2B-76FA822BF1DC}"/>
                </a:ext>
              </a:extLst>
            </p:cNvPr>
            <p:cNvSpPr txBox="1"/>
            <p:nvPr/>
          </p:nvSpPr>
          <p:spPr>
            <a:xfrm>
              <a:off x="3548115" y="3599908"/>
              <a:ext cx="2433989" cy="461665"/>
            </a:xfrm>
            <a:prstGeom prst="rect">
              <a:avLst/>
            </a:prstGeom>
            <a:noFill/>
          </p:spPr>
          <p:txBody>
            <a:bodyPr wrap="square" rtlCol="0">
              <a:spAutoFit/>
            </a:bodyPr>
            <a:lstStyle/>
            <a:p>
              <a:pPr algn="ctr"/>
              <a:r>
                <a:rPr lang="en-US" sz="2400" dirty="0">
                  <a:latin typeface="UGent Panno Text" panose="02000506040000040003" pitchFamily="50" charset="0"/>
                </a:rPr>
                <a:t>Be aware of the risks</a:t>
              </a:r>
              <a:endParaRPr lang="en-US" sz="1200" dirty="0">
                <a:latin typeface="UGent Panno Text" panose="02000506040000040003" pitchFamily="50" charset="0"/>
              </a:endParaRPr>
            </a:p>
          </p:txBody>
        </p:sp>
        <p:pic>
          <p:nvPicPr>
            <p:cNvPr id="32" name="Graphic 31" descr="Warning">
              <a:extLst>
                <a:ext uri="{FF2B5EF4-FFF2-40B4-BE49-F238E27FC236}">
                  <a16:creationId xmlns:a16="http://schemas.microsoft.com/office/drawing/2014/main" id="{552B60E2-5F15-49A1-BF24-043E853E705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315110" y="2559700"/>
              <a:ext cx="900000" cy="900000"/>
            </a:xfrm>
            <a:prstGeom prst="rect">
              <a:avLst/>
            </a:prstGeom>
          </p:spPr>
        </p:pic>
      </p:grpSp>
      <p:grpSp>
        <p:nvGrpSpPr>
          <p:cNvPr id="33" name="Group 32">
            <a:extLst>
              <a:ext uri="{FF2B5EF4-FFF2-40B4-BE49-F238E27FC236}">
                <a16:creationId xmlns:a16="http://schemas.microsoft.com/office/drawing/2014/main" id="{6E7D9592-F483-42A9-A6E1-23BDF0029A30}"/>
              </a:ext>
            </a:extLst>
          </p:cNvPr>
          <p:cNvGrpSpPr/>
          <p:nvPr/>
        </p:nvGrpSpPr>
        <p:grpSpPr>
          <a:xfrm>
            <a:off x="8468195" y="1392306"/>
            <a:ext cx="3035406" cy="1529352"/>
            <a:chOff x="6086523" y="2559700"/>
            <a:chExt cx="3035406" cy="1529352"/>
          </a:xfrm>
        </p:grpSpPr>
        <p:pic>
          <p:nvPicPr>
            <p:cNvPr id="34" name="Graphic 33" descr="Images">
              <a:extLst>
                <a:ext uri="{FF2B5EF4-FFF2-40B4-BE49-F238E27FC236}">
                  <a16:creationId xmlns:a16="http://schemas.microsoft.com/office/drawing/2014/main" id="{D8C9B8D1-1604-4572-B457-005DCFFECB09}"/>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7154226" y="2559700"/>
              <a:ext cx="900000" cy="900000"/>
            </a:xfrm>
            <a:prstGeom prst="rect">
              <a:avLst/>
            </a:prstGeom>
          </p:spPr>
        </p:pic>
        <p:sp>
          <p:nvSpPr>
            <p:cNvPr id="35" name="TextBox 34">
              <a:extLst>
                <a:ext uri="{FF2B5EF4-FFF2-40B4-BE49-F238E27FC236}">
                  <a16:creationId xmlns:a16="http://schemas.microsoft.com/office/drawing/2014/main" id="{265344A4-2BF3-4E1B-8EDC-90FF5B9EE9F2}"/>
                </a:ext>
              </a:extLst>
            </p:cNvPr>
            <p:cNvSpPr txBox="1"/>
            <p:nvPr/>
          </p:nvSpPr>
          <p:spPr>
            <a:xfrm>
              <a:off x="6086523" y="3627387"/>
              <a:ext cx="3035406" cy="461665"/>
            </a:xfrm>
            <a:prstGeom prst="rect">
              <a:avLst/>
            </a:prstGeom>
            <a:noFill/>
          </p:spPr>
          <p:txBody>
            <a:bodyPr wrap="square" rtlCol="0">
              <a:spAutoFit/>
            </a:bodyPr>
            <a:lstStyle/>
            <a:p>
              <a:pPr algn="ctr"/>
              <a:r>
                <a:rPr lang="en-US" sz="2400" dirty="0">
                  <a:latin typeface="UGent Panno Text" panose="02000506040000040003" pitchFamily="50" charset="0"/>
                </a:rPr>
                <a:t>Keep a copy of the original</a:t>
              </a:r>
              <a:endParaRPr lang="en-US" sz="1200" dirty="0">
                <a:latin typeface="UGent Panno Text" panose="02000506040000040003" pitchFamily="50" charset="0"/>
              </a:endParaRPr>
            </a:p>
          </p:txBody>
        </p:sp>
      </p:grpSp>
      <p:grpSp>
        <p:nvGrpSpPr>
          <p:cNvPr id="36" name="Group 35">
            <a:extLst>
              <a:ext uri="{FF2B5EF4-FFF2-40B4-BE49-F238E27FC236}">
                <a16:creationId xmlns:a16="http://schemas.microsoft.com/office/drawing/2014/main" id="{B065F226-0B7C-4711-9D44-FF3C19B4EDEA}"/>
              </a:ext>
            </a:extLst>
          </p:cNvPr>
          <p:cNvGrpSpPr/>
          <p:nvPr/>
        </p:nvGrpSpPr>
        <p:grpSpPr>
          <a:xfrm>
            <a:off x="12776157" y="1424598"/>
            <a:ext cx="2724907" cy="1495251"/>
            <a:chOff x="8777138" y="2559700"/>
            <a:chExt cx="2724907" cy="1495251"/>
          </a:xfrm>
        </p:grpSpPr>
        <p:pic>
          <p:nvPicPr>
            <p:cNvPr id="37" name="Graphic 36" descr="Tools">
              <a:extLst>
                <a:ext uri="{FF2B5EF4-FFF2-40B4-BE49-F238E27FC236}">
                  <a16:creationId xmlns:a16="http://schemas.microsoft.com/office/drawing/2014/main" id="{4BBA0718-8E07-4837-B3E9-0B47A3546B35}"/>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89592" y="2559700"/>
              <a:ext cx="900000" cy="900000"/>
            </a:xfrm>
            <a:prstGeom prst="rect">
              <a:avLst/>
            </a:prstGeom>
          </p:spPr>
        </p:pic>
        <p:sp>
          <p:nvSpPr>
            <p:cNvPr id="38" name="TextBox 37">
              <a:extLst>
                <a:ext uri="{FF2B5EF4-FFF2-40B4-BE49-F238E27FC236}">
                  <a16:creationId xmlns:a16="http://schemas.microsoft.com/office/drawing/2014/main" id="{2109AB1E-6C3A-4130-B565-3C80B60672D4}"/>
                </a:ext>
              </a:extLst>
            </p:cNvPr>
            <p:cNvSpPr txBox="1"/>
            <p:nvPr/>
          </p:nvSpPr>
          <p:spPr>
            <a:xfrm>
              <a:off x="8777138" y="3593286"/>
              <a:ext cx="2724907" cy="461665"/>
            </a:xfrm>
            <a:prstGeom prst="rect">
              <a:avLst/>
            </a:prstGeom>
            <a:noFill/>
          </p:spPr>
          <p:txBody>
            <a:bodyPr wrap="square" rtlCol="0">
              <a:spAutoFit/>
            </a:bodyPr>
            <a:lstStyle/>
            <a:p>
              <a:pPr algn="ctr"/>
              <a:r>
                <a:rPr lang="en-US" sz="2400" dirty="0">
                  <a:latin typeface="UGent Panno Text" panose="02000506040000040003" pitchFamily="50" charset="0"/>
                </a:rPr>
                <a:t>Check &amp; repair damage</a:t>
              </a:r>
              <a:endParaRPr lang="en-US" sz="1200" dirty="0">
                <a:latin typeface="UGent Panno Text" panose="02000506040000040003" pitchFamily="50" charset="0"/>
              </a:endParaRPr>
            </a:p>
          </p:txBody>
        </p:sp>
      </p:grpSp>
      <p:pic>
        <p:nvPicPr>
          <p:cNvPr id="8" name="Graphic 7">
            <a:extLst>
              <a:ext uri="{FF2B5EF4-FFF2-40B4-BE49-F238E27FC236}">
                <a16:creationId xmlns:a16="http://schemas.microsoft.com/office/drawing/2014/main" id="{257EE166-EFC2-4426-9C4B-C09F89FB374F}"/>
              </a:ext>
            </a:extLst>
          </p:cNvPr>
          <p:cNvPicPr>
            <a:picLocks noChangeAspect="1"/>
          </p:cNvPicPr>
          <p:nvPr/>
        </p:nvPicPr>
        <p:blipFill>
          <a:blip r:embed="rId10" cstate="print">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59365" y="3919632"/>
            <a:ext cx="710558" cy="710558"/>
          </a:xfrm>
          <a:prstGeom prst="rect">
            <a:avLst/>
          </a:prstGeom>
        </p:spPr>
      </p:pic>
      <p:pic>
        <p:nvPicPr>
          <p:cNvPr id="10" name="Graphic 9">
            <a:extLst>
              <a:ext uri="{FF2B5EF4-FFF2-40B4-BE49-F238E27FC236}">
                <a16:creationId xmlns:a16="http://schemas.microsoft.com/office/drawing/2014/main" id="{96AA176B-E96C-4809-BFC2-AA3F1F9B0E3B}"/>
              </a:ext>
            </a:extLst>
          </p:cNvPr>
          <p:cNvPicPr>
            <a:picLocks noChangeAspect="1"/>
          </p:cNvPicPr>
          <p:nvPr/>
        </p:nvPicPr>
        <p:blipFill>
          <a:blip r:embed="rId12" cstate="print">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2338290" y="3919632"/>
            <a:ext cx="710558" cy="710558"/>
          </a:xfrm>
          <a:prstGeom prst="rect">
            <a:avLst/>
          </a:prstGeom>
        </p:spPr>
      </p:pic>
      <p:sp>
        <p:nvSpPr>
          <p:cNvPr id="11" name="Arrow: Right 10">
            <a:extLst>
              <a:ext uri="{FF2B5EF4-FFF2-40B4-BE49-F238E27FC236}">
                <a16:creationId xmlns:a16="http://schemas.microsoft.com/office/drawing/2014/main" id="{C92272F4-ECF8-4B5C-A356-54E54FC82871}"/>
              </a:ext>
            </a:extLst>
          </p:cNvPr>
          <p:cNvSpPr/>
          <p:nvPr/>
        </p:nvSpPr>
        <p:spPr>
          <a:xfrm>
            <a:off x="1888998" y="4159414"/>
            <a:ext cx="289609" cy="240751"/>
          </a:xfrm>
          <a:prstGeom prst="rightArrow">
            <a:avLst/>
          </a:prstGeom>
          <a:solidFill>
            <a:schemeClr val="tx2"/>
          </a:solidFill>
          <a:ln w="31750">
            <a:solidFill>
              <a:srgbClr val="1E64C8"/>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err="1">
              <a:solidFill>
                <a:schemeClr val="tx1"/>
              </a:solidFill>
            </a:endParaRPr>
          </a:p>
        </p:txBody>
      </p:sp>
      <p:sp>
        <p:nvSpPr>
          <p:cNvPr id="12" name="TextBox 11">
            <a:extLst>
              <a:ext uri="{FF2B5EF4-FFF2-40B4-BE49-F238E27FC236}">
                <a16:creationId xmlns:a16="http://schemas.microsoft.com/office/drawing/2014/main" id="{524A46AA-3E3E-4577-A4BA-7753062A63BF}"/>
              </a:ext>
            </a:extLst>
          </p:cNvPr>
          <p:cNvSpPr txBox="1"/>
          <p:nvPr/>
        </p:nvSpPr>
        <p:spPr>
          <a:xfrm>
            <a:off x="3479628" y="3614638"/>
            <a:ext cx="13507241" cy="1249573"/>
          </a:xfrm>
          <a:prstGeom prst="rect">
            <a:avLst/>
          </a:prstGeom>
          <a:noFill/>
        </p:spPr>
        <p:txBody>
          <a:bodyPr wrap="square" rtlCol="0">
            <a:spAutoFit/>
          </a:bodyPr>
          <a:lstStyle/>
          <a:p>
            <a:pPr marL="342900" indent="-342900" algn="l">
              <a:lnSpc>
                <a:spcPct val="120000"/>
              </a:lnSpc>
              <a:buFont typeface="Arial" panose="020B0604020202020204" pitchFamily="34" charset="0"/>
              <a:buChar char="‒"/>
            </a:pPr>
            <a:r>
              <a:rPr lang="en-US" sz="3200" dirty="0">
                <a:latin typeface="UGent Panno Text" panose="02000506040000040003" pitchFamily="50" charset="0"/>
              </a:rPr>
              <a:t>Loss of formulas, embedded charts &amp; comments, visual formatting…</a:t>
            </a:r>
          </a:p>
          <a:p>
            <a:pPr marL="342900" indent="-342900" algn="l">
              <a:lnSpc>
                <a:spcPct val="120000"/>
              </a:lnSpc>
              <a:buFont typeface="Arial" panose="020B0604020202020204" pitchFamily="34" charset="0"/>
              <a:buChar char="‒"/>
            </a:pPr>
            <a:r>
              <a:rPr lang="en-US" sz="3200" dirty="0">
                <a:latin typeface="UGent Panno Text" panose="02000506040000040003" pitchFamily="50" charset="0"/>
              </a:rPr>
              <a:t>Other problems: multiple tables in worksheet, not rectangular tables, merged cells, dates…</a:t>
            </a:r>
          </a:p>
        </p:txBody>
      </p:sp>
      <p:grpSp>
        <p:nvGrpSpPr>
          <p:cNvPr id="25" name="Group 24">
            <a:extLst>
              <a:ext uri="{FF2B5EF4-FFF2-40B4-BE49-F238E27FC236}">
                <a16:creationId xmlns:a16="http://schemas.microsoft.com/office/drawing/2014/main" id="{39BF857B-B642-4E8F-B787-6BACBF672659}"/>
              </a:ext>
            </a:extLst>
          </p:cNvPr>
          <p:cNvGrpSpPr/>
          <p:nvPr/>
        </p:nvGrpSpPr>
        <p:grpSpPr>
          <a:xfrm>
            <a:off x="2226743" y="5394551"/>
            <a:ext cx="1774284" cy="900000"/>
            <a:chOff x="2324935" y="2404037"/>
            <a:chExt cx="1774284" cy="900000"/>
          </a:xfrm>
        </p:grpSpPr>
        <p:pic>
          <p:nvPicPr>
            <p:cNvPr id="26" name="Graphic 25" descr="Image">
              <a:extLst>
                <a:ext uri="{FF2B5EF4-FFF2-40B4-BE49-F238E27FC236}">
                  <a16:creationId xmlns:a16="http://schemas.microsoft.com/office/drawing/2014/main" id="{87E72569-B266-4D4D-8AD4-6B5C6FBE83EB}"/>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2324935" y="2404037"/>
              <a:ext cx="900000" cy="900000"/>
            </a:xfrm>
            <a:prstGeom prst="rect">
              <a:avLst/>
            </a:prstGeom>
          </p:spPr>
        </p:pic>
        <p:pic>
          <p:nvPicPr>
            <p:cNvPr id="27" name="Graphic 26" descr="Image">
              <a:extLst>
                <a:ext uri="{FF2B5EF4-FFF2-40B4-BE49-F238E27FC236}">
                  <a16:creationId xmlns:a16="http://schemas.microsoft.com/office/drawing/2014/main" id="{61B8E74D-6807-4832-BC93-02145C5949BF}"/>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3199219" y="2404037"/>
              <a:ext cx="900000" cy="900000"/>
            </a:xfrm>
            <a:prstGeom prst="rect">
              <a:avLst/>
            </a:prstGeom>
          </p:spPr>
        </p:pic>
      </p:grpSp>
      <p:pic>
        <p:nvPicPr>
          <p:cNvPr id="29" name="Picture 28">
            <a:extLst>
              <a:ext uri="{FF2B5EF4-FFF2-40B4-BE49-F238E27FC236}">
                <a16:creationId xmlns:a16="http://schemas.microsoft.com/office/drawing/2014/main" id="{C5053493-AB90-4BEA-93C1-94D80D8822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26743" y="6815341"/>
            <a:ext cx="874284" cy="900000"/>
          </a:xfrm>
          <a:prstGeom prst="rect">
            <a:avLst/>
          </a:prstGeom>
        </p:spPr>
      </p:pic>
      <p:pic>
        <p:nvPicPr>
          <p:cNvPr id="30" name="Graphic 29" descr="Image">
            <a:extLst>
              <a:ext uri="{FF2B5EF4-FFF2-40B4-BE49-F238E27FC236}">
                <a16:creationId xmlns:a16="http://schemas.microsoft.com/office/drawing/2014/main" id="{A4A0499A-9C10-40DD-BE45-4CEF1BA9F854}"/>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2226743" y="6815341"/>
            <a:ext cx="900000" cy="900000"/>
          </a:xfrm>
          <a:prstGeom prst="rect">
            <a:avLst/>
          </a:prstGeom>
        </p:spPr>
      </p:pic>
      <p:pic>
        <p:nvPicPr>
          <p:cNvPr id="39" name="Graphic 38">
            <a:extLst>
              <a:ext uri="{FF2B5EF4-FFF2-40B4-BE49-F238E27FC236}">
                <a16:creationId xmlns:a16="http://schemas.microsoft.com/office/drawing/2014/main" id="{BAA40DA8-7A99-499C-B3F9-F8752EDCD2F9}"/>
              </a:ext>
            </a:extLst>
          </p:cNvPr>
          <p:cNvPicPr>
            <a:picLocks noChangeAspect="1"/>
          </p:cNvPicPr>
          <p:nvPr/>
        </p:nvPicPr>
        <p:blipFill>
          <a:blip r:embed="rId17" cstate="print">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959365" y="5484551"/>
            <a:ext cx="720000" cy="720000"/>
          </a:xfrm>
          <a:prstGeom prst="rect">
            <a:avLst/>
          </a:prstGeom>
        </p:spPr>
      </p:pic>
      <p:pic>
        <p:nvPicPr>
          <p:cNvPr id="40" name="Graphic 39">
            <a:extLst>
              <a:ext uri="{FF2B5EF4-FFF2-40B4-BE49-F238E27FC236}">
                <a16:creationId xmlns:a16="http://schemas.microsoft.com/office/drawing/2014/main" id="{8FD8EC3B-9C80-4B47-8B51-97661CE6648F}"/>
              </a:ext>
            </a:extLst>
          </p:cNvPr>
          <p:cNvPicPr>
            <a:picLocks noChangeAspect="1"/>
          </p:cNvPicPr>
          <p:nvPr/>
        </p:nvPicPr>
        <p:blipFill>
          <a:blip r:embed="rId19" cstate="print">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959365" y="6905341"/>
            <a:ext cx="720000" cy="720000"/>
          </a:xfrm>
          <a:prstGeom prst="rect">
            <a:avLst/>
          </a:prstGeom>
        </p:spPr>
      </p:pic>
      <p:sp>
        <p:nvSpPr>
          <p:cNvPr id="41" name="TextBox 40">
            <a:extLst>
              <a:ext uri="{FF2B5EF4-FFF2-40B4-BE49-F238E27FC236}">
                <a16:creationId xmlns:a16="http://schemas.microsoft.com/office/drawing/2014/main" id="{4ED02EAB-B311-4EA4-BAED-E3F9B6370248}"/>
              </a:ext>
            </a:extLst>
          </p:cNvPr>
          <p:cNvSpPr txBox="1"/>
          <p:nvPr/>
        </p:nvSpPr>
        <p:spPr>
          <a:xfrm>
            <a:off x="4319363" y="5331950"/>
            <a:ext cx="12379178" cy="1249573"/>
          </a:xfrm>
          <a:prstGeom prst="rect">
            <a:avLst/>
          </a:prstGeom>
          <a:noFill/>
        </p:spPr>
        <p:txBody>
          <a:bodyPr wrap="square" rtlCol="0">
            <a:spAutoFit/>
          </a:bodyPr>
          <a:lstStyle/>
          <a:p>
            <a:pPr marL="342900" indent="-342900">
              <a:lnSpc>
                <a:spcPct val="120000"/>
              </a:lnSpc>
              <a:buFont typeface="Arial" panose="020B0604020202020204" pitchFamily="34" charset="0"/>
              <a:buChar char="‒"/>
            </a:pPr>
            <a:r>
              <a:rPr lang="en-US" sz="3200" dirty="0">
                <a:latin typeface="UGent Panno Text" panose="02000506040000040003" pitchFamily="50" charset="0"/>
              </a:rPr>
              <a:t>Lossless compression formats: allows the original data to be perfectly reconstructed from the compressed data</a:t>
            </a:r>
          </a:p>
        </p:txBody>
      </p:sp>
      <p:sp>
        <p:nvSpPr>
          <p:cNvPr id="42" name="TextBox 41">
            <a:extLst>
              <a:ext uri="{FF2B5EF4-FFF2-40B4-BE49-F238E27FC236}">
                <a16:creationId xmlns:a16="http://schemas.microsoft.com/office/drawing/2014/main" id="{4E5000A5-96F8-4330-8011-2FE23266A783}"/>
              </a:ext>
            </a:extLst>
          </p:cNvPr>
          <p:cNvSpPr txBox="1"/>
          <p:nvPr/>
        </p:nvSpPr>
        <p:spPr>
          <a:xfrm>
            <a:off x="4319363" y="6807092"/>
            <a:ext cx="12379178" cy="1249573"/>
          </a:xfrm>
          <a:prstGeom prst="rect">
            <a:avLst/>
          </a:prstGeom>
          <a:noFill/>
        </p:spPr>
        <p:txBody>
          <a:bodyPr wrap="square" rtlCol="0">
            <a:spAutoFit/>
          </a:bodyPr>
          <a:lstStyle/>
          <a:p>
            <a:pPr marL="342900" indent="-342900">
              <a:lnSpc>
                <a:spcPct val="120000"/>
              </a:lnSpc>
              <a:buFont typeface="Arial" panose="020B0604020202020204" pitchFamily="34" charset="0"/>
              <a:buChar char="‒"/>
            </a:pPr>
            <a:r>
              <a:rPr lang="en-US" sz="3200" dirty="0">
                <a:latin typeface="UGent Panno Text" panose="02000506040000040003" pitchFamily="50" charset="0"/>
              </a:rPr>
              <a:t>Lossy compression: uses inexact approximations and partial data discarding to represent the content.</a:t>
            </a:r>
          </a:p>
        </p:txBody>
      </p:sp>
    </p:spTree>
    <p:extLst>
      <p:ext uri="{BB962C8B-B14F-4D97-AF65-F5344CB8AC3E}">
        <p14:creationId xmlns:p14="http://schemas.microsoft.com/office/powerpoint/2010/main" val="216210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79BA9-9912-4B02-9F32-35A3DFCF9CD5}"/>
              </a:ext>
            </a:extLst>
          </p:cNvPr>
          <p:cNvSpPr>
            <a:spLocks noGrp="1"/>
          </p:cNvSpPr>
          <p:nvPr>
            <p:ph type="title"/>
          </p:nvPr>
        </p:nvSpPr>
        <p:spPr/>
        <p:txBody>
          <a:bodyPr/>
          <a:lstStyle/>
          <a:p>
            <a:r>
              <a:rPr lang="en-US" dirty="0">
                <a:latin typeface="UGent Panno Text"/>
              </a:rPr>
              <a:t>FILE FORMATs: recommended file formats</a:t>
            </a:r>
          </a:p>
        </p:txBody>
      </p:sp>
      <p:sp>
        <p:nvSpPr>
          <p:cNvPr id="4" name="Slide Number Placeholder 3">
            <a:extLst>
              <a:ext uri="{FF2B5EF4-FFF2-40B4-BE49-F238E27FC236}">
                <a16:creationId xmlns:a16="http://schemas.microsoft.com/office/drawing/2014/main" id="{2F2C751C-EEED-421B-9D00-FA795A30E380}"/>
              </a:ext>
            </a:extLst>
          </p:cNvPr>
          <p:cNvSpPr>
            <a:spLocks noGrp="1"/>
          </p:cNvSpPr>
          <p:nvPr>
            <p:ph type="sldNum" sz="quarter" idx="12"/>
          </p:nvPr>
        </p:nvSpPr>
        <p:spPr/>
        <p:txBody>
          <a:bodyPr/>
          <a:lstStyle/>
          <a:p>
            <a:fld id="{7AE184E0-0BD4-4705-A12B-9B71DDE63301}" type="slidenum">
              <a:rPr lang="en-GB" noProof="0" smtClean="0"/>
              <a:t>13</a:t>
            </a:fld>
            <a:endParaRPr lang="en-GB" noProof="0" dirty="0"/>
          </a:p>
        </p:txBody>
      </p:sp>
      <p:sp>
        <p:nvSpPr>
          <p:cNvPr id="6" name="Content Placeholder 5">
            <a:extLst>
              <a:ext uri="{FF2B5EF4-FFF2-40B4-BE49-F238E27FC236}">
                <a16:creationId xmlns:a16="http://schemas.microsoft.com/office/drawing/2014/main" id="{2A9B15B0-ED1E-4B14-A112-73ED598ABC0B}"/>
              </a:ext>
            </a:extLst>
          </p:cNvPr>
          <p:cNvSpPr>
            <a:spLocks noGrp="1"/>
          </p:cNvSpPr>
          <p:nvPr>
            <p:ph idx="1"/>
          </p:nvPr>
        </p:nvSpPr>
        <p:spPr>
          <a:xfrm>
            <a:off x="835825" y="1194364"/>
            <a:ext cx="6072975" cy="6997136"/>
          </a:xfrm>
        </p:spPr>
        <p:txBody>
          <a:bodyPr>
            <a:normAutofit fontScale="92500"/>
          </a:bodyPr>
          <a:lstStyle/>
          <a:p>
            <a:pPr marL="86400" indent="0">
              <a:buNone/>
            </a:pPr>
            <a:r>
              <a:rPr lang="en-US" sz="3600" dirty="0">
                <a:latin typeface="UGent Panno Text" panose="02000506040000040003" pitchFamily="2" charset="0"/>
              </a:rPr>
              <a:t>Examples of recommended file formats:</a:t>
            </a:r>
          </a:p>
          <a:p>
            <a:r>
              <a:rPr lang="en-US" sz="3600" dirty="0">
                <a:latin typeface="UGent Panno Text" panose="02000506040000040003" pitchFamily="2" charset="0"/>
              </a:rPr>
              <a:t>DANS, </a:t>
            </a:r>
            <a:r>
              <a:rPr lang="en-US" sz="3600" dirty="0">
                <a:latin typeface="UGent Panno Text" panose="02000506040000040003" pitchFamily="2" charset="0"/>
                <a:hlinkClick r:id="rId2"/>
              </a:rPr>
              <a:t>File formats</a:t>
            </a:r>
            <a:endParaRPr lang="en-US" sz="3600" dirty="0">
              <a:latin typeface="UGent Panno Text" panose="02000506040000040003" pitchFamily="2" charset="0"/>
            </a:endParaRPr>
          </a:p>
          <a:p>
            <a:r>
              <a:rPr lang="en-US" sz="3600" dirty="0">
                <a:latin typeface="UGent Panno Text" panose="02000506040000040003" pitchFamily="2" charset="0"/>
              </a:rPr>
              <a:t>UK Data Service, </a:t>
            </a:r>
            <a:r>
              <a:rPr lang="en-US" sz="3600" dirty="0">
                <a:latin typeface="UGent Panno Text" panose="02000506040000040003" pitchFamily="2" charset="0"/>
                <a:hlinkClick r:id="rId3"/>
              </a:rPr>
              <a:t>Recommended formats</a:t>
            </a:r>
            <a:endParaRPr lang="en-US" sz="3600" dirty="0">
              <a:latin typeface="UGent Panno Text" panose="02000506040000040003" pitchFamily="2" charset="0"/>
            </a:endParaRPr>
          </a:p>
          <a:p>
            <a:endParaRPr lang="en-US" sz="3600" dirty="0">
              <a:latin typeface="UGent Panno Text" panose="02000506040000040003" pitchFamily="2" charset="0"/>
            </a:endParaRPr>
          </a:p>
          <a:p>
            <a:pPr marL="86400" indent="0">
              <a:buNone/>
            </a:pPr>
            <a:r>
              <a:rPr lang="en-US" sz="3600" dirty="0">
                <a:latin typeface="UGent Panno Text" panose="02000506040000040003" pitchFamily="2" charset="0"/>
              </a:rPr>
              <a:t>Curation for preservation tips for different formats:</a:t>
            </a:r>
          </a:p>
          <a:p>
            <a:r>
              <a:rPr lang="en-US" sz="3600" dirty="0">
                <a:latin typeface="UGent Panno Text" panose="02000506040000040003" pitchFamily="2" charset="0"/>
                <a:hlinkClick r:id="rId4"/>
              </a:rPr>
              <a:t>DCN Data Curation Primers</a:t>
            </a:r>
            <a:endParaRPr lang="en-US" sz="3600" dirty="0">
              <a:latin typeface="UGent Panno Text" panose="02000506040000040003" pitchFamily="2" charset="0"/>
            </a:endParaRPr>
          </a:p>
          <a:p>
            <a:pPr lvl="1"/>
            <a:r>
              <a:rPr lang="en-US" sz="3600" dirty="0">
                <a:latin typeface="UGent Panno Text" panose="02000506040000040003" pitchFamily="2" charset="0"/>
              </a:rPr>
              <a:t>E.g. from xlsx -&gt; csv (what to consider, what to avoid, what to document, etc.)</a:t>
            </a:r>
          </a:p>
        </p:txBody>
      </p:sp>
      <p:pic>
        <p:nvPicPr>
          <p:cNvPr id="7" name="Picture 6">
            <a:extLst>
              <a:ext uri="{FF2B5EF4-FFF2-40B4-BE49-F238E27FC236}">
                <a16:creationId xmlns:a16="http://schemas.microsoft.com/office/drawing/2014/main" id="{01C087D4-2A6A-4985-A69A-3CA0A139A56F}"/>
              </a:ext>
            </a:extLst>
          </p:cNvPr>
          <p:cNvPicPr>
            <a:picLocks noChangeAspect="1"/>
          </p:cNvPicPr>
          <p:nvPr/>
        </p:nvPicPr>
        <p:blipFill>
          <a:blip r:embed="rId5"/>
          <a:stretch>
            <a:fillRect/>
          </a:stretch>
        </p:blipFill>
        <p:spPr>
          <a:xfrm>
            <a:off x="8782049" y="1371506"/>
            <a:ext cx="7626351" cy="7187730"/>
          </a:xfrm>
          <a:prstGeom prst="rect">
            <a:avLst/>
          </a:prstGeom>
        </p:spPr>
      </p:pic>
    </p:spTree>
    <p:extLst>
      <p:ext uri="{BB962C8B-B14F-4D97-AF65-F5344CB8AC3E}">
        <p14:creationId xmlns:p14="http://schemas.microsoft.com/office/powerpoint/2010/main" val="42307117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E71D26-8AE4-41CB-A25A-B2EE4963E9AB}"/>
              </a:ext>
            </a:extLst>
          </p:cNvPr>
          <p:cNvSpPr>
            <a:spLocks noGrp="1"/>
          </p:cNvSpPr>
          <p:nvPr>
            <p:ph type="title"/>
          </p:nvPr>
        </p:nvSpPr>
        <p:spPr/>
        <p:txBody>
          <a:bodyPr/>
          <a:lstStyle/>
          <a:p>
            <a:r>
              <a:rPr lang="nl-BE" dirty="0">
                <a:latin typeface="UGent Panno Text" panose="02000506040000040003" pitchFamily="2" charset="0"/>
              </a:rPr>
              <a:t>Domain </a:t>
            </a:r>
            <a:r>
              <a:rPr lang="nl-BE" dirty="0" err="1">
                <a:latin typeface="UGent Panno Text" panose="02000506040000040003" pitchFamily="2" charset="0"/>
              </a:rPr>
              <a:t>specific</a:t>
            </a:r>
            <a:r>
              <a:rPr lang="nl-BE" dirty="0">
                <a:latin typeface="UGent Panno Text" panose="02000506040000040003" pitchFamily="2" charset="0"/>
              </a:rPr>
              <a:t> data </a:t>
            </a:r>
            <a:r>
              <a:rPr lang="nl-BE" dirty="0" err="1">
                <a:latin typeface="UGent Panno Text" panose="02000506040000040003" pitchFamily="2" charset="0"/>
              </a:rPr>
              <a:t>standards</a:t>
            </a:r>
            <a:r>
              <a:rPr lang="nl-BE" dirty="0">
                <a:latin typeface="UGent Panno Text" panose="02000506040000040003" pitchFamily="2" charset="0"/>
              </a:rPr>
              <a:t>: </a:t>
            </a:r>
            <a:r>
              <a:rPr lang="nl-BE" dirty="0" err="1">
                <a:latin typeface="UGent Panno Text" panose="02000506040000040003" pitchFamily="2" charset="0"/>
              </a:rPr>
              <a:t>examples</a:t>
            </a:r>
            <a:endParaRPr lang="en-GB" dirty="0">
              <a:latin typeface="UGent Panno Text" panose="02000506040000040003" pitchFamily="2" charset="0"/>
            </a:endParaRPr>
          </a:p>
        </p:txBody>
      </p:sp>
      <p:sp>
        <p:nvSpPr>
          <p:cNvPr id="3" name="Content Placeholder 2">
            <a:extLst>
              <a:ext uri="{FF2B5EF4-FFF2-40B4-BE49-F238E27FC236}">
                <a16:creationId xmlns:a16="http://schemas.microsoft.com/office/drawing/2014/main" id="{A2DB4709-3B4D-4ADE-A5F9-A6B4B66F5066}"/>
              </a:ext>
            </a:extLst>
          </p:cNvPr>
          <p:cNvSpPr>
            <a:spLocks noGrp="1"/>
          </p:cNvSpPr>
          <p:nvPr>
            <p:ph idx="1"/>
          </p:nvPr>
        </p:nvSpPr>
        <p:spPr>
          <a:xfrm>
            <a:off x="835825" y="1194363"/>
            <a:ext cx="15699575" cy="7754339"/>
          </a:xfrm>
          <a:solidFill>
            <a:schemeClr val="bg1"/>
          </a:solidFill>
        </p:spPr>
        <p:txBody>
          <a:bodyPr>
            <a:normAutofit fontScale="77500" lnSpcReduction="20000"/>
          </a:bodyPr>
          <a:lstStyle/>
          <a:p>
            <a:r>
              <a:rPr lang="en-GB" sz="4400">
                <a:latin typeface="UGent Panno Text" panose="02000506040000040003" pitchFamily="2" charset="0"/>
              </a:rPr>
              <a:t>FITS (.fits): Flexible Image Transport System, widely used for storing astronomical data, images, and metadata</a:t>
            </a:r>
          </a:p>
          <a:p>
            <a:r>
              <a:rPr lang="en-GB" sz="4400" dirty="0">
                <a:latin typeface="UGent Panno Text" panose="02000506040000040003" pitchFamily="2" charset="0"/>
              </a:rPr>
              <a:t>ASCII (.txt): Simple, plain text format for data sharing.</a:t>
            </a:r>
          </a:p>
          <a:p>
            <a:r>
              <a:rPr lang="en-GB" sz="4400" dirty="0">
                <a:latin typeface="UGent Panno Text" panose="02000506040000040003" pitchFamily="2" charset="0"/>
              </a:rPr>
              <a:t>CIF (.</a:t>
            </a:r>
            <a:r>
              <a:rPr lang="en-GB" sz="4400" dirty="0" err="1">
                <a:latin typeface="UGent Panno Text" panose="02000506040000040003" pitchFamily="2" charset="0"/>
              </a:rPr>
              <a:t>cif</a:t>
            </a:r>
            <a:r>
              <a:rPr lang="en-GB" sz="4400" dirty="0">
                <a:latin typeface="UGent Panno Text" panose="02000506040000040003" pitchFamily="2" charset="0"/>
              </a:rPr>
              <a:t>): Crystallographic Information File for crystal structure data.</a:t>
            </a:r>
          </a:p>
          <a:p>
            <a:r>
              <a:rPr lang="en-GB" sz="4400" dirty="0">
                <a:latin typeface="UGent Panno Text" panose="02000506040000040003" pitchFamily="2" charset="0"/>
              </a:rPr>
              <a:t>MOL (.mol, .</a:t>
            </a:r>
            <a:r>
              <a:rPr lang="en-GB" sz="4400" dirty="0" err="1">
                <a:latin typeface="UGent Panno Text" panose="02000506040000040003" pitchFamily="2" charset="0"/>
              </a:rPr>
              <a:t>sdf</a:t>
            </a:r>
            <a:r>
              <a:rPr lang="en-GB" sz="4400" dirty="0">
                <a:latin typeface="UGent Panno Text" panose="02000506040000040003" pitchFamily="2" charset="0"/>
              </a:rPr>
              <a:t>): Representations of molecules and chemical structures.</a:t>
            </a:r>
          </a:p>
          <a:p>
            <a:r>
              <a:rPr lang="en-GB" sz="4400" dirty="0" err="1">
                <a:latin typeface="UGent Panno Text" panose="02000506040000040003" pitchFamily="2" charset="0"/>
              </a:rPr>
              <a:t>GeoTIFF</a:t>
            </a:r>
            <a:r>
              <a:rPr lang="en-GB" sz="4400" dirty="0">
                <a:latin typeface="UGent Panno Text" panose="02000506040000040003" pitchFamily="2" charset="0"/>
              </a:rPr>
              <a:t> (.</a:t>
            </a:r>
            <a:r>
              <a:rPr lang="en-GB" sz="4400" dirty="0" err="1">
                <a:latin typeface="UGent Panno Text" panose="02000506040000040003" pitchFamily="2" charset="0"/>
              </a:rPr>
              <a:t>tif</a:t>
            </a:r>
            <a:r>
              <a:rPr lang="en-GB" sz="4400" dirty="0">
                <a:latin typeface="UGent Panno Text" panose="02000506040000040003" pitchFamily="2" charset="0"/>
              </a:rPr>
              <a:t>, .tiff): Tagged Image File Format with georeferencing information, used in GIS and remote sensing.</a:t>
            </a:r>
          </a:p>
          <a:p>
            <a:r>
              <a:rPr lang="en-GB" sz="4400" dirty="0">
                <a:latin typeface="UGent Panno Text" panose="02000506040000040003" pitchFamily="2" charset="0"/>
              </a:rPr>
              <a:t>Shapefile (.</a:t>
            </a:r>
            <a:r>
              <a:rPr lang="en-GB" sz="4400" dirty="0" err="1">
                <a:latin typeface="UGent Panno Text" panose="02000506040000040003" pitchFamily="2" charset="0"/>
              </a:rPr>
              <a:t>shp</a:t>
            </a:r>
            <a:r>
              <a:rPr lang="en-GB" sz="4400" dirty="0">
                <a:latin typeface="UGent Panno Text" panose="02000506040000040003" pitchFamily="2" charset="0"/>
              </a:rPr>
              <a:t>, .</a:t>
            </a:r>
            <a:r>
              <a:rPr lang="en-GB" sz="4400" dirty="0" err="1">
                <a:latin typeface="UGent Panno Text" panose="02000506040000040003" pitchFamily="2" charset="0"/>
              </a:rPr>
              <a:t>shx</a:t>
            </a:r>
            <a:r>
              <a:rPr lang="en-GB" sz="4400" dirty="0">
                <a:latin typeface="UGent Panno Text" panose="02000506040000040003" pitchFamily="2" charset="0"/>
              </a:rPr>
              <a:t>, .</a:t>
            </a:r>
            <a:r>
              <a:rPr lang="en-GB" sz="4400" dirty="0" err="1">
                <a:latin typeface="UGent Panno Text" panose="02000506040000040003" pitchFamily="2" charset="0"/>
              </a:rPr>
              <a:t>dbf</a:t>
            </a:r>
            <a:r>
              <a:rPr lang="en-GB" sz="4400" dirty="0">
                <a:latin typeface="UGent Panno Text" panose="02000506040000040003" pitchFamily="2" charset="0"/>
              </a:rPr>
              <a:t>): Standard format for vector data (points, lines, polygons) in GIS.</a:t>
            </a:r>
          </a:p>
          <a:p>
            <a:r>
              <a:rPr lang="en-GB" sz="4400" dirty="0" err="1">
                <a:latin typeface="UGent Panno Text" panose="02000506040000040003" pitchFamily="2" charset="0"/>
              </a:rPr>
              <a:t>NetCDF</a:t>
            </a:r>
            <a:r>
              <a:rPr lang="en-GB" sz="4400" dirty="0">
                <a:latin typeface="UGent Panno Text" panose="02000506040000040003" pitchFamily="2" charset="0"/>
              </a:rPr>
              <a:t> (.</a:t>
            </a:r>
            <a:r>
              <a:rPr lang="en-GB" sz="4400" dirty="0" err="1">
                <a:latin typeface="UGent Panno Text" panose="02000506040000040003" pitchFamily="2" charset="0"/>
              </a:rPr>
              <a:t>nc</a:t>
            </a:r>
            <a:r>
              <a:rPr lang="en-GB" sz="4400" dirty="0">
                <a:latin typeface="UGent Panno Text" panose="02000506040000040003" pitchFamily="2" charset="0"/>
              </a:rPr>
              <a:t>): Network Common Data Format, used for multidimensional geospatial datasets like climate models.</a:t>
            </a:r>
          </a:p>
          <a:p>
            <a:r>
              <a:rPr lang="en-GB" sz="4400" dirty="0">
                <a:latin typeface="UGent Panno Text" panose="02000506040000040003" pitchFamily="2" charset="0"/>
              </a:rPr>
              <a:t>DEM (.</a:t>
            </a:r>
            <a:r>
              <a:rPr lang="en-GB" sz="4400" dirty="0" err="1">
                <a:latin typeface="UGent Panno Text" panose="02000506040000040003" pitchFamily="2" charset="0"/>
              </a:rPr>
              <a:t>dem</a:t>
            </a:r>
            <a:r>
              <a:rPr lang="en-GB" sz="4400" dirty="0">
                <a:latin typeface="UGent Panno Text" panose="02000506040000040003" pitchFamily="2" charset="0"/>
              </a:rPr>
              <a:t>): Digital Elevation Model, used for topography and terrain analysis.</a:t>
            </a:r>
          </a:p>
          <a:p>
            <a:r>
              <a:rPr lang="en-GB" sz="4400" dirty="0">
                <a:latin typeface="UGent Panno Text" panose="02000506040000040003" pitchFamily="2" charset="0"/>
              </a:rPr>
              <a:t>FASTA (.</a:t>
            </a:r>
            <a:r>
              <a:rPr lang="en-GB" sz="4400" dirty="0" err="1">
                <a:latin typeface="UGent Panno Text" panose="02000506040000040003" pitchFamily="2" charset="0"/>
              </a:rPr>
              <a:t>fasta</a:t>
            </a:r>
            <a:r>
              <a:rPr lang="en-GB" sz="4400" dirty="0">
                <a:latin typeface="UGent Panno Text" panose="02000506040000040003" pitchFamily="2" charset="0"/>
              </a:rPr>
              <a:t>, .fa): Text-based format for nucleotide or amino acid sequences.</a:t>
            </a:r>
          </a:p>
          <a:p>
            <a:r>
              <a:rPr lang="en-GB" sz="4400" dirty="0">
                <a:latin typeface="UGent Panno Text" panose="02000506040000040003" pitchFamily="2" charset="0"/>
              </a:rPr>
              <a:t>MATLAB (.mat, .m): Proprietary format for computational models, simulations, and data analysis.</a:t>
            </a:r>
          </a:p>
          <a:p>
            <a:r>
              <a:rPr lang="en-GB" sz="4400" dirty="0">
                <a:latin typeface="UGent Panno Text" panose="02000506040000040003" pitchFamily="2" charset="0"/>
              </a:rPr>
              <a:t>AutoCAD (.</a:t>
            </a:r>
            <a:r>
              <a:rPr lang="en-GB" sz="4400" dirty="0" err="1">
                <a:latin typeface="UGent Panno Text" panose="02000506040000040003" pitchFamily="2" charset="0"/>
              </a:rPr>
              <a:t>dwg</a:t>
            </a:r>
            <a:r>
              <a:rPr lang="en-GB" sz="4400" dirty="0">
                <a:latin typeface="UGent Panno Text" panose="02000506040000040003" pitchFamily="2" charset="0"/>
              </a:rPr>
              <a:t>, .</a:t>
            </a:r>
            <a:r>
              <a:rPr lang="en-GB" sz="4400" dirty="0" err="1">
                <a:latin typeface="UGent Panno Text" panose="02000506040000040003" pitchFamily="2" charset="0"/>
              </a:rPr>
              <a:t>dxf</a:t>
            </a:r>
            <a:r>
              <a:rPr lang="en-GB" sz="4400" dirty="0">
                <a:latin typeface="UGent Panno Text" panose="02000506040000040003" pitchFamily="2" charset="0"/>
              </a:rPr>
              <a:t>):Proprietary formats for engineering drawings and architectural plans.</a:t>
            </a:r>
          </a:p>
        </p:txBody>
      </p:sp>
      <p:sp>
        <p:nvSpPr>
          <p:cNvPr id="4" name="Slide Number Placeholder 3">
            <a:extLst>
              <a:ext uri="{FF2B5EF4-FFF2-40B4-BE49-F238E27FC236}">
                <a16:creationId xmlns:a16="http://schemas.microsoft.com/office/drawing/2014/main" id="{0A4431CC-C6DF-4D0B-BE5E-9625AFBD8273}"/>
              </a:ext>
            </a:extLst>
          </p:cNvPr>
          <p:cNvSpPr>
            <a:spLocks noGrp="1"/>
          </p:cNvSpPr>
          <p:nvPr>
            <p:ph type="sldNum" sz="quarter" idx="12"/>
          </p:nvPr>
        </p:nvSpPr>
        <p:spPr/>
        <p:txBody>
          <a:bodyPr/>
          <a:lstStyle/>
          <a:p>
            <a:fld id="{7AE184E0-0BD4-4705-A12B-9B71DDE63301}" type="slidenum">
              <a:rPr lang="nl-BE" noProof="0" smtClean="0"/>
              <a:t>14</a:t>
            </a:fld>
            <a:endParaRPr lang="nl-BE" noProof="0"/>
          </a:p>
        </p:txBody>
      </p:sp>
    </p:spTree>
    <p:extLst>
      <p:ext uri="{BB962C8B-B14F-4D97-AF65-F5344CB8AC3E}">
        <p14:creationId xmlns:p14="http://schemas.microsoft.com/office/powerpoint/2010/main" val="4047901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308D45E-D94A-4380-A633-F31E6B05DA61}"/>
              </a:ext>
            </a:extLst>
          </p:cNvPr>
          <p:cNvSpPr>
            <a:spLocks noGrp="1"/>
          </p:cNvSpPr>
          <p:nvPr>
            <p:ph type="ctrTitle"/>
          </p:nvPr>
        </p:nvSpPr>
        <p:spPr/>
        <p:txBody>
          <a:bodyPr/>
          <a:lstStyle/>
          <a:p>
            <a:r>
              <a:rPr lang="en-US" dirty="0">
                <a:latin typeface="UGent Panno Text" panose="02000506040000040003" pitchFamily="2" charset="0"/>
              </a:rPr>
              <a:t>File organization</a:t>
            </a:r>
          </a:p>
        </p:txBody>
      </p:sp>
      <p:sp>
        <p:nvSpPr>
          <p:cNvPr id="4" name="Slide Number Placeholder 3">
            <a:extLst>
              <a:ext uri="{FF2B5EF4-FFF2-40B4-BE49-F238E27FC236}">
                <a16:creationId xmlns:a16="http://schemas.microsoft.com/office/drawing/2014/main" id="{7A397D51-B9B7-488F-9D48-3840BD983D15}"/>
              </a:ext>
            </a:extLst>
          </p:cNvPr>
          <p:cNvSpPr>
            <a:spLocks noGrp="1"/>
          </p:cNvSpPr>
          <p:nvPr>
            <p:ph type="sldNum" sz="quarter" idx="4"/>
          </p:nvPr>
        </p:nvSpPr>
        <p:spPr/>
        <p:txBody>
          <a:bodyPr/>
          <a:lstStyle/>
          <a:p>
            <a:fld id="{7AE184E0-0BD4-4705-A12B-9B71DDE63301}" type="slidenum">
              <a:rPr lang="nl-BE" smtClean="0"/>
              <a:pPr/>
              <a:t>15</a:t>
            </a:fld>
            <a:endParaRPr lang="nl-BE"/>
          </a:p>
        </p:txBody>
      </p:sp>
    </p:spTree>
    <p:extLst>
      <p:ext uri="{BB962C8B-B14F-4D97-AF65-F5344CB8AC3E}">
        <p14:creationId xmlns:p14="http://schemas.microsoft.com/office/powerpoint/2010/main" val="37337360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4E3B9E08-7A80-483F-AF45-10E0A572FE0A}"/>
              </a:ext>
            </a:extLst>
          </p:cNvPr>
          <p:cNvSpPr>
            <a:spLocks noGrp="1"/>
          </p:cNvSpPr>
          <p:nvPr>
            <p:ph type="sldNum" sz="quarter" idx="4294967295"/>
          </p:nvPr>
        </p:nvSpPr>
        <p:spPr>
          <a:xfrm>
            <a:off x="16416338" y="8948738"/>
            <a:ext cx="922337" cy="519112"/>
          </a:xfrm>
        </p:spPr>
        <p:txBody>
          <a:bodyPr/>
          <a:lstStyle/>
          <a:p>
            <a:fld id="{7AE184E0-0BD4-4705-A12B-9B71DDE63301}" type="slidenum">
              <a:rPr lang="nl-BE" noProof="0" smtClean="0"/>
              <a:pPr/>
              <a:t>16</a:t>
            </a:fld>
            <a:endParaRPr lang="nl-BE" noProof="0"/>
          </a:p>
        </p:txBody>
      </p:sp>
      <p:pic>
        <p:nvPicPr>
          <p:cNvPr id="5" name="Picture 2" descr="Image result for messy desktop">
            <a:extLst>
              <a:ext uri="{FF2B5EF4-FFF2-40B4-BE49-F238E27FC236}">
                <a16:creationId xmlns:a16="http://schemas.microsoft.com/office/drawing/2014/main" id="{D1ABE4E7-2250-4FE8-AF4A-58E1EB1BD3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9000" y="73819"/>
            <a:ext cx="15487650" cy="96797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97397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36D627-9B90-4B1E-A199-450C60DFC95D}"/>
              </a:ext>
            </a:extLst>
          </p:cNvPr>
          <p:cNvSpPr>
            <a:spLocks noGrp="1"/>
          </p:cNvSpPr>
          <p:nvPr>
            <p:ph type="title"/>
          </p:nvPr>
        </p:nvSpPr>
        <p:spPr/>
        <p:txBody>
          <a:bodyPr/>
          <a:lstStyle/>
          <a:p>
            <a:r>
              <a:rPr lang="en-US" dirty="0">
                <a:latin typeface="UGent Panno Text" panose="02000506040000040003" pitchFamily="2" charset="0"/>
              </a:rPr>
              <a:t>file organization: WHAT AND Why</a:t>
            </a:r>
            <a:br>
              <a:rPr lang="en-US" dirty="0">
                <a:latin typeface="UGent Panno Text" panose="02000506040000040003" pitchFamily="2" charset="0"/>
              </a:rPr>
            </a:br>
            <a:endParaRPr lang="en-US" dirty="0">
              <a:latin typeface="UGent Panno Text" panose="02000506040000040003" pitchFamily="2" charset="0"/>
            </a:endParaRPr>
          </a:p>
        </p:txBody>
      </p:sp>
      <p:pic>
        <p:nvPicPr>
          <p:cNvPr id="9" name="Picture Placeholder 8">
            <a:hlinkClick r:id="rId3"/>
            <a:extLst>
              <a:ext uri="{FF2B5EF4-FFF2-40B4-BE49-F238E27FC236}">
                <a16:creationId xmlns:a16="http://schemas.microsoft.com/office/drawing/2014/main" id="{23166623-4C53-40E6-8FF9-769EEE120BEE}"/>
              </a:ext>
            </a:extLst>
          </p:cNvPr>
          <p:cNvPicPr>
            <a:picLocks noGrp="1" noChangeAspect="1"/>
          </p:cNvPicPr>
          <p:nvPr>
            <p:ph type="pic" sz="quarter" idx="13"/>
          </p:nvPr>
        </p:nvPicPr>
        <p:blipFill rotWithShape="1">
          <a:blip r:embed="rId4">
            <a:extLst>
              <a:ext uri="{28A0092B-C50C-407E-A947-70E740481C1C}">
                <a14:useLocalDpi xmlns:a14="http://schemas.microsoft.com/office/drawing/2010/main" val="0"/>
              </a:ext>
            </a:extLst>
          </a:blip>
          <a:srcRect l="4557" t="5488" r="4109" b="5648"/>
          <a:stretch/>
        </p:blipFill>
        <p:spPr>
          <a:xfrm>
            <a:off x="9813240" y="1864008"/>
            <a:ext cx="7025766" cy="5670146"/>
          </a:xfrm>
          <a:prstGeom prst="rect">
            <a:avLst/>
          </a:prstGeom>
          <a:ln>
            <a:noFill/>
          </a:ln>
          <a:effectLst>
            <a:softEdge rad="112500"/>
          </a:effectLst>
        </p:spPr>
      </p:pic>
      <p:sp>
        <p:nvSpPr>
          <p:cNvPr id="4" name="Slide Number Placeholder 3">
            <a:extLst>
              <a:ext uri="{FF2B5EF4-FFF2-40B4-BE49-F238E27FC236}">
                <a16:creationId xmlns:a16="http://schemas.microsoft.com/office/drawing/2014/main" id="{98258318-CD74-4778-9EEC-F53A2C2B389C}"/>
              </a:ext>
            </a:extLst>
          </p:cNvPr>
          <p:cNvSpPr>
            <a:spLocks noGrp="1"/>
          </p:cNvSpPr>
          <p:nvPr>
            <p:ph type="sldNum" sz="quarter" idx="4"/>
          </p:nvPr>
        </p:nvSpPr>
        <p:spPr/>
        <p:txBody>
          <a:bodyPr/>
          <a:lstStyle/>
          <a:p>
            <a:fld id="{7AE184E0-0BD4-4705-A12B-9B71DDE63301}" type="slidenum">
              <a:rPr lang="en-US" smtClean="0">
                <a:latin typeface="UGent Panno Text" panose="02000506040000040003" pitchFamily="2" charset="0"/>
              </a:rPr>
              <a:t>17</a:t>
            </a:fld>
            <a:endParaRPr lang="en-US">
              <a:latin typeface="UGent Panno Text" panose="02000506040000040003" pitchFamily="2" charset="0"/>
            </a:endParaRPr>
          </a:p>
        </p:txBody>
      </p:sp>
      <p:sp>
        <p:nvSpPr>
          <p:cNvPr id="6" name="Content Placeholder 5">
            <a:extLst>
              <a:ext uri="{FF2B5EF4-FFF2-40B4-BE49-F238E27FC236}">
                <a16:creationId xmlns:a16="http://schemas.microsoft.com/office/drawing/2014/main" id="{DFE10356-EF9C-43B5-9088-70D5A3C198F4}"/>
              </a:ext>
            </a:extLst>
          </p:cNvPr>
          <p:cNvSpPr>
            <a:spLocks noGrp="1"/>
          </p:cNvSpPr>
          <p:nvPr>
            <p:ph idx="1"/>
          </p:nvPr>
        </p:nvSpPr>
        <p:spPr>
          <a:xfrm>
            <a:off x="826275" y="1240733"/>
            <a:ext cx="9113520" cy="7841782"/>
          </a:xfrm>
        </p:spPr>
        <p:txBody>
          <a:bodyPr>
            <a:normAutofit fontScale="77500" lnSpcReduction="20000"/>
          </a:bodyPr>
          <a:lstStyle/>
          <a:p>
            <a:r>
              <a:rPr lang="en-US" dirty="0">
                <a:latin typeface="UGent Panno Text" panose="02000506040000040003" pitchFamily="2" charset="0"/>
              </a:rPr>
              <a:t>What?</a:t>
            </a:r>
          </a:p>
          <a:p>
            <a:pPr lvl="1"/>
            <a:r>
              <a:rPr lang="en-US" dirty="0">
                <a:latin typeface="UGent Panno Text" panose="02000506040000040003" pitchFamily="2" charset="0"/>
              </a:rPr>
              <a:t>Folder structure</a:t>
            </a:r>
          </a:p>
          <a:p>
            <a:pPr lvl="1"/>
            <a:r>
              <a:rPr lang="en-US">
                <a:latin typeface="UGent Panno Text" panose="02000506040000040003" pitchFamily="2" charset="0"/>
              </a:rPr>
              <a:t>File naming </a:t>
            </a:r>
          </a:p>
          <a:p>
            <a:pPr lvl="1"/>
            <a:r>
              <a:rPr lang="en-US">
                <a:latin typeface="UGent Panno Text" panose="02000506040000040003" pitchFamily="2" charset="0"/>
              </a:rPr>
              <a:t>Versioning</a:t>
            </a:r>
            <a:endParaRPr lang="en-US" dirty="0">
              <a:latin typeface="UGent Panno Text" panose="02000506040000040003" pitchFamily="2" charset="0"/>
            </a:endParaRPr>
          </a:p>
          <a:p>
            <a:r>
              <a:rPr lang="en-US" dirty="0">
                <a:latin typeface="UGent Panno Text" panose="02000506040000040003" pitchFamily="2" charset="0"/>
              </a:rPr>
              <a:t>Why?</a:t>
            </a:r>
          </a:p>
          <a:p>
            <a:pPr lvl="1"/>
            <a:r>
              <a:rPr lang="en-US" dirty="0">
                <a:latin typeface="UGent Panno Text" panose="02000506040000040003" pitchFamily="2" charset="0"/>
              </a:rPr>
              <a:t>As documentation</a:t>
            </a:r>
          </a:p>
          <a:p>
            <a:pPr lvl="2"/>
            <a:r>
              <a:rPr lang="en-US" dirty="0">
                <a:latin typeface="UGent Panno Text" panose="02000506040000040003" pitchFamily="2" charset="0"/>
              </a:rPr>
              <a:t>To make files more useful</a:t>
            </a:r>
          </a:p>
          <a:p>
            <a:pPr lvl="2"/>
            <a:r>
              <a:rPr lang="en-US" dirty="0">
                <a:latin typeface="UGent Panno Text" panose="02000506040000040003" pitchFamily="2" charset="0"/>
              </a:rPr>
              <a:t>To locate a file more easily</a:t>
            </a:r>
          </a:p>
          <a:p>
            <a:pPr lvl="2"/>
            <a:r>
              <a:rPr lang="en-US" dirty="0">
                <a:latin typeface="UGent Panno Text" panose="02000506040000040003" pitchFamily="2" charset="0"/>
              </a:rPr>
              <a:t>To enable “someone” to look at your files and understand what was done </a:t>
            </a:r>
          </a:p>
          <a:p>
            <a:pPr marL="719138" lvl="1" indent="0">
              <a:buNone/>
            </a:pPr>
            <a:r>
              <a:rPr lang="en-US" dirty="0">
                <a:solidFill>
                  <a:schemeClr val="bg1">
                    <a:lumMod val="50000"/>
                  </a:schemeClr>
                </a:solidFill>
                <a:latin typeface="UGent Panno Text" panose="02000506040000040003" pitchFamily="2" charset="0"/>
              </a:rPr>
              <a:t>           (</a:t>
            </a:r>
            <a:r>
              <a:rPr lang="en-US" dirty="0">
                <a:solidFill>
                  <a:schemeClr val="tx1">
                    <a:lumMod val="50000"/>
                    <a:lumOff val="50000"/>
                  </a:schemeClr>
                </a:solidFill>
                <a:latin typeface="UGent Panno Text" panose="02000506040000040003" pitchFamily="2" charset="0"/>
              </a:rPr>
              <a:t>Hint: that someone is you!)</a:t>
            </a:r>
          </a:p>
          <a:p>
            <a:pPr lvl="1"/>
            <a:r>
              <a:rPr lang="en-US" dirty="0">
                <a:latin typeface="UGent Panno Text" panose="02000506040000040003" pitchFamily="2" charset="0"/>
              </a:rPr>
              <a:t>Increase productivity</a:t>
            </a:r>
          </a:p>
          <a:p>
            <a:pPr marL="719138" lvl="1" indent="0">
              <a:buNone/>
            </a:pPr>
            <a:r>
              <a:rPr lang="en-US" dirty="0">
                <a:latin typeface="UGent Panno Text" panose="02000506040000040003" pitchFamily="2" charset="0"/>
              </a:rPr>
              <a:t>			</a:t>
            </a:r>
          </a:p>
        </p:txBody>
      </p:sp>
      <p:sp>
        <p:nvSpPr>
          <p:cNvPr id="10" name="TextBox 9">
            <a:extLst>
              <a:ext uri="{FF2B5EF4-FFF2-40B4-BE49-F238E27FC236}">
                <a16:creationId xmlns:a16="http://schemas.microsoft.com/office/drawing/2014/main" id="{2DE724E3-160C-4FE1-AF9C-B3B666283CB3}"/>
              </a:ext>
            </a:extLst>
          </p:cNvPr>
          <p:cNvSpPr txBox="1"/>
          <p:nvPr/>
        </p:nvSpPr>
        <p:spPr>
          <a:xfrm>
            <a:off x="6477000" y="9082515"/>
            <a:ext cx="9113520" cy="524503"/>
          </a:xfrm>
          <a:prstGeom prst="rect">
            <a:avLst/>
          </a:prstGeom>
          <a:noFill/>
        </p:spPr>
        <p:txBody>
          <a:bodyPr wrap="square" rtlCol="0">
            <a:spAutoFit/>
          </a:bodyPr>
          <a:lstStyle/>
          <a:p>
            <a:pPr>
              <a:lnSpc>
                <a:spcPct val="120000"/>
              </a:lnSpc>
            </a:pPr>
            <a:r>
              <a:rPr lang="en-US" sz="2500" dirty="0">
                <a:latin typeface="UGent Panno Text" panose="02000506040000040003" pitchFamily="2" charset="0"/>
              </a:rPr>
              <a:t>Harvard RDM working group, CC-BY (</a:t>
            </a:r>
            <a:r>
              <a:rPr lang="en-US" sz="2400" dirty="0">
                <a:latin typeface="UGent Panno Text" panose="02000506040000040003" pitchFamily="2" charset="0"/>
                <a:hlinkClick r:id="rId5"/>
              </a:rPr>
              <a:t>https://osf.io/hjntb/</a:t>
            </a:r>
            <a:r>
              <a:rPr lang="en-US" sz="2500" dirty="0">
                <a:latin typeface="UGent Panno Text" panose="02000506040000040003" pitchFamily="2" charset="0"/>
              </a:rPr>
              <a:t>)</a:t>
            </a:r>
          </a:p>
        </p:txBody>
      </p:sp>
      <p:sp>
        <p:nvSpPr>
          <p:cNvPr id="2" name="Rectangle 1">
            <a:extLst>
              <a:ext uri="{FF2B5EF4-FFF2-40B4-BE49-F238E27FC236}">
                <a16:creationId xmlns:a16="http://schemas.microsoft.com/office/drawing/2014/main" id="{876F505B-07B7-4694-B779-42B6BAB0E842}"/>
              </a:ext>
            </a:extLst>
          </p:cNvPr>
          <p:cNvSpPr/>
          <p:nvPr/>
        </p:nvSpPr>
        <p:spPr>
          <a:xfrm>
            <a:off x="11350954" y="7534154"/>
            <a:ext cx="4360489" cy="486287"/>
          </a:xfrm>
          <a:prstGeom prst="rect">
            <a:avLst/>
          </a:prstGeom>
        </p:spPr>
        <p:txBody>
          <a:bodyPr wrap="none">
            <a:spAutoFit/>
          </a:bodyPr>
          <a:lstStyle/>
          <a:p>
            <a:r>
              <a:rPr lang="en-US" dirty="0">
                <a:latin typeface="UGent Panno Text" panose="02000506040000040003" pitchFamily="2" charset="0"/>
              </a:rPr>
              <a:t>Any system is better than no system</a:t>
            </a:r>
            <a:endParaRPr lang="nl-BE" dirty="0"/>
          </a:p>
        </p:txBody>
      </p:sp>
    </p:spTree>
    <p:extLst>
      <p:ext uri="{BB962C8B-B14F-4D97-AF65-F5344CB8AC3E}">
        <p14:creationId xmlns:p14="http://schemas.microsoft.com/office/powerpoint/2010/main" val="36802189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536D627-9B90-4B1E-A199-450C60DFC95D}"/>
              </a:ext>
            </a:extLst>
          </p:cNvPr>
          <p:cNvSpPr>
            <a:spLocks noGrp="1"/>
          </p:cNvSpPr>
          <p:nvPr>
            <p:ph type="title"/>
          </p:nvPr>
        </p:nvSpPr>
        <p:spPr/>
        <p:txBody>
          <a:bodyPr/>
          <a:lstStyle/>
          <a:p>
            <a:r>
              <a:rPr lang="en-US" dirty="0">
                <a:latin typeface="UGent Panno Text" panose="02000506040000040003" pitchFamily="2" charset="0"/>
              </a:rPr>
              <a:t>file organization: HOW</a:t>
            </a:r>
            <a:br>
              <a:rPr lang="en-US" dirty="0">
                <a:latin typeface="UGent Panno Text" panose="02000506040000040003" pitchFamily="2" charset="0"/>
              </a:rPr>
            </a:br>
            <a:endParaRPr lang="en-US"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98258318-CD74-4778-9EEC-F53A2C2B389C}"/>
              </a:ext>
            </a:extLst>
          </p:cNvPr>
          <p:cNvSpPr>
            <a:spLocks noGrp="1"/>
          </p:cNvSpPr>
          <p:nvPr>
            <p:ph type="sldNum" sz="quarter" idx="4"/>
          </p:nvPr>
        </p:nvSpPr>
        <p:spPr/>
        <p:txBody>
          <a:bodyPr/>
          <a:lstStyle/>
          <a:p>
            <a:fld id="{7AE184E0-0BD4-4705-A12B-9B71DDE63301}" type="slidenum">
              <a:rPr lang="en-US" smtClean="0">
                <a:latin typeface="UGent Panno Text" panose="02000506040000040003" pitchFamily="2" charset="0"/>
              </a:rPr>
              <a:t>18</a:t>
            </a:fld>
            <a:endParaRPr lang="en-US">
              <a:latin typeface="UGent Panno Text" panose="02000506040000040003" pitchFamily="2" charset="0"/>
            </a:endParaRPr>
          </a:p>
        </p:txBody>
      </p:sp>
      <p:sp>
        <p:nvSpPr>
          <p:cNvPr id="6" name="Content Placeholder 5">
            <a:extLst>
              <a:ext uri="{FF2B5EF4-FFF2-40B4-BE49-F238E27FC236}">
                <a16:creationId xmlns:a16="http://schemas.microsoft.com/office/drawing/2014/main" id="{DFE10356-EF9C-43B5-9088-70D5A3C198F4}"/>
              </a:ext>
            </a:extLst>
          </p:cNvPr>
          <p:cNvSpPr>
            <a:spLocks noGrp="1"/>
          </p:cNvSpPr>
          <p:nvPr>
            <p:ph idx="1"/>
          </p:nvPr>
        </p:nvSpPr>
        <p:spPr>
          <a:xfrm>
            <a:off x="998360" y="1626210"/>
            <a:ext cx="9113520" cy="7841782"/>
          </a:xfrm>
        </p:spPr>
        <p:txBody>
          <a:bodyPr>
            <a:normAutofit lnSpcReduction="10000"/>
          </a:bodyPr>
          <a:lstStyle/>
          <a:p>
            <a:pPr marL="85725" indent="0">
              <a:buNone/>
            </a:pPr>
            <a:r>
              <a:rPr lang="en-US" dirty="0">
                <a:latin typeface="UGent Panno Text" panose="02000506040000040003" pitchFamily="2" charset="0"/>
              </a:rPr>
              <a:t>How?</a:t>
            </a:r>
          </a:p>
          <a:p>
            <a:r>
              <a:rPr lang="en-US" dirty="0">
                <a:latin typeface="UGent Panno Text" panose="02000506040000040003" pitchFamily="2" charset="0"/>
              </a:rPr>
              <a:t>Make a file organization plan </a:t>
            </a:r>
          </a:p>
          <a:p>
            <a:pPr lvl="1"/>
            <a:r>
              <a:rPr lang="en-US" dirty="0">
                <a:latin typeface="UGent Panno Text" panose="02000506040000040003" pitchFamily="2" charset="0"/>
              </a:rPr>
              <a:t>Plan folder hierarchy</a:t>
            </a:r>
          </a:p>
          <a:p>
            <a:pPr lvl="1"/>
            <a:r>
              <a:rPr lang="en-US" dirty="0">
                <a:latin typeface="UGent Panno Text" panose="02000506040000040003" pitchFamily="2" charset="0"/>
              </a:rPr>
              <a:t>Develop file naming convention</a:t>
            </a:r>
          </a:p>
          <a:p>
            <a:pPr lvl="1"/>
            <a:r>
              <a:rPr lang="en-US" dirty="0">
                <a:latin typeface="UGent Panno Text" panose="02000506040000040003" pitchFamily="2" charset="0"/>
              </a:rPr>
              <a:t>Develop versioning strategy</a:t>
            </a:r>
          </a:p>
          <a:p>
            <a:r>
              <a:rPr lang="en-US" dirty="0">
                <a:latin typeface="UGent Panno Text" panose="02000506040000040003" pitchFamily="2" charset="0"/>
              </a:rPr>
              <a:t>Document the file organization system </a:t>
            </a:r>
          </a:p>
          <a:p>
            <a:r>
              <a:rPr lang="en-US" dirty="0">
                <a:latin typeface="UGent Panno Text" panose="02000506040000040003" pitchFamily="2" charset="0"/>
              </a:rPr>
              <a:t>Use the system consistently</a:t>
            </a:r>
          </a:p>
          <a:p>
            <a:pPr lvl="1"/>
            <a:endParaRPr lang="en-US" dirty="0">
              <a:latin typeface="UGent Panno Text" panose="02000506040000040003" pitchFamily="2" charset="0"/>
            </a:endParaRPr>
          </a:p>
          <a:p>
            <a:pPr marL="719138" lvl="1" indent="0">
              <a:buNone/>
            </a:pPr>
            <a:r>
              <a:rPr lang="en-US" dirty="0">
                <a:latin typeface="UGent Panno Text" panose="02000506040000040003" pitchFamily="2" charset="0"/>
              </a:rPr>
              <a:t>			</a:t>
            </a:r>
          </a:p>
        </p:txBody>
      </p:sp>
      <p:sp>
        <p:nvSpPr>
          <p:cNvPr id="10" name="TextBox 9">
            <a:extLst>
              <a:ext uri="{FF2B5EF4-FFF2-40B4-BE49-F238E27FC236}">
                <a16:creationId xmlns:a16="http://schemas.microsoft.com/office/drawing/2014/main" id="{2DE724E3-160C-4FE1-AF9C-B3B666283CB3}"/>
              </a:ext>
            </a:extLst>
          </p:cNvPr>
          <p:cNvSpPr txBox="1"/>
          <p:nvPr/>
        </p:nvSpPr>
        <p:spPr>
          <a:xfrm>
            <a:off x="6477000" y="9082515"/>
            <a:ext cx="9113520" cy="524503"/>
          </a:xfrm>
          <a:prstGeom prst="rect">
            <a:avLst/>
          </a:prstGeom>
          <a:noFill/>
        </p:spPr>
        <p:txBody>
          <a:bodyPr wrap="square" rtlCol="0">
            <a:spAutoFit/>
          </a:bodyPr>
          <a:lstStyle/>
          <a:p>
            <a:pPr>
              <a:lnSpc>
                <a:spcPct val="120000"/>
              </a:lnSpc>
            </a:pPr>
            <a:r>
              <a:rPr lang="en-US" sz="2500" dirty="0">
                <a:latin typeface="UGent Panno Text" panose="02000506040000040003" pitchFamily="2" charset="0"/>
              </a:rPr>
              <a:t>Harvard RDM working group, CC-BY (</a:t>
            </a:r>
            <a:r>
              <a:rPr lang="en-US" sz="2400" dirty="0">
                <a:latin typeface="UGent Panno Text" panose="02000506040000040003" pitchFamily="2" charset="0"/>
                <a:hlinkClick r:id="rId2"/>
              </a:rPr>
              <a:t>https://osf.io/hjntb/</a:t>
            </a:r>
            <a:r>
              <a:rPr lang="en-US" sz="2500" dirty="0">
                <a:latin typeface="UGent Panno Text" panose="02000506040000040003" pitchFamily="2" charset="0"/>
              </a:rPr>
              <a:t>)</a:t>
            </a:r>
          </a:p>
        </p:txBody>
      </p:sp>
      <p:pic>
        <p:nvPicPr>
          <p:cNvPr id="1028" name="Picture 4" descr="No hay ninguna descripción de la foto disponible.">
            <a:extLst>
              <a:ext uri="{FF2B5EF4-FFF2-40B4-BE49-F238E27FC236}">
                <a16:creationId xmlns:a16="http://schemas.microsoft.com/office/drawing/2014/main" id="{7C35EBFE-0057-4A50-98BD-5F5EFAF4679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9021" y="1731819"/>
            <a:ext cx="6165652" cy="61656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491177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1EF2B-789D-476F-A0A8-390FB25D94DE}"/>
              </a:ext>
            </a:extLst>
          </p:cNvPr>
          <p:cNvSpPr>
            <a:spLocks noGrp="1"/>
          </p:cNvSpPr>
          <p:nvPr>
            <p:ph type="ctrTitle"/>
          </p:nvPr>
        </p:nvSpPr>
        <p:spPr/>
        <p:txBody>
          <a:bodyPr/>
          <a:lstStyle/>
          <a:p>
            <a:r>
              <a:rPr lang="nl-BE" dirty="0">
                <a:latin typeface="UGent Panno Text" panose="02000506040000040003" pitchFamily="2" charset="0"/>
              </a:rPr>
              <a:t>File </a:t>
            </a:r>
            <a:r>
              <a:rPr lang="nl-BE" dirty="0" err="1">
                <a:latin typeface="UGent Panno Text" panose="02000506040000040003" pitchFamily="2" charset="0"/>
              </a:rPr>
              <a:t>naming</a:t>
            </a:r>
            <a:endParaRPr lang="nl-BE" dirty="0">
              <a:latin typeface="UGent Panno Text" panose="02000506040000040003" pitchFamily="2" charset="0"/>
            </a:endParaRPr>
          </a:p>
        </p:txBody>
      </p:sp>
      <p:sp>
        <p:nvSpPr>
          <p:cNvPr id="3" name="Slide Number Placeholder 2">
            <a:extLst>
              <a:ext uri="{FF2B5EF4-FFF2-40B4-BE49-F238E27FC236}">
                <a16:creationId xmlns:a16="http://schemas.microsoft.com/office/drawing/2014/main" id="{B771F033-090B-40EA-9BFD-B731455F4337}"/>
              </a:ext>
            </a:extLst>
          </p:cNvPr>
          <p:cNvSpPr>
            <a:spLocks noGrp="1"/>
          </p:cNvSpPr>
          <p:nvPr>
            <p:ph type="sldNum" sz="quarter" idx="4"/>
          </p:nvPr>
        </p:nvSpPr>
        <p:spPr/>
        <p:txBody>
          <a:bodyPr/>
          <a:lstStyle/>
          <a:p>
            <a:fld id="{7AE184E0-0BD4-4705-A12B-9B71DDE63301}" type="slidenum">
              <a:rPr lang="nl-BE" noProof="0" smtClean="0"/>
              <a:pPr/>
              <a:t>19</a:t>
            </a:fld>
            <a:endParaRPr lang="nl-BE" noProof="0"/>
          </a:p>
        </p:txBody>
      </p:sp>
    </p:spTree>
    <p:extLst>
      <p:ext uri="{BB962C8B-B14F-4D97-AF65-F5344CB8AC3E}">
        <p14:creationId xmlns:p14="http://schemas.microsoft.com/office/powerpoint/2010/main" val="4699641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err="1">
                <a:latin typeface="UGent Panno Text" panose="02000506040000040003" pitchFamily="2" charset="0"/>
              </a:rPr>
              <a:t>Develop</a:t>
            </a:r>
            <a:r>
              <a:rPr lang="nl-BE" dirty="0">
                <a:latin typeface="UGent Panno Text" panose="02000506040000040003" pitchFamily="2" charset="0"/>
              </a:rPr>
              <a:t> file </a:t>
            </a:r>
            <a:r>
              <a:rPr lang="nl-BE" dirty="0" err="1">
                <a:latin typeface="UGent Panno Text" panose="02000506040000040003" pitchFamily="2" charset="0"/>
              </a:rPr>
              <a:t>naming</a:t>
            </a:r>
            <a:r>
              <a:rPr lang="nl-BE" dirty="0">
                <a:latin typeface="UGent Panno Text" panose="02000506040000040003" pitchFamily="2" charset="0"/>
              </a:rPr>
              <a:t> </a:t>
            </a:r>
            <a:r>
              <a:rPr lang="nl-BE" dirty="0" err="1">
                <a:latin typeface="UGent Panno Text" panose="02000506040000040003" pitchFamily="2" charset="0"/>
              </a:rPr>
              <a:t>convention</a:t>
            </a:r>
            <a:endParaRPr lang="nl-BE" dirty="0">
              <a:latin typeface="UGent Panno Text" panose="02000506040000040003" pitchFamily="2" charset="0"/>
            </a:endParaRPr>
          </a:p>
        </p:txBody>
      </p:sp>
      <p:sp>
        <p:nvSpPr>
          <p:cNvPr id="3" name="Tijdelijke aanduiding voor inhoud 2"/>
          <p:cNvSpPr>
            <a:spLocks noGrp="1"/>
          </p:cNvSpPr>
          <p:nvPr>
            <p:ph idx="1"/>
          </p:nvPr>
        </p:nvSpPr>
        <p:spPr>
          <a:xfrm>
            <a:off x="835825" y="1194364"/>
            <a:ext cx="15699575" cy="3339503"/>
          </a:xfrm>
        </p:spPr>
        <p:txBody>
          <a:bodyPr>
            <a:normAutofit/>
          </a:bodyPr>
          <a:lstStyle/>
          <a:p>
            <a:pPr fontAlgn="base"/>
            <a:r>
              <a:rPr lang="en-US" sz="4000" dirty="0">
                <a:latin typeface="UGent Panno Text" panose="02000506040000040003" pitchFamily="2" charset="0"/>
              </a:rPr>
              <a:t>Think of the current and expected files </a:t>
            </a:r>
          </a:p>
          <a:p>
            <a:pPr lvl="1" fontAlgn="base"/>
            <a:r>
              <a:rPr lang="en-US" sz="4000" dirty="0">
                <a:latin typeface="UGent Panno Text" panose="02000506040000040003" pitchFamily="2" charset="0"/>
              </a:rPr>
              <a:t>Use unique characteristics reflecting the file content, possibly status and version​</a:t>
            </a:r>
          </a:p>
          <a:p>
            <a:pPr lvl="1" fontAlgn="base"/>
            <a:r>
              <a:rPr lang="en-US" sz="4000" dirty="0">
                <a:latin typeface="UGent Panno Text" panose="02000506040000040003" pitchFamily="2" charset="0"/>
              </a:rPr>
              <a:t>File name = principal identiﬁer of ﬁle, used to uniquely identify a file​</a:t>
            </a:r>
          </a:p>
          <a:p>
            <a:pPr lvl="1" fontAlgn="base"/>
            <a:r>
              <a:rPr lang="en-US" sz="4000" dirty="0">
                <a:latin typeface="UGent Panno Text" panose="02000506040000040003" pitchFamily="2" charset="0"/>
              </a:rPr>
              <a:t>Be consistent</a:t>
            </a:r>
          </a:p>
          <a:p>
            <a:pPr lvl="1" fontAlgn="base"/>
            <a:endParaRPr lang="en-US" sz="4000" dirty="0">
              <a:latin typeface="UGent Panno Text" panose="02000506040000040003" pitchFamily="2" charset="0"/>
            </a:endParaRPr>
          </a:p>
        </p:txBody>
      </p:sp>
      <p:sp>
        <p:nvSpPr>
          <p:cNvPr id="4" name="Tijdelijke aanduiding voor dianummer 3"/>
          <p:cNvSpPr>
            <a:spLocks noGrp="1"/>
          </p:cNvSpPr>
          <p:nvPr>
            <p:ph type="sldNum" sz="quarter" idx="12"/>
          </p:nvPr>
        </p:nvSpPr>
        <p:spPr/>
        <p:txBody>
          <a:bodyPr/>
          <a:lstStyle/>
          <a:p>
            <a:fld id="{7AE184E0-0BD4-4705-A12B-9B71DDE63301}" type="slidenum">
              <a:rPr lang="nl-BE" smtClean="0">
                <a:latin typeface="UGent Panno Text" panose="02000506040000040003" pitchFamily="2" charset="0"/>
              </a:rPr>
              <a:pPr/>
              <a:t>20</a:t>
            </a:fld>
            <a:endParaRPr lang="nl-BE">
              <a:latin typeface="UGent Panno Text" panose="02000506040000040003" pitchFamily="2" charset="0"/>
            </a:endParaRPr>
          </a:p>
        </p:txBody>
      </p:sp>
      <p:graphicFrame>
        <p:nvGraphicFramePr>
          <p:cNvPr id="5" name="Table 4">
            <a:extLst>
              <a:ext uri="{FF2B5EF4-FFF2-40B4-BE49-F238E27FC236}">
                <a16:creationId xmlns:a16="http://schemas.microsoft.com/office/drawing/2014/main" id="{E5C05DC6-987E-4892-9218-4E29051FAB0C}"/>
              </a:ext>
            </a:extLst>
          </p:cNvPr>
          <p:cNvGraphicFramePr>
            <a:graphicFrameLocks noGrp="1"/>
          </p:cNvGraphicFramePr>
          <p:nvPr>
            <p:extLst>
              <p:ext uri="{D42A27DB-BD31-4B8C-83A1-F6EECF244321}">
                <p14:modId xmlns:p14="http://schemas.microsoft.com/office/powerpoint/2010/main" val="744772297"/>
              </p:ext>
            </p:extLst>
          </p:nvPr>
        </p:nvGraphicFramePr>
        <p:xfrm>
          <a:off x="1090902" y="4533868"/>
          <a:ext cx="15156870" cy="2499360"/>
        </p:xfrm>
        <a:graphic>
          <a:graphicData uri="http://schemas.openxmlformats.org/drawingml/2006/table">
            <a:tbl>
              <a:tblPr firstRow="1" bandRow="1">
                <a:tableStyleId>{5C22544A-7EE6-4342-B048-85BDC9FD1C3A}</a:tableStyleId>
              </a:tblPr>
              <a:tblGrid>
                <a:gridCol w="2660072">
                  <a:extLst>
                    <a:ext uri="{9D8B030D-6E8A-4147-A177-3AD203B41FA5}">
                      <a16:colId xmlns:a16="http://schemas.microsoft.com/office/drawing/2014/main" val="908958424"/>
                    </a:ext>
                  </a:extLst>
                </a:gridCol>
                <a:gridCol w="2673927">
                  <a:extLst>
                    <a:ext uri="{9D8B030D-6E8A-4147-A177-3AD203B41FA5}">
                      <a16:colId xmlns:a16="http://schemas.microsoft.com/office/drawing/2014/main" val="2279655312"/>
                    </a:ext>
                  </a:extLst>
                </a:gridCol>
                <a:gridCol w="2424545">
                  <a:extLst>
                    <a:ext uri="{9D8B030D-6E8A-4147-A177-3AD203B41FA5}">
                      <a16:colId xmlns:a16="http://schemas.microsoft.com/office/drawing/2014/main" val="2687426094"/>
                    </a:ext>
                  </a:extLst>
                </a:gridCol>
                <a:gridCol w="1634837">
                  <a:extLst>
                    <a:ext uri="{9D8B030D-6E8A-4147-A177-3AD203B41FA5}">
                      <a16:colId xmlns:a16="http://schemas.microsoft.com/office/drawing/2014/main" val="3441625563"/>
                    </a:ext>
                  </a:extLst>
                </a:gridCol>
                <a:gridCol w="5763489">
                  <a:extLst>
                    <a:ext uri="{9D8B030D-6E8A-4147-A177-3AD203B41FA5}">
                      <a16:colId xmlns:a16="http://schemas.microsoft.com/office/drawing/2014/main" val="439435557"/>
                    </a:ext>
                  </a:extLst>
                </a:gridCol>
              </a:tblGrid>
              <a:tr h="370840">
                <a:tc>
                  <a:txBody>
                    <a:bodyPr/>
                    <a:lstStyle/>
                    <a:p>
                      <a:r>
                        <a:rPr lang="en-US" sz="2800" dirty="0">
                          <a:latin typeface="UGent Panno Text" panose="02000506040000040003" pitchFamily="50" charset="0"/>
                        </a:rPr>
                        <a:t>Data type</a:t>
                      </a:r>
                    </a:p>
                  </a:txBody>
                  <a:tcPr/>
                </a:tc>
                <a:tc>
                  <a:txBody>
                    <a:bodyPr/>
                    <a:lstStyle/>
                    <a:p>
                      <a:r>
                        <a:rPr lang="en-US" sz="2800" dirty="0">
                          <a:latin typeface="UGent Panno Text" panose="02000506040000040003" pitchFamily="50" charset="0"/>
                        </a:rPr>
                        <a:t>Unique characteristics</a:t>
                      </a:r>
                    </a:p>
                  </a:txBody>
                  <a:tcPr/>
                </a:tc>
                <a:tc>
                  <a:txBody>
                    <a:bodyPr/>
                    <a:lstStyle/>
                    <a:p>
                      <a:r>
                        <a:rPr lang="en-US" sz="2800" dirty="0">
                          <a:latin typeface="UGent Panno Text" panose="02000506040000040003" pitchFamily="50" charset="0"/>
                        </a:rPr>
                        <a:t>Multiple files or versions?</a:t>
                      </a:r>
                    </a:p>
                  </a:txBody>
                  <a:tcPr/>
                </a:tc>
                <a:tc>
                  <a:txBody>
                    <a:bodyPr/>
                    <a:lstStyle/>
                    <a:p>
                      <a:r>
                        <a:rPr lang="en-US" sz="2800" dirty="0">
                          <a:latin typeface="UGent Panno Text" panose="02000506040000040003" pitchFamily="50" charset="0"/>
                        </a:rPr>
                        <a:t>File format</a:t>
                      </a:r>
                    </a:p>
                  </a:txBody>
                  <a:tcPr/>
                </a:tc>
                <a:tc>
                  <a:txBody>
                    <a:bodyPr/>
                    <a:lstStyle/>
                    <a:p>
                      <a:r>
                        <a:rPr lang="en-US" sz="2800" dirty="0">
                          <a:latin typeface="UGent Panno Text" panose="02000506040000040003" pitchFamily="50" charset="0"/>
                        </a:rPr>
                        <a:t>Draft naming schema</a:t>
                      </a:r>
                    </a:p>
                  </a:txBody>
                  <a:tcPr/>
                </a:tc>
                <a:extLst>
                  <a:ext uri="{0D108BD9-81ED-4DB2-BD59-A6C34878D82A}">
                    <a16:rowId xmlns:a16="http://schemas.microsoft.com/office/drawing/2014/main" val="1103086971"/>
                  </a:ext>
                </a:extLst>
              </a:tr>
              <a:tr h="370840">
                <a:tc>
                  <a:txBody>
                    <a:bodyPr/>
                    <a:lstStyle/>
                    <a:p>
                      <a:r>
                        <a:rPr lang="en-US" sz="2400" dirty="0">
                          <a:latin typeface="UGent Panno Text" panose="02000506040000040003" pitchFamily="50" charset="0"/>
                        </a:rPr>
                        <a:t>Microscope image</a:t>
                      </a:r>
                    </a:p>
                  </a:txBody>
                  <a:tcPr/>
                </a:tc>
                <a:tc>
                  <a:txBody>
                    <a:bodyPr/>
                    <a:lstStyle/>
                    <a:p>
                      <a:r>
                        <a:rPr lang="en-US" sz="2400" dirty="0">
                          <a:latin typeface="UGent Panno Text" panose="02000506040000040003" pitchFamily="50" charset="0"/>
                        </a:rPr>
                        <a:t>Date collected</a:t>
                      </a:r>
                    </a:p>
                    <a:p>
                      <a:r>
                        <a:rPr lang="en-US" sz="2400" dirty="0">
                          <a:latin typeface="UGent Panno Text" panose="02000506040000040003" pitchFamily="50" charset="0"/>
                        </a:rPr>
                        <a:t>Experiment number</a:t>
                      </a:r>
                    </a:p>
                    <a:p>
                      <a:r>
                        <a:rPr lang="en-US" sz="2400" dirty="0">
                          <a:latin typeface="UGent Panno Text" panose="02000506040000040003" pitchFamily="50" charset="0"/>
                        </a:rPr>
                        <a:t>Sample type</a:t>
                      </a:r>
                    </a:p>
                    <a:p>
                      <a:r>
                        <a:rPr lang="en-US" sz="2400" dirty="0">
                          <a:latin typeface="UGent Panno Text" panose="02000506040000040003" pitchFamily="50" charset="0"/>
                        </a:rPr>
                        <a:t>Microscope settings</a:t>
                      </a:r>
                    </a:p>
                  </a:txBody>
                  <a:tcPr/>
                </a:tc>
                <a:tc>
                  <a:txBody>
                    <a:bodyPr/>
                    <a:lstStyle/>
                    <a:p>
                      <a:r>
                        <a:rPr lang="en-US" sz="2400" dirty="0">
                          <a:latin typeface="UGent Panno Text" panose="02000506040000040003" pitchFamily="50" charset="0"/>
                        </a:rPr>
                        <a:t>&gt;50 images per day</a:t>
                      </a:r>
                    </a:p>
                  </a:txBody>
                  <a:tcPr/>
                </a:tc>
                <a:tc>
                  <a:txBody>
                    <a:bodyPr/>
                    <a:lstStyle/>
                    <a:p>
                      <a:r>
                        <a:rPr lang="en-US" sz="2400" dirty="0">
                          <a:latin typeface="UGent Panno Text" panose="02000506040000040003" pitchFamily="50" charset="0"/>
                        </a:rPr>
                        <a:t>TIFF</a:t>
                      </a:r>
                    </a:p>
                  </a:txBody>
                  <a:tcPr/>
                </a:tc>
                <a:tc>
                  <a:txBody>
                    <a:bodyPr/>
                    <a:lstStyle/>
                    <a:p>
                      <a:r>
                        <a:rPr lang="en-US" sz="2400" dirty="0">
                          <a:latin typeface="UGent Panno Text" panose="02000506040000040003" pitchFamily="50" charset="0"/>
                        </a:rPr>
                        <a:t>YYYYMMDD_exp01_samplecode_001</a:t>
                      </a:r>
                    </a:p>
                    <a:p>
                      <a:endParaRPr lang="en-US" sz="2400" dirty="0">
                        <a:latin typeface="UGent Panno Text" panose="02000506040000040003" pitchFamily="50" charset="0"/>
                      </a:endParaRPr>
                    </a:p>
                    <a:p>
                      <a:r>
                        <a:rPr lang="en-US" sz="2400" dirty="0">
                          <a:latin typeface="UGent Panno Text" panose="02000506040000040003" pitchFamily="50" charset="0"/>
                        </a:rPr>
                        <a:t>YYYYMMDD_samplecode_exp01_001</a:t>
                      </a:r>
                    </a:p>
                  </a:txBody>
                  <a:tcPr/>
                </a:tc>
                <a:extLst>
                  <a:ext uri="{0D108BD9-81ED-4DB2-BD59-A6C34878D82A}">
                    <a16:rowId xmlns:a16="http://schemas.microsoft.com/office/drawing/2014/main" val="4004638285"/>
                  </a:ext>
                </a:extLst>
              </a:tr>
            </a:tbl>
          </a:graphicData>
        </a:graphic>
      </p:graphicFrame>
      <p:sp>
        <p:nvSpPr>
          <p:cNvPr id="6" name="TextBox 5">
            <a:extLst>
              <a:ext uri="{FF2B5EF4-FFF2-40B4-BE49-F238E27FC236}">
                <a16:creationId xmlns:a16="http://schemas.microsoft.com/office/drawing/2014/main" id="{1CF65DD3-C5BE-4C12-959F-EB5E79321109}"/>
              </a:ext>
            </a:extLst>
          </p:cNvPr>
          <p:cNvSpPr txBox="1"/>
          <p:nvPr/>
        </p:nvSpPr>
        <p:spPr>
          <a:xfrm>
            <a:off x="5305122" y="7409941"/>
            <a:ext cx="6359237" cy="658642"/>
          </a:xfrm>
          <a:prstGeom prst="rect">
            <a:avLst/>
          </a:prstGeom>
          <a:noFill/>
        </p:spPr>
        <p:txBody>
          <a:bodyPr wrap="square" rtlCol="0">
            <a:spAutoFit/>
          </a:bodyPr>
          <a:lstStyle/>
          <a:p>
            <a:pPr>
              <a:lnSpc>
                <a:spcPct val="120000"/>
              </a:lnSpc>
            </a:pPr>
            <a:r>
              <a:rPr lang="en-US" sz="3200" dirty="0">
                <a:latin typeface="UGent Panno Text" panose="02000506040000040003" pitchFamily="50" charset="0"/>
              </a:rPr>
              <a:t>DMP: data summary or data description</a:t>
            </a:r>
          </a:p>
        </p:txBody>
      </p:sp>
      <p:pic>
        <p:nvPicPr>
          <p:cNvPr id="8" name="Graphic 7" descr="Lightbulb and gear">
            <a:extLst>
              <a:ext uri="{FF2B5EF4-FFF2-40B4-BE49-F238E27FC236}">
                <a16:creationId xmlns:a16="http://schemas.microsoft.com/office/drawing/2014/main" id="{4D6EE378-204A-452E-8336-B79B289CD12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474067" y="7348583"/>
            <a:ext cx="720000" cy="720000"/>
          </a:xfrm>
          <a:prstGeom prst="rect">
            <a:avLst/>
          </a:prstGeom>
        </p:spPr>
      </p:pic>
      <p:sp>
        <p:nvSpPr>
          <p:cNvPr id="9" name="TextBox 8">
            <a:extLst>
              <a:ext uri="{FF2B5EF4-FFF2-40B4-BE49-F238E27FC236}">
                <a16:creationId xmlns:a16="http://schemas.microsoft.com/office/drawing/2014/main" id="{9533C4F1-5138-47C4-A0BC-1AF2CECC102F}"/>
              </a:ext>
            </a:extLst>
          </p:cNvPr>
          <p:cNvSpPr txBox="1"/>
          <p:nvPr/>
        </p:nvSpPr>
        <p:spPr>
          <a:xfrm>
            <a:off x="3096491" y="8948703"/>
            <a:ext cx="12216938" cy="446276"/>
          </a:xfrm>
          <a:prstGeom prst="rect">
            <a:avLst/>
          </a:prstGeom>
          <a:noFill/>
        </p:spPr>
        <p:txBody>
          <a:bodyPr wrap="square" rtlCol="0">
            <a:spAutoFit/>
          </a:bodyPr>
          <a:lstStyle/>
          <a:p>
            <a:pPr>
              <a:lnSpc>
                <a:spcPct val="120000"/>
              </a:lnSpc>
            </a:pPr>
            <a:r>
              <a:rPr lang="nl-BE" sz="2000" dirty="0" err="1">
                <a:latin typeface="UGent Panno Text" panose="02000506040000040003" pitchFamily="2" charset="0"/>
              </a:rPr>
              <a:t>Adapted</a:t>
            </a:r>
            <a:r>
              <a:rPr lang="nl-BE" sz="2000" dirty="0">
                <a:latin typeface="UGent Panno Text" panose="02000506040000040003" pitchFamily="2" charset="0"/>
              </a:rPr>
              <a:t> </a:t>
            </a:r>
            <a:r>
              <a:rPr lang="nl-BE" sz="2000" dirty="0" err="1">
                <a:latin typeface="UGent Panno Text" panose="02000506040000040003" pitchFamily="2" charset="0"/>
              </a:rPr>
              <a:t>from</a:t>
            </a:r>
            <a:r>
              <a:rPr lang="nl-BE" sz="2000" dirty="0">
                <a:latin typeface="UGent Panno Text" panose="02000506040000040003" pitchFamily="2" charset="0"/>
              </a:rPr>
              <a:t> </a:t>
            </a:r>
            <a:r>
              <a:rPr lang="nl-BE" sz="2000" i="1" dirty="0" err="1">
                <a:latin typeface="UGent Panno Text" panose="02000506040000040003" pitchFamily="2" charset="0"/>
                <a:hlinkClick r:id="rId5"/>
              </a:rPr>
              <a:t>Worksheet</a:t>
            </a:r>
            <a:r>
              <a:rPr lang="nl-BE" sz="2000" i="1" dirty="0">
                <a:latin typeface="UGent Panno Text" panose="02000506040000040003" pitchFamily="2" charset="0"/>
                <a:hlinkClick r:id="rId5"/>
              </a:rPr>
              <a:t>: </a:t>
            </a:r>
            <a:r>
              <a:rPr lang="nl-BE" sz="2000" i="1" dirty="0" err="1">
                <a:latin typeface="UGent Panno Text" panose="02000506040000040003" pitchFamily="2" charset="0"/>
                <a:hlinkClick r:id="rId5"/>
              </a:rPr>
              <a:t>Naming</a:t>
            </a:r>
            <a:r>
              <a:rPr lang="nl-BE" sz="2000" i="1" dirty="0">
                <a:latin typeface="UGent Panno Text" panose="02000506040000040003" pitchFamily="2" charset="0"/>
                <a:hlinkClick r:id="rId5"/>
              </a:rPr>
              <a:t> </a:t>
            </a:r>
            <a:r>
              <a:rPr lang="nl-BE" sz="2000" i="1" dirty="0" err="1">
                <a:latin typeface="UGent Panno Text" panose="02000506040000040003" pitchFamily="2" charset="0"/>
                <a:hlinkClick r:id="rId5"/>
              </a:rPr>
              <a:t>and</a:t>
            </a:r>
            <a:r>
              <a:rPr lang="nl-BE" sz="2000" i="1" dirty="0">
                <a:latin typeface="UGent Panno Text" panose="02000506040000040003" pitchFamily="2" charset="0"/>
                <a:hlinkClick r:id="rId5"/>
              </a:rPr>
              <a:t> </a:t>
            </a:r>
            <a:r>
              <a:rPr lang="nl-BE" sz="2000" i="1" dirty="0" err="1">
                <a:latin typeface="UGent Panno Text" panose="02000506040000040003" pitchFamily="2" charset="0"/>
                <a:hlinkClick r:id="rId5"/>
              </a:rPr>
              <a:t>Organizing</a:t>
            </a:r>
            <a:r>
              <a:rPr lang="nl-BE" sz="2000" i="1" dirty="0">
                <a:latin typeface="UGent Panno Text" panose="02000506040000040003" pitchFamily="2" charset="0"/>
                <a:hlinkClick r:id="rId5"/>
              </a:rPr>
              <a:t> </a:t>
            </a:r>
            <a:r>
              <a:rPr lang="nl-BE" sz="2000" i="1" dirty="0" err="1">
                <a:latin typeface="UGent Panno Text" panose="02000506040000040003" pitchFamily="2" charset="0"/>
                <a:hlinkClick r:id="rId5"/>
              </a:rPr>
              <a:t>your</a:t>
            </a:r>
            <a:r>
              <a:rPr lang="nl-BE" sz="2000" i="1" dirty="0">
                <a:latin typeface="UGent Panno Text" panose="02000506040000040003" pitchFamily="2" charset="0"/>
                <a:hlinkClick r:id="rId5"/>
              </a:rPr>
              <a:t> Files </a:t>
            </a:r>
            <a:r>
              <a:rPr lang="nl-BE" sz="2000" i="1" dirty="0" err="1">
                <a:latin typeface="UGent Panno Text" panose="02000506040000040003" pitchFamily="2" charset="0"/>
                <a:hlinkClick r:id="rId5"/>
              </a:rPr>
              <a:t>and</a:t>
            </a:r>
            <a:r>
              <a:rPr lang="nl-BE" sz="2000" i="1" dirty="0">
                <a:latin typeface="UGent Panno Text" panose="02000506040000040003" pitchFamily="2" charset="0"/>
                <a:hlinkClick r:id="rId5"/>
              </a:rPr>
              <a:t> Folders </a:t>
            </a:r>
            <a:r>
              <a:rPr lang="nl-BE" sz="2000" i="1" dirty="0" err="1">
                <a:latin typeface="UGent Panno Text" panose="02000506040000040003" pitchFamily="2" charset="0"/>
                <a:hlinkClick r:id="rId5"/>
              </a:rPr>
              <a:t>by</a:t>
            </a:r>
            <a:r>
              <a:rPr lang="nl-BE" sz="2000" i="1" dirty="0">
                <a:latin typeface="UGent Panno Text" panose="02000506040000040003" pitchFamily="2" charset="0"/>
                <a:hlinkClick r:id="rId5"/>
              </a:rPr>
              <a:t> MIT Libraries Data Management Services</a:t>
            </a:r>
            <a:r>
              <a:rPr lang="nl-BE" sz="2000" dirty="0">
                <a:latin typeface="UGent Panno Text" panose="02000506040000040003" pitchFamily="2" charset="0"/>
              </a:rPr>
              <a:t>, CC-BY, </a:t>
            </a:r>
          </a:p>
        </p:txBody>
      </p:sp>
    </p:spTree>
    <p:extLst>
      <p:ext uri="{BB962C8B-B14F-4D97-AF65-F5344CB8AC3E}">
        <p14:creationId xmlns:p14="http://schemas.microsoft.com/office/powerpoint/2010/main" val="40581952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File naming: Best practices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21</a:t>
            </a:fld>
            <a:endParaRPr lang="en-GB">
              <a:latin typeface="UGent Panno Text" panose="02000506040000040003" pitchFamily="50" charset="0"/>
            </a:endParaRPr>
          </a:p>
        </p:txBody>
      </p:sp>
      <p:graphicFrame>
        <p:nvGraphicFramePr>
          <p:cNvPr id="2" name="Table 1">
            <a:extLst>
              <a:ext uri="{FF2B5EF4-FFF2-40B4-BE49-F238E27FC236}">
                <a16:creationId xmlns:a16="http://schemas.microsoft.com/office/drawing/2014/main" id="{011EA822-69FA-4EE2-9279-2AF01C2F27B2}"/>
              </a:ext>
            </a:extLst>
          </p:cNvPr>
          <p:cNvGraphicFramePr>
            <a:graphicFrameLocks noGrp="1"/>
          </p:cNvGraphicFramePr>
          <p:nvPr>
            <p:extLst>
              <p:ext uri="{D42A27DB-BD31-4B8C-83A1-F6EECF244321}">
                <p14:modId xmlns:p14="http://schemas.microsoft.com/office/powerpoint/2010/main" val="2194059750"/>
              </p:ext>
            </p:extLst>
          </p:nvPr>
        </p:nvGraphicFramePr>
        <p:xfrm>
          <a:off x="1779115" y="1767840"/>
          <a:ext cx="14272345" cy="6217920"/>
        </p:xfrm>
        <a:graphic>
          <a:graphicData uri="http://schemas.openxmlformats.org/drawingml/2006/table">
            <a:tbl>
              <a:tblPr firstRow="1" bandRow="1">
                <a:tableStyleId>{3C2FFA5D-87B4-456A-9821-1D502468CF0F}</a:tableStyleId>
              </a:tblPr>
              <a:tblGrid>
                <a:gridCol w="2437209">
                  <a:extLst>
                    <a:ext uri="{9D8B030D-6E8A-4147-A177-3AD203B41FA5}">
                      <a16:colId xmlns:a16="http://schemas.microsoft.com/office/drawing/2014/main" val="1245182081"/>
                    </a:ext>
                  </a:extLst>
                </a:gridCol>
                <a:gridCol w="603614">
                  <a:extLst>
                    <a:ext uri="{9D8B030D-6E8A-4147-A177-3AD203B41FA5}">
                      <a16:colId xmlns:a16="http://schemas.microsoft.com/office/drawing/2014/main" val="1345487420"/>
                    </a:ext>
                  </a:extLst>
                </a:gridCol>
                <a:gridCol w="5763071">
                  <a:extLst>
                    <a:ext uri="{9D8B030D-6E8A-4147-A177-3AD203B41FA5}">
                      <a16:colId xmlns:a16="http://schemas.microsoft.com/office/drawing/2014/main" val="106217713"/>
                    </a:ext>
                  </a:extLst>
                </a:gridCol>
                <a:gridCol w="574870">
                  <a:extLst>
                    <a:ext uri="{9D8B030D-6E8A-4147-A177-3AD203B41FA5}">
                      <a16:colId xmlns:a16="http://schemas.microsoft.com/office/drawing/2014/main" val="3371212920"/>
                    </a:ext>
                  </a:extLst>
                </a:gridCol>
                <a:gridCol w="4893581">
                  <a:extLst>
                    <a:ext uri="{9D8B030D-6E8A-4147-A177-3AD203B41FA5}">
                      <a16:colId xmlns:a16="http://schemas.microsoft.com/office/drawing/2014/main" val="2750998396"/>
                    </a:ext>
                  </a:extLst>
                </a:gridCol>
              </a:tblGrid>
              <a:tr h="518377">
                <a:tc>
                  <a:txBody>
                    <a:bodyPr/>
                    <a:lstStyle/>
                    <a:p>
                      <a:r>
                        <a:rPr lang="en-US" sz="3200" b="1" dirty="0">
                          <a:solidFill>
                            <a:schemeClr val="tx1"/>
                          </a:solidFill>
                          <a:latin typeface="UGent Panno Text" panose="02000506040000040003" pitchFamily="50" charset="0"/>
                        </a:rPr>
                        <a:t>LENGTH</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r>
                        <a:rPr lang="en-US" sz="3200" b="0" dirty="0">
                          <a:solidFill>
                            <a:schemeClr val="tx1"/>
                          </a:solidFill>
                          <a:latin typeface="UGent Panno Text" panose="02000506040000040003" pitchFamily="50" charset="0"/>
                        </a:rPr>
                        <a:t>Avoid long names, remove unnecessary elements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tc gridSpan="2">
                  <a:txBody>
                    <a:bodyPr/>
                    <a:lstStyle/>
                    <a:p>
                      <a:endParaRPr lang="en-US" sz="3200" b="0" dirty="0">
                        <a:solidFill>
                          <a:schemeClr val="tx1"/>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a:p>
                  </a:txBody>
                  <a:tcPr/>
                </a:tc>
                <a:extLst>
                  <a:ext uri="{0D108BD9-81ED-4DB2-BD59-A6C34878D82A}">
                    <a16:rowId xmlns:a16="http://schemas.microsoft.com/office/drawing/2014/main" val="1127549453"/>
                  </a:ext>
                </a:extLst>
              </a:tr>
              <a:tr h="2618130">
                <a:tc>
                  <a:txBody>
                    <a:bodyPr/>
                    <a:lstStyle/>
                    <a:p>
                      <a:r>
                        <a:rPr lang="en-US" sz="3200" b="1" dirty="0">
                          <a:solidFill>
                            <a:schemeClr val="tx1"/>
                          </a:solidFill>
                          <a:latin typeface="UGent Panno Text" panose="02000506040000040003" pitchFamily="50" charset="0"/>
                        </a:rPr>
                        <a:t>SPECIAL CHARACTERS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rgbClr val="FF0000"/>
                          </a:solidFill>
                          <a:latin typeface="UGent Panno Text" panose="02000506040000040003" pitchFamily="50" charset="0"/>
                          <a:sym typeface="Wingdings 2" panose="05020102010507070707" pitchFamily="18" charset="2"/>
                        </a:rPr>
                        <a:t></a:t>
                      </a:r>
                    </a:p>
                    <a:p>
                      <a:endParaRPr lang="en-US" sz="3200" dirty="0">
                        <a:solidFill>
                          <a:schemeClr val="tx1"/>
                        </a:solidFill>
                        <a:latin typeface="UGent Panno Text" panose="02000506040000040003" pitchFamily="50" charset="0"/>
                        <a:sym typeface="Wingdings 2" panose="05020102010507070707" pitchFamily="18" charset="2"/>
                      </a:endParaRPr>
                    </a:p>
                    <a:p>
                      <a:endParaRPr lang="en-US" sz="3200" dirty="0">
                        <a:solidFill>
                          <a:schemeClr val="tx1"/>
                        </a:solidFill>
                        <a:latin typeface="UGent Panno Text" panose="02000506040000040003" pitchFamily="50" charset="0"/>
                        <a:sym typeface="Wingdings 2" panose="05020102010507070707" pitchFamily="18" charset="2"/>
                      </a:endParaRPr>
                    </a:p>
                    <a:p>
                      <a:endParaRPr lang="en-US" sz="3200" dirty="0">
                        <a:solidFill>
                          <a:schemeClr val="tx1"/>
                        </a:solidFill>
                        <a:latin typeface="UGent Panno Text" panose="02000506040000040003" pitchFamily="50" charset="0"/>
                        <a:sym typeface="Wingdings 2" panose="05020102010507070707" pitchFamily="18" charset="2"/>
                      </a:endParaRPr>
                    </a:p>
                    <a:p>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Spaces</a:t>
                      </a:r>
                    </a:p>
                    <a:p>
                      <a:r>
                        <a:rPr lang="en-US" sz="3200" dirty="0">
                          <a:solidFill>
                            <a:schemeClr val="tx1"/>
                          </a:solidFill>
                          <a:latin typeface="UGent Panno Text" panose="02000506040000040003" pitchFamily="50" charset="0"/>
                        </a:rPr>
                        <a:t>Special characters: </a:t>
                      </a:r>
                    </a:p>
                    <a:p>
                      <a:r>
                        <a:rPr lang="en-US" sz="3200" dirty="0">
                          <a:solidFill>
                            <a:schemeClr val="tx1"/>
                          </a:solidFill>
                          <a:latin typeface="UGent Panno Text" panose="02000506040000040003" pitchFamily="50" charset="0"/>
                        </a:rPr>
                        <a:t>\ / : * ? " &lt; &gt; | ! % &amp; - ; = () + , .</a:t>
                      </a:r>
                    </a:p>
                    <a:p>
                      <a:endParaRPr lang="en-US" sz="3200" dirty="0">
                        <a:solidFill>
                          <a:schemeClr val="tx1"/>
                        </a:solidFill>
                        <a:latin typeface="UGent Panno Text" panose="02000506040000040003" pitchFamily="50" charset="0"/>
                      </a:endParaRPr>
                    </a:p>
                    <a:p>
                      <a:r>
                        <a:rPr lang="en-US" sz="3200" dirty="0">
                          <a:solidFill>
                            <a:schemeClr val="tx1"/>
                          </a:solidFill>
                          <a:latin typeface="UGent Panno Text" panose="02000506040000040003" pitchFamily="50" charset="0"/>
                        </a:rPr>
                        <a:t>Underscores</a:t>
                      </a:r>
                    </a:p>
                    <a:p>
                      <a:r>
                        <a:rPr lang="en-US" sz="3200" dirty="0">
                          <a:solidFill>
                            <a:schemeClr val="tx1"/>
                          </a:solidFill>
                          <a:latin typeface="UGent Panno Text" panose="02000506040000040003" pitchFamily="50" charset="0"/>
                        </a:rPr>
                        <a:t>camelCase</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FF0000"/>
                          </a:solidFill>
                          <a:latin typeface="UGent Panno Text" panose="02000506040000040003" pitchFamily="50" charset="0"/>
                          <a:sym typeface="Wingdings 2" panose="05020102010507070707" pitchFamily="18" charset="2"/>
                        </a:rPr>
                        <a:t></a:t>
                      </a:r>
                    </a:p>
                    <a:p>
                      <a:endParaRPr lang="en-US" sz="3200" dirty="0">
                        <a:solidFill>
                          <a:schemeClr val="tx1"/>
                        </a:solidFill>
                        <a:latin typeface="UGent Panno Text" panose="02000506040000040003" pitchFamily="50" charset="0"/>
                      </a:endParaRPr>
                    </a:p>
                    <a:p>
                      <a:endParaRPr lang="en-US" sz="3200" dirty="0">
                        <a:solidFill>
                          <a:schemeClr val="tx1"/>
                        </a:solidFill>
                        <a:latin typeface="UGent Panno Text" panose="02000506040000040003" pitchFamily="50" charset="0"/>
                      </a:endParaRPr>
                    </a:p>
                    <a:p>
                      <a:endParaRPr lang="en-US" sz="3200" dirty="0">
                        <a:solidFill>
                          <a:schemeClr val="tx1"/>
                        </a:solidFill>
                        <a:latin typeface="UGent Panno Text" panose="02000506040000040003" pitchFamily="50" charset="0"/>
                      </a:endParaRPr>
                    </a:p>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p>
                      <a:endParaRPr lang="en-US" sz="3200" dirty="0">
                        <a:solidFill>
                          <a:schemeClr val="tx1"/>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name date v1.txt</a:t>
                      </a:r>
                    </a:p>
                    <a:p>
                      <a:r>
                        <a:rPr lang="en-US" sz="3200" dirty="0">
                          <a:solidFill>
                            <a:schemeClr val="tx1"/>
                          </a:solidFill>
                          <a:latin typeface="UGent Panno Text" panose="02000506040000040003" pitchFamily="50" charset="0"/>
                        </a:rPr>
                        <a:t>name.date.v1.txt</a:t>
                      </a:r>
                    </a:p>
                    <a:p>
                      <a:r>
                        <a:rPr lang="en-US" sz="3200" dirty="0">
                          <a:solidFill>
                            <a:schemeClr val="tx1"/>
                          </a:solidFill>
                          <a:latin typeface="UGent Panno Text" panose="02000506040000040003" pitchFamily="50" charset="0"/>
                        </a:rPr>
                        <a:t>name/date&amp;v1.txt</a:t>
                      </a:r>
                    </a:p>
                    <a:p>
                      <a:endParaRPr lang="en-US" sz="3200" dirty="0">
                        <a:solidFill>
                          <a:schemeClr val="tx1"/>
                        </a:solidFill>
                        <a:latin typeface="UGent Panno Text" panose="02000506040000040003" pitchFamily="50" charset="0"/>
                      </a:endParaRPr>
                    </a:p>
                    <a:p>
                      <a:r>
                        <a:rPr lang="en-US" sz="3200" dirty="0">
                          <a:solidFill>
                            <a:schemeClr val="tx1"/>
                          </a:solidFill>
                          <a:latin typeface="UGent Panno Text" panose="02000506040000040003" pitchFamily="50" charset="0"/>
                        </a:rPr>
                        <a:t>name_date.txt</a:t>
                      </a:r>
                    </a:p>
                    <a:p>
                      <a:r>
                        <a:rPr lang="en-US" sz="3200" dirty="0">
                          <a:solidFill>
                            <a:schemeClr val="tx1"/>
                          </a:solidFill>
                          <a:latin typeface="UGent Panno Text" panose="02000506040000040003" pitchFamily="50" charset="0"/>
                        </a:rPr>
                        <a:t>nameDate.txt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08605994"/>
                  </a:ext>
                </a:extLst>
              </a:tr>
              <a:tr h="518377">
                <a:tc>
                  <a:txBody>
                    <a:bodyPr/>
                    <a:lstStyle/>
                    <a:p>
                      <a:r>
                        <a:rPr lang="en-US" sz="3200" b="1" dirty="0">
                          <a:solidFill>
                            <a:schemeClr val="tx1"/>
                          </a:solidFill>
                          <a:latin typeface="UGent Panno Text" panose="02000506040000040003" pitchFamily="50" charset="0"/>
                        </a:rPr>
                        <a:t>DATES</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Use ISO8601 YYYYMMDD</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20201008_name_v01.txt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2294379"/>
                  </a:ext>
                </a:extLst>
              </a:tr>
              <a:tr h="938327">
                <a:tc>
                  <a:txBody>
                    <a:bodyPr/>
                    <a:lstStyle/>
                    <a:p>
                      <a:r>
                        <a:rPr lang="en-US" sz="3200" b="1" dirty="0">
                          <a:solidFill>
                            <a:schemeClr val="tx1"/>
                          </a:solidFill>
                          <a:latin typeface="UGent Panno Text" panose="02000506040000040003" pitchFamily="50" charset="0"/>
                        </a:rPr>
                        <a:t>NUMBERING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Use leading zeroes for sequential numbering</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FF0000"/>
                          </a:solidFill>
                          <a:latin typeface="UGent Panno Text" panose="02000506040000040003" pitchFamily="50" charset="0"/>
                          <a:sym typeface="Wingdings 2" panose="05020102010507070707" pitchFamily="18" charset="2"/>
                        </a:rPr>
                        <a:t></a:t>
                      </a:r>
                    </a:p>
                    <a:p>
                      <a:pPr marL="0" marR="0" lvl="0" indent="0" algn="l" defTabSz="1300368" rtl="0" eaLnBrk="1" fontAlgn="auto" latinLnBrk="0" hangingPunct="1">
                        <a:lnSpc>
                          <a:spcPct val="100000"/>
                        </a:lnSpc>
                        <a:spcBef>
                          <a:spcPts val="0"/>
                        </a:spcBef>
                        <a:spcAft>
                          <a:spcPts val="0"/>
                        </a:spcAft>
                        <a:buClrTx/>
                        <a:buSzTx/>
                        <a:buFontTx/>
                        <a:buNone/>
                        <a:tabLst/>
                        <a:defRPr/>
                      </a:pPr>
                      <a:r>
                        <a:rPr lang="en-US" sz="3200" dirty="0">
                          <a:solidFill>
                            <a:srgbClr val="00B050"/>
                          </a:solidFill>
                          <a:latin typeface="UGent Panno Text" panose="02000506040000040003" pitchFamily="50" charset="0"/>
                          <a:sym typeface="Wingdings 2" panose="05020102010507070707" pitchFamily="18" charset="2"/>
                        </a:rPr>
                        <a:t></a:t>
                      </a:r>
                      <a:endParaRPr lang="en-US" sz="3200" dirty="0">
                        <a:solidFill>
                          <a:srgbClr val="00B050"/>
                        </a:solidFill>
                        <a:latin typeface="UGent Panno Text" panose="02000506040000040003" pitchFamily="50" charset="0"/>
                      </a:endParaRP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sz="3200" dirty="0">
                          <a:solidFill>
                            <a:schemeClr val="tx1"/>
                          </a:solidFill>
                          <a:latin typeface="UGent Panno Text" panose="02000506040000040003" pitchFamily="50" charset="0"/>
                        </a:rPr>
                        <a:t>nameDate_1</a:t>
                      </a:r>
                    </a:p>
                    <a:p>
                      <a:r>
                        <a:rPr lang="en-US" sz="3200" dirty="0">
                          <a:solidFill>
                            <a:schemeClr val="tx1"/>
                          </a:solidFill>
                          <a:latin typeface="UGent Panno Text" panose="02000506040000040003" pitchFamily="50" charset="0"/>
                        </a:rPr>
                        <a:t>nameData_001.txt, nameDate_010.txt</a:t>
                      </a:r>
                    </a:p>
                  </a:txBody>
                  <a:tcPr>
                    <a:lnL w="12700" cap="flat" cmpd="sng" algn="ctr">
                      <a:solidFill>
                        <a:schemeClr val="bg1">
                          <a:lumMod val="85000"/>
                        </a:schemeClr>
                      </a:solidFill>
                      <a:prstDash val="solid"/>
                      <a:round/>
                      <a:headEnd type="none" w="med" len="med"/>
                      <a:tailEnd type="none" w="med" len="med"/>
                    </a:lnL>
                    <a:lnR w="12700" cap="flat" cmpd="sng" algn="ctr">
                      <a:solidFill>
                        <a:schemeClr val="bg1">
                          <a:lumMod val="85000"/>
                        </a:schemeClr>
                      </a:solidFill>
                      <a:prstDash val="solid"/>
                      <a:round/>
                      <a:headEnd type="none" w="med" len="med"/>
                      <a:tailEnd type="none" w="med" len="med"/>
                    </a:lnR>
                    <a:lnT w="12700" cap="flat" cmpd="sng" algn="ctr">
                      <a:solidFill>
                        <a:schemeClr val="bg1">
                          <a:lumMod val="85000"/>
                        </a:schemeClr>
                      </a:solidFill>
                      <a:prstDash val="solid"/>
                      <a:round/>
                      <a:headEnd type="none" w="med" len="med"/>
                      <a:tailEnd type="none" w="med" len="med"/>
                    </a:lnT>
                    <a:lnB w="12700"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8218819"/>
                  </a:ext>
                </a:extLst>
              </a:tr>
            </a:tbl>
          </a:graphicData>
        </a:graphic>
      </p:graphicFrame>
    </p:spTree>
    <p:extLst>
      <p:ext uri="{BB962C8B-B14F-4D97-AF65-F5344CB8AC3E}">
        <p14:creationId xmlns:p14="http://schemas.microsoft.com/office/powerpoint/2010/main" val="562693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17DBF-29E9-4707-A40A-533DB1721654}"/>
              </a:ext>
            </a:extLst>
          </p:cNvPr>
          <p:cNvSpPr>
            <a:spLocks noGrp="1"/>
          </p:cNvSpPr>
          <p:nvPr>
            <p:ph type="title"/>
          </p:nvPr>
        </p:nvSpPr>
        <p:spPr/>
        <p:txBody>
          <a:bodyPr/>
          <a:lstStyle/>
          <a:p>
            <a:r>
              <a:rPr lang="en-US" dirty="0">
                <a:latin typeface="UGent Panno Text" panose="02000506040000040003" pitchFamily="50" charset="0"/>
              </a:rPr>
              <a:t>Tools for bulk renaming</a:t>
            </a:r>
          </a:p>
        </p:txBody>
      </p:sp>
      <p:sp>
        <p:nvSpPr>
          <p:cNvPr id="3" name="Content Placeholder 2">
            <a:extLst>
              <a:ext uri="{FF2B5EF4-FFF2-40B4-BE49-F238E27FC236}">
                <a16:creationId xmlns:a16="http://schemas.microsoft.com/office/drawing/2014/main" id="{CF645522-787D-4CAE-9ED2-6C4253778535}"/>
              </a:ext>
            </a:extLst>
          </p:cNvPr>
          <p:cNvSpPr>
            <a:spLocks noGrp="1"/>
          </p:cNvSpPr>
          <p:nvPr>
            <p:ph idx="1"/>
          </p:nvPr>
        </p:nvSpPr>
        <p:spPr/>
        <p:txBody>
          <a:bodyPr>
            <a:normAutofit fontScale="62500" lnSpcReduction="20000"/>
          </a:bodyPr>
          <a:lstStyle/>
          <a:p>
            <a:r>
              <a:rPr lang="en-US" dirty="0">
                <a:latin typeface="UGent Panno Text" panose="02000506040000040003" pitchFamily="50" charset="0"/>
              </a:rPr>
              <a:t>Windows:</a:t>
            </a:r>
          </a:p>
          <a:p>
            <a:pPr lvl="1"/>
            <a:r>
              <a:rPr lang="en-US" dirty="0">
                <a:latin typeface="UGent Panno Text" panose="02000506040000040003" pitchFamily="50" charset="0"/>
              </a:rPr>
              <a:t>Ant </a:t>
            </a:r>
            <a:r>
              <a:rPr lang="en-US" dirty="0" err="1">
                <a:latin typeface="UGent Panno Text" panose="02000506040000040003" pitchFamily="50" charset="0"/>
              </a:rPr>
              <a:t>Renamer</a:t>
            </a:r>
            <a:r>
              <a:rPr lang="en-US" dirty="0">
                <a:latin typeface="UGent Panno Text" panose="02000506040000040003" pitchFamily="50" charset="0"/>
              </a:rPr>
              <a:t> (</a:t>
            </a:r>
            <a:r>
              <a:rPr lang="en-US" dirty="0">
                <a:latin typeface="UGent Panno Text" panose="02000506040000040003" pitchFamily="50" charset="0"/>
                <a:hlinkClick r:id="rId2"/>
              </a:rPr>
              <a:t>www.antp.be/software/renamer</a:t>
            </a:r>
            <a:r>
              <a:rPr lang="en-US" dirty="0">
                <a:latin typeface="UGent Panno Text" panose="02000506040000040003" pitchFamily="50" charset="0"/>
              </a:rPr>
              <a:t>)</a:t>
            </a:r>
          </a:p>
          <a:p>
            <a:pPr lvl="1"/>
            <a:r>
              <a:rPr lang="en-US" dirty="0">
                <a:latin typeface="UGent Panno Text" panose="02000506040000040003" pitchFamily="50" charset="0"/>
              </a:rPr>
              <a:t>Bulk Rename Utility (</a:t>
            </a:r>
            <a:r>
              <a:rPr lang="en-US" dirty="0">
                <a:latin typeface="UGent Panno Text" panose="02000506040000040003" pitchFamily="50" charset="0"/>
                <a:hlinkClick r:id="rId3"/>
              </a:rPr>
              <a:t>www.bulkrenameutility.co.uk/</a:t>
            </a:r>
            <a:r>
              <a:rPr lang="en-US" dirty="0">
                <a:latin typeface="UGent Panno Text" panose="02000506040000040003" pitchFamily="50" charset="0"/>
              </a:rPr>
              <a:t>)</a:t>
            </a:r>
          </a:p>
          <a:p>
            <a:pPr lvl="1"/>
            <a:r>
              <a:rPr lang="en-US" dirty="0">
                <a:latin typeface="UGent Panno Text" panose="02000506040000040003" pitchFamily="50" charset="0"/>
              </a:rPr>
              <a:t>Total Commander (</a:t>
            </a:r>
            <a:r>
              <a:rPr lang="en-US" dirty="0">
                <a:latin typeface="UGent Panno Text" panose="02000506040000040003" pitchFamily="50" charset="0"/>
                <a:hlinkClick r:id="rId4"/>
              </a:rPr>
              <a:t>https://www.ghisler.com/deutsch.htm</a:t>
            </a:r>
            <a:r>
              <a:rPr lang="en-US" dirty="0">
                <a:latin typeface="UGent Panno Text" panose="02000506040000040003" pitchFamily="50" charset="0"/>
              </a:rPr>
              <a:t>)</a:t>
            </a:r>
          </a:p>
          <a:p>
            <a:r>
              <a:rPr lang="en-US" dirty="0">
                <a:latin typeface="UGent Panno Text" panose="02000506040000040003" pitchFamily="50" charset="0"/>
              </a:rPr>
              <a:t>Mac:</a:t>
            </a:r>
          </a:p>
          <a:p>
            <a:pPr lvl="1"/>
            <a:r>
              <a:rPr lang="en-US" dirty="0" err="1">
                <a:latin typeface="UGent Panno Text" panose="02000506040000040003" pitchFamily="50" charset="0"/>
              </a:rPr>
              <a:t>Renamer</a:t>
            </a:r>
            <a:r>
              <a:rPr lang="en-US" dirty="0">
                <a:latin typeface="UGent Panno Text" panose="02000506040000040003" pitchFamily="50" charset="0"/>
              </a:rPr>
              <a:t> 5 (for Mac) (</a:t>
            </a:r>
            <a:r>
              <a:rPr lang="en-US" dirty="0">
                <a:latin typeface="UGent Panno Text" panose="02000506040000040003" pitchFamily="50" charset="0"/>
                <a:hlinkClick r:id="rId5"/>
              </a:rPr>
              <a:t>https://renamer.com/</a:t>
            </a:r>
            <a:r>
              <a:rPr lang="en-US" dirty="0">
                <a:latin typeface="UGent Panno Text" panose="02000506040000040003" pitchFamily="50" charset="0"/>
              </a:rPr>
              <a:t>)</a:t>
            </a:r>
          </a:p>
          <a:p>
            <a:pPr lvl="1"/>
            <a:r>
              <a:rPr lang="en-US" dirty="0">
                <a:latin typeface="UGent Panno Text" panose="02000506040000040003" pitchFamily="50" charset="0"/>
              </a:rPr>
              <a:t>Name Changer (</a:t>
            </a:r>
            <a:r>
              <a:rPr lang="en-US" dirty="0">
                <a:latin typeface="UGent Panno Text" panose="02000506040000040003" pitchFamily="50" charset="0"/>
                <a:hlinkClick r:id="rId6"/>
              </a:rPr>
              <a:t>https://mrrsoftware.com/namechanger/</a:t>
            </a:r>
            <a:r>
              <a:rPr lang="en-US" dirty="0">
                <a:latin typeface="UGent Panno Text" panose="02000506040000040003" pitchFamily="50" charset="0"/>
              </a:rPr>
              <a:t>)</a:t>
            </a:r>
          </a:p>
          <a:p>
            <a:pPr lvl="1"/>
            <a:r>
              <a:rPr lang="en-US" dirty="0" err="1">
                <a:latin typeface="UGent Panno Text" panose="02000506040000040003" pitchFamily="50" charset="0"/>
              </a:rPr>
              <a:t>ExifRenamer</a:t>
            </a:r>
            <a:r>
              <a:rPr lang="en-US" dirty="0">
                <a:latin typeface="UGent Panno Text" panose="02000506040000040003" pitchFamily="50" charset="0"/>
              </a:rPr>
              <a:t> (</a:t>
            </a:r>
            <a:r>
              <a:rPr lang="en-US" dirty="0">
                <a:latin typeface="UGent Panno Text" panose="02000506040000040003" pitchFamily="50" charset="0"/>
                <a:hlinkClick r:id="rId7"/>
              </a:rPr>
              <a:t>https://www.qdev.de/?location=mac/exifrenamer</a:t>
            </a:r>
            <a:r>
              <a:rPr lang="en-US" dirty="0">
                <a:latin typeface="UGent Panno Text" panose="02000506040000040003" pitchFamily="50" charset="0"/>
              </a:rPr>
              <a:t>)</a:t>
            </a:r>
          </a:p>
          <a:p>
            <a:r>
              <a:rPr lang="en-US" dirty="0">
                <a:latin typeface="UGent Panno Text" panose="02000506040000040003" pitchFamily="50" charset="0"/>
              </a:rPr>
              <a:t>Linux:</a:t>
            </a:r>
          </a:p>
          <a:p>
            <a:pPr lvl="1"/>
            <a:r>
              <a:rPr lang="en-US" dirty="0">
                <a:latin typeface="UGent Panno Text" panose="02000506040000040003" pitchFamily="50" charset="0"/>
              </a:rPr>
              <a:t>GNOME Commander (</a:t>
            </a:r>
            <a:r>
              <a:rPr lang="en-US" dirty="0">
                <a:latin typeface="UGent Panno Text" panose="02000506040000040003" pitchFamily="50" charset="0"/>
                <a:hlinkClick r:id="rId8"/>
              </a:rPr>
              <a:t>www.nongnu.org/gcmd/</a:t>
            </a:r>
            <a:r>
              <a:rPr lang="en-US" dirty="0">
                <a:latin typeface="UGent Panno Text" panose="02000506040000040003" pitchFamily="50" charset="0"/>
              </a:rPr>
              <a:t>)</a:t>
            </a:r>
          </a:p>
          <a:p>
            <a:pPr lvl="1"/>
            <a:r>
              <a:rPr lang="en-US" dirty="0" err="1">
                <a:latin typeface="UGent Panno Text" panose="02000506040000040003" pitchFamily="50" charset="0"/>
              </a:rPr>
              <a:t>GPRename</a:t>
            </a:r>
            <a:r>
              <a:rPr lang="en-US" dirty="0">
                <a:latin typeface="UGent Panno Text" panose="02000506040000040003" pitchFamily="50" charset="0"/>
              </a:rPr>
              <a:t> (</a:t>
            </a:r>
            <a:r>
              <a:rPr lang="en-US" dirty="0">
                <a:latin typeface="UGent Panno Text" panose="02000506040000040003" pitchFamily="50" charset="0"/>
                <a:hlinkClick r:id="rId9"/>
              </a:rPr>
              <a:t>http://gprename.sourceforge.net/</a:t>
            </a:r>
            <a:r>
              <a:rPr lang="en-US" dirty="0">
                <a:latin typeface="UGent Panno Text" panose="02000506040000040003" pitchFamily="50" charset="0"/>
              </a:rPr>
              <a:t>)</a:t>
            </a:r>
          </a:p>
          <a:p>
            <a:r>
              <a:rPr lang="en-US" dirty="0">
                <a:latin typeface="UGent Panno Text" panose="02000506040000040003" pitchFamily="50" charset="0"/>
              </a:rPr>
              <a:t>Unix:</a:t>
            </a:r>
          </a:p>
          <a:p>
            <a:pPr lvl="1"/>
            <a:r>
              <a:rPr lang="en-US" dirty="0">
                <a:latin typeface="UGent Panno Text" panose="02000506040000040003" pitchFamily="50" charset="0"/>
              </a:rPr>
              <a:t>Rename command</a:t>
            </a:r>
          </a:p>
        </p:txBody>
      </p:sp>
      <p:sp>
        <p:nvSpPr>
          <p:cNvPr id="4" name="Slide Number Placeholder 3">
            <a:extLst>
              <a:ext uri="{FF2B5EF4-FFF2-40B4-BE49-F238E27FC236}">
                <a16:creationId xmlns:a16="http://schemas.microsoft.com/office/drawing/2014/main" id="{F45114A4-0126-4FF8-8D24-E7D2F44AACDE}"/>
              </a:ext>
            </a:extLst>
          </p:cNvPr>
          <p:cNvSpPr>
            <a:spLocks noGrp="1"/>
          </p:cNvSpPr>
          <p:nvPr>
            <p:ph type="sldNum" sz="quarter" idx="12"/>
          </p:nvPr>
        </p:nvSpPr>
        <p:spPr/>
        <p:txBody>
          <a:bodyPr/>
          <a:lstStyle/>
          <a:p>
            <a:fld id="{7AE184E0-0BD4-4705-A12B-9B71DDE63301}" type="slidenum">
              <a:rPr lang="nl-BE" noProof="0" smtClean="0">
                <a:latin typeface="UGent Panno Text" panose="02000506040000040003" pitchFamily="50" charset="0"/>
              </a:rPr>
              <a:t>22</a:t>
            </a:fld>
            <a:endParaRPr lang="nl-BE" noProof="0">
              <a:latin typeface="UGent Panno Text" panose="02000506040000040003" pitchFamily="50" charset="0"/>
            </a:endParaRPr>
          </a:p>
        </p:txBody>
      </p:sp>
      <p:sp>
        <p:nvSpPr>
          <p:cNvPr id="5" name="Rectangle 4">
            <a:extLst>
              <a:ext uri="{FF2B5EF4-FFF2-40B4-BE49-F238E27FC236}">
                <a16:creationId xmlns:a16="http://schemas.microsoft.com/office/drawing/2014/main" id="{67E72C09-B3E4-4CCA-A71F-A9158B70B629}"/>
              </a:ext>
            </a:extLst>
          </p:cNvPr>
          <p:cNvSpPr/>
          <p:nvPr/>
        </p:nvSpPr>
        <p:spPr>
          <a:xfrm>
            <a:off x="6548729" y="8808237"/>
            <a:ext cx="4168192" cy="400110"/>
          </a:xfrm>
          <a:prstGeom prst="rect">
            <a:avLst/>
          </a:prstGeom>
        </p:spPr>
        <p:txBody>
          <a:bodyPr wrap="none">
            <a:spAutoFit/>
          </a:bodyPr>
          <a:lstStyle/>
          <a:p>
            <a:r>
              <a:rPr lang="en-US" sz="2000" dirty="0">
                <a:latin typeface="UGent Panno Text" panose="02000506040000040003" pitchFamily="50" charset="0"/>
              </a:rPr>
              <a:t>From: </a:t>
            </a:r>
            <a:r>
              <a:rPr lang="en-US" sz="2000" dirty="0">
                <a:latin typeface="UGent Panno Text" panose="02000506040000040003" pitchFamily="50" charset="0"/>
                <a:hlinkClick r:id="rId10"/>
              </a:rPr>
              <a:t>https://doi.org/10.5281/zenodo.1212496</a:t>
            </a:r>
            <a:r>
              <a:rPr lang="en-US" sz="2000" dirty="0">
                <a:latin typeface="UGent Panno Text" panose="02000506040000040003" pitchFamily="50" charset="0"/>
              </a:rPr>
              <a:t> </a:t>
            </a:r>
          </a:p>
        </p:txBody>
      </p:sp>
    </p:spTree>
    <p:extLst>
      <p:ext uri="{BB962C8B-B14F-4D97-AF65-F5344CB8AC3E}">
        <p14:creationId xmlns:p14="http://schemas.microsoft.com/office/powerpoint/2010/main" val="263984968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5719D2-40DF-4A60-B9D0-84F0BDFB51CE}"/>
              </a:ext>
            </a:extLst>
          </p:cNvPr>
          <p:cNvSpPr>
            <a:spLocks noGrp="1"/>
          </p:cNvSpPr>
          <p:nvPr>
            <p:ph type="ctrTitle"/>
          </p:nvPr>
        </p:nvSpPr>
        <p:spPr/>
        <p:txBody>
          <a:bodyPr/>
          <a:lstStyle/>
          <a:p>
            <a:r>
              <a:rPr lang="nl-BE" dirty="0">
                <a:latin typeface="UGent Panno Text" panose="02000506040000040003" pitchFamily="50" charset="0"/>
              </a:rPr>
              <a:t>Folder </a:t>
            </a:r>
            <a:r>
              <a:rPr lang="nl-BE" dirty="0" err="1">
                <a:latin typeface="UGent Panno Text" panose="02000506040000040003" pitchFamily="50" charset="0"/>
              </a:rPr>
              <a:t>hierarchy</a:t>
            </a:r>
            <a:endParaRPr lang="nl-BE" dirty="0">
              <a:latin typeface="UGent Panno Text" panose="02000506040000040003" pitchFamily="50" charset="0"/>
            </a:endParaRPr>
          </a:p>
        </p:txBody>
      </p:sp>
      <p:sp>
        <p:nvSpPr>
          <p:cNvPr id="3" name="Slide Number Placeholder 2">
            <a:extLst>
              <a:ext uri="{FF2B5EF4-FFF2-40B4-BE49-F238E27FC236}">
                <a16:creationId xmlns:a16="http://schemas.microsoft.com/office/drawing/2014/main" id="{C6794714-8335-42DC-A2D6-29803B875711}"/>
              </a:ext>
            </a:extLst>
          </p:cNvPr>
          <p:cNvSpPr>
            <a:spLocks noGrp="1"/>
          </p:cNvSpPr>
          <p:nvPr>
            <p:ph type="sldNum" sz="quarter" idx="4"/>
          </p:nvPr>
        </p:nvSpPr>
        <p:spPr/>
        <p:txBody>
          <a:bodyPr/>
          <a:lstStyle/>
          <a:p>
            <a:fld id="{7AE184E0-0BD4-4705-A12B-9B71DDE63301}" type="slidenum">
              <a:rPr lang="en-GB" noProof="0" smtClean="0"/>
              <a:pPr/>
              <a:t>23</a:t>
            </a:fld>
            <a:endParaRPr lang="en-GB" noProof="0"/>
          </a:p>
        </p:txBody>
      </p:sp>
    </p:spTree>
    <p:extLst>
      <p:ext uri="{BB962C8B-B14F-4D97-AF65-F5344CB8AC3E}">
        <p14:creationId xmlns:p14="http://schemas.microsoft.com/office/powerpoint/2010/main" val="7242545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latin typeface="UGent Panno Text" panose="02000506040000040003" pitchFamily="2" charset="0"/>
              </a:rPr>
              <a:t>Plan Folder </a:t>
            </a:r>
            <a:r>
              <a:rPr lang="nl-BE" dirty="0" err="1">
                <a:latin typeface="UGent Panno Text" panose="02000506040000040003" pitchFamily="2" charset="0"/>
              </a:rPr>
              <a:t>hierarchy</a:t>
            </a:r>
            <a:endParaRPr lang="nl-BE" dirty="0">
              <a:latin typeface="UGent Panno Text" panose="02000506040000040003" pitchFamily="2" charset="0"/>
            </a:endParaRPr>
          </a:p>
        </p:txBody>
      </p:sp>
      <p:sp>
        <p:nvSpPr>
          <p:cNvPr id="3" name="Tijdelijke aanduiding voor inhoud 2"/>
          <p:cNvSpPr>
            <a:spLocks noGrp="1"/>
          </p:cNvSpPr>
          <p:nvPr>
            <p:ph idx="1"/>
          </p:nvPr>
        </p:nvSpPr>
        <p:spPr>
          <a:xfrm>
            <a:off x="4826171" y="1325981"/>
            <a:ext cx="11709230" cy="7291545"/>
          </a:xfrm>
        </p:spPr>
        <p:txBody>
          <a:bodyPr>
            <a:normAutofit fontScale="92500" lnSpcReduction="10000"/>
          </a:bodyPr>
          <a:lstStyle/>
          <a:p>
            <a:pPr fontAlgn="base"/>
            <a:r>
              <a:rPr lang="en-US" sz="4000" dirty="0">
                <a:latin typeface="UGent Panno Text" panose="02000506040000040003" pitchFamily="2" charset="0"/>
              </a:rPr>
              <a:t>Identify ways to divide files into categories or attributes</a:t>
            </a:r>
          </a:p>
          <a:p>
            <a:pPr lvl="1" fontAlgn="base"/>
            <a:r>
              <a:rPr lang="en-US" sz="3300" dirty="0">
                <a:latin typeface="UGent Panno Text" panose="02000506040000040003" pitchFamily="2" charset="0"/>
              </a:rPr>
              <a:t>Project: one project = one folder</a:t>
            </a:r>
          </a:p>
          <a:p>
            <a:pPr lvl="2" fontAlgn="base"/>
            <a:r>
              <a:rPr lang="en-US" sz="3300" dirty="0">
                <a:latin typeface="UGent Panno Text" panose="02000506040000040003" pitchFamily="2" charset="0"/>
              </a:rPr>
              <a:t>Date / time</a:t>
            </a:r>
          </a:p>
          <a:p>
            <a:pPr lvl="2" fontAlgn="base"/>
            <a:r>
              <a:rPr lang="en-US" sz="3300" dirty="0">
                <a:latin typeface="UGent Panno Text" panose="02000506040000040003" pitchFamily="2" charset="0"/>
              </a:rPr>
              <a:t>Location</a:t>
            </a:r>
          </a:p>
          <a:p>
            <a:pPr lvl="2" fontAlgn="base"/>
            <a:r>
              <a:rPr lang="en-US" sz="3300" dirty="0">
                <a:latin typeface="UGent Panno Text" panose="02000506040000040003" pitchFamily="2" charset="0"/>
              </a:rPr>
              <a:t>Instrument or method</a:t>
            </a:r>
          </a:p>
          <a:p>
            <a:pPr lvl="2" fontAlgn="base"/>
            <a:r>
              <a:rPr lang="en-US" sz="3300" dirty="0">
                <a:latin typeface="UGent Panno Text" panose="02000506040000040003" pitchFamily="2" charset="0"/>
              </a:rPr>
              <a:t>Project stage</a:t>
            </a:r>
          </a:p>
          <a:p>
            <a:pPr lvl="2" fontAlgn="base"/>
            <a:r>
              <a:rPr lang="en-US" sz="3300" dirty="0">
                <a:latin typeface="UGent Panno Text" panose="02000506040000040003" pitchFamily="2" charset="0"/>
              </a:rPr>
              <a:t>Data type: data (raw vs. processed), processing code, results, findings</a:t>
            </a:r>
          </a:p>
          <a:p>
            <a:pPr fontAlgn="base"/>
            <a:r>
              <a:rPr lang="en-US" sz="4000" dirty="0">
                <a:latin typeface="UGent Panno Text" panose="02000506040000040003" pitchFamily="2" charset="0"/>
              </a:rPr>
              <a:t>What is the most important attribute? -&gt; Top level organization</a:t>
            </a:r>
          </a:p>
          <a:p>
            <a:pPr fontAlgn="base"/>
            <a:r>
              <a:rPr lang="en-US" sz="4000" dirty="0">
                <a:latin typeface="UGent Panno Text" panose="02000506040000040003" pitchFamily="2" charset="0"/>
              </a:rPr>
              <a:t>Create nested folders according to importance / usefulness of category</a:t>
            </a:r>
          </a:p>
          <a:p>
            <a:pPr fontAlgn="base"/>
            <a:r>
              <a:rPr lang="en-US" sz="4000" dirty="0">
                <a:latin typeface="UGent Panno Text" panose="02000506040000040003" pitchFamily="2" charset="0"/>
              </a:rPr>
              <a:t>Avoid overlapping categories and keep file names in mind</a:t>
            </a:r>
          </a:p>
          <a:p>
            <a:pPr fontAlgn="base"/>
            <a:r>
              <a:rPr lang="en-US" sz="4000" dirty="0">
                <a:latin typeface="UGent Panno Text" panose="02000506040000040003" pitchFamily="2" charset="0"/>
              </a:rPr>
              <a:t>Balance: folders not too large vs. structure not too deep</a:t>
            </a:r>
          </a:p>
          <a:p>
            <a:pPr fontAlgn="base"/>
            <a:endParaRPr lang="en-US" sz="4000" dirty="0">
              <a:latin typeface="UGent Panno Text" panose="02000506040000040003" pitchFamily="2" charset="0"/>
            </a:endParaRPr>
          </a:p>
        </p:txBody>
      </p:sp>
      <p:sp>
        <p:nvSpPr>
          <p:cNvPr id="4" name="Tijdelijke aanduiding voor dianummer 3"/>
          <p:cNvSpPr>
            <a:spLocks noGrp="1"/>
          </p:cNvSpPr>
          <p:nvPr>
            <p:ph type="sldNum" sz="quarter" idx="12"/>
          </p:nvPr>
        </p:nvSpPr>
        <p:spPr/>
        <p:txBody>
          <a:bodyPr/>
          <a:lstStyle/>
          <a:p>
            <a:fld id="{7AE184E0-0BD4-4705-A12B-9B71DDE63301}" type="slidenum">
              <a:rPr lang="nl-BE" smtClean="0">
                <a:latin typeface="UGent Panno Text" panose="02000506040000040003" pitchFamily="2" charset="0"/>
              </a:rPr>
              <a:pPr/>
              <a:t>24</a:t>
            </a:fld>
            <a:endParaRPr lang="nl-BE">
              <a:latin typeface="UGent Panno Text" panose="02000506040000040003" pitchFamily="2" charset="0"/>
            </a:endParaRPr>
          </a:p>
        </p:txBody>
      </p:sp>
      <p:grpSp>
        <p:nvGrpSpPr>
          <p:cNvPr id="24" name="Group 23">
            <a:extLst>
              <a:ext uri="{FF2B5EF4-FFF2-40B4-BE49-F238E27FC236}">
                <a16:creationId xmlns:a16="http://schemas.microsoft.com/office/drawing/2014/main" id="{4E919575-31E9-4CEA-A79A-304CB2D40786}"/>
              </a:ext>
            </a:extLst>
          </p:cNvPr>
          <p:cNvGrpSpPr/>
          <p:nvPr/>
        </p:nvGrpSpPr>
        <p:grpSpPr>
          <a:xfrm>
            <a:off x="612736" y="1882277"/>
            <a:ext cx="1267257" cy="750266"/>
            <a:chOff x="776485" y="1445400"/>
            <a:chExt cx="1267257" cy="750266"/>
          </a:xfrm>
          <a:solidFill>
            <a:schemeClr val="accent1"/>
          </a:solidFill>
        </p:grpSpPr>
        <p:pic>
          <p:nvPicPr>
            <p:cNvPr id="14" name="Graphic 13" descr="Paper">
              <a:extLst>
                <a:ext uri="{FF2B5EF4-FFF2-40B4-BE49-F238E27FC236}">
                  <a16:creationId xmlns:a16="http://schemas.microsoft.com/office/drawing/2014/main" id="{6FE0D873-775B-4AEC-A673-7A430BFCCB5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6485" y="1445400"/>
              <a:ext cx="360000" cy="360000"/>
            </a:xfrm>
            <a:prstGeom prst="rect">
              <a:avLst/>
            </a:prstGeom>
          </p:spPr>
        </p:pic>
        <p:pic>
          <p:nvPicPr>
            <p:cNvPr id="17" name="Graphic 16" descr="Paper">
              <a:extLst>
                <a:ext uri="{FF2B5EF4-FFF2-40B4-BE49-F238E27FC236}">
                  <a16:creationId xmlns:a16="http://schemas.microsoft.com/office/drawing/2014/main" id="{EFC8EF2B-8B5F-4E18-A7D7-3055159200F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77006" y="1835666"/>
              <a:ext cx="360000" cy="360000"/>
            </a:xfrm>
            <a:prstGeom prst="rect">
              <a:avLst/>
            </a:prstGeom>
          </p:spPr>
        </p:pic>
        <p:pic>
          <p:nvPicPr>
            <p:cNvPr id="18" name="Graphic 17" descr="Paper">
              <a:extLst>
                <a:ext uri="{FF2B5EF4-FFF2-40B4-BE49-F238E27FC236}">
                  <a16:creationId xmlns:a16="http://schemas.microsoft.com/office/drawing/2014/main" id="{BE2143D6-359E-494E-997A-5F383B01F7F4}"/>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8730" y="1445400"/>
              <a:ext cx="360000" cy="360000"/>
            </a:xfrm>
            <a:prstGeom prst="rect">
              <a:avLst/>
            </a:prstGeom>
          </p:spPr>
        </p:pic>
        <p:pic>
          <p:nvPicPr>
            <p:cNvPr id="19" name="Graphic 18" descr="Paper">
              <a:extLst>
                <a:ext uri="{FF2B5EF4-FFF2-40B4-BE49-F238E27FC236}">
                  <a16:creationId xmlns:a16="http://schemas.microsoft.com/office/drawing/2014/main" id="{8F944A60-0C3A-4B8E-A4CE-3BF68D30783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79251" y="1835666"/>
              <a:ext cx="360000" cy="360000"/>
            </a:xfrm>
            <a:prstGeom prst="rect">
              <a:avLst/>
            </a:prstGeom>
          </p:spPr>
        </p:pic>
        <p:pic>
          <p:nvPicPr>
            <p:cNvPr id="20" name="Graphic 19" descr="Paper">
              <a:extLst>
                <a:ext uri="{FF2B5EF4-FFF2-40B4-BE49-F238E27FC236}">
                  <a16:creationId xmlns:a16="http://schemas.microsoft.com/office/drawing/2014/main" id="{42F8146F-8A2C-4956-BA17-921EF948899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80975" y="1445400"/>
              <a:ext cx="360000" cy="360000"/>
            </a:xfrm>
            <a:prstGeom prst="rect">
              <a:avLst/>
            </a:prstGeom>
          </p:spPr>
        </p:pic>
        <p:pic>
          <p:nvPicPr>
            <p:cNvPr id="21" name="Graphic 20" descr="Paper">
              <a:extLst>
                <a:ext uri="{FF2B5EF4-FFF2-40B4-BE49-F238E27FC236}">
                  <a16:creationId xmlns:a16="http://schemas.microsoft.com/office/drawing/2014/main" id="{3D1D5D80-009B-4A50-B85C-05EE167A7CAC}"/>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381496" y="1835666"/>
              <a:ext cx="360000" cy="360000"/>
            </a:xfrm>
            <a:prstGeom prst="rect">
              <a:avLst/>
            </a:prstGeom>
          </p:spPr>
        </p:pic>
        <p:pic>
          <p:nvPicPr>
            <p:cNvPr id="22" name="Graphic 21" descr="Paper">
              <a:extLst>
                <a:ext uri="{FF2B5EF4-FFF2-40B4-BE49-F238E27FC236}">
                  <a16:creationId xmlns:a16="http://schemas.microsoft.com/office/drawing/2014/main" id="{06D94E1A-21D4-4023-8512-ED0D93DB19A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3221" y="1445400"/>
              <a:ext cx="360000" cy="360000"/>
            </a:xfrm>
            <a:prstGeom prst="rect">
              <a:avLst/>
            </a:prstGeom>
          </p:spPr>
        </p:pic>
        <p:pic>
          <p:nvPicPr>
            <p:cNvPr id="23" name="Graphic 22" descr="Paper">
              <a:extLst>
                <a:ext uri="{FF2B5EF4-FFF2-40B4-BE49-F238E27FC236}">
                  <a16:creationId xmlns:a16="http://schemas.microsoft.com/office/drawing/2014/main" id="{238D021B-DC55-4ED5-8FCF-64745AFBAD4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83742" y="1835666"/>
              <a:ext cx="360000" cy="360000"/>
            </a:xfrm>
            <a:prstGeom prst="rect">
              <a:avLst/>
            </a:prstGeom>
          </p:spPr>
        </p:pic>
      </p:grpSp>
      <p:grpSp>
        <p:nvGrpSpPr>
          <p:cNvPr id="35" name="Group 34">
            <a:extLst>
              <a:ext uri="{FF2B5EF4-FFF2-40B4-BE49-F238E27FC236}">
                <a16:creationId xmlns:a16="http://schemas.microsoft.com/office/drawing/2014/main" id="{F53746F8-E2D0-4437-878F-FDF72C46A36B}"/>
              </a:ext>
            </a:extLst>
          </p:cNvPr>
          <p:cNvGrpSpPr/>
          <p:nvPr/>
        </p:nvGrpSpPr>
        <p:grpSpPr>
          <a:xfrm>
            <a:off x="2981010" y="1327502"/>
            <a:ext cx="880633" cy="1824250"/>
            <a:chOff x="2839707" y="1360418"/>
            <a:chExt cx="880633" cy="1824250"/>
          </a:xfrm>
        </p:grpSpPr>
        <p:pic>
          <p:nvPicPr>
            <p:cNvPr id="16" name="Graphic 15" descr="Folder">
              <a:extLst>
                <a:ext uri="{FF2B5EF4-FFF2-40B4-BE49-F238E27FC236}">
                  <a16:creationId xmlns:a16="http://schemas.microsoft.com/office/drawing/2014/main" id="{30BAA8D2-CD4B-4A49-A28C-1B2373B468B2}"/>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9707" y="1360418"/>
              <a:ext cx="504000" cy="504000"/>
            </a:xfrm>
            <a:prstGeom prst="rect">
              <a:avLst/>
            </a:prstGeom>
          </p:spPr>
        </p:pic>
        <p:pic>
          <p:nvPicPr>
            <p:cNvPr id="25" name="Graphic 24" descr="Folder">
              <a:extLst>
                <a:ext uri="{FF2B5EF4-FFF2-40B4-BE49-F238E27FC236}">
                  <a16:creationId xmlns:a16="http://schemas.microsoft.com/office/drawing/2014/main" id="{39B432EC-5AD6-4AD1-AB71-CBC2C2AE8F6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6340" y="1843193"/>
              <a:ext cx="504000" cy="504000"/>
            </a:xfrm>
            <a:prstGeom prst="rect">
              <a:avLst/>
            </a:prstGeom>
          </p:spPr>
        </p:pic>
        <p:pic>
          <p:nvPicPr>
            <p:cNvPr id="26" name="Graphic 25" descr="Folder">
              <a:extLst>
                <a:ext uri="{FF2B5EF4-FFF2-40B4-BE49-F238E27FC236}">
                  <a16:creationId xmlns:a16="http://schemas.microsoft.com/office/drawing/2014/main" id="{9AF03ABC-14E8-4923-9F1B-A63EE1758B2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216340" y="2197893"/>
              <a:ext cx="504000" cy="504000"/>
            </a:xfrm>
            <a:prstGeom prst="rect">
              <a:avLst/>
            </a:prstGeom>
          </p:spPr>
        </p:pic>
        <p:pic>
          <p:nvPicPr>
            <p:cNvPr id="27" name="Graphic 26" descr="Folder">
              <a:extLst>
                <a:ext uri="{FF2B5EF4-FFF2-40B4-BE49-F238E27FC236}">
                  <a16:creationId xmlns:a16="http://schemas.microsoft.com/office/drawing/2014/main" id="{5A649384-2F9E-4170-A7CB-1FE93509D58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839707" y="2680668"/>
              <a:ext cx="504000" cy="504000"/>
            </a:xfrm>
            <a:prstGeom prst="rect">
              <a:avLst/>
            </a:prstGeom>
          </p:spPr>
        </p:pic>
        <p:cxnSp>
          <p:nvCxnSpPr>
            <p:cNvPr id="29" name="Connector: Elbow 28">
              <a:extLst>
                <a:ext uri="{FF2B5EF4-FFF2-40B4-BE49-F238E27FC236}">
                  <a16:creationId xmlns:a16="http://schemas.microsoft.com/office/drawing/2014/main" id="{8D0B415B-6465-47DE-8CEA-219A1D4B57C7}"/>
                </a:ext>
              </a:extLst>
            </p:cNvPr>
            <p:cNvCxnSpPr>
              <a:stCxn id="16" idx="2"/>
              <a:endCxn id="25" idx="1"/>
            </p:cNvCxnSpPr>
            <p:nvPr/>
          </p:nvCxnSpPr>
          <p:spPr>
            <a:xfrm rot="16200000" flipH="1">
              <a:off x="3038636" y="1917488"/>
              <a:ext cx="230775" cy="124633"/>
            </a:xfrm>
            <a:prstGeom prst="bentConnector2">
              <a:avLst/>
            </a:prstGeom>
            <a:ln w="31750">
              <a:solidFill>
                <a:schemeClr val="accent3"/>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31" name="Connector: Elbow 30">
              <a:extLst>
                <a:ext uri="{FF2B5EF4-FFF2-40B4-BE49-F238E27FC236}">
                  <a16:creationId xmlns:a16="http://schemas.microsoft.com/office/drawing/2014/main" id="{140D5F46-6B58-4158-A53F-4F8E9AB447D5}"/>
                </a:ext>
              </a:extLst>
            </p:cNvPr>
            <p:cNvCxnSpPr>
              <a:stCxn id="16" idx="2"/>
              <a:endCxn id="26" idx="1"/>
            </p:cNvCxnSpPr>
            <p:nvPr/>
          </p:nvCxnSpPr>
          <p:spPr>
            <a:xfrm rot="16200000" flipH="1">
              <a:off x="2861286" y="2094838"/>
              <a:ext cx="585475" cy="124633"/>
            </a:xfrm>
            <a:prstGeom prst="bentConnector2">
              <a:avLst/>
            </a:prstGeom>
            <a:ln w="31750">
              <a:solidFill>
                <a:schemeClr val="accent3"/>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7D6B0E8-8604-4A36-A2F7-D908D4A79BAB}"/>
                </a:ext>
              </a:extLst>
            </p:cNvPr>
            <p:cNvCxnSpPr>
              <a:stCxn id="16" idx="2"/>
              <a:endCxn id="27" idx="0"/>
            </p:cNvCxnSpPr>
            <p:nvPr/>
          </p:nvCxnSpPr>
          <p:spPr>
            <a:xfrm>
              <a:off x="3091707" y="1864418"/>
              <a:ext cx="0" cy="816250"/>
            </a:xfrm>
            <a:prstGeom prst="line">
              <a:avLst/>
            </a:prstGeom>
            <a:ln w="31750">
              <a:solidFill>
                <a:schemeClr val="accent3"/>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grpSp>
      <p:sp>
        <p:nvSpPr>
          <p:cNvPr id="36" name="Arrow: Right 35">
            <a:extLst>
              <a:ext uri="{FF2B5EF4-FFF2-40B4-BE49-F238E27FC236}">
                <a16:creationId xmlns:a16="http://schemas.microsoft.com/office/drawing/2014/main" id="{25CE1803-CD05-4C04-B9E3-F012F04DD466}"/>
              </a:ext>
            </a:extLst>
          </p:cNvPr>
          <p:cNvSpPr/>
          <p:nvPr/>
        </p:nvSpPr>
        <p:spPr>
          <a:xfrm>
            <a:off x="2237450" y="2062277"/>
            <a:ext cx="360000" cy="354700"/>
          </a:xfrm>
          <a:prstGeom prst="rightArrow">
            <a:avLst/>
          </a:prstGeom>
          <a:solidFill>
            <a:schemeClr val="accent3"/>
          </a:solidFill>
          <a:ln w="317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37" name="TextBox 36">
            <a:extLst>
              <a:ext uri="{FF2B5EF4-FFF2-40B4-BE49-F238E27FC236}">
                <a16:creationId xmlns:a16="http://schemas.microsoft.com/office/drawing/2014/main" id="{EA697D48-62FF-44B8-A1B6-BA9B36A88426}"/>
              </a:ext>
            </a:extLst>
          </p:cNvPr>
          <p:cNvSpPr txBox="1"/>
          <p:nvPr/>
        </p:nvSpPr>
        <p:spPr>
          <a:xfrm>
            <a:off x="347839" y="3357278"/>
            <a:ext cx="1850338" cy="534762"/>
          </a:xfrm>
          <a:prstGeom prst="rect">
            <a:avLst/>
          </a:prstGeom>
          <a:noFill/>
        </p:spPr>
        <p:txBody>
          <a:bodyPr wrap="square" rtlCol="0">
            <a:spAutoFit/>
          </a:bodyPr>
          <a:lstStyle/>
          <a:p>
            <a:pPr algn="ctr">
              <a:lnSpc>
                <a:spcPct val="120000"/>
              </a:lnSpc>
            </a:pPr>
            <a:r>
              <a:rPr lang="en-US" sz="2500" dirty="0">
                <a:latin typeface="UGent Panno Text" panose="02000506040000040003" pitchFamily="50" charset="0"/>
              </a:rPr>
              <a:t>File inventory</a:t>
            </a:r>
          </a:p>
        </p:txBody>
      </p:sp>
      <p:sp>
        <p:nvSpPr>
          <p:cNvPr id="38" name="TextBox 37">
            <a:extLst>
              <a:ext uri="{FF2B5EF4-FFF2-40B4-BE49-F238E27FC236}">
                <a16:creationId xmlns:a16="http://schemas.microsoft.com/office/drawing/2014/main" id="{264CE285-CB8A-4244-B783-6AE06202C25A}"/>
              </a:ext>
            </a:extLst>
          </p:cNvPr>
          <p:cNvSpPr txBox="1"/>
          <p:nvPr/>
        </p:nvSpPr>
        <p:spPr>
          <a:xfrm>
            <a:off x="2265748" y="3376836"/>
            <a:ext cx="2183789" cy="534762"/>
          </a:xfrm>
          <a:prstGeom prst="rect">
            <a:avLst/>
          </a:prstGeom>
          <a:noFill/>
        </p:spPr>
        <p:txBody>
          <a:bodyPr wrap="square" rtlCol="0">
            <a:spAutoFit/>
          </a:bodyPr>
          <a:lstStyle/>
          <a:p>
            <a:pPr algn="ctr">
              <a:lnSpc>
                <a:spcPct val="120000"/>
              </a:lnSpc>
            </a:pPr>
            <a:r>
              <a:rPr lang="en-US" sz="2500" dirty="0">
                <a:latin typeface="UGent Panno Text" panose="02000506040000040003" pitchFamily="50" charset="0"/>
              </a:rPr>
              <a:t>Folder hierarchy</a:t>
            </a:r>
          </a:p>
        </p:txBody>
      </p:sp>
      <p:sp>
        <p:nvSpPr>
          <p:cNvPr id="39" name="TextBox 38">
            <a:extLst>
              <a:ext uri="{FF2B5EF4-FFF2-40B4-BE49-F238E27FC236}">
                <a16:creationId xmlns:a16="http://schemas.microsoft.com/office/drawing/2014/main" id="{96EE6424-C829-46DD-80B2-D98A7B437616}"/>
              </a:ext>
            </a:extLst>
          </p:cNvPr>
          <p:cNvSpPr txBox="1"/>
          <p:nvPr/>
        </p:nvSpPr>
        <p:spPr>
          <a:xfrm>
            <a:off x="6477000" y="8948703"/>
            <a:ext cx="9113520" cy="534762"/>
          </a:xfrm>
          <a:prstGeom prst="rect">
            <a:avLst/>
          </a:prstGeom>
          <a:noFill/>
        </p:spPr>
        <p:txBody>
          <a:bodyPr wrap="square" rtlCol="0">
            <a:spAutoFit/>
          </a:bodyPr>
          <a:lstStyle/>
          <a:p>
            <a:pPr>
              <a:lnSpc>
                <a:spcPct val="120000"/>
              </a:lnSpc>
            </a:pPr>
            <a:r>
              <a:rPr lang="nl-BE" sz="2500" dirty="0" err="1">
                <a:latin typeface="UGent Panno Text" panose="02000506040000040003" pitchFamily="2" charset="0"/>
              </a:rPr>
              <a:t>Adapted</a:t>
            </a:r>
            <a:r>
              <a:rPr lang="nl-BE" sz="2500" dirty="0">
                <a:latin typeface="UGent Panno Text" panose="02000506040000040003" pitchFamily="2" charset="0"/>
              </a:rPr>
              <a:t> </a:t>
            </a:r>
            <a:r>
              <a:rPr lang="nl-BE" sz="2500" dirty="0" err="1">
                <a:latin typeface="UGent Panno Text" panose="02000506040000040003" pitchFamily="2" charset="0"/>
              </a:rPr>
              <a:t>from</a:t>
            </a:r>
            <a:r>
              <a:rPr lang="nl-BE" sz="2500" dirty="0">
                <a:latin typeface="UGent Panno Text" panose="02000506040000040003" pitchFamily="2" charset="0"/>
              </a:rPr>
              <a:t> Harvard RDM </a:t>
            </a:r>
            <a:r>
              <a:rPr lang="nl-BE" sz="2500" dirty="0" err="1">
                <a:latin typeface="UGent Panno Text" panose="02000506040000040003" pitchFamily="2" charset="0"/>
              </a:rPr>
              <a:t>working</a:t>
            </a:r>
            <a:r>
              <a:rPr lang="nl-BE" sz="2500" dirty="0">
                <a:latin typeface="UGent Panno Text" panose="02000506040000040003" pitchFamily="2" charset="0"/>
              </a:rPr>
              <a:t> </a:t>
            </a:r>
            <a:r>
              <a:rPr lang="nl-BE" sz="2500" dirty="0" err="1">
                <a:latin typeface="UGent Panno Text" panose="02000506040000040003" pitchFamily="2" charset="0"/>
              </a:rPr>
              <a:t>group</a:t>
            </a:r>
            <a:r>
              <a:rPr lang="nl-BE" sz="2500" dirty="0">
                <a:latin typeface="UGent Panno Text" panose="02000506040000040003" pitchFamily="2" charset="0"/>
              </a:rPr>
              <a:t>, CC-BY (</a:t>
            </a:r>
            <a:r>
              <a:rPr lang="nl-BE" sz="2400" dirty="0">
                <a:latin typeface="UGent Panno Text" panose="02000506040000040003" pitchFamily="2" charset="0"/>
                <a:hlinkClick r:id="rId6"/>
              </a:rPr>
              <a:t>https://osf.io/hjntb/</a:t>
            </a:r>
            <a:r>
              <a:rPr lang="nl-BE" sz="2500" dirty="0">
                <a:latin typeface="UGent Panno Text" panose="02000506040000040003" pitchFamily="2" charset="0"/>
              </a:rPr>
              <a:t>)</a:t>
            </a:r>
          </a:p>
        </p:txBody>
      </p:sp>
    </p:spTree>
    <p:extLst>
      <p:ext uri="{BB962C8B-B14F-4D97-AF65-F5344CB8AC3E}">
        <p14:creationId xmlns:p14="http://schemas.microsoft.com/office/powerpoint/2010/main" val="5278150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6184F-C9CA-46CF-A07D-D071AEEB7C1A}"/>
              </a:ext>
            </a:extLst>
          </p:cNvPr>
          <p:cNvSpPr>
            <a:spLocks noGrp="1"/>
          </p:cNvSpPr>
          <p:nvPr>
            <p:ph type="title"/>
          </p:nvPr>
        </p:nvSpPr>
        <p:spPr/>
        <p:txBody>
          <a:bodyPr/>
          <a:lstStyle/>
          <a:p>
            <a:r>
              <a:rPr lang="en-US" dirty="0">
                <a:latin typeface="UGent Panno Text" panose="02000506040000040003" pitchFamily="2" charset="0"/>
              </a:rPr>
              <a:t>Creating a systematic file folder hierarchy</a:t>
            </a:r>
            <a:endParaRPr lang="nl-BE"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06AAC9D1-8797-4E04-9AE0-53EB48BF485B}"/>
              </a:ext>
            </a:extLst>
          </p:cNvPr>
          <p:cNvSpPr>
            <a:spLocks noGrp="1"/>
          </p:cNvSpPr>
          <p:nvPr>
            <p:ph type="sldNum" sz="quarter" idx="12"/>
          </p:nvPr>
        </p:nvSpPr>
        <p:spPr/>
        <p:txBody>
          <a:bodyPr/>
          <a:lstStyle/>
          <a:p>
            <a:fld id="{7AE184E0-0BD4-4705-A12B-9B71DDE63301}" type="slidenum">
              <a:rPr lang="nl-BE" noProof="0" smtClean="0"/>
              <a:t>25</a:t>
            </a:fld>
            <a:endParaRPr lang="nl-BE" noProof="0"/>
          </a:p>
        </p:txBody>
      </p:sp>
      <p:sp>
        <p:nvSpPr>
          <p:cNvPr id="36" name="TextBox 35">
            <a:extLst>
              <a:ext uri="{FF2B5EF4-FFF2-40B4-BE49-F238E27FC236}">
                <a16:creationId xmlns:a16="http://schemas.microsoft.com/office/drawing/2014/main" id="{BE5D9A46-6ABE-43FE-A7EA-DBC5645464F5}"/>
              </a:ext>
            </a:extLst>
          </p:cNvPr>
          <p:cNvSpPr txBox="1"/>
          <p:nvPr/>
        </p:nvSpPr>
        <p:spPr>
          <a:xfrm>
            <a:off x="4076065" y="8812781"/>
            <a:ext cx="9113520" cy="524503"/>
          </a:xfrm>
          <a:prstGeom prst="rect">
            <a:avLst/>
          </a:prstGeom>
          <a:noFill/>
        </p:spPr>
        <p:txBody>
          <a:bodyPr wrap="square" rtlCol="0">
            <a:spAutoFit/>
          </a:bodyPr>
          <a:lstStyle/>
          <a:p>
            <a:pPr>
              <a:lnSpc>
                <a:spcPct val="120000"/>
              </a:lnSpc>
            </a:pPr>
            <a:r>
              <a:rPr lang="nl-BE" sz="2500" dirty="0" err="1">
                <a:latin typeface="UGent Panno Text" panose="02000506040000040003" pitchFamily="2" charset="0"/>
              </a:rPr>
              <a:t>Adapted</a:t>
            </a:r>
            <a:r>
              <a:rPr lang="nl-BE" sz="2500" dirty="0">
                <a:latin typeface="UGent Panno Text" panose="02000506040000040003" pitchFamily="2" charset="0"/>
              </a:rPr>
              <a:t> </a:t>
            </a:r>
            <a:r>
              <a:rPr lang="nl-BE" sz="2500" dirty="0" err="1">
                <a:latin typeface="UGent Panno Text" panose="02000506040000040003" pitchFamily="2" charset="0"/>
              </a:rPr>
              <a:t>from</a:t>
            </a:r>
            <a:r>
              <a:rPr lang="nl-BE" sz="2500" dirty="0">
                <a:latin typeface="UGent Panno Text" panose="02000506040000040003" pitchFamily="2" charset="0"/>
              </a:rPr>
              <a:t> Harvard RDM </a:t>
            </a:r>
            <a:r>
              <a:rPr lang="nl-BE" sz="2500" dirty="0" err="1">
                <a:latin typeface="UGent Panno Text" panose="02000506040000040003" pitchFamily="2" charset="0"/>
              </a:rPr>
              <a:t>working</a:t>
            </a:r>
            <a:r>
              <a:rPr lang="nl-BE" sz="2500" dirty="0">
                <a:latin typeface="UGent Panno Text" panose="02000506040000040003" pitchFamily="2" charset="0"/>
              </a:rPr>
              <a:t> </a:t>
            </a:r>
            <a:r>
              <a:rPr lang="nl-BE" sz="2500" dirty="0" err="1">
                <a:latin typeface="UGent Panno Text" panose="02000506040000040003" pitchFamily="2" charset="0"/>
              </a:rPr>
              <a:t>group</a:t>
            </a:r>
            <a:r>
              <a:rPr lang="nl-BE" sz="2500" dirty="0">
                <a:latin typeface="UGent Panno Text" panose="02000506040000040003" pitchFamily="2" charset="0"/>
              </a:rPr>
              <a:t>, CC-BY (</a:t>
            </a:r>
            <a:r>
              <a:rPr lang="nl-BE" sz="2400" dirty="0">
                <a:latin typeface="UGent Panno Text" panose="02000506040000040003" pitchFamily="2" charset="0"/>
                <a:hlinkClick r:id="rId3"/>
              </a:rPr>
              <a:t>https://osf.io/hjntb/</a:t>
            </a:r>
            <a:r>
              <a:rPr lang="nl-BE" sz="2500" dirty="0">
                <a:latin typeface="UGent Panno Text" panose="02000506040000040003" pitchFamily="2" charset="0"/>
              </a:rPr>
              <a:t>)</a:t>
            </a:r>
          </a:p>
        </p:txBody>
      </p:sp>
      <p:grpSp>
        <p:nvGrpSpPr>
          <p:cNvPr id="10" name="Group 9">
            <a:extLst>
              <a:ext uri="{FF2B5EF4-FFF2-40B4-BE49-F238E27FC236}">
                <a16:creationId xmlns:a16="http://schemas.microsoft.com/office/drawing/2014/main" id="{6BF99966-674A-4F95-A601-6006079BA813}"/>
              </a:ext>
            </a:extLst>
          </p:cNvPr>
          <p:cNvGrpSpPr/>
          <p:nvPr/>
        </p:nvGrpSpPr>
        <p:grpSpPr>
          <a:xfrm>
            <a:off x="935846" y="2777697"/>
            <a:ext cx="7017686" cy="4552456"/>
            <a:chOff x="935846" y="2777697"/>
            <a:chExt cx="7017686" cy="4552456"/>
          </a:xfrm>
        </p:grpSpPr>
        <p:pic>
          <p:nvPicPr>
            <p:cNvPr id="6" name="Graphic 5" descr="Folder">
              <a:extLst>
                <a:ext uri="{FF2B5EF4-FFF2-40B4-BE49-F238E27FC236}">
                  <a16:creationId xmlns:a16="http://schemas.microsoft.com/office/drawing/2014/main" id="{4E59F5CB-C9CB-49F9-B12A-B6DD6635DFA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5846" y="3680300"/>
              <a:ext cx="1066799" cy="1066799"/>
            </a:xfrm>
            <a:prstGeom prst="rect">
              <a:avLst/>
            </a:prstGeom>
          </p:spPr>
        </p:pic>
        <p:pic>
          <p:nvPicPr>
            <p:cNvPr id="7" name="Graphic 6" descr="Folder">
              <a:extLst>
                <a:ext uri="{FF2B5EF4-FFF2-40B4-BE49-F238E27FC236}">
                  <a16:creationId xmlns:a16="http://schemas.microsoft.com/office/drawing/2014/main" id="{D92D5A96-D6F8-4042-8ACC-1F68A10F4AB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31039" y="3680299"/>
              <a:ext cx="1066799" cy="1066799"/>
            </a:xfrm>
            <a:prstGeom prst="rect">
              <a:avLst/>
            </a:prstGeom>
          </p:spPr>
        </p:pic>
        <p:pic>
          <p:nvPicPr>
            <p:cNvPr id="8" name="Graphic 7" descr="Folder">
              <a:extLst>
                <a:ext uri="{FF2B5EF4-FFF2-40B4-BE49-F238E27FC236}">
                  <a16:creationId xmlns:a16="http://schemas.microsoft.com/office/drawing/2014/main" id="{963F8F63-9CE5-4F68-A6FC-83CBDBC55F1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97938" y="3680299"/>
              <a:ext cx="1066799" cy="1066799"/>
            </a:xfrm>
            <a:prstGeom prst="rect">
              <a:avLst/>
            </a:prstGeom>
          </p:spPr>
        </p:pic>
        <p:pic>
          <p:nvPicPr>
            <p:cNvPr id="9" name="Graphic 8" descr="Folder">
              <a:extLst>
                <a:ext uri="{FF2B5EF4-FFF2-40B4-BE49-F238E27FC236}">
                  <a16:creationId xmlns:a16="http://schemas.microsoft.com/office/drawing/2014/main" id="{EFF29765-38A0-4834-AF6F-2A7DABF23B6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01551" y="5825385"/>
              <a:ext cx="1066799" cy="1066799"/>
            </a:xfrm>
            <a:prstGeom prst="rect">
              <a:avLst/>
            </a:prstGeom>
          </p:spPr>
        </p:pic>
        <p:pic>
          <p:nvPicPr>
            <p:cNvPr id="11" name="Graphic 10" descr="Paper">
              <a:extLst>
                <a:ext uri="{FF2B5EF4-FFF2-40B4-BE49-F238E27FC236}">
                  <a16:creationId xmlns:a16="http://schemas.microsoft.com/office/drawing/2014/main" id="{59C63B2A-85FF-4707-97BE-C6EA55F839D1}"/>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09641" y="3756498"/>
              <a:ext cx="914400" cy="914400"/>
            </a:xfrm>
            <a:prstGeom prst="rect">
              <a:avLst/>
            </a:prstGeom>
          </p:spPr>
        </p:pic>
        <p:grpSp>
          <p:nvGrpSpPr>
            <p:cNvPr id="5" name="Group 4">
              <a:extLst>
                <a:ext uri="{FF2B5EF4-FFF2-40B4-BE49-F238E27FC236}">
                  <a16:creationId xmlns:a16="http://schemas.microsoft.com/office/drawing/2014/main" id="{D7D28887-8931-4190-B63F-F9182364E783}"/>
                </a:ext>
              </a:extLst>
            </p:cNvPr>
            <p:cNvGrpSpPr/>
            <p:nvPr/>
          </p:nvGrpSpPr>
          <p:grpSpPr>
            <a:xfrm>
              <a:off x="6862041" y="3908898"/>
              <a:ext cx="1066800" cy="1066800"/>
              <a:chOff x="6749744" y="3908898"/>
              <a:chExt cx="1066800" cy="1066800"/>
            </a:xfrm>
          </p:grpSpPr>
          <p:pic>
            <p:nvPicPr>
              <p:cNvPr id="12" name="Graphic 11" descr="Paper">
                <a:extLst>
                  <a:ext uri="{FF2B5EF4-FFF2-40B4-BE49-F238E27FC236}">
                    <a16:creationId xmlns:a16="http://schemas.microsoft.com/office/drawing/2014/main" id="{98744E43-6E72-4E88-83B8-0305AEC9EC5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49744" y="3908898"/>
                <a:ext cx="914400" cy="914400"/>
              </a:xfrm>
              <a:prstGeom prst="rect">
                <a:avLst/>
              </a:prstGeom>
            </p:spPr>
          </p:pic>
          <p:pic>
            <p:nvPicPr>
              <p:cNvPr id="13" name="Graphic 12" descr="Paper">
                <a:extLst>
                  <a:ext uri="{FF2B5EF4-FFF2-40B4-BE49-F238E27FC236}">
                    <a16:creationId xmlns:a16="http://schemas.microsoft.com/office/drawing/2014/main" id="{344072B3-69B2-45B1-8947-026609EF160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02144" y="4061298"/>
                <a:ext cx="914400" cy="914400"/>
              </a:xfrm>
              <a:prstGeom prst="rect">
                <a:avLst/>
              </a:prstGeom>
            </p:spPr>
          </p:pic>
        </p:grpSp>
        <p:pic>
          <p:nvPicPr>
            <p:cNvPr id="14" name="Graphic 13" descr="Paper">
              <a:extLst>
                <a:ext uri="{FF2B5EF4-FFF2-40B4-BE49-F238E27FC236}">
                  <a16:creationId xmlns:a16="http://schemas.microsoft.com/office/drawing/2014/main" id="{D19E4600-DDBC-4F30-951C-4F7297F05D0F}"/>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4332" y="5897192"/>
              <a:ext cx="914400" cy="914400"/>
            </a:xfrm>
            <a:prstGeom prst="rect">
              <a:avLst/>
            </a:prstGeom>
          </p:spPr>
        </p:pic>
        <p:grpSp>
          <p:nvGrpSpPr>
            <p:cNvPr id="3" name="Group 2">
              <a:extLst>
                <a:ext uri="{FF2B5EF4-FFF2-40B4-BE49-F238E27FC236}">
                  <a16:creationId xmlns:a16="http://schemas.microsoft.com/office/drawing/2014/main" id="{2558F368-DD9D-48E0-80B8-ADC05E5EA07C}"/>
                </a:ext>
              </a:extLst>
            </p:cNvPr>
            <p:cNvGrpSpPr/>
            <p:nvPr/>
          </p:nvGrpSpPr>
          <p:grpSpPr>
            <a:xfrm>
              <a:off x="6886732" y="6049592"/>
              <a:ext cx="1066800" cy="1066800"/>
              <a:chOff x="6774435" y="6049592"/>
              <a:chExt cx="1066800" cy="1066800"/>
            </a:xfrm>
          </p:grpSpPr>
          <p:pic>
            <p:nvPicPr>
              <p:cNvPr id="15" name="Graphic 14" descr="Paper">
                <a:extLst>
                  <a:ext uri="{FF2B5EF4-FFF2-40B4-BE49-F238E27FC236}">
                    <a16:creationId xmlns:a16="http://schemas.microsoft.com/office/drawing/2014/main" id="{FC5B6122-9EE2-49AA-81B7-3F4EAF6BE7A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4435" y="6049592"/>
                <a:ext cx="914400" cy="914400"/>
              </a:xfrm>
              <a:prstGeom prst="rect">
                <a:avLst/>
              </a:prstGeom>
            </p:spPr>
          </p:pic>
          <p:pic>
            <p:nvPicPr>
              <p:cNvPr id="16" name="Graphic 15" descr="Paper">
                <a:extLst>
                  <a:ext uri="{FF2B5EF4-FFF2-40B4-BE49-F238E27FC236}">
                    <a16:creationId xmlns:a16="http://schemas.microsoft.com/office/drawing/2014/main" id="{98044891-A106-4E7F-82F9-9E390B838B3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26835" y="6201992"/>
                <a:ext cx="914400" cy="914400"/>
              </a:xfrm>
              <a:prstGeom prst="rect">
                <a:avLst/>
              </a:prstGeom>
            </p:spPr>
          </p:pic>
        </p:grpSp>
        <p:cxnSp>
          <p:nvCxnSpPr>
            <p:cNvPr id="18" name="Straight Connector 17">
              <a:extLst>
                <a:ext uri="{FF2B5EF4-FFF2-40B4-BE49-F238E27FC236}">
                  <a16:creationId xmlns:a16="http://schemas.microsoft.com/office/drawing/2014/main" id="{4714239F-6486-435E-8E38-EFC839E9CE1F}"/>
                </a:ext>
              </a:extLst>
            </p:cNvPr>
            <p:cNvCxnSpPr>
              <a:stCxn id="6" idx="3"/>
              <a:endCxn id="7" idx="1"/>
            </p:cNvCxnSpPr>
            <p:nvPr/>
          </p:nvCxnSpPr>
          <p:spPr>
            <a:xfrm flipV="1">
              <a:off x="2002645" y="4213699"/>
              <a:ext cx="928394"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CF78B738-746C-400D-8967-4FAB49CA07BD}"/>
                </a:ext>
              </a:extLst>
            </p:cNvPr>
            <p:cNvCxnSpPr>
              <a:stCxn id="7" idx="3"/>
              <a:endCxn id="8" idx="1"/>
            </p:cNvCxnSpPr>
            <p:nvPr/>
          </p:nvCxnSpPr>
          <p:spPr>
            <a:xfrm>
              <a:off x="3997838" y="4213699"/>
              <a:ext cx="1400100" cy="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AD3343B2-FB9C-44A0-BEF0-E5562F1A17BE}"/>
                </a:ext>
              </a:extLst>
            </p:cNvPr>
            <p:cNvCxnSpPr>
              <a:cxnSpLocks/>
              <a:stCxn id="8" idx="3"/>
              <a:endCxn id="11" idx="1"/>
            </p:cNvCxnSpPr>
            <p:nvPr/>
          </p:nvCxnSpPr>
          <p:spPr>
            <a:xfrm flipV="1">
              <a:off x="6464737" y="4213698"/>
              <a:ext cx="244904"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D2D06BB-4E41-4BF7-A11F-A4AE1D52A4A2}"/>
                </a:ext>
              </a:extLst>
            </p:cNvPr>
            <p:cNvCxnSpPr>
              <a:cxnSpLocks/>
              <a:stCxn id="9" idx="3"/>
              <a:endCxn id="14" idx="1"/>
            </p:cNvCxnSpPr>
            <p:nvPr/>
          </p:nvCxnSpPr>
          <p:spPr>
            <a:xfrm flipV="1">
              <a:off x="6468350" y="6354392"/>
              <a:ext cx="265982" cy="4393"/>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93CA89F4-FF85-4C51-A9C6-316957F7FB3F}"/>
                </a:ext>
              </a:extLst>
            </p:cNvPr>
            <p:cNvCxnSpPr>
              <a:cxnSpLocks/>
              <a:endCxn id="9" idx="1"/>
            </p:cNvCxnSpPr>
            <p:nvPr/>
          </p:nvCxnSpPr>
          <p:spPr>
            <a:xfrm rot="16200000" flipH="1">
              <a:off x="4069418" y="5026651"/>
              <a:ext cx="2145087" cy="519180"/>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4C97E76F-EC75-4AD6-B409-0218659A4BB7}"/>
                </a:ext>
              </a:extLst>
            </p:cNvPr>
            <p:cNvSpPr txBox="1"/>
            <p:nvPr/>
          </p:nvSpPr>
          <p:spPr>
            <a:xfrm>
              <a:off x="944101" y="4504221"/>
              <a:ext cx="1050288"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01_raw</a:t>
              </a:r>
            </a:p>
          </p:txBody>
        </p:sp>
        <p:sp>
          <p:nvSpPr>
            <p:cNvPr id="30" name="TextBox 29">
              <a:extLst>
                <a:ext uri="{FF2B5EF4-FFF2-40B4-BE49-F238E27FC236}">
                  <a16:creationId xmlns:a16="http://schemas.microsoft.com/office/drawing/2014/main" id="{C1664975-A7C2-4FAE-9ECD-CA74F186CCCE}"/>
                </a:ext>
              </a:extLst>
            </p:cNvPr>
            <p:cNvSpPr txBox="1"/>
            <p:nvPr/>
          </p:nvSpPr>
          <p:spPr>
            <a:xfrm>
              <a:off x="2161360" y="4504221"/>
              <a:ext cx="2582703" cy="567784"/>
            </a:xfrm>
            <a:prstGeom prst="rect">
              <a:avLst/>
            </a:prstGeom>
            <a:noFill/>
          </p:spPr>
          <p:txBody>
            <a:bodyPr wrap="square" rtlCol="0">
              <a:spAutoFit/>
            </a:bodyPr>
            <a:lstStyle/>
            <a:p>
              <a:pPr algn="ctr">
                <a:lnSpc>
                  <a:spcPct val="120000"/>
                </a:lnSpc>
              </a:pPr>
              <a:r>
                <a:rPr lang="nl-BE" sz="2800" dirty="0">
                  <a:latin typeface="UGent Panno Text" panose="02000506040000040003" pitchFamily="2" charset="0"/>
                </a:rPr>
                <a:t>01_invitro_viability</a:t>
              </a:r>
            </a:p>
          </p:txBody>
        </p:sp>
        <p:sp>
          <p:nvSpPr>
            <p:cNvPr id="31" name="TextBox 30">
              <a:extLst>
                <a:ext uri="{FF2B5EF4-FFF2-40B4-BE49-F238E27FC236}">
                  <a16:creationId xmlns:a16="http://schemas.microsoft.com/office/drawing/2014/main" id="{E61BA409-2688-4172-BE70-10680C9FEDD9}"/>
                </a:ext>
              </a:extLst>
            </p:cNvPr>
            <p:cNvSpPr txBox="1"/>
            <p:nvPr/>
          </p:nvSpPr>
          <p:spPr>
            <a:xfrm>
              <a:off x="5282758" y="4504221"/>
              <a:ext cx="1292341"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comp357</a:t>
              </a:r>
            </a:p>
          </p:txBody>
        </p:sp>
        <p:sp>
          <p:nvSpPr>
            <p:cNvPr id="32" name="TextBox 31">
              <a:extLst>
                <a:ext uri="{FF2B5EF4-FFF2-40B4-BE49-F238E27FC236}">
                  <a16:creationId xmlns:a16="http://schemas.microsoft.com/office/drawing/2014/main" id="{91432B4D-3253-4F3C-B58A-65B22755CB13}"/>
                </a:ext>
              </a:extLst>
            </p:cNvPr>
            <p:cNvSpPr txBox="1"/>
            <p:nvPr/>
          </p:nvSpPr>
          <p:spPr>
            <a:xfrm>
              <a:off x="5197802" y="6762369"/>
              <a:ext cx="1462260"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comp9001</a:t>
              </a:r>
            </a:p>
          </p:txBody>
        </p:sp>
        <p:sp>
          <p:nvSpPr>
            <p:cNvPr id="35" name="TextBox 34">
              <a:extLst>
                <a:ext uri="{FF2B5EF4-FFF2-40B4-BE49-F238E27FC236}">
                  <a16:creationId xmlns:a16="http://schemas.microsoft.com/office/drawing/2014/main" id="{F6CAFD25-C8F3-4C02-B9E0-363971139882}"/>
                </a:ext>
              </a:extLst>
            </p:cNvPr>
            <p:cNvSpPr txBox="1"/>
            <p:nvPr/>
          </p:nvSpPr>
          <p:spPr>
            <a:xfrm>
              <a:off x="5023590" y="2777697"/>
              <a:ext cx="1814920" cy="703654"/>
            </a:xfrm>
            <a:prstGeom prst="rect">
              <a:avLst/>
            </a:prstGeom>
            <a:noFill/>
          </p:spPr>
          <p:txBody>
            <a:bodyPr wrap="none" rtlCol="0">
              <a:spAutoFit/>
            </a:bodyPr>
            <a:lstStyle/>
            <a:p>
              <a:pPr algn="l">
                <a:lnSpc>
                  <a:spcPct val="120000"/>
                </a:lnSpc>
              </a:pPr>
              <a:r>
                <a:rPr lang="nl-BE" sz="3600" dirty="0">
                  <a:latin typeface="UGent Panno Text" panose="02000506040000040003" pitchFamily="2" charset="0"/>
                </a:rPr>
                <a:t>Treatment</a:t>
              </a:r>
            </a:p>
          </p:txBody>
        </p:sp>
      </p:grpSp>
      <p:sp>
        <p:nvSpPr>
          <p:cNvPr id="71" name="Rectangle 70">
            <a:extLst>
              <a:ext uri="{FF2B5EF4-FFF2-40B4-BE49-F238E27FC236}">
                <a16:creationId xmlns:a16="http://schemas.microsoft.com/office/drawing/2014/main" id="{3E6DBE06-646B-4F70-ABCA-4EB3D71F0011}"/>
              </a:ext>
            </a:extLst>
          </p:cNvPr>
          <p:cNvSpPr/>
          <p:nvPr/>
        </p:nvSpPr>
        <p:spPr>
          <a:xfrm>
            <a:off x="830118" y="1227726"/>
            <a:ext cx="11246990" cy="646331"/>
          </a:xfrm>
          <a:prstGeom prst="rect">
            <a:avLst/>
          </a:prstGeom>
        </p:spPr>
        <p:txBody>
          <a:bodyPr wrap="none">
            <a:spAutoFit/>
          </a:bodyPr>
          <a:lstStyle/>
          <a:p>
            <a:r>
              <a:rPr lang="nl-BE" sz="3600" dirty="0">
                <a:latin typeface="UGent Panno Text" panose="02000506040000040003" pitchFamily="2" charset="0"/>
              </a:rPr>
              <a:t>Top level </a:t>
            </a:r>
            <a:r>
              <a:rPr lang="nl-BE" sz="3600" dirty="0" err="1">
                <a:latin typeface="UGent Panno Text" panose="02000506040000040003" pitchFamily="2" charset="0"/>
              </a:rPr>
              <a:t>organization</a:t>
            </a:r>
            <a:r>
              <a:rPr lang="nl-BE" sz="3600" dirty="0">
                <a:latin typeface="UGent Panno Text" panose="02000506040000040003" pitchFamily="2" charset="0"/>
              </a:rPr>
              <a:t> is </a:t>
            </a:r>
            <a:r>
              <a:rPr lang="nl-BE" sz="3600" dirty="0" err="1">
                <a:latin typeface="UGent Panno Text" panose="02000506040000040003" pitchFamily="2" charset="0"/>
              </a:rPr>
              <a:t>for</a:t>
            </a:r>
            <a:r>
              <a:rPr lang="nl-BE" sz="3600" dirty="0">
                <a:latin typeface="UGent Panno Text" panose="02000506040000040003" pitchFamily="2" charset="0"/>
              </a:rPr>
              <a:t> </a:t>
            </a:r>
            <a:r>
              <a:rPr lang="nl-BE" sz="3600" dirty="0" err="1">
                <a:latin typeface="UGent Panno Text" panose="02000506040000040003" pitchFamily="2" charset="0"/>
              </a:rPr>
              <a:t>the</a:t>
            </a:r>
            <a:r>
              <a:rPr lang="nl-BE" sz="3600" dirty="0">
                <a:latin typeface="UGent Panno Text" panose="02000506040000040003" pitchFamily="2" charset="0"/>
              </a:rPr>
              <a:t> most important </a:t>
            </a:r>
            <a:r>
              <a:rPr lang="nl-BE" sz="3600" dirty="0" err="1">
                <a:latin typeface="UGent Panno Text" panose="02000506040000040003" pitchFamily="2" charset="0"/>
              </a:rPr>
              <a:t>attribute</a:t>
            </a:r>
            <a:r>
              <a:rPr lang="nl-BE" sz="3600" dirty="0">
                <a:latin typeface="UGent Panno Text" panose="02000506040000040003" pitchFamily="2" charset="0"/>
              </a:rPr>
              <a:t> (</a:t>
            </a:r>
            <a:r>
              <a:rPr lang="nl-BE" sz="3600" dirty="0" err="1">
                <a:latin typeface="UGent Panno Text" panose="02000506040000040003" pitchFamily="2" charset="0"/>
              </a:rPr>
              <a:t>subjective</a:t>
            </a:r>
            <a:r>
              <a:rPr lang="nl-BE" sz="3600" dirty="0">
                <a:latin typeface="UGent Panno Text" panose="02000506040000040003" pitchFamily="2" charset="0"/>
              </a:rPr>
              <a:t>!)</a:t>
            </a:r>
          </a:p>
        </p:txBody>
      </p:sp>
      <p:grpSp>
        <p:nvGrpSpPr>
          <p:cNvPr id="67" name="Group 66">
            <a:extLst>
              <a:ext uri="{FF2B5EF4-FFF2-40B4-BE49-F238E27FC236}">
                <a16:creationId xmlns:a16="http://schemas.microsoft.com/office/drawing/2014/main" id="{BE7B08CD-CE7D-4F24-891F-EB12780854E4}"/>
              </a:ext>
            </a:extLst>
          </p:cNvPr>
          <p:cNvGrpSpPr/>
          <p:nvPr/>
        </p:nvGrpSpPr>
        <p:grpSpPr>
          <a:xfrm>
            <a:off x="8745378" y="2859980"/>
            <a:ext cx="7017686" cy="4470173"/>
            <a:chOff x="935846" y="2859980"/>
            <a:chExt cx="7017686" cy="4470173"/>
          </a:xfrm>
        </p:grpSpPr>
        <p:pic>
          <p:nvPicPr>
            <p:cNvPr id="68" name="Graphic 67" descr="Folder">
              <a:extLst>
                <a:ext uri="{FF2B5EF4-FFF2-40B4-BE49-F238E27FC236}">
                  <a16:creationId xmlns:a16="http://schemas.microsoft.com/office/drawing/2014/main" id="{6CA30B69-ED66-44FA-8CFB-E89681D01F07}"/>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35846" y="3680300"/>
              <a:ext cx="1066799" cy="1066799"/>
            </a:xfrm>
            <a:prstGeom prst="rect">
              <a:avLst/>
            </a:prstGeom>
          </p:spPr>
        </p:pic>
        <p:pic>
          <p:nvPicPr>
            <p:cNvPr id="74" name="Graphic 73" descr="Folder">
              <a:extLst>
                <a:ext uri="{FF2B5EF4-FFF2-40B4-BE49-F238E27FC236}">
                  <a16:creationId xmlns:a16="http://schemas.microsoft.com/office/drawing/2014/main" id="{67D2E914-8CFB-4D94-9D96-2B984F730BC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931039" y="3680299"/>
              <a:ext cx="1066799" cy="1066799"/>
            </a:xfrm>
            <a:prstGeom prst="rect">
              <a:avLst/>
            </a:prstGeom>
          </p:spPr>
        </p:pic>
        <p:pic>
          <p:nvPicPr>
            <p:cNvPr id="75" name="Graphic 74" descr="Folder">
              <a:extLst>
                <a:ext uri="{FF2B5EF4-FFF2-40B4-BE49-F238E27FC236}">
                  <a16:creationId xmlns:a16="http://schemas.microsoft.com/office/drawing/2014/main" id="{D91E23BC-B5B3-4B19-85D7-8B74406F1D4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397938" y="3680299"/>
              <a:ext cx="1066799" cy="1066799"/>
            </a:xfrm>
            <a:prstGeom prst="rect">
              <a:avLst/>
            </a:prstGeom>
          </p:spPr>
        </p:pic>
        <p:pic>
          <p:nvPicPr>
            <p:cNvPr id="76" name="Graphic 75" descr="Folder">
              <a:extLst>
                <a:ext uri="{FF2B5EF4-FFF2-40B4-BE49-F238E27FC236}">
                  <a16:creationId xmlns:a16="http://schemas.microsoft.com/office/drawing/2014/main" id="{C830FE81-D1B4-4658-AE5E-75D1E81CB860}"/>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01551" y="5825385"/>
              <a:ext cx="1066799" cy="1066799"/>
            </a:xfrm>
            <a:prstGeom prst="rect">
              <a:avLst/>
            </a:prstGeom>
          </p:spPr>
        </p:pic>
        <p:pic>
          <p:nvPicPr>
            <p:cNvPr id="77" name="Graphic 76" descr="Paper">
              <a:extLst>
                <a:ext uri="{FF2B5EF4-FFF2-40B4-BE49-F238E27FC236}">
                  <a16:creationId xmlns:a16="http://schemas.microsoft.com/office/drawing/2014/main" id="{26C9094C-5D37-4C3B-A6D6-B48574488346}"/>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09641" y="3756498"/>
              <a:ext cx="914400" cy="914400"/>
            </a:xfrm>
            <a:prstGeom prst="rect">
              <a:avLst/>
            </a:prstGeom>
          </p:spPr>
        </p:pic>
        <p:grpSp>
          <p:nvGrpSpPr>
            <p:cNvPr id="78" name="Group 77">
              <a:extLst>
                <a:ext uri="{FF2B5EF4-FFF2-40B4-BE49-F238E27FC236}">
                  <a16:creationId xmlns:a16="http://schemas.microsoft.com/office/drawing/2014/main" id="{E9A3F9D7-8B1B-445B-979A-316DEA1C5793}"/>
                </a:ext>
              </a:extLst>
            </p:cNvPr>
            <p:cNvGrpSpPr/>
            <p:nvPr/>
          </p:nvGrpSpPr>
          <p:grpSpPr>
            <a:xfrm>
              <a:off x="6862041" y="3908898"/>
              <a:ext cx="1066800" cy="1066800"/>
              <a:chOff x="6749744" y="3908898"/>
              <a:chExt cx="1066800" cy="1066800"/>
            </a:xfrm>
          </p:grpSpPr>
          <p:pic>
            <p:nvPicPr>
              <p:cNvPr id="93" name="Graphic 92" descr="Paper">
                <a:extLst>
                  <a:ext uri="{FF2B5EF4-FFF2-40B4-BE49-F238E27FC236}">
                    <a16:creationId xmlns:a16="http://schemas.microsoft.com/office/drawing/2014/main" id="{6AF5EF1D-E1CF-4B30-8859-E8B357CB7F0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49744" y="3908898"/>
                <a:ext cx="914400" cy="914400"/>
              </a:xfrm>
              <a:prstGeom prst="rect">
                <a:avLst/>
              </a:prstGeom>
            </p:spPr>
          </p:pic>
          <p:pic>
            <p:nvPicPr>
              <p:cNvPr id="94" name="Graphic 93" descr="Paper">
                <a:extLst>
                  <a:ext uri="{FF2B5EF4-FFF2-40B4-BE49-F238E27FC236}">
                    <a16:creationId xmlns:a16="http://schemas.microsoft.com/office/drawing/2014/main" id="{77E5B56B-53BB-403D-9BA1-97F5E72CEDAE}"/>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02144" y="4061298"/>
                <a:ext cx="914400" cy="914400"/>
              </a:xfrm>
              <a:prstGeom prst="rect">
                <a:avLst/>
              </a:prstGeom>
            </p:spPr>
          </p:pic>
        </p:grpSp>
        <p:pic>
          <p:nvPicPr>
            <p:cNvPr id="79" name="Graphic 78" descr="Paper">
              <a:extLst>
                <a:ext uri="{FF2B5EF4-FFF2-40B4-BE49-F238E27FC236}">
                  <a16:creationId xmlns:a16="http://schemas.microsoft.com/office/drawing/2014/main" id="{91ADBFCA-3E31-459E-B699-6639CFBFB90D}"/>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34332" y="5897192"/>
              <a:ext cx="914400" cy="914400"/>
            </a:xfrm>
            <a:prstGeom prst="rect">
              <a:avLst/>
            </a:prstGeom>
          </p:spPr>
        </p:pic>
        <p:grpSp>
          <p:nvGrpSpPr>
            <p:cNvPr id="80" name="Group 79">
              <a:extLst>
                <a:ext uri="{FF2B5EF4-FFF2-40B4-BE49-F238E27FC236}">
                  <a16:creationId xmlns:a16="http://schemas.microsoft.com/office/drawing/2014/main" id="{BE00154F-6268-44EE-900C-DAC2FF7AE33F}"/>
                </a:ext>
              </a:extLst>
            </p:cNvPr>
            <p:cNvGrpSpPr/>
            <p:nvPr/>
          </p:nvGrpSpPr>
          <p:grpSpPr>
            <a:xfrm>
              <a:off x="6886732" y="6049592"/>
              <a:ext cx="1066800" cy="1066800"/>
              <a:chOff x="6774435" y="6049592"/>
              <a:chExt cx="1066800" cy="1066800"/>
            </a:xfrm>
          </p:grpSpPr>
          <p:pic>
            <p:nvPicPr>
              <p:cNvPr id="91" name="Graphic 90" descr="Paper">
                <a:extLst>
                  <a:ext uri="{FF2B5EF4-FFF2-40B4-BE49-F238E27FC236}">
                    <a16:creationId xmlns:a16="http://schemas.microsoft.com/office/drawing/2014/main" id="{BA7CC841-9C33-4DA8-B2D3-0B81FF7B0DD5}"/>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774435" y="6049592"/>
                <a:ext cx="914400" cy="914400"/>
              </a:xfrm>
              <a:prstGeom prst="rect">
                <a:avLst/>
              </a:prstGeom>
            </p:spPr>
          </p:pic>
          <p:pic>
            <p:nvPicPr>
              <p:cNvPr id="92" name="Graphic 91" descr="Paper">
                <a:extLst>
                  <a:ext uri="{FF2B5EF4-FFF2-40B4-BE49-F238E27FC236}">
                    <a16:creationId xmlns:a16="http://schemas.microsoft.com/office/drawing/2014/main" id="{4BF0E0A9-8CA1-41EF-9C1C-452F00A998BB}"/>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926835" y="6201992"/>
                <a:ext cx="914400" cy="914400"/>
              </a:xfrm>
              <a:prstGeom prst="rect">
                <a:avLst/>
              </a:prstGeom>
            </p:spPr>
          </p:pic>
        </p:grpSp>
        <p:cxnSp>
          <p:nvCxnSpPr>
            <p:cNvPr id="81" name="Straight Connector 80">
              <a:extLst>
                <a:ext uri="{FF2B5EF4-FFF2-40B4-BE49-F238E27FC236}">
                  <a16:creationId xmlns:a16="http://schemas.microsoft.com/office/drawing/2014/main" id="{06DBFA3B-D33F-4A2B-A0EF-C961B9ED56F5}"/>
                </a:ext>
              </a:extLst>
            </p:cNvPr>
            <p:cNvCxnSpPr>
              <a:stCxn id="68" idx="3"/>
              <a:endCxn id="74" idx="1"/>
            </p:cNvCxnSpPr>
            <p:nvPr/>
          </p:nvCxnSpPr>
          <p:spPr>
            <a:xfrm flipV="1">
              <a:off x="2002645" y="4213699"/>
              <a:ext cx="928394"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3072C2F4-D56C-47D0-AC99-859F61F2CB0A}"/>
                </a:ext>
              </a:extLst>
            </p:cNvPr>
            <p:cNvCxnSpPr>
              <a:stCxn id="74" idx="3"/>
              <a:endCxn id="75" idx="1"/>
            </p:cNvCxnSpPr>
            <p:nvPr/>
          </p:nvCxnSpPr>
          <p:spPr>
            <a:xfrm>
              <a:off x="3997838" y="4213699"/>
              <a:ext cx="1400100" cy="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497B55D3-1D96-4B27-AB9D-9D11DEDDD4D7}"/>
                </a:ext>
              </a:extLst>
            </p:cNvPr>
            <p:cNvCxnSpPr>
              <a:cxnSpLocks/>
              <a:stCxn id="75" idx="3"/>
              <a:endCxn id="77" idx="1"/>
            </p:cNvCxnSpPr>
            <p:nvPr/>
          </p:nvCxnSpPr>
          <p:spPr>
            <a:xfrm flipV="1">
              <a:off x="6464737" y="4213698"/>
              <a:ext cx="244904"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85139508-F92B-4AAC-86D6-FA0B930B4232}"/>
                </a:ext>
              </a:extLst>
            </p:cNvPr>
            <p:cNvCxnSpPr>
              <a:cxnSpLocks/>
              <a:stCxn id="76" idx="3"/>
              <a:endCxn id="79" idx="1"/>
            </p:cNvCxnSpPr>
            <p:nvPr/>
          </p:nvCxnSpPr>
          <p:spPr>
            <a:xfrm flipV="1">
              <a:off x="6468350" y="6354392"/>
              <a:ext cx="265982" cy="4393"/>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3D849211-97BB-413A-913C-2C9EF5C6C289}"/>
                </a:ext>
              </a:extLst>
            </p:cNvPr>
            <p:cNvCxnSpPr>
              <a:cxnSpLocks/>
              <a:endCxn id="76" idx="1"/>
            </p:cNvCxnSpPr>
            <p:nvPr/>
          </p:nvCxnSpPr>
          <p:spPr>
            <a:xfrm rot="16200000" flipH="1">
              <a:off x="4069418" y="5026651"/>
              <a:ext cx="2145087" cy="519180"/>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86" name="TextBox 85">
              <a:extLst>
                <a:ext uri="{FF2B5EF4-FFF2-40B4-BE49-F238E27FC236}">
                  <a16:creationId xmlns:a16="http://schemas.microsoft.com/office/drawing/2014/main" id="{1577BA40-ACF2-441A-8C1E-24EEABD29141}"/>
                </a:ext>
              </a:extLst>
            </p:cNvPr>
            <p:cNvSpPr txBox="1"/>
            <p:nvPr/>
          </p:nvSpPr>
          <p:spPr>
            <a:xfrm>
              <a:off x="944101" y="4504221"/>
              <a:ext cx="1050288"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01_raw</a:t>
              </a:r>
            </a:p>
          </p:txBody>
        </p:sp>
        <p:sp>
          <p:nvSpPr>
            <p:cNvPr id="87" name="TextBox 86">
              <a:extLst>
                <a:ext uri="{FF2B5EF4-FFF2-40B4-BE49-F238E27FC236}">
                  <a16:creationId xmlns:a16="http://schemas.microsoft.com/office/drawing/2014/main" id="{97E65789-BBAF-4A08-A3DE-C8396838A4AF}"/>
                </a:ext>
              </a:extLst>
            </p:cNvPr>
            <p:cNvSpPr txBox="1"/>
            <p:nvPr/>
          </p:nvSpPr>
          <p:spPr>
            <a:xfrm>
              <a:off x="2161360" y="4504221"/>
              <a:ext cx="2582703" cy="567784"/>
            </a:xfrm>
            <a:prstGeom prst="rect">
              <a:avLst/>
            </a:prstGeom>
            <a:noFill/>
          </p:spPr>
          <p:txBody>
            <a:bodyPr wrap="square" rtlCol="0">
              <a:spAutoFit/>
            </a:bodyPr>
            <a:lstStyle/>
            <a:p>
              <a:pPr algn="ctr">
                <a:lnSpc>
                  <a:spcPct val="120000"/>
                </a:lnSpc>
              </a:pPr>
              <a:r>
                <a:rPr lang="nl-BE" sz="2800" dirty="0">
                  <a:latin typeface="UGent Panno Text" panose="02000506040000040003" pitchFamily="2" charset="0"/>
                </a:rPr>
                <a:t>01_invitro_viability</a:t>
              </a:r>
            </a:p>
          </p:txBody>
        </p:sp>
        <p:sp>
          <p:nvSpPr>
            <p:cNvPr id="88" name="TextBox 87">
              <a:extLst>
                <a:ext uri="{FF2B5EF4-FFF2-40B4-BE49-F238E27FC236}">
                  <a16:creationId xmlns:a16="http://schemas.microsoft.com/office/drawing/2014/main" id="{BAADE9F2-0433-48F8-92D3-B9C1B55A201F}"/>
                </a:ext>
              </a:extLst>
            </p:cNvPr>
            <p:cNvSpPr txBox="1"/>
            <p:nvPr/>
          </p:nvSpPr>
          <p:spPr>
            <a:xfrm>
              <a:off x="5599351" y="4504221"/>
              <a:ext cx="659156"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MTT</a:t>
              </a:r>
            </a:p>
          </p:txBody>
        </p:sp>
        <p:sp>
          <p:nvSpPr>
            <p:cNvPr id="89" name="TextBox 88">
              <a:extLst>
                <a:ext uri="{FF2B5EF4-FFF2-40B4-BE49-F238E27FC236}">
                  <a16:creationId xmlns:a16="http://schemas.microsoft.com/office/drawing/2014/main" id="{5BBEB30A-E3B7-447B-AFA3-F131643A2FD1}"/>
                </a:ext>
              </a:extLst>
            </p:cNvPr>
            <p:cNvSpPr txBox="1"/>
            <p:nvPr/>
          </p:nvSpPr>
          <p:spPr>
            <a:xfrm>
              <a:off x="5554468" y="6762369"/>
              <a:ext cx="748924" cy="567784"/>
            </a:xfrm>
            <a:prstGeom prst="rect">
              <a:avLst/>
            </a:prstGeom>
            <a:noFill/>
          </p:spPr>
          <p:txBody>
            <a:bodyPr wrap="none" rtlCol="0">
              <a:spAutoFit/>
            </a:bodyPr>
            <a:lstStyle/>
            <a:p>
              <a:pPr algn="ctr">
                <a:lnSpc>
                  <a:spcPct val="120000"/>
                </a:lnSpc>
              </a:pPr>
              <a:r>
                <a:rPr lang="nl-BE" sz="2800" dirty="0">
                  <a:latin typeface="UGent Panno Text" panose="02000506040000040003" pitchFamily="2" charset="0"/>
                </a:rPr>
                <a:t>FACS</a:t>
              </a:r>
            </a:p>
          </p:txBody>
        </p:sp>
        <p:sp>
          <p:nvSpPr>
            <p:cNvPr id="90" name="TextBox 89">
              <a:extLst>
                <a:ext uri="{FF2B5EF4-FFF2-40B4-BE49-F238E27FC236}">
                  <a16:creationId xmlns:a16="http://schemas.microsoft.com/office/drawing/2014/main" id="{DCB7D231-102C-4704-9ADC-C106F89B0699}"/>
                </a:ext>
              </a:extLst>
            </p:cNvPr>
            <p:cNvSpPr txBox="1"/>
            <p:nvPr/>
          </p:nvSpPr>
          <p:spPr>
            <a:xfrm>
              <a:off x="5400022" y="2859980"/>
              <a:ext cx="1064715" cy="703654"/>
            </a:xfrm>
            <a:prstGeom prst="rect">
              <a:avLst/>
            </a:prstGeom>
            <a:noFill/>
          </p:spPr>
          <p:txBody>
            <a:bodyPr wrap="none" rtlCol="0">
              <a:spAutoFit/>
            </a:bodyPr>
            <a:lstStyle/>
            <a:p>
              <a:pPr algn="l">
                <a:lnSpc>
                  <a:spcPct val="120000"/>
                </a:lnSpc>
              </a:pPr>
              <a:r>
                <a:rPr lang="nl-BE" sz="3600" dirty="0">
                  <a:latin typeface="UGent Panno Text" panose="02000506040000040003" pitchFamily="2" charset="0"/>
                </a:rPr>
                <a:t>Assay</a:t>
              </a:r>
            </a:p>
          </p:txBody>
        </p:sp>
      </p:grpSp>
    </p:spTree>
    <p:extLst>
      <p:ext uri="{BB962C8B-B14F-4D97-AF65-F5344CB8AC3E}">
        <p14:creationId xmlns:p14="http://schemas.microsoft.com/office/powerpoint/2010/main" val="21584848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dirty="0">
                <a:latin typeface="UGent Panno Text" panose="02000506040000040003" pitchFamily="2" charset="0"/>
              </a:rPr>
              <a:t>Plan Folder </a:t>
            </a:r>
            <a:r>
              <a:rPr lang="nl-BE" dirty="0" err="1">
                <a:latin typeface="UGent Panno Text" panose="02000506040000040003" pitchFamily="2" charset="0"/>
              </a:rPr>
              <a:t>hierarchy</a:t>
            </a:r>
            <a:r>
              <a:rPr lang="nl-BE" dirty="0">
                <a:latin typeface="UGent Panno Text" panose="02000506040000040003" pitchFamily="2" charset="0"/>
              </a:rPr>
              <a:t>: </a:t>
            </a:r>
            <a:r>
              <a:rPr lang="nl-BE" dirty="0" err="1">
                <a:latin typeface="UGent Panno Text" panose="02000506040000040003" pitchFamily="2" charset="0"/>
              </a:rPr>
              <a:t>examples</a:t>
            </a:r>
            <a:endParaRPr lang="nl-BE" dirty="0">
              <a:latin typeface="UGent Panno Text" panose="02000506040000040003" pitchFamily="2" charset="0"/>
            </a:endParaRPr>
          </a:p>
        </p:txBody>
      </p:sp>
      <p:sp>
        <p:nvSpPr>
          <p:cNvPr id="3" name="Tijdelijke aanduiding voor inhoud 2"/>
          <p:cNvSpPr>
            <a:spLocks noGrp="1"/>
          </p:cNvSpPr>
          <p:nvPr>
            <p:ph idx="1"/>
          </p:nvPr>
        </p:nvSpPr>
        <p:spPr>
          <a:xfrm>
            <a:off x="567548" y="1818918"/>
            <a:ext cx="4503215" cy="5966030"/>
          </a:xfrm>
        </p:spPr>
        <p:txBody>
          <a:bodyPr>
            <a:normAutofit fontScale="55000" lnSpcReduction="20000"/>
          </a:bodyPr>
          <a:lstStyle/>
          <a:p>
            <a:r>
              <a:rPr lang="en-US" dirty="0">
                <a:latin typeface="UGent Panno Text" panose="02000506040000040003" pitchFamily="2" charset="0"/>
              </a:rPr>
              <a:t>README.txt </a:t>
            </a:r>
            <a:r>
              <a:rPr lang="en-US" sz="2900" dirty="0">
                <a:latin typeface="UGent Panno Text" panose="02000506040000040003" pitchFamily="2" charset="0"/>
              </a:rPr>
              <a:t>(project context)</a:t>
            </a:r>
          </a:p>
          <a:p>
            <a:r>
              <a:rPr lang="en-US" dirty="0">
                <a:latin typeface="UGent Panno Text" panose="02000506040000040003" pitchFamily="2" charset="0"/>
              </a:rPr>
              <a:t>Literature </a:t>
            </a:r>
            <a:endParaRPr lang="en-US" sz="2500" dirty="0">
              <a:latin typeface="UGent Panno Text" panose="02000506040000040003" pitchFamily="2" charset="0"/>
            </a:endParaRPr>
          </a:p>
          <a:p>
            <a:r>
              <a:rPr lang="en-US" dirty="0">
                <a:latin typeface="UGent Panno Text" panose="02000506040000040003" pitchFamily="2" charset="0"/>
              </a:rPr>
              <a:t>Data</a:t>
            </a:r>
          </a:p>
          <a:p>
            <a:pPr lvl="1"/>
            <a:r>
              <a:rPr lang="en-US" dirty="0">
                <a:latin typeface="UGent Panno Text" panose="02000506040000040003" pitchFamily="2" charset="0"/>
              </a:rPr>
              <a:t>README.txt </a:t>
            </a:r>
            <a:r>
              <a:rPr lang="en-US" sz="2900" dirty="0">
                <a:latin typeface="UGent Panno Text" panose="02000506040000040003" pitchFamily="2" charset="0"/>
              </a:rPr>
              <a:t>(data structure)</a:t>
            </a:r>
            <a:r>
              <a:rPr lang="en-US" dirty="0">
                <a:latin typeface="UGent Panno Text" panose="02000506040000040003" pitchFamily="2" charset="0"/>
              </a:rPr>
              <a:t>	</a:t>
            </a:r>
          </a:p>
          <a:p>
            <a:pPr lvl="1"/>
            <a:r>
              <a:rPr lang="en-US" dirty="0">
                <a:latin typeface="UGent Panno Text" panose="02000506040000040003" pitchFamily="2" charset="0"/>
              </a:rPr>
              <a:t>01_raw</a:t>
            </a:r>
          </a:p>
          <a:p>
            <a:pPr lvl="1"/>
            <a:r>
              <a:rPr lang="en-US" dirty="0">
                <a:latin typeface="UGent Panno Text" panose="02000506040000040003" pitchFamily="2" charset="0"/>
              </a:rPr>
              <a:t>02_processed</a:t>
            </a:r>
          </a:p>
          <a:p>
            <a:pPr lvl="1"/>
            <a:r>
              <a:rPr lang="en-US" dirty="0">
                <a:latin typeface="UGent Panno Text" panose="02000506040000040003" pitchFamily="2" charset="0"/>
              </a:rPr>
              <a:t>03_analysed </a:t>
            </a:r>
            <a:r>
              <a:rPr lang="en-US" sz="2900" dirty="0">
                <a:latin typeface="UGent Panno Text" panose="02000506040000040003" pitchFamily="2" charset="0"/>
              </a:rPr>
              <a:t>(figures and tables)</a:t>
            </a:r>
          </a:p>
          <a:p>
            <a:pPr lvl="1"/>
            <a:r>
              <a:rPr lang="en-US" dirty="0">
                <a:latin typeface="UGent Panno Text" panose="02000506040000040003" pitchFamily="2" charset="0"/>
              </a:rPr>
              <a:t>04_external</a:t>
            </a:r>
          </a:p>
          <a:p>
            <a:r>
              <a:rPr lang="en-US" dirty="0">
                <a:latin typeface="UGent Panno Text" panose="02000506040000040003" pitchFamily="2" charset="0"/>
              </a:rPr>
              <a:t>Reports</a:t>
            </a:r>
          </a:p>
          <a:p>
            <a:pPr lvl="1"/>
            <a:r>
              <a:rPr lang="en-US" dirty="0">
                <a:latin typeface="UGent Panno Text" panose="02000506040000040003" pitchFamily="2" charset="0"/>
              </a:rPr>
              <a:t>01_draft</a:t>
            </a:r>
          </a:p>
          <a:p>
            <a:pPr lvl="1"/>
            <a:r>
              <a:rPr lang="en-US" dirty="0">
                <a:latin typeface="UGent Panno Text" panose="02000506040000040003" pitchFamily="2" charset="0"/>
              </a:rPr>
              <a:t>02_submission</a:t>
            </a:r>
          </a:p>
          <a:p>
            <a:r>
              <a:rPr lang="en-US" dirty="0">
                <a:latin typeface="UGent Panno Text" panose="02000506040000040003" pitchFamily="2" charset="0"/>
              </a:rPr>
              <a:t>Meetings</a:t>
            </a:r>
          </a:p>
          <a:p>
            <a:r>
              <a:rPr lang="en-US" dirty="0">
                <a:latin typeface="UGent Panno Text" panose="02000506040000040003" pitchFamily="2" charset="0"/>
              </a:rPr>
              <a:t>Scripts </a:t>
            </a:r>
          </a:p>
          <a:p>
            <a:endParaRPr lang="nl-BE" dirty="0">
              <a:latin typeface="UGent Panno Text" panose="02000506040000040003" pitchFamily="2" charset="0"/>
            </a:endParaRPr>
          </a:p>
        </p:txBody>
      </p:sp>
      <p:sp>
        <p:nvSpPr>
          <p:cNvPr id="4" name="Tijdelijke aanduiding voor dianummer 3"/>
          <p:cNvSpPr>
            <a:spLocks noGrp="1"/>
          </p:cNvSpPr>
          <p:nvPr>
            <p:ph type="sldNum" sz="quarter" idx="12"/>
          </p:nvPr>
        </p:nvSpPr>
        <p:spPr/>
        <p:txBody>
          <a:bodyPr/>
          <a:lstStyle/>
          <a:p>
            <a:fld id="{7AE184E0-0BD4-4705-A12B-9B71DDE63301}" type="slidenum">
              <a:rPr lang="nl-BE" smtClean="0">
                <a:latin typeface="UGent Panno Text" panose="02000506040000040003" pitchFamily="2" charset="0"/>
              </a:rPr>
              <a:pPr/>
              <a:t>26</a:t>
            </a:fld>
            <a:endParaRPr lang="nl-BE">
              <a:latin typeface="UGent Panno Text" panose="02000506040000040003" pitchFamily="2" charset="0"/>
            </a:endParaRPr>
          </a:p>
        </p:txBody>
      </p:sp>
      <p:pic>
        <p:nvPicPr>
          <p:cNvPr id="5" name="Picture 4" descr="A screenshot of a cell phone&#10;&#10;Description generated with very high confidence">
            <a:extLst>
              <a:ext uri="{FF2B5EF4-FFF2-40B4-BE49-F238E27FC236}">
                <a16:creationId xmlns:a16="http://schemas.microsoft.com/office/drawing/2014/main" id="{19F462E6-C14F-4267-A36E-3C3667F33CF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32106" y="1818918"/>
            <a:ext cx="5001437" cy="6507246"/>
          </a:xfrm>
          <a:prstGeom prst="rect">
            <a:avLst/>
          </a:prstGeom>
          <a:ln>
            <a:noFill/>
          </a:ln>
          <a:effectLst>
            <a:outerShdw blurRad="190500" algn="tl" rotWithShape="0">
              <a:srgbClr val="000000">
                <a:alpha val="70000"/>
              </a:srgbClr>
            </a:outerShdw>
          </a:effectLst>
        </p:spPr>
      </p:pic>
      <p:pic>
        <p:nvPicPr>
          <p:cNvPr id="2050" name="Picture 2" descr="https://github.com/jcolomb/gintonic-blog/raw/forreview/50_figures/pulication_ready_figures/fig4.png">
            <a:extLst>
              <a:ext uri="{FF2B5EF4-FFF2-40B4-BE49-F238E27FC236}">
                <a16:creationId xmlns:a16="http://schemas.microsoft.com/office/drawing/2014/main" id="{6226AB9B-C1C1-4078-83F7-692200A8E670}"/>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3550" t="8334" r="37181"/>
          <a:stretch/>
        </p:blipFill>
        <p:spPr bwMode="auto">
          <a:xfrm>
            <a:off x="12883544" y="141743"/>
            <a:ext cx="3887583" cy="9326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428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322DBA-210B-4B0F-A62F-113397A3C34C}"/>
              </a:ext>
            </a:extLst>
          </p:cNvPr>
          <p:cNvSpPr>
            <a:spLocks noGrp="1"/>
          </p:cNvSpPr>
          <p:nvPr>
            <p:ph type="title"/>
          </p:nvPr>
        </p:nvSpPr>
        <p:spPr>
          <a:xfrm>
            <a:off x="830118" y="136315"/>
            <a:ext cx="15998595" cy="863640"/>
          </a:xfrm>
        </p:spPr>
        <p:txBody>
          <a:bodyPr/>
          <a:lstStyle/>
          <a:p>
            <a:r>
              <a:rPr lang="nl-BE" err="1">
                <a:latin typeface="UGent Panno Text" panose="02000506040000040003" pitchFamily="2" charset="0"/>
              </a:rPr>
              <a:t>Sharepoint</a:t>
            </a:r>
            <a:r>
              <a:rPr lang="nl-BE">
                <a:latin typeface="UGent Panno Text" panose="02000506040000040003" pitchFamily="2" charset="0"/>
              </a:rPr>
              <a:t> template: Research Data Management </a:t>
            </a:r>
            <a:r>
              <a:rPr lang="nl-BE" err="1">
                <a:latin typeface="UGent Panno Text" panose="02000506040000040003" pitchFamily="2" charset="0"/>
              </a:rPr>
              <a:t>workspace</a:t>
            </a:r>
            <a:endParaRPr lang="en-GB">
              <a:latin typeface="UGent Panno Text" panose="02000506040000040003" pitchFamily="2" charset="0"/>
            </a:endParaRPr>
          </a:p>
        </p:txBody>
      </p:sp>
      <p:sp>
        <p:nvSpPr>
          <p:cNvPr id="3" name="Content Placeholder 2">
            <a:extLst>
              <a:ext uri="{FF2B5EF4-FFF2-40B4-BE49-F238E27FC236}">
                <a16:creationId xmlns:a16="http://schemas.microsoft.com/office/drawing/2014/main" id="{1CF35FE2-ABB2-48C7-ABCA-B73D579ECCDC}"/>
              </a:ext>
            </a:extLst>
          </p:cNvPr>
          <p:cNvSpPr>
            <a:spLocks noGrp="1"/>
          </p:cNvSpPr>
          <p:nvPr>
            <p:ph idx="1"/>
          </p:nvPr>
        </p:nvSpPr>
        <p:spPr>
          <a:xfrm>
            <a:off x="835826" y="1118093"/>
            <a:ext cx="15699574" cy="6695591"/>
          </a:xfrm>
        </p:spPr>
        <p:txBody>
          <a:bodyPr vert="horz" lIns="130040" tIns="65020" rIns="130040" bIns="65020" rtlCol="0" anchor="t">
            <a:normAutofit/>
          </a:bodyPr>
          <a:lstStyle/>
          <a:p>
            <a:pPr marL="536402" indent="-450614"/>
            <a:r>
              <a:rPr lang="nl-BE" sz="3413" err="1">
                <a:latin typeface="UGent Panno Text" panose="02000506040000040003" pitchFamily="2" charset="0"/>
              </a:rPr>
              <a:t>Designed</a:t>
            </a:r>
            <a:r>
              <a:rPr lang="nl-BE" sz="3413">
                <a:latin typeface="UGent Panno Text" panose="02000506040000040003" pitchFamily="2" charset="0"/>
              </a:rPr>
              <a:t> </a:t>
            </a:r>
            <a:r>
              <a:rPr lang="nl-BE" sz="3413" u="sng" err="1">
                <a:latin typeface="UGent Panno Text" panose="02000506040000040003" pitchFamily="2" charset="0"/>
              </a:rPr>
              <a:t>for</a:t>
            </a:r>
            <a:r>
              <a:rPr lang="nl-BE" sz="3413" u="sng">
                <a:latin typeface="UGent Panno Text" panose="02000506040000040003" pitchFamily="2" charset="0"/>
              </a:rPr>
              <a:t> a research project</a:t>
            </a:r>
            <a:r>
              <a:rPr lang="nl-BE" sz="3413">
                <a:latin typeface="UGent Panno Text" panose="02000506040000040003" pitchFamily="2" charset="0"/>
              </a:rPr>
              <a:t>, as a </a:t>
            </a:r>
            <a:r>
              <a:rPr lang="nl-BE" sz="3413" err="1">
                <a:latin typeface="UGent Panno Text" panose="02000506040000040003" pitchFamily="2" charset="0"/>
              </a:rPr>
              <a:t>workspace</a:t>
            </a:r>
            <a:r>
              <a:rPr lang="nl-BE" sz="3413">
                <a:latin typeface="UGent Panno Text" panose="02000506040000040003" pitchFamily="2" charset="0"/>
              </a:rPr>
              <a:t> </a:t>
            </a:r>
            <a:r>
              <a:rPr lang="nl-BE" sz="3413" err="1">
                <a:latin typeface="UGent Panno Text" panose="02000506040000040003" pitchFamily="2" charset="0"/>
              </a:rPr>
              <a:t>for</a:t>
            </a:r>
            <a:r>
              <a:rPr lang="nl-BE" sz="3413">
                <a:latin typeface="UGent Panno Text" panose="02000506040000040003" pitchFamily="2" charset="0"/>
              </a:rPr>
              <a:t> research data management</a:t>
            </a:r>
            <a:endParaRPr lang="en-US"/>
          </a:p>
          <a:p>
            <a:pPr marL="536402" indent="-450614"/>
            <a:r>
              <a:rPr lang="nl-BE" sz="3413">
                <a:latin typeface="UGent Panno Text"/>
              </a:rPr>
              <a:t>Storage </a:t>
            </a:r>
            <a:r>
              <a:rPr lang="nl-BE" sz="3413" err="1">
                <a:latin typeface="UGent Panno Text"/>
              </a:rPr>
              <a:t>organized</a:t>
            </a:r>
            <a:r>
              <a:rPr lang="nl-BE" sz="3413">
                <a:latin typeface="UGent Panno Text"/>
              </a:rPr>
              <a:t> in </a:t>
            </a:r>
            <a:r>
              <a:rPr lang="nl-BE" sz="3413" err="1">
                <a:latin typeface="UGent Panno Text"/>
              </a:rPr>
              <a:t>libraries</a:t>
            </a:r>
            <a:r>
              <a:rPr lang="nl-BE" sz="3413">
                <a:latin typeface="UGent Panno Text"/>
              </a:rPr>
              <a:t> </a:t>
            </a:r>
            <a:r>
              <a:rPr lang="nl-BE" sz="3413" err="1">
                <a:latin typeface="UGent Panno Text"/>
              </a:rPr>
              <a:t>and</a:t>
            </a:r>
            <a:r>
              <a:rPr lang="nl-BE" sz="3413">
                <a:latin typeface="UGent Panno Text"/>
              </a:rPr>
              <a:t> </a:t>
            </a:r>
            <a:r>
              <a:rPr lang="nl-BE" sz="3413" err="1">
                <a:latin typeface="UGent Panno Text"/>
              </a:rPr>
              <a:t>lists</a:t>
            </a:r>
            <a:endParaRPr lang="nl-BE" sz="3413">
              <a:latin typeface="UGent Panno Text"/>
            </a:endParaRPr>
          </a:p>
          <a:p>
            <a:pPr marL="536402" indent="-450614"/>
            <a:r>
              <a:rPr lang="nl-BE" sz="3413">
                <a:latin typeface="UGent Panno Text"/>
              </a:rPr>
              <a:t>No Teams </a:t>
            </a:r>
            <a:r>
              <a:rPr lang="nl-BE" sz="3413" err="1">
                <a:latin typeface="UGent Panno Text"/>
              </a:rPr>
              <a:t>attached</a:t>
            </a:r>
            <a:endParaRPr lang="nl-BE" sz="3413">
              <a:latin typeface="UGent Panno Text"/>
            </a:endParaRPr>
          </a:p>
          <a:p>
            <a:pPr marL="536402" indent="-450614"/>
            <a:endParaRPr lang="en-GB" sz="3413">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2B7DF6D7-48B8-4AAD-8C91-C62E982B1BF5}"/>
              </a:ext>
            </a:extLst>
          </p:cNvPr>
          <p:cNvSpPr>
            <a:spLocks noGrp="1"/>
          </p:cNvSpPr>
          <p:nvPr>
            <p:ph type="sldNum" sz="quarter" idx="12"/>
          </p:nvPr>
        </p:nvSpPr>
        <p:spPr/>
        <p:txBody>
          <a:bodyPr/>
          <a:lstStyle/>
          <a:p>
            <a:fld id="{7AE184E0-0BD4-4705-A12B-9B71DDE63301}" type="slidenum">
              <a:rPr lang="nl-BE" noProof="0" smtClean="0"/>
              <a:t>27</a:t>
            </a:fld>
            <a:endParaRPr lang="nl-BE" noProof="0"/>
          </a:p>
        </p:txBody>
      </p:sp>
      <p:pic>
        <p:nvPicPr>
          <p:cNvPr id="5" name="Picture 4">
            <a:extLst>
              <a:ext uri="{FF2B5EF4-FFF2-40B4-BE49-F238E27FC236}">
                <a16:creationId xmlns:a16="http://schemas.microsoft.com/office/drawing/2014/main" id="{79EA74EA-EF1A-45E8-B3B3-CE8D3A268E57}"/>
              </a:ext>
            </a:extLst>
          </p:cNvPr>
          <p:cNvPicPr>
            <a:picLocks noChangeAspect="1"/>
          </p:cNvPicPr>
          <p:nvPr/>
        </p:nvPicPr>
        <p:blipFill>
          <a:blip r:embed="rId3"/>
          <a:stretch>
            <a:fillRect/>
          </a:stretch>
        </p:blipFill>
        <p:spPr>
          <a:xfrm>
            <a:off x="1579582" y="3302090"/>
            <a:ext cx="13074214" cy="6033206"/>
          </a:xfrm>
          <a:prstGeom prst="rect">
            <a:avLst/>
          </a:prstGeom>
        </p:spPr>
      </p:pic>
    </p:spTree>
    <p:extLst>
      <p:ext uri="{BB962C8B-B14F-4D97-AF65-F5344CB8AC3E}">
        <p14:creationId xmlns:p14="http://schemas.microsoft.com/office/powerpoint/2010/main" val="29026229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F446C-29F6-35BE-007D-9FA54EB2A14B}"/>
              </a:ext>
            </a:extLst>
          </p:cNvPr>
          <p:cNvSpPr>
            <a:spLocks noGrp="1"/>
          </p:cNvSpPr>
          <p:nvPr>
            <p:ph type="title"/>
          </p:nvPr>
        </p:nvSpPr>
        <p:spPr/>
        <p:txBody>
          <a:bodyPr/>
          <a:lstStyle/>
          <a:p>
            <a:r>
              <a:rPr lang="nl-NL">
                <a:latin typeface="UGent Panno Text" panose="02000506040000040003" pitchFamily="2" charset="0"/>
              </a:rPr>
              <a:t>Metadata in </a:t>
            </a:r>
            <a:r>
              <a:rPr lang="nl-NL" err="1">
                <a:latin typeface="UGent Panno Text" panose="02000506040000040003" pitchFamily="2" charset="0"/>
              </a:rPr>
              <a:t>sharepoint</a:t>
            </a:r>
            <a:endParaRPr lang="en-US">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20FC7F8C-80C7-7463-8FDC-6FCC9F320D0A}"/>
              </a:ext>
            </a:extLst>
          </p:cNvPr>
          <p:cNvSpPr>
            <a:spLocks noGrp="1"/>
          </p:cNvSpPr>
          <p:nvPr>
            <p:ph type="sldNum" sz="quarter" idx="12"/>
          </p:nvPr>
        </p:nvSpPr>
        <p:spPr/>
        <p:txBody>
          <a:bodyPr/>
          <a:lstStyle/>
          <a:p>
            <a:fld id="{7AE184E0-0BD4-4705-A12B-9B71DDE63301}" type="slidenum">
              <a:rPr lang="nl-BE" noProof="0" smtClean="0"/>
              <a:t>28</a:t>
            </a:fld>
            <a:endParaRPr lang="nl-BE" noProof="0"/>
          </a:p>
        </p:txBody>
      </p:sp>
      <p:pic>
        <p:nvPicPr>
          <p:cNvPr id="8" name="Picture 7">
            <a:extLst>
              <a:ext uri="{FF2B5EF4-FFF2-40B4-BE49-F238E27FC236}">
                <a16:creationId xmlns:a16="http://schemas.microsoft.com/office/drawing/2014/main" id="{1ADAC9BE-D295-1444-A587-1A15D17DBA01}"/>
              </a:ext>
            </a:extLst>
          </p:cNvPr>
          <p:cNvPicPr>
            <a:picLocks noChangeAspect="1"/>
          </p:cNvPicPr>
          <p:nvPr/>
        </p:nvPicPr>
        <p:blipFill>
          <a:blip r:embed="rId3"/>
          <a:stretch>
            <a:fillRect/>
          </a:stretch>
        </p:blipFill>
        <p:spPr>
          <a:xfrm>
            <a:off x="414595" y="1514798"/>
            <a:ext cx="14788903" cy="6081755"/>
          </a:xfrm>
          <a:prstGeom prst="rect">
            <a:avLst/>
          </a:prstGeom>
        </p:spPr>
      </p:pic>
      <p:pic>
        <p:nvPicPr>
          <p:cNvPr id="6" name="Picture 5">
            <a:extLst>
              <a:ext uri="{FF2B5EF4-FFF2-40B4-BE49-F238E27FC236}">
                <a16:creationId xmlns:a16="http://schemas.microsoft.com/office/drawing/2014/main" id="{CE8BE3E1-C633-2664-2D22-6A4B3B56DDE4}"/>
              </a:ext>
            </a:extLst>
          </p:cNvPr>
          <p:cNvPicPr>
            <a:picLocks noChangeAspect="1"/>
          </p:cNvPicPr>
          <p:nvPr/>
        </p:nvPicPr>
        <p:blipFill>
          <a:blip r:embed="rId4"/>
          <a:stretch>
            <a:fillRect/>
          </a:stretch>
        </p:blipFill>
        <p:spPr>
          <a:xfrm>
            <a:off x="13713707" y="694243"/>
            <a:ext cx="3210373" cy="8773749"/>
          </a:xfrm>
          <a:prstGeom prst="rect">
            <a:avLst/>
          </a:prstGeom>
          <a:ln>
            <a:solidFill>
              <a:schemeClr val="bg1">
                <a:lumMod val="95000"/>
              </a:schemeClr>
            </a:solidFill>
          </a:ln>
        </p:spPr>
      </p:pic>
      <p:sp>
        <p:nvSpPr>
          <p:cNvPr id="9" name="TextBox 8">
            <a:extLst>
              <a:ext uri="{FF2B5EF4-FFF2-40B4-BE49-F238E27FC236}">
                <a16:creationId xmlns:a16="http://schemas.microsoft.com/office/drawing/2014/main" id="{3DD0A54F-C358-E482-627A-1E16659F1CB3}"/>
              </a:ext>
            </a:extLst>
          </p:cNvPr>
          <p:cNvSpPr txBox="1"/>
          <p:nvPr/>
        </p:nvSpPr>
        <p:spPr>
          <a:xfrm>
            <a:off x="4657883" y="7701870"/>
            <a:ext cx="4812536" cy="516873"/>
          </a:xfrm>
          <a:prstGeom prst="rect">
            <a:avLst/>
          </a:prstGeom>
          <a:noFill/>
        </p:spPr>
        <p:txBody>
          <a:bodyPr wrap="none" rtlCol="0">
            <a:spAutoFit/>
          </a:bodyPr>
          <a:lstStyle/>
          <a:p>
            <a:pPr algn="l">
              <a:lnSpc>
                <a:spcPct val="120000"/>
              </a:lnSpc>
            </a:pPr>
            <a:r>
              <a:rPr lang="nl-NL" sz="2500" err="1">
                <a:latin typeface="UGent Panno Text" panose="02000506040000040003" pitchFamily="2" charset="0"/>
              </a:rPr>
              <a:t>Example</a:t>
            </a:r>
            <a:r>
              <a:rPr lang="nl-NL" sz="2500">
                <a:latin typeface="UGent Panno Text" panose="02000506040000040003" pitchFamily="2" charset="0"/>
              </a:rPr>
              <a:t>: </a:t>
            </a:r>
            <a:r>
              <a:rPr lang="nl-NL" sz="2500" err="1">
                <a:latin typeface="UGent Panno Text" panose="02000506040000040003" pitchFamily="2" charset="0"/>
                <a:hlinkClick r:id="rId5"/>
              </a:rPr>
              <a:t>Nutrient</a:t>
            </a:r>
            <a:r>
              <a:rPr lang="nl-NL" sz="2500">
                <a:latin typeface="UGent Panno Text" panose="02000506040000040003" pitchFamily="2" charset="0"/>
                <a:hlinkClick r:id="rId5"/>
              </a:rPr>
              <a:t> Recycle RDM </a:t>
            </a:r>
            <a:r>
              <a:rPr lang="nl-NL" sz="2500" err="1">
                <a:latin typeface="UGent Panno Text" panose="02000506040000040003" pitchFamily="2" charset="0"/>
                <a:hlinkClick r:id="rId5"/>
              </a:rPr>
              <a:t>workspace</a:t>
            </a:r>
            <a:endParaRPr lang="en-US" sz="2500">
              <a:latin typeface="UGent Panno Text" panose="02000506040000040003" pitchFamily="2" charset="0"/>
            </a:endParaRPr>
          </a:p>
        </p:txBody>
      </p:sp>
    </p:spTree>
    <p:extLst>
      <p:ext uri="{BB962C8B-B14F-4D97-AF65-F5344CB8AC3E}">
        <p14:creationId xmlns:p14="http://schemas.microsoft.com/office/powerpoint/2010/main" val="18937363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214A-32E7-D3C8-08F2-B098E70381DB}"/>
              </a:ext>
            </a:extLst>
          </p:cNvPr>
          <p:cNvSpPr>
            <a:spLocks noGrp="1"/>
          </p:cNvSpPr>
          <p:nvPr>
            <p:ph type="title"/>
          </p:nvPr>
        </p:nvSpPr>
        <p:spPr/>
        <p:txBody>
          <a:bodyPr/>
          <a:lstStyle/>
          <a:p>
            <a:r>
              <a:rPr lang="nl-NL" dirty="0">
                <a:latin typeface="UGent Panno Text" panose="02000506040000040003" pitchFamily="2" charset="0"/>
              </a:rPr>
              <a:t>Folder </a:t>
            </a:r>
            <a:r>
              <a:rPr lang="nl-NL" dirty="0" err="1">
                <a:latin typeface="UGent Panno Text" panose="02000506040000040003" pitchFamily="2" charset="0"/>
              </a:rPr>
              <a:t>structure</a:t>
            </a:r>
            <a:r>
              <a:rPr lang="nl-NL" dirty="0">
                <a:latin typeface="UGent Panno Text" panose="02000506040000040003" pitchFamily="2" charset="0"/>
              </a:rPr>
              <a:t> vs. metadata</a:t>
            </a:r>
            <a:endParaRPr lang="en-US" dirty="0">
              <a:latin typeface="UGent Panno Text" panose="02000506040000040003" pitchFamily="2" charset="0"/>
            </a:endParaRPr>
          </a:p>
        </p:txBody>
      </p:sp>
      <p:cxnSp>
        <p:nvCxnSpPr>
          <p:cNvPr id="28" name="Straight Connector 27">
            <a:extLst>
              <a:ext uri="{FF2B5EF4-FFF2-40B4-BE49-F238E27FC236}">
                <a16:creationId xmlns:a16="http://schemas.microsoft.com/office/drawing/2014/main" id="{6601D3C3-8D34-EC8B-0D86-1D5A9E1C3CB4}"/>
              </a:ext>
            </a:extLst>
          </p:cNvPr>
          <p:cNvCxnSpPr>
            <a:cxnSpLocks/>
          </p:cNvCxnSpPr>
          <p:nvPr/>
        </p:nvCxnSpPr>
        <p:spPr>
          <a:xfrm>
            <a:off x="8992132" y="1115924"/>
            <a:ext cx="0" cy="8279617"/>
          </a:xfrm>
          <a:prstGeom prst="line">
            <a:avLst/>
          </a:prstGeom>
          <a:ln w="12700">
            <a:solidFill>
              <a:schemeClr val="bg1">
                <a:lumMod val="7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38" name="TextBox 19">
            <a:extLst>
              <a:ext uri="{FF2B5EF4-FFF2-40B4-BE49-F238E27FC236}">
                <a16:creationId xmlns:a16="http://schemas.microsoft.com/office/drawing/2014/main" id="{640A1802-91F8-525C-84AE-9AAA30F2CE5A}"/>
              </a:ext>
            </a:extLst>
          </p:cNvPr>
          <p:cNvSpPr txBox="1"/>
          <p:nvPr/>
        </p:nvSpPr>
        <p:spPr>
          <a:xfrm>
            <a:off x="14372001" y="2200478"/>
            <a:ext cx="1729961" cy="671915"/>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a:solidFill>
                  <a:schemeClr val="bg1">
                    <a:lumMod val="50000"/>
                  </a:schemeClr>
                </a:solidFill>
                <a:latin typeface="UGent Panno Text" panose="02000506040000040003" pitchFamily="2" charset="0"/>
              </a:rPr>
              <a:t>Treatment</a:t>
            </a:r>
          </a:p>
        </p:txBody>
      </p:sp>
      <p:sp>
        <p:nvSpPr>
          <p:cNvPr id="39" name="TextBox 19">
            <a:extLst>
              <a:ext uri="{FF2B5EF4-FFF2-40B4-BE49-F238E27FC236}">
                <a16:creationId xmlns:a16="http://schemas.microsoft.com/office/drawing/2014/main" id="{7965C3E6-4F03-B8ED-BE46-AB6D237AE98A}"/>
              </a:ext>
            </a:extLst>
          </p:cNvPr>
          <p:cNvSpPr txBox="1"/>
          <p:nvPr/>
        </p:nvSpPr>
        <p:spPr>
          <a:xfrm>
            <a:off x="11674753" y="2200478"/>
            <a:ext cx="1600118" cy="671915"/>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err="1">
                <a:solidFill>
                  <a:schemeClr val="bg1">
                    <a:lumMod val="50000"/>
                  </a:schemeClr>
                </a:solidFill>
                <a:latin typeface="UGent Panno Text" panose="02000506040000040003" pitchFamily="2" charset="0"/>
              </a:rPr>
              <a:t>Condition</a:t>
            </a:r>
            <a:endParaRPr lang="nl-BE" sz="3413">
              <a:solidFill>
                <a:schemeClr val="bg1">
                  <a:lumMod val="50000"/>
                </a:schemeClr>
              </a:solidFill>
              <a:latin typeface="UGent Panno Text" panose="02000506040000040003" pitchFamily="2" charset="0"/>
            </a:endParaRPr>
          </a:p>
        </p:txBody>
      </p:sp>
      <p:sp>
        <p:nvSpPr>
          <p:cNvPr id="40" name="TextBox 19">
            <a:extLst>
              <a:ext uri="{FF2B5EF4-FFF2-40B4-BE49-F238E27FC236}">
                <a16:creationId xmlns:a16="http://schemas.microsoft.com/office/drawing/2014/main" id="{7926F94A-1D38-1007-CBF8-F1F654030455}"/>
              </a:ext>
            </a:extLst>
          </p:cNvPr>
          <p:cNvSpPr txBox="1"/>
          <p:nvPr/>
        </p:nvSpPr>
        <p:spPr>
          <a:xfrm>
            <a:off x="11937936" y="3213140"/>
            <a:ext cx="1072730"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In vitro</a:t>
            </a:r>
          </a:p>
        </p:txBody>
      </p:sp>
      <p:sp>
        <p:nvSpPr>
          <p:cNvPr id="41" name="TextBox 19">
            <a:extLst>
              <a:ext uri="{FF2B5EF4-FFF2-40B4-BE49-F238E27FC236}">
                <a16:creationId xmlns:a16="http://schemas.microsoft.com/office/drawing/2014/main" id="{4217C63D-95B5-D289-155B-67D048D3CC6E}"/>
              </a:ext>
            </a:extLst>
          </p:cNvPr>
          <p:cNvSpPr txBox="1"/>
          <p:nvPr/>
        </p:nvSpPr>
        <p:spPr>
          <a:xfrm>
            <a:off x="11937936" y="4175319"/>
            <a:ext cx="1072730"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In vitro</a:t>
            </a:r>
          </a:p>
        </p:txBody>
      </p:sp>
      <p:sp>
        <p:nvSpPr>
          <p:cNvPr id="43" name="TextBox 19">
            <a:extLst>
              <a:ext uri="{FF2B5EF4-FFF2-40B4-BE49-F238E27FC236}">
                <a16:creationId xmlns:a16="http://schemas.microsoft.com/office/drawing/2014/main" id="{DD520456-B857-1778-8FB5-54B14627A750}"/>
              </a:ext>
            </a:extLst>
          </p:cNvPr>
          <p:cNvSpPr txBox="1"/>
          <p:nvPr/>
        </p:nvSpPr>
        <p:spPr>
          <a:xfrm>
            <a:off x="11973204" y="5995917"/>
            <a:ext cx="100059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In vivo</a:t>
            </a:r>
          </a:p>
        </p:txBody>
      </p:sp>
      <p:sp>
        <p:nvSpPr>
          <p:cNvPr id="44" name="TextBox 19">
            <a:extLst>
              <a:ext uri="{FF2B5EF4-FFF2-40B4-BE49-F238E27FC236}">
                <a16:creationId xmlns:a16="http://schemas.microsoft.com/office/drawing/2014/main" id="{8F221972-9C9F-1621-6C15-290527FBED25}"/>
              </a:ext>
            </a:extLst>
          </p:cNvPr>
          <p:cNvSpPr txBox="1"/>
          <p:nvPr/>
        </p:nvSpPr>
        <p:spPr>
          <a:xfrm>
            <a:off x="11973204" y="7130899"/>
            <a:ext cx="100059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In vivo</a:t>
            </a:r>
          </a:p>
        </p:txBody>
      </p:sp>
      <p:sp>
        <p:nvSpPr>
          <p:cNvPr id="45" name="TextBox 19">
            <a:extLst>
              <a:ext uri="{FF2B5EF4-FFF2-40B4-BE49-F238E27FC236}">
                <a16:creationId xmlns:a16="http://schemas.microsoft.com/office/drawing/2014/main" id="{0ADB1B70-8954-287C-4F1B-8925DFFC2B7F}"/>
              </a:ext>
            </a:extLst>
          </p:cNvPr>
          <p:cNvSpPr txBox="1"/>
          <p:nvPr/>
        </p:nvSpPr>
        <p:spPr>
          <a:xfrm>
            <a:off x="14244753" y="3279789"/>
            <a:ext cx="2021707"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Compound 357</a:t>
            </a:r>
          </a:p>
        </p:txBody>
      </p:sp>
      <p:sp>
        <p:nvSpPr>
          <p:cNvPr id="46" name="TextBox 19">
            <a:extLst>
              <a:ext uri="{FF2B5EF4-FFF2-40B4-BE49-F238E27FC236}">
                <a16:creationId xmlns:a16="http://schemas.microsoft.com/office/drawing/2014/main" id="{F18D14BF-82FA-2228-0F44-6E960E7363A0}"/>
              </a:ext>
            </a:extLst>
          </p:cNvPr>
          <p:cNvSpPr txBox="1"/>
          <p:nvPr/>
        </p:nvSpPr>
        <p:spPr>
          <a:xfrm>
            <a:off x="14163197" y="4207896"/>
            <a:ext cx="2193229"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Compound 9001</a:t>
            </a:r>
          </a:p>
        </p:txBody>
      </p:sp>
      <p:sp>
        <p:nvSpPr>
          <p:cNvPr id="47" name="TextBox 19">
            <a:extLst>
              <a:ext uri="{FF2B5EF4-FFF2-40B4-BE49-F238E27FC236}">
                <a16:creationId xmlns:a16="http://schemas.microsoft.com/office/drawing/2014/main" id="{8B71D4E8-5AFA-2B51-9CA7-9609153FD295}"/>
              </a:ext>
            </a:extLst>
          </p:cNvPr>
          <p:cNvSpPr txBox="1"/>
          <p:nvPr/>
        </p:nvSpPr>
        <p:spPr>
          <a:xfrm>
            <a:off x="14244753" y="6137578"/>
            <a:ext cx="2021707"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Compound 357</a:t>
            </a:r>
          </a:p>
        </p:txBody>
      </p:sp>
      <p:sp>
        <p:nvSpPr>
          <p:cNvPr id="48" name="TextBox 19">
            <a:extLst>
              <a:ext uri="{FF2B5EF4-FFF2-40B4-BE49-F238E27FC236}">
                <a16:creationId xmlns:a16="http://schemas.microsoft.com/office/drawing/2014/main" id="{1C5E105B-3D73-086F-28A6-7D70AA85675F}"/>
              </a:ext>
            </a:extLst>
          </p:cNvPr>
          <p:cNvSpPr txBox="1"/>
          <p:nvPr/>
        </p:nvSpPr>
        <p:spPr>
          <a:xfrm>
            <a:off x="14163197" y="7065685"/>
            <a:ext cx="2193229"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Compound 9001</a:t>
            </a:r>
          </a:p>
        </p:txBody>
      </p:sp>
      <p:pic>
        <p:nvPicPr>
          <p:cNvPr id="33" name="Graphic 23" descr="Paper">
            <a:extLst>
              <a:ext uri="{FF2B5EF4-FFF2-40B4-BE49-F238E27FC236}">
                <a16:creationId xmlns:a16="http://schemas.microsoft.com/office/drawing/2014/main" id="{7303DB33-5BA2-609F-5B10-357D96FF47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2575" y="4031666"/>
            <a:ext cx="984792" cy="846717"/>
          </a:xfrm>
          <a:prstGeom prst="rect">
            <a:avLst/>
          </a:prstGeom>
        </p:spPr>
      </p:pic>
      <p:pic>
        <p:nvPicPr>
          <p:cNvPr id="35" name="Graphic 22" descr="Paper">
            <a:extLst>
              <a:ext uri="{FF2B5EF4-FFF2-40B4-BE49-F238E27FC236}">
                <a16:creationId xmlns:a16="http://schemas.microsoft.com/office/drawing/2014/main" id="{8E97C547-7014-F8D6-B447-90B783F2E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5172" y="5852265"/>
            <a:ext cx="984792" cy="846717"/>
          </a:xfrm>
          <a:prstGeom prst="rect">
            <a:avLst/>
          </a:prstGeom>
        </p:spPr>
      </p:pic>
      <p:pic>
        <p:nvPicPr>
          <p:cNvPr id="36" name="Graphic 22" descr="Paper">
            <a:extLst>
              <a:ext uri="{FF2B5EF4-FFF2-40B4-BE49-F238E27FC236}">
                <a16:creationId xmlns:a16="http://schemas.microsoft.com/office/drawing/2014/main" id="{AAFE24EC-4924-0802-B7A6-90CD2B3502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5172" y="6921407"/>
            <a:ext cx="984792" cy="846717"/>
          </a:xfrm>
          <a:prstGeom prst="rect">
            <a:avLst/>
          </a:prstGeom>
        </p:spPr>
      </p:pic>
      <p:pic>
        <p:nvPicPr>
          <p:cNvPr id="37" name="Graphic 22" descr="Paper">
            <a:extLst>
              <a:ext uri="{FF2B5EF4-FFF2-40B4-BE49-F238E27FC236}">
                <a16:creationId xmlns:a16="http://schemas.microsoft.com/office/drawing/2014/main" id="{5952C09C-DA59-FCA7-1BE2-0B9C999663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2575" y="3101245"/>
            <a:ext cx="984792" cy="846717"/>
          </a:xfrm>
          <a:prstGeom prst="rect">
            <a:avLst/>
          </a:prstGeom>
        </p:spPr>
      </p:pic>
      <p:grpSp>
        <p:nvGrpSpPr>
          <p:cNvPr id="63" name="Group 62">
            <a:extLst>
              <a:ext uri="{FF2B5EF4-FFF2-40B4-BE49-F238E27FC236}">
                <a16:creationId xmlns:a16="http://schemas.microsoft.com/office/drawing/2014/main" id="{5AF52976-A26F-DB07-473E-842F35B73436}"/>
              </a:ext>
            </a:extLst>
          </p:cNvPr>
          <p:cNvGrpSpPr/>
          <p:nvPr/>
        </p:nvGrpSpPr>
        <p:grpSpPr>
          <a:xfrm>
            <a:off x="897442" y="2310110"/>
            <a:ext cx="7449103" cy="5449285"/>
            <a:chOff x="631051" y="1624186"/>
            <a:chExt cx="5496527" cy="4210930"/>
          </a:xfrm>
        </p:grpSpPr>
        <p:pic>
          <p:nvPicPr>
            <p:cNvPr id="5" name="Graphic 2" descr="Folder">
              <a:extLst>
                <a:ext uri="{FF2B5EF4-FFF2-40B4-BE49-F238E27FC236}">
                  <a16:creationId xmlns:a16="http://schemas.microsoft.com/office/drawing/2014/main" id="{79C1DF0F-BA2A-9C48-B8F0-70052B27A0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1051" y="2137093"/>
              <a:ext cx="835559" cy="779599"/>
            </a:xfrm>
            <a:prstGeom prst="rect">
              <a:avLst/>
            </a:prstGeom>
          </p:spPr>
        </p:pic>
        <p:pic>
          <p:nvPicPr>
            <p:cNvPr id="6" name="Graphic 3" descr="Folder">
              <a:extLst>
                <a:ext uri="{FF2B5EF4-FFF2-40B4-BE49-F238E27FC236}">
                  <a16:creationId xmlns:a16="http://schemas.microsoft.com/office/drawing/2014/main" id="{DFE2ADA3-2D62-0B15-C6F4-F1B81F8EF7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93764" y="2137093"/>
              <a:ext cx="835559" cy="779599"/>
            </a:xfrm>
            <a:prstGeom prst="rect">
              <a:avLst/>
            </a:prstGeom>
          </p:spPr>
        </p:pic>
        <p:pic>
          <p:nvPicPr>
            <p:cNvPr id="7" name="Graphic 4" descr="Folder">
              <a:extLst>
                <a:ext uri="{FF2B5EF4-FFF2-40B4-BE49-F238E27FC236}">
                  <a16:creationId xmlns:a16="http://schemas.microsoft.com/office/drawing/2014/main" id="{8A1CBF18-D1DF-40D8-5D31-35112AF273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5937" y="2137093"/>
              <a:ext cx="835559" cy="779599"/>
            </a:xfrm>
            <a:prstGeom prst="rect">
              <a:avLst/>
            </a:prstGeom>
          </p:spPr>
        </p:pic>
        <p:pic>
          <p:nvPicPr>
            <p:cNvPr id="8" name="Graphic 5" descr="Folder">
              <a:extLst>
                <a:ext uri="{FF2B5EF4-FFF2-40B4-BE49-F238E27FC236}">
                  <a16:creationId xmlns:a16="http://schemas.microsoft.com/office/drawing/2014/main" id="{67222214-9E17-8792-EF1B-FFF71B33EF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8766" y="3704686"/>
              <a:ext cx="835559" cy="779599"/>
            </a:xfrm>
            <a:prstGeom prst="rect">
              <a:avLst/>
            </a:prstGeom>
          </p:spPr>
        </p:pic>
        <p:pic>
          <p:nvPicPr>
            <p:cNvPr id="9" name="Graphic 6" descr="Paper">
              <a:extLst>
                <a:ext uri="{FF2B5EF4-FFF2-40B4-BE49-F238E27FC236}">
                  <a16:creationId xmlns:a16="http://schemas.microsoft.com/office/drawing/2014/main" id="{D42AF08B-4046-D1C6-CE95-EA634C4A7A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3314" y="2192778"/>
              <a:ext cx="716194" cy="668228"/>
            </a:xfrm>
            <a:prstGeom prst="rect">
              <a:avLst/>
            </a:prstGeom>
          </p:spPr>
        </p:pic>
        <p:grpSp>
          <p:nvGrpSpPr>
            <p:cNvPr id="10" name="Group 9">
              <a:extLst>
                <a:ext uri="{FF2B5EF4-FFF2-40B4-BE49-F238E27FC236}">
                  <a16:creationId xmlns:a16="http://schemas.microsoft.com/office/drawing/2014/main" id="{7B894E8A-5825-5CAB-60C9-13B27A641637}"/>
                </a:ext>
              </a:extLst>
            </p:cNvPr>
            <p:cNvGrpSpPr/>
            <p:nvPr/>
          </p:nvGrpSpPr>
          <p:grpSpPr>
            <a:xfrm>
              <a:off x="5272679" y="2304149"/>
              <a:ext cx="835560" cy="779600"/>
              <a:chOff x="6749744" y="3908898"/>
              <a:chExt cx="1066800" cy="1066800"/>
            </a:xfrm>
          </p:grpSpPr>
          <p:pic>
            <p:nvPicPr>
              <p:cNvPr id="25" name="Graphic 22" descr="Paper">
                <a:extLst>
                  <a:ext uri="{FF2B5EF4-FFF2-40B4-BE49-F238E27FC236}">
                    <a16:creationId xmlns:a16="http://schemas.microsoft.com/office/drawing/2014/main" id="{EE490615-7045-4B50-A396-8724DCB3FD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9744" y="3908898"/>
                <a:ext cx="914400" cy="914400"/>
              </a:xfrm>
              <a:prstGeom prst="rect">
                <a:avLst/>
              </a:prstGeom>
            </p:spPr>
          </p:pic>
          <p:pic>
            <p:nvPicPr>
              <p:cNvPr id="26" name="Graphic 23" descr="Paper">
                <a:extLst>
                  <a:ext uri="{FF2B5EF4-FFF2-40B4-BE49-F238E27FC236}">
                    <a16:creationId xmlns:a16="http://schemas.microsoft.com/office/drawing/2014/main" id="{E93337FF-B52C-68F3-4836-2D62BA7590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02144" y="4061298"/>
                <a:ext cx="914400" cy="914400"/>
              </a:xfrm>
              <a:prstGeom prst="rect">
                <a:avLst/>
              </a:prstGeom>
            </p:spPr>
          </p:pic>
        </p:grpSp>
        <p:pic>
          <p:nvPicPr>
            <p:cNvPr id="11" name="Graphic 8" descr="Paper">
              <a:extLst>
                <a:ext uri="{FF2B5EF4-FFF2-40B4-BE49-F238E27FC236}">
                  <a16:creationId xmlns:a16="http://schemas.microsoft.com/office/drawing/2014/main" id="{0C0BB959-261A-73AB-95D3-F179FFC26E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72653" y="3757162"/>
              <a:ext cx="716194" cy="668228"/>
            </a:xfrm>
            <a:prstGeom prst="rect">
              <a:avLst/>
            </a:prstGeom>
          </p:spPr>
        </p:pic>
        <p:grpSp>
          <p:nvGrpSpPr>
            <p:cNvPr id="12" name="Group 11">
              <a:extLst>
                <a:ext uri="{FF2B5EF4-FFF2-40B4-BE49-F238E27FC236}">
                  <a16:creationId xmlns:a16="http://schemas.microsoft.com/office/drawing/2014/main" id="{145722E4-7A9C-45C2-3264-3FAA63960542}"/>
                </a:ext>
              </a:extLst>
            </p:cNvPr>
            <p:cNvGrpSpPr/>
            <p:nvPr/>
          </p:nvGrpSpPr>
          <p:grpSpPr>
            <a:xfrm>
              <a:off x="5292018" y="3868533"/>
              <a:ext cx="835560" cy="779600"/>
              <a:chOff x="6774435" y="6049592"/>
              <a:chExt cx="1066800" cy="1066800"/>
            </a:xfrm>
          </p:grpSpPr>
          <p:pic>
            <p:nvPicPr>
              <p:cNvPr id="23" name="Graphic 20" descr="Paper">
                <a:extLst>
                  <a:ext uri="{FF2B5EF4-FFF2-40B4-BE49-F238E27FC236}">
                    <a16:creationId xmlns:a16="http://schemas.microsoft.com/office/drawing/2014/main" id="{C0E7B3CA-6333-54B1-E19D-5F4038975A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74435" y="6049592"/>
                <a:ext cx="914400" cy="914400"/>
              </a:xfrm>
              <a:prstGeom prst="rect">
                <a:avLst/>
              </a:prstGeom>
            </p:spPr>
          </p:pic>
          <p:pic>
            <p:nvPicPr>
              <p:cNvPr id="24" name="Graphic 21" descr="Paper">
                <a:extLst>
                  <a:ext uri="{FF2B5EF4-FFF2-40B4-BE49-F238E27FC236}">
                    <a16:creationId xmlns:a16="http://schemas.microsoft.com/office/drawing/2014/main" id="{27079146-676D-9635-8ABA-0F07EE5C68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6835" y="6201992"/>
                <a:ext cx="914400" cy="914400"/>
              </a:xfrm>
              <a:prstGeom prst="rect">
                <a:avLst/>
              </a:prstGeom>
            </p:spPr>
          </p:pic>
        </p:grpSp>
        <p:cxnSp>
          <p:nvCxnSpPr>
            <p:cNvPr id="13" name="Straight Connector 12">
              <a:extLst>
                <a:ext uri="{FF2B5EF4-FFF2-40B4-BE49-F238E27FC236}">
                  <a16:creationId xmlns:a16="http://schemas.microsoft.com/office/drawing/2014/main" id="{5FD439B5-76BE-F71D-CDA3-10140F44ED6D}"/>
                </a:ext>
              </a:extLst>
            </p:cNvPr>
            <p:cNvCxnSpPr>
              <a:stCxn id="8" idx="3"/>
              <a:endCxn id="9" idx="1"/>
            </p:cNvCxnSpPr>
            <p:nvPr/>
          </p:nvCxnSpPr>
          <p:spPr>
            <a:xfrm flipV="1">
              <a:off x="1466610" y="2526893"/>
              <a:ext cx="727155"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3BB0B1-6E47-8C7D-2745-2E29C0D41BCC}"/>
                </a:ext>
              </a:extLst>
            </p:cNvPr>
            <p:cNvCxnSpPr>
              <a:stCxn id="9" idx="3"/>
            </p:cNvCxnSpPr>
            <p:nvPr/>
          </p:nvCxnSpPr>
          <p:spPr>
            <a:xfrm>
              <a:off x="3029323" y="2526893"/>
              <a:ext cx="1096613" cy="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22AD1A-43CA-4592-A16B-7C02201C9CFF}"/>
                </a:ext>
              </a:extLst>
            </p:cNvPr>
            <p:cNvCxnSpPr>
              <a:cxnSpLocks/>
              <a:endCxn id="13" idx="1"/>
            </p:cNvCxnSpPr>
            <p:nvPr/>
          </p:nvCxnSpPr>
          <p:spPr>
            <a:xfrm flipV="1">
              <a:off x="4961495" y="2526892"/>
              <a:ext cx="191818"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3E964F-09CF-421C-CDE0-4D68DCE5665D}"/>
                </a:ext>
              </a:extLst>
            </p:cNvPr>
            <p:cNvCxnSpPr>
              <a:cxnSpLocks/>
              <a:stCxn id="11" idx="3"/>
              <a:endCxn id="16" idx="1"/>
            </p:cNvCxnSpPr>
            <p:nvPr/>
          </p:nvCxnSpPr>
          <p:spPr>
            <a:xfrm flipV="1">
              <a:off x="4964325" y="4091276"/>
              <a:ext cx="208328" cy="321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794D9AB-0EE5-23DE-B1F1-543539D10C70}"/>
                </a:ext>
              </a:extLst>
            </p:cNvPr>
            <p:cNvCxnSpPr>
              <a:cxnSpLocks/>
              <a:endCxn id="11" idx="1"/>
            </p:cNvCxnSpPr>
            <p:nvPr/>
          </p:nvCxnSpPr>
          <p:spPr>
            <a:xfrm rot="16200000" flipH="1">
              <a:off x="3141649" y="3107368"/>
              <a:ext cx="1567594" cy="406642"/>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18" name="TextBox 15">
              <a:extLst>
                <a:ext uri="{FF2B5EF4-FFF2-40B4-BE49-F238E27FC236}">
                  <a16:creationId xmlns:a16="http://schemas.microsoft.com/office/drawing/2014/main" id="{DBC18C16-8489-2702-33BB-971F9D990083}"/>
                </a:ext>
              </a:extLst>
            </p:cNvPr>
            <p:cNvSpPr txBox="1"/>
            <p:nvPr/>
          </p:nvSpPr>
          <p:spPr>
            <a:xfrm>
              <a:off x="688543" y="2739201"/>
              <a:ext cx="720574" cy="407291"/>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01_raw</a:t>
              </a:r>
            </a:p>
          </p:txBody>
        </p:sp>
        <p:sp>
          <p:nvSpPr>
            <p:cNvPr id="19" name="TextBox 16">
              <a:extLst>
                <a:ext uri="{FF2B5EF4-FFF2-40B4-BE49-F238E27FC236}">
                  <a16:creationId xmlns:a16="http://schemas.microsoft.com/office/drawing/2014/main" id="{71AE9D4D-A8BC-941C-E48C-1334E80F1FE6}"/>
                </a:ext>
              </a:extLst>
            </p:cNvPr>
            <p:cNvSpPr txBox="1"/>
            <p:nvPr/>
          </p:nvSpPr>
          <p:spPr>
            <a:xfrm>
              <a:off x="1590921" y="2739201"/>
              <a:ext cx="2022874" cy="407291"/>
            </a:xfrm>
            <a:prstGeom prst="rect">
              <a:avLst/>
            </a:prstGeom>
            <a:noFill/>
          </p:spPr>
          <p:txBody>
            <a:bodyPr wrap="squar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01_invitro_viability</a:t>
              </a:r>
            </a:p>
          </p:txBody>
        </p:sp>
        <p:sp>
          <p:nvSpPr>
            <p:cNvPr id="20" name="TextBox 17">
              <a:extLst>
                <a:ext uri="{FF2B5EF4-FFF2-40B4-BE49-F238E27FC236}">
                  <a16:creationId xmlns:a16="http://schemas.microsoft.com/office/drawing/2014/main" id="{7383A476-161A-A1F0-C433-A646BFE8DF62}"/>
                </a:ext>
              </a:extLst>
            </p:cNvPr>
            <p:cNvSpPr txBox="1"/>
            <p:nvPr/>
          </p:nvSpPr>
          <p:spPr>
            <a:xfrm>
              <a:off x="4100519" y="2739201"/>
              <a:ext cx="882621" cy="407291"/>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comp357</a:t>
              </a:r>
            </a:p>
          </p:txBody>
        </p:sp>
        <p:sp>
          <p:nvSpPr>
            <p:cNvPr id="21" name="TextBox 18">
              <a:extLst>
                <a:ext uri="{FF2B5EF4-FFF2-40B4-BE49-F238E27FC236}">
                  <a16:creationId xmlns:a16="http://schemas.microsoft.com/office/drawing/2014/main" id="{B2D1CF66-663E-E266-DE2E-EDB2F8531F15}"/>
                </a:ext>
              </a:extLst>
            </p:cNvPr>
            <p:cNvSpPr txBox="1"/>
            <p:nvPr/>
          </p:nvSpPr>
          <p:spPr>
            <a:xfrm>
              <a:off x="4043154" y="4389419"/>
              <a:ext cx="997354" cy="407291"/>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comp9001</a:t>
              </a:r>
            </a:p>
          </p:txBody>
        </p:sp>
        <p:sp>
          <p:nvSpPr>
            <p:cNvPr id="22" name="TextBox 19">
              <a:extLst>
                <a:ext uri="{FF2B5EF4-FFF2-40B4-BE49-F238E27FC236}">
                  <a16:creationId xmlns:a16="http://schemas.microsoft.com/office/drawing/2014/main" id="{DC44B776-7A9A-E4E8-5E10-4AA2102936DF}"/>
                </a:ext>
              </a:extLst>
            </p:cNvPr>
            <p:cNvSpPr txBox="1"/>
            <p:nvPr/>
          </p:nvSpPr>
          <p:spPr>
            <a:xfrm>
              <a:off x="3925445" y="1624186"/>
              <a:ext cx="1276500" cy="519222"/>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a:solidFill>
                    <a:schemeClr val="bg1">
                      <a:lumMod val="50000"/>
                    </a:schemeClr>
                  </a:solidFill>
                  <a:latin typeface="UGent Panno Text" panose="02000506040000040003" pitchFamily="2" charset="0"/>
                </a:rPr>
                <a:t>Treatment</a:t>
              </a:r>
            </a:p>
          </p:txBody>
        </p:sp>
        <p:sp>
          <p:nvSpPr>
            <p:cNvPr id="49" name="TextBox 19">
              <a:extLst>
                <a:ext uri="{FF2B5EF4-FFF2-40B4-BE49-F238E27FC236}">
                  <a16:creationId xmlns:a16="http://schemas.microsoft.com/office/drawing/2014/main" id="{C7ADCEA7-F8A1-A38F-8748-0ABB7FED6255}"/>
                </a:ext>
              </a:extLst>
            </p:cNvPr>
            <p:cNvSpPr txBox="1"/>
            <p:nvPr/>
          </p:nvSpPr>
          <p:spPr>
            <a:xfrm>
              <a:off x="2082591" y="1632368"/>
              <a:ext cx="1180691" cy="519222"/>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err="1">
                  <a:solidFill>
                    <a:schemeClr val="bg1">
                      <a:lumMod val="50000"/>
                    </a:schemeClr>
                  </a:solidFill>
                  <a:latin typeface="UGent Panno Text" panose="02000506040000040003" pitchFamily="2" charset="0"/>
                </a:rPr>
                <a:t>Condition</a:t>
              </a:r>
              <a:endParaRPr lang="nl-BE" sz="3413">
                <a:solidFill>
                  <a:schemeClr val="bg1">
                    <a:lumMod val="50000"/>
                  </a:schemeClr>
                </a:solidFill>
                <a:latin typeface="UGent Panno Text" panose="02000506040000040003" pitchFamily="2" charset="0"/>
              </a:endParaRPr>
            </a:p>
          </p:txBody>
        </p:sp>
        <p:cxnSp>
          <p:nvCxnSpPr>
            <p:cNvPr id="50" name="Connector: Elbow 49">
              <a:extLst>
                <a:ext uri="{FF2B5EF4-FFF2-40B4-BE49-F238E27FC236}">
                  <a16:creationId xmlns:a16="http://schemas.microsoft.com/office/drawing/2014/main" id="{55B704D7-8F4B-C565-DF9C-FA4654C1E11C}"/>
                </a:ext>
              </a:extLst>
            </p:cNvPr>
            <p:cNvCxnSpPr>
              <a:cxnSpLocks/>
              <a:endCxn id="53" idx="1"/>
            </p:cNvCxnSpPr>
            <p:nvPr/>
          </p:nvCxnSpPr>
          <p:spPr>
            <a:xfrm rot="16200000" flipH="1">
              <a:off x="636876" y="3662255"/>
              <a:ext cx="2688628" cy="417896"/>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pic>
          <p:nvPicPr>
            <p:cNvPr id="53" name="Graphic 3" descr="Folder">
              <a:extLst>
                <a:ext uri="{FF2B5EF4-FFF2-40B4-BE49-F238E27FC236}">
                  <a16:creationId xmlns:a16="http://schemas.microsoft.com/office/drawing/2014/main" id="{ED0CE625-CDA1-9BDF-7F09-3E8B6D9FA0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90138" y="4825717"/>
              <a:ext cx="835559" cy="779599"/>
            </a:xfrm>
            <a:prstGeom prst="rect">
              <a:avLst/>
            </a:prstGeom>
          </p:spPr>
        </p:pic>
        <p:sp>
          <p:nvSpPr>
            <p:cNvPr id="54" name="TextBox 16">
              <a:extLst>
                <a:ext uri="{FF2B5EF4-FFF2-40B4-BE49-F238E27FC236}">
                  <a16:creationId xmlns:a16="http://schemas.microsoft.com/office/drawing/2014/main" id="{9163D153-0621-EFB8-0D36-65EDC87A5FE4}"/>
                </a:ext>
              </a:extLst>
            </p:cNvPr>
            <p:cNvSpPr txBox="1"/>
            <p:nvPr/>
          </p:nvSpPr>
          <p:spPr>
            <a:xfrm>
              <a:off x="1587295" y="5427825"/>
              <a:ext cx="2022874" cy="407291"/>
            </a:xfrm>
            <a:prstGeom prst="rect">
              <a:avLst/>
            </a:prstGeom>
            <a:noFill/>
          </p:spPr>
          <p:txBody>
            <a:bodyPr wrap="squar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02_invivo_viability</a:t>
              </a:r>
            </a:p>
          </p:txBody>
        </p:sp>
      </p:grpSp>
      <p:sp>
        <p:nvSpPr>
          <p:cNvPr id="56" name="TextBox 55">
            <a:extLst>
              <a:ext uri="{FF2B5EF4-FFF2-40B4-BE49-F238E27FC236}">
                <a16:creationId xmlns:a16="http://schemas.microsoft.com/office/drawing/2014/main" id="{A54AEDEF-5096-A2C9-18E8-74408B8AFE63}"/>
              </a:ext>
            </a:extLst>
          </p:cNvPr>
          <p:cNvSpPr txBox="1"/>
          <p:nvPr/>
        </p:nvSpPr>
        <p:spPr>
          <a:xfrm>
            <a:off x="3604790" y="1295924"/>
            <a:ext cx="1531188" cy="696024"/>
          </a:xfrm>
          <a:prstGeom prst="rect">
            <a:avLst/>
          </a:prstGeom>
          <a:solidFill>
            <a:schemeClr val="bg2"/>
          </a:solidFill>
        </p:spPr>
        <p:txBody>
          <a:bodyPr wrap="none" rtlCol="0">
            <a:spAutoFit/>
          </a:bodyPr>
          <a:lstStyle/>
          <a:p>
            <a:pPr algn="l">
              <a:lnSpc>
                <a:spcPct val="120000"/>
              </a:lnSpc>
            </a:pPr>
            <a:r>
              <a:rPr lang="nl-NL" sz="3555">
                <a:solidFill>
                  <a:srgbClr val="1E64C8"/>
                </a:solidFill>
                <a:latin typeface="UGent Panno Text" panose="02000506040000040003" pitchFamily="2" charset="0"/>
              </a:rPr>
              <a:t>FOLDERS</a:t>
            </a:r>
            <a:endParaRPr lang="en-US" sz="3555">
              <a:solidFill>
                <a:srgbClr val="1E64C8"/>
              </a:solidFill>
              <a:latin typeface="UGent Panno Text" panose="02000506040000040003" pitchFamily="2" charset="0"/>
            </a:endParaRPr>
          </a:p>
        </p:txBody>
      </p:sp>
      <p:sp>
        <p:nvSpPr>
          <p:cNvPr id="57" name="TextBox 56">
            <a:extLst>
              <a:ext uri="{FF2B5EF4-FFF2-40B4-BE49-F238E27FC236}">
                <a16:creationId xmlns:a16="http://schemas.microsoft.com/office/drawing/2014/main" id="{0BDF3AB0-47FF-1BAC-617E-9BFD9F2FFBCC}"/>
              </a:ext>
            </a:extLst>
          </p:cNvPr>
          <p:cNvSpPr txBox="1"/>
          <p:nvPr/>
        </p:nvSpPr>
        <p:spPr>
          <a:xfrm>
            <a:off x="12624132" y="1172145"/>
            <a:ext cx="1782860" cy="696024"/>
          </a:xfrm>
          <a:prstGeom prst="rect">
            <a:avLst/>
          </a:prstGeom>
          <a:solidFill>
            <a:schemeClr val="bg2"/>
          </a:solidFill>
        </p:spPr>
        <p:txBody>
          <a:bodyPr wrap="none" rtlCol="0">
            <a:spAutoFit/>
          </a:bodyPr>
          <a:lstStyle/>
          <a:p>
            <a:pPr algn="l">
              <a:lnSpc>
                <a:spcPct val="120000"/>
              </a:lnSpc>
            </a:pPr>
            <a:r>
              <a:rPr lang="nl-NL" sz="3555">
                <a:solidFill>
                  <a:srgbClr val="1E64C8"/>
                </a:solidFill>
                <a:latin typeface="UGent Panno Text" panose="02000506040000040003" pitchFamily="2" charset="0"/>
              </a:rPr>
              <a:t>METADATA</a:t>
            </a:r>
            <a:endParaRPr lang="en-US" sz="3555">
              <a:solidFill>
                <a:srgbClr val="1E64C8"/>
              </a:solidFill>
              <a:latin typeface="UGent Panno Text" panose="02000506040000040003" pitchFamily="2" charset="0"/>
            </a:endParaRPr>
          </a:p>
        </p:txBody>
      </p:sp>
      <p:sp>
        <p:nvSpPr>
          <p:cNvPr id="58" name="TextBox 57">
            <a:extLst>
              <a:ext uri="{FF2B5EF4-FFF2-40B4-BE49-F238E27FC236}">
                <a16:creationId xmlns:a16="http://schemas.microsoft.com/office/drawing/2014/main" id="{865E63FE-4813-A3C1-5F0A-EFFC0C644FFC}"/>
              </a:ext>
            </a:extLst>
          </p:cNvPr>
          <p:cNvSpPr txBox="1"/>
          <p:nvPr/>
        </p:nvSpPr>
        <p:spPr>
          <a:xfrm>
            <a:off x="2847345" y="7921914"/>
            <a:ext cx="4270721" cy="1318887"/>
          </a:xfrm>
          <a:prstGeom prst="rect">
            <a:avLst/>
          </a:prstGeom>
          <a:noFill/>
        </p:spPr>
        <p:txBody>
          <a:bodyPr wrap="none" rtlCol="0">
            <a:spAutoFit/>
          </a:bodyPr>
          <a:lstStyle/>
          <a:p>
            <a:pPr algn="l">
              <a:lnSpc>
                <a:spcPct val="120000"/>
              </a:lnSpc>
            </a:pPr>
            <a:r>
              <a:rPr lang="nl-NL" sz="2275" err="1">
                <a:latin typeface="UGent Panno Text" panose="02000506040000040003" pitchFamily="2" charset="0"/>
              </a:rPr>
              <a:t>Examples</a:t>
            </a:r>
            <a:r>
              <a:rPr lang="nl-NL" sz="2275">
                <a:latin typeface="UGent Panno Text" panose="02000506040000040003" pitchFamily="2" charset="0"/>
              </a:rPr>
              <a:t>:</a:t>
            </a:r>
          </a:p>
          <a:p>
            <a:pPr algn="l">
              <a:lnSpc>
                <a:spcPct val="120000"/>
              </a:lnSpc>
            </a:pPr>
            <a:r>
              <a:rPr lang="nl-NL" sz="2275">
                <a:latin typeface="UGent Panno Text" panose="02000506040000040003" pitchFamily="2" charset="0"/>
              </a:rPr>
              <a:t>Folder </a:t>
            </a:r>
            <a:r>
              <a:rPr lang="nl-NL" sz="2275" err="1">
                <a:latin typeface="UGent Panno Text" panose="02000506040000040003" pitchFamily="2" charset="0"/>
              </a:rPr>
              <a:t>hierarchy</a:t>
            </a:r>
            <a:r>
              <a:rPr lang="nl-NL" sz="2275">
                <a:latin typeface="UGent Panno Text" panose="02000506040000040003" pitchFamily="2" charset="0"/>
              </a:rPr>
              <a:t> on project share</a:t>
            </a:r>
          </a:p>
          <a:p>
            <a:pPr algn="l">
              <a:lnSpc>
                <a:spcPct val="120000"/>
              </a:lnSpc>
            </a:pPr>
            <a:r>
              <a:rPr lang="en-US" sz="2275">
                <a:latin typeface="UGent Panno Text" panose="02000506040000040003" pitchFamily="2" charset="0"/>
              </a:rPr>
              <a:t>Library and subfolders on SharePoint site</a:t>
            </a:r>
          </a:p>
        </p:txBody>
      </p:sp>
      <p:sp>
        <p:nvSpPr>
          <p:cNvPr id="59" name="TextBox 58">
            <a:extLst>
              <a:ext uri="{FF2B5EF4-FFF2-40B4-BE49-F238E27FC236}">
                <a16:creationId xmlns:a16="http://schemas.microsoft.com/office/drawing/2014/main" id="{186C3648-FFA8-FBA2-3970-F2A7661E0FD8}"/>
              </a:ext>
            </a:extLst>
          </p:cNvPr>
          <p:cNvSpPr txBox="1"/>
          <p:nvPr/>
        </p:nvSpPr>
        <p:spPr>
          <a:xfrm>
            <a:off x="12566547" y="7892060"/>
            <a:ext cx="2738250" cy="1739002"/>
          </a:xfrm>
          <a:prstGeom prst="rect">
            <a:avLst/>
          </a:prstGeom>
          <a:noFill/>
        </p:spPr>
        <p:txBody>
          <a:bodyPr wrap="none" rtlCol="0">
            <a:spAutoFit/>
          </a:bodyPr>
          <a:lstStyle/>
          <a:p>
            <a:pPr algn="l">
              <a:lnSpc>
                <a:spcPct val="120000"/>
              </a:lnSpc>
            </a:pPr>
            <a:r>
              <a:rPr lang="en-US" sz="2275">
                <a:latin typeface="UGent Panno Text" panose="02000506040000040003" pitchFamily="2" charset="0"/>
              </a:rPr>
              <a:t>Examples:</a:t>
            </a:r>
          </a:p>
          <a:p>
            <a:pPr algn="l">
              <a:lnSpc>
                <a:spcPct val="120000"/>
              </a:lnSpc>
            </a:pPr>
            <a:r>
              <a:rPr lang="en-US" sz="2275">
                <a:latin typeface="UGent Panno Text" panose="02000506040000040003" pitchFamily="2" charset="0"/>
              </a:rPr>
              <a:t>Library on SharePoint site</a:t>
            </a:r>
          </a:p>
          <a:p>
            <a:pPr algn="l">
              <a:lnSpc>
                <a:spcPct val="120000"/>
              </a:lnSpc>
            </a:pPr>
            <a:r>
              <a:rPr lang="en-US" sz="2275">
                <a:latin typeface="UGent Panno Text" panose="02000506040000040003" pitchFamily="2" charset="0"/>
              </a:rPr>
              <a:t>List on SharePoint site</a:t>
            </a:r>
          </a:p>
          <a:p>
            <a:pPr algn="l">
              <a:lnSpc>
                <a:spcPct val="120000"/>
              </a:lnSpc>
            </a:pPr>
            <a:endParaRPr lang="en-US" sz="2275">
              <a:latin typeface="UGent Panno Text" panose="02000506040000040003" pitchFamily="2" charset="0"/>
            </a:endParaRPr>
          </a:p>
        </p:txBody>
      </p:sp>
      <p:sp>
        <p:nvSpPr>
          <p:cNvPr id="3" name="TextBox 19">
            <a:extLst>
              <a:ext uri="{FF2B5EF4-FFF2-40B4-BE49-F238E27FC236}">
                <a16:creationId xmlns:a16="http://schemas.microsoft.com/office/drawing/2014/main" id="{AEDB1626-8769-DE32-20D6-DB1F59EDF533}"/>
              </a:ext>
            </a:extLst>
          </p:cNvPr>
          <p:cNvSpPr txBox="1"/>
          <p:nvPr/>
        </p:nvSpPr>
        <p:spPr>
          <a:xfrm>
            <a:off x="11945653" y="5034261"/>
            <a:ext cx="2012089" cy="575350"/>
          </a:xfrm>
          <a:prstGeom prst="rect">
            <a:avLst/>
          </a:prstGeom>
          <a:solidFill>
            <a:schemeClr val="accent3"/>
          </a:solid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In vivo, In vitro</a:t>
            </a:r>
          </a:p>
        </p:txBody>
      </p:sp>
      <p:sp>
        <p:nvSpPr>
          <p:cNvPr id="4" name="TextBox 19">
            <a:extLst>
              <a:ext uri="{FF2B5EF4-FFF2-40B4-BE49-F238E27FC236}">
                <a16:creationId xmlns:a16="http://schemas.microsoft.com/office/drawing/2014/main" id="{57E5DD60-BBB6-050B-9646-0E6BB0ED8ADB}"/>
              </a:ext>
            </a:extLst>
          </p:cNvPr>
          <p:cNvSpPr txBox="1"/>
          <p:nvPr/>
        </p:nvSpPr>
        <p:spPr>
          <a:xfrm>
            <a:off x="14309816" y="5034261"/>
            <a:ext cx="2021707" cy="575350"/>
          </a:xfrm>
          <a:prstGeom prst="rect">
            <a:avLst/>
          </a:prstGeom>
          <a:solidFill>
            <a:schemeClr val="accent3"/>
          </a:solid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Compound 357</a:t>
            </a:r>
          </a:p>
        </p:txBody>
      </p:sp>
      <p:pic>
        <p:nvPicPr>
          <p:cNvPr id="27" name="Graphic 23" descr="Paper">
            <a:extLst>
              <a:ext uri="{FF2B5EF4-FFF2-40B4-BE49-F238E27FC236}">
                <a16:creationId xmlns:a16="http://schemas.microsoft.com/office/drawing/2014/main" id="{E3A06282-D536-7BAC-BA83-82FF616BFC4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80291" y="4890609"/>
            <a:ext cx="984793" cy="846717"/>
          </a:xfrm>
          <a:prstGeom prst="rect">
            <a:avLst/>
          </a:prstGeom>
        </p:spPr>
      </p:pic>
    </p:spTree>
    <p:extLst>
      <p:ext uri="{BB962C8B-B14F-4D97-AF65-F5344CB8AC3E}">
        <p14:creationId xmlns:p14="http://schemas.microsoft.com/office/powerpoint/2010/main" val="1460821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49214A-32E7-D3C8-08F2-B098E70381DB}"/>
              </a:ext>
            </a:extLst>
          </p:cNvPr>
          <p:cNvSpPr>
            <a:spLocks noGrp="1"/>
          </p:cNvSpPr>
          <p:nvPr>
            <p:ph type="title"/>
          </p:nvPr>
        </p:nvSpPr>
        <p:spPr/>
        <p:txBody>
          <a:bodyPr/>
          <a:lstStyle/>
          <a:p>
            <a:r>
              <a:rPr lang="nl-NL">
                <a:latin typeface="UGent Panno Text" panose="02000506040000040003" pitchFamily="2" charset="0"/>
              </a:rPr>
              <a:t>File </a:t>
            </a:r>
            <a:r>
              <a:rPr lang="nl-NL" err="1">
                <a:latin typeface="UGent Panno Text" panose="02000506040000040003" pitchFamily="2" charset="0"/>
              </a:rPr>
              <a:t>organisation</a:t>
            </a:r>
            <a:r>
              <a:rPr lang="nl-NL">
                <a:latin typeface="UGent Panno Text" panose="02000506040000040003" pitchFamily="2" charset="0"/>
              </a:rPr>
              <a:t> </a:t>
            </a:r>
            <a:r>
              <a:rPr lang="nl-NL" err="1">
                <a:latin typeface="UGent Panno Text" panose="02000506040000040003" pitchFamily="2" charset="0"/>
              </a:rPr>
              <a:t>and</a:t>
            </a:r>
            <a:r>
              <a:rPr lang="nl-NL">
                <a:latin typeface="UGent Panno Text" panose="02000506040000040003" pitchFamily="2" charset="0"/>
              </a:rPr>
              <a:t> </a:t>
            </a:r>
            <a:r>
              <a:rPr lang="nl-NL" err="1">
                <a:latin typeface="UGent Panno Text" panose="02000506040000040003" pitchFamily="2" charset="0"/>
              </a:rPr>
              <a:t>documentation</a:t>
            </a:r>
            <a:endParaRPr lang="en-US">
              <a:latin typeface="UGent Panno Text" panose="02000506040000040003" pitchFamily="2" charset="0"/>
            </a:endParaRPr>
          </a:p>
        </p:txBody>
      </p:sp>
      <p:cxnSp>
        <p:nvCxnSpPr>
          <p:cNvPr id="28" name="Straight Connector 27">
            <a:extLst>
              <a:ext uri="{FF2B5EF4-FFF2-40B4-BE49-F238E27FC236}">
                <a16:creationId xmlns:a16="http://schemas.microsoft.com/office/drawing/2014/main" id="{6601D3C3-8D34-EC8B-0D86-1D5A9E1C3CB4}"/>
              </a:ext>
            </a:extLst>
          </p:cNvPr>
          <p:cNvCxnSpPr>
            <a:cxnSpLocks/>
          </p:cNvCxnSpPr>
          <p:nvPr/>
        </p:nvCxnSpPr>
        <p:spPr>
          <a:xfrm>
            <a:off x="8992132" y="1115924"/>
            <a:ext cx="0" cy="8279617"/>
          </a:xfrm>
          <a:prstGeom prst="line">
            <a:avLst/>
          </a:prstGeom>
          <a:ln w="12700">
            <a:solidFill>
              <a:schemeClr val="bg1">
                <a:lumMod val="75000"/>
              </a:schemeClr>
            </a:solidFill>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38" name="TextBox 19">
            <a:extLst>
              <a:ext uri="{FF2B5EF4-FFF2-40B4-BE49-F238E27FC236}">
                <a16:creationId xmlns:a16="http://schemas.microsoft.com/office/drawing/2014/main" id="{640A1802-91F8-525C-84AE-9AAA30F2CE5A}"/>
              </a:ext>
            </a:extLst>
          </p:cNvPr>
          <p:cNvSpPr txBox="1"/>
          <p:nvPr/>
        </p:nvSpPr>
        <p:spPr>
          <a:xfrm>
            <a:off x="15082237" y="2200478"/>
            <a:ext cx="901209" cy="671915"/>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a:solidFill>
                  <a:schemeClr val="bg1">
                    <a:lumMod val="50000"/>
                  </a:schemeClr>
                </a:solidFill>
                <a:latin typeface="UGent Panno Text" panose="02000506040000040003" pitchFamily="2" charset="0"/>
              </a:rPr>
              <a:t>Time</a:t>
            </a:r>
          </a:p>
        </p:txBody>
      </p:sp>
      <p:sp>
        <p:nvSpPr>
          <p:cNvPr id="39" name="TextBox 19">
            <a:extLst>
              <a:ext uri="{FF2B5EF4-FFF2-40B4-BE49-F238E27FC236}">
                <a16:creationId xmlns:a16="http://schemas.microsoft.com/office/drawing/2014/main" id="{7965C3E6-4F03-B8ED-BE46-AB6D237AE98A}"/>
              </a:ext>
            </a:extLst>
          </p:cNvPr>
          <p:cNvSpPr txBox="1"/>
          <p:nvPr/>
        </p:nvSpPr>
        <p:spPr>
          <a:xfrm>
            <a:off x="11814594" y="2200478"/>
            <a:ext cx="1446230" cy="671915"/>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err="1">
                <a:solidFill>
                  <a:schemeClr val="bg1">
                    <a:lumMod val="50000"/>
                  </a:schemeClr>
                </a:solidFill>
                <a:latin typeface="UGent Panno Text" panose="02000506040000040003" pitchFamily="2" charset="0"/>
              </a:rPr>
              <a:t>Location</a:t>
            </a:r>
            <a:endParaRPr lang="nl-BE" sz="3413">
              <a:solidFill>
                <a:schemeClr val="bg1">
                  <a:lumMod val="50000"/>
                </a:schemeClr>
              </a:solidFill>
              <a:latin typeface="UGent Panno Text" panose="02000506040000040003" pitchFamily="2" charset="0"/>
            </a:endParaRPr>
          </a:p>
        </p:txBody>
      </p:sp>
      <p:sp>
        <p:nvSpPr>
          <p:cNvPr id="40" name="TextBox 19">
            <a:extLst>
              <a:ext uri="{FF2B5EF4-FFF2-40B4-BE49-F238E27FC236}">
                <a16:creationId xmlns:a16="http://schemas.microsoft.com/office/drawing/2014/main" id="{7926F94A-1D38-1007-CBF8-F1F654030455}"/>
              </a:ext>
            </a:extLst>
          </p:cNvPr>
          <p:cNvSpPr txBox="1"/>
          <p:nvPr/>
        </p:nvSpPr>
        <p:spPr>
          <a:xfrm>
            <a:off x="11937953" y="3213140"/>
            <a:ext cx="120898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Belgium</a:t>
            </a:r>
          </a:p>
        </p:txBody>
      </p:sp>
      <p:sp>
        <p:nvSpPr>
          <p:cNvPr id="41" name="TextBox 19">
            <a:extLst>
              <a:ext uri="{FF2B5EF4-FFF2-40B4-BE49-F238E27FC236}">
                <a16:creationId xmlns:a16="http://schemas.microsoft.com/office/drawing/2014/main" id="{4217C63D-95B5-D289-155B-67D048D3CC6E}"/>
              </a:ext>
            </a:extLst>
          </p:cNvPr>
          <p:cNvSpPr txBox="1"/>
          <p:nvPr/>
        </p:nvSpPr>
        <p:spPr>
          <a:xfrm>
            <a:off x="11937953" y="4175319"/>
            <a:ext cx="120898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Belgium</a:t>
            </a:r>
          </a:p>
        </p:txBody>
      </p:sp>
      <p:sp>
        <p:nvSpPr>
          <p:cNvPr id="43" name="TextBox 19">
            <a:extLst>
              <a:ext uri="{FF2B5EF4-FFF2-40B4-BE49-F238E27FC236}">
                <a16:creationId xmlns:a16="http://schemas.microsoft.com/office/drawing/2014/main" id="{DD520456-B857-1778-8FB5-54B14627A750}"/>
              </a:ext>
            </a:extLst>
          </p:cNvPr>
          <p:cNvSpPr txBox="1"/>
          <p:nvPr/>
        </p:nvSpPr>
        <p:spPr>
          <a:xfrm>
            <a:off x="11973220" y="5953968"/>
            <a:ext cx="85632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Spain</a:t>
            </a:r>
          </a:p>
        </p:txBody>
      </p:sp>
      <p:sp>
        <p:nvSpPr>
          <p:cNvPr id="44" name="TextBox 19">
            <a:extLst>
              <a:ext uri="{FF2B5EF4-FFF2-40B4-BE49-F238E27FC236}">
                <a16:creationId xmlns:a16="http://schemas.microsoft.com/office/drawing/2014/main" id="{8F221972-9C9F-1621-6C15-290527FBED25}"/>
              </a:ext>
            </a:extLst>
          </p:cNvPr>
          <p:cNvSpPr txBox="1"/>
          <p:nvPr/>
        </p:nvSpPr>
        <p:spPr>
          <a:xfrm>
            <a:off x="11973220" y="7088950"/>
            <a:ext cx="856325"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Spain</a:t>
            </a:r>
          </a:p>
        </p:txBody>
      </p:sp>
      <p:sp>
        <p:nvSpPr>
          <p:cNvPr id="45" name="TextBox 19">
            <a:extLst>
              <a:ext uri="{FF2B5EF4-FFF2-40B4-BE49-F238E27FC236}">
                <a16:creationId xmlns:a16="http://schemas.microsoft.com/office/drawing/2014/main" id="{0ADB1B70-8954-287C-4F1B-8925DFFC2B7F}"/>
              </a:ext>
            </a:extLst>
          </p:cNvPr>
          <p:cNvSpPr txBox="1"/>
          <p:nvPr/>
        </p:nvSpPr>
        <p:spPr>
          <a:xfrm>
            <a:off x="15127812" y="3279789"/>
            <a:ext cx="813043"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2022</a:t>
            </a:r>
          </a:p>
        </p:txBody>
      </p:sp>
      <p:sp>
        <p:nvSpPr>
          <p:cNvPr id="46" name="TextBox 19">
            <a:extLst>
              <a:ext uri="{FF2B5EF4-FFF2-40B4-BE49-F238E27FC236}">
                <a16:creationId xmlns:a16="http://schemas.microsoft.com/office/drawing/2014/main" id="{F18D14BF-82FA-2228-0F44-6E960E7363A0}"/>
              </a:ext>
            </a:extLst>
          </p:cNvPr>
          <p:cNvSpPr txBox="1"/>
          <p:nvPr/>
        </p:nvSpPr>
        <p:spPr>
          <a:xfrm>
            <a:off x="15125542" y="4207896"/>
            <a:ext cx="817853"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2023</a:t>
            </a:r>
          </a:p>
        </p:txBody>
      </p:sp>
      <p:sp>
        <p:nvSpPr>
          <p:cNvPr id="47" name="TextBox 19">
            <a:extLst>
              <a:ext uri="{FF2B5EF4-FFF2-40B4-BE49-F238E27FC236}">
                <a16:creationId xmlns:a16="http://schemas.microsoft.com/office/drawing/2014/main" id="{8B71D4E8-5AFA-2B51-9CA7-9609153FD295}"/>
              </a:ext>
            </a:extLst>
          </p:cNvPr>
          <p:cNvSpPr txBox="1"/>
          <p:nvPr/>
        </p:nvSpPr>
        <p:spPr>
          <a:xfrm>
            <a:off x="15127825" y="6095630"/>
            <a:ext cx="813043"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2022</a:t>
            </a:r>
          </a:p>
        </p:txBody>
      </p:sp>
      <p:sp>
        <p:nvSpPr>
          <p:cNvPr id="48" name="TextBox 19">
            <a:extLst>
              <a:ext uri="{FF2B5EF4-FFF2-40B4-BE49-F238E27FC236}">
                <a16:creationId xmlns:a16="http://schemas.microsoft.com/office/drawing/2014/main" id="{1C5E105B-3D73-086F-28A6-7D70AA85675F}"/>
              </a:ext>
            </a:extLst>
          </p:cNvPr>
          <p:cNvSpPr txBox="1"/>
          <p:nvPr/>
        </p:nvSpPr>
        <p:spPr>
          <a:xfrm>
            <a:off x="15125548" y="7023736"/>
            <a:ext cx="817853" cy="57535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2023</a:t>
            </a:r>
          </a:p>
        </p:txBody>
      </p:sp>
      <p:pic>
        <p:nvPicPr>
          <p:cNvPr id="33" name="Graphic 23" descr="Paper">
            <a:extLst>
              <a:ext uri="{FF2B5EF4-FFF2-40B4-BE49-F238E27FC236}">
                <a16:creationId xmlns:a16="http://schemas.microsoft.com/office/drawing/2014/main" id="{7303DB33-5BA2-609F-5B10-357D96FF4719}"/>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2590" y="4031666"/>
            <a:ext cx="984793" cy="846717"/>
          </a:xfrm>
          <a:prstGeom prst="rect">
            <a:avLst/>
          </a:prstGeom>
        </p:spPr>
      </p:pic>
      <p:pic>
        <p:nvPicPr>
          <p:cNvPr id="35" name="Graphic 22" descr="Paper">
            <a:extLst>
              <a:ext uri="{FF2B5EF4-FFF2-40B4-BE49-F238E27FC236}">
                <a16:creationId xmlns:a16="http://schemas.microsoft.com/office/drawing/2014/main" id="{8E97C547-7014-F8D6-B447-90B783F2E70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5187" y="5810317"/>
            <a:ext cx="984793" cy="846717"/>
          </a:xfrm>
          <a:prstGeom prst="rect">
            <a:avLst/>
          </a:prstGeom>
        </p:spPr>
      </p:pic>
      <p:pic>
        <p:nvPicPr>
          <p:cNvPr id="36" name="Graphic 22" descr="Paper">
            <a:extLst>
              <a:ext uri="{FF2B5EF4-FFF2-40B4-BE49-F238E27FC236}">
                <a16:creationId xmlns:a16="http://schemas.microsoft.com/office/drawing/2014/main" id="{AAFE24EC-4924-0802-B7A6-90CD2B3502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5187" y="6879458"/>
            <a:ext cx="984793" cy="846717"/>
          </a:xfrm>
          <a:prstGeom prst="rect">
            <a:avLst/>
          </a:prstGeom>
        </p:spPr>
      </p:pic>
      <p:pic>
        <p:nvPicPr>
          <p:cNvPr id="37" name="Graphic 22" descr="Paper">
            <a:extLst>
              <a:ext uri="{FF2B5EF4-FFF2-40B4-BE49-F238E27FC236}">
                <a16:creationId xmlns:a16="http://schemas.microsoft.com/office/drawing/2014/main" id="{5952C09C-DA59-FCA7-1BE2-0B9C9996636F}"/>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072590" y="3101245"/>
            <a:ext cx="984793" cy="846717"/>
          </a:xfrm>
          <a:prstGeom prst="rect">
            <a:avLst/>
          </a:prstGeom>
        </p:spPr>
      </p:pic>
      <p:grpSp>
        <p:nvGrpSpPr>
          <p:cNvPr id="63" name="Group 62">
            <a:extLst>
              <a:ext uri="{FF2B5EF4-FFF2-40B4-BE49-F238E27FC236}">
                <a16:creationId xmlns:a16="http://schemas.microsoft.com/office/drawing/2014/main" id="{5AF52976-A26F-DB07-473E-842F35B73436}"/>
              </a:ext>
            </a:extLst>
          </p:cNvPr>
          <p:cNvGrpSpPr/>
          <p:nvPr/>
        </p:nvGrpSpPr>
        <p:grpSpPr>
          <a:xfrm>
            <a:off x="897442" y="2320698"/>
            <a:ext cx="7449103" cy="5438697"/>
            <a:chOff x="631051" y="1632368"/>
            <a:chExt cx="5496527" cy="4202747"/>
          </a:xfrm>
        </p:grpSpPr>
        <p:pic>
          <p:nvPicPr>
            <p:cNvPr id="5" name="Graphic 2" descr="Folder">
              <a:extLst>
                <a:ext uri="{FF2B5EF4-FFF2-40B4-BE49-F238E27FC236}">
                  <a16:creationId xmlns:a16="http://schemas.microsoft.com/office/drawing/2014/main" id="{79C1DF0F-BA2A-9C48-B8F0-70052B27A08B}"/>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1051" y="2137093"/>
              <a:ext cx="835559" cy="779599"/>
            </a:xfrm>
            <a:prstGeom prst="rect">
              <a:avLst/>
            </a:prstGeom>
          </p:spPr>
        </p:pic>
        <p:pic>
          <p:nvPicPr>
            <p:cNvPr id="6" name="Graphic 3" descr="Folder">
              <a:extLst>
                <a:ext uri="{FF2B5EF4-FFF2-40B4-BE49-F238E27FC236}">
                  <a16:creationId xmlns:a16="http://schemas.microsoft.com/office/drawing/2014/main" id="{DFE2ADA3-2D62-0B15-C6F4-F1B81F8EF797}"/>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93764" y="2137093"/>
              <a:ext cx="835559" cy="779599"/>
            </a:xfrm>
            <a:prstGeom prst="rect">
              <a:avLst/>
            </a:prstGeom>
          </p:spPr>
        </p:pic>
        <p:pic>
          <p:nvPicPr>
            <p:cNvPr id="7" name="Graphic 4" descr="Folder">
              <a:extLst>
                <a:ext uri="{FF2B5EF4-FFF2-40B4-BE49-F238E27FC236}">
                  <a16:creationId xmlns:a16="http://schemas.microsoft.com/office/drawing/2014/main" id="{8A1CBF18-D1DF-40D8-5D31-35112AF273B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5937" y="2137093"/>
              <a:ext cx="835559" cy="779599"/>
            </a:xfrm>
            <a:prstGeom prst="rect">
              <a:avLst/>
            </a:prstGeom>
          </p:spPr>
        </p:pic>
        <p:pic>
          <p:nvPicPr>
            <p:cNvPr id="8" name="Graphic 5" descr="Folder">
              <a:extLst>
                <a:ext uri="{FF2B5EF4-FFF2-40B4-BE49-F238E27FC236}">
                  <a16:creationId xmlns:a16="http://schemas.microsoft.com/office/drawing/2014/main" id="{67222214-9E17-8792-EF1B-FFF71B33EF6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128766" y="3704686"/>
              <a:ext cx="835559" cy="779599"/>
            </a:xfrm>
            <a:prstGeom prst="rect">
              <a:avLst/>
            </a:prstGeom>
          </p:spPr>
        </p:pic>
        <p:pic>
          <p:nvPicPr>
            <p:cNvPr id="9" name="Graphic 6" descr="Paper">
              <a:extLst>
                <a:ext uri="{FF2B5EF4-FFF2-40B4-BE49-F238E27FC236}">
                  <a16:creationId xmlns:a16="http://schemas.microsoft.com/office/drawing/2014/main" id="{D42AF08B-4046-D1C6-CE95-EA634C4A7AE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53314" y="2192778"/>
              <a:ext cx="716194" cy="668228"/>
            </a:xfrm>
            <a:prstGeom prst="rect">
              <a:avLst/>
            </a:prstGeom>
          </p:spPr>
        </p:pic>
        <p:grpSp>
          <p:nvGrpSpPr>
            <p:cNvPr id="10" name="Group 9">
              <a:extLst>
                <a:ext uri="{FF2B5EF4-FFF2-40B4-BE49-F238E27FC236}">
                  <a16:creationId xmlns:a16="http://schemas.microsoft.com/office/drawing/2014/main" id="{7B894E8A-5825-5CAB-60C9-13B27A641637}"/>
                </a:ext>
              </a:extLst>
            </p:cNvPr>
            <p:cNvGrpSpPr/>
            <p:nvPr/>
          </p:nvGrpSpPr>
          <p:grpSpPr>
            <a:xfrm>
              <a:off x="5272679" y="2304149"/>
              <a:ext cx="835560" cy="779600"/>
              <a:chOff x="6749744" y="3908898"/>
              <a:chExt cx="1066800" cy="1066800"/>
            </a:xfrm>
          </p:grpSpPr>
          <p:pic>
            <p:nvPicPr>
              <p:cNvPr id="25" name="Graphic 22" descr="Paper">
                <a:extLst>
                  <a:ext uri="{FF2B5EF4-FFF2-40B4-BE49-F238E27FC236}">
                    <a16:creationId xmlns:a16="http://schemas.microsoft.com/office/drawing/2014/main" id="{EE490615-7045-4B50-A396-8724DCB3FDE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49744" y="3908898"/>
                <a:ext cx="914400" cy="914400"/>
              </a:xfrm>
              <a:prstGeom prst="rect">
                <a:avLst/>
              </a:prstGeom>
            </p:spPr>
          </p:pic>
          <p:pic>
            <p:nvPicPr>
              <p:cNvPr id="26" name="Graphic 23" descr="Paper">
                <a:extLst>
                  <a:ext uri="{FF2B5EF4-FFF2-40B4-BE49-F238E27FC236}">
                    <a16:creationId xmlns:a16="http://schemas.microsoft.com/office/drawing/2014/main" id="{E93337FF-B52C-68F3-4836-2D62BA7590B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02144" y="4061298"/>
                <a:ext cx="914400" cy="914400"/>
              </a:xfrm>
              <a:prstGeom prst="rect">
                <a:avLst/>
              </a:prstGeom>
            </p:spPr>
          </p:pic>
        </p:grpSp>
        <p:pic>
          <p:nvPicPr>
            <p:cNvPr id="11" name="Graphic 8" descr="Paper">
              <a:extLst>
                <a:ext uri="{FF2B5EF4-FFF2-40B4-BE49-F238E27FC236}">
                  <a16:creationId xmlns:a16="http://schemas.microsoft.com/office/drawing/2014/main" id="{0C0BB959-261A-73AB-95D3-F179FFC26EC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172653" y="3757162"/>
              <a:ext cx="716194" cy="668228"/>
            </a:xfrm>
            <a:prstGeom prst="rect">
              <a:avLst/>
            </a:prstGeom>
          </p:spPr>
        </p:pic>
        <p:grpSp>
          <p:nvGrpSpPr>
            <p:cNvPr id="12" name="Group 11">
              <a:extLst>
                <a:ext uri="{FF2B5EF4-FFF2-40B4-BE49-F238E27FC236}">
                  <a16:creationId xmlns:a16="http://schemas.microsoft.com/office/drawing/2014/main" id="{145722E4-7A9C-45C2-3264-3FAA63960542}"/>
                </a:ext>
              </a:extLst>
            </p:cNvPr>
            <p:cNvGrpSpPr/>
            <p:nvPr/>
          </p:nvGrpSpPr>
          <p:grpSpPr>
            <a:xfrm>
              <a:off x="5292018" y="3868533"/>
              <a:ext cx="835560" cy="779600"/>
              <a:chOff x="6774435" y="6049592"/>
              <a:chExt cx="1066800" cy="1066800"/>
            </a:xfrm>
          </p:grpSpPr>
          <p:pic>
            <p:nvPicPr>
              <p:cNvPr id="23" name="Graphic 20" descr="Paper">
                <a:extLst>
                  <a:ext uri="{FF2B5EF4-FFF2-40B4-BE49-F238E27FC236}">
                    <a16:creationId xmlns:a16="http://schemas.microsoft.com/office/drawing/2014/main" id="{C0E7B3CA-6333-54B1-E19D-5F4038975ADE}"/>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74435" y="6049592"/>
                <a:ext cx="914400" cy="914400"/>
              </a:xfrm>
              <a:prstGeom prst="rect">
                <a:avLst/>
              </a:prstGeom>
            </p:spPr>
          </p:pic>
          <p:pic>
            <p:nvPicPr>
              <p:cNvPr id="24" name="Graphic 21" descr="Paper">
                <a:extLst>
                  <a:ext uri="{FF2B5EF4-FFF2-40B4-BE49-F238E27FC236}">
                    <a16:creationId xmlns:a16="http://schemas.microsoft.com/office/drawing/2014/main" id="{27079146-676D-9635-8ABA-0F07EE5C687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926835" y="6201992"/>
                <a:ext cx="914400" cy="914400"/>
              </a:xfrm>
              <a:prstGeom prst="rect">
                <a:avLst/>
              </a:prstGeom>
            </p:spPr>
          </p:pic>
        </p:grpSp>
        <p:cxnSp>
          <p:nvCxnSpPr>
            <p:cNvPr id="13" name="Straight Connector 12">
              <a:extLst>
                <a:ext uri="{FF2B5EF4-FFF2-40B4-BE49-F238E27FC236}">
                  <a16:creationId xmlns:a16="http://schemas.microsoft.com/office/drawing/2014/main" id="{5FD439B5-76BE-F71D-CDA3-10140F44ED6D}"/>
                </a:ext>
              </a:extLst>
            </p:cNvPr>
            <p:cNvCxnSpPr>
              <a:stCxn id="8" idx="3"/>
              <a:endCxn id="9" idx="1"/>
            </p:cNvCxnSpPr>
            <p:nvPr/>
          </p:nvCxnSpPr>
          <p:spPr>
            <a:xfrm flipV="1">
              <a:off x="1466610" y="2526893"/>
              <a:ext cx="727155"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43BB0B1-6E47-8C7D-2745-2E29C0D41BCC}"/>
                </a:ext>
              </a:extLst>
            </p:cNvPr>
            <p:cNvCxnSpPr>
              <a:stCxn id="9" idx="3"/>
            </p:cNvCxnSpPr>
            <p:nvPr/>
          </p:nvCxnSpPr>
          <p:spPr>
            <a:xfrm>
              <a:off x="3029323" y="2526893"/>
              <a:ext cx="1096613" cy="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D22AD1A-43CA-4592-A16B-7C02201C9CFF}"/>
                </a:ext>
              </a:extLst>
            </p:cNvPr>
            <p:cNvCxnSpPr>
              <a:cxnSpLocks/>
              <a:endCxn id="13" idx="1"/>
            </p:cNvCxnSpPr>
            <p:nvPr/>
          </p:nvCxnSpPr>
          <p:spPr>
            <a:xfrm flipV="1">
              <a:off x="4961495" y="2526892"/>
              <a:ext cx="191818" cy="1"/>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A93E964F-09CF-421C-CDE0-4D68DCE5665D}"/>
                </a:ext>
              </a:extLst>
            </p:cNvPr>
            <p:cNvCxnSpPr>
              <a:cxnSpLocks/>
              <a:stCxn id="11" idx="3"/>
              <a:endCxn id="16" idx="1"/>
            </p:cNvCxnSpPr>
            <p:nvPr/>
          </p:nvCxnSpPr>
          <p:spPr>
            <a:xfrm flipV="1">
              <a:off x="4964325" y="4091276"/>
              <a:ext cx="208328" cy="3210"/>
            </a:xfrm>
            <a:prstGeom prst="line">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794D9AB-0EE5-23DE-B1F1-543539D10C70}"/>
                </a:ext>
              </a:extLst>
            </p:cNvPr>
            <p:cNvCxnSpPr>
              <a:cxnSpLocks/>
              <a:endCxn id="11" idx="1"/>
            </p:cNvCxnSpPr>
            <p:nvPr/>
          </p:nvCxnSpPr>
          <p:spPr>
            <a:xfrm rot="16200000" flipH="1">
              <a:off x="3141649" y="3107368"/>
              <a:ext cx="1567594" cy="406642"/>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sp>
          <p:nvSpPr>
            <p:cNvPr id="18" name="TextBox 15">
              <a:extLst>
                <a:ext uri="{FF2B5EF4-FFF2-40B4-BE49-F238E27FC236}">
                  <a16:creationId xmlns:a16="http://schemas.microsoft.com/office/drawing/2014/main" id="{DBC18C16-8489-2702-33BB-971F9D990083}"/>
                </a:ext>
              </a:extLst>
            </p:cNvPr>
            <p:cNvSpPr txBox="1"/>
            <p:nvPr/>
          </p:nvSpPr>
          <p:spPr>
            <a:xfrm>
              <a:off x="688543" y="2739201"/>
              <a:ext cx="720574" cy="40729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01_raw</a:t>
              </a:r>
            </a:p>
          </p:txBody>
        </p:sp>
        <p:sp>
          <p:nvSpPr>
            <p:cNvPr id="19" name="TextBox 16">
              <a:extLst>
                <a:ext uri="{FF2B5EF4-FFF2-40B4-BE49-F238E27FC236}">
                  <a16:creationId xmlns:a16="http://schemas.microsoft.com/office/drawing/2014/main" id="{71AE9D4D-A8BC-941C-E48C-1334E80F1FE6}"/>
                </a:ext>
              </a:extLst>
            </p:cNvPr>
            <p:cNvSpPr txBox="1"/>
            <p:nvPr/>
          </p:nvSpPr>
          <p:spPr>
            <a:xfrm>
              <a:off x="1590921" y="2739201"/>
              <a:ext cx="2022874" cy="407290"/>
            </a:xfrm>
            <a:prstGeom prst="rect">
              <a:avLst/>
            </a:prstGeom>
            <a:noFill/>
          </p:spPr>
          <p:txBody>
            <a:bodyPr wrap="squar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01_belgium</a:t>
              </a:r>
            </a:p>
          </p:txBody>
        </p:sp>
        <p:sp>
          <p:nvSpPr>
            <p:cNvPr id="20" name="TextBox 17">
              <a:extLst>
                <a:ext uri="{FF2B5EF4-FFF2-40B4-BE49-F238E27FC236}">
                  <a16:creationId xmlns:a16="http://schemas.microsoft.com/office/drawing/2014/main" id="{7383A476-161A-A1F0-C433-A646BFE8DF62}"/>
                </a:ext>
              </a:extLst>
            </p:cNvPr>
            <p:cNvSpPr txBox="1"/>
            <p:nvPr/>
          </p:nvSpPr>
          <p:spPr>
            <a:xfrm>
              <a:off x="4264340" y="2739201"/>
              <a:ext cx="554979" cy="40729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2022</a:t>
              </a:r>
            </a:p>
          </p:txBody>
        </p:sp>
        <p:sp>
          <p:nvSpPr>
            <p:cNvPr id="21" name="TextBox 18">
              <a:extLst>
                <a:ext uri="{FF2B5EF4-FFF2-40B4-BE49-F238E27FC236}">
                  <a16:creationId xmlns:a16="http://schemas.microsoft.com/office/drawing/2014/main" id="{B2D1CF66-663E-E266-DE2E-EDB2F8531F15}"/>
                </a:ext>
              </a:extLst>
            </p:cNvPr>
            <p:cNvSpPr txBox="1"/>
            <p:nvPr/>
          </p:nvSpPr>
          <p:spPr>
            <a:xfrm>
              <a:off x="4263159" y="4389419"/>
              <a:ext cx="557345" cy="407290"/>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2023</a:t>
              </a:r>
            </a:p>
          </p:txBody>
        </p:sp>
        <p:sp>
          <p:nvSpPr>
            <p:cNvPr id="22" name="TextBox 19">
              <a:extLst>
                <a:ext uri="{FF2B5EF4-FFF2-40B4-BE49-F238E27FC236}">
                  <a16:creationId xmlns:a16="http://schemas.microsoft.com/office/drawing/2014/main" id="{DC44B776-7A9A-E4E8-5E10-4AA2102936DF}"/>
                </a:ext>
              </a:extLst>
            </p:cNvPr>
            <p:cNvSpPr txBox="1"/>
            <p:nvPr/>
          </p:nvSpPr>
          <p:spPr>
            <a:xfrm>
              <a:off x="4184749" y="1643433"/>
              <a:ext cx="664982" cy="519222"/>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a:solidFill>
                    <a:schemeClr val="bg1">
                      <a:lumMod val="50000"/>
                    </a:schemeClr>
                  </a:solidFill>
                  <a:latin typeface="UGent Panno Text" panose="02000506040000040003" pitchFamily="2" charset="0"/>
                </a:rPr>
                <a:t>Time</a:t>
              </a:r>
            </a:p>
          </p:txBody>
        </p:sp>
        <p:sp>
          <p:nvSpPr>
            <p:cNvPr id="49" name="TextBox 19">
              <a:extLst>
                <a:ext uri="{FF2B5EF4-FFF2-40B4-BE49-F238E27FC236}">
                  <a16:creationId xmlns:a16="http://schemas.microsoft.com/office/drawing/2014/main" id="{C7ADCEA7-F8A1-A38F-8748-0ABB7FED6255}"/>
                </a:ext>
              </a:extLst>
            </p:cNvPr>
            <p:cNvSpPr txBox="1"/>
            <p:nvPr/>
          </p:nvSpPr>
          <p:spPr>
            <a:xfrm>
              <a:off x="2082591" y="1632368"/>
              <a:ext cx="1067141" cy="519222"/>
            </a:xfrm>
            <a:prstGeom prst="rect">
              <a:avLst/>
            </a:prstGeom>
            <a:no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3413" err="1">
                  <a:solidFill>
                    <a:schemeClr val="bg1">
                      <a:lumMod val="50000"/>
                    </a:schemeClr>
                  </a:solidFill>
                  <a:latin typeface="UGent Panno Text" panose="02000506040000040003" pitchFamily="2" charset="0"/>
                </a:rPr>
                <a:t>Location</a:t>
              </a:r>
              <a:endParaRPr lang="nl-BE" sz="3413">
                <a:solidFill>
                  <a:schemeClr val="bg1">
                    <a:lumMod val="50000"/>
                  </a:schemeClr>
                </a:solidFill>
                <a:latin typeface="UGent Panno Text" panose="02000506040000040003" pitchFamily="2" charset="0"/>
              </a:endParaRPr>
            </a:p>
          </p:txBody>
        </p:sp>
        <p:cxnSp>
          <p:nvCxnSpPr>
            <p:cNvPr id="50" name="Connector: Elbow 49">
              <a:extLst>
                <a:ext uri="{FF2B5EF4-FFF2-40B4-BE49-F238E27FC236}">
                  <a16:creationId xmlns:a16="http://schemas.microsoft.com/office/drawing/2014/main" id="{55B704D7-8F4B-C565-DF9C-FA4654C1E11C}"/>
                </a:ext>
              </a:extLst>
            </p:cNvPr>
            <p:cNvCxnSpPr>
              <a:cxnSpLocks/>
              <a:endCxn id="53" idx="1"/>
            </p:cNvCxnSpPr>
            <p:nvPr/>
          </p:nvCxnSpPr>
          <p:spPr>
            <a:xfrm rot="16200000" flipH="1">
              <a:off x="636876" y="3662255"/>
              <a:ext cx="2688628" cy="417896"/>
            </a:xfrm>
            <a:prstGeom prst="bentConnector2">
              <a:avLst/>
            </a:prstGeom>
            <a:ln w="31750">
              <a:headEnd type="none" w="lg" len="lg"/>
              <a:tailEnd type="none" w="lg" len="lg"/>
            </a:ln>
          </p:spPr>
          <p:style>
            <a:lnRef idx="1">
              <a:schemeClr val="accent1"/>
            </a:lnRef>
            <a:fillRef idx="0">
              <a:schemeClr val="accent1"/>
            </a:fillRef>
            <a:effectRef idx="0">
              <a:schemeClr val="accent1"/>
            </a:effectRef>
            <a:fontRef idx="minor">
              <a:schemeClr val="tx1"/>
            </a:fontRef>
          </p:style>
        </p:cxnSp>
        <p:pic>
          <p:nvPicPr>
            <p:cNvPr id="53" name="Graphic 3" descr="Folder">
              <a:extLst>
                <a:ext uri="{FF2B5EF4-FFF2-40B4-BE49-F238E27FC236}">
                  <a16:creationId xmlns:a16="http://schemas.microsoft.com/office/drawing/2014/main" id="{ED0CE625-CDA1-9BDF-7F09-3E8B6D9FA04A}"/>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190138" y="4825717"/>
              <a:ext cx="835559" cy="779599"/>
            </a:xfrm>
            <a:prstGeom prst="rect">
              <a:avLst/>
            </a:prstGeom>
          </p:spPr>
        </p:pic>
        <p:sp>
          <p:nvSpPr>
            <p:cNvPr id="54" name="TextBox 16">
              <a:extLst>
                <a:ext uri="{FF2B5EF4-FFF2-40B4-BE49-F238E27FC236}">
                  <a16:creationId xmlns:a16="http://schemas.microsoft.com/office/drawing/2014/main" id="{9163D153-0621-EFB8-0D36-65EDC87A5FE4}"/>
                </a:ext>
              </a:extLst>
            </p:cNvPr>
            <p:cNvSpPr txBox="1"/>
            <p:nvPr/>
          </p:nvSpPr>
          <p:spPr>
            <a:xfrm>
              <a:off x="1587295" y="5427825"/>
              <a:ext cx="2022874" cy="407290"/>
            </a:xfrm>
            <a:prstGeom prst="rect">
              <a:avLst/>
            </a:prstGeom>
            <a:noFill/>
          </p:spPr>
          <p:txBody>
            <a:bodyPr wrap="squar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lnSpc>
                  <a:spcPct val="120000"/>
                </a:lnSpc>
              </a:pPr>
              <a:r>
                <a:rPr lang="nl-BE">
                  <a:latin typeface="UGent Panno Text" panose="02000506040000040003" pitchFamily="2" charset="0"/>
                </a:rPr>
                <a:t>02_spain</a:t>
              </a:r>
            </a:p>
          </p:txBody>
        </p:sp>
      </p:grpSp>
      <p:sp>
        <p:nvSpPr>
          <p:cNvPr id="56" name="TextBox 55">
            <a:extLst>
              <a:ext uri="{FF2B5EF4-FFF2-40B4-BE49-F238E27FC236}">
                <a16:creationId xmlns:a16="http://schemas.microsoft.com/office/drawing/2014/main" id="{A54AEDEF-5096-A2C9-18E8-74408B8AFE63}"/>
              </a:ext>
            </a:extLst>
          </p:cNvPr>
          <p:cNvSpPr txBox="1"/>
          <p:nvPr/>
        </p:nvSpPr>
        <p:spPr>
          <a:xfrm>
            <a:off x="3604790" y="1295924"/>
            <a:ext cx="1531188" cy="696024"/>
          </a:xfrm>
          <a:prstGeom prst="rect">
            <a:avLst/>
          </a:prstGeom>
          <a:solidFill>
            <a:schemeClr val="bg2"/>
          </a:solidFill>
        </p:spPr>
        <p:txBody>
          <a:bodyPr wrap="none" rtlCol="0">
            <a:spAutoFit/>
          </a:bodyPr>
          <a:lstStyle/>
          <a:p>
            <a:pPr algn="l">
              <a:lnSpc>
                <a:spcPct val="120000"/>
              </a:lnSpc>
            </a:pPr>
            <a:r>
              <a:rPr lang="nl-NL" sz="3555">
                <a:solidFill>
                  <a:srgbClr val="1E64C8"/>
                </a:solidFill>
                <a:latin typeface="UGent Panno Text" panose="02000506040000040003" pitchFamily="2" charset="0"/>
              </a:rPr>
              <a:t>FOLDERS</a:t>
            </a:r>
            <a:endParaRPr lang="en-US" sz="3555">
              <a:solidFill>
                <a:srgbClr val="1E64C8"/>
              </a:solidFill>
              <a:latin typeface="UGent Panno Text" panose="02000506040000040003" pitchFamily="2" charset="0"/>
            </a:endParaRPr>
          </a:p>
        </p:txBody>
      </p:sp>
      <p:sp>
        <p:nvSpPr>
          <p:cNvPr id="57" name="TextBox 56">
            <a:extLst>
              <a:ext uri="{FF2B5EF4-FFF2-40B4-BE49-F238E27FC236}">
                <a16:creationId xmlns:a16="http://schemas.microsoft.com/office/drawing/2014/main" id="{0BDF3AB0-47FF-1BAC-617E-9BFD9F2FFBCC}"/>
              </a:ext>
            </a:extLst>
          </p:cNvPr>
          <p:cNvSpPr txBox="1"/>
          <p:nvPr/>
        </p:nvSpPr>
        <p:spPr>
          <a:xfrm>
            <a:off x="12624132" y="1172145"/>
            <a:ext cx="1782860" cy="696024"/>
          </a:xfrm>
          <a:prstGeom prst="rect">
            <a:avLst/>
          </a:prstGeom>
          <a:solidFill>
            <a:schemeClr val="bg2"/>
          </a:solidFill>
        </p:spPr>
        <p:txBody>
          <a:bodyPr wrap="none" rtlCol="0">
            <a:spAutoFit/>
          </a:bodyPr>
          <a:lstStyle/>
          <a:p>
            <a:pPr algn="l">
              <a:lnSpc>
                <a:spcPct val="120000"/>
              </a:lnSpc>
            </a:pPr>
            <a:r>
              <a:rPr lang="nl-NL" sz="3555">
                <a:solidFill>
                  <a:srgbClr val="1E64C8"/>
                </a:solidFill>
                <a:latin typeface="UGent Panno Text" panose="02000506040000040003" pitchFamily="2" charset="0"/>
              </a:rPr>
              <a:t>METADATA</a:t>
            </a:r>
            <a:endParaRPr lang="en-US" sz="3555">
              <a:solidFill>
                <a:srgbClr val="1E64C8"/>
              </a:solidFill>
              <a:latin typeface="UGent Panno Text" panose="02000506040000040003" pitchFamily="2" charset="0"/>
            </a:endParaRPr>
          </a:p>
        </p:txBody>
      </p:sp>
      <p:sp>
        <p:nvSpPr>
          <p:cNvPr id="58" name="TextBox 57">
            <a:extLst>
              <a:ext uri="{FF2B5EF4-FFF2-40B4-BE49-F238E27FC236}">
                <a16:creationId xmlns:a16="http://schemas.microsoft.com/office/drawing/2014/main" id="{865E63FE-4813-A3C1-5F0A-EFFC0C644FFC}"/>
              </a:ext>
            </a:extLst>
          </p:cNvPr>
          <p:cNvSpPr txBox="1"/>
          <p:nvPr/>
        </p:nvSpPr>
        <p:spPr>
          <a:xfrm>
            <a:off x="2847345" y="7921914"/>
            <a:ext cx="4270721" cy="1318887"/>
          </a:xfrm>
          <a:prstGeom prst="rect">
            <a:avLst/>
          </a:prstGeom>
          <a:noFill/>
        </p:spPr>
        <p:txBody>
          <a:bodyPr wrap="none" rtlCol="0">
            <a:spAutoFit/>
          </a:bodyPr>
          <a:lstStyle/>
          <a:p>
            <a:pPr algn="l">
              <a:lnSpc>
                <a:spcPct val="120000"/>
              </a:lnSpc>
            </a:pPr>
            <a:r>
              <a:rPr lang="nl-NL" sz="2275" err="1">
                <a:latin typeface="UGent Panno Text" panose="02000506040000040003" pitchFamily="2" charset="0"/>
              </a:rPr>
              <a:t>Examples</a:t>
            </a:r>
            <a:r>
              <a:rPr lang="nl-NL" sz="2275">
                <a:latin typeface="UGent Panno Text" panose="02000506040000040003" pitchFamily="2" charset="0"/>
              </a:rPr>
              <a:t>:</a:t>
            </a:r>
          </a:p>
          <a:p>
            <a:pPr algn="l">
              <a:lnSpc>
                <a:spcPct val="120000"/>
              </a:lnSpc>
            </a:pPr>
            <a:r>
              <a:rPr lang="nl-NL" sz="2275">
                <a:latin typeface="UGent Panno Text" panose="02000506040000040003" pitchFamily="2" charset="0"/>
              </a:rPr>
              <a:t>Folder </a:t>
            </a:r>
            <a:r>
              <a:rPr lang="nl-NL" sz="2275" err="1">
                <a:latin typeface="UGent Panno Text" panose="02000506040000040003" pitchFamily="2" charset="0"/>
              </a:rPr>
              <a:t>hierarchy</a:t>
            </a:r>
            <a:r>
              <a:rPr lang="nl-NL" sz="2275">
                <a:latin typeface="UGent Panno Text" panose="02000506040000040003" pitchFamily="2" charset="0"/>
              </a:rPr>
              <a:t> on project share</a:t>
            </a:r>
          </a:p>
          <a:p>
            <a:pPr algn="l">
              <a:lnSpc>
                <a:spcPct val="120000"/>
              </a:lnSpc>
            </a:pPr>
            <a:r>
              <a:rPr lang="en-US" sz="2275">
                <a:latin typeface="UGent Panno Text" panose="02000506040000040003" pitchFamily="2" charset="0"/>
              </a:rPr>
              <a:t>Library and subfolders on SharePoint site</a:t>
            </a:r>
          </a:p>
        </p:txBody>
      </p:sp>
      <p:sp>
        <p:nvSpPr>
          <p:cNvPr id="59" name="TextBox 58">
            <a:extLst>
              <a:ext uri="{FF2B5EF4-FFF2-40B4-BE49-F238E27FC236}">
                <a16:creationId xmlns:a16="http://schemas.microsoft.com/office/drawing/2014/main" id="{186C3648-FFA8-FBA2-3970-F2A7661E0FD8}"/>
              </a:ext>
            </a:extLst>
          </p:cNvPr>
          <p:cNvSpPr txBox="1"/>
          <p:nvPr/>
        </p:nvSpPr>
        <p:spPr>
          <a:xfrm>
            <a:off x="12566547" y="7892060"/>
            <a:ext cx="2738250" cy="1739002"/>
          </a:xfrm>
          <a:prstGeom prst="rect">
            <a:avLst/>
          </a:prstGeom>
          <a:noFill/>
        </p:spPr>
        <p:txBody>
          <a:bodyPr wrap="none" rtlCol="0">
            <a:spAutoFit/>
          </a:bodyPr>
          <a:lstStyle/>
          <a:p>
            <a:pPr algn="l">
              <a:lnSpc>
                <a:spcPct val="120000"/>
              </a:lnSpc>
            </a:pPr>
            <a:r>
              <a:rPr lang="en-US" sz="2275">
                <a:latin typeface="UGent Panno Text" panose="02000506040000040003" pitchFamily="2" charset="0"/>
              </a:rPr>
              <a:t>Examples:</a:t>
            </a:r>
          </a:p>
          <a:p>
            <a:pPr algn="l">
              <a:lnSpc>
                <a:spcPct val="120000"/>
              </a:lnSpc>
            </a:pPr>
            <a:r>
              <a:rPr lang="en-US" sz="2275">
                <a:latin typeface="UGent Panno Text" panose="02000506040000040003" pitchFamily="2" charset="0"/>
              </a:rPr>
              <a:t>Library on SharePoint site</a:t>
            </a:r>
          </a:p>
          <a:p>
            <a:pPr algn="l">
              <a:lnSpc>
                <a:spcPct val="120000"/>
              </a:lnSpc>
            </a:pPr>
            <a:r>
              <a:rPr lang="en-US" sz="2275">
                <a:latin typeface="UGent Panno Text" panose="02000506040000040003" pitchFamily="2" charset="0"/>
              </a:rPr>
              <a:t>List on SharePoint site</a:t>
            </a:r>
          </a:p>
          <a:p>
            <a:pPr algn="l">
              <a:lnSpc>
                <a:spcPct val="120000"/>
              </a:lnSpc>
            </a:pPr>
            <a:endParaRPr lang="en-US" sz="2275">
              <a:latin typeface="UGent Panno Text" panose="02000506040000040003" pitchFamily="2" charset="0"/>
            </a:endParaRPr>
          </a:p>
        </p:txBody>
      </p:sp>
      <p:sp>
        <p:nvSpPr>
          <p:cNvPr id="3" name="TextBox 19">
            <a:extLst>
              <a:ext uri="{FF2B5EF4-FFF2-40B4-BE49-F238E27FC236}">
                <a16:creationId xmlns:a16="http://schemas.microsoft.com/office/drawing/2014/main" id="{DD6E3FD5-1D7D-4CB4-0BAD-503B480D8514}"/>
              </a:ext>
            </a:extLst>
          </p:cNvPr>
          <p:cNvSpPr txBox="1"/>
          <p:nvPr/>
        </p:nvSpPr>
        <p:spPr>
          <a:xfrm>
            <a:off x="11945653" y="5034261"/>
            <a:ext cx="2004075" cy="575350"/>
          </a:xfrm>
          <a:prstGeom prst="rect">
            <a:avLst/>
          </a:prstGeom>
          <a:solidFill>
            <a:schemeClr val="accent3"/>
          </a:solid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Belgium, Spain</a:t>
            </a:r>
          </a:p>
        </p:txBody>
      </p:sp>
      <p:sp>
        <p:nvSpPr>
          <p:cNvPr id="4" name="TextBox 19">
            <a:extLst>
              <a:ext uri="{FF2B5EF4-FFF2-40B4-BE49-F238E27FC236}">
                <a16:creationId xmlns:a16="http://schemas.microsoft.com/office/drawing/2014/main" id="{77A1A7BA-1CF4-8C2E-DDAC-E119B703C1F2}"/>
              </a:ext>
            </a:extLst>
          </p:cNvPr>
          <p:cNvSpPr txBox="1"/>
          <p:nvPr/>
        </p:nvSpPr>
        <p:spPr>
          <a:xfrm>
            <a:off x="15133243" y="5066838"/>
            <a:ext cx="817853" cy="575350"/>
          </a:xfrm>
          <a:prstGeom prst="rect">
            <a:avLst/>
          </a:prstGeom>
          <a:solidFill>
            <a:schemeClr val="accent3"/>
          </a:solidFill>
        </p:spPr>
        <p:txBody>
          <a:bodyPr wrap="none" rtlCol="0">
            <a:spAutoFit/>
          </a:bodyPr>
          <a:lstStyle>
            <a:defPPr>
              <a:defRPr lang="en-US"/>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l">
              <a:lnSpc>
                <a:spcPct val="120000"/>
              </a:lnSpc>
            </a:pPr>
            <a:r>
              <a:rPr lang="nl-BE" sz="2844">
                <a:latin typeface="UGent Panno Text" panose="02000506040000040003" pitchFamily="2" charset="0"/>
              </a:rPr>
              <a:t>2023</a:t>
            </a:r>
          </a:p>
        </p:txBody>
      </p:sp>
      <p:pic>
        <p:nvPicPr>
          <p:cNvPr id="27" name="Graphic 23" descr="Paper">
            <a:extLst>
              <a:ext uri="{FF2B5EF4-FFF2-40B4-BE49-F238E27FC236}">
                <a16:creationId xmlns:a16="http://schemas.microsoft.com/office/drawing/2014/main" id="{5CCFD9A8-3A0F-5BB9-683A-6CB366B87726}"/>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080291" y="4890609"/>
            <a:ext cx="984793" cy="846717"/>
          </a:xfrm>
          <a:prstGeom prst="rect">
            <a:avLst/>
          </a:prstGeom>
        </p:spPr>
      </p:pic>
    </p:spTree>
    <p:extLst>
      <p:ext uri="{BB962C8B-B14F-4D97-AF65-F5344CB8AC3E}">
        <p14:creationId xmlns:p14="http://schemas.microsoft.com/office/powerpoint/2010/main" val="2141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1EF2B-789D-476F-A0A8-390FB25D94DE}"/>
              </a:ext>
            </a:extLst>
          </p:cNvPr>
          <p:cNvSpPr>
            <a:spLocks noGrp="1"/>
          </p:cNvSpPr>
          <p:nvPr>
            <p:ph type="ctrTitle"/>
          </p:nvPr>
        </p:nvSpPr>
        <p:spPr/>
        <p:txBody>
          <a:bodyPr/>
          <a:lstStyle/>
          <a:p>
            <a:r>
              <a:rPr lang="nl-BE">
                <a:latin typeface="UGent Panno Text" panose="02000506040000040003" pitchFamily="2" charset="0"/>
              </a:rPr>
              <a:t>Version control</a:t>
            </a:r>
          </a:p>
        </p:txBody>
      </p:sp>
      <p:sp>
        <p:nvSpPr>
          <p:cNvPr id="3" name="Slide Number Placeholder 2">
            <a:extLst>
              <a:ext uri="{FF2B5EF4-FFF2-40B4-BE49-F238E27FC236}">
                <a16:creationId xmlns:a16="http://schemas.microsoft.com/office/drawing/2014/main" id="{B771F033-090B-40EA-9BFD-B731455F4337}"/>
              </a:ext>
            </a:extLst>
          </p:cNvPr>
          <p:cNvSpPr>
            <a:spLocks noGrp="1"/>
          </p:cNvSpPr>
          <p:nvPr>
            <p:ph type="sldNum" sz="quarter" idx="4"/>
          </p:nvPr>
        </p:nvSpPr>
        <p:spPr/>
        <p:txBody>
          <a:bodyPr/>
          <a:lstStyle/>
          <a:p>
            <a:fld id="{7AE184E0-0BD4-4705-A12B-9B71DDE63301}" type="slidenum">
              <a:rPr lang="nl-BE" noProof="0" smtClean="0"/>
              <a:pPr/>
              <a:t>31</a:t>
            </a:fld>
            <a:endParaRPr lang="nl-BE" noProof="0"/>
          </a:p>
        </p:txBody>
      </p:sp>
    </p:spTree>
    <p:extLst>
      <p:ext uri="{BB962C8B-B14F-4D97-AF65-F5344CB8AC3E}">
        <p14:creationId xmlns:p14="http://schemas.microsoft.com/office/powerpoint/2010/main" val="333834533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32</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6"/>
            <a:ext cx="14545201" cy="6861293"/>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endParaRPr lang="en-US">
              <a:latin typeface="UGent Panno Text" panose="02000506040000040003" pitchFamily="50" charset="0"/>
            </a:endParaRPr>
          </a:p>
        </p:txBody>
      </p:sp>
      <p:pic>
        <p:nvPicPr>
          <p:cNvPr id="3" name="Picture 2" descr="A close up of text on a black background&#10;&#10;Description generated with high confidence">
            <a:extLst>
              <a:ext uri="{FF2B5EF4-FFF2-40B4-BE49-F238E27FC236}">
                <a16:creationId xmlns:a16="http://schemas.microsoft.com/office/drawing/2014/main" id="{5AB700BB-56E7-4482-B2C6-46B96D48D5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11837" y="567871"/>
            <a:ext cx="6777492" cy="9036656"/>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60428231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AA28B-DE86-489A-BA0F-D42D81EC8BB3}"/>
              </a:ext>
            </a:extLst>
          </p:cNvPr>
          <p:cNvSpPr>
            <a:spLocks noGrp="1"/>
          </p:cNvSpPr>
          <p:nvPr>
            <p:ph type="title"/>
          </p:nvPr>
        </p:nvSpPr>
        <p:spPr/>
        <p:txBody>
          <a:bodyPr/>
          <a:lstStyle/>
          <a:p>
            <a:r>
              <a:rPr lang="en-US" sz="5688" dirty="0">
                <a:latin typeface="UGent Panno Text" panose="02000506040000040003" pitchFamily="2" charset="0"/>
              </a:rPr>
              <a:t>Version</a:t>
            </a:r>
            <a:r>
              <a:rPr lang="en-US" dirty="0">
                <a:latin typeface="UGent Panno Text" panose="02000506040000040003" pitchFamily="2" charset="0"/>
              </a:rPr>
              <a:t> control</a:t>
            </a:r>
            <a:endParaRPr lang="nl-BE" dirty="0">
              <a:latin typeface="UGent Panno Text" panose="02000506040000040003" pitchFamily="2" charset="0"/>
            </a:endParaRPr>
          </a:p>
        </p:txBody>
      </p:sp>
      <p:sp>
        <p:nvSpPr>
          <p:cNvPr id="3" name="Content Placeholder 2">
            <a:extLst>
              <a:ext uri="{FF2B5EF4-FFF2-40B4-BE49-F238E27FC236}">
                <a16:creationId xmlns:a16="http://schemas.microsoft.com/office/drawing/2014/main" id="{7C26EECA-F884-479E-8DCA-0C0D1E78B065}"/>
              </a:ext>
            </a:extLst>
          </p:cNvPr>
          <p:cNvSpPr>
            <a:spLocks noGrp="1"/>
          </p:cNvSpPr>
          <p:nvPr>
            <p:ph idx="1"/>
          </p:nvPr>
        </p:nvSpPr>
        <p:spPr>
          <a:xfrm>
            <a:off x="735799" y="1844789"/>
            <a:ext cx="7833512" cy="3682212"/>
          </a:xfrm>
        </p:spPr>
        <p:txBody>
          <a:bodyPr/>
          <a:lstStyle/>
          <a:p>
            <a:pPr marL="85714" indent="0" algn="ctr">
              <a:buNone/>
            </a:pPr>
            <a:r>
              <a:rPr lang="en-US" sz="3982" dirty="0">
                <a:solidFill>
                  <a:srgbClr val="00B050"/>
                </a:solidFill>
                <a:latin typeface="UGent Panno Text" panose="02000506040000040003" pitchFamily="2" charset="0"/>
              </a:rPr>
              <a:t>WHAT</a:t>
            </a:r>
          </a:p>
          <a:p>
            <a:pPr marL="85714" indent="0" algn="ctr">
              <a:buNone/>
            </a:pPr>
            <a:r>
              <a:rPr lang="en-US" sz="3413" dirty="0">
                <a:latin typeface="UGent Panno Text" panose="02000506040000040003" pitchFamily="2" charset="0"/>
              </a:rPr>
              <a:t>continuously making records of data and files as you work on them</a:t>
            </a:r>
            <a:endParaRPr lang="nl-BE" sz="3413"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4209A553-156B-4083-A84F-47248A739EFC}"/>
              </a:ext>
            </a:extLst>
          </p:cNvPr>
          <p:cNvSpPr>
            <a:spLocks noGrp="1"/>
          </p:cNvSpPr>
          <p:nvPr>
            <p:ph type="sldNum" sz="quarter" idx="12"/>
          </p:nvPr>
        </p:nvSpPr>
        <p:spPr/>
        <p:txBody>
          <a:bodyPr/>
          <a:lstStyle/>
          <a:p>
            <a:fld id="{7AE184E0-0BD4-4705-A12B-9B71DDE63301}" type="slidenum">
              <a:rPr lang="nl-BE" noProof="0" smtClean="0">
                <a:latin typeface="UGent Panno Text" panose="02000506040000040003" pitchFamily="2" charset="0"/>
              </a:rPr>
              <a:t>33</a:t>
            </a:fld>
            <a:endParaRPr lang="nl-BE" noProof="0">
              <a:latin typeface="UGent Panno Text" panose="02000506040000040003" pitchFamily="2" charset="0"/>
            </a:endParaRPr>
          </a:p>
        </p:txBody>
      </p:sp>
      <p:sp>
        <p:nvSpPr>
          <p:cNvPr id="5" name="Content Placeholder 2">
            <a:extLst>
              <a:ext uri="{FF2B5EF4-FFF2-40B4-BE49-F238E27FC236}">
                <a16:creationId xmlns:a16="http://schemas.microsoft.com/office/drawing/2014/main" id="{867DEB59-4E86-4934-8E98-4026D9BF4F00}"/>
              </a:ext>
            </a:extLst>
          </p:cNvPr>
          <p:cNvSpPr txBox="1">
            <a:spLocks/>
          </p:cNvSpPr>
          <p:nvPr/>
        </p:nvSpPr>
        <p:spPr>
          <a:xfrm>
            <a:off x="8558761" y="787526"/>
            <a:ext cx="8304766" cy="8535697"/>
          </a:xfrm>
          <a:prstGeom prst="rect">
            <a:avLst/>
          </a:prstGeom>
        </p:spPr>
        <p:txBody>
          <a:bodyPr vert="horz" lIns="130040" tIns="65020" rIns="130040" bIns="65020" rtlCol="0">
            <a:normAutofit fontScale="55000" lnSpcReduction="20000"/>
          </a:bodyPr>
          <a:lstStyle>
            <a:lvl1pPr marL="377266" indent="-316993"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1pPr>
            <a:lvl2pPr marL="822619" indent="-316993" algn="l" defTabSz="321457" rtl="0" eaLnBrk="1" latinLnBrk="0" hangingPunct="1">
              <a:lnSpc>
                <a:spcPct val="120000"/>
              </a:lnSpc>
              <a:spcBef>
                <a:spcPts val="0"/>
              </a:spcBef>
              <a:buFont typeface="Arial" panose="020B0604020202020204" pitchFamily="34" charset="0"/>
              <a:buChar char="̶"/>
              <a:tabLst/>
              <a:defRPr sz="3375" kern="1200">
                <a:solidFill>
                  <a:schemeClr val="tx1"/>
                </a:solidFill>
                <a:latin typeface="+mn-lt"/>
                <a:ea typeface="+mn-ea"/>
                <a:cs typeface="+mn-cs"/>
              </a:defRPr>
            </a:lvl2pPr>
            <a:lvl3pPr marL="1234485" indent="-316395"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3pPr>
            <a:lvl4pPr marL="1637424" indent="-387312" algn="l" defTabSz="1344987" rtl="0" eaLnBrk="1" latinLnBrk="0" hangingPunct="1">
              <a:lnSpc>
                <a:spcPct val="120000"/>
              </a:lnSpc>
              <a:spcBef>
                <a:spcPts val="0"/>
              </a:spcBef>
              <a:buFont typeface="Arial" panose="020B0604020202020204" pitchFamily="34" charset="0"/>
              <a:buChar char="–"/>
              <a:tabLst/>
              <a:defRPr sz="3375" kern="1200">
                <a:solidFill>
                  <a:schemeClr val="tx1"/>
                </a:solidFill>
                <a:latin typeface="+mn-lt"/>
                <a:ea typeface="+mn-ea"/>
                <a:cs typeface="+mn-cs"/>
              </a:defRPr>
            </a:lvl4pPr>
            <a:lvl5pPr marL="2082776" indent="-311412"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5pPr>
            <a:lvl6pPr marL="2514295"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439"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583"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728"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14" indent="0" algn="ctr">
              <a:buNone/>
            </a:pPr>
            <a:r>
              <a:rPr lang="en-US" sz="8390" dirty="0">
                <a:solidFill>
                  <a:srgbClr val="00B050"/>
                </a:solidFill>
                <a:latin typeface="UGent Panno Text" panose="02000506040000040003" pitchFamily="2" charset="0"/>
              </a:rPr>
              <a:t>         HOW</a:t>
            </a:r>
          </a:p>
          <a:p>
            <a:pPr marL="85714" indent="0" algn="ctr">
              <a:buNone/>
            </a:pPr>
            <a:r>
              <a:rPr lang="en-US" sz="5404" dirty="0">
                <a:solidFill>
                  <a:schemeClr val="tx2"/>
                </a:solidFill>
                <a:latin typeface="UGent Panno Text" panose="02000506040000040003" pitchFamily="2" charset="0"/>
              </a:rPr>
              <a:t>When writing a paper</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Track changes</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Office or </a:t>
            </a:r>
            <a:r>
              <a:rPr lang="en-US" sz="4835" dirty="0" err="1">
                <a:latin typeface="UGent Panno Text" panose="02000506040000040003" pitchFamily="2" charset="0"/>
                <a:sym typeface="Wingdings" panose="05000000000000000000" pitchFamily="2" charset="2"/>
              </a:rPr>
              <a:t>Sharepoint</a:t>
            </a:r>
            <a:r>
              <a:rPr lang="en-US" sz="4835" dirty="0">
                <a:latin typeface="UGent Panno Text" panose="02000506040000040003" pitchFamily="2" charset="0"/>
                <a:sym typeface="Wingdings" panose="05000000000000000000" pitchFamily="2" charset="2"/>
              </a:rPr>
              <a:t> history</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Understandable, systematic file names</a:t>
            </a:r>
          </a:p>
          <a:p>
            <a:pPr marL="85714" indent="0" algn="ctr">
              <a:buNone/>
            </a:pPr>
            <a:endParaRPr lang="en-US" sz="4551" dirty="0">
              <a:latin typeface="UGent Panno Text" panose="02000506040000040003" pitchFamily="2" charset="0"/>
            </a:endParaRPr>
          </a:p>
          <a:p>
            <a:pPr marL="85714" indent="0" algn="ctr">
              <a:buNone/>
            </a:pPr>
            <a:r>
              <a:rPr lang="en-US" sz="5404" dirty="0">
                <a:solidFill>
                  <a:schemeClr val="tx2"/>
                </a:solidFill>
                <a:latin typeface="UGent Panno Text" panose="02000506040000040003" pitchFamily="2" charset="0"/>
              </a:rPr>
              <a:t>When describing methods</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Protocol in word (see above)</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Analysis scripts in git or similar</a:t>
            </a:r>
          </a:p>
          <a:p>
            <a:pPr marL="85714" indent="0" algn="ctr">
              <a:buNone/>
            </a:pPr>
            <a:endParaRPr lang="en-US" sz="4551" dirty="0">
              <a:solidFill>
                <a:schemeClr val="tx2"/>
              </a:solidFill>
              <a:latin typeface="UGent Panno Text" panose="02000506040000040003" pitchFamily="2" charset="0"/>
            </a:endParaRPr>
          </a:p>
          <a:p>
            <a:pPr marL="85714" indent="0" algn="ctr">
              <a:buNone/>
            </a:pPr>
            <a:r>
              <a:rPr lang="en-US" sz="5404" dirty="0">
                <a:solidFill>
                  <a:schemeClr val="tx2"/>
                </a:solidFill>
                <a:latin typeface="UGent Panno Text" panose="02000506040000040003" pitchFamily="2" charset="0"/>
              </a:rPr>
              <a:t>When processing/analyzing data</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Git or similar</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Understandable, systematic file names</a:t>
            </a:r>
          </a:p>
          <a:p>
            <a:pPr marL="85714" indent="0" algn="ctr">
              <a:buNone/>
            </a:pPr>
            <a:endParaRPr lang="en-US" sz="4551" dirty="0">
              <a:solidFill>
                <a:schemeClr val="tx2"/>
              </a:solidFill>
              <a:latin typeface="UGent Panno Text" panose="02000506040000040003" pitchFamily="2" charset="0"/>
            </a:endParaRPr>
          </a:p>
          <a:p>
            <a:pPr marL="85714" indent="0" algn="ctr">
              <a:buNone/>
            </a:pPr>
            <a:r>
              <a:rPr lang="en-US" sz="5404" dirty="0">
                <a:solidFill>
                  <a:schemeClr val="tx2"/>
                </a:solidFill>
                <a:latin typeface="UGent Panno Text" panose="02000506040000040003" pitchFamily="2" charset="0"/>
              </a:rPr>
              <a:t>When publishing/reporting data</a:t>
            </a:r>
          </a:p>
          <a:p>
            <a:pPr lvl="4">
              <a:buFont typeface="Wingdings" panose="05000000000000000000" pitchFamily="2" charset="2"/>
              <a:buChar char="à"/>
            </a:pPr>
            <a:r>
              <a:rPr lang="en-US" sz="4835" dirty="0">
                <a:latin typeface="UGent Panno Text" panose="02000506040000040003" pitchFamily="2" charset="0"/>
                <a:sym typeface="Wingdings" panose="05000000000000000000" pitchFamily="2" charset="2"/>
              </a:rPr>
              <a:t>Unique and persistent identifiers</a:t>
            </a:r>
          </a:p>
          <a:p>
            <a:pPr lvl="4">
              <a:buFont typeface="Wingdings" panose="05000000000000000000" pitchFamily="2" charset="2"/>
              <a:buChar char="à"/>
            </a:pPr>
            <a:r>
              <a:rPr lang="en-US" sz="4835" dirty="0">
                <a:latin typeface="UGent Panno Text" panose="02000506040000040003" pitchFamily="2" charset="0"/>
              </a:rPr>
              <a:t>Documented and stable version numbers in data repository or git</a:t>
            </a:r>
          </a:p>
          <a:p>
            <a:pPr marL="85714" indent="0" algn="ctr">
              <a:buNone/>
            </a:pPr>
            <a:endParaRPr lang="nl-BE" sz="4551" dirty="0">
              <a:latin typeface="UGent Panno Text" panose="02000506040000040003" pitchFamily="2" charset="0"/>
            </a:endParaRPr>
          </a:p>
        </p:txBody>
      </p:sp>
      <p:sp>
        <p:nvSpPr>
          <p:cNvPr id="6" name="Content Placeholder 2">
            <a:extLst>
              <a:ext uri="{FF2B5EF4-FFF2-40B4-BE49-F238E27FC236}">
                <a16:creationId xmlns:a16="http://schemas.microsoft.com/office/drawing/2014/main" id="{35012F1E-8528-4ED5-A12B-CDEC1E0AB47E}"/>
              </a:ext>
            </a:extLst>
          </p:cNvPr>
          <p:cNvSpPr txBox="1">
            <a:spLocks/>
          </p:cNvSpPr>
          <p:nvPr/>
        </p:nvSpPr>
        <p:spPr>
          <a:xfrm>
            <a:off x="887774" y="5144261"/>
            <a:ext cx="7833512" cy="2778008"/>
          </a:xfrm>
          <a:prstGeom prst="rect">
            <a:avLst/>
          </a:prstGeom>
        </p:spPr>
        <p:txBody>
          <a:bodyPr vert="horz" lIns="130040" tIns="65020" rIns="130040" bIns="65020" rtlCol="0">
            <a:normAutofit fontScale="92500" lnSpcReduction="20000"/>
          </a:bodyPr>
          <a:lstStyle>
            <a:lvl1pPr marL="377266" indent="-316993"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1pPr>
            <a:lvl2pPr marL="822619" indent="-316993" algn="l" defTabSz="321457" rtl="0" eaLnBrk="1" latinLnBrk="0" hangingPunct="1">
              <a:lnSpc>
                <a:spcPct val="120000"/>
              </a:lnSpc>
              <a:spcBef>
                <a:spcPts val="0"/>
              </a:spcBef>
              <a:buFont typeface="Arial" panose="020B0604020202020204" pitchFamily="34" charset="0"/>
              <a:buChar char="̶"/>
              <a:tabLst/>
              <a:defRPr sz="3375" kern="1200">
                <a:solidFill>
                  <a:schemeClr val="tx1"/>
                </a:solidFill>
                <a:latin typeface="+mn-lt"/>
                <a:ea typeface="+mn-ea"/>
                <a:cs typeface="+mn-cs"/>
              </a:defRPr>
            </a:lvl2pPr>
            <a:lvl3pPr marL="1234485" indent="-316395"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3pPr>
            <a:lvl4pPr marL="1637424" indent="-387312" algn="l" defTabSz="1344987" rtl="0" eaLnBrk="1" latinLnBrk="0" hangingPunct="1">
              <a:lnSpc>
                <a:spcPct val="120000"/>
              </a:lnSpc>
              <a:spcBef>
                <a:spcPts val="0"/>
              </a:spcBef>
              <a:buFont typeface="Arial" panose="020B0604020202020204" pitchFamily="34" charset="0"/>
              <a:buChar char="–"/>
              <a:tabLst/>
              <a:defRPr sz="3375" kern="1200">
                <a:solidFill>
                  <a:schemeClr val="tx1"/>
                </a:solidFill>
                <a:latin typeface="+mn-lt"/>
                <a:ea typeface="+mn-ea"/>
                <a:cs typeface="+mn-cs"/>
              </a:defRPr>
            </a:lvl4pPr>
            <a:lvl5pPr marL="2082776" indent="-311412" algn="l" defTabSz="321457" rtl="0" eaLnBrk="1" latinLnBrk="0" hangingPunct="1">
              <a:lnSpc>
                <a:spcPct val="120000"/>
              </a:lnSpc>
              <a:spcBef>
                <a:spcPts val="0"/>
              </a:spcBef>
              <a:buFont typeface="Arial" panose="020B0604020202020204" pitchFamily="34" charset="0"/>
              <a:buChar char="̶"/>
              <a:defRPr sz="3375" kern="1200">
                <a:solidFill>
                  <a:schemeClr val="tx1"/>
                </a:solidFill>
                <a:latin typeface="+mn-lt"/>
                <a:ea typeface="+mn-ea"/>
                <a:cs typeface="+mn-cs"/>
              </a:defRPr>
            </a:lvl5pPr>
            <a:lvl6pPr marL="2514295"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439"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583"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728" indent="-228572" algn="l" defTabSz="914289"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85714" indent="0" algn="ctr">
              <a:buNone/>
            </a:pPr>
            <a:r>
              <a:rPr lang="en-US" sz="3982" dirty="0">
                <a:solidFill>
                  <a:srgbClr val="00B050"/>
                </a:solidFill>
                <a:latin typeface="UGent Panno Text" panose="02000506040000040003" pitchFamily="2" charset="0"/>
              </a:rPr>
              <a:t>WHY</a:t>
            </a:r>
            <a:endParaRPr lang="en-US" sz="4800" dirty="0">
              <a:solidFill>
                <a:srgbClr val="00B050"/>
              </a:solidFill>
              <a:latin typeface="UGent Panno Text" panose="02000506040000040003" pitchFamily="2" charset="0"/>
            </a:endParaRPr>
          </a:p>
          <a:p>
            <a:pPr marL="85714" indent="0" algn="ctr">
              <a:buNone/>
            </a:pPr>
            <a:r>
              <a:rPr lang="en-US" sz="3413" dirty="0">
                <a:latin typeface="UGent Panno Text" panose="02000506040000040003" pitchFamily="2" charset="0"/>
              </a:rPr>
              <a:t>to locate correct version</a:t>
            </a:r>
          </a:p>
          <a:p>
            <a:pPr marL="85714" indent="0" algn="ctr">
              <a:buNone/>
            </a:pPr>
            <a:r>
              <a:rPr lang="en-US" sz="3413" dirty="0">
                <a:latin typeface="UGent Panno Text" panose="02000506040000040003" pitchFamily="2" charset="0"/>
              </a:rPr>
              <a:t>to track history (what, when, who, why)</a:t>
            </a:r>
          </a:p>
          <a:p>
            <a:pPr marL="85714" indent="0" algn="ctr">
              <a:buNone/>
            </a:pPr>
            <a:r>
              <a:rPr lang="en-US" sz="3413" dirty="0">
                <a:latin typeface="UGent Panno Text" panose="02000506040000040003" pitchFamily="2" charset="0"/>
              </a:rPr>
              <a:t>to review changes</a:t>
            </a:r>
          </a:p>
          <a:p>
            <a:pPr marL="85714" indent="0" algn="ctr">
              <a:buNone/>
            </a:pPr>
            <a:r>
              <a:rPr lang="en-US" sz="3413" dirty="0">
                <a:latin typeface="UGent Panno Text" panose="02000506040000040003" pitchFamily="2" charset="0"/>
              </a:rPr>
              <a:t>to avoid data loss</a:t>
            </a:r>
            <a:endParaRPr lang="nl-BE" sz="3413" dirty="0">
              <a:latin typeface="UGent Panno Text" panose="02000506040000040003" pitchFamily="2" charset="0"/>
            </a:endParaRPr>
          </a:p>
        </p:txBody>
      </p:sp>
      <p:sp>
        <p:nvSpPr>
          <p:cNvPr id="8" name="Rectangle: Rounded Corners 7">
            <a:extLst>
              <a:ext uri="{FF2B5EF4-FFF2-40B4-BE49-F238E27FC236}">
                <a16:creationId xmlns:a16="http://schemas.microsoft.com/office/drawing/2014/main" id="{282C2FF5-529A-4776-B5A8-126F1A710E56}"/>
              </a:ext>
            </a:extLst>
          </p:cNvPr>
          <p:cNvSpPr/>
          <p:nvPr/>
        </p:nvSpPr>
        <p:spPr>
          <a:xfrm>
            <a:off x="784275" y="4884131"/>
            <a:ext cx="8285189" cy="3281182"/>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0040" tIns="65020" rIns="130040" bIns="65020" numCol="1" spcCol="0" rtlCol="0" fromWordArt="0" anchor="ctr" anchorCtr="0" forceAA="0" compatLnSpc="1">
            <a:prstTxWarp prst="textNoShape">
              <a:avLst/>
            </a:prstTxWarp>
            <a:noAutofit/>
          </a:bodyPr>
          <a:lstStyle/>
          <a:p>
            <a:pPr algn="ctr"/>
            <a:endParaRPr lang="nl-BE" sz="3641">
              <a:solidFill>
                <a:schemeClr val="tx1"/>
              </a:solidFill>
              <a:latin typeface="UGent Panno Text" panose="02000506040000040003" pitchFamily="2" charset="0"/>
            </a:endParaRPr>
          </a:p>
        </p:txBody>
      </p:sp>
      <p:sp>
        <p:nvSpPr>
          <p:cNvPr id="9" name="Rectangle: Rounded Corners 8">
            <a:extLst>
              <a:ext uri="{FF2B5EF4-FFF2-40B4-BE49-F238E27FC236}">
                <a16:creationId xmlns:a16="http://schemas.microsoft.com/office/drawing/2014/main" id="{7967D89D-E12E-42F7-AC4B-273CEC00460E}"/>
              </a:ext>
            </a:extLst>
          </p:cNvPr>
          <p:cNvSpPr/>
          <p:nvPr/>
        </p:nvSpPr>
        <p:spPr>
          <a:xfrm>
            <a:off x="9403593" y="639650"/>
            <a:ext cx="7459935" cy="8535697"/>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0040" tIns="65020" rIns="130040" bIns="65020" numCol="1" spcCol="0" rtlCol="0" fromWordArt="0" anchor="ctr" anchorCtr="0" forceAA="0" compatLnSpc="1">
            <a:prstTxWarp prst="textNoShape">
              <a:avLst/>
            </a:prstTxWarp>
            <a:noAutofit/>
          </a:bodyPr>
          <a:lstStyle/>
          <a:p>
            <a:pPr algn="ctr"/>
            <a:endParaRPr lang="nl-BE" sz="3641">
              <a:solidFill>
                <a:schemeClr val="tx1"/>
              </a:solidFill>
              <a:latin typeface="UGent Panno Text" panose="02000506040000040003" pitchFamily="2" charset="0"/>
            </a:endParaRPr>
          </a:p>
        </p:txBody>
      </p:sp>
      <p:sp>
        <p:nvSpPr>
          <p:cNvPr id="10" name="Rectangle: Rounded Corners 9">
            <a:extLst>
              <a:ext uri="{FF2B5EF4-FFF2-40B4-BE49-F238E27FC236}">
                <a16:creationId xmlns:a16="http://schemas.microsoft.com/office/drawing/2014/main" id="{0D03B458-C928-433F-8545-7FB42E9A7882}"/>
              </a:ext>
            </a:extLst>
          </p:cNvPr>
          <p:cNvSpPr/>
          <p:nvPr/>
        </p:nvSpPr>
        <p:spPr>
          <a:xfrm>
            <a:off x="784275" y="1440126"/>
            <a:ext cx="8285189" cy="3281182"/>
          </a:xfrm>
          <a:prstGeom prst="roundRect">
            <a:avLst/>
          </a:prstGeom>
          <a:noFill/>
          <a:ln w="190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30040" tIns="65020" rIns="130040" bIns="65020" numCol="1" spcCol="0" rtlCol="0" fromWordArt="0" anchor="ctr" anchorCtr="0" forceAA="0" compatLnSpc="1">
            <a:prstTxWarp prst="textNoShape">
              <a:avLst/>
            </a:prstTxWarp>
            <a:noAutofit/>
          </a:bodyPr>
          <a:lstStyle/>
          <a:p>
            <a:pPr algn="ctr"/>
            <a:endParaRPr lang="nl-BE" sz="3641">
              <a:solidFill>
                <a:schemeClr val="tx1"/>
              </a:solidFill>
              <a:latin typeface="UGent Panno Text" panose="02000506040000040003" pitchFamily="2" charset="0"/>
            </a:endParaRPr>
          </a:p>
        </p:txBody>
      </p:sp>
    </p:spTree>
    <p:extLst>
      <p:ext uri="{BB962C8B-B14F-4D97-AF65-F5344CB8AC3E}">
        <p14:creationId xmlns:p14="http://schemas.microsoft.com/office/powerpoint/2010/main" val="3161530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1" end="1"/>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7" end="7"/>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10" end="1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11" end="11"/>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
                                            <p:txEl>
                                              <p:pRg st="12" end="12"/>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4" end="14"/>
                                            </p:txEl>
                                          </p:spTgt>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
                                            <p:txEl>
                                              <p:pRg st="15" end="15"/>
                                            </p:txEl>
                                          </p:spTgt>
                                        </p:tgtEl>
                                        <p:attrNameLst>
                                          <p:attrName>style.visibility</p:attrName>
                                        </p:attrNameLst>
                                      </p:cBhvr>
                                      <p:to>
                                        <p:strVal val="visible"/>
                                      </p:to>
                                    </p:set>
                                  </p:childTnLst>
                                </p:cTn>
                              </p:par>
                              <p:par>
                                <p:cTn id="41" presetID="1" presetClass="entr" presetSubtype="0" fill="hold" nodeType="withEffect">
                                  <p:stCondLst>
                                    <p:cond delay="0"/>
                                  </p:stCondLst>
                                  <p:childTnLst>
                                    <p:set>
                                      <p:cBhvr>
                                        <p:cTn id="42" dur="1" fill="hold">
                                          <p:stCondLst>
                                            <p:cond delay="0"/>
                                          </p:stCondLst>
                                        </p:cTn>
                                        <p:tgtEl>
                                          <p:spTgt spid="5">
                                            <p:txEl>
                                              <p:pRg st="16" end="1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 – strategies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34</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6"/>
            <a:ext cx="14545201" cy="6861293"/>
          </a:xfrm>
          <a:prstGeom prst="rect">
            <a:avLst/>
          </a:prstGeom>
        </p:spPr>
        <p:txBody>
          <a:bodyPr vert="horz" lIns="91440" tIns="45720" rIns="91440" bIns="45720" rtlCol="0">
            <a:normAutofit/>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r>
              <a:rPr lang="en-US" sz="4400" b="1" dirty="0">
                <a:solidFill>
                  <a:schemeClr val="accent1"/>
                </a:solidFill>
                <a:latin typeface="UGent Panno Text" panose="02000506040000040003" pitchFamily="50" charset="0"/>
              </a:rPr>
              <a:t>Manual change log </a:t>
            </a:r>
          </a:p>
          <a:p>
            <a:r>
              <a:rPr lang="en-US" sz="4400" b="1" dirty="0">
                <a:solidFill>
                  <a:schemeClr val="accent1"/>
                </a:solidFill>
                <a:latin typeface="UGent Panno Text" panose="02000506040000040003" pitchFamily="50" charset="0"/>
              </a:rPr>
              <a:t>Automatic change log </a:t>
            </a:r>
            <a:r>
              <a:rPr lang="en-US" sz="4400" dirty="0">
                <a:latin typeface="UGent Panno Text" panose="02000506040000040003" pitchFamily="50" charset="0"/>
              </a:rPr>
              <a:t>(tools, software, platforms)</a:t>
            </a:r>
          </a:p>
        </p:txBody>
      </p:sp>
      <p:pic>
        <p:nvPicPr>
          <p:cNvPr id="2" name="Picture 1">
            <a:extLst>
              <a:ext uri="{FF2B5EF4-FFF2-40B4-BE49-F238E27FC236}">
                <a16:creationId xmlns:a16="http://schemas.microsoft.com/office/drawing/2014/main" id="{5B9E9304-40C9-4C07-82BD-2E5CB55505B8}"/>
              </a:ext>
            </a:extLst>
          </p:cNvPr>
          <p:cNvPicPr>
            <a:picLocks noChangeAspect="1"/>
          </p:cNvPicPr>
          <p:nvPr/>
        </p:nvPicPr>
        <p:blipFill>
          <a:blip r:embed="rId3"/>
          <a:stretch>
            <a:fillRect/>
          </a:stretch>
        </p:blipFill>
        <p:spPr>
          <a:xfrm>
            <a:off x="5221399" y="3764727"/>
            <a:ext cx="6922719" cy="5085623"/>
          </a:xfrm>
          <a:prstGeom prst="rect">
            <a:avLst/>
          </a:prstGeom>
        </p:spPr>
      </p:pic>
    </p:spTree>
    <p:extLst>
      <p:ext uri="{BB962C8B-B14F-4D97-AF65-F5344CB8AC3E}">
        <p14:creationId xmlns:p14="http://schemas.microsoft.com/office/powerpoint/2010/main" val="195578720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Manual change logs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35</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067061"/>
            <a:ext cx="14545201" cy="2685768"/>
          </a:xfrm>
          <a:prstGeom prst="rect">
            <a:avLst/>
          </a:prstGeom>
        </p:spPr>
        <p:txBody>
          <a:bodyPr vert="horz" lIns="91440" tIns="45720" rIns="91440" bIns="45720" rtlCol="0">
            <a:normAutofit fontScale="85000" lnSpcReduction="20000"/>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86400" indent="0">
              <a:buNone/>
            </a:pPr>
            <a:r>
              <a:rPr lang="en-US" sz="4400" dirty="0">
                <a:latin typeface="UGent Panno Text" panose="02000506040000040003" pitchFamily="50" charset="0"/>
              </a:rPr>
              <a:t>Record versions, dates, authors and details of changes to ﬁles</a:t>
            </a:r>
          </a:p>
          <a:p>
            <a:pPr marL="86400" indent="0">
              <a:buNone/>
            </a:pPr>
            <a:endParaRPr lang="en-US" sz="3600" b="1" dirty="0">
              <a:solidFill>
                <a:schemeClr val="accent1"/>
              </a:solidFill>
              <a:latin typeface="UGent Panno Text" panose="02000506040000040003" pitchFamily="50" charset="0"/>
            </a:endParaRPr>
          </a:p>
          <a:p>
            <a:pPr marL="86400" indent="0">
              <a:buNone/>
            </a:pPr>
            <a:r>
              <a:rPr lang="en-US" sz="3600" b="1" dirty="0">
                <a:solidFill>
                  <a:schemeClr val="accent1"/>
                </a:solidFill>
                <a:latin typeface="UGent Panno Text" panose="02000506040000040003" pitchFamily="50" charset="0"/>
              </a:rPr>
              <a:t>1. File name: </a:t>
            </a:r>
            <a:endParaRPr lang="en-US" sz="3600" dirty="0">
              <a:latin typeface="UGent Panno Text" panose="02000506040000040003" pitchFamily="50" charset="0"/>
            </a:endParaRPr>
          </a:p>
          <a:p>
            <a:pPr lvl="1">
              <a:buFontTx/>
              <a:buChar char="-"/>
            </a:pPr>
            <a:r>
              <a:rPr lang="en-US" sz="3600" dirty="0">
                <a:latin typeface="UGent Panno Text" panose="02000506040000040003" pitchFamily="50" charset="0"/>
              </a:rPr>
              <a:t>based on date: HealthTest_20080406.docx</a:t>
            </a:r>
          </a:p>
          <a:p>
            <a:pPr lvl="1">
              <a:buFontTx/>
              <a:buChar char="-"/>
            </a:pPr>
            <a:r>
              <a:rPr lang="en-US" sz="3600" dirty="0">
                <a:latin typeface="UGent Panno Text" panose="02000506040000040003" pitchFamily="50" charset="0"/>
              </a:rPr>
              <a:t>based on version number: HealthTest_v02.docx</a:t>
            </a:r>
          </a:p>
          <a:p>
            <a:pPr lvl="1"/>
            <a:endParaRPr lang="en-US" sz="4400" dirty="0">
              <a:highlight>
                <a:srgbClr val="FFD200"/>
              </a:highlight>
              <a:latin typeface="UGent Panno Text" panose="02000506040000040003" pitchFamily="50" charset="0"/>
            </a:endParaRPr>
          </a:p>
        </p:txBody>
      </p:sp>
      <p:pic>
        <p:nvPicPr>
          <p:cNvPr id="6" name="Picture 5" descr="A screenshot of a cell phone&#10;&#10;Description generated with very high confidence">
            <a:extLst>
              <a:ext uri="{FF2B5EF4-FFF2-40B4-BE49-F238E27FC236}">
                <a16:creationId xmlns:a16="http://schemas.microsoft.com/office/drawing/2014/main" id="{26E1A3AB-81FD-4B3E-9A9E-37EB786DBA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7420" y="4361524"/>
            <a:ext cx="8004040" cy="5017458"/>
          </a:xfrm>
          <a:prstGeom prst="rect">
            <a:avLst/>
          </a:prstGeom>
        </p:spPr>
      </p:pic>
      <p:pic>
        <p:nvPicPr>
          <p:cNvPr id="3" name="Picture 2">
            <a:extLst>
              <a:ext uri="{FF2B5EF4-FFF2-40B4-BE49-F238E27FC236}">
                <a16:creationId xmlns:a16="http://schemas.microsoft.com/office/drawing/2014/main" id="{94C45A17-6655-414F-91F7-630C0B723F9D}"/>
              </a:ext>
            </a:extLst>
          </p:cNvPr>
          <p:cNvPicPr>
            <a:picLocks noChangeAspect="1"/>
          </p:cNvPicPr>
          <p:nvPr/>
        </p:nvPicPr>
        <p:blipFill rotWithShape="1">
          <a:blip r:embed="rId4"/>
          <a:srcRect b="9092"/>
          <a:stretch/>
        </p:blipFill>
        <p:spPr>
          <a:xfrm>
            <a:off x="844537" y="5138410"/>
            <a:ext cx="6690159" cy="2837415"/>
          </a:xfrm>
          <a:prstGeom prst="rect">
            <a:avLst/>
          </a:prstGeom>
        </p:spPr>
      </p:pic>
      <p:sp>
        <p:nvSpPr>
          <p:cNvPr id="4" name="Rectangle 3">
            <a:extLst>
              <a:ext uri="{FF2B5EF4-FFF2-40B4-BE49-F238E27FC236}">
                <a16:creationId xmlns:a16="http://schemas.microsoft.com/office/drawing/2014/main" id="{3BE32E03-E675-45DD-84B0-F9F7A56A333B}"/>
              </a:ext>
            </a:extLst>
          </p:cNvPr>
          <p:cNvSpPr/>
          <p:nvPr/>
        </p:nvSpPr>
        <p:spPr>
          <a:xfrm>
            <a:off x="4189617" y="7975825"/>
            <a:ext cx="3499228" cy="400110"/>
          </a:xfrm>
          <a:prstGeom prst="rect">
            <a:avLst/>
          </a:prstGeom>
        </p:spPr>
        <p:txBody>
          <a:bodyPr wrap="none">
            <a:spAutoFit/>
          </a:bodyPr>
          <a:lstStyle/>
          <a:p>
            <a:pPr algn="r"/>
            <a:r>
              <a:rPr lang="en-US" sz="2000" dirty="0">
                <a:latin typeface="UGent Panno Text" panose="02000506040000040003" pitchFamily="50" charset="0"/>
                <a:hlinkClick r:id="rId5"/>
              </a:rPr>
              <a:t>https://keepachangelog.com/en/1.0.0/</a:t>
            </a:r>
            <a:r>
              <a:rPr lang="en-US" sz="2000" dirty="0">
                <a:latin typeface="UGent Panno Text" panose="02000506040000040003" pitchFamily="50" charset="0"/>
              </a:rPr>
              <a:t> </a:t>
            </a:r>
          </a:p>
        </p:txBody>
      </p:sp>
      <p:sp>
        <p:nvSpPr>
          <p:cNvPr id="5" name="Rectangle 4">
            <a:extLst>
              <a:ext uri="{FF2B5EF4-FFF2-40B4-BE49-F238E27FC236}">
                <a16:creationId xmlns:a16="http://schemas.microsoft.com/office/drawing/2014/main" id="{CB8CCB93-7283-45D4-AACC-BA273E535FA0}"/>
              </a:ext>
            </a:extLst>
          </p:cNvPr>
          <p:cNvSpPr/>
          <p:nvPr/>
        </p:nvSpPr>
        <p:spPr>
          <a:xfrm>
            <a:off x="830118" y="4450990"/>
            <a:ext cx="1784463" cy="523220"/>
          </a:xfrm>
          <a:prstGeom prst="rect">
            <a:avLst/>
          </a:prstGeom>
        </p:spPr>
        <p:txBody>
          <a:bodyPr wrap="none">
            <a:spAutoFit/>
          </a:bodyPr>
          <a:lstStyle/>
          <a:p>
            <a:r>
              <a:rPr lang="en-US" sz="2800" b="1" dirty="0">
                <a:solidFill>
                  <a:schemeClr val="accent1"/>
                </a:solidFill>
                <a:latin typeface="UGent Panno Text" panose="02000506040000040003" pitchFamily="50" charset="0"/>
              </a:rPr>
              <a:t>2. File header</a:t>
            </a:r>
          </a:p>
        </p:txBody>
      </p:sp>
      <p:sp>
        <p:nvSpPr>
          <p:cNvPr id="9" name="Rectangle 8">
            <a:extLst>
              <a:ext uri="{FF2B5EF4-FFF2-40B4-BE49-F238E27FC236}">
                <a16:creationId xmlns:a16="http://schemas.microsoft.com/office/drawing/2014/main" id="{FA757227-B184-4A79-9603-2012F7523481}"/>
              </a:ext>
            </a:extLst>
          </p:cNvPr>
          <p:cNvSpPr/>
          <p:nvPr/>
        </p:nvSpPr>
        <p:spPr>
          <a:xfrm>
            <a:off x="9822364" y="3714140"/>
            <a:ext cx="5123518" cy="523220"/>
          </a:xfrm>
          <a:prstGeom prst="rect">
            <a:avLst/>
          </a:prstGeom>
        </p:spPr>
        <p:txBody>
          <a:bodyPr wrap="none">
            <a:spAutoFit/>
          </a:bodyPr>
          <a:lstStyle/>
          <a:p>
            <a:r>
              <a:rPr lang="en-US" sz="2800" b="1" dirty="0">
                <a:solidFill>
                  <a:schemeClr val="accent1"/>
                </a:solidFill>
                <a:latin typeface="UGent Panno Text" panose="02000506040000040003" pitchFamily="50" charset="0"/>
              </a:rPr>
              <a:t>3. Version control table within document </a:t>
            </a:r>
          </a:p>
        </p:txBody>
      </p:sp>
    </p:spTree>
    <p:extLst>
      <p:ext uri="{BB962C8B-B14F-4D97-AF65-F5344CB8AC3E}">
        <p14:creationId xmlns:p14="http://schemas.microsoft.com/office/powerpoint/2010/main" val="12472304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AUTOMATIC CHANGE LOGS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36</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7"/>
            <a:ext cx="14545201" cy="3915342"/>
          </a:xfrm>
          <a:prstGeom prst="rect">
            <a:avLst/>
          </a:prstGeom>
        </p:spPr>
        <p:txBody>
          <a:bodyPr vert="horz" lIns="91440" tIns="45720" rIns="91440" bIns="45720" rtlCol="0">
            <a:normAutofit fontScale="92500" lnSpcReduction="10000"/>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86400" indent="0">
              <a:buNone/>
            </a:pPr>
            <a:r>
              <a:rPr lang="en-US" dirty="0">
                <a:latin typeface="UGent Panno Text" panose="02000506040000040003" pitchFamily="50" charset="0"/>
              </a:rPr>
              <a:t>Version control can also be maintained through:</a:t>
            </a:r>
          </a:p>
          <a:p>
            <a:pPr lvl="1"/>
            <a:r>
              <a:rPr lang="en-US" dirty="0">
                <a:latin typeface="UGent Panno Text" panose="02000506040000040003" pitchFamily="50" charset="0"/>
              </a:rPr>
              <a:t>Version control functionality within software (e.g. MS Ofﬁce)</a:t>
            </a:r>
          </a:p>
          <a:p>
            <a:pPr lvl="1"/>
            <a:r>
              <a:rPr lang="en-US" dirty="0">
                <a:latin typeface="UGent Panno Text" panose="02000506040000040003" pitchFamily="50" charset="0"/>
              </a:rPr>
              <a:t>Cloud storage with version control (e.g. OneDrive, </a:t>
            </a:r>
            <a:r>
              <a:rPr lang="en-US" dirty="0" err="1">
                <a:latin typeface="UGent Panno Text" panose="02000506040000040003" pitchFamily="50" charset="0"/>
              </a:rPr>
              <a:t>Sharepoint</a:t>
            </a:r>
            <a:r>
              <a:rPr lang="en-US" dirty="0">
                <a:latin typeface="UGent Panno Text" panose="02000506040000040003" pitchFamily="50" charset="0"/>
              </a:rPr>
              <a:t>)</a:t>
            </a:r>
          </a:p>
          <a:p>
            <a:pPr lvl="1"/>
            <a:r>
              <a:rPr lang="en-US" dirty="0">
                <a:latin typeface="UGent Panno Text" panose="02000506040000040003" pitchFamily="50" charset="0"/>
              </a:rPr>
              <a:t>Special purpose platforms (e.g. Open Science Framework)</a:t>
            </a:r>
          </a:p>
          <a:p>
            <a:pPr lvl="1"/>
            <a:r>
              <a:rPr lang="en-US" dirty="0">
                <a:latin typeface="UGent Panno Text" panose="02000506040000040003" pitchFamily="50" charset="0"/>
              </a:rPr>
              <a:t>Version control software (e.g. Git and </a:t>
            </a:r>
            <a:r>
              <a:rPr lang="en-US" dirty="0" err="1">
                <a:latin typeface="UGent Panno Text" panose="02000506040000040003" pitchFamily="50" charset="0"/>
              </a:rPr>
              <a:t>Github</a:t>
            </a:r>
            <a:r>
              <a:rPr lang="en-US" dirty="0">
                <a:latin typeface="UGent Panno Text" panose="02000506040000040003" pitchFamily="50" charset="0"/>
              </a:rPr>
              <a:t>)</a:t>
            </a:r>
          </a:p>
        </p:txBody>
      </p:sp>
      <p:pic>
        <p:nvPicPr>
          <p:cNvPr id="3" name="Picture 2">
            <a:extLst>
              <a:ext uri="{FF2B5EF4-FFF2-40B4-BE49-F238E27FC236}">
                <a16:creationId xmlns:a16="http://schemas.microsoft.com/office/drawing/2014/main" id="{90BC63EB-14B0-43BB-9846-B28F93C25E99}"/>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269183" y="6237509"/>
            <a:ext cx="2182775" cy="911489"/>
          </a:xfrm>
          <a:prstGeom prst="rect">
            <a:avLst/>
          </a:prstGeom>
        </p:spPr>
      </p:pic>
      <p:pic>
        <p:nvPicPr>
          <p:cNvPr id="5" name="Picture 4">
            <a:extLst>
              <a:ext uri="{FF2B5EF4-FFF2-40B4-BE49-F238E27FC236}">
                <a16:creationId xmlns:a16="http://schemas.microsoft.com/office/drawing/2014/main" id="{8C83753A-A78C-4DE5-BB72-8D713A76F403}"/>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27237" y="6072303"/>
            <a:ext cx="3238180" cy="1076695"/>
          </a:xfrm>
          <a:prstGeom prst="rect">
            <a:avLst/>
          </a:prstGeom>
        </p:spPr>
      </p:pic>
      <p:pic>
        <p:nvPicPr>
          <p:cNvPr id="1026" name="Picture 2" descr="SharePoint Connect - CELUM">
            <a:extLst>
              <a:ext uri="{FF2B5EF4-FFF2-40B4-BE49-F238E27FC236}">
                <a16:creationId xmlns:a16="http://schemas.microsoft.com/office/drawing/2014/main" id="{3DE77343-CA10-4A76-94D9-20685FE6114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31237" t="16070" r="31906" b="15562"/>
          <a:stretch/>
        </p:blipFill>
        <p:spPr bwMode="auto">
          <a:xfrm>
            <a:off x="6904540" y="5919981"/>
            <a:ext cx="1667489" cy="154654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Fichier:OneDrive Logo.svg — Wikipédia">
            <a:extLst>
              <a:ext uri="{FF2B5EF4-FFF2-40B4-BE49-F238E27FC236}">
                <a16:creationId xmlns:a16="http://schemas.microsoft.com/office/drawing/2014/main" id="{F90427DD-65C6-493E-B66D-B37F956C05CF}"/>
              </a:ext>
            </a:extLst>
          </p:cNvPr>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9024611" y="6157092"/>
            <a:ext cx="3486808" cy="907115"/>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OSF | GSERM Demo Project">
            <a:extLst>
              <a:ext uri="{FF2B5EF4-FFF2-40B4-BE49-F238E27FC236}">
                <a16:creationId xmlns:a16="http://schemas.microsoft.com/office/drawing/2014/main" id="{D6F54455-E7B7-431B-B2F6-A5DC1720846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964001" y="6070091"/>
            <a:ext cx="2976274" cy="11197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34177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 – best practices</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37</a:t>
            </a:fld>
            <a:endParaRPr lang="en-GB">
              <a:latin typeface="UGent Panno Text" panose="02000506040000040003" pitchFamily="50" charset="0"/>
            </a:endParaRPr>
          </a:p>
        </p:txBody>
      </p:sp>
      <p:sp>
        <p:nvSpPr>
          <p:cNvPr id="10" name="Content Placeholder 2">
            <a:extLst>
              <a:ext uri="{FF2B5EF4-FFF2-40B4-BE49-F238E27FC236}">
                <a16:creationId xmlns:a16="http://schemas.microsoft.com/office/drawing/2014/main" id="{52A45AD2-ED82-4AB4-823C-3DA8D851330F}"/>
              </a:ext>
            </a:extLst>
          </p:cNvPr>
          <p:cNvSpPr txBox="1">
            <a:spLocks/>
          </p:cNvSpPr>
          <p:nvPr/>
        </p:nvSpPr>
        <p:spPr>
          <a:xfrm>
            <a:off x="835826" y="1245476"/>
            <a:ext cx="14545201" cy="7318661"/>
          </a:xfrm>
          <a:prstGeom prst="rect">
            <a:avLst/>
          </a:prstGeom>
        </p:spPr>
        <p:txBody>
          <a:bodyPr vert="horz" lIns="91440" tIns="45720" rIns="91440" bIns="45720" rtlCol="0">
            <a:normAutofit fontScale="92500" lnSpcReduction="20000"/>
          </a:bodyPr>
          <a:lstStyle>
            <a:lvl1pPr marL="5364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70000" indent="-45000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6800"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9200" indent="-550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4pPr>
            <a:lvl5pPr marL="2962800" indent="-4428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r>
              <a:rPr lang="en-US" dirty="0">
                <a:latin typeface="UGent Panno Text" panose="02000506040000040003" pitchFamily="50" charset="0"/>
              </a:rPr>
              <a:t>When possible, use platforms with </a:t>
            </a:r>
            <a:r>
              <a:rPr lang="en-US" b="1" dirty="0">
                <a:solidFill>
                  <a:schemeClr val="accent1"/>
                </a:solidFill>
                <a:latin typeface="UGent Panno Text" panose="02000506040000040003" pitchFamily="50" charset="0"/>
              </a:rPr>
              <a:t>automatic change logs</a:t>
            </a:r>
            <a:endParaRPr lang="en-US" dirty="0">
              <a:latin typeface="UGent Panno Text" panose="02000506040000040003" pitchFamily="50" charset="0"/>
            </a:endParaRPr>
          </a:p>
          <a:p>
            <a:r>
              <a:rPr lang="en-US" dirty="0">
                <a:latin typeface="UGent Panno Text" panose="02000506040000040003" pitchFamily="50" charset="0"/>
              </a:rPr>
              <a:t>If not, </a:t>
            </a:r>
          </a:p>
          <a:p>
            <a:pPr lvl="1"/>
            <a:r>
              <a:rPr lang="en-US" dirty="0">
                <a:latin typeface="UGent Panno Text" panose="02000506040000040003" pitchFamily="50" charset="0"/>
              </a:rPr>
              <a:t>identify </a:t>
            </a:r>
            <a:r>
              <a:rPr lang="en-US" b="1" dirty="0">
                <a:solidFill>
                  <a:schemeClr val="accent1"/>
                </a:solidFill>
                <a:latin typeface="UGent Panno Text" panose="02000506040000040003" pitchFamily="50" charset="0"/>
              </a:rPr>
              <a:t>milestone versions </a:t>
            </a:r>
            <a:r>
              <a:rPr lang="en-US" dirty="0">
                <a:latin typeface="UGent Panno Text" panose="02000506040000040003" pitchFamily="50" charset="0"/>
              </a:rPr>
              <a:t>of ﬁles to keep. </a:t>
            </a:r>
          </a:p>
          <a:p>
            <a:pPr lvl="1"/>
            <a:r>
              <a:rPr lang="en-US" dirty="0">
                <a:latin typeface="UGent Panno Text" panose="02000506040000040003" pitchFamily="50" charset="0"/>
              </a:rPr>
              <a:t>avoid clutter</a:t>
            </a:r>
          </a:p>
          <a:p>
            <a:pPr lvl="1"/>
            <a:r>
              <a:rPr lang="en-US" dirty="0">
                <a:latin typeface="UGent Panno Text" panose="02000506040000040003" pitchFamily="50" charset="0"/>
              </a:rPr>
              <a:t>use a systematic naming convention</a:t>
            </a:r>
          </a:p>
          <a:p>
            <a:pPr lvl="1"/>
            <a:r>
              <a:rPr lang="en-US" dirty="0">
                <a:latin typeface="UGent Panno Text" panose="02000506040000040003" pitchFamily="50" charset="0"/>
              </a:rPr>
              <a:t>record version and status (e.g. raw, cleaned) of a data ﬁle</a:t>
            </a:r>
          </a:p>
          <a:p>
            <a:r>
              <a:rPr lang="en-US" dirty="0">
                <a:latin typeface="UGent Panno Text" panose="02000506040000040003" pitchFamily="50" charset="0"/>
              </a:rPr>
              <a:t>When collaborating</a:t>
            </a:r>
          </a:p>
          <a:p>
            <a:pPr lvl="1"/>
            <a:r>
              <a:rPr lang="en-US" dirty="0">
                <a:latin typeface="UGent Panno Text" panose="02000506040000040003" pitchFamily="50" charset="0"/>
              </a:rPr>
              <a:t>use a common ‘workspace’ (e.g. shared folder) to avoid different versions of ﬁles on different locations</a:t>
            </a:r>
          </a:p>
          <a:p>
            <a:pPr lvl="1"/>
            <a:r>
              <a:rPr lang="en-US" dirty="0">
                <a:latin typeface="UGent Panno Text" panose="02000506040000040003" pitchFamily="50" charset="0"/>
              </a:rPr>
              <a:t>do not use e-mail to share data</a:t>
            </a:r>
          </a:p>
          <a:p>
            <a:pPr lvl="1"/>
            <a:endParaRPr lang="en-US" dirty="0">
              <a:latin typeface="UGent Panno Text" panose="02000506040000040003" pitchFamily="50" charset="0"/>
            </a:endParaRPr>
          </a:p>
        </p:txBody>
      </p:sp>
    </p:spTree>
    <p:extLst>
      <p:ext uri="{BB962C8B-B14F-4D97-AF65-F5344CB8AC3E}">
        <p14:creationId xmlns:p14="http://schemas.microsoft.com/office/powerpoint/2010/main" val="117285919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 in M365 (</a:t>
            </a:r>
            <a:r>
              <a:rPr lang="en-US" dirty="0" err="1">
                <a:latin typeface="UGent Panno Text" panose="02000506040000040003" pitchFamily="50" charset="0"/>
              </a:rPr>
              <a:t>sharepoint</a:t>
            </a:r>
            <a:r>
              <a:rPr lang="en-US" dirty="0">
                <a:latin typeface="UGent Panno Text" panose="02000506040000040003" pitchFamily="50" charset="0"/>
              </a:rPr>
              <a:t> / </a:t>
            </a:r>
            <a:r>
              <a:rPr lang="en-US" dirty="0" err="1">
                <a:latin typeface="UGent Panno Text" panose="02000506040000040003" pitchFamily="50" charset="0"/>
              </a:rPr>
              <a:t>onedrive</a:t>
            </a:r>
            <a:r>
              <a:rPr lang="en-US" dirty="0">
                <a:latin typeface="UGent Panno Text" panose="02000506040000040003" pitchFamily="50" charset="0"/>
              </a:rPr>
              <a:t>)</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38</a:t>
            </a:fld>
            <a:endParaRPr lang="en-GB">
              <a:latin typeface="UGent Panno Text" panose="02000506040000040003" pitchFamily="50" charset="0"/>
            </a:endParaRPr>
          </a:p>
        </p:txBody>
      </p:sp>
      <p:pic>
        <p:nvPicPr>
          <p:cNvPr id="2" name="Picture 1">
            <a:extLst>
              <a:ext uri="{FF2B5EF4-FFF2-40B4-BE49-F238E27FC236}">
                <a16:creationId xmlns:a16="http://schemas.microsoft.com/office/drawing/2014/main" id="{21FFD48F-47DC-42AB-B7C6-14E6B2974144}"/>
              </a:ext>
            </a:extLst>
          </p:cNvPr>
          <p:cNvPicPr>
            <a:picLocks noChangeAspect="1"/>
          </p:cNvPicPr>
          <p:nvPr/>
        </p:nvPicPr>
        <p:blipFill>
          <a:blip r:embed="rId3"/>
          <a:stretch>
            <a:fillRect/>
          </a:stretch>
        </p:blipFill>
        <p:spPr>
          <a:xfrm>
            <a:off x="919883" y="1651721"/>
            <a:ext cx="6566027" cy="686189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3" name="Picture 2">
            <a:extLst>
              <a:ext uri="{FF2B5EF4-FFF2-40B4-BE49-F238E27FC236}">
                <a16:creationId xmlns:a16="http://schemas.microsoft.com/office/drawing/2014/main" id="{37F1D538-B9ED-4570-AB5C-4CE0F22658EC}"/>
              </a:ext>
            </a:extLst>
          </p:cNvPr>
          <p:cNvPicPr>
            <a:picLocks noChangeAspect="1"/>
          </p:cNvPicPr>
          <p:nvPr/>
        </p:nvPicPr>
        <p:blipFill>
          <a:blip r:embed="rId4"/>
          <a:stretch>
            <a:fillRect/>
          </a:stretch>
        </p:blipFill>
        <p:spPr>
          <a:xfrm>
            <a:off x="4360763" y="1059872"/>
            <a:ext cx="12851291" cy="673027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Rectangle 3">
            <a:extLst>
              <a:ext uri="{FF2B5EF4-FFF2-40B4-BE49-F238E27FC236}">
                <a16:creationId xmlns:a16="http://schemas.microsoft.com/office/drawing/2014/main" id="{005A1A4B-BD85-4702-8E07-C88C66E834F3}"/>
              </a:ext>
            </a:extLst>
          </p:cNvPr>
          <p:cNvSpPr/>
          <p:nvPr/>
        </p:nvSpPr>
        <p:spPr>
          <a:xfrm>
            <a:off x="997527" y="4572000"/>
            <a:ext cx="872837" cy="4710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9" name="Rectangle 8">
            <a:extLst>
              <a:ext uri="{FF2B5EF4-FFF2-40B4-BE49-F238E27FC236}">
                <a16:creationId xmlns:a16="http://schemas.microsoft.com/office/drawing/2014/main" id="{66190E26-5EF7-47D9-A5EB-2F5FA62962BF}"/>
              </a:ext>
            </a:extLst>
          </p:cNvPr>
          <p:cNvSpPr/>
          <p:nvPr/>
        </p:nvSpPr>
        <p:spPr>
          <a:xfrm>
            <a:off x="13009418" y="1180666"/>
            <a:ext cx="1122218" cy="4710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TextBox 10">
            <a:extLst>
              <a:ext uri="{FF2B5EF4-FFF2-40B4-BE49-F238E27FC236}">
                <a16:creationId xmlns:a16="http://schemas.microsoft.com/office/drawing/2014/main" id="{D1B2F5DD-8BBE-466E-9CDD-F2CCB8CDBEB2}"/>
              </a:ext>
            </a:extLst>
          </p:cNvPr>
          <p:cNvSpPr txBox="1"/>
          <p:nvPr/>
        </p:nvSpPr>
        <p:spPr>
          <a:xfrm>
            <a:off x="4253344" y="8811491"/>
            <a:ext cx="9670474" cy="446276"/>
          </a:xfrm>
          <a:prstGeom prst="rect">
            <a:avLst/>
          </a:prstGeom>
          <a:noFill/>
        </p:spPr>
        <p:txBody>
          <a:bodyPr wrap="square" rtlCol="0">
            <a:spAutoFit/>
          </a:bodyPr>
          <a:lstStyle/>
          <a:p>
            <a:pPr>
              <a:lnSpc>
                <a:spcPct val="120000"/>
              </a:lnSpc>
            </a:pPr>
            <a:r>
              <a:rPr lang="en-US" sz="2000" b="1" dirty="0">
                <a:latin typeface="UGent Panno Text" panose="02000506040000040003" pitchFamily="50" charset="0"/>
              </a:rPr>
              <a:t>Learn more: </a:t>
            </a:r>
            <a:r>
              <a:rPr lang="en-US" sz="2000" dirty="0">
                <a:latin typeface="UGent Panno Text" panose="02000506040000040003" pitchFamily="50" charset="0"/>
                <a:hlinkClick r:id="rId5"/>
              </a:rPr>
              <a:t>View previous versions of Office files</a:t>
            </a:r>
            <a:endParaRPr lang="en-US" sz="2000" dirty="0">
              <a:latin typeface="UGent Panno Text" panose="02000506040000040003" pitchFamily="50" charset="0"/>
            </a:endParaRPr>
          </a:p>
        </p:txBody>
      </p:sp>
    </p:spTree>
    <p:extLst>
      <p:ext uri="{BB962C8B-B14F-4D97-AF65-F5344CB8AC3E}">
        <p14:creationId xmlns:p14="http://schemas.microsoft.com/office/powerpoint/2010/main" val="13604386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Cloud storage with version control</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39</a:t>
            </a:fld>
            <a:endParaRPr lang="en-GB">
              <a:latin typeface="UGent Panno Text" panose="02000506040000040003" pitchFamily="50" charset="0"/>
            </a:endParaRPr>
          </a:p>
        </p:txBody>
      </p:sp>
      <p:sp>
        <p:nvSpPr>
          <p:cNvPr id="6" name="TextBox 5">
            <a:extLst>
              <a:ext uri="{FF2B5EF4-FFF2-40B4-BE49-F238E27FC236}">
                <a16:creationId xmlns:a16="http://schemas.microsoft.com/office/drawing/2014/main" id="{57F30931-BEB3-4551-8E2A-F72099085309}"/>
              </a:ext>
            </a:extLst>
          </p:cNvPr>
          <p:cNvSpPr txBox="1"/>
          <p:nvPr/>
        </p:nvSpPr>
        <p:spPr>
          <a:xfrm>
            <a:off x="4253344" y="8811491"/>
            <a:ext cx="9670474" cy="446276"/>
          </a:xfrm>
          <a:prstGeom prst="rect">
            <a:avLst/>
          </a:prstGeom>
          <a:noFill/>
        </p:spPr>
        <p:txBody>
          <a:bodyPr wrap="square" rtlCol="0">
            <a:spAutoFit/>
          </a:bodyPr>
          <a:lstStyle/>
          <a:p>
            <a:pPr>
              <a:lnSpc>
                <a:spcPct val="120000"/>
              </a:lnSpc>
            </a:pPr>
            <a:r>
              <a:rPr lang="en-US" sz="2000" b="1" dirty="0">
                <a:latin typeface="UGent Panno Text" panose="02000506040000040003" pitchFamily="50" charset="0"/>
              </a:rPr>
              <a:t>Learn more: </a:t>
            </a:r>
            <a:r>
              <a:rPr lang="en-US" sz="2000" dirty="0">
                <a:latin typeface="UGent Panno Text" panose="02000506040000040003" pitchFamily="50" charset="0"/>
                <a:hlinkClick r:id="rId3"/>
              </a:rPr>
              <a:t>How versioning works in </a:t>
            </a:r>
            <a:r>
              <a:rPr lang="en-US" sz="2000" dirty="0" err="1">
                <a:latin typeface="UGent Panno Text" panose="02000506040000040003" pitchFamily="50" charset="0"/>
                <a:hlinkClick r:id="rId3"/>
              </a:rPr>
              <a:t>Sharepoint</a:t>
            </a:r>
            <a:r>
              <a:rPr lang="en-US" sz="2000" dirty="0">
                <a:latin typeface="UGent Panno Text" panose="02000506040000040003" pitchFamily="50" charset="0"/>
                <a:hlinkClick r:id="rId3"/>
              </a:rPr>
              <a:t> lists and libraries</a:t>
            </a:r>
            <a:endParaRPr lang="en-US" sz="2000" dirty="0">
              <a:latin typeface="UGent Panno Text" panose="02000506040000040003" pitchFamily="50" charset="0"/>
            </a:endParaRPr>
          </a:p>
        </p:txBody>
      </p:sp>
      <p:pic>
        <p:nvPicPr>
          <p:cNvPr id="9" name="Picture 8">
            <a:extLst>
              <a:ext uri="{FF2B5EF4-FFF2-40B4-BE49-F238E27FC236}">
                <a16:creationId xmlns:a16="http://schemas.microsoft.com/office/drawing/2014/main" id="{3F5A19C3-C190-4F2A-9C47-AD68672AAD35}"/>
              </a:ext>
            </a:extLst>
          </p:cNvPr>
          <p:cNvPicPr>
            <a:picLocks noChangeAspect="1"/>
          </p:cNvPicPr>
          <p:nvPr/>
        </p:nvPicPr>
        <p:blipFill rotWithShape="1">
          <a:blip r:embed="rId4"/>
          <a:srcRect t="40625" r="71234" b="10047"/>
          <a:stretch/>
        </p:blipFill>
        <p:spPr>
          <a:xfrm>
            <a:off x="644234" y="3352357"/>
            <a:ext cx="7218219" cy="4641715"/>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pic>
        <p:nvPicPr>
          <p:cNvPr id="11" name="Picture 10">
            <a:extLst>
              <a:ext uri="{FF2B5EF4-FFF2-40B4-BE49-F238E27FC236}">
                <a16:creationId xmlns:a16="http://schemas.microsoft.com/office/drawing/2014/main" id="{FBEF2EFA-D762-4126-A520-5C8FCEC5201B}"/>
              </a:ext>
            </a:extLst>
          </p:cNvPr>
          <p:cNvPicPr>
            <a:picLocks noChangeAspect="1"/>
          </p:cNvPicPr>
          <p:nvPr/>
        </p:nvPicPr>
        <p:blipFill>
          <a:blip r:embed="rId5"/>
          <a:stretch>
            <a:fillRect/>
          </a:stretch>
        </p:blipFill>
        <p:spPr>
          <a:xfrm>
            <a:off x="7691697" y="1918412"/>
            <a:ext cx="8896350" cy="501015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Rectangle 11">
            <a:extLst>
              <a:ext uri="{FF2B5EF4-FFF2-40B4-BE49-F238E27FC236}">
                <a16:creationId xmlns:a16="http://schemas.microsoft.com/office/drawing/2014/main" id="{A1411B29-23B0-455A-9BCA-8A74F6D8E2BF}"/>
              </a:ext>
            </a:extLst>
          </p:cNvPr>
          <p:cNvSpPr/>
          <p:nvPr/>
        </p:nvSpPr>
        <p:spPr>
          <a:xfrm>
            <a:off x="6186054" y="7163444"/>
            <a:ext cx="1676399" cy="471055"/>
          </a:xfrm>
          <a:prstGeom prst="rect">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2" name="TextBox 1">
            <a:extLst>
              <a:ext uri="{FF2B5EF4-FFF2-40B4-BE49-F238E27FC236}">
                <a16:creationId xmlns:a16="http://schemas.microsoft.com/office/drawing/2014/main" id="{301C7400-02B2-4CBB-BF0B-462EDB4C7B36}"/>
              </a:ext>
            </a:extLst>
          </p:cNvPr>
          <p:cNvSpPr txBox="1"/>
          <p:nvPr/>
        </p:nvSpPr>
        <p:spPr>
          <a:xfrm>
            <a:off x="9508406" y="7443069"/>
            <a:ext cx="6082114" cy="511615"/>
          </a:xfrm>
          <a:prstGeom prst="rect">
            <a:avLst/>
          </a:prstGeom>
          <a:noFill/>
        </p:spPr>
        <p:txBody>
          <a:bodyPr wrap="none" rtlCol="0">
            <a:spAutoFit/>
          </a:bodyPr>
          <a:lstStyle/>
          <a:p>
            <a:pPr algn="l">
              <a:lnSpc>
                <a:spcPct val="120000"/>
              </a:lnSpc>
            </a:pPr>
            <a:r>
              <a:rPr lang="en-US" sz="2500" dirty="0"/>
              <a:t>Do not use version numbers in file names</a:t>
            </a:r>
            <a:endParaRPr lang="nl-BE" sz="2500" dirty="0"/>
          </a:p>
        </p:txBody>
      </p:sp>
    </p:spTree>
    <p:extLst>
      <p:ext uri="{BB962C8B-B14F-4D97-AF65-F5344CB8AC3E}">
        <p14:creationId xmlns:p14="http://schemas.microsoft.com/office/powerpoint/2010/main" val="345104012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 in OSF (</a:t>
            </a:r>
            <a:r>
              <a:rPr lang="en-US" dirty="0" err="1">
                <a:latin typeface="UGent Panno Text" panose="02000506040000040003" pitchFamily="50" charset="0"/>
              </a:rPr>
              <a:t>ugent</a:t>
            </a:r>
            <a:r>
              <a:rPr lang="en-US" dirty="0">
                <a:latin typeface="UGent Panno Text" panose="02000506040000040003" pitchFamily="50" charset="0"/>
              </a:rPr>
              <a:t> supported platform)</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40</a:t>
            </a:fld>
            <a:endParaRPr lang="en-GB">
              <a:latin typeface="UGent Panno Text" panose="02000506040000040003" pitchFamily="50" charset="0"/>
            </a:endParaRPr>
          </a:p>
        </p:txBody>
      </p:sp>
      <p:sp>
        <p:nvSpPr>
          <p:cNvPr id="6" name="TextBox 5">
            <a:extLst>
              <a:ext uri="{FF2B5EF4-FFF2-40B4-BE49-F238E27FC236}">
                <a16:creationId xmlns:a16="http://schemas.microsoft.com/office/drawing/2014/main" id="{57F30931-BEB3-4551-8E2A-F72099085309}"/>
              </a:ext>
            </a:extLst>
          </p:cNvPr>
          <p:cNvSpPr txBox="1"/>
          <p:nvPr/>
        </p:nvSpPr>
        <p:spPr>
          <a:xfrm>
            <a:off x="4253344" y="8811491"/>
            <a:ext cx="9670474" cy="446276"/>
          </a:xfrm>
          <a:prstGeom prst="rect">
            <a:avLst/>
          </a:prstGeom>
          <a:noFill/>
        </p:spPr>
        <p:txBody>
          <a:bodyPr wrap="square" rtlCol="0">
            <a:spAutoFit/>
          </a:bodyPr>
          <a:lstStyle/>
          <a:p>
            <a:pPr>
              <a:lnSpc>
                <a:spcPct val="120000"/>
              </a:lnSpc>
            </a:pPr>
            <a:r>
              <a:rPr lang="en-US" sz="2000" b="1" dirty="0">
                <a:latin typeface="UGent Panno Text" panose="02000506040000040003" pitchFamily="50" charset="0"/>
              </a:rPr>
              <a:t>Learn more: </a:t>
            </a:r>
            <a:r>
              <a:rPr lang="en-US" sz="2000" dirty="0">
                <a:latin typeface="UGent Panno Text" panose="02000506040000040003" pitchFamily="50" charset="0"/>
                <a:hlinkClick r:id="rId3"/>
              </a:rPr>
              <a:t>How versioning works in </a:t>
            </a:r>
            <a:r>
              <a:rPr lang="en-US" sz="2000" dirty="0" err="1">
                <a:latin typeface="UGent Panno Text" panose="02000506040000040003" pitchFamily="50" charset="0"/>
                <a:hlinkClick r:id="rId3"/>
              </a:rPr>
              <a:t>Sharepoint</a:t>
            </a:r>
            <a:r>
              <a:rPr lang="en-US" sz="2000" dirty="0">
                <a:latin typeface="UGent Panno Text" panose="02000506040000040003" pitchFamily="50" charset="0"/>
                <a:hlinkClick r:id="rId3"/>
              </a:rPr>
              <a:t> lists and libraries</a:t>
            </a:r>
            <a:endParaRPr lang="en-US" sz="2000" dirty="0">
              <a:latin typeface="UGent Panno Text" panose="02000506040000040003" pitchFamily="50" charset="0"/>
            </a:endParaRPr>
          </a:p>
        </p:txBody>
      </p:sp>
      <p:grpSp>
        <p:nvGrpSpPr>
          <p:cNvPr id="4" name="Group 3">
            <a:extLst>
              <a:ext uri="{FF2B5EF4-FFF2-40B4-BE49-F238E27FC236}">
                <a16:creationId xmlns:a16="http://schemas.microsoft.com/office/drawing/2014/main" id="{6BAE3915-A4FC-4915-9D75-BC2A85362B5F}"/>
              </a:ext>
            </a:extLst>
          </p:cNvPr>
          <p:cNvGrpSpPr/>
          <p:nvPr/>
        </p:nvGrpSpPr>
        <p:grpSpPr>
          <a:xfrm>
            <a:off x="1982049" y="1348917"/>
            <a:ext cx="12312000" cy="6291493"/>
            <a:chOff x="1961267" y="1141098"/>
            <a:chExt cx="12312000" cy="6291493"/>
          </a:xfrm>
        </p:grpSpPr>
        <p:pic>
          <p:nvPicPr>
            <p:cNvPr id="2" name="Picture 1">
              <a:extLst>
                <a:ext uri="{FF2B5EF4-FFF2-40B4-BE49-F238E27FC236}">
                  <a16:creationId xmlns:a16="http://schemas.microsoft.com/office/drawing/2014/main" id="{BDF9E71E-257D-4055-8391-8ABA4F5002EC}"/>
                </a:ext>
              </a:extLst>
            </p:cNvPr>
            <p:cNvPicPr>
              <a:picLocks noChangeAspect="1"/>
            </p:cNvPicPr>
            <p:nvPr/>
          </p:nvPicPr>
          <p:blipFill>
            <a:blip r:embed="rId4"/>
            <a:stretch>
              <a:fillRect/>
            </a:stretch>
          </p:blipFill>
          <p:spPr>
            <a:xfrm>
              <a:off x="1961267" y="2643670"/>
              <a:ext cx="12280867" cy="4788921"/>
            </a:xfrm>
            <a:prstGeom prst="rect">
              <a:avLst/>
            </a:prstGeom>
          </p:spPr>
        </p:pic>
        <p:pic>
          <p:nvPicPr>
            <p:cNvPr id="3" name="Picture 2">
              <a:extLst>
                <a:ext uri="{FF2B5EF4-FFF2-40B4-BE49-F238E27FC236}">
                  <a16:creationId xmlns:a16="http://schemas.microsoft.com/office/drawing/2014/main" id="{2FD6ED1F-91E6-4000-A44E-F4D94E12599A}"/>
                </a:ext>
              </a:extLst>
            </p:cNvPr>
            <p:cNvPicPr>
              <a:picLocks noChangeAspect="1"/>
            </p:cNvPicPr>
            <p:nvPr/>
          </p:nvPicPr>
          <p:blipFill>
            <a:blip r:embed="rId5"/>
            <a:stretch>
              <a:fillRect/>
            </a:stretch>
          </p:blipFill>
          <p:spPr>
            <a:xfrm>
              <a:off x="1961267" y="1141098"/>
              <a:ext cx="12312000" cy="1052308"/>
            </a:xfrm>
            <a:prstGeom prst="rect">
              <a:avLst/>
            </a:prstGeom>
          </p:spPr>
        </p:pic>
      </p:grpSp>
    </p:spTree>
    <p:extLst>
      <p:ext uri="{BB962C8B-B14F-4D97-AF65-F5344CB8AC3E}">
        <p14:creationId xmlns:p14="http://schemas.microsoft.com/office/powerpoint/2010/main" val="373118950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a:latin typeface="UGent Panno Text" panose="02000506040000040003" pitchFamily="50" charset="0"/>
              </a:rPr>
              <a:t>Version control in </a:t>
            </a:r>
            <a:r>
              <a:rPr lang="en-US" dirty="0" err="1">
                <a:latin typeface="UGent Panno Text" panose="02000506040000040003" pitchFamily="50" charset="0"/>
              </a:rPr>
              <a:t>github</a:t>
            </a:r>
            <a:endParaRPr lang="en-GB" dirty="0">
              <a:highlight>
                <a:srgbClr val="FFD200"/>
              </a:highlight>
              <a:latin typeface="UGent Panno Text" panose="02000506040000040003" pitchFamily="50" charset="0"/>
            </a:endParaRPr>
          </a:p>
        </p:txBody>
      </p:sp>
      <p:sp>
        <p:nvSpPr>
          <p:cNvPr id="8" name="Slide Number Placeholder 7"/>
          <p:cNvSpPr>
            <a:spLocks noGrp="1"/>
          </p:cNvSpPr>
          <p:nvPr>
            <p:ph type="sldNum" sz="quarter" idx="12"/>
          </p:nvPr>
        </p:nvSpPr>
        <p:spPr/>
        <p:txBody>
          <a:bodyPr/>
          <a:lstStyle/>
          <a:p>
            <a:fld id="{7AE184E0-0BD4-4705-A12B-9B71DDE63301}" type="slidenum">
              <a:rPr lang="en-GB" smtClean="0">
                <a:latin typeface="UGent Panno Text" panose="02000506040000040003" pitchFamily="50" charset="0"/>
              </a:rPr>
              <a:t>41</a:t>
            </a:fld>
            <a:endParaRPr lang="en-GB">
              <a:latin typeface="UGent Panno Text" panose="02000506040000040003" pitchFamily="50" charset="0"/>
            </a:endParaRPr>
          </a:p>
        </p:txBody>
      </p:sp>
      <p:pic>
        <p:nvPicPr>
          <p:cNvPr id="5" name="Picture 4">
            <a:extLst>
              <a:ext uri="{FF2B5EF4-FFF2-40B4-BE49-F238E27FC236}">
                <a16:creationId xmlns:a16="http://schemas.microsoft.com/office/drawing/2014/main" id="{0DE2D0BA-E563-4BDB-9433-7EA545A4EA3A}"/>
              </a:ext>
            </a:extLst>
          </p:cNvPr>
          <p:cNvPicPr>
            <a:picLocks noChangeAspect="1"/>
          </p:cNvPicPr>
          <p:nvPr/>
        </p:nvPicPr>
        <p:blipFill>
          <a:blip r:embed="rId3"/>
          <a:stretch>
            <a:fillRect/>
          </a:stretch>
        </p:blipFill>
        <p:spPr>
          <a:xfrm>
            <a:off x="186793" y="1173308"/>
            <a:ext cx="16965087" cy="7014728"/>
          </a:xfrm>
          <a:prstGeom prst="rect">
            <a:avLst/>
          </a:prstGeom>
        </p:spPr>
      </p:pic>
      <p:sp>
        <p:nvSpPr>
          <p:cNvPr id="6" name="TextBox 5">
            <a:extLst>
              <a:ext uri="{FF2B5EF4-FFF2-40B4-BE49-F238E27FC236}">
                <a16:creationId xmlns:a16="http://schemas.microsoft.com/office/drawing/2014/main" id="{57F30931-BEB3-4551-8E2A-F72099085309}"/>
              </a:ext>
            </a:extLst>
          </p:cNvPr>
          <p:cNvSpPr txBox="1"/>
          <p:nvPr/>
        </p:nvSpPr>
        <p:spPr>
          <a:xfrm>
            <a:off x="4253344" y="8811491"/>
            <a:ext cx="9670474" cy="446276"/>
          </a:xfrm>
          <a:prstGeom prst="rect">
            <a:avLst/>
          </a:prstGeom>
          <a:noFill/>
        </p:spPr>
        <p:txBody>
          <a:bodyPr wrap="square" rtlCol="0">
            <a:spAutoFit/>
          </a:bodyPr>
          <a:lstStyle/>
          <a:p>
            <a:pPr algn="l">
              <a:lnSpc>
                <a:spcPct val="120000"/>
              </a:lnSpc>
            </a:pPr>
            <a:r>
              <a:rPr lang="en-US" sz="2000" b="1" dirty="0">
                <a:latin typeface="UGent Panno Text" panose="02000506040000040003" pitchFamily="50" charset="0"/>
              </a:rPr>
              <a:t>Learn more: </a:t>
            </a:r>
            <a:r>
              <a:rPr lang="en-US" sz="2000" dirty="0">
                <a:latin typeface="UGent Panno Text" panose="02000506040000040003" pitchFamily="50" charset="0"/>
                <a:hlinkClick r:id="rId4"/>
              </a:rPr>
              <a:t>Version control with Git</a:t>
            </a:r>
            <a:r>
              <a:rPr lang="en-US" sz="2000" dirty="0">
                <a:latin typeface="UGent Panno Text" panose="02000506040000040003" pitchFamily="50" charset="0"/>
              </a:rPr>
              <a:t> (course), by the Software carpentries</a:t>
            </a:r>
          </a:p>
        </p:txBody>
      </p:sp>
    </p:spTree>
    <p:extLst>
      <p:ext uri="{BB962C8B-B14F-4D97-AF65-F5344CB8AC3E}">
        <p14:creationId xmlns:p14="http://schemas.microsoft.com/office/powerpoint/2010/main" val="32353335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CF2166-02D7-4A0B-8A56-3B1ECB29CBCF}"/>
              </a:ext>
            </a:extLst>
          </p:cNvPr>
          <p:cNvSpPr>
            <a:spLocks noGrp="1"/>
          </p:cNvSpPr>
          <p:nvPr>
            <p:ph type="ctrTitle"/>
          </p:nvPr>
        </p:nvSpPr>
        <p:spPr/>
        <p:txBody>
          <a:bodyPr/>
          <a:lstStyle/>
          <a:p>
            <a:r>
              <a:rPr lang="nl-BE" dirty="0">
                <a:latin typeface="UGent Panno Text" panose="02000506040000040003" pitchFamily="2" charset="0"/>
              </a:rPr>
              <a:t>Summary</a:t>
            </a:r>
            <a:endParaRPr lang="en-GB" dirty="0">
              <a:latin typeface="UGent Panno Text" panose="02000506040000040003" pitchFamily="2" charset="0"/>
            </a:endParaRPr>
          </a:p>
        </p:txBody>
      </p:sp>
      <p:sp>
        <p:nvSpPr>
          <p:cNvPr id="3" name="Slide Number Placeholder 2">
            <a:extLst>
              <a:ext uri="{FF2B5EF4-FFF2-40B4-BE49-F238E27FC236}">
                <a16:creationId xmlns:a16="http://schemas.microsoft.com/office/drawing/2014/main" id="{04C4A3E4-44E6-4C0D-BC75-21F3CF695E84}"/>
              </a:ext>
            </a:extLst>
          </p:cNvPr>
          <p:cNvSpPr>
            <a:spLocks noGrp="1"/>
          </p:cNvSpPr>
          <p:nvPr>
            <p:ph type="sldNum" sz="quarter" idx="4"/>
          </p:nvPr>
        </p:nvSpPr>
        <p:spPr/>
        <p:txBody>
          <a:bodyPr/>
          <a:lstStyle/>
          <a:p>
            <a:fld id="{7AE184E0-0BD4-4705-A12B-9B71DDE63301}" type="slidenum">
              <a:rPr lang="nl-BE" noProof="0" smtClean="0"/>
              <a:pPr/>
              <a:t>42</a:t>
            </a:fld>
            <a:endParaRPr lang="nl-BE" noProof="0"/>
          </a:p>
        </p:txBody>
      </p:sp>
    </p:spTree>
    <p:extLst>
      <p:ext uri="{BB962C8B-B14F-4D97-AF65-F5344CB8AC3E}">
        <p14:creationId xmlns:p14="http://schemas.microsoft.com/office/powerpoint/2010/main" val="333767298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891D6-8305-4C22-8A00-71F7359F4BE5}"/>
              </a:ext>
            </a:extLst>
          </p:cNvPr>
          <p:cNvSpPr>
            <a:spLocks noGrp="1"/>
          </p:cNvSpPr>
          <p:nvPr>
            <p:ph type="title"/>
          </p:nvPr>
        </p:nvSpPr>
        <p:spPr/>
        <p:txBody>
          <a:bodyPr/>
          <a:lstStyle/>
          <a:p>
            <a:r>
              <a:rPr lang="nl-BE" dirty="0">
                <a:latin typeface="UGent Panno Text" panose="02000506040000040003" pitchFamily="2" charset="0"/>
              </a:rPr>
              <a:t>Take-home </a:t>
            </a:r>
            <a:r>
              <a:rPr lang="nl-BE" dirty="0" err="1">
                <a:latin typeface="UGent Panno Text" panose="02000506040000040003" pitchFamily="2" charset="0"/>
              </a:rPr>
              <a:t>messages</a:t>
            </a:r>
            <a:endParaRPr lang="nl-BE" dirty="0">
              <a:latin typeface="UGent Panno Text" panose="02000506040000040003" pitchFamily="2" charset="0"/>
            </a:endParaRPr>
          </a:p>
        </p:txBody>
      </p:sp>
      <p:sp>
        <p:nvSpPr>
          <p:cNvPr id="3" name="Content Placeholder 2">
            <a:extLst>
              <a:ext uri="{FF2B5EF4-FFF2-40B4-BE49-F238E27FC236}">
                <a16:creationId xmlns:a16="http://schemas.microsoft.com/office/drawing/2014/main" id="{696C10B2-6E13-4992-B4BD-7EEA6463E1E2}"/>
              </a:ext>
            </a:extLst>
          </p:cNvPr>
          <p:cNvSpPr>
            <a:spLocks noGrp="1"/>
          </p:cNvSpPr>
          <p:nvPr>
            <p:ph idx="1"/>
          </p:nvPr>
        </p:nvSpPr>
        <p:spPr/>
        <p:txBody>
          <a:bodyPr>
            <a:normAutofit/>
          </a:bodyPr>
          <a:lstStyle/>
          <a:p>
            <a:r>
              <a:rPr lang="nl-BE" sz="4400" dirty="0" err="1">
                <a:latin typeface="UGent Panno Text" panose="02000506040000040003" pitchFamily="2" charset="0"/>
              </a:rPr>
              <a:t>Organization</a:t>
            </a:r>
            <a:r>
              <a:rPr lang="nl-BE" sz="4400" dirty="0">
                <a:latin typeface="UGent Panno Text" panose="02000506040000040003" pitchFamily="2" charset="0"/>
              </a:rPr>
              <a:t> is a </a:t>
            </a:r>
            <a:r>
              <a:rPr lang="nl-BE" sz="4400" dirty="0" err="1">
                <a:latin typeface="UGent Panno Text" panose="02000506040000040003" pitchFamily="2" charset="0"/>
              </a:rPr>
              <a:t>key</a:t>
            </a:r>
            <a:r>
              <a:rPr lang="nl-BE" sz="4400" dirty="0">
                <a:latin typeface="UGent Panno Text" panose="02000506040000040003" pitchFamily="2" charset="0"/>
              </a:rPr>
              <a:t> aspect of data management</a:t>
            </a:r>
          </a:p>
          <a:p>
            <a:r>
              <a:rPr lang="nl-BE" sz="4400" dirty="0">
                <a:latin typeface="UGent Panno Text" panose="02000506040000040003" pitchFamily="2" charset="0"/>
              </a:rPr>
              <a:t>Keep </a:t>
            </a:r>
            <a:r>
              <a:rPr lang="nl-BE" sz="4400" dirty="0" err="1">
                <a:latin typeface="UGent Panno Text" panose="02000506040000040003" pitchFamily="2" charset="0"/>
              </a:rPr>
              <a:t>the</a:t>
            </a:r>
            <a:r>
              <a:rPr lang="nl-BE" sz="4400" dirty="0">
                <a:latin typeface="UGent Panno Text" panose="02000506040000040003" pitchFamily="2" charset="0"/>
              </a:rPr>
              <a:t> project on track </a:t>
            </a:r>
            <a:r>
              <a:rPr lang="nl-BE" sz="4400" dirty="0" err="1">
                <a:latin typeface="UGent Panno Text" panose="02000506040000040003" pitchFamily="2" charset="0"/>
              </a:rPr>
              <a:t>by</a:t>
            </a:r>
            <a:r>
              <a:rPr lang="nl-BE" sz="4400" dirty="0">
                <a:latin typeface="UGent Panno Text" panose="02000506040000040003" pitchFamily="2" charset="0"/>
              </a:rPr>
              <a:t> </a:t>
            </a:r>
            <a:r>
              <a:rPr lang="nl-BE" sz="4400" dirty="0" err="1">
                <a:latin typeface="UGent Panno Text" panose="02000506040000040003" pitchFamily="2" charset="0"/>
              </a:rPr>
              <a:t>saving</a:t>
            </a:r>
            <a:r>
              <a:rPr lang="nl-BE" sz="4400" dirty="0">
                <a:latin typeface="UGent Panno Text" panose="02000506040000040003" pitchFamily="2" charset="0"/>
              </a:rPr>
              <a:t> time </a:t>
            </a:r>
            <a:r>
              <a:rPr lang="nl-BE" sz="4400" dirty="0" err="1">
                <a:latin typeface="UGent Panno Text" panose="02000506040000040003" pitchFamily="2" charset="0"/>
              </a:rPr>
              <a:t>and</a:t>
            </a:r>
            <a:r>
              <a:rPr lang="nl-BE" sz="4400" dirty="0">
                <a:latin typeface="UGent Panno Text" panose="02000506040000040003" pitchFamily="2" charset="0"/>
              </a:rPr>
              <a:t> storage, </a:t>
            </a:r>
            <a:r>
              <a:rPr lang="nl-BE" sz="4400" dirty="0" err="1">
                <a:latin typeface="UGent Panno Text" panose="02000506040000040003" pitchFamily="2" charset="0"/>
              </a:rPr>
              <a:t>and</a:t>
            </a:r>
            <a:r>
              <a:rPr lang="nl-BE" sz="4400" dirty="0">
                <a:latin typeface="UGent Panno Text" panose="02000506040000040003" pitchFamily="2" charset="0"/>
              </a:rPr>
              <a:t> </a:t>
            </a:r>
            <a:r>
              <a:rPr lang="nl-BE" sz="4400" dirty="0" err="1">
                <a:latin typeface="UGent Panno Text" panose="02000506040000040003" pitchFamily="2" charset="0"/>
              </a:rPr>
              <a:t>prevent</a:t>
            </a:r>
            <a:r>
              <a:rPr lang="nl-BE" sz="4400" dirty="0">
                <a:latin typeface="UGent Panno Text" panose="02000506040000040003" pitchFamily="2" charset="0"/>
              </a:rPr>
              <a:t> data </a:t>
            </a:r>
            <a:r>
              <a:rPr lang="nl-BE" sz="4400" dirty="0" err="1">
                <a:latin typeface="UGent Panno Text" panose="02000506040000040003" pitchFamily="2" charset="0"/>
              </a:rPr>
              <a:t>loss</a:t>
            </a:r>
            <a:endParaRPr lang="nl-BE" sz="4400" dirty="0">
              <a:latin typeface="UGent Panno Text" panose="02000506040000040003" pitchFamily="2" charset="0"/>
            </a:endParaRPr>
          </a:p>
          <a:p>
            <a:r>
              <a:rPr lang="nl-BE" sz="4400" dirty="0">
                <a:latin typeface="UGent Panno Text" panose="02000506040000040003" pitchFamily="2" charset="0"/>
              </a:rPr>
              <a:t>Plan!</a:t>
            </a:r>
          </a:p>
          <a:p>
            <a:r>
              <a:rPr lang="nl-BE" sz="4400" dirty="0">
                <a:latin typeface="UGent Panno Text" panose="02000506040000040003" pitchFamily="2" charset="0"/>
              </a:rPr>
              <a:t>Create* a folder </a:t>
            </a:r>
            <a:r>
              <a:rPr lang="nl-BE" sz="4400" dirty="0" err="1">
                <a:latin typeface="UGent Panno Text" panose="02000506040000040003" pitchFamily="2" charset="0"/>
              </a:rPr>
              <a:t>structure</a:t>
            </a:r>
            <a:r>
              <a:rPr lang="nl-BE" sz="4400" dirty="0">
                <a:latin typeface="UGent Panno Text" panose="02000506040000040003" pitchFamily="2" charset="0"/>
              </a:rPr>
              <a:t>, </a:t>
            </a:r>
            <a:r>
              <a:rPr lang="nl-BE" sz="4400" dirty="0" err="1">
                <a:latin typeface="UGent Panno Text" panose="02000506040000040003" pitchFamily="2" charset="0"/>
              </a:rPr>
              <a:t>decide</a:t>
            </a:r>
            <a:r>
              <a:rPr lang="nl-BE" sz="4400" dirty="0">
                <a:latin typeface="UGent Panno Text" panose="02000506040000040003" pitchFamily="2" charset="0"/>
              </a:rPr>
              <a:t> on file </a:t>
            </a:r>
            <a:r>
              <a:rPr lang="nl-BE" sz="4400" dirty="0" err="1">
                <a:latin typeface="UGent Panno Text" panose="02000506040000040003" pitchFamily="2" charset="0"/>
              </a:rPr>
              <a:t>naming</a:t>
            </a:r>
            <a:r>
              <a:rPr lang="nl-BE" sz="4400" dirty="0">
                <a:latin typeface="UGent Panno Text" panose="02000506040000040003" pitchFamily="2" charset="0"/>
              </a:rPr>
              <a:t>, </a:t>
            </a:r>
            <a:r>
              <a:rPr lang="nl-BE" sz="4400" dirty="0" err="1">
                <a:latin typeface="UGent Panno Text" panose="02000506040000040003" pitchFamily="2" charset="0"/>
              </a:rPr>
              <a:t>think</a:t>
            </a:r>
            <a:r>
              <a:rPr lang="nl-BE" sz="4400" dirty="0">
                <a:latin typeface="UGent Panno Text" panose="02000506040000040003" pitchFamily="2" charset="0"/>
              </a:rPr>
              <a:t> </a:t>
            </a:r>
            <a:r>
              <a:rPr lang="nl-BE" sz="4400" dirty="0" err="1">
                <a:latin typeface="UGent Panno Text" panose="02000506040000040003" pitchFamily="2" charset="0"/>
              </a:rPr>
              <a:t>about</a:t>
            </a:r>
            <a:r>
              <a:rPr lang="nl-BE" sz="4400" dirty="0">
                <a:latin typeface="UGent Panno Text" panose="02000506040000040003" pitchFamily="2" charset="0"/>
              </a:rPr>
              <a:t> </a:t>
            </a:r>
            <a:r>
              <a:rPr lang="nl-BE" sz="4400" dirty="0" err="1">
                <a:latin typeface="UGent Panno Text" panose="02000506040000040003" pitchFamily="2" charset="0"/>
              </a:rPr>
              <a:t>versioning</a:t>
            </a:r>
            <a:r>
              <a:rPr lang="nl-BE" sz="4400" dirty="0">
                <a:latin typeface="UGent Panno Text" panose="02000506040000040003" pitchFamily="2" charset="0"/>
              </a:rPr>
              <a:t> </a:t>
            </a:r>
            <a:r>
              <a:rPr lang="nl-BE" sz="4400" dirty="0" err="1">
                <a:latin typeface="UGent Panno Text" panose="02000506040000040003" pitchFamily="2" charset="0"/>
              </a:rPr>
              <a:t>and</a:t>
            </a:r>
            <a:r>
              <a:rPr lang="nl-BE" sz="4400" dirty="0">
                <a:latin typeface="UGent Panno Text" panose="02000506040000040003" pitchFamily="2" charset="0"/>
              </a:rPr>
              <a:t> document </a:t>
            </a:r>
            <a:r>
              <a:rPr lang="nl-BE" sz="4400" dirty="0" err="1">
                <a:latin typeface="UGent Panno Text" panose="02000506040000040003" pitchFamily="2" charset="0"/>
              </a:rPr>
              <a:t>what</a:t>
            </a:r>
            <a:r>
              <a:rPr lang="nl-BE" sz="4400" dirty="0">
                <a:latin typeface="UGent Panno Text" panose="02000506040000040003" pitchFamily="2" charset="0"/>
              </a:rPr>
              <a:t> </a:t>
            </a:r>
            <a:r>
              <a:rPr lang="nl-BE" sz="4400" dirty="0" err="1">
                <a:latin typeface="UGent Panno Text" panose="02000506040000040003" pitchFamily="2" charset="0"/>
              </a:rPr>
              <a:t>you</a:t>
            </a:r>
            <a:r>
              <a:rPr lang="nl-BE" sz="4400" dirty="0">
                <a:latin typeface="UGent Panno Text" panose="02000506040000040003" pitchFamily="2" charset="0"/>
              </a:rPr>
              <a:t> </a:t>
            </a:r>
            <a:r>
              <a:rPr lang="nl-BE" sz="4400" dirty="0" err="1">
                <a:latin typeface="UGent Panno Text" panose="02000506040000040003" pitchFamily="2" charset="0"/>
              </a:rPr>
              <a:t>decided</a:t>
            </a:r>
            <a:endParaRPr lang="nl-BE" sz="4400" dirty="0">
              <a:latin typeface="UGent Panno Text" panose="02000506040000040003" pitchFamily="2" charset="0"/>
            </a:endParaRPr>
          </a:p>
          <a:p>
            <a:endParaRPr lang="nl-BE" sz="4400" dirty="0">
              <a:latin typeface="UGent Panno Text" panose="02000506040000040003" pitchFamily="2" charset="0"/>
            </a:endParaRPr>
          </a:p>
          <a:p>
            <a:endParaRPr lang="nl-BE" sz="4400" dirty="0">
              <a:latin typeface="UGent Panno Text" panose="02000506040000040003" pitchFamily="2" charset="0"/>
            </a:endParaRPr>
          </a:p>
          <a:p>
            <a:pPr marL="85725" indent="0">
              <a:buNone/>
            </a:pPr>
            <a:r>
              <a:rPr lang="nl-BE" sz="4400" dirty="0">
                <a:latin typeface="UGent Panno Text" panose="02000506040000040003" pitchFamily="2" charset="0"/>
              </a:rPr>
              <a:t>*or </a:t>
            </a:r>
            <a:r>
              <a:rPr lang="nl-BE" sz="4400" dirty="0" err="1">
                <a:latin typeface="UGent Panno Text" panose="02000506040000040003" pitchFamily="2" charset="0"/>
              </a:rPr>
              <a:t>apply</a:t>
            </a:r>
            <a:r>
              <a:rPr lang="nl-BE" sz="4400" dirty="0">
                <a:latin typeface="UGent Panno Text" panose="02000506040000040003" pitchFamily="2" charset="0"/>
              </a:rPr>
              <a:t> </a:t>
            </a:r>
            <a:r>
              <a:rPr lang="nl-BE" sz="4400" dirty="0" err="1">
                <a:latin typeface="UGent Panno Text" panose="02000506040000040003" pitchFamily="2" charset="0"/>
              </a:rPr>
              <a:t>an</a:t>
            </a:r>
            <a:r>
              <a:rPr lang="nl-BE" sz="4400" dirty="0">
                <a:latin typeface="UGent Panno Text" panose="02000506040000040003" pitchFamily="2" charset="0"/>
              </a:rPr>
              <a:t> approach </a:t>
            </a:r>
            <a:r>
              <a:rPr lang="nl-BE" sz="4400" dirty="0" err="1">
                <a:latin typeface="UGent Panno Text" panose="02000506040000040003" pitchFamily="2" charset="0"/>
              </a:rPr>
              <a:t>decided</a:t>
            </a:r>
            <a:r>
              <a:rPr lang="nl-BE" sz="4400" dirty="0">
                <a:latin typeface="UGent Panno Text" panose="02000506040000040003" pitchFamily="2" charset="0"/>
              </a:rPr>
              <a:t> </a:t>
            </a:r>
            <a:r>
              <a:rPr lang="nl-BE" sz="4400" dirty="0" err="1">
                <a:latin typeface="UGent Panno Text" panose="02000506040000040003" pitchFamily="2" charset="0"/>
              </a:rPr>
              <a:t>by</a:t>
            </a:r>
            <a:r>
              <a:rPr lang="nl-BE" sz="4400" dirty="0">
                <a:latin typeface="UGent Panno Text" panose="02000506040000040003" pitchFamily="2" charset="0"/>
              </a:rPr>
              <a:t> </a:t>
            </a:r>
            <a:r>
              <a:rPr lang="nl-BE" sz="4400" dirty="0" err="1">
                <a:latin typeface="UGent Panno Text" panose="02000506040000040003" pitchFamily="2" charset="0"/>
              </a:rPr>
              <a:t>your</a:t>
            </a:r>
            <a:r>
              <a:rPr lang="nl-BE" sz="4400" dirty="0">
                <a:latin typeface="UGent Panno Text" panose="02000506040000040003" pitchFamily="2" charset="0"/>
              </a:rPr>
              <a:t> </a:t>
            </a:r>
            <a:r>
              <a:rPr lang="nl-BE" sz="4400" dirty="0" err="1">
                <a:latin typeface="UGent Panno Text" panose="02000506040000040003" pitchFamily="2" charset="0"/>
              </a:rPr>
              <a:t>department</a:t>
            </a:r>
            <a:endParaRPr lang="nl-BE" sz="4400"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33382753-F2AD-41A2-BD2F-59E55E2FB573}"/>
              </a:ext>
            </a:extLst>
          </p:cNvPr>
          <p:cNvSpPr>
            <a:spLocks noGrp="1"/>
          </p:cNvSpPr>
          <p:nvPr>
            <p:ph type="sldNum" sz="quarter" idx="12"/>
          </p:nvPr>
        </p:nvSpPr>
        <p:spPr/>
        <p:txBody>
          <a:bodyPr/>
          <a:lstStyle/>
          <a:p>
            <a:fld id="{7AE184E0-0BD4-4705-A12B-9B71DDE63301}" type="slidenum">
              <a:rPr lang="nl-BE" noProof="0" smtClean="0"/>
              <a:t>43</a:t>
            </a:fld>
            <a:endParaRPr lang="nl-BE" noProof="0"/>
          </a:p>
        </p:txBody>
      </p:sp>
    </p:spTree>
    <p:extLst>
      <p:ext uri="{BB962C8B-B14F-4D97-AF65-F5344CB8AC3E}">
        <p14:creationId xmlns:p14="http://schemas.microsoft.com/office/powerpoint/2010/main" val="4747595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68D53B-40D7-EA50-C9CC-760BA53CAABB}"/>
              </a:ext>
            </a:extLst>
          </p:cNvPr>
          <p:cNvSpPr>
            <a:spLocks noGrp="1"/>
          </p:cNvSpPr>
          <p:nvPr>
            <p:ph type="ctrTitle"/>
          </p:nvPr>
        </p:nvSpPr>
        <p:spPr/>
        <p:txBody>
          <a:bodyPr/>
          <a:lstStyle/>
          <a:p>
            <a:r>
              <a:rPr lang="en-US" dirty="0">
                <a:uFill>
                  <a:solidFill>
                    <a:prstClr val="white"/>
                  </a:solidFill>
                </a:uFill>
                <a:latin typeface="UGent Panno Text"/>
                <a:cs typeface="Arial"/>
              </a:rPr>
              <a:t>EXERCISE</a:t>
            </a:r>
            <a:endParaRPr lang="en-US" dirty="0">
              <a:uFill>
                <a:solidFill>
                  <a:prstClr val="white"/>
                </a:solidFill>
              </a:uFill>
              <a:latin typeface="UGent Panno Text"/>
            </a:endParaRPr>
          </a:p>
        </p:txBody>
      </p:sp>
      <p:sp>
        <p:nvSpPr>
          <p:cNvPr id="3" name="Slide Number Placeholder 2">
            <a:extLst>
              <a:ext uri="{FF2B5EF4-FFF2-40B4-BE49-F238E27FC236}">
                <a16:creationId xmlns:a16="http://schemas.microsoft.com/office/drawing/2014/main" id="{42885468-610D-485F-4990-37F925BCEE8E}"/>
              </a:ext>
            </a:extLst>
          </p:cNvPr>
          <p:cNvSpPr>
            <a:spLocks noGrp="1"/>
          </p:cNvSpPr>
          <p:nvPr>
            <p:ph type="sldNum" sz="quarter" idx="4"/>
          </p:nvPr>
        </p:nvSpPr>
        <p:spPr/>
        <p:txBody>
          <a:bodyPr/>
          <a:lstStyle/>
          <a:p>
            <a:fld id="{7AE184E0-0BD4-4705-A12B-9B71DDE63301}" type="slidenum">
              <a:rPr lang="nl-BE" noProof="0" smtClean="0"/>
              <a:pPr/>
              <a:t>44</a:t>
            </a:fld>
            <a:endParaRPr lang="nl-BE" noProof="0"/>
          </a:p>
        </p:txBody>
      </p:sp>
    </p:spTree>
    <p:extLst>
      <p:ext uri="{BB962C8B-B14F-4D97-AF65-F5344CB8AC3E}">
        <p14:creationId xmlns:p14="http://schemas.microsoft.com/office/powerpoint/2010/main" val="39040814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81773A-8C7A-48DE-48FC-7C2295187166}"/>
              </a:ext>
            </a:extLst>
          </p:cNvPr>
          <p:cNvSpPr>
            <a:spLocks noGrp="1"/>
          </p:cNvSpPr>
          <p:nvPr>
            <p:ph type="title"/>
          </p:nvPr>
        </p:nvSpPr>
        <p:spPr/>
        <p:txBody>
          <a:bodyPr/>
          <a:lstStyle/>
          <a:p>
            <a:r>
              <a:rPr lang="en-US" dirty="0">
                <a:latin typeface="UGent Panno Text"/>
                <a:cs typeface="Arial"/>
              </a:rPr>
              <a:t>Organize sewage sludge files in folders</a:t>
            </a:r>
            <a:endParaRPr lang="en-US" dirty="0">
              <a:latin typeface="UGent Panno Text"/>
            </a:endParaRPr>
          </a:p>
        </p:txBody>
      </p:sp>
      <p:pic>
        <p:nvPicPr>
          <p:cNvPr id="5" name="Picture 5" descr="Graphical user interface, application&#10;&#10;Description automatically generated">
            <a:extLst>
              <a:ext uri="{FF2B5EF4-FFF2-40B4-BE49-F238E27FC236}">
                <a16:creationId xmlns:a16="http://schemas.microsoft.com/office/drawing/2014/main" id="{3A13A5A0-46F1-AC82-5749-9D9B93BAC5E5}"/>
              </a:ext>
            </a:extLst>
          </p:cNvPr>
          <p:cNvPicPr>
            <a:picLocks noGrp="1" noChangeAspect="1"/>
          </p:cNvPicPr>
          <p:nvPr>
            <p:ph idx="1"/>
          </p:nvPr>
        </p:nvPicPr>
        <p:blipFill>
          <a:blip r:embed="rId2"/>
          <a:stretch>
            <a:fillRect/>
          </a:stretch>
        </p:blipFill>
        <p:spPr>
          <a:xfrm>
            <a:off x="4042282" y="1004333"/>
            <a:ext cx="4761734" cy="6680699"/>
          </a:xfrm>
        </p:spPr>
      </p:pic>
      <p:sp>
        <p:nvSpPr>
          <p:cNvPr id="4" name="Slide Number Placeholder 3">
            <a:extLst>
              <a:ext uri="{FF2B5EF4-FFF2-40B4-BE49-F238E27FC236}">
                <a16:creationId xmlns:a16="http://schemas.microsoft.com/office/drawing/2014/main" id="{7969713A-5179-E90D-E23B-7AF79FEA982B}"/>
              </a:ext>
            </a:extLst>
          </p:cNvPr>
          <p:cNvSpPr>
            <a:spLocks noGrp="1"/>
          </p:cNvSpPr>
          <p:nvPr>
            <p:ph type="sldNum" sz="quarter" idx="12"/>
          </p:nvPr>
        </p:nvSpPr>
        <p:spPr/>
        <p:txBody>
          <a:bodyPr/>
          <a:lstStyle/>
          <a:p>
            <a:fld id="{7AE184E0-0BD4-4705-A12B-9B71DDE63301}" type="slidenum">
              <a:rPr lang="nl-BE" noProof="0" smtClean="0"/>
              <a:t>45</a:t>
            </a:fld>
            <a:endParaRPr lang="nl-BE" noProof="0"/>
          </a:p>
        </p:txBody>
      </p:sp>
      <p:sp>
        <p:nvSpPr>
          <p:cNvPr id="6" name="TextBox 5">
            <a:extLst>
              <a:ext uri="{FF2B5EF4-FFF2-40B4-BE49-F238E27FC236}">
                <a16:creationId xmlns:a16="http://schemas.microsoft.com/office/drawing/2014/main" id="{5082C022-508B-31CC-E06D-F2554CBCB1FB}"/>
              </a:ext>
            </a:extLst>
          </p:cNvPr>
          <p:cNvSpPr txBox="1"/>
          <p:nvPr/>
        </p:nvSpPr>
        <p:spPr>
          <a:xfrm>
            <a:off x="9635525" y="1978492"/>
            <a:ext cx="7297538" cy="4179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514350" indent="-514350">
              <a:lnSpc>
                <a:spcPct val="120000"/>
              </a:lnSpc>
              <a:buAutoNum type="arabicPeriod"/>
            </a:pPr>
            <a:r>
              <a:rPr lang="en-US" sz="3200" dirty="0">
                <a:latin typeface="UGent Panno Text"/>
                <a:cs typeface="Arial"/>
              </a:rPr>
              <a:t>Download files </a:t>
            </a:r>
            <a:endParaRPr lang="en-US" dirty="0">
              <a:latin typeface="Arial"/>
              <a:cs typeface="Arial"/>
            </a:endParaRPr>
          </a:p>
          <a:p>
            <a:pPr marL="514350" indent="-514350">
              <a:lnSpc>
                <a:spcPct val="120000"/>
              </a:lnSpc>
              <a:buAutoNum type="arabicPeriod"/>
            </a:pPr>
            <a:r>
              <a:rPr lang="en-US" sz="3200" dirty="0">
                <a:latin typeface="UGent Panno Text"/>
                <a:cs typeface="Arial"/>
              </a:rPr>
              <a:t>Create a folder with your name: SURNAME_NAME within the corresponding library in </a:t>
            </a:r>
            <a:r>
              <a:rPr lang="en-US" sz="3200">
                <a:latin typeface="UGent Panno Text"/>
                <a:cs typeface="Arial"/>
              </a:rPr>
              <a:t>the OneDrive </a:t>
            </a:r>
            <a:r>
              <a:rPr lang="en-US" sz="3200" dirty="0">
                <a:latin typeface="UGent Panno Text"/>
                <a:cs typeface="Arial"/>
              </a:rPr>
              <a:t>site</a:t>
            </a:r>
            <a:endParaRPr lang="en-US" sz="2550" dirty="0">
              <a:cs typeface="Arial"/>
            </a:endParaRPr>
          </a:p>
          <a:p>
            <a:pPr marL="514350" indent="-514350">
              <a:lnSpc>
                <a:spcPct val="120000"/>
              </a:lnSpc>
              <a:buAutoNum type="arabicPeriod"/>
            </a:pPr>
            <a:r>
              <a:rPr lang="en-US" sz="3200" dirty="0">
                <a:latin typeface="UGent Panno Text"/>
                <a:cs typeface="Arial"/>
              </a:rPr>
              <a:t>Revise file names and improve if necessary</a:t>
            </a:r>
            <a:endParaRPr lang="en-US" dirty="0">
              <a:cs typeface="Arial"/>
            </a:endParaRPr>
          </a:p>
          <a:p>
            <a:pPr marL="514350" indent="-514350">
              <a:lnSpc>
                <a:spcPct val="120000"/>
              </a:lnSpc>
              <a:buAutoNum type="arabicPeriod"/>
            </a:pPr>
            <a:r>
              <a:rPr lang="en-US" sz="3200" dirty="0">
                <a:latin typeface="UGent Panno Text"/>
                <a:cs typeface="Arial"/>
              </a:rPr>
              <a:t>Develop folder hierarchy and organize files in folders</a:t>
            </a:r>
            <a:endParaRPr lang="en-US" dirty="0">
              <a:cs typeface="Arial"/>
            </a:endParaRPr>
          </a:p>
        </p:txBody>
      </p:sp>
      <p:sp>
        <p:nvSpPr>
          <p:cNvPr id="7" name="TextBox 6">
            <a:extLst>
              <a:ext uri="{FF2B5EF4-FFF2-40B4-BE49-F238E27FC236}">
                <a16:creationId xmlns:a16="http://schemas.microsoft.com/office/drawing/2014/main" id="{4164E514-5B58-ED19-4AD4-98A141A3A884}"/>
              </a:ext>
            </a:extLst>
          </p:cNvPr>
          <p:cNvSpPr txBox="1"/>
          <p:nvPr/>
        </p:nvSpPr>
        <p:spPr>
          <a:xfrm>
            <a:off x="3154545" y="8185303"/>
            <a:ext cx="10129749" cy="51687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120000"/>
              </a:lnSpc>
              <a:buFont typeface="Arial"/>
              <a:buChar char="•"/>
            </a:pPr>
            <a:r>
              <a:rPr lang="en-US" sz="2500" dirty="0">
                <a:latin typeface="UGent Panno Text"/>
                <a:cs typeface="Arial"/>
              </a:rPr>
              <a:t>Files can be found via the </a:t>
            </a:r>
            <a:r>
              <a:rPr lang="en-US" sz="2500" dirty="0" err="1">
                <a:latin typeface="UGent Panno Text"/>
                <a:cs typeface="Arial"/>
              </a:rPr>
              <a:t>Filesender</a:t>
            </a:r>
            <a:r>
              <a:rPr lang="en-US" sz="2500" dirty="0">
                <a:latin typeface="UGent Panno Text"/>
                <a:cs typeface="Arial"/>
              </a:rPr>
              <a:t> link</a:t>
            </a:r>
          </a:p>
        </p:txBody>
      </p:sp>
    </p:spTree>
    <p:extLst>
      <p:ext uri="{BB962C8B-B14F-4D97-AF65-F5344CB8AC3E}">
        <p14:creationId xmlns:p14="http://schemas.microsoft.com/office/powerpoint/2010/main" val="21100585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507A3A-0140-6691-4425-DD5FBB1B839B}"/>
              </a:ext>
            </a:extLst>
          </p:cNvPr>
          <p:cNvSpPr>
            <a:spLocks noGrp="1"/>
          </p:cNvSpPr>
          <p:nvPr>
            <p:ph type="ctrTitle"/>
          </p:nvPr>
        </p:nvSpPr>
        <p:spPr/>
        <p:txBody>
          <a:bodyPr/>
          <a:lstStyle/>
          <a:p>
            <a:r>
              <a:rPr lang="en-US" dirty="0">
                <a:uFill>
                  <a:solidFill>
                    <a:prstClr val="white"/>
                  </a:solidFill>
                </a:uFill>
                <a:latin typeface="UGent Panno Text"/>
                <a:cs typeface="Arial"/>
              </a:rPr>
              <a:t>TIPS FOR EXERCISE</a:t>
            </a:r>
            <a:endParaRPr lang="en-US" dirty="0"/>
          </a:p>
        </p:txBody>
      </p:sp>
      <p:sp>
        <p:nvSpPr>
          <p:cNvPr id="3" name="Slide Number Placeholder 2">
            <a:extLst>
              <a:ext uri="{FF2B5EF4-FFF2-40B4-BE49-F238E27FC236}">
                <a16:creationId xmlns:a16="http://schemas.microsoft.com/office/drawing/2014/main" id="{E8CE59FC-DDBD-881A-CF5E-9E2F3DE1460C}"/>
              </a:ext>
            </a:extLst>
          </p:cNvPr>
          <p:cNvSpPr>
            <a:spLocks noGrp="1"/>
          </p:cNvSpPr>
          <p:nvPr>
            <p:ph type="sldNum" sz="quarter" idx="4"/>
          </p:nvPr>
        </p:nvSpPr>
        <p:spPr/>
        <p:txBody>
          <a:bodyPr/>
          <a:lstStyle/>
          <a:p>
            <a:fld id="{7AE184E0-0BD4-4705-A12B-9B71DDE63301}" type="slidenum">
              <a:rPr lang="nl-BE" noProof="0" smtClean="0"/>
              <a:pPr/>
              <a:t>46</a:t>
            </a:fld>
            <a:endParaRPr lang="nl-BE" noProof="0"/>
          </a:p>
        </p:txBody>
      </p:sp>
    </p:spTree>
    <p:extLst>
      <p:ext uri="{BB962C8B-B14F-4D97-AF65-F5344CB8AC3E}">
        <p14:creationId xmlns:p14="http://schemas.microsoft.com/office/powerpoint/2010/main" val="418171833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AF0D9BD-8DC7-4461-AD4F-0E5895445B5C}"/>
              </a:ext>
            </a:extLst>
          </p:cNvPr>
          <p:cNvSpPr>
            <a:spLocks noGrp="1"/>
          </p:cNvSpPr>
          <p:nvPr>
            <p:ph type="title"/>
          </p:nvPr>
        </p:nvSpPr>
        <p:spPr/>
        <p:txBody>
          <a:bodyPr/>
          <a:lstStyle/>
          <a:p>
            <a:r>
              <a:rPr lang="en-US" dirty="0">
                <a:latin typeface="UGent Panno Text" panose="02000506040000040003" pitchFamily="2" charset="0"/>
              </a:rPr>
              <a:t>File naming and organization</a:t>
            </a:r>
          </a:p>
        </p:txBody>
      </p:sp>
      <p:sp>
        <p:nvSpPr>
          <p:cNvPr id="5" name="Content Placeholder 4">
            <a:extLst>
              <a:ext uri="{FF2B5EF4-FFF2-40B4-BE49-F238E27FC236}">
                <a16:creationId xmlns:a16="http://schemas.microsoft.com/office/drawing/2014/main" id="{679780F3-795A-4BF5-9039-3B101A2F7628}"/>
              </a:ext>
            </a:extLst>
          </p:cNvPr>
          <p:cNvSpPr>
            <a:spLocks noGrp="1"/>
          </p:cNvSpPr>
          <p:nvPr>
            <p:ph idx="1"/>
          </p:nvPr>
        </p:nvSpPr>
        <p:spPr/>
        <p:txBody>
          <a:bodyPr>
            <a:normAutofit/>
          </a:bodyPr>
          <a:lstStyle/>
          <a:p>
            <a:r>
              <a:rPr lang="en-US" b="1" dirty="0">
                <a:latin typeface="UGent Panno Text" panose="02000506040000040003" pitchFamily="2" charset="0"/>
              </a:rPr>
              <a:t>Part A. Defining your organizational needs</a:t>
            </a:r>
          </a:p>
          <a:p>
            <a:pPr lvl="1"/>
            <a:r>
              <a:rPr lang="en-US" dirty="0">
                <a:latin typeface="UGent Panno Text" panose="02000506040000040003" pitchFamily="2" charset="0"/>
              </a:rPr>
              <a:t>Preferably at the start of the project but it is never too late.</a:t>
            </a:r>
          </a:p>
          <a:p>
            <a:pPr lvl="1"/>
            <a:r>
              <a:rPr lang="en-US" dirty="0">
                <a:latin typeface="UGent Panno Text" panose="02000506040000040003" pitchFamily="2" charset="0"/>
              </a:rPr>
              <a:t>Reflect on current approach to organize (folder structure) and name files. Who are you designing the system for?</a:t>
            </a:r>
          </a:p>
          <a:p>
            <a:r>
              <a:rPr lang="en-US" b="1" dirty="0">
                <a:latin typeface="UGent Panno Text" panose="02000506040000040003" pitchFamily="2" charset="0"/>
              </a:rPr>
              <a:t>Part B. Creating a file naming schema</a:t>
            </a:r>
          </a:p>
          <a:p>
            <a:r>
              <a:rPr lang="en-US" b="1" dirty="0">
                <a:latin typeface="UGent Panno Text" panose="02000506040000040003" pitchFamily="2" charset="0"/>
              </a:rPr>
              <a:t>Part C. Creating a systematic file folder hierarchy</a:t>
            </a:r>
          </a:p>
        </p:txBody>
      </p:sp>
      <p:sp>
        <p:nvSpPr>
          <p:cNvPr id="3" name="Slide Number Placeholder 2">
            <a:extLst>
              <a:ext uri="{FF2B5EF4-FFF2-40B4-BE49-F238E27FC236}">
                <a16:creationId xmlns:a16="http://schemas.microsoft.com/office/drawing/2014/main" id="{3CF637E9-D973-4A11-8E7C-874E57D681F4}"/>
              </a:ext>
            </a:extLst>
          </p:cNvPr>
          <p:cNvSpPr>
            <a:spLocks noGrp="1"/>
          </p:cNvSpPr>
          <p:nvPr>
            <p:ph type="sldNum" sz="quarter" idx="12"/>
          </p:nvPr>
        </p:nvSpPr>
        <p:spPr/>
        <p:txBody>
          <a:bodyPr/>
          <a:lstStyle/>
          <a:p>
            <a:fld id="{7AE184E0-0BD4-4705-A12B-9B71DDE63301}" type="slidenum">
              <a:rPr lang="nl-BE" noProof="0" smtClean="0"/>
              <a:pPr/>
              <a:t>47</a:t>
            </a:fld>
            <a:endParaRPr lang="nl-BE" noProof="0"/>
          </a:p>
        </p:txBody>
      </p:sp>
    </p:spTree>
    <p:extLst>
      <p:ext uri="{BB962C8B-B14F-4D97-AF65-F5344CB8AC3E}">
        <p14:creationId xmlns:p14="http://schemas.microsoft.com/office/powerpoint/2010/main" val="348884285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63721-2346-4786-9D53-41324CD0D789}"/>
              </a:ext>
            </a:extLst>
          </p:cNvPr>
          <p:cNvSpPr>
            <a:spLocks noGrp="1"/>
          </p:cNvSpPr>
          <p:nvPr>
            <p:ph type="title"/>
          </p:nvPr>
        </p:nvSpPr>
        <p:spPr/>
        <p:txBody>
          <a:bodyPr/>
          <a:lstStyle/>
          <a:p>
            <a:r>
              <a:rPr lang="en-US" dirty="0">
                <a:latin typeface="UGent Panno Text" panose="02000506040000040003" pitchFamily="2" charset="0"/>
              </a:rPr>
              <a:t>Creating a file naming schema</a:t>
            </a:r>
          </a:p>
        </p:txBody>
      </p:sp>
      <p:sp>
        <p:nvSpPr>
          <p:cNvPr id="3" name="Content Placeholder 2">
            <a:extLst>
              <a:ext uri="{FF2B5EF4-FFF2-40B4-BE49-F238E27FC236}">
                <a16:creationId xmlns:a16="http://schemas.microsoft.com/office/drawing/2014/main" id="{97BCB2C9-A5DB-456F-BA8F-B378029AE3B2}"/>
              </a:ext>
            </a:extLst>
          </p:cNvPr>
          <p:cNvSpPr>
            <a:spLocks noGrp="1"/>
          </p:cNvSpPr>
          <p:nvPr>
            <p:ph idx="1"/>
          </p:nvPr>
        </p:nvSpPr>
        <p:spPr/>
        <p:txBody>
          <a:bodyPr>
            <a:normAutofit fontScale="85000" lnSpcReduction="20000"/>
          </a:bodyPr>
          <a:lstStyle/>
          <a:p>
            <a:r>
              <a:rPr lang="en-US" dirty="0">
                <a:latin typeface="UGent Panno Text" panose="02000506040000040003" pitchFamily="2" charset="0"/>
              </a:rPr>
              <a:t>File name </a:t>
            </a:r>
          </a:p>
          <a:p>
            <a:pPr lvl="1"/>
            <a:r>
              <a:rPr lang="en-US" dirty="0">
                <a:latin typeface="UGent Panno Text" panose="02000506040000040003" pitchFamily="2" charset="0"/>
              </a:rPr>
              <a:t>Principal identiﬁer of ﬁle, used to uniquely identify a file</a:t>
            </a:r>
          </a:p>
          <a:p>
            <a:pPr lvl="1"/>
            <a:r>
              <a:rPr lang="en-US" dirty="0">
                <a:latin typeface="UGent Panno Text" panose="02000506040000040003" pitchFamily="2" charset="0"/>
              </a:rPr>
              <a:t>Should let you know what the content of the file is</a:t>
            </a:r>
          </a:p>
          <a:p>
            <a:pPr lvl="1"/>
            <a:r>
              <a:rPr lang="en-US" dirty="0">
                <a:latin typeface="UGent Panno Text" panose="02000506040000040003" pitchFamily="2" charset="0"/>
              </a:rPr>
              <a:t>Should be made of a few descriptive elements &amp; keywords</a:t>
            </a:r>
          </a:p>
          <a:p>
            <a:pPr lvl="1"/>
            <a:endParaRPr lang="en-US" dirty="0">
              <a:latin typeface="UGent Panno Text" panose="02000506040000040003" pitchFamily="2" charset="0"/>
            </a:endParaRPr>
          </a:p>
          <a:p>
            <a:pPr marL="85725" indent="0" algn="ctr">
              <a:buNone/>
            </a:pPr>
            <a:r>
              <a:rPr lang="en-US" dirty="0">
                <a:latin typeface="UGent Panno Text" panose="02000506040000040003" pitchFamily="2" charset="0"/>
              </a:rPr>
              <a:t>What do you include?</a:t>
            </a:r>
          </a:p>
          <a:p>
            <a:pPr marL="85725" indent="0" algn="ctr">
              <a:buNone/>
            </a:pPr>
            <a:r>
              <a:rPr lang="en-US" dirty="0">
                <a:latin typeface="UGent Panno Text" panose="02000506040000040003" pitchFamily="2" charset="0"/>
              </a:rPr>
              <a:t>[ ? ]_[ ? ]_[ ? ].xlsx</a:t>
            </a:r>
          </a:p>
          <a:p>
            <a:pPr marL="85725" indent="0" algn="ctr">
              <a:buNone/>
            </a:pPr>
            <a:endParaRPr lang="en-US" dirty="0">
              <a:latin typeface="UGent Panno Text" panose="02000506040000040003" pitchFamily="2" charset="0"/>
            </a:endParaRPr>
          </a:p>
          <a:p>
            <a:pPr marL="85725" indent="0">
              <a:buNone/>
            </a:pPr>
            <a:r>
              <a:rPr lang="en-US" dirty="0">
                <a:latin typeface="UGent Panno Text" panose="02000506040000040003" pitchFamily="2" charset="0"/>
              </a:rPr>
              <a:t>What keywords, elements or unique characteristics would be best to reflect the content of your file? </a:t>
            </a:r>
          </a:p>
        </p:txBody>
      </p:sp>
      <p:sp>
        <p:nvSpPr>
          <p:cNvPr id="4" name="Slide Number Placeholder 3">
            <a:extLst>
              <a:ext uri="{FF2B5EF4-FFF2-40B4-BE49-F238E27FC236}">
                <a16:creationId xmlns:a16="http://schemas.microsoft.com/office/drawing/2014/main" id="{E2805B1A-5CC7-4909-A3A2-88534092299E}"/>
              </a:ext>
            </a:extLst>
          </p:cNvPr>
          <p:cNvSpPr>
            <a:spLocks noGrp="1"/>
          </p:cNvSpPr>
          <p:nvPr>
            <p:ph type="sldNum" sz="quarter" idx="12"/>
          </p:nvPr>
        </p:nvSpPr>
        <p:spPr/>
        <p:txBody>
          <a:bodyPr/>
          <a:lstStyle/>
          <a:p>
            <a:fld id="{7AE184E0-0BD4-4705-A12B-9B71DDE63301}" type="slidenum">
              <a:rPr lang="nl-BE" smtClean="0"/>
              <a:pPr/>
              <a:t>48</a:t>
            </a:fld>
            <a:endParaRPr lang="nl-BE"/>
          </a:p>
        </p:txBody>
      </p:sp>
    </p:spTree>
    <p:extLst>
      <p:ext uri="{BB962C8B-B14F-4D97-AF65-F5344CB8AC3E}">
        <p14:creationId xmlns:p14="http://schemas.microsoft.com/office/powerpoint/2010/main" val="90009806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273E0-593A-4C08-B50F-DCB46D9C8B85}"/>
              </a:ext>
            </a:extLst>
          </p:cNvPr>
          <p:cNvSpPr>
            <a:spLocks noGrp="1"/>
          </p:cNvSpPr>
          <p:nvPr>
            <p:ph type="title"/>
          </p:nvPr>
        </p:nvSpPr>
        <p:spPr/>
        <p:txBody>
          <a:bodyPr/>
          <a:lstStyle/>
          <a:p>
            <a:r>
              <a:rPr lang="en-US" dirty="0">
                <a:latin typeface="UGent Panno Text" panose="02000506040000040003" pitchFamily="2" charset="0"/>
              </a:rPr>
              <a:t>Creating a file naming schema</a:t>
            </a:r>
          </a:p>
        </p:txBody>
      </p:sp>
      <p:sp>
        <p:nvSpPr>
          <p:cNvPr id="3" name="Content Placeholder 2">
            <a:extLst>
              <a:ext uri="{FF2B5EF4-FFF2-40B4-BE49-F238E27FC236}">
                <a16:creationId xmlns:a16="http://schemas.microsoft.com/office/drawing/2014/main" id="{D0FF4A51-C472-43B1-B1B8-832EF7FC4A39}"/>
              </a:ext>
            </a:extLst>
          </p:cNvPr>
          <p:cNvSpPr>
            <a:spLocks noGrp="1"/>
          </p:cNvSpPr>
          <p:nvPr>
            <p:ph idx="1"/>
          </p:nvPr>
        </p:nvSpPr>
        <p:spPr/>
        <p:txBody>
          <a:bodyPr/>
          <a:lstStyle/>
          <a:p>
            <a:r>
              <a:rPr lang="en-US" dirty="0">
                <a:latin typeface="UGent Panno Text" panose="02000506040000040003" pitchFamily="2" charset="0"/>
              </a:rPr>
              <a:t>Concatenate relevant elements to create a file naming schema.</a:t>
            </a:r>
          </a:p>
          <a:p>
            <a:r>
              <a:rPr lang="en-US" dirty="0">
                <a:latin typeface="UGent Panno Text" panose="02000506040000040003" pitchFamily="2" charset="0"/>
              </a:rPr>
              <a:t>Think about which order do you want them sorted in your folder?</a:t>
            </a:r>
          </a:p>
        </p:txBody>
      </p:sp>
      <p:sp>
        <p:nvSpPr>
          <p:cNvPr id="4" name="Slide Number Placeholder 3">
            <a:extLst>
              <a:ext uri="{FF2B5EF4-FFF2-40B4-BE49-F238E27FC236}">
                <a16:creationId xmlns:a16="http://schemas.microsoft.com/office/drawing/2014/main" id="{38C47DDA-6FB2-4D4D-AA27-C65BC008A003}"/>
              </a:ext>
            </a:extLst>
          </p:cNvPr>
          <p:cNvSpPr>
            <a:spLocks noGrp="1"/>
          </p:cNvSpPr>
          <p:nvPr>
            <p:ph type="sldNum" sz="quarter" idx="12"/>
          </p:nvPr>
        </p:nvSpPr>
        <p:spPr/>
        <p:txBody>
          <a:bodyPr/>
          <a:lstStyle/>
          <a:p>
            <a:fld id="{7AE184E0-0BD4-4705-A12B-9B71DDE63301}" type="slidenum">
              <a:rPr lang="nl-BE" smtClean="0"/>
              <a:pPr/>
              <a:t>49</a:t>
            </a:fld>
            <a:endParaRPr lang="nl-BE"/>
          </a:p>
        </p:txBody>
      </p:sp>
      <p:sp>
        <p:nvSpPr>
          <p:cNvPr id="5" name="Rectangle 4">
            <a:extLst>
              <a:ext uri="{FF2B5EF4-FFF2-40B4-BE49-F238E27FC236}">
                <a16:creationId xmlns:a16="http://schemas.microsoft.com/office/drawing/2014/main" id="{E599C7F8-AC92-4F54-BCB3-5A5A4761510E}"/>
              </a:ext>
            </a:extLst>
          </p:cNvPr>
          <p:cNvSpPr/>
          <p:nvPr/>
        </p:nvSpPr>
        <p:spPr>
          <a:xfrm>
            <a:off x="6357202" y="3574214"/>
            <a:ext cx="4551246" cy="923330"/>
          </a:xfrm>
          <a:prstGeom prst="rect">
            <a:avLst/>
          </a:prstGeom>
        </p:spPr>
        <p:txBody>
          <a:bodyPr wrap="none">
            <a:spAutoFit/>
          </a:bodyPr>
          <a:lstStyle/>
          <a:p>
            <a:pPr marL="85725" indent="0" algn="ctr">
              <a:buNone/>
            </a:pPr>
            <a:r>
              <a:rPr lang="en-US" sz="5400" dirty="0">
                <a:latin typeface="UGent Panno Text" panose="02000506040000040003" pitchFamily="2" charset="0"/>
              </a:rPr>
              <a:t>[ ? ]_[ ? ]_[ ? ].jpeg</a:t>
            </a:r>
          </a:p>
        </p:txBody>
      </p:sp>
      <p:sp>
        <p:nvSpPr>
          <p:cNvPr id="6" name="Rectangle 5">
            <a:extLst>
              <a:ext uri="{FF2B5EF4-FFF2-40B4-BE49-F238E27FC236}">
                <a16:creationId xmlns:a16="http://schemas.microsoft.com/office/drawing/2014/main" id="{22E32631-EF8A-4978-A571-F0106D6C75AC}"/>
              </a:ext>
            </a:extLst>
          </p:cNvPr>
          <p:cNvSpPr/>
          <p:nvPr/>
        </p:nvSpPr>
        <p:spPr>
          <a:xfrm>
            <a:off x="3230547" y="5258917"/>
            <a:ext cx="10804561" cy="923330"/>
          </a:xfrm>
          <a:prstGeom prst="rect">
            <a:avLst/>
          </a:prstGeom>
        </p:spPr>
        <p:txBody>
          <a:bodyPr wrap="none">
            <a:spAutoFit/>
          </a:bodyPr>
          <a:lstStyle/>
          <a:p>
            <a:pPr marL="85725" indent="0" algn="ctr">
              <a:buNone/>
            </a:pPr>
            <a:r>
              <a:rPr lang="en-US" sz="5400" dirty="0">
                <a:solidFill>
                  <a:schemeClr val="accent1"/>
                </a:solidFill>
                <a:latin typeface="UGent Panno Text" panose="02000506040000040003" pitchFamily="2" charset="0"/>
              </a:rPr>
              <a:t>MTT</a:t>
            </a:r>
            <a:r>
              <a:rPr lang="en-US" sz="5400" dirty="0">
                <a:latin typeface="UGent Panno Text" panose="02000506040000040003" pitchFamily="2" charset="0"/>
              </a:rPr>
              <a:t>_</a:t>
            </a:r>
            <a:r>
              <a:rPr lang="en-US" sz="5400" dirty="0">
                <a:solidFill>
                  <a:srgbClr val="C00000"/>
                </a:solidFill>
                <a:latin typeface="UGent Panno Text" panose="02000506040000040003" pitchFamily="2" charset="0"/>
              </a:rPr>
              <a:t>COMP357</a:t>
            </a:r>
            <a:r>
              <a:rPr lang="en-US" sz="5400" dirty="0">
                <a:latin typeface="UGent Panno Text" panose="02000506040000040003" pitchFamily="2" charset="0"/>
              </a:rPr>
              <a:t>_</a:t>
            </a:r>
            <a:r>
              <a:rPr lang="en-US" sz="5400" dirty="0">
                <a:solidFill>
                  <a:srgbClr val="7030A0"/>
                </a:solidFill>
                <a:latin typeface="UGent Panno Text" panose="02000506040000040003" pitchFamily="2" charset="0"/>
              </a:rPr>
              <a:t>WT</a:t>
            </a:r>
            <a:r>
              <a:rPr lang="en-US" sz="5400" dirty="0">
                <a:latin typeface="UGent Panno Text" panose="02000506040000040003" pitchFamily="2" charset="0"/>
              </a:rPr>
              <a:t>_</a:t>
            </a:r>
            <a:r>
              <a:rPr lang="en-US" sz="5400" dirty="0">
                <a:solidFill>
                  <a:srgbClr val="00B050"/>
                </a:solidFill>
                <a:latin typeface="UGent Panno Text" panose="02000506040000040003" pitchFamily="2" charset="0"/>
              </a:rPr>
              <a:t>20190415_IMG0001</a:t>
            </a:r>
            <a:r>
              <a:rPr lang="en-US" sz="5400" dirty="0">
                <a:latin typeface="UGent Panno Text" panose="02000506040000040003" pitchFamily="2" charset="0"/>
              </a:rPr>
              <a:t>.jpeg</a:t>
            </a:r>
          </a:p>
        </p:txBody>
      </p:sp>
      <p:sp>
        <p:nvSpPr>
          <p:cNvPr id="7" name="Rectangle 6">
            <a:extLst>
              <a:ext uri="{FF2B5EF4-FFF2-40B4-BE49-F238E27FC236}">
                <a16:creationId xmlns:a16="http://schemas.microsoft.com/office/drawing/2014/main" id="{B12B490F-A7D2-4283-8884-72CE1546994C}"/>
              </a:ext>
            </a:extLst>
          </p:cNvPr>
          <p:cNvSpPr/>
          <p:nvPr/>
        </p:nvSpPr>
        <p:spPr>
          <a:xfrm>
            <a:off x="3318712" y="6296612"/>
            <a:ext cx="10628231" cy="923330"/>
          </a:xfrm>
          <a:prstGeom prst="rect">
            <a:avLst/>
          </a:prstGeom>
        </p:spPr>
        <p:txBody>
          <a:bodyPr wrap="none">
            <a:spAutoFit/>
          </a:bodyPr>
          <a:lstStyle/>
          <a:p>
            <a:pPr marL="85725" indent="0" algn="ctr">
              <a:buNone/>
            </a:pPr>
            <a:r>
              <a:rPr lang="en-US" sz="5400" dirty="0">
                <a:solidFill>
                  <a:srgbClr val="00B050"/>
                </a:solidFill>
                <a:latin typeface="UGent Panno Text" panose="02000506040000040003" pitchFamily="2" charset="0"/>
              </a:rPr>
              <a:t>20190415_IMG0001</a:t>
            </a:r>
            <a:r>
              <a:rPr lang="en-US" sz="5400" dirty="0">
                <a:latin typeface="UGent Panno Text" panose="02000506040000040003" pitchFamily="2" charset="0"/>
              </a:rPr>
              <a:t>_ </a:t>
            </a:r>
            <a:r>
              <a:rPr lang="en-US" sz="5400" dirty="0">
                <a:solidFill>
                  <a:schemeClr val="accent1"/>
                </a:solidFill>
                <a:latin typeface="UGent Panno Text" panose="02000506040000040003" pitchFamily="2" charset="0"/>
              </a:rPr>
              <a:t>MTT</a:t>
            </a:r>
            <a:r>
              <a:rPr lang="en-US" sz="5400" dirty="0">
                <a:latin typeface="UGent Panno Text" panose="02000506040000040003" pitchFamily="2" charset="0"/>
              </a:rPr>
              <a:t>_</a:t>
            </a:r>
            <a:r>
              <a:rPr lang="en-US" sz="5400" dirty="0">
                <a:solidFill>
                  <a:srgbClr val="C00000"/>
                </a:solidFill>
                <a:latin typeface="UGent Panno Text" panose="02000506040000040003" pitchFamily="2" charset="0"/>
              </a:rPr>
              <a:t>COMP357</a:t>
            </a:r>
            <a:r>
              <a:rPr lang="en-US" sz="5400" dirty="0">
                <a:latin typeface="UGent Panno Text" panose="02000506040000040003" pitchFamily="2" charset="0"/>
              </a:rPr>
              <a:t>_</a:t>
            </a:r>
            <a:r>
              <a:rPr lang="en-US" sz="5400" dirty="0">
                <a:solidFill>
                  <a:srgbClr val="7030A0"/>
                </a:solidFill>
                <a:latin typeface="UGent Panno Text" panose="02000506040000040003" pitchFamily="2" charset="0"/>
              </a:rPr>
              <a:t>WT</a:t>
            </a:r>
            <a:r>
              <a:rPr lang="en-US" sz="5400" dirty="0">
                <a:latin typeface="UGent Panno Text" panose="02000506040000040003" pitchFamily="2" charset="0"/>
              </a:rPr>
              <a:t>.jpeg</a:t>
            </a:r>
          </a:p>
        </p:txBody>
      </p:sp>
    </p:spTree>
    <p:extLst>
      <p:ext uri="{BB962C8B-B14F-4D97-AF65-F5344CB8AC3E}">
        <p14:creationId xmlns:p14="http://schemas.microsoft.com/office/powerpoint/2010/main" val="10156484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7D660-4F70-4709-9E75-0F97A20DD667}"/>
              </a:ext>
            </a:extLst>
          </p:cNvPr>
          <p:cNvSpPr>
            <a:spLocks noGrp="1"/>
          </p:cNvSpPr>
          <p:nvPr>
            <p:ph type="title"/>
          </p:nvPr>
        </p:nvSpPr>
        <p:spPr/>
        <p:txBody>
          <a:bodyPr/>
          <a:lstStyle/>
          <a:p>
            <a:r>
              <a:rPr lang="en-US" dirty="0">
                <a:latin typeface="UGent Panno Text" panose="02000506040000040003" pitchFamily="2" charset="0"/>
              </a:rPr>
              <a:t>Creating a file naming schema</a:t>
            </a:r>
            <a:endParaRPr lang="en-US" u="none"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B0C998A6-7F74-4491-8ACB-6D900C71948A}"/>
              </a:ext>
            </a:extLst>
          </p:cNvPr>
          <p:cNvSpPr>
            <a:spLocks noGrp="1"/>
          </p:cNvSpPr>
          <p:nvPr>
            <p:ph type="sldNum" sz="quarter" idx="12"/>
          </p:nvPr>
        </p:nvSpPr>
        <p:spPr/>
        <p:txBody>
          <a:bodyPr/>
          <a:lstStyle/>
          <a:p>
            <a:fld id="{7AE184E0-0BD4-4705-A12B-9B71DDE63301}" type="slidenum">
              <a:rPr lang="nl-BE" noProof="0" smtClean="0"/>
              <a:t>50</a:t>
            </a:fld>
            <a:endParaRPr lang="nl-BE" noProof="0"/>
          </a:p>
        </p:txBody>
      </p:sp>
      <p:pic>
        <p:nvPicPr>
          <p:cNvPr id="5" name="Picture 4">
            <a:extLst>
              <a:ext uri="{FF2B5EF4-FFF2-40B4-BE49-F238E27FC236}">
                <a16:creationId xmlns:a16="http://schemas.microsoft.com/office/drawing/2014/main" id="{ACC89B95-164A-4CA2-87E9-06134C41188A}"/>
              </a:ext>
            </a:extLst>
          </p:cNvPr>
          <p:cNvPicPr>
            <a:picLocks noChangeAspect="1"/>
          </p:cNvPicPr>
          <p:nvPr/>
        </p:nvPicPr>
        <p:blipFill>
          <a:blip r:embed="rId2"/>
          <a:stretch>
            <a:fillRect/>
          </a:stretch>
        </p:blipFill>
        <p:spPr>
          <a:xfrm>
            <a:off x="1405937" y="2738290"/>
            <a:ext cx="14184583" cy="3205310"/>
          </a:xfrm>
          <a:prstGeom prst="rect">
            <a:avLst/>
          </a:prstGeom>
        </p:spPr>
      </p:pic>
    </p:spTree>
    <p:extLst>
      <p:ext uri="{BB962C8B-B14F-4D97-AF65-F5344CB8AC3E}">
        <p14:creationId xmlns:p14="http://schemas.microsoft.com/office/powerpoint/2010/main" val="17868049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42C8A-CC01-4AAB-9389-747982EE47C2}"/>
              </a:ext>
            </a:extLst>
          </p:cNvPr>
          <p:cNvSpPr>
            <a:spLocks noGrp="1"/>
          </p:cNvSpPr>
          <p:nvPr>
            <p:ph type="title"/>
          </p:nvPr>
        </p:nvSpPr>
        <p:spPr/>
        <p:txBody>
          <a:bodyPr/>
          <a:lstStyle/>
          <a:p>
            <a:r>
              <a:rPr lang="nl-BE" dirty="0">
                <a:latin typeface="UGent Panno Text" panose="02000506040000040003" pitchFamily="2" charset="0"/>
              </a:rPr>
              <a:t>document </a:t>
            </a:r>
            <a:r>
              <a:rPr lang="nl-BE" dirty="0" err="1">
                <a:latin typeface="UGent Panno Text" panose="02000506040000040003" pitchFamily="2" charset="0"/>
              </a:rPr>
              <a:t>the</a:t>
            </a:r>
            <a:r>
              <a:rPr lang="nl-BE" dirty="0">
                <a:latin typeface="UGent Panno Text" panose="02000506040000040003" pitchFamily="2" charset="0"/>
              </a:rPr>
              <a:t> file </a:t>
            </a:r>
            <a:r>
              <a:rPr lang="nl-BE" dirty="0" err="1">
                <a:latin typeface="UGent Panno Text" panose="02000506040000040003" pitchFamily="2" charset="0"/>
              </a:rPr>
              <a:t>organization</a:t>
            </a:r>
            <a:r>
              <a:rPr lang="nl-BE" dirty="0">
                <a:latin typeface="UGent Panno Text" panose="02000506040000040003" pitchFamily="2" charset="0"/>
              </a:rPr>
              <a:t> system</a:t>
            </a:r>
          </a:p>
        </p:txBody>
      </p:sp>
      <p:sp>
        <p:nvSpPr>
          <p:cNvPr id="3" name="Content Placeholder 2">
            <a:extLst>
              <a:ext uri="{FF2B5EF4-FFF2-40B4-BE49-F238E27FC236}">
                <a16:creationId xmlns:a16="http://schemas.microsoft.com/office/drawing/2014/main" id="{AEEAE8A9-1823-4D94-A3A0-AD55CE8B4562}"/>
              </a:ext>
            </a:extLst>
          </p:cNvPr>
          <p:cNvSpPr>
            <a:spLocks noGrp="1"/>
          </p:cNvSpPr>
          <p:nvPr>
            <p:ph idx="1"/>
          </p:nvPr>
        </p:nvSpPr>
        <p:spPr/>
        <p:txBody>
          <a:bodyPr vert="horz" lIns="91440" tIns="45720" rIns="91440" bIns="45720" rtlCol="0" anchor="t">
            <a:normAutofit/>
          </a:bodyPr>
          <a:lstStyle/>
          <a:p>
            <a:r>
              <a:rPr lang="en-US" sz="3200" dirty="0">
                <a:latin typeface="UGent Panno Text"/>
              </a:rPr>
              <a:t>File naming convention: create a high-level inventory table for the different data types </a:t>
            </a:r>
            <a:r>
              <a:rPr lang="en-US" sz="3200" cap="all" dirty="0">
                <a:latin typeface="UGent Panno Text"/>
              </a:rPr>
              <a:t>(DMP) </a:t>
            </a:r>
            <a:endParaRPr lang="en-US" sz="3200" dirty="0">
              <a:ea typeface="+mn-lt"/>
              <a:cs typeface="+mn-lt"/>
            </a:endParaRPr>
          </a:p>
          <a:p>
            <a:r>
              <a:rPr lang="en-US" sz="3200" dirty="0">
                <a:latin typeface="UGent Panno Text"/>
              </a:rPr>
              <a:t>Folder hierarchy: describe reasoning and give examples</a:t>
            </a:r>
            <a:endParaRPr lang="en-US">
              <a:latin typeface="UGent Panno Text"/>
            </a:endParaRPr>
          </a:p>
          <a:p>
            <a:r>
              <a:rPr lang="en-US" sz="3200" dirty="0">
                <a:latin typeface="UGent Panno Text" panose="02000506040000040003" pitchFamily="2" charset="0"/>
              </a:rPr>
              <a:t>Version control: manual or automatic, if manual how?</a:t>
            </a:r>
          </a:p>
          <a:p>
            <a:endParaRPr lang="en-US" sz="3200" dirty="0">
              <a:latin typeface="UGent Panno Text" panose="02000506040000040003" pitchFamily="2" charset="0"/>
            </a:endParaRPr>
          </a:p>
          <a:p>
            <a:endParaRPr lang="en-US" sz="3200" dirty="0">
              <a:latin typeface="UGent Panno Text" panose="02000506040000040003" pitchFamily="2" charset="0"/>
            </a:endParaRPr>
          </a:p>
        </p:txBody>
      </p:sp>
      <p:sp>
        <p:nvSpPr>
          <p:cNvPr id="4" name="Slide Number Placeholder 3">
            <a:extLst>
              <a:ext uri="{FF2B5EF4-FFF2-40B4-BE49-F238E27FC236}">
                <a16:creationId xmlns:a16="http://schemas.microsoft.com/office/drawing/2014/main" id="{BFC1920E-0042-49AE-8612-9133BF32CE20}"/>
              </a:ext>
            </a:extLst>
          </p:cNvPr>
          <p:cNvSpPr>
            <a:spLocks noGrp="1"/>
          </p:cNvSpPr>
          <p:nvPr>
            <p:ph type="sldNum" sz="quarter" idx="12"/>
          </p:nvPr>
        </p:nvSpPr>
        <p:spPr/>
        <p:txBody>
          <a:bodyPr/>
          <a:lstStyle/>
          <a:p>
            <a:fld id="{7AE184E0-0BD4-4705-A12B-9B71DDE63301}" type="slidenum">
              <a:rPr lang="nl-BE" noProof="0" smtClean="0"/>
              <a:t>51</a:t>
            </a:fld>
            <a:endParaRPr lang="nl-BE" noProof="0"/>
          </a:p>
        </p:txBody>
      </p:sp>
      <p:pic>
        <p:nvPicPr>
          <p:cNvPr id="5" name="Picture 4">
            <a:extLst>
              <a:ext uri="{FF2B5EF4-FFF2-40B4-BE49-F238E27FC236}">
                <a16:creationId xmlns:a16="http://schemas.microsoft.com/office/drawing/2014/main" id="{338DA6AB-6D7B-4974-842F-B1CD36D0AA59}"/>
              </a:ext>
            </a:extLst>
          </p:cNvPr>
          <p:cNvPicPr>
            <a:picLocks noChangeAspect="1"/>
          </p:cNvPicPr>
          <p:nvPr/>
        </p:nvPicPr>
        <p:blipFill>
          <a:blip r:embed="rId2"/>
          <a:stretch>
            <a:fillRect/>
          </a:stretch>
        </p:blipFill>
        <p:spPr>
          <a:xfrm>
            <a:off x="8839200" y="2991873"/>
            <a:ext cx="7696200" cy="5657850"/>
          </a:xfrm>
          <a:prstGeom prst="rect">
            <a:avLst/>
          </a:prstGeom>
        </p:spPr>
      </p:pic>
    </p:spTree>
    <p:extLst>
      <p:ext uri="{BB962C8B-B14F-4D97-AF65-F5344CB8AC3E}">
        <p14:creationId xmlns:p14="http://schemas.microsoft.com/office/powerpoint/2010/main" val="344338703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BE">
                <a:latin typeface="UGent Panno Text" panose="02000506040000040003" pitchFamily="2" charset="0"/>
              </a:rPr>
              <a:t>File </a:t>
            </a:r>
            <a:r>
              <a:rPr lang="nl-BE" err="1">
                <a:latin typeface="UGent Panno Text" panose="02000506040000040003" pitchFamily="2" charset="0"/>
              </a:rPr>
              <a:t>naming</a:t>
            </a:r>
            <a:r>
              <a:rPr lang="nl-BE">
                <a:latin typeface="UGent Panno Text" panose="02000506040000040003" pitchFamily="2" charset="0"/>
              </a:rPr>
              <a:t>: </a:t>
            </a:r>
            <a:r>
              <a:rPr lang="nl-BE" err="1">
                <a:latin typeface="UGent Panno Text" panose="02000506040000040003" pitchFamily="2" charset="0"/>
              </a:rPr>
              <a:t>examples</a:t>
            </a:r>
            <a:endParaRPr lang="nl-BE">
              <a:latin typeface="UGent Panno Text" panose="02000506040000040003" pitchFamily="2" charset="0"/>
            </a:endParaRPr>
          </a:p>
        </p:txBody>
      </p:sp>
      <p:sp>
        <p:nvSpPr>
          <p:cNvPr id="3" name="Tijdelijke aanduiding voor inhoud 2"/>
          <p:cNvSpPr>
            <a:spLocks noGrp="1"/>
          </p:cNvSpPr>
          <p:nvPr>
            <p:ph idx="1"/>
          </p:nvPr>
        </p:nvSpPr>
        <p:spPr>
          <a:xfrm>
            <a:off x="2923725" y="1286618"/>
            <a:ext cx="11111345" cy="3028209"/>
          </a:xfrm>
        </p:spPr>
        <p:txBody>
          <a:bodyPr vert="horz" lIns="91440" tIns="45720" rIns="91440" bIns="45720" rtlCol="0" anchor="t">
            <a:noAutofit/>
          </a:bodyPr>
          <a:lstStyle/>
          <a:p>
            <a:pPr fontAlgn="base">
              <a:lnSpc>
                <a:spcPct val="100000"/>
              </a:lnSpc>
            </a:pPr>
            <a:r>
              <a:rPr lang="en-US" sz="3200" b="1" dirty="0">
                <a:latin typeface="UGent Panno Text" panose="02000506040000040003" pitchFamily="2" charset="0"/>
              </a:rPr>
              <a:t>FG1_CONS_20150309.rtf</a:t>
            </a:r>
          </a:p>
          <a:p>
            <a:pPr lvl="1" fontAlgn="base">
              <a:lnSpc>
                <a:spcPct val="100000"/>
              </a:lnSpc>
            </a:pPr>
            <a:r>
              <a:rPr lang="en-US" sz="2800" dirty="0">
                <a:latin typeface="UGent Panno Text" panose="02000506040000040003" pitchFamily="2" charset="0"/>
              </a:rPr>
              <a:t>Interview transcript of the ﬁrst focus group with consumers, on 2015-03-09</a:t>
            </a:r>
          </a:p>
          <a:p>
            <a:pPr fontAlgn="base">
              <a:lnSpc>
                <a:spcPct val="100000"/>
              </a:lnSpc>
            </a:pPr>
            <a:r>
              <a:rPr lang="en-US" sz="3200" b="1" dirty="0">
                <a:latin typeface="UGent Panno Text" panose="02000506040000040003" pitchFamily="2" charset="0"/>
              </a:rPr>
              <a:t>GC-MS1_20180912_POLY03.ms</a:t>
            </a:r>
          </a:p>
          <a:p>
            <a:pPr lvl="1" fontAlgn="base">
              <a:lnSpc>
                <a:spcPct val="100000"/>
              </a:lnSpc>
            </a:pPr>
            <a:r>
              <a:rPr lang="en-US" sz="2800" dirty="0">
                <a:latin typeface="UGent Panno Text"/>
              </a:rPr>
              <a:t>Polymer 3 measured on GC-MS machine 1 on the September 12 2018​</a:t>
            </a:r>
          </a:p>
          <a:p>
            <a:pPr fontAlgn="base">
              <a:lnSpc>
                <a:spcPct val="100000"/>
              </a:lnSpc>
            </a:pPr>
            <a:r>
              <a:rPr lang="en-US" sz="3200" b="1" dirty="0">
                <a:latin typeface="UGent Panno Text" panose="02000506040000040003" pitchFamily="2" charset="0"/>
              </a:rPr>
              <a:t>FMHSurvey_Procedures_04.docx</a:t>
            </a:r>
          </a:p>
          <a:p>
            <a:pPr lvl="1" fontAlgn="base">
              <a:lnSpc>
                <a:spcPct val="100000"/>
              </a:lnSpc>
            </a:pPr>
            <a:r>
              <a:rPr lang="en-US" sz="2800" dirty="0">
                <a:latin typeface="UGent Panno Text" panose="02000506040000040003" pitchFamily="2" charset="0"/>
              </a:rPr>
              <a:t>Version 4 of the survey procedures for the Flemish Mental Health survey​</a:t>
            </a:r>
            <a:endParaRPr lang="en-US" sz="3200" dirty="0">
              <a:latin typeface="UGent Panno Text" panose="02000506040000040003" pitchFamily="2" charset="0"/>
            </a:endParaRPr>
          </a:p>
        </p:txBody>
      </p:sp>
      <p:sp>
        <p:nvSpPr>
          <p:cNvPr id="4" name="Tijdelijke aanduiding voor dianummer 3"/>
          <p:cNvSpPr>
            <a:spLocks noGrp="1"/>
          </p:cNvSpPr>
          <p:nvPr>
            <p:ph type="sldNum" sz="quarter" idx="12"/>
          </p:nvPr>
        </p:nvSpPr>
        <p:spPr/>
        <p:txBody>
          <a:bodyPr/>
          <a:lstStyle/>
          <a:p>
            <a:fld id="{7AE184E0-0BD4-4705-A12B-9B71DDE63301}" type="slidenum">
              <a:rPr lang="nl-BE" dirty="0" smtClean="0">
                <a:latin typeface="UGent Panno Text" panose="02000506040000040003" pitchFamily="2" charset="0"/>
              </a:rPr>
              <a:pPr/>
              <a:t>52</a:t>
            </a:fld>
            <a:endParaRPr lang="nl-BE" dirty="0">
              <a:latin typeface="UGent Panno Text" panose="02000506040000040003" pitchFamily="2" charset="0"/>
            </a:endParaRPr>
          </a:p>
        </p:txBody>
      </p:sp>
      <p:sp>
        <p:nvSpPr>
          <p:cNvPr id="9" name="Tijdelijke aanduiding voor inhoud 2">
            <a:extLst>
              <a:ext uri="{FF2B5EF4-FFF2-40B4-BE49-F238E27FC236}">
                <a16:creationId xmlns:a16="http://schemas.microsoft.com/office/drawing/2014/main" id="{CECD9A09-7877-40D3-9D7F-F0B132E98224}"/>
              </a:ext>
            </a:extLst>
          </p:cNvPr>
          <p:cNvSpPr txBox="1">
            <a:spLocks/>
          </p:cNvSpPr>
          <p:nvPr/>
        </p:nvSpPr>
        <p:spPr>
          <a:xfrm>
            <a:off x="2923725" y="4547265"/>
            <a:ext cx="11776363" cy="3909182"/>
          </a:xfrm>
          <a:prstGeom prst="rect">
            <a:avLst/>
          </a:prstGeom>
          <a:solidFill>
            <a:schemeClr val="bg1"/>
          </a:solidFill>
        </p:spPr>
        <p:txBody>
          <a:bodyPr vert="horz" lIns="91440" tIns="45720" rIns="91440" bIns="45720" rtlCol="0">
            <a:noAutofit/>
          </a:bodyPr>
          <a:lstStyle>
            <a:lvl1pPr marL="536575" indent="-45085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1pPr>
            <a:lvl2pPr marL="1169988" indent="-450850" algn="l" defTabSz="457200"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2pPr>
            <a:lvl3pPr marL="1755775" indent="-450000"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3pPr>
            <a:lvl4pPr marL="2328863" indent="-550863" algn="l" defTabSz="1912938" rtl="0" eaLnBrk="1" latinLnBrk="0" hangingPunct="1">
              <a:lnSpc>
                <a:spcPct val="120000"/>
              </a:lnSpc>
              <a:spcBef>
                <a:spcPts val="0"/>
              </a:spcBef>
              <a:buFont typeface="Arial" panose="020B0604020202020204" pitchFamily="34" charset="0"/>
              <a:buChar char="–"/>
              <a:tabLst/>
              <a:defRPr sz="4800" kern="1200">
                <a:solidFill>
                  <a:schemeClr val="tx1"/>
                </a:solidFill>
                <a:latin typeface="+mn-lt"/>
                <a:ea typeface="+mn-ea"/>
                <a:cs typeface="+mn-cs"/>
              </a:defRPr>
            </a:lvl4pPr>
            <a:lvl5pPr marL="2962275" indent="-442913" algn="l" defTabSz="457200" rtl="0" eaLnBrk="1" latinLnBrk="0" hangingPunct="1">
              <a:lnSpc>
                <a:spcPct val="120000"/>
              </a:lnSpc>
              <a:spcBef>
                <a:spcPts val="0"/>
              </a:spcBef>
              <a:buFont typeface="Arial" panose="020B0604020202020204" pitchFamily="34" charset="0"/>
              <a:buChar char="̶"/>
              <a:defRPr sz="4800" kern="1200">
                <a:solidFill>
                  <a:schemeClr val="tx1"/>
                </a:solidFill>
                <a:latin typeface="+mn-lt"/>
                <a:ea typeface="+mn-ea"/>
                <a:cs typeface="+mn-cs"/>
              </a:defRPr>
            </a:lvl5pPr>
            <a:lvl6pPr marL="3576013"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6197"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381"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565" indent="-325092" algn="l" defTabSz="1300368"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450850" lvl="1" fontAlgn="base">
              <a:lnSpc>
                <a:spcPct val="100000"/>
              </a:lnSpc>
            </a:pPr>
            <a:r>
              <a:rPr lang="nl-BE" sz="3200" b="1" dirty="0">
                <a:latin typeface="UGent Panno Text" panose="02000506040000040003" pitchFamily="2" charset="0"/>
              </a:rPr>
              <a:t>Health &amp; Safety Procedures1 (no extension)</a:t>
            </a:r>
          </a:p>
          <a:p>
            <a:pPr marL="1036637" lvl="2" fontAlgn="base">
              <a:lnSpc>
                <a:spcPct val="100000"/>
              </a:lnSpc>
            </a:pPr>
            <a:r>
              <a:rPr lang="nl-BE" sz="2800" dirty="0" err="1">
                <a:latin typeface="UGent Panno Text" panose="02000506040000040003" pitchFamily="2" charset="0"/>
              </a:rPr>
              <a:t>Spaces</a:t>
            </a:r>
            <a:r>
              <a:rPr lang="nl-BE" sz="2800" dirty="0">
                <a:latin typeface="UGent Panno Text" panose="02000506040000040003" pitchFamily="2" charset="0"/>
              </a:rPr>
              <a:t>, special </a:t>
            </a:r>
            <a:r>
              <a:rPr lang="nl-BE" sz="2800" dirty="0" err="1">
                <a:latin typeface="UGent Panno Text" panose="02000506040000040003" pitchFamily="2" charset="0"/>
              </a:rPr>
              <a:t>character</a:t>
            </a:r>
            <a:r>
              <a:rPr lang="nl-BE" sz="2800" dirty="0">
                <a:latin typeface="UGent Panno Text" panose="02000506040000040003" pitchFamily="2" charset="0"/>
              </a:rPr>
              <a:t> </a:t>
            </a:r>
            <a:r>
              <a:rPr lang="nl-BE" sz="2800" dirty="0" err="1">
                <a:latin typeface="UGent Panno Text" panose="02000506040000040003" pitchFamily="2" charset="0"/>
              </a:rPr>
              <a:t>and</a:t>
            </a:r>
            <a:r>
              <a:rPr lang="nl-BE" sz="2800" dirty="0">
                <a:latin typeface="UGent Panno Text" panose="02000506040000040003" pitchFamily="2" charset="0"/>
              </a:rPr>
              <a:t> no extension</a:t>
            </a:r>
            <a:r>
              <a:rPr lang="en-US" sz="2800" dirty="0">
                <a:latin typeface="UGent Panno Text" panose="02000506040000040003" pitchFamily="2" charset="0"/>
              </a:rPr>
              <a:t>​</a:t>
            </a:r>
          </a:p>
          <a:p>
            <a:pPr marL="450850" lvl="1" fontAlgn="base">
              <a:lnSpc>
                <a:spcPct val="100000"/>
              </a:lnSpc>
            </a:pPr>
            <a:r>
              <a:rPr lang="nl-BE" sz="3200" b="1" dirty="0">
                <a:latin typeface="UGent Panno Text" panose="02000506040000040003" pitchFamily="2" charset="0"/>
              </a:rPr>
              <a:t>SrvMthdDraft.doc, SrvMthdFinal.doc, SrvMthdFinalV4.doc</a:t>
            </a:r>
          </a:p>
          <a:p>
            <a:pPr marL="1036637" lvl="2" fontAlgn="base">
              <a:lnSpc>
                <a:spcPct val="100000"/>
              </a:lnSpc>
            </a:pPr>
            <a:r>
              <a:rPr lang="nl-BE" sz="2800" dirty="0" err="1">
                <a:latin typeface="UGent Panno Text" panose="02000506040000040003" pitchFamily="2" charset="0"/>
              </a:rPr>
              <a:t>Use</a:t>
            </a:r>
            <a:r>
              <a:rPr lang="nl-BE" sz="2800" dirty="0">
                <a:latin typeface="UGent Panno Text" panose="02000506040000040003" pitchFamily="2" charset="0"/>
              </a:rPr>
              <a:t> consistent </a:t>
            </a:r>
            <a:r>
              <a:rPr lang="nl-BE" sz="2800" dirty="0" err="1">
                <a:latin typeface="UGent Panno Text" panose="02000506040000040003" pitchFamily="2" charset="0"/>
              </a:rPr>
              <a:t>versioning</a:t>
            </a:r>
            <a:r>
              <a:rPr lang="nl-BE" sz="2800" dirty="0">
                <a:latin typeface="UGent Panno Text" panose="02000506040000040003" pitchFamily="2" charset="0"/>
              </a:rPr>
              <a:t>, </a:t>
            </a:r>
            <a:r>
              <a:rPr lang="nl-BE" sz="2800" dirty="0" err="1">
                <a:latin typeface="UGent Panno Text" panose="02000506040000040003" pitchFamily="2" charset="0"/>
              </a:rPr>
              <a:t>unable</a:t>
            </a:r>
            <a:r>
              <a:rPr lang="nl-BE" sz="2800" dirty="0">
                <a:latin typeface="UGent Panno Text" panose="02000506040000040003" pitchFamily="2" charset="0"/>
              </a:rPr>
              <a:t> </a:t>
            </a:r>
            <a:r>
              <a:rPr lang="nl-BE" sz="2800" dirty="0" err="1">
                <a:latin typeface="UGent Panno Text" panose="02000506040000040003" pitchFamily="2" charset="0"/>
              </a:rPr>
              <a:t>to</a:t>
            </a:r>
            <a:r>
              <a:rPr lang="nl-BE" sz="2800" dirty="0">
                <a:latin typeface="UGent Panno Text" panose="02000506040000040003" pitchFamily="2" charset="0"/>
              </a:rPr>
              <a:t> </a:t>
            </a:r>
            <a:r>
              <a:rPr lang="nl-BE" sz="2800" dirty="0" err="1">
                <a:latin typeface="UGent Panno Text" panose="02000506040000040003" pitchFamily="2" charset="0"/>
              </a:rPr>
              <a:t>identify</a:t>
            </a:r>
            <a:r>
              <a:rPr lang="nl-BE" sz="2800" dirty="0">
                <a:latin typeface="UGent Panno Text" panose="02000506040000040003" pitchFamily="2" charset="0"/>
              </a:rPr>
              <a:t> </a:t>
            </a:r>
            <a:r>
              <a:rPr lang="nl-BE" sz="2800" dirty="0" err="1">
                <a:latin typeface="UGent Panno Text" panose="02000506040000040003" pitchFamily="2" charset="0"/>
              </a:rPr>
              <a:t>the</a:t>
            </a:r>
            <a:r>
              <a:rPr lang="nl-BE" sz="2800" dirty="0">
                <a:latin typeface="UGent Panno Text" panose="02000506040000040003" pitchFamily="2" charset="0"/>
              </a:rPr>
              <a:t> real last </a:t>
            </a:r>
            <a:r>
              <a:rPr lang="nl-BE" sz="2800" dirty="0" err="1">
                <a:latin typeface="UGent Panno Text" panose="02000506040000040003" pitchFamily="2" charset="0"/>
              </a:rPr>
              <a:t>one</a:t>
            </a:r>
            <a:r>
              <a:rPr lang="nl-BE" sz="2800" dirty="0">
                <a:latin typeface="UGent Panno Text" panose="02000506040000040003" pitchFamily="2" charset="0"/>
              </a:rPr>
              <a:t>​</a:t>
            </a:r>
          </a:p>
          <a:p>
            <a:pPr marL="450850" lvl="1" fontAlgn="base">
              <a:lnSpc>
                <a:spcPct val="100000"/>
              </a:lnSpc>
            </a:pPr>
            <a:r>
              <a:rPr lang="nl-BE" sz="3200" b="1" dirty="0">
                <a:latin typeface="UGent Panno Text" panose="02000506040000040003" pitchFamily="2" charset="0"/>
              </a:rPr>
              <a:t>Focus Group </a:t>
            </a:r>
            <a:r>
              <a:rPr lang="nl-BE" sz="3200" b="1" dirty="0" err="1">
                <a:latin typeface="UGent Panno Text" panose="02000506040000040003" pitchFamily="2" charset="0"/>
              </a:rPr>
              <a:t>consumers</a:t>
            </a:r>
            <a:r>
              <a:rPr lang="nl-BE" sz="3200" b="1" dirty="0">
                <a:latin typeface="UGent Panno Text" panose="02000506040000040003" pitchFamily="2" charset="0"/>
              </a:rPr>
              <a:t> 12+13 Feb.mp3</a:t>
            </a:r>
          </a:p>
          <a:p>
            <a:pPr marL="1036637" lvl="2" fontAlgn="base">
              <a:lnSpc>
                <a:spcPct val="100000"/>
              </a:lnSpc>
            </a:pPr>
            <a:r>
              <a:rPr lang="nl-BE" sz="2800" dirty="0" err="1">
                <a:latin typeface="UGent Panno Text" panose="02000506040000040003" pitchFamily="2" charset="0"/>
              </a:rPr>
              <a:t>Spaces</a:t>
            </a:r>
            <a:r>
              <a:rPr lang="nl-BE" sz="2800" dirty="0">
                <a:latin typeface="UGent Panno Text" panose="02000506040000040003" pitchFamily="2" charset="0"/>
              </a:rPr>
              <a:t> </a:t>
            </a:r>
            <a:r>
              <a:rPr lang="nl-BE" sz="2800" dirty="0" err="1">
                <a:latin typeface="UGent Panno Text" panose="02000506040000040003" pitchFamily="2" charset="0"/>
              </a:rPr>
              <a:t>and</a:t>
            </a:r>
            <a:r>
              <a:rPr lang="nl-BE" sz="2800" dirty="0">
                <a:latin typeface="UGent Panno Text" panose="02000506040000040003" pitchFamily="2" charset="0"/>
              </a:rPr>
              <a:t> special </a:t>
            </a:r>
            <a:r>
              <a:rPr lang="nl-BE" sz="2800" dirty="0" err="1">
                <a:latin typeface="UGent Panno Text" panose="02000506040000040003" pitchFamily="2" charset="0"/>
              </a:rPr>
              <a:t>character</a:t>
            </a:r>
            <a:r>
              <a:rPr lang="nl-BE" sz="2800" dirty="0">
                <a:latin typeface="UGent Panno Text" panose="02000506040000040003" pitchFamily="2" charset="0"/>
              </a:rPr>
              <a:t>​</a:t>
            </a:r>
          </a:p>
          <a:p>
            <a:pPr marL="450850" lvl="1" fontAlgn="base">
              <a:lnSpc>
                <a:spcPct val="100000"/>
              </a:lnSpc>
            </a:pPr>
            <a:r>
              <a:rPr lang="en-US" sz="3200" b="1" dirty="0">
                <a:latin typeface="UGent Panno Text" panose="02000506040000040003" pitchFamily="2" charset="0"/>
              </a:rPr>
              <a:t>mydata.txt, </a:t>
            </a:r>
            <a:r>
              <a:rPr lang="en-US" sz="3200" b="1" dirty="0" err="1">
                <a:latin typeface="UGent Panno Text" panose="02000506040000040003" pitchFamily="2" charset="0"/>
              </a:rPr>
              <a:t>script.R</a:t>
            </a:r>
            <a:r>
              <a:rPr lang="en-US" sz="3200" b="1" dirty="0">
                <a:latin typeface="UGent Panno Text" panose="02000506040000040003" pitchFamily="2" charset="0"/>
              </a:rPr>
              <a:t>, analysis.py</a:t>
            </a:r>
          </a:p>
          <a:p>
            <a:pPr marL="1036637" lvl="2" fontAlgn="base">
              <a:lnSpc>
                <a:spcPct val="100000"/>
              </a:lnSpc>
            </a:pPr>
            <a:r>
              <a:rPr lang="en-US" sz="2800" dirty="0">
                <a:latin typeface="UGent Panno Text" panose="02000506040000040003" pitchFamily="2" charset="0"/>
              </a:rPr>
              <a:t>Unique?​</a:t>
            </a:r>
          </a:p>
        </p:txBody>
      </p:sp>
      <p:pic>
        <p:nvPicPr>
          <p:cNvPr id="8" name="Graphic 7" descr="Smiling face with no fill">
            <a:extLst>
              <a:ext uri="{FF2B5EF4-FFF2-40B4-BE49-F238E27FC236}">
                <a16:creationId xmlns:a16="http://schemas.microsoft.com/office/drawing/2014/main" id="{136E13CF-A8A9-49D7-9C8C-10B8814266A3}"/>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30118" y="1286618"/>
            <a:ext cx="914400" cy="914400"/>
          </a:xfrm>
          <a:prstGeom prst="rect">
            <a:avLst/>
          </a:prstGeom>
        </p:spPr>
      </p:pic>
      <p:pic>
        <p:nvPicPr>
          <p:cNvPr id="12" name="Graphic 11" descr="Sad face with no fill">
            <a:extLst>
              <a:ext uri="{FF2B5EF4-FFF2-40B4-BE49-F238E27FC236}">
                <a16:creationId xmlns:a16="http://schemas.microsoft.com/office/drawing/2014/main" id="{D2C19602-49B6-4C5D-9B1C-6632A8F0713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0118" y="4547265"/>
            <a:ext cx="914400" cy="914400"/>
          </a:xfrm>
          <a:prstGeom prst="rect">
            <a:avLst/>
          </a:prstGeom>
        </p:spPr>
      </p:pic>
    </p:spTree>
    <p:extLst>
      <p:ext uri="{BB962C8B-B14F-4D97-AF65-F5344CB8AC3E}">
        <p14:creationId xmlns:p14="http://schemas.microsoft.com/office/powerpoint/2010/main" val="21648507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9D34E-A0AD-43D2-8AF2-23E0921B4753}"/>
              </a:ext>
            </a:extLst>
          </p:cNvPr>
          <p:cNvSpPr>
            <a:spLocks noGrp="1"/>
          </p:cNvSpPr>
          <p:nvPr>
            <p:ph type="title"/>
          </p:nvPr>
        </p:nvSpPr>
        <p:spPr/>
        <p:txBody>
          <a:bodyPr/>
          <a:lstStyle/>
          <a:p>
            <a:r>
              <a:rPr lang="en-US" dirty="0"/>
              <a:t>Sewage sludge project</a:t>
            </a:r>
            <a:br>
              <a:rPr lang="en-US" dirty="0"/>
            </a:br>
            <a:endParaRPr lang="en-US" dirty="0"/>
          </a:p>
        </p:txBody>
      </p:sp>
      <p:sp>
        <p:nvSpPr>
          <p:cNvPr id="4" name="Slide Number Placeholder 3">
            <a:extLst>
              <a:ext uri="{FF2B5EF4-FFF2-40B4-BE49-F238E27FC236}">
                <a16:creationId xmlns:a16="http://schemas.microsoft.com/office/drawing/2014/main" id="{58AD9A5B-5D8A-49B6-8B83-8B9590A6908C}"/>
              </a:ext>
            </a:extLst>
          </p:cNvPr>
          <p:cNvSpPr>
            <a:spLocks noGrp="1"/>
          </p:cNvSpPr>
          <p:nvPr>
            <p:ph type="sldNum" sz="quarter" idx="12"/>
          </p:nvPr>
        </p:nvSpPr>
        <p:spPr/>
        <p:txBody>
          <a:bodyPr/>
          <a:lstStyle/>
          <a:p>
            <a:fld id="{7AE184E0-0BD4-4705-A12B-9B71DDE63301}" type="slidenum">
              <a:rPr lang="nl-BE" smtClean="0"/>
              <a:pPr/>
              <a:t>53</a:t>
            </a:fld>
            <a:endParaRPr lang="nl-BE"/>
          </a:p>
        </p:txBody>
      </p:sp>
      <p:pic>
        <p:nvPicPr>
          <p:cNvPr id="5" name="Picture 4">
            <a:extLst>
              <a:ext uri="{FF2B5EF4-FFF2-40B4-BE49-F238E27FC236}">
                <a16:creationId xmlns:a16="http://schemas.microsoft.com/office/drawing/2014/main" id="{9F834C67-2999-4A54-BFA2-4F6A2D5BD32E}"/>
              </a:ext>
            </a:extLst>
          </p:cNvPr>
          <p:cNvPicPr>
            <a:picLocks noChangeAspect="1"/>
          </p:cNvPicPr>
          <p:nvPr/>
        </p:nvPicPr>
        <p:blipFill>
          <a:blip r:embed="rId2"/>
          <a:stretch>
            <a:fillRect/>
          </a:stretch>
        </p:blipFill>
        <p:spPr>
          <a:xfrm>
            <a:off x="1864328" y="1159877"/>
            <a:ext cx="13536994" cy="8048470"/>
          </a:xfrm>
          <a:prstGeom prst="rect">
            <a:avLst/>
          </a:prstGeom>
        </p:spPr>
      </p:pic>
    </p:spTree>
    <p:extLst>
      <p:ext uri="{BB962C8B-B14F-4D97-AF65-F5344CB8AC3E}">
        <p14:creationId xmlns:p14="http://schemas.microsoft.com/office/powerpoint/2010/main" val="18882963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3A07-E401-4730-89BC-7265ECA9C183}"/>
              </a:ext>
            </a:extLst>
          </p:cNvPr>
          <p:cNvSpPr>
            <a:spLocks noGrp="1"/>
          </p:cNvSpPr>
          <p:nvPr>
            <p:ph type="title"/>
          </p:nvPr>
        </p:nvSpPr>
        <p:spPr/>
        <p:txBody>
          <a:bodyPr/>
          <a:lstStyle/>
          <a:p>
            <a:r>
              <a:rPr lang="en-US" dirty="0">
                <a:latin typeface="UGent Panno Text" panose="02000506040000040003" pitchFamily="2" charset="0"/>
              </a:rPr>
              <a:t>Example</a:t>
            </a:r>
          </a:p>
        </p:txBody>
      </p:sp>
      <p:sp>
        <p:nvSpPr>
          <p:cNvPr id="4" name="Slide Number Placeholder 3">
            <a:extLst>
              <a:ext uri="{FF2B5EF4-FFF2-40B4-BE49-F238E27FC236}">
                <a16:creationId xmlns:a16="http://schemas.microsoft.com/office/drawing/2014/main" id="{A9A9DD8F-C03C-4972-9B14-B8F59ED4E1EF}"/>
              </a:ext>
            </a:extLst>
          </p:cNvPr>
          <p:cNvSpPr>
            <a:spLocks noGrp="1"/>
          </p:cNvSpPr>
          <p:nvPr>
            <p:ph type="sldNum" sz="quarter" idx="12"/>
          </p:nvPr>
        </p:nvSpPr>
        <p:spPr/>
        <p:txBody>
          <a:bodyPr/>
          <a:lstStyle/>
          <a:p>
            <a:fld id="{7AE184E0-0BD4-4705-A12B-9B71DDE63301}" type="slidenum">
              <a:rPr lang="nl-BE" dirty="0" smtClean="0"/>
              <a:pPr/>
              <a:t>54</a:t>
            </a:fld>
            <a:endParaRPr lang="nl-BE" dirty="0"/>
          </a:p>
        </p:txBody>
      </p:sp>
      <p:pic>
        <p:nvPicPr>
          <p:cNvPr id="7" name="Picture 6">
            <a:extLst>
              <a:ext uri="{FF2B5EF4-FFF2-40B4-BE49-F238E27FC236}">
                <a16:creationId xmlns:a16="http://schemas.microsoft.com/office/drawing/2014/main" id="{15CF3058-BBEE-46C1-BCC5-4F0D095E9CD2}"/>
              </a:ext>
            </a:extLst>
          </p:cNvPr>
          <p:cNvPicPr>
            <a:picLocks noChangeAspect="1"/>
          </p:cNvPicPr>
          <p:nvPr/>
        </p:nvPicPr>
        <p:blipFill>
          <a:blip r:embed="rId2"/>
          <a:stretch>
            <a:fillRect/>
          </a:stretch>
        </p:blipFill>
        <p:spPr>
          <a:xfrm>
            <a:off x="1680730" y="3026855"/>
            <a:ext cx="4279022" cy="3628778"/>
          </a:xfrm>
          <a:prstGeom prst="rect">
            <a:avLst/>
          </a:prstGeom>
        </p:spPr>
      </p:pic>
      <p:grpSp>
        <p:nvGrpSpPr>
          <p:cNvPr id="28" name="Group 27">
            <a:extLst>
              <a:ext uri="{FF2B5EF4-FFF2-40B4-BE49-F238E27FC236}">
                <a16:creationId xmlns:a16="http://schemas.microsoft.com/office/drawing/2014/main" id="{FA5ADDDB-F545-430F-A857-9752B5A65958}"/>
              </a:ext>
            </a:extLst>
          </p:cNvPr>
          <p:cNvGrpSpPr/>
          <p:nvPr/>
        </p:nvGrpSpPr>
        <p:grpSpPr>
          <a:xfrm>
            <a:off x="8139997" y="567871"/>
            <a:ext cx="4686300" cy="8324850"/>
            <a:chOff x="8139997" y="567871"/>
            <a:chExt cx="4686300" cy="8324850"/>
          </a:xfrm>
        </p:grpSpPr>
        <p:pic>
          <p:nvPicPr>
            <p:cNvPr id="5" name="Picture 4">
              <a:extLst>
                <a:ext uri="{FF2B5EF4-FFF2-40B4-BE49-F238E27FC236}">
                  <a16:creationId xmlns:a16="http://schemas.microsoft.com/office/drawing/2014/main" id="{0899A08D-1499-4271-AA83-962B449B23D1}"/>
                </a:ext>
              </a:extLst>
            </p:cNvPr>
            <p:cNvPicPr>
              <a:picLocks noChangeAspect="1"/>
            </p:cNvPicPr>
            <p:nvPr/>
          </p:nvPicPr>
          <p:blipFill>
            <a:blip r:embed="rId3"/>
            <a:stretch>
              <a:fillRect/>
            </a:stretch>
          </p:blipFill>
          <p:spPr>
            <a:xfrm>
              <a:off x="8139997" y="567871"/>
              <a:ext cx="4686300" cy="8324850"/>
            </a:xfrm>
            <a:prstGeom prst="rect">
              <a:avLst/>
            </a:prstGeom>
          </p:spPr>
        </p:pic>
        <p:sp>
          <p:nvSpPr>
            <p:cNvPr id="6" name="Rectangle 5">
              <a:extLst>
                <a:ext uri="{FF2B5EF4-FFF2-40B4-BE49-F238E27FC236}">
                  <a16:creationId xmlns:a16="http://schemas.microsoft.com/office/drawing/2014/main" id="{5C3C6D10-D5BC-4879-A17E-AF35056C87A9}"/>
                </a:ext>
              </a:extLst>
            </p:cNvPr>
            <p:cNvSpPr/>
            <p:nvPr/>
          </p:nvSpPr>
          <p:spPr>
            <a:xfrm>
              <a:off x="8394492" y="1089433"/>
              <a:ext cx="3960000" cy="2232000"/>
            </a:xfrm>
            <a:prstGeom prst="rect">
              <a:avLst/>
            </a:prstGeom>
            <a:noFill/>
            <a:ln w="317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solidFill>
                  <a:schemeClr val="tx1"/>
                </a:solidFill>
              </a:endParaRPr>
            </a:p>
          </p:txBody>
        </p:sp>
        <p:sp>
          <p:nvSpPr>
            <p:cNvPr id="10" name="Rectangle 9">
              <a:extLst>
                <a:ext uri="{FF2B5EF4-FFF2-40B4-BE49-F238E27FC236}">
                  <a16:creationId xmlns:a16="http://schemas.microsoft.com/office/drawing/2014/main" id="{B33BADE7-D6A6-479C-9697-D7706BED0AB3}"/>
                </a:ext>
              </a:extLst>
            </p:cNvPr>
            <p:cNvSpPr/>
            <p:nvPr/>
          </p:nvSpPr>
          <p:spPr>
            <a:xfrm>
              <a:off x="8394492" y="4287187"/>
              <a:ext cx="3960000" cy="1332000"/>
            </a:xfrm>
            <a:prstGeom prst="rect">
              <a:avLst/>
            </a:prstGeom>
            <a:noFill/>
            <a:ln w="317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1" name="Rectangle 10">
              <a:extLst>
                <a:ext uri="{FF2B5EF4-FFF2-40B4-BE49-F238E27FC236}">
                  <a16:creationId xmlns:a16="http://schemas.microsoft.com/office/drawing/2014/main" id="{DCD3A5DD-61C9-400A-99F5-B699EFBBC719}"/>
                </a:ext>
              </a:extLst>
            </p:cNvPr>
            <p:cNvSpPr/>
            <p:nvPr/>
          </p:nvSpPr>
          <p:spPr>
            <a:xfrm>
              <a:off x="8394492" y="5681270"/>
              <a:ext cx="3960000" cy="1332000"/>
            </a:xfrm>
            <a:prstGeom prst="rect">
              <a:avLst/>
            </a:prstGeom>
            <a:noFill/>
            <a:ln w="317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sp>
          <p:nvSpPr>
            <p:cNvPr id="12" name="Rectangle 11">
              <a:extLst>
                <a:ext uri="{FF2B5EF4-FFF2-40B4-BE49-F238E27FC236}">
                  <a16:creationId xmlns:a16="http://schemas.microsoft.com/office/drawing/2014/main" id="{4A3F9E0E-78D8-482F-B7A7-1E2763EB2464}"/>
                </a:ext>
              </a:extLst>
            </p:cNvPr>
            <p:cNvSpPr/>
            <p:nvPr/>
          </p:nvSpPr>
          <p:spPr>
            <a:xfrm>
              <a:off x="8394492" y="7074532"/>
              <a:ext cx="3960000" cy="1764000"/>
            </a:xfrm>
            <a:prstGeom prst="rect">
              <a:avLst/>
            </a:prstGeom>
            <a:no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tx1"/>
                </a:solidFill>
              </a:endParaRPr>
            </a:p>
          </p:txBody>
        </p:sp>
      </p:grpSp>
      <p:cxnSp>
        <p:nvCxnSpPr>
          <p:cNvPr id="13" name="Straight Arrow Connector 12">
            <a:extLst>
              <a:ext uri="{FF2B5EF4-FFF2-40B4-BE49-F238E27FC236}">
                <a16:creationId xmlns:a16="http://schemas.microsoft.com/office/drawing/2014/main" id="{37DB4538-A8EC-456D-856D-2720871B4750}"/>
              </a:ext>
            </a:extLst>
          </p:cNvPr>
          <p:cNvCxnSpPr>
            <a:cxnSpLocks/>
            <a:endCxn id="6" idx="1"/>
          </p:cNvCxnSpPr>
          <p:nvPr/>
        </p:nvCxnSpPr>
        <p:spPr>
          <a:xfrm flipV="1">
            <a:off x="5711252" y="2205433"/>
            <a:ext cx="2683240" cy="1689415"/>
          </a:xfrm>
          <a:prstGeom prst="straightConnector1">
            <a:avLst/>
          </a:prstGeom>
          <a:noFill/>
          <a:ln w="31750">
            <a:solidFill>
              <a:schemeClr val="bg2">
                <a:lumMod val="75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5" name="Straight Arrow Connector 14">
            <a:extLst>
              <a:ext uri="{FF2B5EF4-FFF2-40B4-BE49-F238E27FC236}">
                <a16:creationId xmlns:a16="http://schemas.microsoft.com/office/drawing/2014/main" id="{28854845-651D-43FB-B212-A29DF1663DDF}"/>
              </a:ext>
            </a:extLst>
          </p:cNvPr>
          <p:cNvCxnSpPr>
            <a:cxnSpLocks/>
            <a:endCxn id="10" idx="1"/>
          </p:cNvCxnSpPr>
          <p:nvPr/>
        </p:nvCxnSpPr>
        <p:spPr>
          <a:xfrm flipV="1">
            <a:off x="5216577" y="4953187"/>
            <a:ext cx="3177915" cy="335744"/>
          </a:xfrm>
          <a:prstGeom prst="straightConnector1">
            <a:avLst/>
          </a:prstGeom>
          <a:noFill/>
          <a:ln w="31750">
            <a:solidFill>
              <a:schemeClr val="accent1">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18" name="Straight Arrow Connector 17">
            <a:extLst>
              <a:ext uri="{FF2B5EF4-FFF2-40B4-BE49-F238E27FC236}">
                <a16:creationId xmlns:a16="http://schemas.microsoft.com/office/drawing/2014/main" id="{3661E513-4296-4393-A2BB-1547C7CA0FCE}"/>
              </a:ext>
            </a:extLst>
          </p:cNvPr>
          <p:cNvCxnSpPr>
            <a:cxnSpLocks/>
            <a:endCxn id="11" idx="1"/>
          </p:cNvCxnSpPr>
          <p:nvPr/>
        </p:nvCxnSpPr>
        <p:spPr>
          <a:xfrm>
            <a:off x="5216577" y="5954931"/>
            <a:ext cx="3177915" cy="392339"/>
          </a:xfrm>
          <a:prstGeom prst="straightConnector1">
            <a:avLst/>
          </a:prstGeom>
          <a:noFill/>
          <a:ln w="3175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cxnSp>
        <p:nvCxnSpPr>
          <p:cNvPr id="21" name="Straight Arrow Connector 20">
            <a:extLst>
              <a:ext uri="{FF2B5EF4-FFF2-40B4-BE49-F238E27FC236}">
                <a16:creationId xmlns:a16="http://schemas.microsoft.com/office/drawing/2014/main" id="{B86F45A8-9A8B-4AA6-9356-043BA01E6C25}"/>
              </a:ext>
            </a:extLst>
          </p:cNvPr>
          <p:cNvCxnSpPr>
            <a:cxnSpLocks/>
            <a:endCxn id="12" idx="1"/>
          </p:cNvCxnSpPr>
          <p:nvPr/>
        </p:nvCxnSpPr>
        <p:spPr>
          <a:xfrm>
            <a:off x="5216577" y="6408532"/>
            <a:ext cx="3177915" cy="1548000"/>
          </a:xfrm>
          <a:prstGeom prst="straightConnector1">
            <a:avLst/>
          </a:prstGeom>
          <a:noFill/>
          <a:ln w="31750">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26636277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6D43A558-F478-A0B5-B0AF-49F83C49C29D}"/>
              </a:ext>
            </a:extLst>
          </p:cNvPr>
          <p:cNvSpPr/>
          <p:nvPr/>
        </p:nvSpPr>
        <p:spPr>
          <a:xfrm>
            <a:off x="-1" y="298"/>
            <a:ext cx="17338675" cy="975300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ctr"/>
            <a:endParaRPr lang="en-BE" sz="3641"/>
          </a:p>
        </p:txBody>
      </p:sp>
      <p:pic>
        <p:nvPicPr>
          <p:cNvPr id="10" name="Graphic 9">
            <a:extLst>
              <a:ext uri="{FF2B5EF4-FFF2-40B4-BE49-F238E27FC236}">
                <a16:creationId xmlns:a16="http://schemas.microsoft.com/office/drawing/2014/main" id="{C80D94B6-36CB-6CDE-7F51-8955AA53D89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82" y="3294646"/>
            <a:ext cx="17438699" cy="6448938"/>
          </a:xfrm>
          <a:prstGeom prst="rect">
            <a:avLst/>
          </a:prstGeom>
        </p:spPr>
      </p:pic>
      <p:sp>
        <p:nvSpPr>
          <p:cNvPr id="2" name="Title 1">
            <a:extLst>
              <a:ext uri="{FF2B5EF4-FFF2-40B4-BE49-F238E27FC236}">
                <a16:creationId xmlns:a16="http://schemas.microsoft.com/office/drawing/2014/main" id="{FC73DFA2-1FE9-EFCD-097A-988BBD0420BA}"/>
              </a:ext>
            </a:extLst>
          </p:cNvPr>
          <p:cNvSpPr>
            <a:spLocks noGrp="1"/>
          </p:cNvSpPr>
          <p:nvPr>
            <p:ph type="title"/>
          </p:nvPr>
        </p:nvSpPr>
        <p:spPr>
          <a:xfrm>
            <a:off x="8567506" y="6979115"/>
            <a:ext cx="7986713" cy="1264689"/>
          </a:xfrm>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r"/>
            <a:r>
              <a:rPr lang="en-US"/>
              <a:t>Break</a:t>
            </a:r>
            <a:endParaRPr lang="en-BE"/>
          </a:p>
        </p:txBody>
      </p:sp>
      <p:sp>
        <p:nvSpPr>
          <p:cNvPr id="5" name="Text Placeholder 4">
            <a:extLst>
              <a:ext uri="{FF2B5EF4-FFF2-40B4-BE49-F238E27FC236}">
                <a16:creationId xmlns:a16="http://schemas.microsoft.com/office/drawing/2014/main" id="{BE3A6597-37F8-D622-CEC5-E39A199FDE79}"/>
              </a:ext>
            </a:extLst>
          </p:cNvPr>
          <p:cNvSpPr>
            <a:spLocks noGrp="1"/>
          </p:cNvSpPr>
          <p:nvPr>
            <p:ph type="body" sz="quarter" idx="14"/>
          </p:nvPr>
        </p:nvSpPr>
        <p:spPr>
          <a:xfrm>
            <a:off x="8567508" y="8387865"/>
            <a:ext cx="7987768" cy="988846"/>
          </a:xfrm>
        </p:spPr>
        <p:txBody>
          <a:bodyPr/>
          <a:lstStyle>
            <a:defPPr>
              <a:defRPr lang="nl-NL"/>
            </a:defPPr>
            <a:lvl1pPr marL="0" algn="l" defTabSz="1300368" rtl="0" eaLnBrk="1" latinLnBrk="0" hangingPunct="1">
              <a:defRPr sz="2560" kern="1200">
                <a:solidFill>
                  <a:schemeClr val="tx1"/>
                </a:solidFill>
                <a:latin typeface="+mn-lt"/>
                <a:ea typeface="+mn-ea"/>
                <a:cs typeface="+mn-cs"/>
              </a:defRPr>
            </a:lvl1pPr>
            <a:lvl2pPr marL="650184" algn="l" defTabSz="1300368" rtl="0" eaLnBrk="1" latinLnBrk="0" hangingPunct="1">
              <a:defRPr sz="2560" kern="1200">
                <a:solidFill>
                  <a:schemeClr val="tx1"/>
                </a:solidFill>
                <a:latin typeface="+mn-lt"/>
                <a:ea typeface="+mn-ea"/>
                <a:cs typeface="+mn-cs"/>
              </a:defRPr>
            </a:lvl2pPr>
            <a:lvl3pPr marL="1300368" algn="l" defTabSz="1300368" rtl="0" eaLnBrk="1" latinLnBrk="0" hangingPunct="1">
              <a:defRPr sz="2560" kern="1200">
                <a:solidFill>
                  <a:schemeClr val="tx1"/>
                </a:solidFill>
                <a:latin typeface="+mn-lt"/>
                <a:ea typeface="+mn-ea"/>
                <a:cs typeface="+mn-cs"/>
              </a:defRPr>
            </a:lvl3pPr>
            <a:lvl4pPr marL="1950552" algn="l" defTabSz="1300368" rtl="0" eaLnBrk="1" latinLnBrk="0" hangingPunct="1">
              <a:defRPr sz="2560" kern="1200">
                <a:solidFill>
                  <a:schemeClr val="tx1"/>
                </a:solidFill>
                <a:latin typeface="+mn-lt"/>
                <a:ea typeface="+mn-ea"/>
                <a:cs typeface="+mn-cs"/>
              </a:defRPr>
            </a:lvl4pPr>
            <a:lvl5pPr marL="2600736" algn="l" defTabSz="1300368" rtl="0" eaLnBrk="1" latinLnBrk="0" hangingPunct="1">
              <a:defRPr sz="2560" kern="1200">
                <a:solidFill>
                  <a:schemeClr val="tx1"/>
                </a:solidFill>
                <a:latin typeface="+mn-lt"/>
                <a:ea typeface="+mn-ea"/>
                <a:cs typeface="+mn-cs"/>
              </a:defRPr>
            </a:lvl5pPr>
            <a:lvl6pPr marL="3250921" algn="l" defTabSz="1300368" rtl="0" eaLnBrk="1" latinLnBrk="0" hangingPunct="1">
              <a:defRPr sz="2560" kern="1200">
                <a:solidFill>
                  <a:schemeClr val="tx1"/>
                </a:solidFill>
                <a:latin typeface="+mn-lt"/>
                <a:ea typeface="+mn-ea"/>
                <a:cs typeface="+mn-cs"/>
              </a:defRPr>
            </a:lvl6pPr>
            <a:lvl7pPr marL="3901105" algn="l" defTabSz="1300368" rtl="0" eaLnBrk="1" latinLnBrk="0" hangingPunct="1">
              <a:defRPr sz="2560" kern="1200">
                <a:solidFill>
                  <a:schemeClr val="tx1"/>
                </a:solidFill>
                <a:latin typeface="+mn-lt"/>
                <a:ea typeface="+mn-ea"/>
                <a:cs typeface="+mn-cs"/>
              </a:defRPr>
            </a:lvl7pPr>
            <a:lvl8pPr marL="4551289" algn="l" defTabSz="1300368" rtl="0" eaLnBrk="1" latinLnBrk="0" hangingPunct="1">
              <a:defRPr sz="2560" kern="1200">
                <a:solidFill>
                  <a:schemeClr val="tx1"/>
                </a:solidFill>
                <a:latin typeface="+mn-lt"/>
                <a:ea typeface="+mn-ea"/>
                <a:cs typeface="+mn-cs"/>
              </a:defRPr>
            </a:lvl8pPr>
            <a:lvl9pPr marL="5201473" algn="l" defTabSz="1300368" rtl="0" eaLnBrk="1" latinLnBrk="0" hangingPunct="1">
              <a:defRPr sz="2560" kern="1200">
                <a:solidFill>
                  <a:schemeClr val="tx1"/>
                </a:solidFill>
                <a:latin typeface="+mn-lt"/>
                <a:ea typeface="+mn-ea"/>
                <a:cs typeface="+mn-cs"/>
              </a:defRPr>
            </a:lvl9pPr>
          </a:lstStyle>
          <a:p>
            <a:pPr algn="r"/>
            <a:r>
              <a:rPr lang="en-US"/>
              <a:t>Disconnect for 10 mins</a:t>
            </a:r>
            <a:endParaRPr lang="en-BE"/>
          </a:p>
        </p:txBody>
      </p:sp>
    </p:spTree>
    <p:extLst>
      <p:ext uri="{BB962C8B-B14F-4D97-AF65-F5344CB8AC3E}">
        <p14:creationId xmlns:p14="http://schemas.microsoft.com/office/powerpoint/2010/main" val="1868282625"/>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UGent2">
      <a:dk1>
        <a:sysClr val="windowText" lastClr="000000"/>
      </a:dk1>
      <a:lt1>
        <a:sysClr val="window" lastClr="FFFFFF"/>
      </a:lt1>
      <a:dk2>
        <a:srgbClr val="44546A"/>
      </a:dk2>
      <a:lt2>
        <a:srgbClr val="E7E6E6"/>
      </a:lt2>
      <a:accent1>
        <a:srgbClr val="1E64C8"/>
      </a:accent1>
      <a:accent2>
        <a:srgbClr val="D4E3F8"/>
      </a:accent2>
      <a:accent3>
        <a:srgbClr val="FFD200"/>
      </a:accent3>
      <a:accent4>
        <a:srgbClr val="FFF7CD"/>
      </a:accent4>
      <a:accent5>
        <a:srgbClr val="FFED91"/>
      </a:accent5>
      <a:accent6>
        <a:srgbClr val="FFE355"/>
      </a:accent6>
      <a:hlink>
        <a:srgbClr val="0563C1"/>
      </a:hlink>
      <a:folHlink>
        <a:srgbClr val="954F72"/>
      </a:folHlink>
    </a:clrScheme>
    <a:fontScheme name="Universiteit Gent">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noFill/>
        <a:ln w="31750">
          <a:solidFill>
            <a:srgbClr val="1E64C8"/>
          </a:solid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0">
          <a:headEnd type="none" w="lg" len="lg"/>
          <a:tailEnd type="none" w="lg" len="lg"/>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marL="342900" indent="-342900" algn="l">
          <a:lnSpc>
            <a:spcPct val="120000"/>
          </a:lnSpc>
          <a:buFont typeface="Arial" panose="020B0604020202020204" pitchFamily="34" charset="0"/>
          <a:buChar char="–"/>
          <a:defRPr sz="2500" smtClean="0"/>
        </a:defPPr>
      </a:lstStyle>
    </a:txDef>
  </a:objectDefaults>
  <a:extraClrSchemeLst/>
  <a:extLst>
    <a:ext uri="{05A4C25C-085E-4340-85A3-A5531E510DB2}">
      <thm15:themeFamily xmlns:thm15="http://schemas.microsoft.com/office/thememl/2012/main" name="PowerPoint_UGent_NL.potx" id="{CB7437A3-AF41-4FB5-A0AD-03A95F42239C}" vid="{CFCB6CCD-58ED-4028-89EA-51F8B0C9C388}"/>
    </a:ext>
  </a:extLst>
</a:theme>
</file>

<file path=ppt/theme/theme2.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3.xml><?xml version="1.0" encoding="utf-8"?>
<a:theme xmlns:a="http://schemas.openxmlformats.org/drawingml/2006/main" name="3 - Light body slides">
  <a:themeElements>
    <a:clrScheme name="Custom 1">
      <a:dk1>
        <a:srgbClr val="14274C"/>
      </a:dk1>
      <a:lt1>
        <a:srgbClr val="FFFFFF"/>
      </a:lt1>
      <a:dk2>
        <a:srgbClr val="123F93"/>
      </a:dk2>
      <a:lt2>
        <a:srgbClr val="FFFFFF"/>
      </a:lt2>
      <a:accent1>
        <a:srgbClr val="01A2A6"/>
      </a:accent1>
      <a:accent2>
        <a:srgbClr val="ED631C"/>
      </a:accent2>
      <a:accent3>
        <a:srgbClr val="68398E"/>
      </a:accent3>
      <a:accent4>
        <a:srgbClr val="E82E4F"/>
      </a:accent4>
      <a:accent5>
        <a:srgbClr val="00A042"/>
      </a:accent5>
      <a:accent6>
        <a:srgbClr val="FBB60C"/>
      </a:accent6>
      <a:hlink>
        <a:srgbClr val="01A2A6"/>
      </a:hlink>
      <a:folHlink>
        <a:srgbClr val="ED631C"/>
      </a:folHlink>
    </a:clrScheme>
    <a:fontScheme name="Typo_VIB">
      <a:majorFont>
        <a:latin typeface="Trebuchet MS"/>
        <a:ea typeface=""/>
        <a:cs typeface=""/>
      </a:majorFont>
      <a:minorFont>
        <a:latin typeface="Trebuchet M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1" id="{65F48638-E809-431D-AD4A-EBFB27DD6ACB}" vid="{84568548-CC5C-4BD0-BBFC-1327CA9E48EC}"/>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Description xmlns="d7671653-5777-4515-be6d-22c95294c830" xsi:nil="true"/>
    <ShortName xmlns="d7671653-5777-4515-be6d-22c95294c830" xsi:nil="true"/>
    <Domain xmlns="d7671653-5777-4515-be6d-22c95294c830" xsi:nil="true"/>
    <Valuablesection xmlns="d7671653-5777-4515-be6d-22c95294c830" xsi:nil="true"/>
    <DMPversion xmlns="d7671653-5777-4515-be6d-22c95294c830" xsi:nil="true"/>
    <Shareable xmlns="d7671653-5777-4515-be6d-22c95294c830" xsi:nil="true"/>
    <WorkPackage xmlns="d7671653-5777-4515-be6d-22c95294c830" xsi:nil="true"/>
    <TaxCatchAll xmlns="ed73d88f-2738-4c68-a2de-96dc89f05060" xsi:nil="true"/>
    <lcf76f155ced4ddcb4097134ff3c332f xmlns="d7671653-5777-4515-be6d-22c95294c830">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08D042C8B98F4EAC07EAED7929CC0B" ma:contentTypeVersion="29" ma:contentTypeDescription="Create a new document." ma:contentTypeScope="" ma:versionID="c4d423602de6a8cfd3f2cd01e9719a5e">
  <xsd:schema xmlns:xsd="http://www.w3.org/2001/XMLSchema" xmlns:xs="http://www.w3.org/2001/XMLSchema" xmlns:p="http://schemas.microsoft.com/office/2006/metadata/properties" xmlns:ns2="d7671653-5777-4515-be6d-22c95294c830" xmlns:ns3="ed73d88f-2738-4c68-a2de-96dc89f05060" targetNamespace="http://schemas.microsoft.com/office/2006/metadata/properties" ma:root="true" ma:fieldsID="53c7e96fffe7db095a24aaffa850286b" ns2:_="" ns3:_="">
    <xsd:import namespace="d7671653-5777-4515-be6d-22c95294c830"/>
    <xsd:import namespace="ed73d88f-2738-4c68-a2de-96dc89f050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Description" minOccurs="0"/>
                <xsd:element ref="ns3:SharedWithUsers" minOccurs="0"/>
                <xsd:element ref="ns3:SharedWithDetails" minOccurs="0"/>
                <xsd:element ref="ns2:MediaServiceAutoKeyPoints" minOccurs="0"/>
                <xsd:element ref="ns2:MediaServiceKeyPoints" minOccurs="0"/>
                <xsd:element ref="ns2:MediaServiceGenerationTime" minOccurs="0"/>
                <xsd:element ref="ns2:MediaServiceEventHashCode" minOccurs="0"/>
                <xsd:element ref="ns2:ShortName" minOccurs="0"/>
                <xsd:element ref="ns2:MediaServiceDateTaken" minOccurs="0"/>
                <xsd:element ref="ns2:Domain" minOccurs="0"/>
                <xsd:element ref="ns2:Valuablesection" minOccurs="0"/>
                <xsd:element ref="ns2:DMPversion" minOccurs="0"/>
                <xsd:element ref="ns2:Shareable" minOccurs="0"/>
                <xsd:element ref="ns2:MediaLengthInSeconds" minOccurs="0"/>
                <xsd:element ref="ns2:WorkPackage" minOccurs="0"/>
                <xsd:element ref="ns2:lcf76f155ced4ddcb4097134ff3c332f" minOccurs="0"/>
                <xsd:element ref="ns3:TaxCatchAll" minOccurs="0"/>
                <xsd:element ref="ns2:MediaServiceObjectDetectorVersions" minOccurs="0"/>
                <xsd:element ref="ns2:MediaServiceSearchProperties" minOccurs="0"/>
                <xsd:element ref="ns2:MediaServiceLocation"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7671653-5777-4515-be6d-22c95294c8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description=""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Description" ma:index="12" nillable="true" ma:displayName="Description" ma:format="Dropdown" ma:internalName="Description">
      <xsd:simpleType>
        <xsd:restriction base="dms:Note">
          <xsd:maxLength value="255"/>
        </xsd:restrictio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ShortName" ma:index="19" nillable="true" ma:displayName="Short Name" ma:format="Dropdown" ma:internalName="ShortName">
      <xsd:simpleType>
        <xsd:restriction base="dms:Choice">
          <xsd:enumeration value="FWO"/>
          <xsd:enumeration value="H2020"/>
          <xsd:enumeration value="BELSPO"/>
          <xsd:enumeration value="UGent"/>
        </xsd:restriction>
      </xsd:simpleType>
    </xsd:element>
    <xsd:element name="MediaServiceDateTaken" ma:index="20" nillable="true" ma:displayName="MediaServiceDateTaken" ma:hidden="true" ma:internalName="MediaServiceDateTaken" ma:readOnly="true">
      <xsd:simpleType>
        <xsd:restriction base="dms:Text"/>
      </xsd:simpleType>
    </xsd:element>
    <xsd:element name="Domain" ma:index="21" nillable="true" ma:displayName="Domain" ma:format="Dropdown" ma:internalName="Domain">
      <xsd:complexType>
        <xsd:complexContent>
          <xsd:extension base="dms:MultiChoice">
            <xsd:sequence>
              <xsd:element name="Value" maxOccurs="unbounded" minOccurs="0" nillable="true">
                <xsd:simpleType>
                  <xsd:restriction base="dms:Choice">
                    <xsd:enumeration value="Social and Behavioral Scences"/>
                    <xsd:enumeration value="Life Sciences"/>
                    <xsd:enumeration value="(Bio)Engineering"/>
                    <xsd:enumeration value="Natural Sciences"/>
                    <xsd:enumeration value="Law, Art and Humanities"/>
                  </xsd:restriction>
                </xsd:simpleType>
              </xsd:element>
            </xsd:sequence>
          </xsd:extension>
        </xsd:complexContent>
      </xsd:complexType>
    </xsd:element>
    <xsd:element name="Valuablesection" ma:index="22" nillable="true" ma:displayName="Valuable section" ma:format="Dropdown" ma:internalName="Valuablesection">
      <xsd:complexType>
        <xsd:complexContent>
          <xsd:extension base="dms:MultiChoice">
            <xsd:sequence>
              <xsd:element name="Value" maxOccurs="unbounded" minOccurs="0" nillable="true">
                <xsd:simpleType>
                  <xsd:restriction base="dms:Choice">
                    <xsd:enumeration value="Data description"/>
                    <xsd:enumeration value="Metadata and documentation"/>
                    <xsd:enumeration value="Data storage and security"/>
                    <xsd:enumeration value="Preservation"/>
                    <xsd:enumeration value="Data sharing"/>
                    <xsd:enumeration value="Ethical and legal issues"/>
                    <xsd:enumeration value="Costs and resources"/>
                    <xsd:enumeration value="Responsibilities"/>
                  </xsd:restriction>
                </xsd:simpleType>
              </xsd:element>
            </xsd:sequence>
          </xsd:extension>
        </xsd:complexContent>
      </xsd:complexType>
    </xsd:element>
    <xsd:element name="DMPversion" ma:index="23" nillable="true" ma:displayName="DMP version" ma:format="Dropdown" ma:internalName="DMPversion">
      <xsd:simpleType>
        <xsd:restriction base="dms:Choice">
          <xsd:enumeration value="Proposal"/>
          <xsd:enumeration value="V1 (6M)"/>
          <xsd:enumeration value="Other"/>
          <xsd:enumeration value="Final"/>
        </xsd:restriction>
      </xsd:simpleType>
    </xsd:element>
    <xsd:element name="Shareable" ma:index="24" nillable="true" ma:displayName="Shareable" ma:description="Specify whether there is permission by the author(s) to share the DMP" ma:format="Dropdown" ma:internalName="Shareable">
      <xsd:simpleType>
        <xsd:restriction base="dms:Choice">
          <xsd:enumeration value="Not shareable"/>
          <xsd:enumeration value="Internally"/>
          <xsd:enumeration value="Externally"/>
          <xsd:enumeration value="Already public"/>
        </xsd:restriction>
      </xsd:simpleType>
    </xsd:element>
    <xsd:element name="MediaLengthInSeconds" ma:index="26" nillable="true" ma:displayName="Length (seconds)" ma:internalName="MediaLengthInSeconds" ma:readOnly="true">
      <xsd:simpleType>
        <xsd:restriction base="dms:Unknown"/>
      </xsd:simpleType>
    </xsd:element>
    <xsd:element name="WorkPackage" ma:index="27" nillable="true" ma:displayName="Work Package" ma:format="Dropdown" ma:internalName="WorkPackage">
      <xsd:simpleType>
        <xsd:restriction base="dms:Text">
          <xsd:maxLength value="255"/>
        </xsd:restriction>
      </xsd:simpleType>
    </xsd:element>
    <xsd:element name="lcf76f155ced4ddcb4097134ff3c332f" ma:index="29" nillable="true" ma:taxonomy="true" ma:internalName="lcf76f155ced4ddcb4097134ff3c332f" ma:taxonomyFieldName="MediaServiceImageTags" ma:displayName="Image Tags" ma:readOnly="false" ma:fieldId="{5cf76f15-5ced-4ddc-b409-7134ff3c332f}" ma:taxonomyMulti="true" ma:sspId="3b9bb814-139f-4039-9463-697760f06ab3"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1" nillable="true" ma:displayName="MediaServiceObjectDetectorVersions" ma:hidden="true" ma:indexed="true" ma:internalName="MediaServiceObjectDetectorVersions" ma:readOnly="true">
      <xsd:simpleType>
        <xsd:restriction base="dms:Text"/>
      </xsd:simpleType>
    </xsd:element>
    <xsd:element name="MediaServiceSearchProperties" ma:index="32" nillable="true" ma:displayName="MediaServiceSearchProperties" ma:hidden="true" ma:internalName="MediaServiceSearchProperties" ma:readOnly="true">
      <xsd:simpleType>
        <xsd:restriction base="dms:Note"/>
      </xsd:simpleType>
    </xsd:element>
    <xsd:element name="MediaServiceLocation" ma:index="33" nillable="true" ma:displayName="Location" ma:indexed="true" ma:internalName="MediaServiceLocation" ma:readOnly="true">
      <xsd:simpleType>
        <xsd:restriction base="dms:Text"/>
      </xsd:simpleType>
    </xsd:element>
    <xsd:element name="MediaServiceBillingMetadata" ma:index="34"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d73d88f-2738-4c68-a2de-96dc89f05060"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0" nillable="true" ma:displayName="Taxonomy Catch All Column" ma:hidden="true" ma:list="{e944e1ce-d024-48cd-a551-62c6bb5628b5}" ma:internalName="TaxCatchAll" ma:showField="CatchAllData" ma:web="ed73d88f-2738-4c68-a2de-96dc89f0506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25"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1724947-ABC3-4966-97E8-E88CB6E98BAB}">
  <ds:schemaRefs>
    <ds:schemaRef ds:uri="http://schemas.openxmlformats.org/package/2006/metadata/core-properties"/>
    <ds:schemaRef ds:uri="http://purl.org/dc/terms/"/>
    <ds:schemaRef ds:uri="http://schemas.microsoft.com/office/2006/metadata/properties"/>
    <ds:schemaRef ds:uri="http://www.w3.org/XML/1998/namespace"/>
    <ds:schemaRef ds:uri="http://purl.org/dc/elements/1.1/"/>
    <ds:schemaRef ds:uri="ed73d88f-2738-4c68-a2de-96dc89f05060"/>
    <ds:schemaRef ds:uri="http://schemas.microsoft.com/office/2006/documentManagement/types"/>
    <ds:schemaRef ds:uri="http://purl.org/dc/dcmitype/"/>
    <ds:schemaRef ds:uri="http://schemas.microsoft.com/office/infopath/2007/PartnerControls"/>
    <ds:schemaRef ds:uri="d7671653-5777-4515-be6d-22c95294c830"/>
  </ds:schemaRefs>
</ds:datastoreItem>
</file>

<file path=customXml/itemProps2.xml><?xml version="1.0" encoding="utf-8"?>
<ds:datastoreItem xmlns:ds="http://schemas.openxmlformats.org/officeDocument/2006/customXml" ds:itemID="{EBD9AC93-B98E-4B05-BF1D-91BF5EB162B0}">
  <ds:schemaRefs>
    <ds:schemaRef ds:uri="http://schemas.microsoft.com/sharepoint/v3/contenttype/forms"/>
  </ds:schemaRefs>
</ds:datastoreItem>
</file>

<file path=customXml/itemProps3.xml><?xml version="1.0" encoding="utf-8"?>
<ds:datastoreItem xmlns:ds="http://schemas.openxmlformats.org/officeDocument/2006/customXml" ds:itemID="{15798FF3-3725-4E84-A69B-EFD14284D62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7671653-5777-4515-be6d-22c95294c830"/>
    <ds:schemaRef ds:uri="ed73d88f-2738-4c68-a2de-96dc89f050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PowerPoint_UGent_NL</Template>
  <TotalTime>0</TotalTime>
  <Words>4612</Words>
  <Application>Microsoft Office PowerPoint</Application>
  <PresentationFormat>Custom</PresentationFormat>
  <Paragraphs>686</Paragraphs>
  <Slides>55</Slides>
  <Notes>29</Notes>
  <HiddenSlides>3</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55</vt:i4>
      </vt:variant>
    </vt:vector>
  </HeadingPairs>
  <TitlesOfParts>
    <vt:vector size="63" baseType="lpstr">
      <vt:lpstr>Calibri</vt:lpstr>
      <vt:lpstr>Arial</vt:lpstr>
      <vt:lpstr>UGent Panno Text</vt:lpstr>
      <vt:lpstr>Wingdings</vt:lpstr>
      <vt:lpstr>Trebuchet MS</vt:lpstr>
      <vt:lpstr>Office Theme</vt:lpstr>
      <vt:lpstr>3 - Light body slides</vt:lpstr>
      <vt:lpstr>3 - Light body slides</vt:lpstr>
      <vt:lpstr>Storing research information safely</vt:lpstr>
      <vt:lpstr>Things go wrong</vt:lpstr>
      <vt:lpstr>PowerPoint Presentation</vt:lpstr>
      <vt:lpstr>Keeping data safe</vt:lpstr>
      <vt:lpstr>Exercise</vt:lpstr>
      <vt:lpstr>Data Core storage solutions</vt:lpstr>
      <vt:lpstr>recommended practices: UGent platforms</vt:lpstr>
      <vt:lpstr>File formats file organization &amp; version control</vt:lpstr>
      <vt:lpstr>File formats</vt:lpstr>
      <vt:lpstr>FILE FORMATs </vt:lpstr>
      <vt:lpstr>FILE FORMATs: Open vs. closed</vt:lpstr>
      <vt:lpstr>file migration &amp; compression</vt:lpstr>
      <vt:lpstr>FILE FORMATs: recommended file formats</vt:lpstr>
      <vt:lpstr>Domain specific data standards: examples</vt:lpstr>
      <vt:lpstr>File organization</vt:lpstr>
      <vt:lpstr>PowerPoint Presentation</vt:lpstr>
      <vt:lpstr>file organization: WHAT AND Why </vt:lpstr>
      <vt:lpstr>file organization: HOW </vt:lpstr>
      <vt:lpstr>File naming</vt:lpstr>
      <vt:lpstr>Develop file naming convention</vt:lpstr>
      <vt:lpstr>File naming: Best practices</vt:lpstr>
      <vt:lpstr>Tools for bulk renaming</vt:lpstr>
      <vt:lpstr>Folder hierarchy</vt:lpstr>
      <vt:lpstr>Plan Folder hierarchy</vt:lpstr>
      <vt:lpstr>Creating a systematic file folder hierarchy</vt:lpstr>
      <vt:lpstr>Plan Folder hierarchy: examples</vt:lpstr>
      <vt:lpstr>Sharepoint template: Research Data Management workspace</vt:lpstr>
      <vt:lpstr>Metadata in sharepoint</vt:lpstr>
      <vt:lpstr>Folder structure vs. metadata</vt:lpstr>
      <vt:lpstr>File organisation and documentation</vt:lpstr>
      <vt:lpstr>Version control</vt:lpstr>
      <vt:lpstr>Version control</vt:lpstr>
      <vt:lpstr>Version control</vt:lpstr>
      <vt:lpstr>Version control – strategies</vt:lpstr>
      <vt:lpstr>Manual change logs</vt:lpstr>
      <vt:lpstr>AUTOMATIC CHANGE LOGS</vt:lpstr>
      <vt:lpstr>Version control – best practices</vt:lpstr>
      <vt:lpstr>Version control in M365 (sharepoint / onedrive)</vt:lpstr>
      <vt:lpstr>Cloud storage with version control</vt:lpstr>
      <vt:lpstr>Version control in OSF (ugent supported platform)</vt:lpstr>
      <vt:lpstr>Version control in github</vt:lpstr>
      <vt:lpstr>Summary</vt:lpstr>
      <vt:lpstr>Take-home messages</vt:lpstr>
      <vt:lpstr>EXERCISE</vt:lpstr>
      <vt:lpstr>Organize sewage sludge files in folders</vt:lpstr>
      <vt:lpstr>TIPS FOR EXERCISE</vt:lpstr>
      <vt:lpstr>File naming and organization</vt:lpstr>
      <vt:lpstr>Creating a file naming schema</vt:lpstr>
      <vt:lpstr>Creating a file naming schema</vt:lpstr>
      <vt:lpstr>Creating a file naming schema</vt:lpstr>
      <vt:lpstr>document the file organization system</vt:lpstr>
      <vt:lpstr>File naming: examples</vt:lpstr>
      <vt:lpstr>Sewage sludge project </vt:lpstr>
      <vt:lpstr>Example</vt:lpstr>
      <vt:lpstr>Break</vt:lpstr>
    </vt:vector>
  </TitlesOfParts>
  <Manager/>
  <Company>Universiteit Gent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Jan Lammertyn</dc:creator>
  <cp:keywords/>
  <dc:description/>
  <cp:lastModifiedBy>Matheus Pereira da Cruz Gomes Lourenço</cp:lastModifiedBy>
  <cp:revision>205</cp:revision>
  <cp:lastPrinted>2016-10-27T14:59:04Z</cp:lastPrinted>
  <dcterms:created xsi:type="dcterms:W3CDTF">2019-10-04T08:58:30Z</dcterms:created>
  <dcterms:modified xsi:type="dcterms:W3CDTF">2025-11-02T19:47:37Z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icensed to">
    <vt:lpwstr>Ghent University</vt:lpwstr>
  </property>
  <property fmtid="{D5CDD505-2E9C-101B-9397-08002B2CF9AE}" pid="3" name="Version">
    <vt:lpwstr>1.1</vt:lpwstr>
  </property>
  <property fmtid="{D5CDD505-2E9C-101B-9397-08002B2CF9AE}" pid="4" name="Date">
    <vt:filetime>2019-05-23T22:00:00Z</vt:filetime>
  </property>
  <property fmtid="{D5CDD505-2E9C-101B-9397-08002B2CF9AE}" pid="5" name="Build">
    <vt:lpwstr>20</vt:lpwstr>
  </property>
  <property fmtid="{D5CDD505-2E9C-101B-9397-08002B2CF9AE}" pid="6" name="ContentTypeId">
    <vt:lpwstr>0x010100E008D042C8B98F4EAC07EAED7929CC0B</vt:lpwstr>
  </property>
  <property fmtid="{D5CDD505-2E9C-101B-9397-08002B2CF9AE}" pid="7" name="MediaServiceImageTags">
    <vt:lpwstr/>
  </property>
</Properties>
</file>