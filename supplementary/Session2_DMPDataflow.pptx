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E51_82705E2E.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36"/>
  </p:notesMasterIdLst>
  <p:sldIdLst>
    <p:sldId id="2076138169" r:id="rId5"/>
    <p:sldId id="3854" r:id="rId6"/>
    <p:sldId id="3855" r:id="rId7"/>
    <p:sldId id="2076138170" r:id="rId8"/>
    <p:sldId id="2076138171" r:id="rId9"/>
    <p:sldId id="1011" r:id="rId10"/>
    <p:sldId id="2076138155" r:id="rId11"/>
    <p:sldId id="3497" r:id="rId12"/>
    <p:sldId id="3835" r:id="rId13"/>
    <p:sldId id="2076138157" r:id="rId14"/>
    <p:sldId id="1023" r:id="rId15"/>
    <p:sldId id="1025" r:id="rId16"/>
    <p:sldId id="3846" r:id="rId17"/>
    <p:sldId id="3858" r:id="rId18"/>
    <p:sldId id="3857" r:id="rId19"/>
    <p:sldId id="3829" r:id="rId20"/>
    <p:sldId id="3664" r:id="rId21"/>
    <p:sldId id="3665" r:id="rId22"/>
    <p:sldId id="2076138158" r:id="rId23"/>
    <p:sldId id="2076138159" r:id="rId24"/>
    <p:sldId id="2076138160" r:id="rId25"/>
    <p:sldId id="2076138162" r:id="rId26"/>
    <p:sldId id="2076138163" r:id="rId27"/>
    <p:sldId id="2076138165" r:id="rId28"/>
    <p:sldId id="2076138166" r:id="rId29"/>
    <p:sldId id="2076138140" r:id="rId30"/>
    <p:sldId id="2076138137" r:id="rId31"/>
    <p:sldId id="3666" r:id="rId32"/>
    <p:sldId id="2076138167" r:id="rId33"/>
    <p:sldId id="2076138138" r:id="rId34"/>
    <p:sldId id="2076138168" r:id="rId35"/>
  </p:sldIdLst>
  <p:sldSz cx="12192000" cy="6858000"/>
  <p:notesSz cx="7315200" cy="9601200"/>
  <p:custDataLst>
    <p:tags r:id="rId37"/>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51012E-0D0B-03A6-D324-3B8EFD84544F}" name="Sylvette Vanderstraeten" initials="SV" userId="S::sylvette.vanderstraeten@kuleuven.be::6f71c3ba-96a3-404d-bf65-d996c10ed4b8" providerId="AD"/>
  <p188:author id="{B6E7D863-8091-9885-931E-DB95B0CE8FAE}" name="Thomas Vandendriessche" initials="TV" userId="S::thomas.vandendriessche@kuleuven.be::0edddf14-2315-41fa-874e-b9401e92ed66" providerId="AD"/>
  <p188:author id="{425A266B-91A8-06DB-0AD7-B2603184A636}" name="Inge Mannaerts" initials="IM" userId="S::inge.mannaerts@kuleuven.be::2762d956-3ea5-4a4c-abd9-53d1d6532ed5" providerId="AD"/>
  <p188:author id="{55D22095-2F75-5BE7-3F3F-F96FD6230986}" name="Sylvette" initials="S" userId="Sylvette" providerId="None"/>
  <p188:author id="{E8E17AAC-5A01-F2DE-ED00-5B558CEB43EF}" name="Jef Scheepers" initials="JS" userId="S::jef.scheepers@kuleuven.be::d748e0ab-de9b-4300-9e22-3789d39ac2cd" providerId="AD"/>
  <p188:author id="{29BEBAC3-1CA9-8504-2BE8-45528591F437}" name="Matheus Pereira da Cruz Gomes Lourenço" initials="ML" userId="S::matheus.lourenco_vib.be#ext#@kuleuven.onmicrosoft.com::9147c616-8738-4209-b661-98fc7af49737" providerId="AD"/>
  <p188:author id="{F47F22CE-0C6F-7BA1-0C67-A81DCF15CEF1}" name="Anouk D'Hont" initials="AD" userId="S::anouk.dhont@kuleuven.be::72c70568-ce9e-4b63-99f5-9dc9ea50da7e" providerId="AD"/>
  <p188:author id="{DABD7BCE-C51D-109D-340A-ECF3ADFEA6E0}" name="Marleen Marynissen" initials="MM" userId="S::marleen.marynissen@kuleuven.be::270a49f6-b039-4287-8117-c9b0ad5029bf" providerId="AD"/>
  <p188:author id="{B93C8CDE-F7F1-BBA0-14AC-6FEB85B0C01A}" name="Maarten Jackers" initials="MJ" userId="S::maarten.jackers@kuleuven.be::31d4f685-751d-4163-a6c7-a746291daf3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E77"/>
    <a:srgbClr val="FF9999"/>
    <a:srgbClr val="FFDF7F"/>
    <a:srgbClr val="7FD7F7"/>
    <a:srgbClr val="A8DEF5"/>
    <a:srgbClr val="FFFFFF"/>
    <a:srgbClr val="FDF4B1"/>
    <a:srgbClr val="FFC9C9"/>
    <a:srgbClr val="FFB3B3"/>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1389F8-AD38-48A1-A06C-BAE453AA7072}" v="1" dt="2026-01-05T14:08:39.3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omments/modernComment_E51_82705E2E.xml><?xml version="1.0" encoding="utf-8"?>
<p188:cmLst xmlns:a="http://schemas.openxmlformats.org/drawingml/2006/main" xmlns:r="http://schemas.openxmlformats.org/officeDocument/2006/relationships" xmlns:p188="http://schemas.microsoft.com/office/powerpoint/2018/8/main">
  <p188:cm id="{A2A8D8BE-5235-4FCB-A34B-EAA41CE7751D}" authorId="{B851012E-0D0B-03A6-D324-3B8EFD84544F}" status="resolved" created="2025-11-21T11:02:26.507" complete="100000">
    <ac:txMkLst xmlns:ac="http://schemas.microsoft.com/office/drawing/2013/main/command">
      <pc:docMk xmlns:pc="http://schemas.microsoft.com/office/powerpoint/2013/main/command"/>
      <pc:sldMk xmlns:pc="http://schemas.microsoft.com/office/powerpoint/2013/main/command" cId="2188402222" sldId="3665"/>
      <ac:spMk id="3" creationId="{233EC6B2-0C12-DD4B-E7B7-93AB12DDB7D4}"/>
      <ac:txMk cp="62" len="32">
        <ac:context len="232" hash="4107485999"/>
      </ac:txMk>
    </ac:txMkLst>
    <p188:pos x="4825340" y="633842"/>
    <p188:replyLst>
      <p188:reply id="{D4BCC76C-D6FC-4D4B-8880-ECF73FCA7E89}" authorId="{B851012E-0D0B-03A6-D324-3B8EFD84544F}" created="2025-11-21T11:02:50.756">
        <p188:txBody>
          <a:bodyPr/>
          <a:lstStyle/>
          <a:p>
            <a:r>
              <a:rPr lang="nl-BE"/>
              <a:t>Yellow collor: #FFD966</a:t>
            </a:r>
          </a:p>
        </p188:txBody>
      </p188:reply>
    </p188:replyLst>
    <p188:txBody>
      <a:bodyPr/>
      <a:lstStyle/>
      <a:p>
        <a:r>
          <a:rPr lang="nl-BE"/>
          <a:t>Blue collor: #7FD7F7</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GB"/>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2C3C195-1416-4737-BDB6-5C4135B78FB8}" type="datetimeFigureOut">
              <a:rPr lang="en-GB" smtClean="0"/>
              <a:t>05/01/2026</a:t>
            </a:fld>
            <a:endParaRPr lang="en-GB"/>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GB"/>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GB"/>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66F3AD96-DE29-4307-90C2-798F20EDC7DA}" type="slidenum">
              <a:rPr lang="en-GB" smtClean="0"/>
              <a:t>‹#›</a:t>
            </a:fld>
            <a:endParaRPr lang="en-GB"/>
          </a:p>
        </p:txBody>
      </p:sp>
    </p:spTree>
    <p:extLst>
      <p:ext uri="{BB962C8B-B14F-4D97-AF65-F5344CB8AC3E}">
        <p14:creationId xmlns:p14="http://schemas.microsoft.com/office/powerpoint/2010/main" val="4100962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10"/>
          </p:nvPr>
        </p:nvSpPr>
        <p:spPr/>
        <p:txBody>
          <a:bodyPr/>
          <a:lstStyle/>
          <a:p>
            <a:fld id="{76F6EB55-D046-4316-A421-6DEA4C9E91D3}" type="slidenum">
              <a:rPr lang="nl-NL" smtClean="0"/>
              <a:t>6</a:t>
            </a:fld>
            <a:endParaRPr lang="nl-NL"/>
          </a:p>
        </p:txBody>
      </p:sp>
    </p:spTree>
    <p:extLst>
      <p:ext uri="{BB962C8B-B14F-4D97-AF65-F5344CB8AC3E}">
        <p14:creationId xmlns:p14="http://schemas.microsoft.com/office/powerpoint/2010/main" val="3049847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F414E-8142-4C78-B86C-780A0E6D7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87BAA-C074-AD40-8559-400706948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3873F-134F-F829-CB24-5D9521E5A6B3}"/>
              </a:ext>
            </a:extLst>
          </p:cNvPr>
          <p:cNvSpPr>
            <a:spLocks noGrp="1"/>
          </p:cNvSpPr>
          <p:nvPr>
            <p:ph type="body" idx="1"/>
          </p:nvPr>
        </p:nvSpPr>
        <p:spPr/>
        <p:txBody>
          <a:bodyPr/>
          <a:lstStyle/>
          <a:p>
            <a:endParaRPr lang="nl-BE"/>
          </a:p>
        </p:txBody>
      </p:sp>
      <p:sp>
        <p:nvSpPr>
          <p:cNvPr id="4" name="Slide Number Placeholder 3">
            <a:extLst>
              <a:ext uri="{FF2B5EF4-FFF2-40B4-BE49-F238E27FC236}">
                <a16:creationId xmlns:a16="http://schemas.microsoft.com/office/drawing/2014/main" id="{0BBBA773-C643-3863-1251-1C3500447567}"/>
              </a:ext>
            </a:extLst>
          </p:cNvPr>
          <p:cNvSpPr>
            <a:spLocks noGrp="1"/>
          </p:cNvSpPr>
          <p:nvPr>
            <p:ph type="sldNum" sz="quarter" idx="10"/>
          </p:nvPr>
        </p:nvSpPr>
        <p:spPr/>
        <p:txBody>
          <a:bodyPr/>
          <a:lstStyle/>
          <a:p>
            <a:fld id="{76F6EB55-D046-4316-A421-6DEA4C9E91D3}" type="slidenum">
              <a:rPr lang="nl-NL" smtClean="0"/>
              <a:t>7</a:t>
            </a:fld>
            <a:endParaRPr lang="nl-NL"/>
          </a:p>
        </p:txBody>
      </p:sp>
    </p:spTree>
    <p:extLst>
      <p:ext uri="{BB962C8B-B14F-4D97-AF65-F5344CB8AC3E}">
        <p14:creationId xmlns:p14="http://schemas.microsoft.com/office/powerpoint/2010/main" val="1473189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aseline="0"/>
              <a:t>.</a:t>
            </a:r>
            <a:endParaRPr lang="nl-BE"/>
          </a:p>
        </p:txBody>
      </p:sp>
      <p:sp>
        <p:nvSpPr>
          <p:cNvPr id="4" name="Slide Number Placeholder 3"/>
          <p:cNvSpPr>
            <a:spLocks noGrp="1"/>
          </p:cNvSpPr>
          <p:nvPr>
            <p:ph type="sldNum" sz="quarter" idx="10"/>
          </p:nvPr>
        </p:nvSpPr>
        <p:spPr/>
        <p:txBody>
          <a:bodyPr/>
          <a:lstStyle/>
          <a:p>
            <a:fld id="{76F6EB55-D046-4316-A421-6DEA4C9E91D3}" type="slidenum">
              <a:rPr lang="nl-NL" smtClean="0"/>
              <a:t>11</a:t>
            </a:fld>
            <a:endParaRPr lang="nl-NL"/>
          </a:p>
        </p:txBody>
      </p:sp>
    </p:spTree>
    <p:extLst>
      <p:ext uri="{BB962C8B-B14F-4D97-AF65-F5344CB8AC3E}">
        <p14:creationId xmlns:p14="http://schemas.microsoft.com/office/powerpoint/2010/main" val="2942507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10"/>
          </p:nvPr>
        </p:nvSpPr>
        <p:spPr/>
        <p:txBody>
          <a:bodyPr/>
          <a:lstStyle/>
          <a:p>
            <a:fld id="{76F6EB55-D046-4316-A421-6DEA4C9E91D3}" type="slidenum">
              <a:rPr lang="nl-NL" smtClean="0"/>
              <a:t>12</a:t>
            </a:fld>
            <a:endParaRPr lang="nl-NL"/>
          </a:p>
        </p:txBody>
      </p:sp>
    </p:spTree>
    <p:extLst>
      <p:ext uri="{BB962C8B-B14F-4D97-AF65-F5344CB8AC3E}">
        <p14:creationId xmlns:p14="http://schemas.microsoft.com/office/powerpoint/2010/main" val="3343716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DMP = very good summary tool</a:t>
            </a:r>
          </a:p>
          <a:p>
            <a:r>
              <a:rPr lang="en-US"/>
              <a:t>But not a plan building tool (not designed that way)</a:t>
            </a:r>
          </a:p>
          <a:p>
            <a:endParaRPr lang="nl-BE"/>
          </a:p>
        </p:txBody>
      </p:sp>
      <p:sp>
        <p:nvSpPr>
          <p:cNvPr id="4" name="Slide Number Placeholder 3"/>
          <p:cNvSpPr>
            <a:spLocks noGrp="1"/>
          </p:cNvSpPr>
          <p:nvPr>
            <p:ph type="sldNum" sz="quarter" idx="5"/>
          </p:nvPr>
        </p:nvSpPr>
        <p:spPr/>
        <p:txBody>
          <a:bodyPr/>
          <a:lstStyle/>
          <a:p>
            <a:fld id="{66F3AD96-DE29-4307-90C2-798F20EDC7DA}" type="slidenum">
              <a:rPr lang="en-GB" smtClean="0"/>
              <a:t>14</a:t>
            </a:fld>
            <a:endParaRPr lang="en-GB"/>
          </a:p>
        </p:txBody>
      </p:sp>
    </p:spTree>
    <p:extLst>
      <p:ext uri="{BB962C8B-B14F-4D97-AF65-F5344CB8AC3E}">
        <p14:creationId xmlns:p14="http://schemas.microsoft.com/office/powerpoint/2010/main" val="2278685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session: not only plan for compliance, but building exercise to ensure</a:t>
            </a:r>
          </a:p>
          <a:p>
            <a:pPr marL="228600" indent="-228600">
              <a:buAutoNum type="arabicPeriod"/>
            </a:pPr>
            <a:r>
              <a:rPr lang="en-US"/>
              <a:t>Interconnectivity between parts </a:t>
            </a:r>
          </a:p>
          <a:p>
            <a:pPr marL="228600" indent="-228600">
              <a:buAutoNum type="arabicPeriod"/>
            </a:pPr>
            <a:r>
              <a:rPr lang="en-US"/>
              <a:t>Completeness – identify the gaps</a:t>
            </a:r>
          </a:p>
          <a:p>
            <a:pPr marL="228600" indent="-228600">
              <a:buAutoNum type="arabicPeriod"/>
            </a:pPr>
            <a:r>
              <a:rPr lang="en-US"/>
              <a:t>Agency – it is your choice, you get to build it</a:t>
            </a:r>
          </a:p>
          <a:p>
            <a:pPr marL="228600" indent="-228600">
              <a:buAutoNum type="arabicPeriod"/>
            </a:pPr>
            <a:endParaRPr lang="nl-BE"/>
          </a:p>
        </p:txBody>
      </p:sp>
      <p:sp>
        <p:nvSpPr>
          <p:cNvPr id="4" name="Slide Number Placeholder 3"/>
          <p:cNvSpPr>
            <a:spLocks noGrp="1"/>
          </p:cNvSpPr>
          <p:nvPr>
            <p:ph type="sldNum" sz="quarter" idx="5"/>
          </p:nvPr>
        </p:nvSpPr>
        <p:spPr/>
        <p:txBody>
          <a:bodyPr/>
          <a:lstStyle/>
          <a:p>
            <a:fld id="{66F3AD96-DE29-4307-90C2-798F20EDC7DA}" type="slidenum">
              <a:rPr lang="en-GB" smtClean="0"/>
              <a:t>15</a:t>
            </a:fld>
            <a:endParaRPr lang="en-GB"/>
          </a:p>
        </p:txBody>
      </p:sp>
    </p:spTree>
    <p:extLst>
      <p:ext uri="{BB962C8B-B14F-4D97-AF65-F5344CB8AC3E}">
        <p14:creationId xmlns:p14="http://schemas.microsoft.com/office/powerpoint/2010/main" val="991825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Story:</a:t>
            </a:r>
          </a:p>
          <a:p>
            <a:pPr marL="171450" indent="-171450">
              <a:buFontTx/>
              <a:buChar char="-"/>
            </a:pPr>
            <a:r>
              <a:rPr lang="en-US"/>
              <a:t>We are pretty ambitious and want you guys to leave with some tangential – useful outputs that will serve you during your project. This is a pilot so we’ll have to see how it goes, but we are hopeful it will be worth your while</a:t>
            </a:r>
          </a:p>
          <a:p>
            <a:pPr marL="171450" indent="-171450">
              <a:buFontTx/>
              <a:buChar char="-"/>
            </a:pPr>
            <a:r>
              <a:rPr lang="en-US"/>
              <a:t>But we only have 1 day, so it will be for a subset of your project. But hopefully you’ll know enough by the end to do all this for the rest of your project as well</a:t>
            </a:r>
          </a:p>
          <a:p>
            <a:pPr marL="171450" indent="-171450">
              <a:buFontTx/>
              <a:buChar char="-"/>
            </a:pPr>
            <a:r>
              <a:rPr lang="en-US"/>
              <a:t>A visual overview of your project or dataflow, with a very detailed highlight on one part</a:t>
            </a:r>
          </a:p>
          <a:p>
            <a:pPr marL="171450" indent="-171450">
              <a:buFontTx/>
              <a:buChar char="-"/>
            </a:pPr>
            <a:r>
              <a:rPr lang="en-US"/>
              <a:t>With this, a very comprehensive documentation and storage plan</a:t>
            </a:r>
          </a:p>
          <a:p>
            <a:pPr marL="171450" indent="-171450">
              <a:buFontTx/>
              <a:buChar char="-"/>
            </a:pPr>
            <a:r>
              <a:rPr lang="en-US"/>
              <a:t>A file naming and folder structure scheme</a:t>
            </a:r>
          </a:p>
          <a:p>
            <a:pPr marL="171450" indent="-171450">
              <a:buFontTx/>
              <a:buChar char="-"/>
            </a:pPr>
            <a:r>
              <a:rPr lang="en-US"/>
              <a:t>And a partly filled in Project README file to document the high level stuff</a:t>
            </a:r>
          </a:p>
          <a:p>
            <a:pPr marL="171450" indent="-171450">
              <a:buFontTx/>
              <a:buChar char="-"/>
            </a:pPr>
            <a:endParaRPr lang="en-US"/>
          </a:p>
          <a:p>
            <a:pPr marL="171450" indent="-171450">
              <a:buFontTx/>
              <a:buChar char="-"/>
            </a:pPr>
            <a:r>
              <a:rPr lang="en-US"/>
              <a:t>And to make it so you are in line with the RDM requirements, we’ll translate and summarize all of that in a DMP also.</a:t>
            </a:r>
          </a:p>
          <a:p>
            <a:pPr marL="171450" indent="-171450">
              <a:buFontTx/>
              <a:buChar char="-"/>
            </a:pPr>
            <a:endParaRPr lang="en-US"/>
          </a:p>
          <a:p>
            <a:pPr marL="171450" indent="-171450">
              <a:buFontTx/>
              <a:buChar char="-"/>
            </a:pPr>
            <a:endParaRPr lang="en-US"/>
          </a:p>
        </p:txBody>
      </p:sp>
      <p:sp>
        <p:nvSpPr>
          <p:cNvPr id="4" name="Slide Number Placeholder 3"/>
          <p:cNvSpPr>
            <a:spLocks noGrp="1"/>
          </p:cNvSpPr>
          <p:nvPr>
            <p:ph type="sldNum" sz="quarter" idx="5"/>
          </p:nvPr>
        </p:nvSpPr>
        <p:spPr/>
        <p:txBody>
          <a:bodyPr/>
          <a:lstStyle/>
          <a:p>
            <a:fld id="{66F3AD96-DE29-4307-90C2-798F20EDC7DA}" type="slidenum">
              <a:rPr lang="en-GB" smtClean="0"/>
              <a:t>16</a:t>
            </a:fld>
            <a:endParaRPr lang="en-GB"/>
          </a:p>
        </p:txBody>
      </p:sp>
    </p:spTree>
    <p:extLst>
      <p:ext uri="{BB962C8B-B14F-4D97-AF65-F5344CB8AC3E}">
        <p14:creationId xmlns:p14="http://schemas.microsoft.com/office/powerpoint/2010/main" val="3240609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Alzheimer’s disease is a progressive brain disorder that affects memory and thinking. One of its hallmarks is the buildup of sticky protein clumps called amyloid plaques. Recent research suggests that iron, a metal naturally found in the brain, may interact with these plaques and influence disease progression.</a:t>
            </a:r>
          </a:p>
          <a:p>
            <a:endParaRPr lang="en-US"/>
          </a:p>
          <a:p>
            <a:r>
              <a:rPr lang="en-US"/>
              <a:t>This project explores how iron and amyloid plaques are connected, using both animal models and human brain samples. It combines different types of data: clinical information (like age and disease stage), advanced imaging techniques to map iron in the brain, and molecular analyses such as RNA sequencing and tissue staining to visualize plaques.</a:t>
            </a:r>
          </a:p>
          <a:p>
            <a:endParaRPr lang="en-US"/>
          </a:p>
          <a:p>
            <a:r>
              <a:rPr lang="en-US"/>
              <a:t>By studying these interactions, the goal is to better understand how Alzheimer’s develops and to identify potential biomarkers—measurable signs in the brain or body—that could help diagnose or track the disease earlier and more accurately.</a:t>
            </a:r>
          </a:p>
          <a:p>
            <a:endParaRPr lang="nl-BE"/>
          </a:p>
        </p:txBody>
      </p:sp>
      <p:sp>
        <p:nvSpPr>
          <p:cNvPr id="4" name="Slide Number Placeholder 3"/>
          <p:cNvSpPr>
            <a:spLocks noGrp="1"/>
          </p:cNvSpPr>
          <p:nvPr>
            <p:ph type="sldNum" sz="quarter" idx="5"/>
          </p:nvPr>
        </p:nvSpPr>
        <p:spPr/>
        <p:txBody>
          <a:bodyPr/>
          <a:lstStyle/>
          <a:p>
            <a:fld id="{F66E2983-8885-3341-8D67-D12EAE12B143}" type="slidenum">
              <a:rPr lang="nl-NL" smtClean="0"/>
              <a:t>17</a:t>
            </a:fld>
            <a:endParaRPr lang="nl-NL"/>
          </a:p>
        </p:txBody>
      </p:sp>
    </p:spTree>
    <p:extLst>
      <p:ext uri="{BB962C8B-B14F-4D97-AF65-F5344CB8AC3E}">
        <p14:creationId xmlns:p14="http://schemas.microsoft.com/office/powerpoint/2010/main" val="3721798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know what a good plan would be, you need to get a clear view of what it is you are planning for.</a:t>
            </a:r>
          </a:p>
          <a:p>
            <a:endParaRPr lang="en-US"/>
          </a:p>
          <a:p>
            <a:pPr defTabSz="966612">
              <a:defRPr/>
            </a:pPr>
            <a:r>
              <a:rPr lang="en-GB">
                <a:ea typeface="Calibri"/>
                <a:cs typeface="Calibri"/>
              </a:rPr>
              <a:t>During your project you will be handling different data types and formats.</a:t>
            </a:r>
          </a:p>
          <a:p>
            <a:pPr defTabSz="966612">
              <a:defRPr/>
            </a:pPr>
            <a:r>
              <a:rPr lang="en-GB">
                <a:ea typeface="Calibri"/>
                <a:cs typeface="Calibri"/>
              </a:rPr>
              <a:t>Each data type will be processed following a sequence specific for that data type. </a:t>
            </a:r>
          </a:p>
          <a:p>
            <a:pPr defTabSz="966612">
              <a:defRPr/>
            </a:pPr>
            <a:r>
              <a:rPr lang="en-GB">
                <a:ea typeface="Calibri"/>
                <a:cs typeface="Calibri"/>
              </a:rPr>
              <a:t>This covers the spectrum from raw-processed data and includes physical data </a:t>
            </a:r>
          </a:p>
          <a:p>
            <a:endParaRPr lang="en-US"/>
          </a:p>
          <a:p>
            <a:endParaRPr lang="en-US"/>
          </a:p>
          <a:p>
            <a:r>
              <a:rPr lang="en-US"/>
              <a:t>We like to create a really visual overview, called a dataflow, of how each datapoint flows to the next one.</a:t>
            </a:r>
            <a:br>
              <a:rPr lang="en-US"/>
            </a:br>
            <a:r>
              <a:rPr lang="en-US"/>
              <a:t>It will be a first for us to do this in a workshop setting, so hopefully it works </a:t>
            </a:r>
            <a:r>
              <a:rPr lang="en-US">
                <a:sym typeface="Wingdings" panose="05000000000000000000" pitchFamily="2" charset="2"/>
              </a:rPr>
              <a:t> </a:t>
            </a:r>
            <a:br>
              <a:rPr lang="en-US">
                <a:sym typeface="Wingdings" panose="05000000000000000000" pitchFamily="2" charset="2"/>
              </a:rPr>
            </a:br>
            <a:endParaRPr lang="en-US">
              <a:sym typeface="Wingdings" panose="05000000000000000000" pitchFamily="2" charset="2"/>
            </a:endParaRPr>
          </a:p>
          <a:p>
            <a:r>
              <a:rPr lang="en-US">
                <a:sym typeface="Wingdings" panose="05000000000000000000" pitchFamily="2" charset="2"/>
              </a:rPr>
              <a:t>This will be our second exercise of the day, and I will illustrate how to do this with our friend Jie. </a:t>
            </a:r>
          </a:p>
          <a:p>
            <a:endParaRPr lang="nl-BE"/>
          </a:p>
        </p:txBody>
      </p:sp>
      <p:sp>
        <p:nvSpPr>
          <p:cNvPr id="4" name="Slide Number Placeholder 3"/>
          <p:cNvSpPr>
            <a:spLocks noGrp="1"/>
          </p:cNvSpPr>
          <p:nvPr>
            <p:ph type="sldNum" sz="quarter" idx="5"/>
          </p:nvPr>
        </p:nvSpPr>
        <p:spPr/>
        <p:txBody>
          <a:bodyPr/>
          <a:lstStyle/>
          <a:p>
            <a:fld id="{66F3AD96-DE29-4307-90C2-798F20EDC7DA}" type="slidenum">
              <a:rPr lang="en-GB" smtClean="0"/>
              <a:t>18</a:t>
            </a:fld>
            <a:endParaRPr lang="en-GB"/>
          </a:p>
        </p:txBody>
      </p:sp>
    </p:spTree>
    <p:extLst>
      <p:ext uri="{BB962C8B-B14F-4D97-AF65-F5344CB8AC3E}">
        <p14:creationId xmlns:p14="http://schemas.microsoft.com/office/powerpoint/2010/main" val="3051585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2B9FA-A756-0CF1-5FC9-634F9204D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6FA8A-ECE0-78C9-64E7-AB9477FFF1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059E1A-A7FD-9019-4805-486231FF08E3}"/>
              </a:ext>
            </a:extLst>
          </p:cNvPr>
          <p:cNvSpPr>
            <a:spLocks noGrp="1"/>
          </p:cNvSpPr>
          <p:nvPr>
            <p:ph type="body" idx="1"/>
          </p:nvPr>
        </p:nvSpPr>
        <p:spPr/>
        <p:txBody>
          <a:bodyPr/>
          <a:lstStyle/>
          <a:p>
            <a:r>
              <a:rPr lang="en-US"/>
              <a:t>To know what a good plan would be, you need to get a clear view of what it is you are planning for.</a:t>
            </a:r>
          </a:p>
          <a:p>
            <a:endParaRPr lang="en-US"/>
          </a:p>
          <a:p>
            <a:pPr defTabSz="966612">
              <a:defRPr/>
            </a:pPr>
            <a:r>
              <a:rPr lang="en-GB">
                <a:ea typeface="Calibri"/>
                <a:cs typeface="Calibri"/>
              </a:rPr>
              <a:t>During your project you will be handling different data types and formats.</a:t>
            </a:r>
          </a:p>
          <a:p>
            <a:pPr defTabSz="966612">
              <a:defRPr/>
            </a:pPr>
            <a:r>
              <a:rPr lang="en-GB">
                <a:ea typeface="Calibri"/>
                <a:cs typeface="Calibri"/>
              </a:rPr>
              <a:t>Each data type will be processed following a sequence specific for that data type. </a:t>
            </a:r>
          </a:p>
          <a:p>
            <a:pPr defTabSz="966612">
              <a:defRPr/>
            </a:pPr>
            <a:r>
              <a:rPr lang="en-GB">
                <a:ea typeface="Calibri"/>
                <a:cs typeface="Calibri"/>
              </a:rPr>
              <a:t>This covers the spectrum from raw-processed data and includes physical data </a:t>
            </a:r>
          </a:p>
          <a:p>
            <a:endParaRPr lang="en-US"/>
          </a:p>
          <a:p>
            <a:endParaRPr lang="en-US"/>
          </a:p>
          <a:p>
            <a:r>
              <a:rPr lang="en-US"/>
              <a:t>We like to create a really visual overview, called a dataflow, of how each datapoint flows to the next one.</a:t>
            </a:r>
            <a:br>
              <a:rPr lang="en-US"/>
            </a:br>
            <a:r>
              <a:rPr lang="en-US"/>
              <a:t>It will be a first for us to do this in a workshop setting, so hopefully it works </a:t>
            </a:r>
            <a:r>
              <a:rPr lang="en-US">
                <a:sym typeface="Wingdings" panose="05000000000000000000" pitchFamily="2" charset="2"/>
              </a:rPr>
              <a:t> </a:t>
            </a:r>
            <a:br>
              <a:rPr lang="en-US">
                <a:sym typeface="Wingdings" panose="05000000000000000000" pitchFamily="2" charset="2"/>
              </a:rPr>
            </a:br>
            <a:endParaRPr lang="en-US">
              <a:sym typeface="Wingdings" panose="05000000000000000000" pitchFamily="2" charset="2"/>
            </a:endParaRPr>
          </a:p>
          <a:p>
            <a:r>
              <a:rPr lang="en-US">
                <a:sym typeface="Wingdings" panose="05000000000000000000" pitchFamily="2" charset="2"/>
              </a:rPr>
              <a:t>This will be our second exercise of the day, and I will illustrate how to do this with our friend Jie. </a:t>
            </a:r>
          </a:p>
          <a:p>
            <a:endParaRPr lang="nl-BE"/>
          </a:p>
        </p:txBody>
      </p:sp>
      <p:sp>
        <p:nvSpPr>
          <p:cNvPr id="4" name="Slide Number Placeholder 3">
            <a:extLst>
              <a:ext uri="{FF2B5EF4-FFF2-40B4-BE49-F238E27FC236}">
                <a16:creationId xmlns:a16="http://schemas.microsoft.com/office/drawing/2014/main" id="{30BA46FB-BF4B-9F5D-EF5F-722FB7BEA0AD}"/>
              </a:ext>
            </a:extLst>
          </p:cNvPr>
          <p:cNvSpPr>
            <a:spLocks noGrp="1"/>
          </p:cNvSpPr>
          <p:nvPr>
            <p:ph type="sldNum" sz="quarter" idx="5"/>
          </p:nvPr>
        </p:nvSpPr>
        <p:spPr/>
        <p:txBody>
          <a:bodyPr/>
          <a:lstStyle/>
          <a:p>
            <a:fld id="{66F3AD96-DE29-4307-90C2-798F20EDC7DA}" type="slidenum">
              <a:rPr lang="en-GB" smtClean="0"/>
              <a:t>19</a:t>
            </a:fld>
            <a:endParaRPr lang="en-GB"/>
          </a:p>
        </p:txBody>
      </p:sp>
    </p:spTree>
    <p:extLst>
      <p:ext uri="{BB962C8B-B14F-4D97-AF65-F5344CB8AC3E}">
        <p14:creationId xmlns:p14="http://schemas.microsoft.com/office/powerpoint/2010/main" val="322064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562EA-DB05-592B-1611-A2DA4BF07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B250A-5722-551B-3BC4-99B65D291F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F49B1-B1D9-E28F-A410-045BA19B45B0}"/>
              </a:ext>
            </a:extLst>
          </p:cNvPr>
          <p:cNvSpPr>
            <a:spLocks noGrp="1"/>
          </p:cNvSpPr>
          <p:nvPr>
            <p:ph type="body" idx="1"/>
          </p:nvPr>
        </p:nvSpPr>
        <p:spPr/>
        <p:txBody>
          <a:bodyPr/>
          <a:lstStyle/>
          <a:p>
            <a:r>
              <a:rPr lang="en-US"/>
              <a:t>To know what a good plan would be, you need to get a clear view of what it is you are planning for.</a:t>
            </a:r>
          </a:p>
          <a:p>
            <a:endParaRPr lang="en-US"/>
          </a:p>
          <a:p>
            <a:pPr defTabSz="966612">
              <a:defRPr/>
            </a:pPr>
            <a:r>
              <a:rPr lang="en-GB">
                <a:ea typeface="Calibri"/>
                <a:cs typeface="Calibri"/>
              </a:rPr>
              <a:t>During your project you will be handling different data types and formats.</a:t>
            </a:r>
          </a:p>
          <a:p>
            <a:pPr defTabSz="966612">
              <a:defRPr/>
            </a:pPr>
            <a:r>
              <a:rPr lang="en-GB">
                <a:ea typeface="Calibri"/>
                <a:cs typeface="Calibri"/>
              </a:rPr>
              <a:t>Each data type will be processed following a sequence specific for that data type. </a:t>
            </a:r>
          </a:p>
          <a:p>
            <a:pPr defTabSz="966612">
              <a:defRPr/>
            </a:pPr>
            <a:r>
              <a:rPr lang="en-GB">
                <a:ea typeface="Calibri"/>
                <a:cs typeface="Calibri"/>
              </a:rPr>
              <a:t>This covers the spectrum from raw-processed data and includes physical data </a:t>
            </a:r>
          </a:p>
          <a:p>
            <a:endParaRPr lang="en-US"/>
          </a:p>
          <a:p>
            <a:endParaRPr lang="en-US"/>
          </a:p>
          <a:p>
            <a:r>
              <a:rPr lang="en-US"/>
              <a:t>We like to create a really visual overview, called a dataflow, of how each datapoint flows to the next one.</a:t>
            </a:r>
            <a:br>
              <a:rPr lang="en-US"/>
            </a:br>
            <a:r>
              <a:rPr lang="en-US"/>
              <a:t>It will be a first for us to do this in a workshop setting, so hopefully it works </a:t>
            </a:r>
            <a:r>
              <a:rPr lang="en-US">
                <a:sym typeface="Wingdings" panose="05000000000000000000" pitchFamily="2" charset="2"/>
              </a:rPr>
              <a:t> </a:t>
            </a:r>
            <a:br>
              <a:rPr lang="en-US">
                <a:sym typeface="Wingdings" panose="05000000000000000000" pitchFamily="2" charset="2"/>
              </a:rPr>
            </a:br>
            <a:endParaRPr lang="en-US">
              <a:sym typeface="Wingdings" panose="05000000000000000000" pitchFamily="2" charset="2"/>
            </a:endParaRPr>
          </a:p>
          <a:p>
            <a:r>
              <a:rPr lang="en-US">
                <a:sym typeface="Wingdings" panose="05000000000000000000" pitchFamily="2" charset="2"/>
              </a:rPr>
              <a:t>This will be our second exercise of the day, and I will illustrate how to do this with our friend Jie. </a:t>
            </a:r>
          </a:p>
          <a:p>
            <a:endParaRPr lang="nl-BE"/>
          </a:p>
        </p:txBody>
      </p:sp>
      <p:sp>
        <p:nvSpPr>
          <p:cNvPr id="4" name="Slide Number Placeholder 3">
            <a:extLst>
              <a:ext uri="{FF2B5EF4-FFF2-40B4-BE49-F238E27FC236}">
                <a16:creationId xmlns:a16="http://schemas.microsoft.com/office/drawing/2014/main" id="{206D28AD-3E76-F716-322D-61CE63842C70}"/>
              </a:ext>
            </a:extLst>
          </p:cNvPr>
          <p:cNvSpPr>
            <a:spLocks noGrp="1"/>
          </p:cNvSpPr>
          <p:nvPr>
            <p:ph type="sldNum" sz="quarter" idx="5"/>
          </p:nvPr>
        </p:nvSpPr>
        <p:spPr/>
        <p:txBody>
          <a:bodyPr/>
          <a:lstStyle/>
          <a:p>
            <a:fld id="{66F3AD96-DE29-4307-90C2-798F20EDC7DA}" type="slidenum">
              <a:rPr lang="en-GB" smtClean="0"/>
              <a:t>20</a:t>
            </a:fld>
            <a:endParaRPr lang="en-GB"/>
          </a:p>
        </p:txBody>
      </p:sp>
    </p:spTree>
    <p:extLst>
      <p:ext uri="{BB962C8B-B14F-4D97-AF65-F5344CB8AC3E}">
        <p14:creationId xmlns:p14="http://schemas.microsoft.com/office/powerpoint/2010/main" val="974336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C7050-BC52-4F3E-F594-F8BC66166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B4719-A44D-E70D-AF23-CE8D1BAA6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B2E02-D38C-7625-B6CE-A6F3A46A6970}"/>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So, we put the </a:t>
            </a:r>
            <a:r>
              <a:rPr lang="en-GB" err="1">
                <a:ea typeface="Calibri"/>
                <a:cs typeface="Calibri"/>
              </a:rPr>
              <a:t>post-its</a:t>
            </a:r>
            <a:r>
              <a:rPr lang="en-GB">
                <a:ea typeface="Calibri"/>
                <a:cs typeface="Calibri"/>
              </a:rPr>
              <a:t> we have on the table. </a:t>
            </a:r>
            <a:br>
              <a:rPr lang="en-GB">
                <a:ea typeface="Calibri"/>
                <a:cs typeface="Calibri"/>
              </a:rPr>
            </a:br>
            <a:r>
              <a:rPr lang="en-GB">
                <a:ea typeface="Calibri"/>
                <a:cs typeface="Calibri"/>
              </a:rPr>
              <a:t>First, we need to select one path, because it would just take too long to do everything today. </a:t>
            </a:r>
          </a:p>
          <a:p>
            <a:endParaRPr lang="en-GB"/>
          </a:p>
        </p:txBody>
      </p:sp>
      <p:sp>
        <p:nvSpPr>
          <p:cNvPr id="4" name="Slide Number Placeholder 3">
            <a:extLst>
              <a:ext uri="{FF2B5EF4-FFF2-40B4-BE49-F238E27FC236}">
                <a16:creationId xmlns:a16="http://schemas.microsoft.com/office/drawing/2014/main" id="{8E0568D6-77B1-26EC-B2BC-70AD47731412}"/>
              </a:ext>
            </a:extLst>
          </p:cNvPr>
          <p:cNvSpPr>
            <a:spLocks noGrp="1"/>
          </p:cNvSpPr>
          <p:nvPr>
            <p:ph type="sldNum" sz="quarter" idx="10"/>
          </p:nvPr>
        </p:nvSpPr>
        <p:spPr/>
        <p:txBody>
          <a:bodyPr/>
          <a:lstStyle/>
          <a:p>
            <a:fld id="{D4D648DB-08B3-4C37-99AC-20C6D518D609}" type="slidenum">
              <a:rPr lang="en-GB" smtClean="0"/>
              <a:pPr/>
              <a:t>21</a:t>
            </a:fld>
            <a:endParaRPr lang="en-GB"/>
          </a:p>
        </p:txBody>
      </p:sp>
    </p:spTree>
    <p:extLst>
      <p:ext uri="{BB962C8B-B14F-4D97-AF65-F5344CB8AC3E}">
        <p14:creationId xmlns:p14="http://schemas.microsoft.com/office/powerpoint/2010/main" val="2561894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11A7E-2CA3-C667-B0A0-0D8D34F23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538FE-E0A0-A780-D011-7196CB8FF6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EF0F4-9375-1467-D4A4-5DBC4A11037B}"/>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First, we need to select one path, because it would just take too long to do everything today.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We’ll focus on the rats, and the sequencing for example.</a:t>
            </a:r>
          </a:p>
          <a:p>
            <a:endParaRPr lang="en-GB"/>
          </a:p>
        </p:txBody>
      </p:sp>
      <p:sp>
        <p:nvSpPr>
          <p:cNvPr id="4" name="Slide Number Placeholder 3">
            <a:extLst>
              <a:ext uri="{FF2B5EF4-FFF2-40B4-BE49-F238E27FC236}">
                <a16:creationId xmlns:a16="http://schemas.microsoft.com/office/drawing/2014/main" id="{3FFFFB36-C4AE-FFD1-B47B-9769A4C352BC}"/>
              </a:ext>
            </a:extLst>
          </p:cNvPr>
          <p:cNvSpPr>
            <a:spLocks noGrp="1"/>
          </p:cNvSpPr>
          <p:nvPr>
            <p:ph type="sldNum" sz="quarter" idx="10"/>
          </p:nvPr>
        </p:nvSpPr>
        <p:spPr/>
        <p:txBody>
          <a:bodyPr/>
          <a:lstStyle/>
          <a:p>
            <a:fld id="{D4D648DB-08B3-4C37-99AC-20C6D518D609}" type="slidenum">
              <a:rPr lang="en-GB" smtClean="0"/>
              <a:pPr/>
              <a:t>22</a:t>
            </a:fld>
            <a:endParaRPr lang="en-GB"/>
          </a:p>
        </p:txBody>
      </p:sp>
    </p:spTree>
    <p:extLst>
      <p:ext uri="{BB962C8B-B14F-4D97-AF65-F5344CB8AC3E}">
        <p14:creationId xmlns:p14="http://schemas.microsoft.com/office/powerpoint/2010/main" val="32326491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3A880-B0F5-B550-BEB7-7BFFB4DED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C22CD-5B75-02A2-4E43-27D8E2818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37AEC-533E-E48E-7BA8-29A1938479CB}"/>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We’ll focus on the rats, and the sequencing for example.</a:t>
            </a:r>
          </a:p>
          <a:p>
            <a:r>
              <a:rPr lang="en-GB"/>
              <a:t>Then we start to ask questions:</a:t>
            </a:r>
          </a:p>
          <a:p>
            <a:r>
              <a:rPr lang="en-GB"/>
              <a:t>What is the output from this step? </a:t>
            </a:r>
            <a:br>
              <a:rPr lang="en-GB"/>
            </a:br>
            <a:r>
              <a:rPr lang="en-GB"/>
              <a:t>What is the input from this step?</a:t>
            </a:r>
            <a:br>
              <a:rPr lang="en-GB"/>
            </a:br>
            <a:r>
              <a:rPr lang="en-GB"/>
              <a:t>How did I get to this datapoint?</a:t>
            </a:r>
          </a:p>
        </p:txBody>
      </p:sp>
      <p:sp>
        <p:nvSpPr>
          <p:cNvPr id="4" name="Slide Number Placeholder 3">
            <a:extLst>
              <a:ext uri="{FF2B5EF4-FFF2-40B4-BE49-F238E27FC236}">
                <a16:creationId xmlns:a16="http://schemas.microsoft.com/office/drawing/2014/main" id="{629DCA5F-1BB6-AC71-C6CD-B363CE6A1C9C}"/>
              </a:ext>
            </a:extLst>
          </p:cNvPr>
          <p:cNvSpPr>
            <a:spLocks noGrp="1"/>
          </p:cNvSpPr>
          <p:nvPr>
            <p:ph type="sldNum" sz="quarter" idx="10"/>
          </p:nvPr>
        </p:nvSpPr>
        <p:spPr/>
        <p:txBody>
          <a:bodyPr/>
          <a:lstStyle/>
          <a:p>
            <a:fld id="{D4D648DB-08B3-4C37-99AC-20C6D518D609}" type="slidenum">
              <a:rPr lang="en-GB" smtClean="0"/>
              <a:pPr/>
              <a:t>23</a:t>
            </a:fld>
            <a:endParaRPr lang="en-GB"/>
          </a:p>
        </p:txBody>
      </p:sp>
    </p:spTree>
    <p:extLst>
      <p:ext uri="{BB962C8B-B14F-4D97-AF65-F5344CB8AC3E}">
        <p14:creationId xmlns:p14="http://schemas.microsoft.com/office/powerpoint/2010/main" val="34082251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ED550-4A74-8F88-2087-00A7FAF7A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1FAFE-2232-D310-8542-3E4B18098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4CB066-C680-BD4B-E560-5A6B5C77FAE0}"/>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But then you wonder: is that all I need to do this step? Do I get other datapoints from this step?</a:t>
            </a:r>
          </a:p>
          <a:p>
            <a:endParaRPr lang="en-GB"/>
          </a:p>
        </p:txBody>
      </p:sp>
      <p:sp>
        <p:nvSpPr>
          <p:cNvPr id="4" name="Slide Number Placeholder 3">
            <a:extLst>
              <a:ext uri="{FF2B5EF4-FFF2-40B4-BE49-F238E27FC236}">
                <a16:creationId xmlns:a16="http://schemas.microsoft.com/office/drawing/2014/main" id="{77B0478A-2511-7822-2FD7-FD88EAC4DFEB}"/>
              </a:ext>
            </a:extLst>
          </p:cNvPr>
          <p:cNvSpPr>
            <a:spLocks noGrp="1"/>
          </p:cNvSpPr>
          <p:nvPr>
            <p:ph type="sldNum" sz="quarter" idx="10"/>
          </p:nvPr>
        </p:nvSpPr>
        <p:spPr/>
        <p:txBody>
          <a:bodyPr/>
          <a:lstStyle/>
          <a:p>
            <a:fld id="{D4D648DB-08B3-4C37-99AC-20C6D518D609}" type="slidenum">
              <a:rPr lang="en-GB" smtClean="0"/>
              <a:pPr/>
              <a:t>24</a:t>
            </a:fld>
            <a:endParaRPr lang="en-GB"/>
          </a:p>
        </p:txBody>
      </p:sp>
    </p:spTree>
    <p:extLst>
      <p:ext uri="{BB962C8B-B14F-4D97-AF65-F5344CB8AC3E}">
        <p14:creationId xmlns:p14="http://schemas.microsoft.com/office/powerpoint/2010/main" val="2327609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67C7F-E9C7-1939-94D9-84E40D5EF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8A176-C281-4547-FEEB-A21426D86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07383-34F0-47AB-231C-13C1F2D8DB8E}"/>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And then I realize: I actually don’t start with brain tissue. Because I have to collect that myself too.</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I actually start with the rats themselves…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err="1">
                <a:ea typeface="Calibri"/>
                <a:cs typeface="Calibri"/>
              </a:rPr>
              <a:t>Ect</a:t>
            </a:r>
            <a:r>
              <a:rPr lang="en-GB">
                <a:ea typeface="Calibri"/>
                <a:cs typeface="Calibri"/>
              </a:rPr>
              <a:t> </a:t>
            </a:r>
            <a:r>
              <a:rPr lang="en-GB" err="1">
                <a:ea typeface="Calibri"/>
                <a:cs typeface="Calibri"/>
              </a:rPr>
              <a:t>ect</a:t>
            </a:r>
            <a:r>
              <a:rPr lang="en-GB">
                <a:ea typeface="Calibri"/>
                <a:cs typeface="Calibri"/>
              </a:rPr>
              <a:t>. </a:t>
            </a:r>
          </a:p>
          <a:p>
            <a:endParaRPr lang="en-GB"/>
          </a:p>
        </p:txBody>
      </p:sp>
      <p:sp>
        <p:nvSpPr>
          <p:cNvPr id="4" name="Slide Number Placeholder 3">
            <a:extLst>
              <a:ext uri="{FF2B5EF4-FFF2-40B4-BE49-F238E27FC236}">
                <a16:creationId xmlns:a16="http://schemas.microsoft.com/office/drawing/2014/main" id="{D877175E-4BF9-49D9-8683-C33C82CDA055}"/>
              </a:ext>
            </a:extLst>
          </p:cNvPr>
          <p:cNvSpPr>
            <a:spLocks noGrp="1"/>
          </p:cNvSpPr>
          <p:nvPr>
            <p:ph type="sldNum" sz="quarter" idx="10"/>
          </p:nvPr>
        </p:nvSpPr>
        <p:spPr/>
        <p:txBody>
          <a:bodyPr/>
          <a:lstStyle/>
          <a:p>
            <a:fld id="{D4D648DB-08B3-4C37-99AC-20C6D518D609}" type="slidenum">
              <a:rPr lang="en-GB" smtClean="0"/>
              <a:pPr/>
              <a:t>25</a:t>
            </a:fld>
            <a:endParaRPr lang="en-GB"/>
          </a:p>
        </p:txBody>
      </p:sp>
    </p:spTree>
    <p:extLst>
      <p:ext uri="{BB962C8B-B14F-4D97-AF65-F5344CB8AC3E}">
        <p14:creationId xmlns:p14="http://schemas.microsoft.com/office/powerpoint/2010/main" val="1518168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EFD2B-78FE-F337-9DBD-B624CA127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5F549-2A09-283C-3F7F-ED218655F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B8A94-37AB-01B6-F4EB-D7541BD44216}"/>
              </a:ext>
            </a:extLst>
          </p:cNvPr>
          <p:cNvSpPr>
            <a:spLocks noGrp="1"/>
          </p:cNvSpPr>
          <p:nvPr>
            <p:ph type="body" idx="1"/>
          </p:nvPr>
        </p:nvSpPr>
        <p:spPr/>
        <p:txBody>
          <a:bodyPr>
            <a:normAutofit/>
          </a:bodyPr>
          <a:lstStyle/>
          <a:p>
            <a:pPr defTabSz="966612">
              <a:defRPr/>
            </a:pPr>
            <a:r>
              <a:rPr lang="en-GB">
                <a:ea typeface="Calibri"/>
                <a:cs typeface="Calibri"/>
              </a:rPr>
              <a:t>We could complete the process with something like this.</a:t>
            </a:r>
          </a:p>
          <a:p>
            <a:pPr defTabSz="966612">
              <a:defRPr/>
            </a:pPr>
            <a:r>
              <a:rPr lang="en-GB">
                <a:ea typeface="Calibri"/>
                <a:cs typeface="Calibri"/>
              </a:rPr>
              <a:t>For sake of space, the analysis part has been simplified. We would still recommend to do this in detail. </a:t>
            </a:r>
          </a:p>
          <a:p>
            <a:endParaRPr lang="en-GB"/>
          </a:p>
        </p:txBody>
      </p:sp>
      <p:sp>
        <p:nvSpPr>
          <p:cNvPr id="4" name="Slide Number Placeholder 3">
            <a:extLst>
              <a:ext uri="{FF2B5EF4-FFF2-40B4-BE49-F238E27FC236}">
                <a16:creationId xmlns:a16="http://schemas.microsoft.com/office/drawing/2014/main" id="{1CC7624F-0D3A-C7FF-B41B-25CCEF87D24F}"/>
              </a:ext>
            </a:extLst>
          </p:cNvPr>
          <p:cNvSpPr>
            <a:spLocks noGrp="1"/>
          </p:cNvSpPr>
          <p:nvPr>
            <p:ph type="sldNum" sz="quarter" idx="10"/>
          </p:nvPr>
        </p:nvSpPr>
        <p:spPr/>
        <p:txBody>
          <a:bodyPr/>
          <a:lstStyle/>
          <a:p>
            <a:fld id="{D4D648DB-08B3-4C37-99AC-20C6D518D609}" type="slidenum">
              <a:rPr lang="en-GB" smtClean="0"/>
              <a:pPr/>
              <a:t>26</a:t>
            </a:fld>
            <a:endParaRPr lang="en-GB"/>
          </a:p>
        </p:txBody>
      </p:sp>
    </p:spTree>
    <p:extLst>
      <p:ext uri="{BB962C8B-B14F-4D97-AF65-F5344CB8AC3E}">
        <p14:creationId xmlns:p14="http://schemas.microsoft.com/office/powerpoint/2010/main" val="1226406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EAB7F-6CBE-6D80-371B-58F9A5271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04D68-CD51-99AB-6B3C-C72F73674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F7E78-B711-626C-FCCF-DDB0721554A1}"/>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During your project you will be handling different data types and formats.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Each data type will be processed following a sequence specific for that data type.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ea typeface="Calibri"/>
                <a:cs typeface="Calibri"/>
              </a:rPr>
              <a:t>This can be schematically presented as a data flow. And will be illustrated for 1 of our demo researchers this covers the spectrum from raw-processed data and includes physical data </a:t>
            </a:r>
          </a:p>
          <a:p>
            <a:endParaRPr lang="en-GB"/>
          </a:p>
        </p:txBody>
      </p:sp>
      <p:sp>
        <p:nvSpPr>
          <p:cNvPr id="4" name="Slide Number Placeholder 3">
            <a:extLst>
              <a:ext uri="{FF2B5EF4-FFF2-40B4-BE49-F238E27FC236}">
                <a16:creationId xmlns:a16="http://schemas.microsoft.com/office/drawing/2014/main" id="{4E30C351-187D-5098-EF5A-AF1F155C088B}"/>
              </a:ext>
            </a:extLst>
          </p:cNvPr>
          <p:cNvSpPr>
            <a:spLocks noGrp="1"/>
          </p:cNvSpPr>
          <p:nvPr>
            <p:ph type="sldNum" sz="quarter" idx="10"/>
          </p:nvPr>
        </p:nvSpPr>
        <p:spPr/>
        <p:txBody>
          <a:bodyPr/>
          <a:lstStyle/>
          <a:p>
            <a:fld id="{D4D648DB-08B3-4C37-99AC-20C6D518D609}" type="slidenum">
              <a:rPr lang="en-GB" smtClean="0"/>
              <a:pPr/>
              <a:t>27</a:t>
            </a:fld>
            <a:endParaRPr lang="en-GB"/>
          </a:p>
        </p:txBody>
      </p:sp>
    </p:spTree>
    <p:extLst>
      <p:ext uri="{BB962C8B-B14F-4D97-AF65-F5344CB8AC3E}">
        <p14:creationId xmlns:p14="http://schemas.microsoft.com/office/powerpoint/2010/main" val="20067006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66F3AD96-DE29-4307-90C2-798F20EDC7DA}" type="slidenum">
              <a:rPr lang="en-GB" smtClean="0"/>
              <a:t>30</a:t>
            </a:fld>
            <a:endParaRPr lang="en-GB"/>
          </a:p>
        </p:txBody>
      </p:sp>
    </p:spTree>
    <p:extLst>
      <p:ext uri="{BB962C8B-B14F-4D97-AF65-F5344CB8AC3E}">
        <p14:creationId xmlns:p14="http://schemas.microsoft.com/office/powerpoint/2010/main" val="9536118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6" name="Rechthoek 15"/>
          <p:cNvSpPr/>
          <p:nvPr/>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p:nvSpPr>
        <p:spPr>
          <a:xfrm>
            <a:off x="0" y="648000"/>
            <a:ext cx="12193200" cy="5562000"/>
          </a:xfrm>
          <a:prstGeom prst="rect">
            <a:avLst/>
          </a:prstGeom>
          <a:solidFill>
            <a:srgbClr val="BAC1B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13" name="Titel 1"/>
          <p:cNvSpPr>
            <a:spLocks noGrp="1"/>
          </p:cNvSpPr>
          <p:nvPr>
            <p:ph type="ctrTitle"/>
          </p:nvPr>
        </p:nvSpPr>
        <p:spPr>
          <a:xfrm>
            <a:off x="576001" y="1440000"/>
            <a:ext cx="11030400" cy="2386800"/>
          </a:xfrm>
        </p:spPr>
        <p:txBody>
          <a:bodyPr anchor="b" anchorCtr="0"/>
          <a:lstStyle>
            <a:lvl1pPr algn="l">
              <a:defRPr sz="6000" baseline="0">
                <a:solidFill>
                  <a:srgbClr val="1D8DB0"/>
                </a:solidFill>
              </a:defRPr>
            </a:lvl1pPr>
          </a:lstStyle>
          <a:p>
            <a:r>
              <a:rPr lang="en-US"/>
              <a:t>Click to edit Master title style</a:t>
            </a:r>
            <a:endParaRPr lang="nl-NL"/>
          </a:p>
        </p:txBody>
      </p:sp>
      <p:sp>
        <p:nvSpPr>
          <p:cNvPr id="14" name="Ondertitel 2"/>
          <p:cNvSpPr>
            <a:spLocks noGrp="1"/>
          </p:cNvSpPr>
          <p:nvPr>
            <p:ph type="subTitle" idx="1"/>
          </p:nvPr>
        </p:nvSpPr>
        <p:spPr>
          <a:xfrm>
            <a:off x="575999" y="3960000"/>
            <a:ext cx="11041200" cy="1369868"/>
          </a:xfrm>
        </p:spPr>
        <p:txBody>
          <a:bodyPr/>
          <a:lstStyle>
            <a:lvl1pPr marL="0" indent="0" algn="l">
              <a:buNone/>
              <a:defRPr sz="2400" baseline="0">
                <a:solidFill>
                  <a:srgbClr val="005E77"/>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9" name="Afbeelding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60000" y="360000"/>
            <a:ext cx="3663797" cy="720000"/>
          </a:xfrm>
          <a:prstGeom prst="rect">
            <a:avLst/>
          </a:prstGeom>
        </p:spPr>
      </p:pic>
      <p:pic>
        <p:nvPicPr>
          <p:cNvPr id="10" name="Afbeelding 9"/>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0" y="6210000"/>
            <a:ext cx="12192000" cy="648000"/>
          </a:xfrm>
          <a:prstGeom prst="rect">
            <a:avLst/>
          </a:prstGeom>
        </p:spPr>
      </p:pic>
      <p:pic>
        <p:nvPicPr>
          <p:cNvPr id="12" name="Afbeelding 1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180800" y="5850000"/>
            <a:ext cx="1650337" cy="719999"/>
          </a:xfrm>
          <a:prstGeom prst="rect">
            <a:avLst/>
          </a:prstGeom>
        </p:spPr>
      </p:pic>
    </p:spTree>
    <p:extLst>
      <p:ext uri="{BB962C8B-B14F-4D97-AF65-F5344CB8AC3E}">
        <p14:creationId xmlns:p14="http://schemas.microsoft.com/office/powerpoint/2010/main" val="25531527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nl-NL"/>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Tijdelijke aanduiding voor dianummer 5"/>
          <p:cNvSpPr>
            <a:spLocks noGrp="1" noRot="1" noMove="1" noResize="1" noEditPoints="1" noAdjustHandles="1" noChangeArrowheads="1" noChangeShapeType="1"/>
          </p:cNvSpPr>
          <p:nvPr>
            <p:ph type="sldNum" sz="quarter" idx="12"/>
          </p:nvPr>
        </p:nvSpPr>
        <p:spPr>
          <a:xfrm>
            <a:off x="576000" y="6218376"/>
            <a:ext cx="648000" cy="648002"/>
          </a:xfrm>
          <a:prstGeom prst="rect">
            <a:avLst/>
          </a:prstGeom>
        </p:spPr>
        <p:txBody>
          <a:bodyPr/>
          <a:lstStyle/>
          <a:p>
            <a:fld id="{CC571AF6-6671-4538-974D-3AEC00AC0B82}" type="slidenum">
              <a:rPr lang="en-GB" smtClean="0"/>
              <a:t>‹#›</a:t>
            </a:fld>
            <a:endParaRPr lang="en-GB"/>
          </a:p>
        </p:txBody>
      </p:sp>
      <p:sp>
        <p:nvSpPr>
          <p:cNvPr id="4" name="Text Placeholder 10">
            <a:extLst>
              <a:ext uri="{FF2B5EF4-FFF2-40B4-BE49-F238E27FC236}">
                <a16:creationId xmlns:a16="http://schemas.microsoft.com/office/drawing/2014/main" id="{6267A4DD-F7BA-3E0C-86D5-2A21BF444172}"/>
              </a:ext>
            </a:extLst>
          </p:cNvPr>
          <p:cNvSpPr>
            <a:spLocks noGrp="1"/>
          </p:cNvSpPr>
          <p:nvPr>
            <p:ph type="body" sz="quarter" idx="10" hasCustomPrompt="1"/>
          </p:nvPr>
        </p:nvSpPr>
        <p:spPr>
          <a:xfrm>
            <a:off x="1224000" y="6220496"/>
            <a:ext cx="5624914" cy="637504"/>
          </a:xfrm>
        </p:spPr>
        <p:txBody>
          <a:bodyPr anchor="ctr">
            <a:normAutofit/>
          </a:bodyPr>
          <a:lstStyle>
            <a:lvl1pPr marL="0" indent="0">
              <a:buNone/>
              <a:defRPr sz="1000">
                <a:solidFill>
                  <a:schemeClr val="bg1"/>
                </a:solidFill>
              </a:defRPr>
            </a:lvl1pPr>
          </a:lstStyle>
          <a:p>
            <a:pPr lvl="0"/>
            <a:r>
              <a:rPr lang="en-US"/>
              <a:t>Click to add references</a:t>
            </a:r>
            <a:endParaRPr lang="nl-BE"/>
          </a:p>
        </p:txBody>
      </p:sp>
    </p:spTree>
    <p:extLst>
      <p:ext uri="{BB962C8B-B14F-4D97-AF65-F5344CB8AC3E}">
        <p14:creationId xmlns:p14="http://schemas.microsoft.com/office/powerpoint/2010/main" val="3185207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el en object">
    <p:spTree>
      <p:nvGrpSpPr>
        <p:cNvPr id="1" name=""/>
        <p:cNvGrpSpPr/>
        <p:nvPr/>
      </p:nvGrpSpPr>
      <p:grpSpPr>
        <a:xfrm>
          <a:off x="0" y="0"/>
          <a:ext cx="0" cy="0"/>
          <a:chOff x="0" y="0"/>
          <a:chExt cx="0" cy="0"/>
        </a:xfrm>
      </p:grpSpPr>
      <p:sp>
        <p:nvSpPr>
          <p:cNvPr id="7" name="Rechthoek 6"/>
          <p:cNvSpPr/>
          <p:nvPr/>
        </p:nvSpPr>
        <p:spPr>
          <a:xfrm>
            <a:off x="0" y="1"/>
            <a:ext cx="12193200" cy="6227180"/>
          </a:xfrm>
          <a:prstGeom prst="rect">
            <a:avLst/>
          </a:prstGeom>
          <a:solidFill>
            <a:srgbClr val="BAC1B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hasCustomPrompt="1"/>
          </p:nvPr>
        </p:nvSpPr>
        <p:spPr>
          <a:xfrm>
            <a:off x="576000" y="2613144"/>
            <a:ext cx="11041200" cy="1325563"/>
          </a:xfrm>
        </p:spPr>
        <p:txBody>
          <a:bodyPr>
            <a:noAutofit/>
          </a:bodyPr>
          <a:lstStyle>
            <a:lvl1pPr algn="ctr">
              <a:defRPr sz="8000" baseline="0">
                <a:solidFill>
                  <a:srgbClr val="1D8DB0"/>
                </a:solidFill>
              </a:defRPr>
            </a:lvl1pPr>
          </a:lstStyle>
          <a:p>
            <a:r>
              <a:rPr lang="nl-NL"/>
              <a:t>THANK YOU</a:t>
            </a:r>
          </a:p>
        </p:txBody>
      </p:sp>
      <p:sp>
        <p:nvSpPr>
          <p:cNvPr id="6" name="Tijdelijke aanduiding voor dianummer 5"/>
          <p:cNvSpPr>
            <a:spLocks noGrp="1"/>
          </p:cNvSpPr>
          <p:nvPr>
            <p:ph type="sldNum" sz="quarter" idx="12"/>
          </p:nvPr>
        </p:nvSpPr>
        <p:spPr>
          <a:xfrm>
            <a:off x="576000" y="6218376"/>
            <a:ext cx="648000" cy="648002"/>
          </a:xfrm>
          <a:prstGeom prst="rect">
            <a:avLst/>
          </a:prstGeom>
        </p:spPr>
        <p:txBody>
          <a:bodyPr/>
          <a:lstStyle/>
          <a:p>
            <a:fld id="{85114D95-D6A6-084A-9D9C-617B45E258AD}" type="slidenum">
              <a:rPr lang="nl-NL" smtClean="0"/>
              <a:t>‹#›</a:t>
            </a:fld>
            <a:endParaRPr lang="nl-NL"/>
          </a:p>
        </p:txBody>
      </p:sp>
    </p:spTree>
    <p:extLst>
      <p:ext uri="{BB962C8B-B14F-4D97-AF65-F5344CB8AC3E}">
        <p14:creationId xmlns:p14="http://schemas.microsoft.com/office/powerpoint/2010/main" val="818541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ee objecten">
    <p:spTree>
      <p:nvGrpSpPr>
        <p:cNvPr id="1" name=""/>
        <p:cNvGrpSpPr/>
        <p:nvPr/>
      </p:nvGrpSpPr>
      <p:grpSpPr>
        <a:xfrm>
          <a:off x="0" y="0"/>
          <a:ext cx="0" cy="0"/>
          <a:chOff x="0" y="0"/>
          <a:chExt cx="0" cy="0"/>
        </a:xfrm>
      </p:grpSpPr>
      <p:sp>
        <p:nvSpPr>
          <p:cNvPr id="6" name="Rechthoek 5"/>
          <p:cNvSpPr/>
          <p:nvPr/>
        </p:nvSpPr>
        <p:spPr>
          <a:xfrm>
            <a:off x="0" y="1"/>
            <a:ext cx="12193200" cy="6227180"/>
          </a:xfrm>
          <a:prstGeom prst="rect">
            <a:avLst/>
          </a:prstGeom>
          <a:solidFill>
            <a:srgbClr val="BAC1B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2" name="Titel 1"/>
          <p:cNvSpPr>
            <a:spLocks noGrp="1"/>
          </p:cNvSpPr>
          <p:nvPr>
            <p:ph type="ctrTitle"/>
          </p:nvPr>
        </p:nvSpPr>
        <p:spPr>
          <a:xfrm>
            <a:off x="575999" y="1068972"/>
            <a:ext cx="11041200" cy="2386800"/>
          </a:xfrm>
        </p:spPr>
        <p:txBody>
          <a:bodyPr anchor="b"/>
          <a:lstStyle>
            <a:lvl1pPr algn="l">
              <a:defRPr sz="6000" baseline="0">
                <a:solidFill>
                  <a:srgbClr val="1D8DB0"/>
                </a:solidFill>
              </a:defRPr>
            </a:lvl1pPr>
          </a:lstStyle>
          <a:p>
            <a:r>
              <a:rPr lang="en-US"/>
              <a:t>Click to edit Master title style</a:t>
            </a:r>
            <a:endParaRPr lang="nl-NL"/>
          </a:p>
        </p:txBody>
      </p:sp>
      <p:sp>
        <p:nvSpPr>
          <p:cNvPr id="23" name="Ondertitel 2"/>
          <p:cNvSpPr>
            <a:spLocks noGrp="1"/>
          </p:cNvSpPr>
          <p:nvPr>
            <p:ph type="subTitle" idx="1"/>
          </p:nvPr>
        </p:nvSpPr>
        <p:spPr>
          <a:xfrm>
            <a:off x="576001" y="3572521"/>
            <a:ext cx="11041200" cy="988941"/>
          </a:xfrm>
        </p:spPr>
        <p:txBody>
          <a:bodyPr/>
          <a:lstStyle>
            <a:lvl1pPr marL="0" indent="0" algn="l">
              <a:buNone/>
              <a:defRPr sz="2400" baseline="0">
                <a:solidFill>
                  <a:srgbClr val="005E77"/>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Tijdelijke aanduiding voor dianummer 3"/>
          <p:cNvSpPr>
            <a:spLocks noGrp="1"/>
          </p:cNvSpPr>
          <p:nvPr>
            <p:ph type="sldNum" sz="quarter" idx="12"/>
          </p:nvPr>
        </p:nvSpPr>
        <p:spPr>
          <a:xfrm>
            <a:off x="576000" y="6218376"/>
            <a:ext cx="648000" cy="648002"/>
          </a:xfrm>
          <a:prstGeom prst="rect">
            <a:avLst/>
          </a:prstGeom>
        </p:spPr>
        <p:txBody>
          <a:bodyPr/>
          <a:lstStyle/>
          <a:p>
            <a:fld id="{85114D95-D6A6-084A-9D9C-617B45E258AD}" type="slidenum">
              <a:rPr lang="nl-NL" smtClean="0"/>
              <a:pPr/>
              <a:t>‹#›</a:t>
            </a:fld>
            <a:endParaRPr lang="nl-NL"/>
          </a:p>
        </p:txBody>
      </p:sp>
    </p:spTree>
    <p:extLst>
      <p:ext uri="{BB962C8B-B14F-4D97-AF65-F5344CB8AC3E}">
        <p14:creationId xmlns:p14="http://schemas.microsoft.com/office/powerpoint/2010/main" val="253675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endParaRPr lang="en-GB"/>
          </a:p>
        </p:txBody>
      </p:sp>
      <p:sp>
        <p:nvSpPr>
          <p:cNvPr id="6" name="Slide Number Placeholder 5"/>
          <p:cNvSpPr>
            <a:spLocks noGrp="1" noRot="1" noMove="1" noResize="1" noEditPoints="1" noAdjustHandles="1" noChangeArrowheads="1" noChangeShapeType="1"/>
          </p:cNvSpPr>
          <p:nvPr>
            <p:ph type="sldNum" sz="quarter" idx="12"/>
          </p:nvPr>
        </p:nvSpPr>
        <p:spPr>
          <a:xfrm>
            <a:off x="576000" y="6218376"/>
            <a:ext cx="648000" cy="648002"/>
          </a:xfrm>
          <a:prstGeom prst="rect">
            <a:avLst/>
          </a:prstGeom>
        </p:spPr>
        <p:txBody>
          <a:bodyPr/>
          <a:lstStyle/>
          <a:p>
            <a:fld id="{325E1C3C-2FAA-47B3-A014-CAB7A4743402}" type="slidenum">
              <a:rPr lang="nl-BE" smtClean="0"/>
              <a:t>‹#›</a:t>
            </a:fld>
            <a:endParaRPr lang="nl-BE"/>
          </a:p>
        </p:txBody>
      </p:sp>
    </p:spTree>
    <p:extLst>
      <p:ext uri="{BB962C8B-B14F-4D97-AF65-F5344CB8AC3E}">
        <p14:creationId xmlns:p14="http://schemas.microsoft.com/office/powerpoint/2010/main" val="1513481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2EED3-F90B-41BB-B53D-27A916E5E928}"/>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522922C9-9B20-DA88-3981-F6D8684CE759}"/>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4563EFBE-6EC3-9AAA-CB71-8F6093E78107}"/>
              </a:ext>
            </a:extLst>
          </p:cNvPr>
          <p:cNvSpPr>
            <a:spLocks noGrp="1"/>
          </p:cNvSpPr>
          <p:nvPr>
            <p:ph type="sldNum" sz="quarter" idx="10"/>
          </p:nvPr>
        </p:nvSpPr>
        <p:spPr/>
        <p:txBody>
          <a:bodyPr/>
          <a:lstStyle/>
          <a:p>
            <a:fld id="{CC571AF6-6671-4538-974D-3AEC00AC0B82}"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2_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inhoud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5114D95-D6A6-084A-9D9C-617B45E258AD}" type="slidenum">
              <a:rPr lang="nl-NL" smtClean="0"/>
              <a:t>‹#›</a:t>
            </a:fld>
            <a:endParaRPr lang="nl-NL"/>
          </a:p>
        </p:txBody>
      </p:sp>
    </p:spTree>
    <p:extLst>
      <p:ext uri="{BB962C8B-B14F-4D97-AF65-F5344CB8AC3E}">
        <p14:creationId xmlns:p14="http://schemas.microsoft.com/office/powerpoint/2010/main" val="2027329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1" name="Date Placeholder 10"/>
          <p:cNvSpPr>
            <a:spLocks noGrp="1"/>
          </p:cNvSpPr>
          <p:nvPr>
            <p:ph type="dt" sz="half" idx="10"/>
          </p:nvPr>
        </p:nvSpPr>
        <p:spPr/>
        <p:txBody>
          <a:bodyPr/>
          <a:lstStyle/>
          <a:p>
            <a:endParaRPr lang="nl-NL"/>
          </a:p>
        </p:txBody>
      </p:sp>
      <p:sp>
        <p:nvSpPr>
          <p:cNvPr id="12" name="Footer Placeholder 11"/>
          <p:cNvSpPr>
            <a:spLocks noGrp="1"/>
          </p:cNvSpPr>
          <p:nvPr>
            <p:ph type="ftr" sz="quarter" idx="11"/>
          </p:nvPr>
        </p:nvSpPr>
        <p:spPr/>
        <p:txBody>
          <a:bodyPr/>
          <a:lstStyle/>
          <a:p>
            <a:r>
              <a:rPr lang="nl-NL"/>
              <a:t>RDM Competence Centre</a:t>
            </a:r>
          </a:p>
        </p:txBody>
      </p:sp>
      <p:sp>
        <p:nvSpPr>
          <p:cNvPr id="13" name="Slide Number Placeholder 12"/>
          <p:cNvSpPr>
            <a:spLocks noGrp="1"/>
          </p:cNvSpPr>
          <p:nvPr>
            <p:ph type="sldNum" sz="quarter" idx="12"/>
          </p:nvPr>
        </p:nvSpPr>
        <p:spPr/>
        <p:txBody>
          <a:bodyPr/>
          <a:lstStyle/>
          <a:p>
            <a:fld id="{0A297500-7527-634B-90F4-69D0994C32B4}" type="slidenum">
              <a:rPr lang="nl-NL" smtClean="0"/>
              <a:pPr/>
              <a:t>‹#›</a:t>
            </a:fld>
            <a:endParaRPr lang="nl-NL"/>
          </a:p>
        </p:txBody>
      </p:sp>
      <p:sp>
        <p:nvSpPr>
          <p:cNvPr id="3" name="Content Placeholder 2"/>
          <p:cNvSpPr>
            <a:spLocks noGrp="1"/>
          </p:cNvSpPr>
          <p:nvPr>
            <p:ph sz="quarter" idx="13"/>
          </p:nvPr>
        </p:nvSpPr>
        <p:spPr>
          <a:xfrm>
            <a:off x="768351" y="1655999"/>
            <a:ext cx="10655300" cy="43923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2" name="Title 1"/>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189532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4612" y="1656000"/>
            <a:ext cx="5232000" cy="5760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764612" y="2339789"/>
            <a:ext cx="5232000" cy="370858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199" y="1656000"/>
            <a:ext cx="5232000" cy="5760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199" y="2339789"/>
            <a:ext cx="5232000" cy="370858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10"/>
          </p:nvPr>
        </p:nvSpPr>
        <p:spPr/>
        <p:txBody>
          <a:bodyPr/>
          <a:lstStyle/>
          <a:p>
            <a:endParaRPr lang="nl-NL"/>
          </a:p>
        </p:txBody>
      </p:sp>
      <p:sp>
        <p:nvSpPr>
          <p:cNvPr id="11" name="Footer Placeholder 10"/>
          <p:cNvSpPr>
            <a:spLocks noGrp="1"/>
          </p:cNvSpPr>
          <p:nvPr>
            <p:ph type="ftr" sz="quarter" idx="11"/>
          </p:nvPr>
        </p:nvSpPr>
        <p:spPr/>
        <p:txBody>
          <a:bodyPr/>
          <a:lstStyle/>
          <a:p>
            <a:r>
              <a:rPr lang="nl-NL"/>
              <a:t>RDM Competence Centre</a:t>
            </a:r>
          </a:p>
        </p:txBody>
      </p:sp>
      <p:sp>
        <p:nvSpPr>
          <p:cNvPr id="12" name="Slide Number Placeholder 11"/>
          <p:cNvSpPr>
            <a:spLocks noGrp="1"/>
          </p:cNvSpPr>
          <p:nvPr>
            <p:ph type="sldNum" sz="quarter" idx="12"/>
          </p:nvPr>
        </p:nvSpPr>
        <p:spPr/>
        <p:txBody>
          <a:bodyPr/>
          <a:lstStyle/>
          <a:p>
            <a:fld id="{0A297500-7527-634B-90F4-69D0994C32B4}" type="slidenum">
              <a:rPr lang="nl-NL" smtClean="0"/>
              <a:pPr/>
              <a:t>‹#›</a:t>
            </a:fld>
            <a:endParaRPr lang="nl-NL"/>
          </a:p>
        </p:txBody>
      </p:sp>
      <p:sp>
        <p:nvSpPr>
          <p:cNvPr id="2" name="Title 1"/>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2188638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Afbeelding 8"/>
          <p:cNvPicPr>
            <a:picLocks noChangeAspect="1"/>
          </p:cNvPicPr>
          <p:nvPr userDrawn="1"/>
        </p:nvPicPr>
        <p:blipFill rotWithShape="1">
          <a:blip r:embed="rId11" cstate="hqprint">
            <a:extLst>
              <a:ext uri="{28A0092B-C50C-407E-A947-70E740481C1C}">
                <a14:useLocalDpi xmlns:a14="http://schemas.microsoft.com/office/drawing/2010/main"/>
              </a:ext>
            </a:extLst>
          </a:blip>
          <a:srcRect/>
          <a:stretch/>
        </p:blipFill>
        <p:spPr>
          <a:xfrm>
            <a:off x="0" y="6210000"/>
            <a:ext cx="12192000" cy="648000"/>
          </a:xfrm>
          <a:prstGeom prst="rect">
            <a:avLst/>
          </a:prstGeom>
        </p:spPr>
      </p:pic>
      <p:sp>
        <p:nvSpPr>
          <p:cNvPr id="2" name="Tijdelijke aanduiding voor titel 1"/>
          <p:cNvSpPr>
            <a:spLocks noGrp="1"/>
          </p:cNvSpPr>
          <p:nvPr>
            <p:ph type="title"/>
          </p:nvPr>
        </p:nvSpPr>
        <p:spPr>
          <a:xfrm>
            <a:off x="576000" y="576000"/>
            <a:ext cx="11041200" cy="1325563"/>
          </a:xfrm>
          <a:prstGeom prst="rect">
            <a:avLst/>
          </a:prstGeom>
        </p:spPr>
        <p:txBody>
          <a:bodyPr vert="horz" lIns="0" tIns="0" rIns="0" bIns="0" rtlCol="0" anchor="t" anchorCtr="0">
            <a:normAutofit/>
          </a:bodyPr>
          <a:lstStyle/>
          <a:p>
            <a:r>
              <a:rPr lang="nl-NL"/>
              <a:t>Titelstijl van model bewerken</a:t>
            </a:r>
          </a:p>
        </p:txBody>
      </p:sp>
      <p:sp>
        <p:nvSpPr>
          <p:cNvPr id="3" name="Tijdelijke aanduiding voor tekst 2"/>
          <p:cNvSpPr>
            <a:spLocks noGrp="1"/>
          </p:cNvSpPr>
          <p:nvPr>
            <p:ph type="body" idx="1"/>
          </p:nvPr>
        </p:nvSpPr>
        <p:spPr>
          <a:xfrm>
            <a:off x="576000" y="2045563"/>
            <a:ext cx="11041200" cy="3938548"/>
          </a:xfrm>
          <a:prstGeom prst="rect">
            <a:avLst/>
          </a:prstGeom>
        </p:spPr>
        <p:txBody>
          <a:bodyPr vert="horz" lIns="0" tIns="0" rIns="0" bIns="0" rtlCol="0">
            <a:norm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dianummer 5"/>
          <p:cNvSpPr>
            <a:spLocks noGrp="1"/>
          </p:cNvSpPr>
          <p:nvPr>
            <p:ph type="sldNum" sz="quarter" idx="4"/>
          </p:nvPr>
        </p:nvSpPr>
        <p:spPr>
          <a:xfrm>
            <a:off x="576000" y="6218376"/>
            <a:ext cx="648000" cy="648002"/>
          </a:xfrm>
          <a:prstGeom prst="rect">
            <a:avLst/>
          </a:prstGeom>
        </p:spPr>
        <p:txBody>
          <a:bodyPr vert="horz" lIns="0" tIns="0" rIns="0" bIns="0" rtlCol="0" anchor="ctr"/>
          <a:lstStyle>
            <a:lvl1pPr algn="l">
              <a:defRPr sz="1200" baseline="0">
                <a:solidFill>
                  <a:schemeClr val="bg1"/>
                </a:solidFill>
                <a:latin typeface="Arial" charset="0"/>
              </a:defRPr>
            </a:lvl1pPr>
          </a:lstStyle>
          <a:p>
            <a:fld id="{CC571AF6-6671-4538-974D-3AEC00AC0B82}" type="slidenum">
              <a:rPr lang="en-GB" smtClean="0"/>
              <a:t>‹#›</a:t>
            </a:fld>
            <a:endParaRPr lang="en-GB"/>
          </a:p>
        </p:txBody>
      </p:sp>
      <p:pic>
        <p:nvPicPr>
          <p:cNvPr id="11" name="Afbeelding 10"/>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10180982" y="6358188"/>
            <a:ext cx="1831898" cy="360000"/>
          </a:xfrm>
          <a:prstGeom prst="rect">
            <a:avLst/>
          </a:prstGeom>
        </p:spPr>
      </p:pic>
      <p:sp>
        <p:nvSpPr>
          <p:cNvPr id="10" name="Tijdelijke aanduiding voor voettekst 4"/>
          <p:cNvSpPr txBox="1">
            <a:spLocks/>
          </p:cNvSpPr>
          <p:nvPr userDrawn="1"/>
        </p:nvSpPr>
        <p:spPr>
          <a:xfrm>
            <a:off x="6748041" y="6209998"/>
            <a:ext cx="3411159" cy="648002"/>
          </a:xfrm>
          <a:prstGeom prst="rect">
            <a:avLst/>
          </a:prstGeom>
        </p:spPr>
        <p:txBody>
          <a:bodyPr vert="horz" lIns="0" tIns="0" rIns="180000" bIns="0" rtlCol="0" anchor="ctr"/>
          <a:lstStyle>
            <a:defPPr>
              <a:defRPr lang="nl-NL"/>
            </a:defPPr>
            <a:lvl1pPr marL="0" algn="r" defTabSz="914400" rtl="0" eaLnBrk="1" latinLnBrk="0" hangingPunct="1">
              <a:defRPr sz="1200" kern="1200" baseline="0">
                <a:solidFill>
                  <a:schemeClr val="bg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sz="1000" b="1" i="0" baseline="0"/>
          </a:p>
          <a:p>
            <a:r>
              <a:rPr lang="nl-NL" sz="1000" b="1" i="0" baseline="0"/>
              <a:t>2Bergen</a:t>
            </a:r>
            <a:r>
              <a:rPr lang="nl-NL" sz="1000" b="0" i="0" baseline="0"/>
              <a:t>    </a:t>
            </a:r>
            <a:br>
              <a:rPr lang="nl-NL" sz="1000" b="1" baseline="0"/>
            </a:br>
            <a:endParaRPr lang="nl-NL" sz="1000" baseline="0"/>
          </a:p>
        </p:txBody>
      </p:sp>
    </p:spTree>
    <p:extLst>
      <p:ext uri="{BB962C8B-B14F-4D97-AF65-F5344CB8AC3E}">
        <p14:creationId xmlns:p14="http://schemas.microsoft.com/office/powerpoint/2010/main" val="6031685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67" r:id="rId6"/>
    <p:sldLayoutId id="2147483681" r:id="rId7"/>
    <p:sldLayoutId id="2147483683" r:id="rId8"/>
    <p:sldLayoutId id="2147483684" r:id="rId9"/>
  </p:sldLayoutIdLst>
  <p:hf hdr="0" ftr="0" dt="0"/>
  <p:txStyles>
    <p:titleStyle>
      <a:lvl1pPr algn="l" defTabSz="914400" rtl="0" eaLnBrk="1" latinLnBrk="0" hangingPunct="1">
        <a:lnSpc>
          <a:spcPct val="90000"/>
        </a:lnSpc>
        <a:spcBef>
          <a:spcPct val="0"/>
        </a:spcBef>
        <a:buNone/>
        <a:defRPr sz="3400" b="0" kern="1200" baseline="0">
          <a:solidFill>
            <a:srgbClr val="52BDEC"/>
          </a:solidFill>
          <a:latin typeface="Arial" charset="0"/>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baseline="0">
          <a:solidFill>
            <a:srgbClr val="005E77"/>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5E77"/>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5E77"/>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4.jpeg"/><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hyperlink" Target="https://www.groupware.kuleuven.be/sites/dmpmt/Pages/default.aspx"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hyperlink" Target="https://www.groupware.kuleuven.be/sites/dmpmt/Pages/default.aspx"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dmponline.b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dmponline.b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hyperlink" Target="https://dmponline.b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oed.com/dictionary/plan_n?tab=meaning_and_use#29967045"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E51_82705E2E.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12.xml"/><Relationship Id="rId16" Type="http://schemas.openxmlformats.org/officeDocument/2006/relationships/image" Target="../media/image34.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svg"/><Relationship Id="rId4" Type="http://schemas.microsoft.com/office/2007/relationships/hdphoto" Target="../media/hdphoto2.wdp"/><Relationship Id="rId9" Type="http://schemas.openxmlformats.org/officeDocument/2006/relationships/image" Target="../media/image27.png"/><Relationship Id="rId14" Type="http://schemas.openxmlformats.org/officeDocument/2006/relationships/image" Target="../media/image32.svg"/></Relationships>
</file>

<file path=ppt/slides/_rels/slide22.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13.xml"/><Relationship Id="rId16" Type="http://schemas.openxmlformats.org/officeDocument/2006/relationships/image" Target="../media/image34.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svg"/><Relationship Id="rId4" Type="http://schemas.microsoft.com/office/2007/relationships/hdphoto" Target="../media/hdphoto2.wdp"/><Relationship Id="rId9" Type="http://schemas.openxmlformats.org/officeDocument/2006/relationships/image" Target="../media/image27.png"/><Relationship Id="rId14" Type="http://schemas.openxmlformats.org/officeDocument/2006/relationships/image" Target="../media/image32.svg"/></Relationships>
</file>

<file path=ppt/slides/_rels/slide23.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5.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14.xml"/><Relationship Id="rId16"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7.png"/><Relationship Id="rId10" Type="http://schemas.openxmlformats.org/officeDocument/2006/relationships/image" Target="../media/image28.svg"/><Relationship Id="rId4" Type="http://schemas.microsoft.com/office/2007/relationships/hdphoto" Target="../media/hdphoto2.wdp"/><Relationship Id="rId9" Type="http://schemas.openxmlformats.org/officeDocument/2006/relationships/image" Target="../media/image27.png"/><Relationship Id="rId14" Type="http://schemas.openxmlformats.org/officeDocument/2006/relationships/image" Target="../media/image36.svg"/></Relationships>
</file>

<file path=ppt/slides/_rels/slide24.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5.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15.xml"/><Relationship Id="rId16"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7.png"/><Relationship Id="rId10" Type="http://schemas.openxmlformats.org/officeDocument/2006/relationships/image" Target="../media/image28.svg"/><Relationship Id="rId4" Type="http://schemas.microsoft.com/office/2007/relationships/hdphoto" Target="../media/hdphoto2.wdp"/><Relationship Id="rId9" Type="http://schemas.openxmlformats.org/officeDocument/2006/relationships/image" Target="../media/image27.png"/><Relationship Id="rId14" Type="http://schemas.openxmlformats.org/officeDocument/2006/relationships/image" Target="../media/image36.svg"/></Relationships>
</file>

<file path=ppt/slides/_rels/slide25.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6.svg"/><Relationship Id="rId2" Type="http://schemas.openxmlformats.org/officeDocument/2006/relationships/notesSlide" Target="../notesSlides/notesSlide16.xml"/><Relationship Id="rId16"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35.png"/><Relationship Id="rId5" Type="http://schemas.openxmlformats.org/officeDocument/2006/relationships/image" Target="../media/image23.png"/><Relationship Id="rId15" Type="http://schemas.openxmlformats.org/officeDocument/2006/relationships/image" Target="../media/image27.png"/><Relationship Id="rId10" Type="http://schemas.openxmlformats.org/officeDocument/2006/relationships/image" Target="../media/image30.svg"/><Relationship Id="rId4" Type="http://schemas.microsoft.com/office/2007/relationships/hdphoto" Target="../media/hdphoto2.wdp"/><Relationship Id="rId9" Type="http://schemas.openxmlformats.org/officeDocument/2006/relationships/image" Target="../media/image29.png"/><Relationship Id="rId14" Type="http://schemas.openxmlformats.org/officeDocument/2006/relationships/image" Target="../media/image38.svg"/></Relationships>
</file>

<file path=ppt/slides/_rels/slide26.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23.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8.svg"/><Relationship Id="rId11" Type="http://schemas.openxmlformats.org/officeDocument/2006/relationships/image" Target="../media/image29.png"/><Relationship Id="rId5" Type="http://schemas.openxmlformats.org/officeDocument/2006/relationships/image" Target="../media/image27.png"/><Relationship Id="rId10" Type="http://schemas.openxmlformats.org/officeDocument/2006/relationships/image" Target="../media/image38.svg"/><Relationship Id="rId4" Type="http://schemas.microsoft.com/office/2007/relationships/hdphoto" Target="../media/hdphoto2.wdp"/><Relationship Id="rId9" Type="http://schemas.openxmlformats.org/officeDocument/2006/relationships/image" Target="../media/image37.png"/><Relationship Id="rId14" Type="http://schemas.openxmlformats.org/officeDocument/2006/relationships/image" Target="../media/image24.svg"/></Relationships>
</file>

<file path=ppt/slides/_rels/slide27.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25.png"/><Relationship Id="rId18" Type="http://schemas.openxmlformats.org/officeDocument/2006/relationships/image" Target="../media/image28.svg"/><Relationship Id="rId3" Type="http://schemas.openxmlformats.org/officeDocument/2006/relationships/image" Target="../media/image22.png"/><Relationship Id="rId21" Type="http://schemas.openxmlformats.org/officeDocument/2006/relationships/image" Target="../media/image45.png"/><Relationship Id="rId7" Type="http://schemas.openxmlformats.org/officeDocument/2006/relationships/image" Target="../media/image41.png"/><Relationship Id="rId12" Type="http://schemas.openxmlformats.org/officeDocument/2006/relationships/image" Target="../media/image24.svg"/><Relationship Id="rId17" Type="http://schemas.openxmlformats.org/officeDocument/2006/relationships/image" Target="../media/image27.png"/><Relationship Id="rId2" Type="http://schemas.openxmlformats.org/officeDocument/2006/relationships/notesSlide" Target="../notesSlides/notesSlide18.xml"/><Relationship Id="rId16" Type="http://schemas.openxmlformats.org/officeDocument/2006/relationships/image" Target="../media/image34.svg"/><Relationship Id="rId20" Type="http://schemas.openxmlformats.org/officeDocument/2006/relationships/image" Target="../media/image30.svg"/><Relationship Id="rId1" Type="http://schemas.openxmlformats.org/officeDocument/2006/relationships/slideLayout" Target="../slideLayouts/slideLayout7.xml"/><Relationship Id="rId6" Type="http://schemas.openxmlformats.org/officeDocument/2006/relationships/image" Target="../media/image40.svg"/><Relationship Id="rId11" Type="http://schemas.openxmlformats.org/officeDocument/2006/relationships/image" Target="../media/image23.png"/><Relationship Id="rId24" Type="http://schemas.openxmlformats.org/officeDocument/2006/relationships/image" Target="../media/image32.svg"/><Relationship Id="rId5" Type="http://schemas.openxmlformats.org/officeDocument/2006/relationships/image" Target="../media/image39.png"/><Relationship Id="rId15" Type="http://schemas.openxmlformats.org/officeDocument/2006/relationships/image" Target="../media/image33.png"/><Relationship Id="rId23" Type="http://schemas.openxmlformats.org/officeDocument/2006/relationships/image" Target="../media/image31.png"/><Relationship Id="rId10" Type="http://schemas.openxmlformats.org/officeDocument/2006/relationships/image" Target="../media/image44.svg"/><Relationship Id="rId19" Type="http://schemas.openxmlformats.org/officeDocument/2006/relationships/image" Target="../media/image29.png"/><Relationship Id="rId4" Type="http://schemas.microsoft.com/office/2007/relationships/hdphoto" Target="../media/hdphoto2.wdp"/><Relationship Id="rId9" Type="http://schemas.openxmlformats.org/officeDocument/2006/relationships/image" Target="../media/image43.png"/><Relationship Id="rId14" Type="http://schemas.openxmlformats.org/officeDocument/2006/relationships/image" Target="../media/image26.svg"/><Relationship Id="rId22" Type="http://schemas.openxmlformats.org/officeDocument/2006/relationships/image" Target="../media/image46.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1D9159-48D3-56C1-21A6-A2612247A962}"/>
              </a:ext>
            </a:extLst>
          </p:cNvPr>
          <p:cNvSpPr>
            <a:spLocks noGrp="1"/>
          </p:cNvSpPr>
          <p:nvPr>
            <p:ph type="ctrTitle"/>
          </p:nvPr>
        </p:nvSpPr>
        <p:spPr>
          <a:xfrm>
            <a:off x="575999" y="1390305"/>
            <a:ext cx="11030400" cy="2150488"/>
          </a:xfrm>
        </p:spPr>
        <p:txBody>
          <a:bodyPr>
            <a:normAutofit/>
          </a:bodyPr>
          <a:lstStyle/>
          <a:p>
            <a:r>
              <a:rPr lang="en-US" sz="4000" b="1"/>
              <a:t>Introduction to RDM in Life Sciences</a:t>
            </a:r>
            <a:br>
              <a:rPr lang="en-US" sz="4000" b="1"/>
            </a:br>
            <a:r>
              <a:rPr lang="en-US" sz="4000" b="1"/>
              <a:t>Session 2: Build a plan</a:t>
            </a:r>
            <a:endParaRPr lang="en-GB" sz="4000" b="1"/>
          </a:p>
        </p:txBody>
      </p:sp>
      <p:sp>
        <p:nvSpPr>
          <p:cNvPr id="5" name="Subtitle 4">
            <a:extLst>
              <a:ext uri="{FF2B5EF4-FFF2-40B4-BE49-F238E27FC236}">
                <a16:creationId xmlns:a16="http://schemas.microsoft.com/office/drawing/2014/main" id="{CBA3B603-2308-7E21-230B-270FE59C79B5}"/>
              </a:ext>
            </a:extLst>
          </p:cNvPr>
          <p:cNvSpPr>
            <a:spLocks noGrp="1"/>
          </p:cNvSpPr>
          <p:nvPr>
            <p:ph type="subTitle" idx="1"/>
          </p:nvPr>
        </p:nvSpPr>
        <p:spPr>
          <a:xfrm>
            <a:off x="575999" y="3959999"/>
            <a:ext cx="11041200" cy="2256163"/>
          </a:xfrm>
        </p:spPr>
        <p:txBody>
          <a:bodyPr>
            <a:normAutofit/>
          </a:bodyPr>
          <a:lstStyle/>
          <a:p>
            <a:r>
              <a:rPr lang="en-US"/>
              <a:t>Audience: ECR from VIB @ </a:t>
            </a:r>
            <a:r>
              <a:rPr lang="en-US" err="1"/>
              <a:t>KULeuven</a:t>
            </a:r>
            <a:endParaRPr lang="en-US"/>
          </a:p>
          <a:p>
            <a:r>
              <a:rPr lang="en-US"/>
              <a:t>November 25</a:t>
            </a:r>
            <a:r>
              <a:rPr lang="en-US" baseline="30000"/>
              <a:t>th</a:t>
            </a:r>
            <a:r>
              <a:rPr lang="en-US"/>
              <a:t> 2025</a:t>
            </a:r>
          </a:p>
          <a:p>
            <a:endParaRPr lang="en-US"/>
          </a:p>
          <a:p>
            <a:r>
              <a:rPr lang="en-US"/>
              <a:t>Sylvette Vanderstraeten – Willeke de Haan</a:t>
            </a:r>
          </a:p>
          <a:p>
            <a:r>
              <a:rPr lang="en-US"/>
              <a:t>Inge Mannaerts – Maarten Jackers</a:t>
            </a:r>
          </a:p>
        </p:txBody>
      </p:sp>
      <p:pic>
        <p:nvPicPr>
          <p:cNvPr id="2" name="Picture 1" descr="A close-up of a logo&#10;&#10;AI-generated content may be incorrect.">
            <a:extLst>
              <a:ext uri="{FF2B5EF4-FFF2-40B4-BE49-F238E27FC236}">
                <a16:creationId xmlns:a16="http://schemas.microsoft.com/office/drawing/2014/main" id="{8D1E27FF-EC18-F878-1FE8-24B669787A3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448679" y="3959999"/>
            <a:ext cx="2375735" cy="1774781"/>
          </a:xfrm>
          <a:prstGeom prst="rect">
            <a:avLst/>
          </a:prstGeom>
          <a:noFill/>
        </p:spPr>
      </p:pic>
    </p:spTree>
    <p:extLst>
      <p:ext uri="{BB962C8B-B14F-4D97-AF65-F5344CB8AC3E}">
        <p14:creationId xmlns:p14="http://schemas.microsoft.com/office/powerpoint/2010/main" val="755176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DB23E-D373-BF53-AF0D-F40263FDACDF}"/>
              </a:ext>
            </a:extLst>
          </p:cNvPr>
          <p:cNvSpPr>
            <a:spLocks noGrp="1"/>
          </p:cNvSpPr>
          <p:nvPr>
            <p:ph type="title"/>
          </p:nvPr>
        </p:nvSpPr>
        <p:spPr/>
        <p:txBody>
          <a:bodyPr/>
          <a:lstStyle/>
          <a:p>
            <a:r>
              <a:rPr lang="en-US"/>
              <a:t>What can go wrong without good RDM</a:t>
            </a:r>
            <a:endParaRPr lang="en-GB"/>
          </a:p>
        </p:txBody>
      </p:sp>
      <p:sp>
        <p:nvSpPr>
          <p:cNvPr id="4" name="Slide Number Placeholder 3">
            <a:extLst>
              <a:ext uri="{FF2B5EF4-FFF2-40B4-BE49-F238E27FC236}">
                <a16:creationId xmlns:a16="http://schemas.microsoft.com/office/drawing/2014/main" id="{8EBA0311-1E0B-E918-CD07-23BDC23411B5}"/>
              </a:ext>
            </a:extLst>
          </p:cNvPr>
          <p:cNvSpPr>
            <a:spLocks noGrp="1"/>
          </p:cNvSpPr>
          <p:nvPr>
            <p:ph type="sldNum" sz="quarter" idx="12"/>
          </p:nvPr>
        </p:nvSpPr>
        <p:spPr/>
        <p:txBody>
          <a:bodyPr/>
          <a:lstStyle/>
          <a:p>
            <a:fld id="{CC571AF6-6671-4538-974D-3AEC00AC0B82}" type="slidenum">
              <a:rPr lang="en-GB" smtClean="0"/>
              <a:t>2</a:t>
            </a:fld>
            <a:endParaRPr lang="en-GB"/>
          </a:p>
        </p:txBody>
      </p:sp>
      <p:sp>
        <p:nvSpPr>
          <p:cNvPr id="5" name="Text Placeholder 4">
            <a:extLst>
              <a:ext uri="{FF2B5EF4-FFF2-40B4-BE49-F238E27FC236}">
                <a16:creationId xmlns:a16="http://schemas.microsoft.com/office/drawing/2014/main" id="{34F47348-F4BA-DE8B-83F9-4C34F4428355}"/>
              </a:ext>
            </a:extLst>
          </p:cNvPr>
          <p:cNvSpPr>
            <a:spLocks noGrp="1"/>
          </p:cNvSpPr>
          <p:nvPr>
            <p:ph type="body" sz="quarter" idx="10"/>
          </p:nvPr>
        </p:nvSpPr>
        <p:spPr/>
        <p:txBody>
          <a:bodyPr/>
          <a:lstStyle/>
          <a:p>
            <a:endParaRPr lang="en-GB"/>
          </a:p>
        </p:txBody>
      </p:sp>
      <p:pic>
        <p:nvPicPr>
          <p:cNvPr id="21" name="Picture 20" descr="Cartoon of a person holding a paper&#10;&#10;AI-generated content may be incorrect.">
            <a:extLst>
              <a:ext uri="{FF2B5EF4-FFF2-40B4-BE49-F238E27FC236}">
                <a16:creationId xmlns:a16="http://schemas.microsoft.com/office/drawing/2014/main" id="{79E2C282-17D7-E59E-0CD5-1F23299E31E2}"/>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83592" y="1785947"/>
            <a:ext cx="2784000" cy="4176000"/>
          </a:xfrm>
          <a:prstGeom prst="rect">
            <a:avLst/>
          </a:prstGeom>
        </p:spPr>
      </p:pic>
      <p:pic>
        <p:nvPicPr>
          <p:cNvPr id="6" name="Picture 5">
            <a:extLst>
              <a:ext uri="{FF2B5EF4-FFF2-40B4-BE49-F238E27FC236}">
                <a16:creationId xmlns:a16="http://schemas.microsoft.com/office/drawing/2014/main" id="{3B3B1FF6-9BD2-97D8-2E53-C72C71085079}"/>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3293061" y="1785947"/>
            <a:ext cx="2784000" cy="4176000"/>
          </a:xfrm>
          <a:prstGeom prst="rect">
            <a:avLst/>
          </a:prstGeom>
        </p:spPr>
      </p:pic>
      <p:pic>
        <p:nvPicPr>
          <p:cNvPr id="7" name="Picture 6">
            <a:extLst>
              <a:ext uri="{FF2B5EF4-FFF2-40B4-BE49-F238E27FC236}">
                <a16:creationId xmlns:a16="http://schemas.microsoft.com/office/drawing/2014/main" id="{61A922A7-4BB2-1E52-4D7D-57208D880F38}"/>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9312000" y="1778061"/>
            <a:ext cx="2784000" cy="4176000"/>
          </a:xfrm>
          <a:prstGeom prst="rect">
            <a:avLst/>
          </a:prstGeom>
        </p:spPr>
      </p:pic>
      <p:pic>
        <p:nvPicPr>
          <p:cNvPr id="9" name="Picture 8">
            <a:extLst>
              <a:ext uri="{FF2B5EF4-FFF2-40B4-BE49-F238E27FC236}">
                <a16:creationId xmlns:a16="http://schemas.microsoft.com/office/drawing/2014/main" id="{653872D2-2873-E0DE-A96D-15A5ABE2B079}"/>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6302530" y="1778061"/>
            <a:ext cx="2784000" cy="4176000"/>
          </a:xfrm>
          <a:prstGeom prst="rect">
            <a:avLst/>
          </a:prstGeom>
        </p:spPr>
      </p:pic>
      <p:pic>
        <p:nvPicPr>
          <p:cNvPr id="3" name="Picture 2">
            <a:extLst>
              <a:ext uri="{FF2B5EF4-FFF2-40B4-BE49-F238E27FC236}">
                <a16:creationId xmlns:a16="http://schemas.microsoft.com/office/drawing/2014/main" id="{609BFDC5-56A7-5E00-6574-D1E5E3309B79}"/>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2351176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EEB89-F567-DEC0-862A-14A25AA33F4D}"/>
              </a:ext>
            </a:extLst>
          </p:cNvPr>
          <p:cNvSpPr>
            <a:spLocks noGrp="1"/>
          </p:cNvSpPr>
          <p:nvPr>
            <p:ph type="title"/>
          </p:nvPr>
        </p:nvSpPr>
        <p:spPr/>
        <p:txBody>
          <a:bodyPr/>
          <a:lstStyle/>
          <a:p>
            <a:r>
              <a:rPr lang="en-US"/>
              <a:t>What can go wrong without good RDM</a:t>
            </a:r>
            <a:endParaRPr lang="en-GB"/>
          </a:p>
        </p:txBody>
      </p:sp>
      <p:pic>
        <p:nvPicPr>
          <p:cNvPr id="7" name="Content Placeholder 6">
            <a:extLst>
              <a:ext uri="{FF2B5EF4-FFF2-40B4-BE49-F238E27FC236}">
                <a16:creationId xmlns:a16="http://schemas.microsoft.com/office/drawing/2014/main" id="{BF5C8941-7A88-3A34-323E-75EF2D39A9EF}"/>
              </a:ext>
            </a:extLst>
          </p:cNvPr>
          <p:cNvPicPr>
            <a:picLocks noGrp="1" noChangeAspect="1"/>
          </p:cNvPicPr>
          <p:nvPr>
            <p:ph idx="1"/>
          </p:nvPr>
        </p:nvPicPr>
        <p:blipFill>
          <a:blip r:embed="rId2" cstate="hqprint">
            <a:extLst>
              <a:ext uri="{28A0092B-C50C-407E-A947-70E740481C1C}">
                <a14:useLocalDpi xmlns:a14="http://schemas.microsoft.com/office/drawing/2010/main"/>
              </a:ext>
            </a:extLst>
          </a:blip>
          <a:stretch>
            <a:fillRect/>
          </a:stretch>
        </p:blipFill>
        <p:spPr>
          <a:xfrm>
            <a:off x="576000" y="1701386"/>
            <a:ext cx="2783999" cy="4176000"/>
          </a:xfrm>
        </p:spPr>
      </p:pic>
      <p:sp>
        <p:nvSpPr>
          <p:cNvPr id="4" name="Slide Number Placeholder 3">
            <a:extLst>
              <a:ext uri="{FF2B5EF4-FFF2-40B4-BE49-F238E27FC236}">
                <a16:creationId xmlns:a16="http://schemas.microsoft.com/office/drawing/2014/main" id="{C650B0FB-CF28-4687-8B49-D161E8C48BAB}"/>
              </a:ext>
            </a:extLst>
          </p:cNvPr>
          <p:cNvSpPr>
            <a:spLocks noGrp="1"/>
          </p:cNvSpPr>
          <p:nvPr>
            <p:ph type="sldNum" sz="quarter" idx="12"/>
          </p:nvPr>
        </p:nvSpPr>
        <p:spPr/>
        <p:txBody>
          <a:bodyPr/>
          <a:lstStyle/>
          <a:p>
            <a:fld id="{CC571AF6-6671-4538-974D-3AEC00AC0B82}" type="slidenum">
              <a:rPr lang="en-GB" smtClean="0"/>
              <a:t>3</a:t>
            </a:fld>
            <a:endParaRPr lang="en-GB"/>
          </a:p>
        </p:txBody>
      </p:sp>
      <p:pic>
        <p:nvPicPr>
          <p:cNvPr id="11" name="Picture 10">
            <a:extLst>
              <a:ext uri="{FF2B5EF4-FFF2-40B4-BE49-F238E27FC236}">
                <a16:creationId xmlns:a16="http://schemas.microsoft.com/office/drawing/2014/main" id="{99EC6AED-747F-0E9F-9FFA-228BF5BF9E68}"/>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334881" y="1701386"/>
            <a:ext cx="2784000" cy="4176000"/>
          </a:xfrm>
          <a:prstGeom prst="rect">
            <a:avLst/>
          </a:prstGeom>
        </p:spPr>
      </p:pic>
      <p:pic>
        <p:nvPicPr>
          <p:cNvPr id="13" name="Picture 12">
            <a:extLst>
              <a:ext uri="{FF2B5EF4-FFF2-40B4-BE49-F238E27FC236}">
                <a16:creationId xmlns:a16="http://schemas.microsoft.com/office/drawing/2014/main" id="{3BE0ABA6-D538-DD08-648D-E419B58020FE}"/>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9214322" y="1701386"/>
            <a:ext cx="2784000" cy="4176000"/>
          </a:xfrm>
          <a:prstGeom prst="rect">
            <a:avLst/>
          </a:prstGeom>
        </p:spPr>
      </p:pic>
      <p:pic>
        <p:nvPicPr>
          <p:cNvPr id="15" name="Picture 14">
            <a:extLst>
              <a:ext uri="{FF2B5EF4-FFF2-40B4-BE49-F238E27FC236}">
                <a16:creationId xmlns:a16="http://schemas.microsoft.com/office/drawing/2014/main" id="{58800A99-8307-AB47-EF75-32FACE83D625}"/>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455440" y="1701386"/>
            <a:ext cx="2784000" cy="4176000"/>
          </a:xfrm>
          <a:prstGeom prst="rect">
            <a:avLst/>
          </a:prstGeom>
        </p:spPr>
      </p:pic>
      <p:pic>
        <p:nvPicPr>
          <p:cNvPr id="9" name="Picture 8">
            <a:extLst>
              <a:ext uri="{FF2B5EF4-FFF2-40B4-BE49-F238E27FC236}">
                <a16:creationId xmlns:a16="http://schemas.microsoft.com/office/drawing/2014/main" id="{19449E93-F5D2-DB82-EFF1-3341D0BFA371}"/>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325124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966ED-0609-E619-4149-BC9C550784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45CF9-FC7B-EB4D-DFAB-6F433993385F}"/>
              </a:ext>
            </a:extLst>
          </p:cNvPr>
          <p:cNvSpPr>
            <a:spLocks noGrp="1"/>
          </p:cNvSpPr>
          <p:nvPr>
            <p:ph type="title"/>
          </p:nvPr>
        </p:nvSpPr>
        <p:spPr/>
        <p:txBody>
          <a:bodyPr/>
          <a:lstStyle/>
          <a:p>
            <a:r>
              <a:rPr lang="nl-BE"/>
              <a:t>Solution: </a:t>
            </a:r>
            <a:r>
              <a:rPr lang="nl-BE" err="1"/>
              <a:t>good</a:t>
            </a:r>
            <a:r>
              <a:rPr lang="nl-BE"/>
              <a:t> RDM</a:t>
            </a:r>
          </a:p>
        </p:txBody>
      </p:sp>
      <p:sp>
        <p:nvSpPr>
          <p:cNvPr id="3" name="Content Placeholder 2">
            <a:extLst>
              <a:ext uri="{FF2B5EF4-FFF2-40B4-BE49-F238E27FC236}">
                <a16:creationId xmlns:a16="http://schemas.microsoft.com/office/drawing/2014/main" id="{6487E9D1-833C-18EF-1726-679DD8ABAA3D}"/>
              </a:ext>
            </a:extLst>
          </p:cNvPr>
          <p:cNvSpPr>
            <a:spLocks noGrp="1"/>
          </p:cNvSpPr>
          <p:nvPr>
            <p:ph idx="1"/>
          </p:nvPr>
        </p:nvSpPr>
        <p:spPr/>
        <p:txBody>
          <a:bodyPr>
            <a:normAutofit lnSpcReduction="10000"/>
          </a:bodyPr>
          <a:lstStyle/>
          <a:p>
            <a:r>
              <a:rPr lang="en-US" i="1" dirty="0"/>
              <a:t>“Prevention is better than cure”</a:t>
            </a:r>
          </a:p>
          <a:p>
            <a:r>
              <a:rPr lang="en-US" dirty="0"/>
              <a:t>Anticipate issues and, solve them before they occur</a:t>
            </a:r>
          </a:p>
          <a:p>
            <a:endParaRPr lang="en-US" dirty="0"/>
          </a:p>
          <a:p>
            <a:r>
              <a:rPr lang="en-US" noProof="0" dirty="0"/>
              <a:t>Thinking about RDM often starts with a Data Management Plan </a:t>
            </a:r>
          </a:p>
          <a:p>
            <a:pPr lvl="1"/>
            <a:r>
              <a:rPr lang="en-US" noProof="0" dirty="0"/>
              <a:t>Asked by funders</a:t>
            </a:r>
          </a:p>
          <a:p>
            <a:pPr lvl="1"/>
            <a:r>
              <a:rPr lang="en-US" noProof="0" dirty="0"/>
              <a:t>Asked by some doctoral schools</a:t>
            </a:r>
          </a:p>
          <a:p>
            <a:pPr lvl="1"/>
            <a:r>
              <a:rPr lang="en-US" noProof="0" dirty="0"/>
              <a:t>Recommended by KU Leuven RDM support </a:t>
            </a:r>
          </a:p>
          <a:p>
            <a:pPr lvl="1"/>
            <a:endParaRPr lang="en-US" dirty="0"/>
          </a:p>
          <a:p>
            <a:r>
              <a:rPr lang="en-US" noProof="0" dirty="0">
                <a:solidFill>
                  <a:schemeClr val="bg1"/>
                </a:solidFill>
              </a:rPr>
              <a:t>Do you have to write a DMP for your funder? </a:t>
            </a:r>
          </a:p>
          <a:p>
            <a:pPr lvl="1"/>
            <a:endParaRPr lang="en-US" dirty="0"/>
          </a:p>
          <a:p>
            <a:pPr lvl="1"/>
            <a:endParaRPr lang="en-US" noProof="0" dirty="0"/>
          </a:p>
        </p:txBody>
      </p:sp>
      <p:sp>
        <p:nvSpPr>
          <p:cNvPr id="4" name="Slide Number Placeholder 3">
            <a:extLst>
              <a:ext uri="{FF2B5EF4-FFF2-40B4-BE49-F238E27FC236}">
                <a16:creationId xmlns:a16="http://schemas.microsoft.com/office/drawing/2014/main" id="{DF86B607-8FDD-C40D-B936-0EEB7E68E520}"/>
              </a:ext>
            </a:extLst>
          </p:cNvPr>
          <p:cNvSpPr>
            <a:spLocks noGrp="1"/>
          </p:cNvSpPr>
          <p:nvPr>
            <p:ph type="sldNum" sz="quarter" idx="12"/>
          </p:nvPr>
        </p:nvSpPr>
        <p:spPr/>
        <p:txBody>
          <a:bodyPr/>
          <a:lstStyle/>
          <a:p>
            <a:fld id="{85114D95-D6A6-084A-9D9C-617B45E258AD}" type="slidenum">
              <a:rPr lang="nl-NL" smtClean="0"/>
              <a:t>4</a:t>
            </a:fld>
            <a:endParaRPr lang="nl-NL"/>
          </a:p>
        </p:txBody>
      </p:sp>
      <p:pic>
        <p:nvPicPr>
          <p:cNvPr id="5" name="Picture 4">
            <a:extLst>
              <a:ext uri="{FF2B5EF4-FFF2-40B4-BE49-F238E27FC236}">
                <a16:creationId xmlns:a16="http://schemas.microsoft.com/office/drawing/2014/main" id="{73F60F8C-E0F9-A41B-3CA7-CDC0051ADEA3}"/>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1673274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6EF2E-3B56-3AFC-A183-D34379E14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E4730-1268-01E6-A24F-AE327D83A1C2}"/>
              </a:ext>
            </a:extLst>
          </p:cNvPr>
          <p:cNvSpPr>
            <a:spLocks noGrp="1"/>
          </p:cNvSpPr>
          <p:nvPr>
            <p:ph type="title"/>
          </p:nvPr>
        </p:nvSpPr>
        <p:spPr/>
        <p:txBody>
          <a:bodyPr/>
          <a:lstStyle/>
          <a:p>
            <a:r>
              <a:rPr lang="nl-BE"/>
              <a:t>Solution: </a:t>
            </a:r>
            <a:r>
              <a:rPr lang="nl-BE" err="1"/>
              <a:t>good</a:t>
            </a:r>
            <a:r>
              <a:rPr lang="nl-BE"/>
              <a:t> RDM</a:t>
            </a:r>
          </a:p>
        </p:txBody>
      </p:sp>
      <p:sp>
        <p:nvSpPr>
          <p:cNvPr id="3" name="Content Placeholder 2">
            <a:extLst>
              <a:ext uri="{FF2B5EF4-FFF2-40B4-BE49-F238E27FC236}">
                <a16:creationId xmlns:a16="http://schemas.microsoft.com/office/drawing/2014/main" id="{D320B04C-C304-71E0-4C8A-D96675C387F5}"/>
              </a:ext>
            </a:extLst>
          </p:cNvPr>
          <p:cNvSpPr>
            <a:spLocks noGrp="1"/>
          </p:cNvSpPr>
          <p:nvPr>
            <p:ph idx="1"/>
          </p:nvPr>
        </p:nvSpPr>
        <p:spPr/>
        <p:txBody>
          <a:bodyPr>
            <a:normAutofit lnSpcReduction="10000"/>
          </a:bodyPr>
          <a:lstStyle/>
          <a:p>
            <a:r>
              <a:rPr lang="en-US" i="1" dirty="0"/>
              <a:t>“Prevention is better than cure”</a:t>
            </a:r>
          </a:p>
          <a:p>
            <a:r>
              <a:rPr lang="en-US" dirty="0"/>
              <a:t>Anticipate issues and, solve them before they occur</a:t>
            </a:r>
          </a:p>
          <a:p>
            <a:endParaRPr lang="en-US" dirty="0"/>
          </a:p>
          <a:p>
            <a:r>
              <a:rPr lang="en-US" noProof="0" dirty="0"/>
              <a:t>Thinking about RDM often starts with a Data Management Plan </a:t>
            </a:r>
          </a:p>
          <a:p>
            <a:pPr lvl="1"/>
            <a:r>
              <a:rPr lang="en-US" noProof="0" dirty="0"/>
              <a:t>Asked by funders</a:t>
            </a:r>
          </a:p>
          <a:p>
            <a:pPr lvl="1"/>
            <a:r>
              <a:rPr lang="en-US" noProof="0" dirty="0"/>
              <a:t>Asked by some doctoral schools</a:t>
            </a:r>
          </a:p>
          <a:p>
            <a:pPr lvl="1"/>
            <a:r>
              <a:rPr lang="en-US" noProof="0" dirty="0"/>
              <a:t>Recommended by KU Leuven RDM support </a:t>
            </a:r>
          </a:p>
          <a:p>
            <a:pPr lvl="1"/>
            <a:endParaRPr lang="en-US" dirty="0"/>
          </a:p>
          <a:p>
            <a:r>
              <a:rPr lang="en-US" noProof="0" dirty="0"/>
              <a:t>Do you have to write a DMP for your funder? </a:t>
            </a:r>
          </a:p>
          <a:p>
            <a:pPr lvl="1"/>
            <a:endParaRPr lang="en-US" dirty="0"/>
          </a:p>
          <a:p>
            <a:pPr lvl="1"/>
            <a:endParaRPr lang="en-US" noProof="0" dirty="0"/>
          </a:p>
        </p:txBody>
      </p:sp>
      <p:sp>
        <p:nvSpPr>
          <p:cNvPr id="4" name="Slide Number Placeholder 3">
            <a:extLst>
              <a:ext uri="{FF2B5EF4-FFF2-40B4-BE49-F238E27FC236}">
                <a16:creationId xmlns:a16="http://schemas.microsoft.com/office/drawing/2014/main" id="{45DE0873-3DAD-9BD5-D670-C2F67D332C37}"/>
              </a:ext>
            </a:extLst>
          </p:cNvPr>
          <p:cNvSpPr>
            <a:spLocks noGrp="1"/>
          </p:cNvSpPr>
          <p:nvPr>
            <p:ph type="sldNum" sz="quarter" idx="12"/>
          </p:nvPr>
        </p:nvSpPr>
        <p:spPr/>
        <p:txBody>
          <a:bodyPr/>
          <a:lstStyle/>
          <a:p>
            <a:fld id="{85114D95-D6A6-084A-9D9C-617B45E258AD}" type="slidenum">
              <a:rPr lang="nl-NL" smtClean="0"/>
              <a:t>5</a:t>
            </a:fld>
            <a:endParaRPr lang="nl-NL"/>
          </a:p>
        </p:txBody>
      </p:sp>
      <p:pic>
        <p:nvPicPr>
          <p:cNvPr id="5" name="Picture 4">
            <a:extLst>
              <a:ext uri="{FF2B5EF4-FFF2-40B4-BE49-F238E27FC236}">
                <a16:creationId xmlns:a16="http://schemas.microsoft.com/office/drawing/2014/main" id="{101B05DD-B6BD-4249-1EEB-203036328375}"/>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936877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802" y="233624"/>
            <a:ext cx="10655651" cy="1152000"/>
          </a:xfrm>
        </p:spPr>
        <p:txBody>
          <a:bodyPr anchor="ctr"/>
          <a:lstStyle/>
          <a:p>
            <a:r>
              <a:rPr lang="en-GB" noProof="0"/>
              <a:t>Flemish funders</a:t>
            </a:r>
            <a:r>
              <a:rPr lang="en-GB"/>
              <a:t> (FWO BOF, IOF or VLAIO)</a:t>
            </a:r>
            <a:endParaRPr lang="en-GB" noProof="0"/>
          </a:p>
        </p:txBody>
      </p:sp>
      <p:pic>
        <p:nvPicPr>
          <p:cNvPr id="5" name="Picture 2" descr="previewer">
            <a:extLst>
              <a:ext uri="{FF2B5EF4-FFF2-40B4-BE49-F238E27FC236}">
                <a16:creationId xmlns:a16="http://schemas.microsoft.com/office/drawing/2014/main" id="{1E5429EB-C7AA-7DBB-6B3A-9E889755D7D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610112" y="1696720"/>
            <a:ext cx="1732280" cy="173228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9807D017-67D7-0386-2F77-093597C5C0B3}"/>
              </a:ext>
            </a:extLst>
          </p:cNvPr>
          <p:cNvSpPr>
            <a:spLocks noGrp="1"/>
          </p:cNvSpPr>
          <p:nvPr>
            <p:ph sz="half" idx="2"/>
          </p:nvPr>
        </p:nvSpPr>
        <p:spPr>
          <a:xfrm>
            <a:off x="764612" y="1950721"/>
            <a:ext cx="10147228" cy="3741162"/>
          </a:xfrm>
        </p:spPr>
        <p:txBody>
          <a:bodyPr>
            <a:normAutofit fontScale="92500" lnSpcReduction="20000"/>
          </a:bodyPr>
          <a:lstStyle/>
          <a:p>
            <a:pPr marL="342900" indent="-342900"/>
            <a:r>
              <a:rPr lang="en-GB"/>
              <a:t>A DMP is needed for all projects and mandates</a:t>
            </a:r>
          </a:p>
          <a:p>
            <a:pPr marL="342900" indent="-342900"/>
            <a:r>
              <a:rPr lang="en-GB"/>
              <a:t>Develop your DMP within 6 months after the start</a:t>
            </a:r>
          </a:p>
          <a:p>
            <a:pPr marL="342900" indent="-342900"/>
            <a:r>
              <a:rPr lang="en-GB"/>
              <a:t>Use the </a:t>
            </a:r>
            <a:r>
              <a:rPr lang="en-GB" b="1"/>
              <a:t>Flemish DMP template</a:t>
            </a:r>
          </a:p>
          <a:p>
            <a:pPr marL="342900" indent="-342900"/>
            <a:r>
              <a:rPr lang="en-GB"/>
              <a:t>For KU Leuven:</a:t>
            </a:r>
          </a:p>
          <a:p>
            <a:pPr marL="800100" lvl="1" indent="-342900"/>
            <a:r>
              <a:rPr lang="en-GB"/>
              <a:t>Submit via the </a:t>
            </a:r>
            <a:r>
              <a:rPr lang="en-GB" u="sng">
                <a:hlinkClick r:id="rId4"/>
              </a:rPr>
              <a:t>DMP Monitoring Tool</a:t>
            </a:r>
            <a:endParaRPr lang="en-GB" u="sng"/>
          </a:p>
          <a:p>
            <a:pPr marL="342900" indent="-342900"/>
            <a:r>
              <a:rPr lang="en-GB"/>
              <a:t>Submit final (updated) DMP to FWO</a:t>
            </a:r>
          </a:p>
          <a:p>
            <a:pPr marL="800100" lvl="1" indent="-342900"/>
            <a:r>
              <a:rPr lang="en-GB"/>
              <a:t>Part of final report to FWO e-portal </a:t>
            </a:r>
          </a:p>
          <a:p>
            <a:endParaRPr lang="en-GB"/>
          </a:p>
          <a:p>
            <a:r>
              <a:rPr lang="en-GB">
                <a:solidFill>
                  <a:schemeClr val="bg1"/>
                </a:solidFill>
              </a:rPr>
              <a:t>Different template for Horizon Europe funding, focus FAIR data</a:t>
            </a:r>
          </a:p>
          <a:p>
            <a:pPr lvl="1"/>
            <a:r>
              <a:rPr lang="en-GB">
                <a:solidFill>
                  <a:schemeClr val="bg1"/>
                </a:solidFill>
              </a:rPr>
              <a:t>Not in the scope of today, contact us </a:t>
            </a:r>
          </a:p>
        </p:txBody>
      </p:sp>
      <p:sp>
        <p:nvSpPr>
          <p:cNvPr id="3" name="Slide Number Placeholder 2">
            <a:extLst>
              <a:ext uri="{FF2B5EF4-FFF2-40B4-BE49-F238E27FC236}">
                <a16:creationId xmlns:a16="http://schemas.microsoft.com/office/drawing/2014/main" id="{BEA947FA-B272-73B2-7E53-C6ED4C170335}"/>
              </a:ext>
            </a:extLst>
          </p:cNvPr>
          <p:cNvSpPr>
            <a:spLocks noGrp="1"/>
          </p:cNvSpPr>
          <p:nvPr>
            <p:ph type="sldNum" sz="quarter" idx="12"/>
          </p:nvPr>
        </p:nvSpPr>
        <p:spPr/>
        <p:txBody>
          <a:bodyPr/>
          <a:lstStyle/>
          <a:p>
            <a:fld id="{0A297500-7527-634B-90F4-69D0994C32B4}" type="slidenum">
              <a:rPr lang="nl-NL" smtClean="0"/>
              <a:pPr/>
              <a:t>6</a:t>
            </a:fld>
            <a:endParaRPr lang="nl-NL"/>
          </a:p>
        </p:txBody>
      </p:sp>
      <p:pic>
        <p:nvPicPr>
          <p:cNvPr id="4" name="Picture 3">
            <a:extLst>
              <a:ext uri="{FF2B5EF4-FFF2-40B4-BE49-F238E27FC236}">
                <a16:creationId xmlns:a16="http://schemas.microsoft.com/office/drawing/2014/main" id="{0E965409-F5AD-0F23-22C2-731D1CDF13A8}"/>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4142257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DC8A6-2F7B-3EBE-C5E9-8DA52A421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1D371-42DA-5851-F582-E1CD9FD64840}"/>
              </a:ext>
            </a:extLst>
          </p:cNvPr>
          <p:cNvSpPr>
            <a:spLocks noGrp="1"/>
          </p:cNvSpPr>
          <p:nvPr>
            <p:ph type="title"/>
          </p:nvPr>
        </p:nvSpPr>
        <p:spPr>
          <a:xfrm>
            <a:off x="787802" y="233624"/>
            <a:ext cx="10655651" cy="1152000"/>
          </a:xfrm>
        </p:spPr>
        <p:txBody>
          <a:bodyPr anchor="ctr"/>
          <a:lstStyle/>
          <a:p>
            <a:r>
              <a:rPr lang="en-GB" noProof="0"/>
              <a:t>Flemish funders</a:t>
            </a:r>
            <a:r>
              <a:rPr lang="en-GB"/>
              <a:t> (FWO BOF, IOF or VLAIO)</a:t>
            </a:r>
            <a:endParaRPr lang="en-GB" noProof="0"/>
          </a:p>
        </p:txBody>
      </p:sp>
      <p:pic>
        <p:nvPicPr>
          <p:cNvPr id="5" name="Picture 2" descr="previewer">
            <a:extLst>
              <a:ext uri="{FF2B5EF4-FFF2-40B4-BE49-F238E27FC236}">
                <a16:creationId xmlns:a16="http://schemas.microsoft.com/office/drawing/2014/main" id="{44C6BDA1-4ED0-C919-7297-278579CFF12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610112" y="1696720"/>
            <a:ext cx="1732280" cy="173228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6A938CD6-4500-252A-A6C4-92E3C6A2BBAE}"/>
              </a:ext>
            </a:extLst>
          </p:cNvPr>
          <p:cNvSpPr>
            <a:spLocks noGrp="1"/>
          </p:cNvSpPr>
          <p:nvPr>
            <p:ph sz="half" idx="2"/>
          </p:nvPr>
        </p:nvSpPr>
        <p:spPr>
          <a:xfrm>
            <a:off x="764612" y="1950721"/>
            <a:ext cx="10147228" cy="3741162"/>
          </a:xfrm>
        </p:spPr>
        <p:txBody>
          <a:bodyPr>
            <a:normAutofit fontScale="92500" lnSpcReduction="20000"/>
          </a:bodyPr>
          <a:lstStyle/>
          <a:p>
            <a:pPr marL="342900" indent="-342900"/>
            <a:r>
              <a:rPr lang="en-GB" dirty="0"/>
              <a:t>A DMP is needed for all projects and mandates</a:t>
            </a:r>
          </a:p>
          <a:p>
            <a:pPr marL="342900" indent="-342900"/>
            <a:r>
              <a:rPr lang="en-GB" dirty="0"/>
              <a:t>Develop your DMP within 6 months after the start</a:t>
            </a:r>
          </a:p>
          <a:p>
            <a:pPr marL="342900" indent="-342900"/>
            <a:r>
              <a:rPr lang="en-GB" dirty="0"/>
              <a:t>Use the </a:t>
            </a:r>
            <a:r>
              <a:rPr lang="en-GB" b="1" dirty="0"/>
              <a:t>Flemish DMP template</a:t>
            </a:r>
          </a:p>
          <a:p>
            <a:pPr marL="342900" indent="-342900"/>
            <a:r>
              <a:rPr lang="en-GB" dirty="0"/>
              <a:t>For KU Leuven:</a:t>
            </a:r>
          </a:p>
          <a:p>
            <a:pPr marL="800100" lvl="1" indent="-342900"/>
            <a:r>
              <a:rPr lang="en-GB" dirty="0"/>
              <a:t>Submit via the </a:t>
            </a:r>
            <a:r>
              <a:rPr lang="en-GB" u="sng" dirty="0">
                <a:hlinkClick r:id="rId4"/>
              </a:rPr>
              <a:t>DMP Monitoring Tool</a:t>
            </a:r>
            <a:endParaRPr lang="en-GB" u="sng" dirty="0"/>
          </a:p>
          <a:p>
            <a:pPr marL="342900" indent="-342900"/>
            <a:r>
              <a:rPr lang="en-GB" dirty="0"/>
              <a:t>Submit final (updated) DMP to FWO</a:t>
            </a:r>
          </a:p>
          <a:p>
            <a:pPr marL="800100" lvl="1" indent="-342900"/>
            <a:r>
              <a:rPr lang="en-GB" dirty="0"/>
              <a:t>Part of final report to FWO e-portal </a:t>
            </a:r>
          </a:p>
          <a:p>
            <a:endParaRPr lang="en-GB" dirty="0"/>
          </a:p>
          <a:p>
            <a:r>
              <a:rPr lang="en-GB" dirty="0"/>
              <a:t>Different template for Horizon Europe funding, focus FAIR data</a:t>
            </a:r>
          </a:p>
          <a:p>
            <a:pPr lvl="1"/>
            <a:r>
              <a:rPr lang="en-GB" dirty="0"/>
              <a:t>Not in the scope of today, contact RDM support </a:t>
            </a:r>
          </a:p>
        </p:txBody>
      </p:sp>
      <p:sp>
        <p:nvSpPr>
          <p:cNvPr id="3" name="Slide Number Placeholder 2">
            <a:extLst>
              <a:ext uri="{FF2B5EF4-FFF2-40B4-BE49-F238E27FC236}">
                <a16:creationId xmlns:a16="http://schemas.microsoft.com/office/drawing/2014/main" id="{8FF5B320-4A5C-BD7A-76CE-87C420B6A7C0}"/>
              </a:ext>
            </a:extLst>
          </p:cNvPr>
          <p:cNvSpPr>
            <a:spLocks noGrp="1"/>
          </p:cNvSpPr>
          <p:nvPr>
            <p:ph type="sldNum" sz="quarter" idx="12"/>
          </p:nvPr>
        </p:nvSpPr>
        <p:spPr/>
        <p:txBody>
          <a:bodyPr/>
          <a:lstStyle/>
          <a:p>
            <a:fld id="{0A297500-7527-634B-90F4-69D0994C32B4}" type="slidenum">
              <a:rPr lang="nl-NL" smtClean="0"/>
              <a:pPr/>
              <a:t>7</a:t>
            </a:fld>
            <a:endParaRPr lang="nl-NL"/>
          </a:p>
        </p:txBody>
      </p:sp>
      <p:pic>
        <p:nvPicPr>
          <p:cNvPr id="4" name="Picture 3">
            <a:extLst>
              <a:ext uri="{FF2B5EF4-FFF2-40B4-BE49-F238E27FC236}">
                <a16:creationId xmlns:a16="http://schemas.microsoft.com/office/drawing/2014/main" id="{29E3F5F8-E581-9BC8-2571-56195D9CB693}"/>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2477126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410B7-5F40-5909-F64E-F0E6257305ED}"/>
              </a:ext>
            </a:extLst>
          </p:cNvPr>
          <p:cNvSpPr>
            <a:spLocks noGrp="1"/>
          </p:cNvSpPr>
          <p:nvPr>
            <p:ph type="title"/>
          </p:nvPr>
        </p:nvSpPr>
        <p:spPr/>
        <p:txBody>
          <a:bodyPr/>
          <a:lstStyle/>
          <a:p>
            <a:r>
              <a:rPr lang="en-US"/>
              <a:t>The DMP</a:t>
            </a:r>
            <a:endParaRPr lang="nl-BE"/>
          </a:p>
        </p:txBody>
      </p:sp>
      <p:sp>
        <p:nvSpPr>
          <p:cNvPr id="4" name="Slide Number Placeholder 3">
            <a:extLst>
              <a:ext uri="{FF2B5EF4-FFF2-40B4-BE49-F238E27FC236}">
                <a16:creationId xmlns:a16="http://schemas.microsoft.com/office/drawing/2014/main" id="{45105452-BB4B-6FC8-7288-86B065900349}"/>
              </a:ext>
            </a:extLst>
          </p:cNvPr>
          <p:cNvSpPr>
            <a:spLocks noGrp="1"/>
          </p:cNvSpPr>
          <p:nvPr>
            <p:ph type="sldNum" sz="quarter" idx="12"/>
          </p:nvPr>
        </p:nvSpPr>
        <p:spPr/>
        <p:txBody>
          <a:bodyPr/>
          <a:lstStyle/>
          <a:p>
            <a:fld id="{85114D95-D6A6-084A-9D9C-617B45E258AD}" type="slidenum">
              <a:rPr lang="nl-NL" smtClean="0"/>
              <a:t>8</a:t>
            </a:fld>
            <a:endParaRPr lang="nl-NL"/>
          </a:p>
        </p:txBody>
      </p:sp>
      <p:pic>
        <p:nvPicPr>
          <p:cNvPr id="5" name="Picture 4">
            <a:extLst>
              <a:ext uri="{FF2B5EF4-FFF2-40B4-BE49-F238E27FC236}">
                <a16:creationId xmlns:a16="http://schemas.microsoft.com/office/drawing/2014/main" id="{B3B6F544-0A76-9281-CA79-98BDC86610BF}"/>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277205" y="1649354"/>
            <a:ext cx="6229475" cy="4300248"/>
          </a:xfrm>
          <a:prstGeom prst="rect">
            <a:avLst/>
          </a:prstGeom>
        </p:spPr>
      </p:pic>
      <p:pic>
        <p:nvPicPr>
          <p:cNvPr id="6" name="Picture 5">
            <a:extLst>
              <a:ext uri="{FF2B5EF4-FFF2-40B4-BE49-F238E27FC236}">
                <a16:creationId xmlns:a16="http://schemas.microsoft.com/office/drawing/2014/main" id="{D6D5CF05-9192-47B2-5958-8CDA788E6BCB}"/>
              </a:ext>
            </a:extLst>
          </p:cNvPr>
          <p:cNvPicPr>
            <a:picLocks noChangeAspect="1"/>
          </p:cNvPicPr>
          <p:nvPr/>
        </p:nvPicPr>
        <p:blipFill>
          <a:blip r:embed="rId3" cstate="hqprint">
            <a:extLst>
              <a:ext uri="{28A0092B-C50C-407E-A947-70E740481C1C}">
                <a14:useLocalDpi xmlns:a14="http://schemas.microsoft.com/office/drawing/2010/main"/>
              </a:ext>
            </a:extLst>
          </a:blip>
          <a:srcRect r="-4795"/>
          <a:stretch>
            <a:fillRect/>
          </a:stretch>
        </p:blipFill>
        <p:spPr>
          <a:xfrm>
            <a:off x="6475653" y="1651670"/>
            <a:ext cx="5140347" cy="4300248"/>
          </a:xfrm>
          <a:prstGeom prst="rect">
            <a:avLst/>
          </a:prstGeom>
        </p:spPr>
      </p:pic>
      <p:pic>
        <p:nvPicPr>
          <p:cNvPr id="3" name="Picture 2">
            <a:extLst>
              <a:ext uri="{FF2B5EF4-FFF2-40B4-BE49-F238E27FC236}">
                <a16:creationId xmlns:a16="http://schemas.microsoft.com/office/drawing/2014/main" id="{4EE668A7-C38C-4842-442E-C7C1A0704C8D}"/>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1712399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95C88-FC6B-C18A-3683-E43A911FD07C}"/>
              </a:ext>
            </a:extLst>
          </p:cNvPr>
          <p:cNvSpPr>
            <a:spLocks noGrp="1"/>
          </p:cNvSpPr>
          <p:nvPr>
            <p:ph type="title"/>
          </p:nvPr>
        </p:nvSpPr>
        <p:spPr/>
        <p:txBody>
          <a:bodyPr/>
          <a:lstStyle/>
          <a:p>
            <a:r>
              <a:rPr lang="en-US"/>
              <a:t>Flemish DMP template</a:t>
            </a:r>
            <a:endParaRPr lang="en-GB"/>
          </a:p>
        </p:txBody>
      </p:sp>
      <p:sp>
        <p:nvSpPr>
          <p:cNvPr id="3" name="Content Placeholder 2">
            <a:extLst>
              <a:ext uri="{FF2B5EF4-FFF2-40B4-BE49-F238E27FC236}">
                <a16:creationId xmlns:a16="http://schemas.microsoft.com/office/drawing/2014/main" id="{6ED7C27B-A541-25EE-88B9-39F667F28A4D}"/>
              </a:ext>
            </a:extLst>
          </p:cNvPr>
          <p:cNvSpPr>
            <a:spLocks noGrp="1"/>
          </p:cNvSpPr>
          <p:nvPr>
            <p:ph idx="1"/>
          </p:nvPr>
        </p:nvSpPr>
        <p:spPr>
          <a:xfrm>
            <a:off x="576000" y="2016687"/>
            <a:ext cx="11041200" cy="3938548"/>
          </a:xfrm>
        </p:spPr>
        <p:txBody>
          <a:bodyPr/>
          <a:lstStyle/>
          <a:p>
            <a:r>
              <a:rPr lang="en-US"/>
              <a:t>The same template for all Flemish funders</a:t>
            </a:r>
          </a:p>
          <a:p>
            <a:pPr marL="0" indent="0">
              <a:buNone/>
            </a:pPr>
            <a:r>
              <a:rPr lang="en-US"/>
              <a:t> </a:t>
            </a:r>
          </a:p>
          <a:p>
            <a:r>
              <a:rPr lang="en-GB">
                <a:hlinkClick r:id="rId2"/>
              </a:rPr>
              <a:t>https://dmponline.be/</a:t>
            </a:r>
            <a:endParaRPr lang="en-GB"/>
          </a:p>
          <a:p>
            <a:r>
              <a:rPr lang="en-GB"/>
              <a:t>https://zenodo.org/records/17025558</a:t>
            </a:r>
          </a:p>
        </p:txBody>
      </p:sp>
      <p:sp>
        <p:nvSpPr>
          <p:cNvPr id="4" name="Slide Number Placeholder 3">
            <a:extLst>
              <a:ext uri="{FF2B5EF4-FFF2-40B4-BE49-F238E27FC236}">
                <a16:creationId xmlns:a16="http://schemas.microsoft.com/office/drawing/2014/main" id="{5FC88065-AEDD-CF37-597E-B46A171DD210}"/>
              </a:ext>
            </a:extLst>
          </p:cNvPr>
          <p:cNvSpPr>
            <a:spLocks noGrp="1"/>
          </p:cNvSpPr>
          <p:nvPr>
            <p:ph type="sldNum" sz="quarter" idx="12"/>
          </p:nvPr>
        </p:nvSpPr>
        <p:spPr/>
        <p:txBody>
          <a:bodyPr/>
          <a:lstStyle/>
          <a:p>
            <a:fld id="{CC571AF6-6671-4538-974D-3AEC00AC0B82}" type="slidenum">
              <a:rPr lang="en-GB" smtClean="0"/>
              <a:t>9</a:t>
            </a:fld>
            <a:endParaRPr lang="en-GB"/>
          </a:p>
        </p:txBody>
      </p:sp>
      <p:sp>
        <p:nvSpPr>
          <p:cNvPr id="5" name="Text Placeholder 4">
            <a:extLst>
              <a:ext uri="{FF2B5EF4-FFF2-40B4-BE49-F238E27FC236}">
                <a16:creationId xmlns:a16="http://schemas.microsoft.com/office/drawing/2014/main" id="{1D4E0831-228B-C403-167F-C7CE44936B24}"/>
              </a:ext>
            </a:extLst>
          </p:cNvPr>
          <p:cNvSpPr>
            <a:spLocks noGrp="1"/>
          </p:cNvSpPr>
          <p:nvPr>
            <p:ph type="body" sz="quarter" idx="10"/>
          </p:nvPr>
        </p:nvSpPr>
        <p:spPr/>
        <p:txBody>
          <a:bodyPr/>
          <a:lstStyle/>
          <a:p>
            <a:endParaRPr lang="en-GB"/>
          </a:p>
        </p:txBody>
      </p:sp>
      <p:pic>
        <p:nvPicPr>
          <p:cNvPr id="6" name="Picture 5">
            <a:extLst>
              <a:ext uri="{FF2B5EF4-FFF2-40B4-BE49-F238E27FC236}">
                <a16:creationId xmlns:a16="http://schemas.microsoft.com/office/drawing/2014/main" id="{6FDD917F-D103-190E-D198-301EDD3E8D32}"/>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633044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EE7C4-D96C-D064-09FB-42227D829F56}"/>
              </a:ext>
            </a:extLst>
          </p:cNvPr>
          <p:cNvSpPr>
            <a:spLocks noGrp="1"/>
          </p:cNvSpPr>
          <p:nvPr>
            <p:ph type="title"/>
          </p:nvPr>
        </p:nvSpPr>
        <p:spPr/>
        <p:txBody>
          <a:bodyPr/>
          <a:lstStyle/>
          <a:p>
            <a:r>
              <a:rPr lang="en-US"/>
              <a:t>Exercise 1: Start a DMP template in DMP Online</a:t>
            </a:r>
            <a:br>
              <a:rPr lang="en-US"/>
            </a:br>
            <a:r>
              <a:rPr lang="en-US"/>
              <a:t>Your project</a:t>
            </a:r>
            <a:endParaRPr lang="nl-BE"/>
          </a:p>
        </p:txBody>
      </p:sp>
      <p:sp>
        <p:nvSpPr>
          <p:cNvPr id="3" name="Content Placeholder 2">
            <a:extLst>
              <a:ext uri="{FF2B5EF4-FFF2-40B4-BE49-F238E27FC236}">
                <a16:creationId xmlns:a16="http://schemas.microsoft.com/office/drawing/2014/main" id="{D94F7C5E-FDAA-FA68-9060-5C2846BF51EE}"/>
              </a:ext>
            </a:extLst>
          </p:cNvPr>
          <p:cNvSpPr>
            <a:spLocks noGrp="1"/>
          </p:cNvSpPr>
          <p:nvPr>
            <p:ph idx="1"/>
          </p:nvPr>
        </p:nvSpPr>
        <p:spPr/>
        <p:txBody>
          <a:bodyPr>
            <a:normAutofit/>
          </a:bodyPr>
          <a:lstStyle/>
          <a:p>
            <a:pPr marL="514350" indent="-514350">
              <a:buFont typeface="+mj-lt"/>
              <a:buAutoNum type="arabicPeriod"/>
            </a:pPr>
            <a:r>
              <a:rPr lang="en-US"/>
              <a:t>Go to </a:t>
            </a:r>
            <a:r>
              <a:rPr lang="en-GB">
                <a:hlinkClick r:id="rId2"/>
              </a:rPr>
              <a:t>https://dmponline.be </a:t>
            </a:r>
            <a:endParaRPr lang="en-GB"/>
          </a:p>
          <a:p>
            <a:pPr marL="514350" indent="-514350">
              <a:buFont typeface="+mj-lt"/>
              <a:buAutoNum type="arabicPeriod"/>
            </a:pPr>
            <a:r>
              <a:rPr lang="en-US"/>
              <a:t>Login with institutional account</a:t>
            </a:r>
          </a:p>
          <a:p>
            <a:pPr marL="514350" indent="-514350">
              <a:buFont typeface="+mj-lt"/>
              <a:buAutoNum type="arabicPeriod"/>
            </a:pPr>
            <a:r>
              <a:rPr lang="en-US"/>
              <a:t>“Create Plan”</a:t>
            </a:r>
          </a:p>
          <a:p>
            <a:pPr marL="514350" indent="-514350">
              <a:buFont typeface="+mj-lt"/>
              <a:buAutoNum type="arabicPeriod"/>
            </a:pPr>
            <a:r>
              <a:rPr lang="en-US"/>
              <a:t>Select your funder (except if European project </a:t>
            </a:r>
            <a:r>
              <a:rPr lang="en-US">
                <a:sym typeface="Wingdings" panose="05000000000000000000" pitchFamily="2" charset="2"/>
              </a:rPr>
              <a:t> select nothing</a:t>
            </a:r>
            <a:r>
              <a:rPr lang="en-US"/>
              <a:t>)</a:t>
            </a:r>
          </a:p>
          <a:p>
            <a:pPr marL="0" indent="0">
              <a:buNone/>
            </a:pPr>
            <a:r>
              <a:rPr lang="en-US">
                <a:sym typeface="Wingdings" panose="05000000000000000000" pitchFamily="2" charset="2"/>
              </a:rPr>
              <a:t>	 </a:t>
            </a:r>
            <a:r>
              <a:rPr lang="en-US"/>
              <a:t>DMP template = Flemish data management plan</a:t>
            </a:r>
          </a:p>
          <a:p>
            <a:pPr marL="514350" indent="-514350">
              <a:buFont typeface="+mj-lt"/>
              <a:buAutoNum type="arabicPeriod" startAt="5"/>
            </a:pPr>
            <a:r>
              <a:rPr lang="en-US"/>
              <a:t>“Create plan”</a:t>
            </a:r>
          </a:p>
          <a:p>
            <a:pPr marL="514350" indent="-514350">
              <a:buFont typeface="+mj-lt"/>
              <a:buAutoNum type="arabicPeriod" startAt="5"/>
            </a:pPr>
            <a:r>
              <a:rPr lang="en-US"/>
              <a:t>Fill in “Project Details”</a:t>
            </a:r>
          </a:p>
          <a:p>
            <a:pPr marL="0" indent="0">
              <a:buNone/>
            </a:pPr>
            <a:endParaRPr lang="en-US"/>
          </a:p>
          <a:p>
            <a:pPr marL="514350" indent="-514350">
              <a:buFont typeface="+mj-lt"/>
              <a:buAutoNum type="arabicPeriod"/>
            </a:pPr>
            <a:endParaRPr lang="nl-BE"/>
          </a:p>
        </p:txBody>
      </p:sp>
      <p:sp>
        <p:nvSpPr>
          <p:cNvPr id="4" name="Slide Number Placeholder 3">
            <a:extLst>
              <a:ext uri="{FF2B5EF4-FFF2-40B4-BE49-F238E27FC236}">
                <a16:creationId xmlns:a16="http://schemas.microsoft.com/office/drawing/2014/main" id="{C86D5B81-916E-0937-9FD3-13F6F79E7ADF}"/>
              </a:ext>
            </a:extLst>
          </p:cNvPr>
          <p:cNvSpPr>
            <a:spLocks noGrp="1"/>
          </p:cNvSpPr>
          <p:nvPr>
            <p:ph type="sldNum" sz="quarter" idx="12"/>
          </p:nvPr>
        </p:nvSpPr>
        <p:spPr/>
        <p:txBody>
          <a:bodyPr/>
          <a:lstStyle/>
          <a:p>
            <a:fld id="{CC571AF6-6671-4538-974D-3AEC00AC0B82}" type="slidenum">
              <a:rPr lang="en-GB" smtClean="0"/>
              <a:t>10</a:t>
            </a:fld>
            <a:endParaRPr lang="en-GB"/>
          </a:p>
        </p:txBody>
      </p:sp>
      <p:sp>
        <p:nvSpPr>
          <p:cNvPr id="5" name="Text Placeholder 4">
            <a:extLst>
              <a:ext uri="{FF2B5EF4-FFF2-40B4-BE49-F238E27FC236}">
                <a16:creationId xmlns:a16="http://schemas.microsoft.com/office/drawing/2014/main" id="{54426707-8D92-22B0-2607-53EB50AEE83E}"/>
              </a:ext>
            </a:extLst>
          </p:cNvPr>
          <p:cNvSpPr>
            <a:spLocks noGrp="1"/>
          </p:cNvSpPr>
          <p:nvPr>
            <p:ph type="body" sz="quarter" idx="10"/>
          </p:nvPr>
        </p:nvSpPr>
        <p:spPr/>
        <p:txBody>
          <a:bodyPr/>
          <a:lstStyle/>
          <a:p>
            <a:endParaRPr lang="nl-BE"/>
          </a:p>
        </p:txBody>
      </p:sp>
      <p:pic>
        <p:nvPicPr>
          <p:cNvPr id="6" name="Picture 5">
            <a:extLst>
              <a:ext uri="{FF2B5EF4-FFF2-40B4-BE49-F238E27FC236}">
                <a16:creationId xmlns:a16="http://schemas.microsoft.com/office/drawing/2014/main" id="{C0F488FF-DED5-3405-2585-7EF17D1A9DD2}"/>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3051846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A7E7595-5B6A-45C7-16BD-740E2E050EFB}"/>
              </a:ext>
            </a:extLst>
          </p:cNvPr>
          <p:cNvPicPr>
            <a:picLocks noChangeAspect="1"/>
          </p:cNvPicPr>
          <p:nvPr/>
        </p:nvPicPr>
        <p:blipFill>
          <a:blip r:embed="rId3"/>
          <a:stretch>
            <a:fillRect/>
          </a:stretch>
        </p:blipFill>
        <p:spPr>
          <a:xfrm>
            <a:off x="0" y="609599"/>
            <a:ext cx="12089387" cy="5252167"/>
          </a:xfrm>
          <a:prstGeom prst="rect">
            <a:avLst/>
          </a:prstGeom>
        </p:spPr>
      </p:pic>
      <p:sp>
        <p:nvSpPr>
          <p:cNvPr id="8" name="TextBox 7">
            <a:extLst>
              <a:ext uri="{FF2B5EF4-FFF2-40B4-BE49-F238E27FC236}">
                <a16:creationId xmlns:a16="http://schemas.microsoft.com/office/drawing/2014/main" id="{2B0A7571-1808-9612-C251-298B7F862CA7}"/>
              </a:ext>
            </a:extLst>
          </p:cNvPr>
          <p:cNvSpPr txBox="1"/>
          <p:nvPr/>
        </p:nvSpPr>
        <p:spPr>
          <a:xfrm>
            <a:off x="937503" y="6333944"/>
            <a:ext cx="506002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hlinkClick r:id="rId4"/>
              </a:rPr>
              <a:t>Welcome to DMPonline.be</a:t>
            </a:r>
            <a:endParaRPr lang="en-US" sz="2000">
              <a:solidFill>
                <a:schemeClr val="bg1"/>
              </a:solidFill>
            </a:endParaRPr>
          </a:p>
        </p:txBody>
      </p:sp>
      <p:sp>
        <p:nvSpPr>
          <p:cNvPr id="2" name="Slide Number Placeholder 1">
            <a:extLst>
              <a:ext uri="{FF2B5EF4-FFF2-40B4-BE49-F238E27FC236}">
                <a16:creationId xmlns:a16="http://schemas.microsoft.com/office/drawing/2014/main" id="{F4D66892-B197-CD25-C978-C37EE4DB77A3}"/>
              </a:ext>
            </a:extLst>
          </p:cNvPr>
          <p:cNvSpPr>
            <a:spLocks noGrp="1"/>
          </p:cNvSpPr>
          <p:nvPr>
            <p:ph type="sldNum" sz="quarter" idx="12"/>
          </p:nvPr>
        </p:nvSpPr>
        <p:spPr/>
        <p:txBody>
          <a:bodyPr/>
          <a:lstStyle/>
          <a:p>
            <a:fld id="{0A297500-7527-634B-90F4-69D0994C32B4}" type="slidenum">
              <a:rPr lang="nl-NL" smtClean="0"/>
              <a:pPr/>
              <a:t>11</a:t>
            </a:fld>
            <a:endParaRPr lang="nl-NL"/>
          </a:p>
        </p:txBody>
      </p:sp>
      <p:pic>
        <p:nvPicPr>
          <p:cNvPr id="3" name="Picture 2">
            <a:extLst>
              <a:ext uri="{FF2B5EF4-FFF2-40B4-BE49-F238E27FC236}">
                <a16:creationId xmlns:a16="http://schemas.microsoft.com/office/drawing/2014/main" id="{F4D19D53-C0B0-4921-5D10-80A4FA2E0897}"/>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3009297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54F4F10-7AEB-690A-A1D6-DDF3FDDFA27E}"/>
              </a:ext>
            </a:extLst>
          </p:cNvPr>
          <p:cNvSpPr>
            <a:spLocks noGrp="1"/>
          </p:cNvSpPr>
          <p:nvPr>
            <p:ph type="title"/>
          </p:nvPr>
        </p:nvSpPr>
        <p:spPr>
          <a:xfrm>
            <a:off x="760852" y="177419"/>
            <a:ext cx="10655651" cy="1152000"/>
          </a:xfrm>
        </p:spPr>
        <p:txBody>
          <a:bodyPr anchor="ctr"/>
          <a:lstStyle/>
          <a:p>
            <a:r>
              <a:rPr lang="en-GB" noProof="0"/>
              <a:t>Create a plan</a:t>
            </a:r>
          </a:p>
        </p:txBody>
      </p:sp>
      <p:sp>
        <p:nvSpPr>
          <p:cNvPr id="2" name="Slide Number Placeholder 1">
            <a:extLst>
              <a:ext uri="{FF2B5EF4-FFF2-40B4-BE49-F238E27FC236}">
                <a16:creationId xmlns:a16="http://schemas.microsoft.com/office/drawing/2014/main" id="{F4474206-32CC-8DD0-7BE1-2BA6ECA5140F}"/>
              </a:ext>
            </a:extLst>
          </p:cNvPr>
          <p:cNvSpPr>
            <a:spLocks noGrp="1"/>
          </p:cNvSpPr>
          <p:nvPr>
            <p:ph type="sldNum" sz="quarter" idx="12"/>
          </p:nvPr>
        </p:nvSpPr>
        <p:spPr/>
        <p:txBody>
          <a:bodyPr/>
          <a:lstStyle/>
          <a:p>
            <a:fld id="{0A297500-7527-634B-90F4-69D0994C32B4}" type="slidenum">
              <a:rPr lang="nl-NL" smtClean="0"/>
              <a:pPr/>
              <a:t>12</a:t>
            </a:fld>
            <a:endParaRPr lang="nl-NL"/>
          </a:p>
        </p:txBody>
      </p:sp>
      <p:pic>
        <p:nvPicPr>
          <p:cNvPr id="4" name="Picture 3" descr="A screenshot of a computer&#10;&#10;AI-generated content may be incorrect.">
            <a:extLst>
              <a:ext uri="{FF2B5EF4-FFF2-40B4-BE49-F238E27FC236}">
                <a16:creationId xmlns:a16="http://schemas.microsoft.com/office/drawing/2014/main" id="{FD7B9665-BB3D-EACB-26F1-1C7554B05AD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3039" y="260070"/>
            <a:ext cx="10865408" cy="5702593"/>
          </a:xfrm>
          <a:prstGeom prst="rect">
            <a:avLst/>
          </a:prstGeom>
        </p:spPr>
      </p:pic>
      <p:pic>
        <p:nvPicPr>
          <p:cNvPr id="3" name="Picture 2">
            <a:extLst>
              <a:ext uri="{FF2B5EF4-FFF2-40B4-BE49-F238E27FC236}">
                <a16:creationId xmlns:a16="http://schemas.microsoft.com/office/drawing/2014/main" id="{A220D952-C156-6D88-982D-8528B3EC788E}"/>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792154" y="6212024"/>
            <a:ext cx="11396746" cy="644400"/>
          </a:xfrm>
          <a:prstGeom prst="rect">
            <a:avLst/>
          </a:prstGeom>
        </p:spPr>
      </p:pic>
    </p:spTree>
    <p:extLst>
      <p:ext uri="{BB962C8B-B14F-4D97-AF65-F5344CB8AC3E}">
        <p14:creationId xmlns:p14="http://schemas.microsoft.com/office/powerpoint/2010/main" val="938514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E1F33-C47D-6111-37EE-DE6A0CF21089}"/>
              </a:ext>
            </a:extLst>
          </p:cNvPr>
          <p:cNvSpPr>
            <a:spLocks noGrp="1"/>
          </p:cNvSpPr>
          <p:nvPr>
            <p:ph type="title"/>
          </p:nvPr>
        </p:nvSpPr>
        <p:spPr/>
        <p:txBody>
          <a:bodyPr/>
          <a:lstStyle/>
          <a:p>
            <a:r>
              <a:rPr lang="en-US" err="1"/>
              <a:t>Vanaf</a:t>
            </a:r>
            <a:r>
              <a:rPr lang="en-US"/>
              <a:t> </a:t>
            </a:r>
            <a:r>
              <a:rPr lang="en-US" err="1"/>
              <a:t>hier</a:t>
            </a:r>
            <a:r>
              <a:rPr lang="en-US"/>
              <a:t>: 2Bergen</a:t>
            </a:r>
            <a:endParaRPr lang="nl-BE"/>
          </a:p>
        </p:txBody>
      </p:sp>
      <p:sp>
        <p:nvSpPr>
          <p:cNvPr id="3" name="Slide Number Placeholder 2">
            <a:extLst>
              <a:ext uri="{FF2B5EF4-FFF2-40B4-BE49-F238E27FC236}">
                <a16:creationId xmlns:a16="http://schemas.microsoft.com/office/drawing/2014/main" id="{7E7A655B-E4EB-AD22-E60D-632E0627936F}"/>
              </a:ext>
            </a:extLst>
          </p:cNvPr>
          <p:cNvSpPr>
            <a:spLocks noGrp="1"/>
          </p:cNvSpPr>
          <p:nvPr>
            <p:ph type="sldNum" sz="quarter" idx="12"/>
          </p:nvPr>
        </p:nvSpPr>
        <p:spPr/>
        <p:txBody>
          <a:bodyPr/>
          <a:lstStyle/>
          <a:p>
            <a:fld id="{85114D95-D6A6-084A-9D9C-617B45E258AD}" type="slidenum">
              <a:rPr lang="nl-NL" smtClean="0"/>
              <a:t>13</a:t>
            </a:fld>
            <a:endParaRPr lang="nl-NL"/>
          </a:p>
        </p:txBody>
      </p:sp>
    </p:spTree>
    <p:extLst>
      <p:ext uri="{BB962C8B-B14F-4D97-AF65-F5344CB8AC3E}">
        <p14:creationId xmlns:p14="http://schemas.microsoft.com/office/powerpoint/2010/main" val="3423869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1A74C-D245-EB0B-8F43-BC3877604A84}"/>
              </a:ext>
            </a:extLst>
          </p:cNvPr>
          <p:cNvSpPr>
            <a:spLocks noGrp="1"/>
          </p:cNvSpPr>
          <p:nvPr>
            <p:ph type="title"/>
          </p:nvPr>
        </p:nvSpPr>
        <p:spPr>
          <a:xfrm>
            <a:off x="576000" y="576000"/>
            <a:ext cx="11292150" cy="1325563"/>
          </a:xfrm>
        </p:spPr>
        <p:txBody>
          <a:bodyPr/>
          <a:lstStyle/>
          <a:p>
            <a:r>
              <a:rPr lang="en-US"/>
              <a:t>Purpose of the Data Management Plan (DMP)</a:t>
            </a:r>
            <a:endParaRPr lang="nl-BE"/>
          </a:p>
        </p:txBody>
      </p:sp>
      <p:sp>
        <p:nvSpPr>
          <p:cNvPr id="3" name="Content Placeholder 2">
            <a:extLst>
              <a:ext uri="{FF2B5EF4-FFF2-40B4-BE49-F238E27FC236}">
                <a16:creationId xmlns:a16="http://schemas.microsoft.com/office/drawing/2014/main" id="{93AAC1A0-4043-00FB-E6C6-91A4AB44626F}"/>
              </a:ext>
            </a:extLst>
          </p:cNvPr>
          <p:cNvSpPr>
            <a:spLocks noGrp="1"/>
          </p:cNvSpPr>
          <p:nvPr>
            <p:ph idx="1"/>
          </p:nvPr>
        </p:nvSpPr>
        <p:spPr/>
        <p:txBody>
          <a:bodyPr/>
          <a:lstStyle/>
          <a:p>
            <a:pPr marL="0" indent="0">
              <a:buNone/>
            </a:pPr>
            <a:r>
              <a:rPr lang="en-US"/>
              <a:t>Plan (Definition):</a:t>
            </a:r>
          </a:p>
          <a:p>
            <a:pPr marL="457200" lvl="1" indent="0">
              <a:buNone/>
            </a:pPr>
            <a:endParaRPr lang="en-US" i="1"/>
          </a:p>
          <a:p>
            <a:pPr marL="457200" lvl="1" indent="0">
              <a:buNone/>
            </a:pPr>
            <a:endParaRPr lang="en-US" i="1"/>
          </a:p>
          <a:p>
            <a:pPr marL="457200" lvl="1" indent="0">
              <a:buNone/>
            </a:pPr>
            <a:endParaRPr lang="en-US" i="1"/>
          </a:p>
          <a:p>
            <a:pPr marL="457200" lvl="1" indent="0">
              <a:buNone/>
            </a:pPr>
            <a:endParaRPr lang="en-US" i="1"/>
          </a:p>
          <a:p>
            <a:pPr marL="0" indent="0">
              <a:buNone/>
            </a:pPr>
            <a:r>
              <a:rPr lang="en-US"/>
              <a:t>DMP = summary of intentions about data management</a:t>
            </a:r>
          </a:p>
          <a:p>
            <a:pPr marL="0" indent="0">
              <a:buNone/>
            </a:pPr>
            <a:r>
              <a:rPr lang="en-US"/>
              <a:t>	= good summary tool</a:t>
            </a:r>
          </a:p>
          <a:p>
            <a:pPr marL="0" indent="0">
              <a:buNone/>
            </a:pPr>
            <a:r>
              <a:rPr lang="en-US"/>
              <a:t>DMP ≠ complete plan building tool</a:t>
            </a:r>
          </a:p>
          <a:p>
            <a:pPr marL="0" indent="0">
              <a:buNone/>
            </a:pPr>
            <a:endParaRPr lang="en-US"/>
          </a:p>
          <a:p>
            <a:pPr lvl="1"/>
            <a:endParaRPr lang="en-US" i="1"/>
          </a:p>
          <a:p>
            <a:pPr lvl="1"/>
            <a:endParaRPr lang="nl-BE" i="1"/>
          </a:p>
        </p:txBody>
      </p:sp>
      <p:sp>
        <p:nvSpPr>
          <p:cNvPr id="4" name="Slide Number Placeholder 3">
            <a:extLst>
              <a:ext uri="{FF2B5EF4-FFF2-40B4-BE49-F238E27FC236}">
                <a16:creationId xmlns:a16="http://schemas.microsoft.com/office/drawing/2014/main" id="{83F0E028-E441-4AFA-A38D-A424C0A80423}"/>
              </a:ext>
            </a:extLst>
          </p:cNvPr>
          <p:cNvSpPr>
            <a:spLocks noGrp="1"/>
          </p:cNvSpPr>
          <p:nvPr>
            <p:ph type="sldNum" sz="quarter" idx="12"/>
          </p:nvPr>
        </p:nvSpPr>
        <p:spPr/>
        <p:txBody>
          <a:bodyPr/>
          <a:lstStyle/>
          <a:p>
            <a:fld id="{CC571AF6-6671-4538-974D-3AEC00AC0B82}" type="slidenum">
              <a:rPr lang="en-GB" smtClean="0"/>
              <a:t>14</a:t>
            </a:fld>
            <a:endParaRPr lang="en-GB"/>
          </a:p>
        </p:txBody>
      </p:sp>
      <p:sp>
        <p:nvSpPr>
          <p:cNvPr id="5" name="Text Placeholder 4">
            <a:extLst>
              <a:ext uri="{FF2B5EF4-FFF2-40B4-BE49-F238E27FC236}">
                <a16:creationId xmlns:a16="http://schemas.microsoft.com/office/drawing/2014/main" id="{FEA92618-B9EE-7EDB-1E97-678CF5B1BBF9}"/>
              </a:ext>
            </a:extLst>
          </p:cNvPr>
          <p:cNvSpPr>
            <a:spLocks noGrp="1"/>
          </p:cNvSpPr>
          <p:nvPr>
            <p:ph type="body" sz="quarter" idx="10"/>
          </p:nvPr>
        </p:nvSpPr>
        <p:spPr/>
        <p:txBody>
          <a:bodyPr/>
          <a:lstStyle/>
          <a:p>
            <a:endParaRPr lang="nl-BE"/>
          </a:p>
        </p:txBody>
      </p:sp>
      <p:sp>
        <p:nvSpPr>
          <p:cNvPr id="6" name="TextBox 5">
            <a:extLst>
              <a:ext uri="{FF2B5EF4-FFF2-40B4-BE49-F238E27FC236}">
                <a16:creationId xmlns:a16="http://schemas.microsoft.com/office/drawing/2014/main" id="{E28A5323-CF4A-5525-23AC-D5A16DF73287}"/>
              </a:ext>
            </a:extLst>
          </p:cNvPr>
          <p:cNvSpPr txBox="1"/>
          <p:nvPr/>
        </p:nvSpPr>
        <p:spPr>
          <a:xfrm>
            <a:off x="1595562" y="2673289"/>
            <a:ext cx="9000876" cy="1015663"/>
          </a:xfrm>
          <a:prstGeom prst="rect">
            <a:avLst/>
          </a:prstGeom>
          <a:noFill/>
        </p:spPr>
        <p:txBody>
          <a:bodyPr wrap="square" rtlCol="0">
            <a:spAutoFit/>
          </a:bodyPr>
          <a:lstStyle/>
          <a:p>
            <a:pPr algn="just"/>
            <a:r>
              <a:rPr lang="en-US" sz="2000">
                <a:solidFill>
                  <a:schemeClr val="tx1">
                    <a:lumMod val="85000"/>
                    <a:lumOff val="15000"/>
                  </a:schemeClr>
                </a:solidFill>
                <a:latin typeface="Book Antiqua" panose="02040602050305030304" pitchFamily="18" charset="0"/>
              </a:rPr>
              <a:t>An </a:t>
            </a:r>
            <a:r>
              <a:rPr lang="en-US" sz="2000" b="1">
                <a:solidFill>
                  <a:schemeClr val="tx1">
                    <a:lumMod val="85000"/>
                    <a:lumOff val="15000"/>
                  </a:schemeClr>
                </a:solidFill>
                <a:latin typeface="Book Antiqua" panose="02040602050305030304" pitchFamily="18" charset="0"/>
              </a:rPr>
              <a:t>organized</a:t>
            </a:r>
            <a:r>
              <a:rPr lang="en-US" sz="2000">
                <a:solidFill>
                  <a:schemeClr val="tx1">
                    <a:lumMod val="85000"/>
                    <a:lumOff val="15000"/>
                  </a:schemeClr>
                </a:solidFill>
                <a:latin typeface="Book Antiqua" panose="02040602050305030304" pitchFamily="18" charset="0"/>
              </a:rPr>
              <a:t> (…) </a:t>
            </a:r>
            <a:r>
              <a:rPr lang="en-US" sz="2000" b="1">
                <a:solidFill>
                  <a:schemeClr val="tx1">
                    <a:lumMod val="85000"/>
                    <a:lumOff val="15000"/>
                  </a:schemeClr>
                </a:solidFill>
                <a:latin typeface="Book Antiqua" panose="02040602050305030304" pitchFamily="18" charset="0"/>
              </a:rPr>
              <a:t>proposal</a:t>
            </a:r>
            <a:r>
              <a:rPr lang="en-US" sz="2000">
                <a:solidFill>
                  <a:schemeClr val="tx1">
                    <a:lumMod val="85000"/>
                    <a:lumOff val="15000"/>
                  </a:schemeClr>
                </a:solidFill>
                <a:latin typeface="Book Antiqua" panose="02040602050305030304" pitchFamily="18" charset="0"/>
              </a:rPr>
              <a:t> according to which something is to be done; (…), a method or </a:t>
            </a:r>
            <a:r>
              <a:rPr lang="en-US" sz="2000" b="1">
                <a:solidFill>
                  <a:schemeClr val="tx1">
                    <a:lumMod val="85000"/>
                    <a:lumOff val="15000"/>
                  </a:schemeClr>
                </a:solidFill>
                <a:latin typeface="Book Antiqua" panose="02040602050305030304" pitchFamily="18" charset="0"/>
              </a:rPr>
              <a:t>way of proceeding</a:t>
            </a:r>
            <a:r>
              <a:rPr lang="en-US" sz="2000">
                <a:solidFill>
                  <a:schemeClr val="tx1">
                    <a:lumMod val="85000"/>
                    <a:lumOff val="15000"/>
                  </a:schemeClr>
                </a:solidFill>
                <a:latin typeface="Book Antiqua" panose="02040602050305030304" pitchFamily="18" charset="0"/>
              </a:rPr>
              <a:t>, an </a:t>
            </a:r>
            <a:r>
              <a:rPr lang="en-US" sz="2000" b="1">
                <a:solidFill>
                  <a:schemeClr val="tx1">
                    <a:lumMod val="85000"/>
                    <a:lumOff val="15000"/>
                  </a:schemeClr>
                </a:solidFill>
                <a:latin typeface="Book Antiqua" panose="02040602050305030304" pitchFamily="18" charset="0"/>
              </a:rPr>
              <a:t>intention</a:t>
            </a:r>
            <a:r>
              <a:rPr lang="en-US" sz="2000">
                <a:solidFill>
                  <a:schemeClr val="tx1">
                    <a:lumMod val="85000"/>
                    <a:lumOff val="15000"/>
                  </a:schemeClr>
                </a:solidFill>
                <a:latin typeface="Book Antiqua" panose="02040602050305030304" pitchFamily="18" charset="0"/>
              </a:rPr>
              <a:t> or ambition</a:t>
            </a:r>
            <a:r>
              <a:rPr lang="en-US" sz="2000" b="1">
                <a:solidFill>
                  <a:schemeClr val="tx1">
                    <a:lumMod val="85000"/>
                    <a:lumOff val="15000"/>
                  </a:schemeClr>
                </a:solidFill>
                <a:latin typeface="Book Antiqua" panose="02040602050305030304" pitchFamily="18" charset="0"/>
              </a:rPr>
              <a:t> for the future </a:t>
            </a:r>
            <a:r>
              <a:rPr lang="en-US" sz="2000">
                <a:solidFill>
                  <a:schemeClr val="tx1">
                    <a:lumMod val="85000"/>
                    <a:lumOff val="15000"/>
                  </a:schemeClr>
                </a:solidFill>
                <a:latin typeface="Book Antiqua" panose="02040602050305030304" pitchFamily="18" charset="0"/>
              </a:rPr>
              <a:t>(…). ~ </a:t>
            </a:r>
            <a:r>
              <a:rPr lang="en-US" sz="2000" i="1">
                <a:solidFill>
                  <a:schemeClr val="tx1">
                    <a:lumMod val="85000"/>
                    <a:lumOff val="15000"/>
                  </a:schemeClr>
                </a:solidFill>
                <a:latin typeface="Book Antiqua" panose="02040602050305030304" pitchFamily="18" charset="0"/>
                <a:hlinkClick r:id="rId3">
                  <a:extLst>
                    <a:ext uri="{A12FA001-AC4F-418D-AE19-62706E023703}">
                      <ahyp:hlinkClr xmlns:ahyp="http://schemas.microsoft.com/office/drawing/2018/hyperlinkcolor" val="tx"/>
                    </a:ext>
                  </a:extLst>
                </a:hlinkClick>
              </a:rPr>
              <a:t>Oxford English Dictionary</a:t>
            </a:r>
            <a:endParaRPr lang="en-US" sz="2000" i="1">
              <a:solidFill>
                <a:schemeClr val="tx1">
                  <a:lumMod val="85000"/>
                  <a:lumOff val="15000"/>
                </a:schemeClr>
              </a:solidFill>
              <a:latin typeface="Book Antiqua" panose="02040602050305030304" pitchFamily="18" charset="0"/>
            </a:endParaRPr>
          </a:p>
        </p:txBody>
      </p:sp>
    </p:spTree>
    <p:extLst>
      <p:ext uri="{BB962C8B-B14F-4D97-AF65-F5344CB8AC3E}">
        <p14:creationId xmlns:p14="http://schemas.microsoft.com/office/powerpoint/2010/main" val="3049093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538D-EE34-E7D6-1232-66EFB85859E1}"/>
              </a:ext>
            </a:extLst>
          </p:cNvPr>
          <p:cNvSpPr>
            <a:spLocks noGrp="1"/>
          </p:cNvSpPr>
          <p:nvPr>
            <p:ph type="title"/>
          </p:nvPr>
        </p:nvSpPr>
        <p:spPr/>
        <p:txBody>
          <a:bodyPr/>
          <a:lstStyle/>
          <a:p>
            <a:r>
              <a:rPr lang="en-US"/>
              <a:t>Reframing RDM: From compliance to craft</a:t>
            </a:r>
            <a:endParaRPr lang="nl-BE"/>
          </a:p>
        </p:txBody>
      </p:sp>
      <p:sp>
        <p:nvSpPr>
          <p:cNvPr id="3" name="Content Placeholder 2">
            <a:extLst>
              <a:ext uri="{FF2B5EF4-FFF2-40B4-BE49-F238E27FC236}">
                <a16:creationId xmlns:a16="http://schemas.microsoft.com/office/drawing/2014/main" id="{460D77A1-3A2E-1157-716E-E0D1195686FB}"/>
              </a:ext>
            </a:extLst>
          </p:cNvPr>
          <p:cNvSpPr>
            <a:spLocks noGrp="1"/>
          </p:cNvSpPr>
          <p:nvPr>
            <p:ph idx="1"/>
          </p:nvPr>
        </p:nvSpPr>
        <p:spPr/>
        <p:txBody>
          <a:bodyPr>
            <a:normAutofit/>
          </a:bodyPr>
          <a:lstStyle/>
          <a:p>
            <a:r>
              <a:rPr lang="en-US"/>
              <a:t>DMP = summary of data management for compliance</a:t>
            </a:r>
          </a:p>
          <a:p>
            <a:pPr marL="457200" lvl="1" indent="0">
              <a:buNone/>
            </a:pPr>
            <a:r>
              <a:rPr lang="en-US" i="1"/>
              <a:t>I think about RDM because I have to</a:t>
            </a:r>
          </a:p>
          <a:p>
            <a:endParaRPr lang="en-US"/>
          </a:p>
          <a:p>
            <a:r>
              <a:rPr lang="en-US"/>
              <a:t>Flip the script: Plan by Design</a:t>
            </a:r>
          </a:p>
          <a:p>
            <a:pPr marL="457200" lvl="1" indent="0">
              <a:buNone/>
            </a:pPr>
            <a:r>
              <a:rPr lang="en-US" i="1"/>
              <a:t>I get to </a:t>
            </a:r>
          </a:p>
          <a:p>
            <a:pPr marL="914400" lvl="2" indent="0">
              <a:buNone/>
            </a:pPr>
            <a:r>
              <a:rPr lang="en-US" sz="2400" i="1"/>
              <a:t>design my own data management strategy</a:t>
            </a:r>
            <a:br>
              <a:rPr lang="en-US" sz="2400" i="1"/>
            </a:br>
            <a:r>
              <a:rPr lang="en-US" sz="2400" i="1"/>
              <a:t>make my own data management choices</a:t>
            </a:r>
            <a:br>
              <a:rPr lang="en-US" sz="2400" i="1"/>
            </a:br>
            <a:r>
              <a:rPr lang="en-US" sz="2400" i="1"/>
              <a:t>build my own data management plan</a:t>
            </a:r>
          </a:p>
          <a:p>
            <a:pPr marL="457200" lvl="1" indent="0">
              <a:buNone/>
            </a:pPr>
            <a:endParaRPr lang="en-US" i="1"/>
          </a:p>
          <a:p>
            <a:pPr marL="0" indent="0">
              <a:buNone/>
            </a:pPr>
            <a:endParaRPr lang="en-US"/>
          </a:p>
        </p:txBody>
      </p:sp>
      <p:sp>
        <p:nvSpPr>
          <p:cNvPr id="4" name="Slide Number Placeholder 3">
            <a:extLst>
              <a:ext uri="{FF2B5EF4-FFF2-40B4-BE49-F238E27FC236}">
                <a16:creationId xmlns:a16="http://schemas.microsoft.com/office/drawing/2014/main" id="{74D701B8-3A94-E906-62BB-F94354B952DE}"/>
              </a:ext>
            </a:extLst>
          </p:cNvPr>
          <p:cNvSpPr>
            <a:spLocks noGrp="1"/>
          </p:cNvSpPr>
          <p:nvPr>
            <p:ph type="sldNum" sz="quarter" idx="12"/>
          </p:nvPr>
        </p:nvSpPr>
        <p:spPr/>
        <p:txBody>
          <a:bodyPr/>
          <a:lstStyle/>
          <a:p>
            <a:fld id="{CC571AF6-6671-4538-974D-3AEC00AC0B82}" type="slidenum">
              <a:rPr lang="en-GB" smtClean="0"/>
              <a:t>15</a:t>
            </a:fld>
            <a:endParaRPr lang="en-GB"/>
          </a:p>
        </p:txBody>
      </p:sp>
      <p:sp>
        <p:nvSpPr>
          <p:cNvPr id="5" name="Text Placeholder 4">
            <a:extLst>
              <a:ext uri="{FF2B5EF4-FFF2-40B4-BE49-F238E27FC236}">
                <a16:creationId xmlns:a16="http://schemas.microsoft.com/office/drawing/2014/main" id="{C1C9E7C9-FAF6-8234-534A-8DCD0E8CE8B5}"/>
              </a:ext>
            </a:extLst>
          </p:cNvPr>
          <p:cNvSpPr>
            <a:spLocks noGrp="1"/>
          </p:cNvSpPr>
          <p:nvPr>
            <p:ph type="body" sz="quarter" idx="10"/>
          </p:nvPr>
        </p:nvSpPr>
        <p:spPr/>
        <p:txBody>
          <a:bodyPr/>
          <a:lstStyle/>
          <a:p>
            <a:endParaRPr lang="nl-BE"/>
          </a:p>
        </p:txBody>
      </p:sp>
    </p:spTree>
    <p:extLst>
      <p:ext uri="{BB962C8B-B14F-4D97-AF65-F5344CB8AC3E}">
        <p14:creationId xmlns:p14="http://schemas.microsoft.com/office/powerpoint/2010/main" val="2007155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A4111-5B40-9404-6935-D1D7388229B9}"/>
              </a:ext>
            </a:extLst>
          </p:cNvPr>
          <p:cNvSpPr>
            <a:spLocks noGrp="1"/>
          </p:cNvSpPr>
          <p:nvPr>
            <p:ph type="title"/>
          </p:nvPr>
        </p:nvSpPr>
        <p:spPr/>
        <p:txBody>
          <a:bodyPr/>
          <a:lstStyle/>
          <a:p>
            <a:r>
              <a:rPr lang="en-US"/>
              <a:t>What you will build in this course</a:t>
            </a:r>
            <a:endParaRPr lang="en-GB"/>
          </a:p>
        </p:txBody>
      </p:sp>
      <p:sp>
        <p:nvSpPr>
          <p:cNvPr id="3" name="Content Placeholder 2">
            <a:extLst>
              <a:ext uri="{FF2B5EF4-FFF2-40B4-BE49-F238E27FC236}">
                <a16:creationId xmlns:a16="http://schemas.microsoft.com/office/drawing/2014/main" id="{0CEA577A-9C1F-950E-C2B9-06D17EEB1949}"/>
              </a:ext>
            </a:extLst>
          </p:cNvPr>
          <p:cNvSpPr>
            <a:spLocks noGrp="1"/>
          </p:cNvSpPr>
          <p:nvPr>
            <p:ph idx="1"/>
          </p:nvPr>
        </p:nvSpPr>
        <p:spPr/>
        <p:txBody>
          <a:bodyPr>
            <a:normAutofit/>
          </a:bodyPr>
          <a:lstStyle/>
          <a:p>
            <a:pPr marL="0" indent="0" algn="ctr">
              <a:buNone/>
            </a:pPr>
            <a:r>
              <a:rPr lang="en-GB" sz="2400"/>
              <a:t>For a subset of your project:</a:t>
            </a:r>
          </a:p>
          <a:p>
            <a:pPr marL="0" indent="0" algn="ctr">
              <a:buNone/>
            </a:pPr>
            <a:endParaRPr lang="en-GB" sz="2000"/>
          </a:p>
          <a:p>
            <a:pPr marL="0" indent="0" algn="ctr">
              <a:buNone/>
            </a:pPr>
            <a:r>
              <a:rPr lang="en-GB" sz="2400"/>
              <a:t>Visual overview of your data (dataflow)</a:t>
            </a:r>
          </a:p>
          <a:p>
            <a:pPr marL="0" indent="0" algn="ctr">
              <a:buNone/>
            </a:pPr>
            <a:r>
              <a:rPr lang="en-GB" sz="2400"/>
              <a:t>Documentation and storage plan</a:t>
            </a:r>
          </a:p>
          <a:p>
            <a:pPr marL="0" indent="0" algn="ctr">
              <a:buNone/>
            </a:pPr>
            <a:r>
              <a:rPr lang="en-GB" sz="2400"/>
              <a:t>File naming convention and folder structure</a:t>
            </a:r>
          </a:p>
          <a:p>
            <a:pPr marL="0" indent="0" algn="ctr">
              <a:buNone/>
            </a:pPr>
            <a:r>
              <a:rPr lang="en-GB" sz="2400"/>
              <a:t>README - project level </a:t>
            </a:r>
          </a:p>
          <a:p>
            <a:pPr marL="0" indent="0" algn="ctr">
              <a:buNone/>
            </a:pPr>
            <a:br>
              <a:rPr lang="en-GB" sz="2400"/>
            </a:br>
            <a:endParaRPr lang="en-GB" sz="2400"/>
          </a:p>
          <a:p>
            <a:pPr marL="0" indent="0" algn="ctr">
              <a:buNone/>
            </a:pPr>
            <a:r>
              <a:rPr lang="en-GB" sz="2400"/>
              <a:t>Partly filled in DMP</a:t>
            </a:r>
            <a:endParaRPr lang="en-GB" sz="2000"/>
          </a:p>
        </p:txBody>
      </p:sp>
      <p:sp>
        <p:nvSpPr>
          <p:cNvPr id="4" name="Slide Number Placeholder 3">
            <a:extLst>
              <a:ext uri="{FF2B5EF4-FFF2-40B4-BE49-F238E27FC236}">
                <a16:creationId xmlns:a16="http://schemas.microsoft.com/office/drawing/2014/main" id="{4A69D296-0331-2946-231F-1E124A2587B1}"/>
              </a:ext>
            </a:extLst>
          </p:cNvPr>
          <p:cNvSpPr>
            <a:spLocks noGrp="1"/>
          </p:cNvSpPr>
          <p:nvPr>
            <p:ph type="sldNum" sz="quarter" idx="12"/>
          </p:nvPr>
        </p:nvSpPr>
        <p:spPr/>
        <p:txBody>
          <a:bodyPr/>
          <a:lstStyle/>
          <a:p>
            <a:fld id="{CC571AF6-6671-4538-974D-3AEC00AC0B82}" type="slidenum">
              <a:rPr lang="en-GB" smtClean="0"/>
              <a:t>16</a:t>
            </a:fld>
            <a:endParaRPr lang="en-GB"/>
          </a:p>
        </p:txBody>
      </p:sp>
      <p:sp>
        <p:nvSpPr>
          <p:cNvPr id="5" name="Text Placeholder 4">
            <a:extLst>
              <a:ext uri="{FF2B5EF4-FFF2-40B4-BE49-F238E27FC236}">
                <a16:creationId xmlns:a16="http://schemas.microsoft.com/office/drawing/2014/main" id="{AAB7A914-9EC9-6E8C-1EE6-65BA0AD5BD4F}"/>
              </a:ext>
            </a:extLst>
          </p:cNvPr>
          <p:cNvSpPr>
            <a:spLocks noGrp="1"/>
          </p:cNvSpPr>
          <p:nvPr>
            <p:ph type="body" sz="quarter" idx="10"/>
          </p:nvPr>
        </p:nvSpPr>
        <p:spPr/>
        <p:txBody>
          <a:bodyPr/>
          <a:lstStyle/>
          <a:p>
            <a:endParaRPr lang="en-GB"/>
          </a:p>
        </p:txBody>
      </p:sp>
      <p:sp>
        <p:nvSpPr>
          <p:cNvPr id="6" name="Arrow: Down 5">
            <a:extLst>
              <a:ext uri="{FF2B5EF4-FFF2-40B4-BE49-F238E27FC236}">
                <a16:creationId xmlns:a16="http://schemas.microsoft.com/office/drawing/2014/main" id="{6B926553-DE07-E278-2A68-B36EAA8BFE9E}"/>
              </a:ext>
            </a:extLst>
          </p:cNvPr>
          <p:cNvSpPr/>
          <p:nvPr/>
        </p:nvSpPr>
        <p:spPr>
          <a:xfrm>
            <a:off x="5915025" y="4854810"/>
            <a:ext cx="361950" cy="438150"/>
          </a:xfrm>
          <a:prstGeom prst="downArrow">
            <a:avLst/>
          </a:prstGeom>
          <a:solidFill>
            <a:srgbClr val="A8DEF5"/>
          </a:solidFill>
          <a:ln>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56288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9182E-05EC-2ED9-BBB8-6A5470DAC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47285-F2CD-B0C6-3A8D-DB80FCD0D3D6}"/>
              </a:ext>
            </a:extLst>
          </p:cNvPr>
          <p:cNvSpPr>
            <a:spLocks noGrp="1"/>
          </p:cNvSpPr>
          <p:nvPr>
            <p:ph type="title"/>
          </p:nvPr>
        </p:nvSpPr>
        <p:spPr/>
        <p:txBody>
          <a:bodyPr/>
          <a:lstStyle/>
          <a:p>
            <a:r>
              <a:rPr lang="en-US"/>
              <a:t>Our example - Jie’s work</a:t>
            </a:r>
            <a:endParaRPr lang="nl-BE"/>
          </a:p>
        </p:txBody>
      </p:sp>
      <p:sp>
        <p:nvSpPr>
          <p:cNvPr id="3" name="Content Placeholder 2">
            <a:extLst>
              <a:ext uri="{FF2B5EF4-FFF2-40B4-BE49-F238E27FC236}">
                <a16:creationId xmlns:a16="http://schemas.microsoft.com/office/drawing/2014/main" id="{6B920C25-0651-2520-7CE7-D0611A5B4EB1}"/>
              </a:ext>
            </a:extLst>
          </p:cNvPr>
          <p:cNvSpPr>
            <a:spLocks noGrp="1"/>
          </p:cNvSpPr>
          <p:nvPr>
            <p:ph idx="1"/>
          </p:nvPr>
        </p:nvSpPr>
        <p:spPr/>
        <p:txBody>
          <a:bodyPr/>
          <a:lstStyle/>
          <a:p>
            <a:pPr>
              <a:buNone/>
            </a:pPr>
            <a:r>
              <a:rPr lang="en-US" sz="1800" b="1"/>
              <a:t>ORCID ID</a:t>
            </a:r>
            <a:r>
              <a:rPr lang="en-US" sz="1800"/>
              <a:t>: 0000-0001-2345-6789</a:t>
            </a:r>
          </a:p>
          <a:p>
            <a:pPr>
              <a:buFont typeface="Arial" panose="020B0604020202020204" pitchFamily="34" charset="0"/>
              <a:buChar char="•"/>
            </a:pPr>
            <a:r>
              <a:rPr lang="en-US" sz="1800" b="1"/>
              <a:t>Project</a:t>
            </a:r>
            <a:r>
              <a:rPr lang="en-US" sz="1800"/>
              <a:t>: Iron-Amyloid Interactions in Alzheimer’s disease: </a:t>
            </a:r>
            <a:br>
              <a:rPr lang="en-US" sz="1800"/>
            </a:br>
            <a:r>
              <a:rPr lang="en-US" sz="1800"/>
              <a:t>From Rodent Models to Human Biomarkers</a:t>
            </a:r>
          </a:p>
          <a:p>
            <a:pPr>
              <a:buFont typeface="Arial" panose="020B0604020202020204" pitchFamily="34" charset="0"/>
              <a:buChar char="•"/>
            </a:pPr>
            <a:r>
              <a:rPr lang="en-US" sz="1800" b="1"/>
              <a:t>Researcher role</a:t>
            </a:r>
            <a:r>
              <a:rPr lang="en-US" sz="1800"/>
              <a:t>: Starting PhD-student</a:t>
            </a:r>
          </a:p>
          <a:p>
            <a:pPr>
              <a:buFont typeface="Arial" panose="020B0604020202020204" pitchFamily="34" charset="0"/>
              <a:buChar char="•"/>
            </a:pPr>
            <a:endParaRPr lang="en-US" sz="1800"/>
          </a:p>
          <a:p>
            <a:r>
              <a:rPr lang="en-US" sz="1800" b="1"/>
              <a:t>Data types from rats and humans: </a:t>
            </a:r>
          </a:p>
          <a:p>
            <a:pPr lvl="1"/>
            <a:r>
              <a:rPr lang="en-US" sz="1600"/>
              <a:t>Clinical data (age, sex; disease stage, …)</a:t>
            </a:r>
          </a:p>
          <a:p>
            <a:pPr lvl="1"/>
            <a:r>
              <a:rPr lang="en-US" sz="1600"/>
              <a:t>RNA sequencing on post-mortem brain tissue </a:t>
            </a:r>
          </a:p>
          <a:p>
            <a:pPr lvl="1"/>
            <a:r>
              <a:rPr lang="en-US" sz="1600"/>
              <a:t>Histology &amp; immunohistochemistry for amyloid plaque visualization</a:t>
            </a:r>
          </a:p>
          <a:p>
            <a:pPr lvl="1"/>
            <a:r>
              <a:rPr lang="en-US" sz="1600"/>
              <a:t>Quantitative Susceptibility Mapping (QSM) for Iron mapping</a:t>
            </a:r>
          </a:p>
          <a:p>
            <a:pPr lvl="1"/>
            <a:r>
              <a:rPr lang="en-US" sz="1600"/>
              <a:t>…</a:t>
            </a:r>
          </a:p>
          <a:p>
            <a:pPr lvl="1"/>
            <a:endParaRPr lang="en-US" sz="1600"/>
          </a:p>
          <a:p>
            <a:pPr lvl="1"/>
            <a:endParaRPr lang="en-US" sz="1600"/>
          </a:p>
          <a:p>
            <a:pPr marL="457200" lvl="1" indent="0">
              <a:buNone/>
            </a:pPr>
            <a:endParaRPr lang="en-GB" sz="1600"/>
          </a:p>
          <a:p>
            <a:endParaRPr lang="nl-BE"/>
          </a:p>
        </p:txBody>
      </p:sp>
      <p:sp>
        <p:nvSpPr>
          <p:cNvPr id="4" name="Slide Number Placeholder 3">
            <a:extLst>
              <a:ext uri="{FF2B5EF4-FFF2-40B4-BE49-F238E27FC236}">
                <a16:creationId xmlns:a16="http://schemas.microsoft.com/office/drawing/2014/main" id="{889A8B8D-C1A1-4AA5-1033-298D8D6A77DA}"/>
              </a:ext>
            </a:extLst>
          </p:cNvPr>
          <p:cNvSpPr>
            <a:spLocks noGrp="1"/>
          </p:cNvSpPr>
          <p:nvPr>
            <p:ph type="sldNum" sz="quarter" idx="12"/>
          </p:nvPr>
        </p:nvSpPr>
        <p:spPr/>
        <p:txBody>
          <a:bodyPr/>
          <a:lstStyle/>
          <a:p>
            <a:fld id="{85114D95-D6A6-084A-9D9C-617B45E258AD}" type="slidenum">
              <a:rPr lang="nl-NL" smtClean="0"/>
              <a:t>17</a:t>
            </a:fld>
            <a:endParaRPr lang="nl-NL"/>
          </a:p>
        </p:txBody>
      </p:sp>
      <p:sp>
        <p:nvSpPr>
          <p:cNvPr id="5" name="Content Placeholder 2">
            <a:extLst>
              <a:ext uri="{FF2B5EF4-FFF2-40B4-BE49-F238E27FC236}">
                <a16:creationId xmlns:a16="http://schemas.microsoft.com/office/drawing/2014/main" id="{5938EBD1-119B-F38F-54BD-345099D895A2}"/>
              </a:ext>
            </a:extLst>
          </p:cNvPr>
          <p:cNvSpPr txBox="1">
            <a:spLocks/>
          </p:cNvSpPr>
          <p:nvPr/>
        </p:nvSpPr>
        <p:spPr>
          <a:xfrm>
            <a:off x="576000" y="2038324"/>
            <a:ext cx="7843140" cy="3938548"/>
          </a:xfrm>
          <a:prstGeom prst="rect">
            <a:avLst/>
          </a:prstGeom>
        </p:spPr>
        <p:txBody>
          <a:bodyPr vert="horz" lIns="0" tIns="0" rIns="0" bIns="0" rtlCol="0" anchor="t">
            <a:normAutofit/>
          </a:bodyPr>
          <a:lstStyle>
            <a:lvl1pPr marL="228600" indent="-228600" algn="l" defTabSz="914400" rtl="0" eaLnBrk="1" latinLnBrk="0" hangingPunct="1">
              <a:lnSpc>
                <a:spcPct val="90000"/>
              </a:lnSpc>
              <a:spcBef>
                <a:spcPts val="1000"/>
              </a:spcBef>
              <a:buFont typeface="Arial"/>
              <a:buChar char="•"/>
              <a:defRPr sz="2000" kern="1200" baseline="0">
                <a:solidFill>
                  <a:srgbClr val="005E77"/>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1600" kern="1200" baseline="0">
                <a:solidFill>
                  <a:srgbClr val="005E77"/>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400" kern="1200" baseline="0">
                <a:solidFill>
                  <a:srgbClr val="005E77"/>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400" kern="1200" baseline="0">
                <a:solidFill>
                  <a:srgbClr val="005E77"/>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Arial" panose="020B0604020202020204" pitchFamily="34" charset="0"/>
              <a:buChar char="•"/>
            </a:pPr>
            <a:endParaRPr lang="en-US" sz="1800"/>
          </a:p>
        </p:txBody>
      </p:sp>
      <p:pic>
        <p:nvPicPr>
          <p:cNvPr id="7" name="Picture 6">
            <a:extLst>
              <a:ext uri="{FF2B5EF4-FFF2-40B4-BE49-F238E27FC236}">
                <a16:creationId xmlns:a16="http://schemas.microsoft.com/office/drawing/2014/main" id="{E1DC6B40-D420-0F90-EBD8-1F70B5EE15C4}"/>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246756" y="2038324"/>
            <a:ext cx="252000" cy="248183"/>
          </a:xfrm>
          <a:prstGeom prst="rect">
            <a:avLst/>
          </a:prstGeom>
        </p:spPr>
      </p:pic>
      <p:pic>
        <p:nvPicPr>
          <p:cNvPr id="9" name="Picture 8">
            <a:extLst>
              <a:ext uri="{FF2B5EF4-FFF2-40B4-BE49-F238E27FC236}">
                <a16:creationId xmlns:a16="http://schemas.microsoft.com/office/drawing/2014/main" id="{033DA229-B929-F721-5317-E7E3307DCA8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8554170" y="1233000"/>
            <a:ext cx="2928000" cy="4392000"/>
          </a:xfrm>
          <a:prstGeom prst="rect">
            <a:avLst/>
          </a:prstGeom>
        </p:spPr>
      </p:pic>
    </p:spTree>
    <p:extLst>
      <p:ext uri="{BB962C8B-B14F-4D97-AF65-F5344CB8AC3E}">
        <p14:creationId xmlns:p14="http://schemas.microsoft.com/office/powerpoint/2010/main" val="1532676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D5ECA19-5E5D-37A0-8123-9F2E28AAEF2C}"/>
              </a:ext>
            </a:extLst>
          </p:cNvPr>
          <p:cNvSpPr txBox="1">
            <a:spLocks/>
          </p:cNvSpPr>
          <p:nvPr/>
        </p:nvSpPr>
        <p:spPr>
          <a:xfrm>
            <a:off x="575400" y="576000"/>
            <a:ext cx="11041200" cy="1325563"/>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3400" b="0" kern="1200" baseline="0">
                <a:solidFill>
                  <a:srgbClr val="52BDEC"/>
                </a:solidFill>
                <a:latin typeface="Arial" charset="0"/>
                <a:ea typeface="+mj-ea"/>
                <a:cs typeface="+mj-cs"/>
              </a:defRPr>
            </a:lvl1pPr>
          </a:lstStyle>
          <a:p>
            <a:r>
              <a:rPr lang="en-US"/>
              <a:t>Build a plan – start with a clear view</a:t>
            </a:r>
            <a:br>
              <a:rPr lang="en-US"/>
            </a:br>
            <a:endParaRPr lang="nl-BE"/>
          </a:p>
        </p:txBody>
      </p:sp>
      <p:sp>
        <p:nvSpPr>
          <p:cNvPr id="2" name="Title 1">
            <a:extLst>
              <a:ext uri="{FF2B5EF4-FFF2-40B4-BE49-F238E27FC236}">
                <a16:creationId xmlns:a16="http://schemas.microsoft.com/office/drawing/2014/main" id="{3111179B-3EDE-B563-8A55-2337F6F4FB73}"/>
              </a:ext>
            </a:extLst>
          </p:cNvPr>
          <p:cNvSpPr>
            <a:spLocks noGrp="1"/>
          </p:cNvSpPr>
          <p:nvPr>
            <p:ph type="title"/>
          </p:nvPr>
        </p:nvSpPr>
        <p:spPr/>
        <p:txBody>
          <a:bodyPr/>
          <a:lstStyle/>
          <a:p>
            <a:br>
              <a:rPr lang="en-US"/>
            </a:br>
            <a:r>
              <a:rPr lang="en-US"/>
              <a:t>Exercise 2: Dataflow</a:t>
            </a:r>
            <a:endParaRPr lang="nl-BE"/>
          </a:p>
        </p:txBody>
      </p:sp>
      <p:sp>
        <p:nvSpPr>
          <p:cNvPr id="3" name="Content Placeholder 2">
            <a:extLst>
              <a:ext uri="{FF2B5EF4-FFF2-40B4-BE49-F238E27FC236}">
                <a16:creationId xmlns:a16="http://schemas.microsoft.com/office/drawing/2014/main" id="{233EC6B2-0C12-DD4B-E7B7-93AB12DDB7D4}"/>
              </a:ext>
            </a:extLst>
          </p:cNvPr>
          <p:cNvSpPr>
            <a:spLocks noGrp="1"/>
          </p:cNvSpPr>
          <p:nvPr>
            <p:ph idx="1"/>
          </p:nvPr>
        </p:nvSpPr>
        <p:spPr/>
        <p:txBody>
          <a:bodyPr/>
          <a:lstStyle/>
          <a:p>
            <a:pPr marL="0" indent="0">
              <a:buNone/>
            </a:pPr>
            <a:r>
              <a:rPr lang="en-US"/>
              <a:t>End goal = schematic diagram of all research data and steps​ </a:t>
            </a:r>
            <a:endParaRPr lang="nl-BE"/>
          </a:p>
          <a:p>
            <a:pPr lvl="1"/>
            <a:r>
              <a:rPr lang="en-US">
                <a:solidFill>
                  <a:srgbClr val="7FD7F7"/>
                </a:solidFill>
              </a:rPr>
              <a:t>Data points (in/outputs): Blue ​</a:t>
            </a:r>
            <a:endParaRPr lang="nl-BE">
              <a:solidFill>
                <a:srgbClr val="7FD7F7"/>
              </a:solidFill>
            </a:endParaRPr>
          </a:p>
          <a:p>
            <a:pPr lvl="1"/>
            <a:r>
              <a:rPr lang="en-US">
                <a:solidFill>
                  <a:schemeClr val="accent4">
                    <a:lumMod val="60000"/>
                    <a:lumOff val="40000"/>
                  </a:schemeClr>
                </a:solidFill>
              </a:rPr>
              <a:t>Steps (methods, analysis, processing,…): Yellow</a:t>
            </a:r>
          </a:p>
          <a:p>
            <a:pPr lvl="1"/>
            <a:endParaRPr lang="en-US"/>
          </a:p>
          <a:p>
            <a:pPr marL="0" indent="0">
              <a:buNone/>
            </a:pPr>
            <a:r>
              <a:rPr lang="nl-BE"/>
              <a:t>Start </a:t>
            </a:r>
            <a:r>
              <a:rPr lang="nl-BE" err="1"/>
              <a:t>with</a:t>
            </a:r>
            <a:r>
              <a:rPr lang="nl-BE"/>
              <a:t> these </a:t>
            </a:r>
            <a:r>
              <a:rPr lang="nl-BE" err="1"/>
              <a:t>questions</a:t>
            </a:r>
            <a:r>
              <a:rPr lang="nl-BE"/>
              <a:t>:</a:t>
            </a:r>
          </a:p>
          <a:p>
            <a:pPr marL="914400" lvl="1" indent="-457200">
              <a:buFont typeface="+mj-lt"/>
              <a:buAutoNum type="alphaLcPeriod"/>
            </a:pPr>
            <a:r>
              <a:rPr lang="nl-BE"/>
              <a:t>Research question?</a:t>
            </a:r>
          </a:p>
          <a:p>
            <a:pPr marL="914400" lvl="1" indent="-457200">
              <a:buFont typeface="+mj-lt"/>
              <a:buAutoNum type="alphaLcPeriod"/>
            </a:pPr>
            <a:r>
              <a:rPr lang="nl-BE" err="1"/>
              <a:t>Study</a:t>
            </a:r>
            <a:r>
              <a:rPr lang="nl-BE"/>
              <a:t> object/subject?</a:t>
            </a:r>
          </a:p>
          <a:p>
            <a:pPr marL="914400" lvl="1" indent="-457200">
              <a:buFont typeface="+mj-lt"/>
              <a:buAutoNum type="alphaLcPeriod"/>
            </a:pPr>
            <a:r>
              <a:rPr lang="nl-BE"/>
              <a:t>How? </a:t>
            </a:r>
            <a:r>
              <a:rPr lang="nl-BE" err="1"/>
              <a:t>Aka</a:t>
            </a:r>
            <a:r>
              <a:rPr lang="nl-BE"/>
              <a:t> </a:t>
            </a:r>
            <a:r>
              <a:rPr lang="nl-BE" err="1"/>
              <a:t>methods</a:t>
            </a:r>
            <a:r>
              <a:rPr lang="nl-BE"/>
              <a:t>?</a:t>
            </a:r>
          </a:p>
          <a:p>
            <a:endParaRPr lang="nl-BE"/>
          </a:p>
        </p:txBody>
      </p:sp>
      <p:sp>
        <p:nvSpPr>
          <p:cNvPr id="4" name="Slide Number Placeholder 3">
            <a:extLst>
              <a:ext uri="{FF2B5EF4-FFF2-40B4-BE49-F238E27FC236}">
                <a16:creationId xmlns:a16="http://schemas.microsoft.com/office/drawing/2014/main" id="{30548650-61FD-3836-F54A-92CD2084D0ED}"/>
              </a:ext>
            </a:extLst>
          </p:cNvPr>
          <p:cNvSpPr>
            <a:spLocks noGrp="1"/>
          </p:cNvSpPr>
          <p:nvPr>
            <p:ph type="sldNum" sz="quarter" idx="12"/>
          </p:nvPr>
        </p:nvSpPr>
        <p:spPr/>
        <p:txBody>
          <a:bodyPr/>
          <a:lstStyle/>
          <a:p>
            <a:fld id="{85114D95-D6A6-084A-9D9C-617B45E258AD}" type="slidenum">
              <a:rPr lang="nl-NL" smtClean="0"/>
              <a:t>18</a:t>
            </a:fld>
            <a:endParaRPr lang="nl-NL"/>
          </a:p>
        </p:txBody>
      </p:sp>
    </p:spTree>
    <p:extLst>
      <p:ext uri="{BB962C8B-B14F-4D97-AF65-F5344CB8AC3E}">
        <p14:creationId xmlns:p14="http://schemas.microsoft.com/office/powerpoint/2010/main" val="2188402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5D3E3-7997-6C49-DEDD-186371E02A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428818-5845-27FF-B9AC-6E2EC9667D51}"/>
              </a:ext>
            </a:extLst>
          </p:cNvPr>
          <p:cNvSpPr>
            <a:spLocks noGrp="1"/>
          </p:cNvSpPr>
          <p:nvPr>
            <p:ph idx="1"/>
          </p:nvPr>
        </p:nvSpPr>
        <p:spPr/>
        <p:txBody>
          <a:bodyPr/>
          <a:lstStyle/>
          <a:p>
            <a:pPr marL="0" indent="0">
              <a:buNone/>
            </a:pPr>
            <a:r>
              <a:rPr lang="nl-BE"/>
              <a:t>Start </a:t>
            </a:r>
            <a:r>
              <a:rPr lang="nl-BE" err="1"/>
              <a:t>with</a:t>
            </a:r>
            <a:r>
              <a:rPr lang="nl-BE"/>
              <a:t> these </a:t>
            </a:r>
            <a:r>
              <a:rPr lang="nl-BE" err="1"/>
              <a:t>questions</a:t>
            </a:r>
            <a:r>
              <a:rPr lang="nl-BE"/>
              <a:t>:</a:t>
            </a:r>
          </a:p>
          <a:p>
            <a:pPr marL="914400" lvl="1" indent="-457200">
              <a:buFont typeface="+mj-lt"/>
              <a:buAutoNum type="alphaLcPeriod"/>
            </a:pPr>
            <a:r>
              <a:rPr lang="nl-BE"/>
              <a:t>Research question? 	</a:t>
            </a:r>
          </a:p>
          <a:p>
            <a:pPr marL="914400" lvl="1" indent="-457200">
              <a:buFont typeface="+mj-lt"/>
              <a:buAutoNum type="alphaLcPeriod"/>
            </a:pPr>
            <a:r>
              <a:rPr lang="nl-BE" err="1"/>
              <a:t>Study</a:t>
            </a:r>
            <a:r>
              <a:rPr lang="nl-BE"/>
              <a:t> object/subject?	</a:t>
            </a:r>
          </a:p>
          <a:p>
            <a:pPr marL="914400" lvl="1" indent="-457200">
              <a:buFont typeface="+mj-lt"/>
              <a:buAutoNum type="alphaLcPeriod"/>
            </a:pPr>
            <a:r>
              <a:rPr lang="nl-BE"/>
              <a:t>How? </a:t>
            </a:r>
            <a:r>
              <a:rPr lang="nl-BE" err="1"/>
              <a:t>Aka</a:t>
            </a:r>
            <a:r>
              <a:rPr lang="nl-BE"/>
              <a:t> </a:t>
            </a:r>
            <a:r>
              <a:rPr lang="nl-BE" err="1"/>
              <a:t>methods</a:t>
            </a:r>
            <a:r>
              <a:rPr lang="nl-BE"/>
              <a:t>?	</a:t>
            </a:r>
          </a:p>
          <a:p>
            <a:pPr marL="0" indent="0">
              <a:buNone/>
            </a:pPr>
            <a:endParaRPr lang="nl-BE"/>
          </a:p>
          <a:p>
            <a:pPr marL="0" indent="0">
              <a:buNone/>
            </a:pPr>
            <a:endParaRPr lang="nl-BE"/>
          </a:p>
        </p:txBody>
      </p:sp>
      <p:sp>
        <p:nvSpPr>
          <p:cNvPr id="7" name="TextBox 6">
            <a:extLst>
              <a:ext uri="{FF2B5EF4-FFF2-40B4-BE49-F238E27FC236}">
                <a16:creationId xmlns:a16="http://schemas.microsoft.com/office/drawing/2014/main" id="{B83F9C94-A75C-EC66-C50D-89805E9B652B}"/>
              </a:ext>
            </a:extLst>
          </p:cNvPr>
          <p:cNvSpPr txBox="1"/>
          <p:nvPr/>
        </p:nvSpPr>
        <p:spPr>
          <a:xfrm>
            <a:off x="4603552" y="2439355"/>
            <a:ext cx="7113181" cy="1217769"/>
          </a:xfrm>
          <a:prstGeom prst="rect">
            <a:avLst/>
          </a:prstGeom>
          <a:noFill/>
        </p:spPr>
        <p:txBody>
          <a:bodyPr wrap="square" rtlCol="0">
            <a:spAutoFit/>
          </a:bodyPr>
          <a:lstStyle/>
          <a:p>
            <a:pPr marR="0" lvl="1" algn="l" defTabSz="914400" rtl="0" eaLnBrk="1" fontAlgn="auto" latinLnBrk="0" hangingPunct="1">
              <a:lnSpc>
                <a:spcPct val="90000"/>
              </a:lnSpc>
              <a:spcBef>
                <a:spcPts val="500"/>
              </a:spcBef>
              <a:spcAft>
                <a:spcPts val="0"/>
              </a:spcAft>
              <a:buClrTx/>
              <a:buSzTx/>
              <a:tabLst/>
              <a:defRPr/>
            </a:pPr>
            <a:r>
              <a:rPr lang="nl-BE" sz="2400">
                <a:solidFill>
                  <a:srgbClr val="005E77"/>
                </a:solidFill>
                <a:latin typeface="Arial" charset="0"/>
                <a:sym typeface="Wingdings" panose="05000000000000000000" pitchFamily="2" charset="2"/>
              </a:rPr>
              <a:t> </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Connection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between</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Iron &amp;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Amyloid</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plaques</a:t>
            </a:r>
            <a:endParaRPr kumimoji="0" lang="nl-BE" sz="2400" b="0" i="0" u="none" strike="noStrike" kern="1200" cap="none" spc="0" normalizeH="0" baseline="0" noProof="0">
              <a:ln>
                <a:noFill/>
              </a:ln>
              <a:solidFill>
                <a:srgbClr val="005E77"/>
              </a:solidFill>
              <a:effectLst/>
              <a:uLnTx/>
              <a:uFillTx/>
              <a:latin typeface="Arial" charset="0"/>
              <a:ea typeface="+mn-ea"/>
              <a:cs typeface="+mn-cs"/>
            </a:endParaRPr>
          </a:p>
          <a:p>
            <a:pPr marR="0" lvl="1" algn="l" defTabSz="914400" rtl="0" eaLnBrk="1" fontAlgn="auto" latinLnBrk="0" hangingPunct="1">
              <a:lnSpc>
                <a:spcPct val="90000"/>
              </a:lnSpc>
              <a:spcBef>
                <a:spcPts val="500"/>
              </a:spcBef>
              <a:spcAft>
                <a:spcPts val="0"/>
              </a:spcAft>
              <a:buClrTx/>
              <a:buSzTx/>
              <a:tabLst/>
              <a:defRPr/>
            </a:pP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Alzheimer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brain</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in Rats &amp;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Humans</a:t>
            </a:r>
            <a:endPar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endParaRPr>
          </a:p>
          <a:p>
            <a:pPr marR="0" lvl="1" algn="l" defTabSz="914400" rtl="0" eaLnBrk="1" fontAlgn="auto" latinLnBrk="0" hangingPunct="1">
              <a:lnSpc>
                <a:spcPct val="90000"/>
              </a:lnSpc>
              <a:spcBef>
                <a:spcPts val="500"/>
              </a:spcBef>
              <a:spcAft>
                <a:spcPts val="0"/>
              </a:spcAft>
              <a:buClrTx/>
              <a:buSzTx/>
              <a:tabLst/>
              <a:defRPr/>
            </a:pPr>
            <a:r>
              <a:rPr lang="nl-BE" sz="2400">
                <a:solidFill>
                  <a:srgbClr val="005E77"/>
                </a:solidFill>
                <a:latin typeface="Arial" charset="0"/>
                <a:sym typeface="Wingdings" panose="05000000000000000000" pitchFamily="2" charset="2"/>
              </a:rPr>
              <a:t> </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RNA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sequencing</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Imaging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histology</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a:t>
            </a:r>
          </a:p>
        </p:txBody>
      </p:sp>
      <p:sp>
        <p:nvSpPr>
          <p:cNvPr id="5" name="Title 1">
            <a:extLst>
              <a:ext uri="{FF2B5EF4-FFF2-40B4-BE49-F238E27FC236}">
                <a16:creationId xmlns:a16="http://schemas.microsoft.com/office/drawing/2014/main" id="{DF00B82F-736C-B952-9775-2960FFD45E2A}"/>
              </a:ext>
            </a:extLst>
          </p:cNvPr>
          <p:cNvSpPr txBox="1">
            <a:spLocks/>
          </p:cNvSpPr>
          <p:nvPr/>
        </p:nvSpPr>
        <p:spPr>
          <a:xfrm>
            <a:off x="575400" y="576000"/>
            <a:ext cx="11041200" cy="1325563"/>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3400" b="0" kern="1200" baseline="0">
                <a:solidFill>
                  <a:srgbClr val="52BDEC"/>
                </a:solidFill>
                <a:latin typeface="Arial" charset="0"/>
                <a:ea typeface="+mj-ea"/>
                <a:cs typeface="+mj-cs"/>
              </a:defRPr>
            </a:lvl1pPr>
          </a:lstStyle>
          <a:p>
            <a:r>
              <a:rPr lang="en-US"/>
              <a:t>Build a plan – start with a clear view</a:t>
            </a:r>
            <a:br>
              <a:rPr lang="en-US"/>
            </a:br>
            <a:endParaRPr lang="nl-BE"/>
          </a:p>
        </p:txBody>
      </p:sp>
      <p:sp>
        <p:nvSpPr>
          <p:cNvPr id="2" name="Title 1">
            <a:extLst>
              <a:ext uri="{FF2B5EF4-FFF2-40B4-BE49-F238E27FC236}">
                <a16:creationId xmlns:a16="http://schemas.microsoft.com/office/drawing/2014/main" id="{AFB1A240-4212-C63B-DC9F-4E46ECB95EFA}"/>
              </a:ext>
            </a:extLst>
          </p:cNvPr>
          <p:cNvSpPr>
            <a:spLocks noGrp="1"/>
          </p:cNvSpPr>
          <p:nvPr>
            <p:ph type="title"/>
          </p:nvPr>
        </p:nvSpPr>
        <p:spPr/>
        <p:txBody>
          <a:bodyPr/>
          <a:lstStyle/>
          <a:p>
            <a:br>
              <a:rPr lang="en-US"/>
            </a:br>
            <a:r>
              <a:rPr lang="en-US"/>
              <a:t>Exercise 2: Dataflow </a:t>
            </a:r>
            <a:endParaRPr lang="nl-BE"/>
          </a:p>
        </p:txBody>
      </p:sp>
      <p:sp>
        <p:nvSpPr>
          <p:cNvPr id="4" name="Slide Number Placeholder 3">
            <a:extLst>
              <a:ext uri="{FF2B5EF4-FFF2-40B4-BE49-F238E27FC236}">
                <a16:creationId xmlns:a16="http://schemas.microsoft.com/office/drawing/2014/main" id="{AE5B20BF-F7A3-F317-A26D-2353CD903154}"/>
              </a:ext>
            </a:extLst>
          </p:cNvPr>
          <p:cNvSpPr>
            <a:spLocks noGrp="1"/>
          </p:cNvSpPr>
          <p:nvPr>
            <p:ph type="sldNum" sz="quarter" idx="12"/>
          </p:nvPr>
        </p:nvSpPr>
        <p:spPr/>
        <p:txBody>
          <a:bodyPr/>
          <a:lstStyle/>
          <a:p>
            <a:fld id="{85114D95-D6A6-084A-9D9C-617B45E258AD}" type="slidenum">
              <a:rPr lang="nl-NL" smtClean="0"/>
              <a:t>19</a:t>
            </a:fld>
            <a:endParaRPr lang="nl-NL"/>
          </a:p>
        </p:txBody>
      </p:sp>
      <p:pic>
        <p:nvPicPr>
          <p:cNvPr id="6" name="Picture 5">
            <a:extLst>
              <a:ext uri="{FF2B5EF4-FFF2-40B4-BE49-F238E27FC236}">
                <a16:creationId xmlns:a16="http://schemas.microsoft.com/office/drawing/2014/main" id="{1C91A686-B586-2863-A0B8-65FD7531AB3E}"/>
              </a:ext>
            </a:extLst>
          </p:cNvPr>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816106" y="523953"/>
            <a:ext cx="921893" cy="921600"/>
          </a:xfrm>
          <a:prstGeom prst="ellipse">
            <a:avLst/>
          </a:prstGeom>
        </p:spPr>
      </p:pic>
    </p:spTree>
    <p:extLst>
      <p:ext uri="{BB962C8B-B14F-4D97-AF65-F5344CB8AC3E}">
        <p14:creationId xmlns:p14="http://schemas.microsoft.com/office/powerpoint/2010/main" val="4122389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044FE-E5EB-5C73-ADA7-EB56E19896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5FA8E9-AE98-1716-5BBA-45492497C9CC}"/>
              </a:ext>
            </a:extLst>
          </p:cNvPr>
          <p:cNvSpPr>
            <a:spLocks noGrp="1"/>
          </p:cNvSpPr>
          <p:nvPr>
            <p:ph idx="1"/>
          </p:nvPr>
        </p:nvSpPr>
        <p:spPr/>
        <p:txBody>
          <a:bodyPr/>
          <a:lstStyle/>
          <a:p>
            <a:pPr marL="0" indent="0">
              <a:buNone/>
            </a:pPr>
            <a:r>
              <a:rPr lang="nl-BE"/>
              <a:t>Start </a:t>
            </a:r>
            <a:r>
              <a:rPr lang="nl-BE" err="1"/>
              <a:t>with</a:t>
            </a:r>
            <a:r>
              <a:rPr lang="nl-BE"/>
              <a:t> these </a:t>
            </a:r>
            <a:r>
              <a:rPr lang="nl-BE" err="1"/>
              <a:t>questions</a:t>
            </a:r>
            <a:r>
              <a:rPr lang="nl-BE"/>
              <a:t>:</a:t>
            </a:r>
          </a:p>
          <a:p>
            <a:pPr marL="914400" lvl="1" indent="-457200">
              <a:buFont typeface="+mj-lt"/>
              <a:buAutoNum type="alphaLcPeriod"/>
            </a:pPr>
            <a:r>
              <a:rPr lang="nl-BE"/>
              <a:t>Research question? 	</a:t>
            </a:r>
          </a:p>
          <a:p>
            <a:pPr marL="914400" lvl="1" indent="-457200">
              <a:buFont typeface="+mj-lt"/>
              <a:buAutoNum type="alphaLcPeriod"/>
            </a:pPr>
            <a:r>
              <a:rPr lang="nl-BE" err="1"/>
              <a:t>Study</a:t>
            </a:r>
            <a:r>
              <a:rPr lang="nl-BE"/>
              <a:t> object/subject?	</a:t>
            </a:r>
          </a:p>
          <a:p>
            <a:pPr marL="914400" lvl="1" indent="-457200">
              <a:buFont typeface="+mj-lt"/>
              <a:buAutoNum type="alphaLcPeriod"/>
            </a:pPr>
            <a:r>
              <a:rPr lang="nl-BE"/>
              <a:t>How? </a:t>
            </a:r>
            <a:r>
              <a:rPr lang="nl-BE" err="1"/>
              <a:t>Aka</a:t>
            </a:r>
            <a:r>
              <a:rPr lang="nl-BE"/>
              <a:t> </a:t>
            </a:r>
            <a:r>
              <a:rPr lang="nl-BE" err="1"/>
              <a:t>methods</a:t>
            </a:r>
            <a:r>
              <a:rPr lang="nl-BE"/>
              <a:t>?	</a:t>
            </a:r>
          </a:p>
          <a:p>
            <a:pPr marL="0" indent="0">
              <a:buNone/>
            </a:pPr>
            <a:endParaRPr lang="nl-BE"/>
          </a:p>
          <a:p>
            <a:pPr marL="0" indent="0">
              <a:buNone/>
            </a:pPr>
            <a:r>
              <a:rPr lang="nl-BE"/>
              <a:t>On post-it </a:t>
            </a:r>
            <a:r>
              <a:rPr lang="nl-BE" err="1"/>
              <a:t>notes</a:t>
            </a:r>
            <a:r>
              <a:rPr lang="nl-BE"/>
              <a:t>: </a:t>
            </a:r>
          </a:p>
          <a:p>
            <a:pPr marL="457200" lvl="1" indent="0">
              <a:buNone/>
            </a:pPr>
            <a:r>
              <a:rPr lang="nl-BE"/>
              <a:t>Start datapoint = </a:t>
            </a:r>
            <a:r>
              <a:rPr lang="nl-BE" err="1"/>
              <a:t>answer</a:t>
            </a:r>
            <a:r>
              <a:rPr lang="nl-BE"/>
              <a:t> </a:t>
            </a:r>
            <a:r>
              <a:rPr lang="nl-BE" err="1"/>
              <a:t>to</a:t>
            </a:r>
            <a:r>
              <a:rPr lang="nl-BE"/>
              <a:t> b </a:t>
            </a:r>
          </a:p>
          <a:p>
            <a:pPr marL="457200" lvl="1" indent="0">
              <a:buNone/>
            </a:pPr>
            <a:r>
              <a:rPr lang="nl-BE"/>
              <a:t>Steps (</a:t>
            </a:r>
            <a:r>
              <a:rPr lang="nl-BE" err="1"/>
              <a:t>somewhere</a:t>
            </a:r>
            <a:r>
              <a:rPr lang="nl-BE"/>
              <a:t>) = </a:t>
            </a:r>
            <a:r>
              <a:rPr lang="nl-BE" err="1"/>
              <a:t>answer</a:t>
            </a:r>
            <a:r>
              <a:rPr lang="nl-BE"/>
              <a:t> </a:t>
            </a:r>
            <a:r>
              <a:rPr lang="nl-BE" err="1"/>
              <a:t>to</a:t>
            </a:r>
            <a:r>
              <a:rPr lang="nl-BE"/>
              <a:t> c</a:t>
            </a:r>
          </a:p>
          <a:p>
            <a:pPr marL="457200" lvl="1" indent="0">
              <a:buNone/>
            </a:pPr>
            <a:r>
              <a:rPr lang="nl-BE"/>
              <a:t>End datapoint = </a:t>
            </a:r>
            <a:r>
              <a:rPr lang="nl-BE" err="1"/>
              <a:t>publication</a:t>
            </a:r>
            <a:endParaRPr lang="nl-BE"/>
          </a:p>
          <a:p>
            <a:pPr marL="457200" lvl="1" indent="0">
              <a:buNone/>
            </a:pPr>
            <a:endParaRPr lang="nl-BE"/>
          </a:p>
          <a:p>
            <a:endParaRPr lang="nl-BE"/>
          </a:p>
        </p:txBody>
      </p:sp>
      <p:sp>
        <p:nvSpPr>
          <p:cNvPr id="7" name="TextBox 6">
            <a:extLst>
              <a:ext uri="{FF2B5EF4-FFF2-40B4-BE49-F238E27FC236}">
                <a16:creationId xmlns:a16="http://schemas.microsoft.com/office/drawing/2014/main" id="{C311878B-4333-8C86-737C-893A06C63FD7}"/>
              </a:ext>
            </a:extLst>
          </p:cNvPr>
          <p:cNvSpPr txBox="1"/>
          <p:nvPr/>
        </p:nvSpPr>
        <p:spPr>
          <a:xfrm>
            <a:off x="4603552" y="2439355"/>
            <a:ext cx="7113181" cy="1217769"/>
          </a:xfrm>
          <a:prstGeom prst="rect">
            <a:avLst/>
          </a:prstGeom>
          <a:noFill/>
        </p:spPr>
        <p:txBody>
          <a:bodyPr wrap="square" lIns="91440" tIns="45720" rIns="91440" bIns="45720" rtlCol="0" anchor="t">
            <a:spAutoFit/>
          </a:bodyPr>
          <a:lstStyle/>
          <a:p>
            <a:pPr marR="0" lvl="1" algn="l" defTabSz="914400" rtl="0" eaLnBrk="1" fontAlgn="auto" latinLnBrk="0" hangingPunct="1">
              <a:lnSpc>
                <a:spcPct val="90000"/>
              </a:lnSpc>
              <a:spcBef>
                <a:spcPts val="500"/>
              </a:spcBef>
              <a:spcAft>
                <a:spcPts val="0"/>
              </a:spcAft>
              <a:buClrTx/>
              <a:buSzTx/>
              <a:tabLst/>
              <a:defRPr/>
            </a:pPr>
            <a:r>
              <a:rPr lang="nl-BE" sz="2400">
                <a:solidFill>
                  <a:srgbClr val="005E77"/>
                </a:solidFill>
                <a:latin typeface="Arial" charset="0"/>
                <a:sym typeface="Wingdings" panose="05000000000000000000" pitchFamily="2" charset="2"/>
              </a:rPr>
              <a:t> </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Connection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between</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Iron &amp;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Amyloid</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plaques</a:t>
            </a:r>
            <a:endParaRPr kumimoji="0" lang="nl-BE" sz="2400" b="0" i="0" u="none" strike="noStrike" kern="1200" cap="none" spc="0" normalizeH="0" baseline="0" noProof="0">
              <a:ln>
                <a:noFill/>
              </a:ln>
              <a:solidFill>
                <a:srgbClr val="005E77"/>
              </a:solidFill>
              <a:effectLst/>
              <a:uLnTx/>
              <a:uFillTx/>
              <a:latin typeface="Arial" charset="0"/>
              <a:ea typeface="+mn-ea"/>
              <a:cs typeface="+mn-cs"/>
            </a:endParaRPr>
          </a:p>
          <a:p>
            <a:pPr lvl="1">
              <a:lnSpc>
                <a:spcPct val="90000"/>
              </a:lnSpc>
              <a:spcBef>
                <a:spcPts val="500"/>
              </a:spcBef>
              <a:defRPr/>
            </a:pPr>
            <a:r>
              <a:rPr kumimoji="0" lang="nl-BE" sz="2400" b="0" i="0" u="none" strike="noStrike" kern="1200" cap="none" spc="0" normalizeH="0" baseline="0" noProof="0">
                <a:ln>
                  <a:noFill/>
                </a:ln>
                <a:solidFill>
                  <a:srgbClr val="005E77"/>
                </a:solidFill>
                <a:effectLst/>
                <a:uLnTx/>
                <a:uFillTx/>
                <a:latin typeface="Arial"/>
                <a:cs typeface="Arial"/>
                <a:sym typeface="Wingdings" panose="05000000000000000000" pitchFamily="2" charset="2"/>
              </a:rPr>
              <a:t> Alzheimer </a:t>
            </a:r>
            <a:r>
              <a:rPr kumimoji="0" lang="nl-BE" sz="2400" b="0" i="0" u="none" strike="noStrike" kern="1200" cap="none" spc="0" normalizeH="0" baseline="0" noProof="0" err="1">
                <a:ln>
                  <a:noFill/>
                </a:ln>
                <a:solidFill>
                  <a:srgbClr val="005E77"/>
                </a:solidFill>
                <a:effectLst/>
                <a:uLnTx/>
                <a:uFillTx/>
                <a:latin typeface="Arial"/>
                <a:cs typeface="Arial"/>
                <a:sym typeface="Wingdings" panose="05000000000000000000" pitchFamily="2" charset="2"/>
              </a:rPr>
              <a:t>brain</a:t>
            </a:r>
            <a:r>
              <a:rPr kumimoji="0" lang="nl-BE" sz="2400" b="0" i="0" u="none" strike="noStrike" kern="1200" cap="none" spc="0" normalizeH="0" baseline="0" noProof="0">
                <a:ln>
                  <a:noFill/>
                </a:ln>
                <a:solidFill>
                  <a:srgbClr val="005E77"/>
                </a:solidFill>
                <a:effectLst/>
                <a:uLnTx/>
                <a:uFillTx/>
                <a:latin typeface="Arial"/>
                <a:cs typeface="Arial"/>
                <a:sym typeface="Wingdings" panose="05000000000000000000" pitchFamily="2" charset="2"/>
              </a:rPr>
              <a:t> </a:t>
            </a:r>
            <a:r>
              <a:rPr lang="nl-BE" sz="2400">
                <a:solidFill>
                  <a:srgbClr val="005E77"/>
                </a:solidFill>
                <a:latin typeface="Arial"/>
                <a:cs typeface="Arial"/>
                <a:sym typeface="Wingdings" panose="05000000000000000000" pitchFamily="2" charset="2"/>
              </a:rPr>
              <a:t>of Rats</a:t>
            </a:r>
            <a:r>
              <a:rPr kumimoji="0" lang="nl-BE" sz="2400" b="0" i="0" u="none" strike="noStrike" kern="1200" cap="none" spc="0" normalizeH="0" baseline="0" noProof="0">
                <a:ln>
                  <a:noFill/>
                </a:ln>
                <a:solidFill>
                  <a:srgbClr val="005E77"/>
                </a:solidFill>
                <a:effectLst/>
                <a:uLnTx/>
                <a:uFillTx/>
                <a:latin typeface="Arial"/>
                <a:cs typeface="Arial"/>
                <a:sym typeface="Wingdings" panose="05000000000000000000" pitchFamily="2" charset="2"/>
              </a:rPr>
              <a:t> &amp; </a:t>
            </a:r>
            <a:r>
              <a:rPr kumimoji="0" lang="nl-BE" sz="2400" b="0" i="0" u="none" strike="noStrike" kern="1200" cap="none" spc="0" normalizeH="0" baseline="0" noProof="0" err="1">
                <a:ln>
                  <a:noFill/>
                </a:ln>
                <a:solidFill>
                  <a:srgbClr val="005E77"/>
                </a:solidFill>
                <a:effectLst/>
                <a:uLnTx/>
                <a:uFillTx/>
                <a:latin typeface="Arial"/>
                <a:cs typeface="Arial"/>
                <a:sym typeface="Wingdings" panose="05000000000000000000" pitchFamily="2" charset="2"/>
              </a:rPr>
              <a:t>Humans</a:t>
            </a:r>
            <a:endParaRPr kumimoji="0" lang="nl-BE" sz="2400" b="0" i="0" u="none" strike="noStrike" kern="1200" cap="none" spc="0" normalizeH="0" baseline="0" noProof="0">
              <a:ln>
                <a:noFill/>
              </a:ln>
              <a:solidFill>
                <a:srgbClr val="005E77"/>
              </a:solidFill>
              <a:effectLst/>
              <a:uLnTx/>
              <a:uFillTx/>
              <a:latin typeface="Arial"/>
              <a:cs typeface="Arial"/>
              <a:sym typeface="Wingdings" panose="05000000000000000000" pitchFamily="2" charset="2"/>
            </a:endParaRPr>
          </a:p>
          <a:p>
            <a:pPr marR="0" lvl="1" algn="l" defTabSz="914400" rtl="0" eaLnBrk="1" fontAlgn="auto" latinLnBrk="0" hangingPunct="1">
              <a:lnSpc>
                <a:spcPct val="90000"/>
              </a:lnSpc>
              <a:spcBef>
                <a:spcPts val="500"/>
              </a:spcBef>
              <a:spcAft>
                <a:spcPts val="0"/>
              </a:spcAft>
              <a:buClrTx/>
              <a:buSzTx/>
              <a:tabLst/>
              <a:defRPr/>
            </a:pPr>
            <a:r>
              <a:rPr lang="nl-BE" sz="2400">
                <a:solidFill>
                  <a:srgbClr val="005E77"/>
                </a:solidFill>
                <a:latin typeface="Arial" charset="0"/>
                <a:sym typeface="Wingdings" panose="05000000000000000000" pitchFamily="2" charset="2"/>
              </a:rPr>
              <a:t> </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RNA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sequencing</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Imaging (</a:t>
            </a:r>
            <a:r>
              <a:rPr kumimoji="0" lang="nl-BE" sz="2400" b="0" i="0" u="none" strike="noStrike" kern="1200" cap="none" spc="0" normalizeH="0" baseline="0" noProof="0" err="1">
                <a:ln>
                  <a:noFill/>
                </a:ln>
                <a:solidFill>
                  <a:srgbClr val="005E77"/>
                </a:solidFill>
                <a:effectLst/>
                <a:uLnTx/>
                <a:uFillTx/>
                <a:latin typeface="Arial" charset="0"/>
                <a:ea typeface="+mn-ea"/>
                <a:cs typeface="+mn-cs"/>
                <a:sym typeface="Wingdings" panose="05000000000000000000" pitchFamily="2" charset="2"/>
              </a:rPr>
              <a:t>histology</a:t>
            </a:r>
            <a:r>
              <a:rPr kumimoji="0" lang="nl-BE" sz="2400" b="0" i="0" u="none" strike="noStrike" kern="1200" cap="none" spc="0" normalizeH="0" baseline="0" noProof="0">
                <a:ln>
                  <a:noFill/>
                </a:ln>
                <a:solidFill>
                  <a:srgbClr val="005E77"/>
                </a:solidFill>
                <a:effectLst/>
                <a:uLnTx/>
                <a:uFillTx/>
                <a:latin typeface="Arial" charset="0"/>
                <a:ea typeface="+mn-ea"/>
                <a:cs typeface="+mn-cs"/>
                <a:sym typeface="Wingdings" panose="05000000000000000000" pitchFamily="2" charset="2"/>
              </a:rPr>
              <a:t>), …</a:t>
            </a:r>
          </a:p>
        </p:txBody>
      </p:sp>
      <p:sp>
        <p:nvSpPr>
          <p:cNvPr id="5" name="Title 1">
            <a:extLst>
              <a:ext uri="{FF2B5EF4-FFF2-40B4-BE49-F238E27FC236}">
                <a16:creationId xmlns:a16="http://schemas.microsoft.com/office/drawing/2014/main" id="{EF233E1B-0507-6B80-3C1D-5F70CEE8A92E}"/>
              </a:ext>
            </a:extLst>
          </p:cNvPr>
          <p:cNvSpPr txBox="1">
            <a:spLocks/>
          </p:cNvSpPr>
          <p:nvPr/>
        </p:nvSpPr>
        <p:spPr>
          <a:xfrm>
            <a:off x="575400" y="576000"/>
            <a:ext cx="11041200" cy="1325563"/>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3400" b="0" kern="1200" baseline="0">
                <a:solidFill>
                  <a:srgbClr val="52BDEC"/>
                </a:solidFill>
                <a:latin typeface="Arial" charset="0"/>
                <a:ea typeface="+mj-ea"/>
                <a:cs typeface="+mj-cs"/>
              </a:defRPr>
            </a:lvl1pPr>
          </a:lstStyle>
          <a:p>
            <a:r>
              <a:rPr lang="en-US"/>
              <a:t>Build a plan – start with a clear view</a:t>
            </a:r>
            <a:br>
              <a:rPr lang="en-US"/>
            </a:br>
            <a:endParaRPr lang="nl-BE"/>
          </a:p>
        </p:txBody>
      </p:sp>
      <p:sp>
        <p:nvSpPr>
          <p:cNvPr id="2" name="Title 1">
            <a:extLst>
              <a:ext uri="{FF2B5EF4-FFF2-40B4-BE49-F238E27FC236}">
                <a16:creationId xmlns:a16="http://schemas.microsoft.com/office/drawing/2014/main" id="{8FC18950-E483-C23A-0377-A8EDCD6A5919}"/>
              </a:ext>
            </a:extLst>
          </p:cNvPr>
          <p:cNvSpPr>
            <a:spLocks noGrp="1"/>
          </p:cNvSpPr>
          <p:nvPr>
            <p:ph type="title"/>
          </p:nvPr>
        </p:nvSpPr>
        <p:spPr/>
        <p:txBody>
          <a:bodyPr/>
          <a:lstStyle/>
          <a:p>
            <a:br>
              <a:rPr lang="en-US"/>
            </a:br>
            <a:r>
              <a:rPr lang="en-US"/>
              <a:t>Exercise 2: Dataflow </a:t>
            </a:r>
            <a:endParaRPr lang="nl-BE"/>
          </a:p>
        </p:txBody>
      </p:sp>
      <p:sp>
        <p:nvSpPr>
          <p:cNvPr id="4" name="Slide Number Placeholder 3">
            <a:extLst>
              <a:ext uri="{FF2B5EF4-FFF2-40B4-BE49-F238E27FC236}">
                <a16:creationId xmlns:a16="http://schemas.microsoft.com/office/drawing/2014/main" id="{326643E3-E3F3-0539-5989-FC079FBE1D70}"/>
              </a:ext>
            </a:extLst>
          </p:cNvPr>
          <p:cNvSpPr>
            <a:spLocks noGrp="1"/>
          </p:cNvSpPr>
          <p:nvPr>
            <p:ph type="sldNum" sz="quarter" idx="12"/>
          </p:nvPr>
        </p:nvSpPr>
        <p:spPr/>
        <p:txBody>
          <a:bodyPr/>
          <a:lstStyle/>
          <a:p>
            <a:fld id="{85114D95-D6A6-084A-9D9C-617B45E258AD}" type="slidenum">
              <a:rPr lang="nl-NL" smtClean="0"/>
              <a:t>20</a:t>
            </a:fld>
            <a:endParaRPr lang="nl-NL"/>
          </a:p>
        </p:txBody>
      </p:sp>
      <p:pic>
        <p:nvPicPr>
          <p:cNvPr id="6" name="Picture 5">
            <a:extLst>
              <a:ext uri="{FF2B5EF4-FFF2-40B4-BE49-F238E27FC236}">
                <a16:creationId xmlns:a16="http://schemas.microsoft.com/office/drawing/2014/main" id="{510EB080-1E14-96F4-0035-FC6FCAD030A5}"/>
              </a:ext>
            </a:extLst>
          </p:cNvPr>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816106" y="523953"/>
            <a:ext cx="921893" cy="921600"/>
          </a:xfrm>
          <a:prstGeom prst="ellipse">
            <a:avLst/>
          </a:prstGeom>
        </p:spPr>
      </p:pic>
    </p:spTree>
    <p:extLst>
      <p:ext uri="{BB962C8B-B14F-4D97-AF65-F5344CB8AC3E}">
        <p14:creationId xmlns:p14="http://schemas.microsoft.com/office/powerpoint/2010/main" val="105945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100"/>
                                  </p:stCondLst>
                                  <p:childTnLst>
                                    <p:animClr clrSpc="rgb" dir="cw">
                                      <p:cBhvr override="childStyle">
                                        <p:cTn id="6" dur="500" fill="hold"/>
                                        <p:tgtEl>
                                          <p:spTgt spid="3">
                                            <p:txEl>
                                              <p:pRg st="6" end="6"/>
                                            </p:txEl>
                                          </p:spTgt>
                                        </p:tgtEl>
                                        <p:attrNameLst>
                                          <p:attrName>style.color</p:attrName>
                                        </p:attrNameLst>
                                      </p:cBhvr>
                                      <p:to>
                                        <a:srgbClr val="7FD7F7"/>
                                      </p:to>
                                    </p:animClr>
                                    <p:animClr clrSpc="rgb" dir="cw">
                                      <p:cBhvr>
                                        <p:cTn id="7" dur="500" fill="hold"/>
                                        <p:tgtEl>
                                          <p:spTgt spid="3">
                                            <p:txEl>
                                              <p:pRg st="6" end="6"/>
                                            </p:txEl>
                                          </p:spTgt>
                                        </p:tgtEl>
                                        <p:attrNameLst>
                                          <p:attrName>fillcolor</p:attrName>
                                        </p:attrNameLst>
                                      </p:cBhvr>
                                      <p:to>
                                        <a:srgbClr val="7FD7F7"/>
                                      </p:to>
                                    </p:animClr>
                                    <p:set>
                                      <p:cBhvr>
                                        <p:cTn id="8" dur="500" fill="hold"/>
                                        <p:tgtEl>
                                          <p:spTgt spid="3">
                                            <p:txEl>
                                              <p:pRg st="6" end="6"/>
                                            </p:txEl>
                                          </p:spTgt>
                                        </p:tgtEl>
                                        <p:attrNameLst>
                                          <p:attrName>fill.type</p:attrName>
                                        </p:attrNameLst>
                                      </p:cBhvr>
                                      <p:to>
                                        <p:strVal val="solid"/>
                                      </p:to>
                                    </p:set>
                                    <p:set>
                                      <p:cBhvr>
                                        <p:cTn id="9" dur="500" fill="hold"/>
                                        <p:tgtEl>
                                          <p:spTgt spid="3">
                                            <p:txEl>
                                              <p:pRg st="6" end="6"/>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3">
                                            <p:txEl>
                                              <p:pRg st="7" end="7"/>
                                            </p:txEl>
                                          </p:spTgt>
                                        </p:tgtEl>
                                        <p:attrNameLst>
                                          <p:attrName>style.color</p:attrName>
                                        </p:attrNameLst>
                                      </p:cBhvr>
                                      <p:to>
                                        <a:srgbClr val="FFD966"/>
                                      </p:to>
                                    </p:animClr>
                                    <p:animClr clrSpc="rgb" dir="cw">
                                      <p:cBhvr>
                                        <p:cTn id="14" dur="500" fill="hold"/>
                                        <p:tgtEl>
                                          <p:spTgt spid="3">
                                            <p:txEl>
                                              <p:pRg st="7" end="7"/>
                                            </p:txEl>
                                          </p:spTgt>
                                        </p:tgtEl>
                                        <p:attrNameLst>
                                          <p:attrName>fillcolor</p:attrName>
                                        </p:attrNameLst>
                                      </p:cBhvr>
                                      <p:to>
                                        <a:srgbClr val="FFD966"/>
                                      </p:to>
                                    </p:animClr>
                                    <p:set>
                                      <p:cBhvr>
                                        <p:cTn id="15" dur="500" fill="hold"/>
                                        <p:tgtEl>
                                          <p:spTgt spid="3">
                                            <p:txEl>
                                              <p:pRg st="7" end="7"/>
                                            </p:txEl>
                                          </p:spTgt>
                                        </p:tgtEl>
                                        <p:attrNameLst>
                                          <p:attrName>fill.type</p:attrName>
                                        </p:attrNameLst>
                                      </p:cBhvr>
                                      <p:to>
                                        <p:strVal val="solid"/>
                                      </p:to>
                                    </p:set>
                                    <p:set>
                                      <p:cBhvr>
                                        <p:cTn id="16" dur="500" fill="hold"/>
                                        <p:tgtEl>
                                          <p:spTgt spid="3">
                                            <p:txEl>
                                              <p:pRg st="7" end="7"/>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3">
                                            <p:txEl>
                                              <p:pRg st="8" end="8"/>
                                            </p:txEl>
                                          </p:spTgt>
                                        </p:tgtEl>
                                        <p:attrNameLst>
                                          <p:attrName>style.color</p:attrName>
                                        </p:attrNameLst>
                                      </p:cBhvr>
                                      <p:to>
                                        <a:srgbClr val="7FD7F7"/>
                                      </p:to>
                                    </p:animClr>
                                    <p:animClr clrSpc="rgb" dir="cw">
                                      <p:cBhvr>
                                        <p:cTn id="21" dur="500" fill="hold"/>
                                        <p:tgtEl>
                                          <p:spTgt spid="3">
                                            <p:txEl>
                                              <p:pRg st="8" end="8"/>
                                            </p:txEl>
                                          </p:spTgt>
                                        </p:tgtEl>
                                        <p:attrNameLst>
                                          <p:attrName>fillcolor</p:attrName>
                                        </p:attrNameLst>
                                      </p:cBhvr>
                                      <p:to>
                                        <a:srgbClr val="7FD7F7"/>
                                      </p:to>
                                    </p:animClr>
                                    <p:set>
                                      <p:cBhvr>
                                        <p:cTn id="22" dur="500" fill="hold"/>
                                        <p:tgtEl>
                                          <p:spTgt spid="3">
                                            <p:txEl>
                                              <p:pRg st="8" end="8"/>
                                            </p:txEl>
                                          </p:spTgt>
                                        </p:tgtEl>
                                        <p:attrNameLst>
                                          <p:attrName>fill.type</p:attrName>
                                        </p:attrNameLst>
                                      </p:cBhvr>
                                      <p:to>
                                        <p:strVal val="solid"/>
                                      </p:to>
                                    </p:set>
                                    <p:set>
                                      <p:cBhvr>
                                        <p:cTn id="23" dur="500" fill="hold"/>
                                        <p:tgtEl>
                                          <p:spTgt spid="3">
                                            <p:txEl>
                                              <p:pRg st="8" end="8"/>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45041-1346-9103-EA8A-E54FF2AF5C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670A58-1131-582C-C5D7-D23BC61D3E20}"/>
              </a:ext>
            </a:extLst>
          </p:cNvPr>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816106" y="523953"/>
            <a:ext cx="921893" cy="921600"/>
          </a:xfrm>
          <a:prstGeom prst="ellipse">
            <a:avLst/>
          </a:prstGeom>
        </p:spPr>
      </p:pic>
      <p:sp>
        <p:nvSpPr>
          <p:cNvPr id="2" name="Title 1">
            <a:extLst>
              <a:ext uri="{FF2B5EF4-FFF2-40B4-BE49-F238E27FC236}">
                <a16:creationId xmlns:a16="http://schemas.microsoft.com/office/drawing/2014/main" id="{AF905B47-A4A2-7A2C-9C49-8DA01320CD17}"/>
              </a:ext>
            </a:extLst>
          </p:cNvPr>
          <p:cNvSpPr>
            <a:spLocks noGrp="1"/>
          </p:cNvSpPr>
          <p:nvPr>
            <p:ph type="title"/>
          </p:nvPr>
        </p:nvSpPr>
        <p:spPr/>
        <p:txBody>
          <a:bodyPr/>
          <a:lstStyle/>
          <a:p>
            <a:r>
              <a:rPr lang="en-US"/>
              <a:t>Exercise 2: Build a Dataflow – example </a:t>
            </a:r>
            <a:br>
              <a:rPr lang="en-US"/>
            </a:br>
            <a:r>
              <a:rPr lang="en-US"/>
              <a:t>Jie’s project</a:t>
            </a:r>
            <a:endParaRPr lang="en-GB"/>
          </a:p>
        </p:txBody>
      </p:sp>
      <p:sp>
        <p:nvSpPr>
          <p:cNvPr id="4" name="Slide Number Placeholder 3">
            <a:extLst>
              <a:ext uri="{FF2B5EF4-FFF2-40B4-BE49-F238E27FC236}">
                <a16:creationId xmlns:a16="http://schemas.microsoft.com/office/drawing/2014/main" id="{EF1E3E60-D508-8BB0-7F80-C017DADDDBE5}"/>
              </a:ext>
            </a:extLst>
          </p:cNvPr>
          <p:cNvSpPr>
            <a:spLocks noGrp="1"/>
          </p:cNvSpPr>
          <p:nvPr>
            <p:ph type="sldNum" sz="quarter" idx="12"/>
          </p:nvPr>
        </p:nvSpPr>
        <p:spPr>
          <a:prstGeom prst="rect">
            <a:avLst/>
          </a:prstGeom>
        </p:spPr>
        <p:txBody>
          <a:bodyPr/>
          <a:lstStyle/>
          <a:p>
            <a:fld id="{CC571AF6-6671-4538-974D-3AEC00AC0B82}" type="slidenum">
              <a:rPr lang="en-GB" smtClean="0"/>
              <a:t>21</a:t>
            </a:fld>
            <a:endParaRPr lang="en-GB"/>
          </a:p>
        </p:txBody>
      </p:sp>
      <p:sp>
        <p:nvSpPr>
          <p:cNvPr id="72" name="TextBox 71">
            <a:extLst>
              <a:ext uri="{FF2B5EF4-FFF2-40B4-BE49-F238E27FC236}">
                <a16:creationId xmlns:a16="http://schemas.microsoft.com/office/drawing/2014/main" id="{F7EF4CE0-05DB-5242-6846-01386A976AD7}"/>
              </a:ext>
            </a:extLst>
          </p:cNvPr>
          <p:cNvSpPr txBox="1"/>
          <p:nvPr/>
        </p:nvSpPr>
        <p:spPr>
          <a:xfrm>
            <a:off x="10575068" y="5773794"/>
            <a:ext cx="1378800" cy="276999"/>
          </a:xfrm>
          <a:prstGeom prst="rect">
            <a:avLst/>
          </a:prstGeom>
          <a:solidFill>
            <a:srgbClr val="FFDF7F"/>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defRPr sz="1200" b="1">
                <a:solidFill>
                  <a:srgbClr val="005E77"/>
                </a:solidFill>
                <a:cs typeface="Arial" panose="020B0604020202020204" pitchFamily="34" charset="0"/>
              </a:defRPr>
            </a:lvl1pPr>
          </a:lstStyle>
          <a:p>
            <a:pPr algn="ctr"/>
            <a:r>
              <a:rPr lang="en-US" sz="1600" b="0"/>
              <a:t>Steps</a:t>
            </a:r>
            <a:endParaRPr lang="nl-BE" sz="1600" b="0"/>
          </a:p>
        </p:txBody>
      </p:sp>
      <p:sp>
        <p:nvSpPr>
          <p:cNvPr id="73" name="TextBox 72">
            <a:extLst>
              <a:ext uri="{FF2B5EF4-FFF2-40B4-BE49-F238E27FC236}">
                <a16:creationId xmlns:a16="http://schemas.microsoft.com/office/drawing/2014/main" id="{16E4098B-4960-12BB-5C41-D538422A3632}"/>
              </a:ext>
            </a:extLst>
          </p:cNvPr>
          <p:cNvSpPr txBox="1"/>
          <p:nvPr/>
        </p:nvSpPr>
        <p:spPr>
          <a:xfrm>
            <a:off x="10575068" y="5400776"/>
            <a:ext cx="1378800" cy="276999"/>
          </a:xfrm>
          <a:prstGeom prst="rect">
            <a:avLst/>
          </a:prstGeom>
          <a:solidFill>
            <a:srgbClr val="A8DEF5"/>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buFont typeface="Arial" panose="020B0604020202020204" pitchFamily="34" charset="0"/>
              <a:buChar char="•"/>
              <a:defRPr sz="1200" b="0">
                <a:solidFill>
                  <a:srgbClr val="005E77"/>
                </a:solidFill>
              </a:defRPr>
            </a:lvl1pPr>
          </a:lstStyle>
          <a:p>
            <a:pPr algn="ctr">
              <a:buNone/>
            </a:pPr>
            <a:r>
              <a:rPr lang="en-US" sz="1600"/>
              <a:t>Data points</a:t>
            </a:r>
            <a:endParaRPr lang="nl-BE" sz="1600"/>
          </a:p>
        </p:txBody>
      </p:sp>
      <p:grpSp>
        <p:nvGrpSpPr>
          <p:cNvPr id="15" name="Group 14">
            <a:extLst>
              <a:ext uri="{FF2B5EF4-FFF2-40B4-BE49-F238E27FC236}">
                <a16:creationId xmlns:a16="http://schemas.microsoft.com/office/drawing/2014/main" id="{9AA737D1-5222-27FB-3D8D-E7115D07700B}"/>
              </a:ext>
            </a:extLst>
          </p:cNvPr>
          <p:cNvGrpSpPr/>
          <p:nvPr/>
        </p:nvGrpSpPr>
        <p:grpSpPr>
          <a:xfrm>
            <a:off x="10272593" y="2880628"/>
            <a:ext cx="1689448" cy="1914101"/>
            <a:chOff x="10301046" y="2699087"/>
            <a:chExt cx="1689448" cy="1914101"/>
          </a:xfrm>
        </p:grpSpPr>
        <p:sp>
          <p:nvSpPr>
            <p:cNvPr id="65" name="Rectangle 64">
              <a:extLst>
                <a:ext uri="{FF2B5EF4-FFF2-40B4-BE49-F238E27FC236}">
                  <a16:creationId xmlns:a16="http://schemas.microsoft.com/office/drawing/2014/main" id="{AA2A15D5-A777-2774-5978-E17A69EEDD47}"/>
                </a:ext>
              </a:extLst>
            </p:cNvPr>
            <p:cNvSpPr/>
            <p:nvPr/>
          </p:nvSpPr>
          <p:spPr>
            <a:xfrm>
              <a:off x="10301046" y="2699087"/>
              <a:ext cx="1689448" cy="1914101"/>
            </a:xfrm>
            <a:custGeom>
              <a:avLst/>
              <a:gdLst>
                <a:gd name="connsiteX0" fmla="*/ 0 w 1689448"/>
                <a:gd name="connsiteY0" fmla="*/ 0 h 1914101"/>
                <a:gd name="connsiteX1" fmla="*/ 596938 w 1689448"/>
                <a:gd name="connsiteY1" fmla="*/ 0 h 1914101"/>
                <a:gd name="connsiteX2" fmla="*/ 1193877 w 1689448"/>
                <a:gd name="connsiteY2" fmla="*/ 0 h 1914101"/>
                <a:gd name="connsiteX3" fmla="*/ 1689448 w 1689448"/>
                <a:gd name="connsiteY3" fmla="*/ 0 h 1914101"/>
                <a:gd name="connsiteX4" fmla="*/ 1689448 w 1689448"/>
                <a:gd name="connsiteY4" fmla="*/ 580611 h 1914101"/>
                <a:gd name="connsiteX5" fmla="*/ 1689448 w 1689448"/>
                <a:gd name="connsiteY5" fmla="*/ 1218644 h 1914101"/>
                <a:gd name="connsiteX6" fmla="*/ 1689448 w 1689448"/>
                <a:gd name="connsiteY6" fmla="*/ 1914101 h 1914101"/>
                <a:gd name="connsiteX7" fmla="*/ 1176982 w 1689448"/>
                <a:gd name="connsiteY7" fmla="*/ 1914101 h 1914101"/>
                <a:gd name="connsiteX8" fmla="*/ 664516 w 1689448"/>
                <a:gd name="connsiteY8" fmla="*/ 1914101 h 1914101"/>
                <a:gd name="connsiteX9" fmla="*/ 0 w 1689448"/>
                <a:gd name="connsiteY9" fmla="*/ 1914101 h 1914101"/>
                <a:gd name="connsiteX10" fmla="*/ 0 w 1689448"/>
                <a:gd name="connsiteY10" fmla="*/ 1333490 h 1914101"/>
                <a:gd name="connsiteX11" fmla="*/ 0 w 1689448"/>
                <a:gd name="connsiteY11" fmla="*/ 733739 h 1914101"/>
                <a:gd name="connsiteX12" fmla="*/ 0 w 1689448"/>
                <a:gd name="connsiteY12" fmla="*/ 0 h 191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9448" h="1914101" fill="none" extrusionOk="0">
                  <a:moveTo>
                    <a:pt x="0" y="0"/>
                  </a:moveTo>
                  <a:cubicBezTo>
                    <a:pt x="282978" y="-26075"/>
                    <a:pt x="420737" y="-9574"/>
                    <a:pt x="596938" y="0"/>
                  </a:cubicBezTo>
                  <a:cubicBezTo>
                    <a:pt x="773139" y="9574"/>
                    <a:pt x="965606" y="7737"/>
                    <a:pt x="1193877" y="0"/>
                  </a:cubicBezTo>
                  <a:cubicBezTo>
                    <a:pt x="1422148" y="-7737"/>
                    <a:pt x="1544480" y="15874"/>
                    <a:pt x="1689448" y="0"/>
                  </a:cubicBezTo>
                  <a:cubicBezTo>
                    <a:pt x="1668808" y="172363"/>
                    <a:pt x="1709828" y="305226"/>
                    <a:pt x="1689448" y="580611"/>
                  </a:cubicBezTo>
                  <a:cubicBezTo>
                    <a:pt x="1669068" y="855996"/>
                    <a:pt x="1710616" y="1050164"/>
                    <a:pt x="1689448" y="1218644"/>
                  </a:cubicBezTo>
                  <a:cubicBezTo>
                    <a:pt x="1668280" y="1387124"/>
                    <a:pt x="1677655" y="1575053"/>
                    <a:pt x="1689448" y="1914101"/>
                  </a:cubicBezTo>
                  <a:cubicBezTo>
                    <a:pt x="1553500" y="1937375"/>
                    <a:pt x="1394421" y="1926425"/>
                    <a:pt x="1176982" y="1914101"/>
                  </a:cubicBezTo>
                  <a:cubicBezTo>
                    <a:pt x="959543" y="1901777"/>
                    <a:pt x="866113" y="1934658"/>
                    <a:pt x="664516" y="1914101"/>
                  </a:cubicBezTo>
                  <a:cubicBezTo>
                    <a:pt x="462919" y="1893544"/>
                    <a:pt x="188297" y="1941367"/>
                    <a:pt x="0" y="1914101"/>
                  </a:cubicBezTo>
                  <a:cubicBezTo>
                    <a:pt x="19399" y="1673739"/>
                    <a:pt x="-23817" y="1507505"/>
                    <a:pt x="0" y="1333490"/>
                  </a:cubicBezTo>
                  <a:cubicBezTo>
                    <a:pt x="23817" y="1159475"/>
                    <a:pt x="23313" y="984937"/>
                    <a:pt x="0" y="733739"/>
                  </a:cubicBezTo>
                  <a:cubicBezTo>
                    <a:pt x="-23313" y="482541"/>
                    <a:pt x="-7244" y="294241"/>
                    <a:pt x="0" y="0"/>
                  </a:cubicBezTo>
                  <a:close/>
                </a:path>
                <a:path w="1689448" h="1914101" stroke="0" extrusionOk="0">
                  <a:moveTo>
                    <a:pt x="0" y="0"/>
                  </a:moveTo>
                  <a:cubicBezTo>
                    <a:pt x="288413" y="-24815"/>
                    <a:pt x="359102" y="-5622"/>
                    <a:pt x="580044" y="0"/>
                  </a:cubicBezTo>
                  <a:cubicBezTo>
                    <a:pt x="800986" y="5622"/>
                    <a:pt x="909953" y="-27907"/>
                    <a:pt x="1160088" y="0"/>
                  </a:cubicBezTo>
                  <a:cubicBezTo>
                    <a:pt x="1410223" y="27907"/>
                    <a:pt x="1531419" y="26467"/>
                    <a:pt x="1689448" y="0"/>
                  </a:cubicBezTo>
                  <a:cubicBezTo>
                    <a:pt x="1678339" y="309905"/>
                    <a:pt x="1719615" y="421529"/>
                    <a:pt x="1689448" y="676316"/>
                  </a:cubicBezTo>
                  <a:cubicBezTo>
                    <a:pt x="1659281" y="931103"/>
                    <a:pt x="1659018" y="1181664"/>
                    <a:pt x="1689448" y="1333490"/>
                  </a:cubicBezTo>
                  <a:cubicBezTo>
                    <a:pt x="1719878" y="1485316"/>
                    <a:pt x="1700465" y="1652417"/>
                    <a:pt x="1689448" y="1914101"/>
                  </a:cubicBezTo>
                  <a:cubicBezTo>
                    <a:pt x="1544573" y="1908383"/>
                    <a:pt x="1363449" y="1903746"/>
                    <a:pt x="1176982" y="1914101"/>
                  </a:cubicBezTo>
                  <a:cubicBezTo>
                    <a:pt x="990515" y="1924456"/>
                    <a:pt x="789137" y="1904645"/>
                    <a:pt x="596938" y="1914101"/>
                  </a:cubicBezTo>
                  <a:cubicBezTo>
                    <a:pt x="404739" y="1923557"/>
                    <a:pt x="123018" y="1893085"/>
                    <a:pt x="0" y="1914101"/>
                  </a:cubicBezTo>
                  <a:cubicBezTo>
                    <a:pt x="-7172" y="1681010"/>
                    <a:pt x="-6193" y="1444641"/>
                    <a:pt x="0" y="1256926"/>
                  </a:cubicBezTo>
                  <a:cubicBezTo>
                    <a:pt x="6193" y="1069212"/>
                    <a:pt x="-7372" y="775105"/>
                    <a:pt x="0" y="638034"/>
                  </a:cubicBezTo>
                  <a:cubicBezTo>
                    <a:pt x="7372" y="500963"/>
                    <a:pt x="4649" y="134059"/>
                    <a:pt x="0" y="0"/>
                  </a:cubicBezTo>
                  <a:close/>
                </a:path>
              </a:pathLst>
            </a:custGeom>
            <a:solidFill>
              <a:srgbClr val="52BDEC">
                <a:alpha val="50000"/>
              </a:srgbClr>
            </a:solidFill>
            <a:ln w="19050">
              <a:solidFill>
                <a:srgbClr val="005E77"/>
              </a:solidFill>
              <a:extLst>
                <a:ext uri="{C807C97D-BFC1-408E-A445-0C87EB9F89A2}">
                  <ask:lineSketchStyleProps xmlns:ask="http://schemas.microsoft.com/office/drawing/2018/sketchyshapes" sd="175670711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71" name="Tekstvak 37">
              <a:extLst>
                <a:ext uri="{FF2B5EF4-FFF2-40B4-BE49-F238E27FC236}">
                  <a16:creationId xmlns:a16="http://schemas.microsoft.com/office/drawing/2014/main" id="{5E03385C-285F-8986-0924-E5EBC73AF6BE}"/>
                </a:ext>
              </a:extLst>
            </p:cNvPr>
            <p:cNvSpPr txBox="1"/>
            <p:nvPr/>
          </p:nvSpPr>
          <p:spPr>
            <a:xfrm>
              <a:off x="10313220" y="3093846"/>
              <a:ext cx="1660309" cy="307777"/>
            </a:xfrm>
            <a:prstGeom prst="rect">
              <a:avLst/>
            </a:prstGeom>
            <a:noFill/>
          </p:spPr>
          <p:txBody>
            <a:bodyPr wrap="square" rtlCol="0">
              <a:spAutoFit/>
            </a:bodyPr>
            <a:lstStyle/>
            <a:p>
              <a:pPr algn="ctr"/>
              <a:r>
                <a:rPr lang="en-US" sz="1400">
                  <a:solidFill>
                    <a:srgbClr val="005E77"/>
                  </a:solidFill>
                  <a:latin typeface="Arial" panose="020B0604020202020204" pitchFamily="34" charset="0"/>
                  <a:cs typeface="Arial" panose="020B0604020202020204" pitchFamily="34" charset="0"/>
                </a:rPr>
                <a:t>Publication</a:t>
              </a:r>
            </a:p>
          </p:txBody>
        </p:sp>
        <p:pic>
          <p:nvPicPr>
            <p:cNvPr id="96" name="Graphic 95" descr="Krant met effen opvulling">
              <a:extLst>
                <a:ext uri="{FF2B5EF4-FFF2-40B4-BE49-F238E27FC236}">
                  <a16:creationId xmlns:a16="http://schemas.microsoft.com/office/drawing/2014/main" id="{FC96CF25-CBE8-FB54-CD99-265EC9788D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89185" y="3497642"/>
              <a:ext cx="708377" cy="708377"/>
            </a:xfrm>
            <a:prstGeom prst="rect">
              <a:avLst/>
            </a:prstGeom>
          </p:spPr>
        </p:pic>
      </p:grpSp>
      <p:grpSp>
        <p:nvGrpSpPr>
          <p:cNvPr id="11" name="Group 10">
            <a:extLst>
              <a:ext uri="{FF2B5EF4-FFF2-40B4-BE49-F238E27FC236}">
                <a16:creationId xmlns:a16="http://schemas.microsoft.com/office/drawing/2014/main" id="{77D244DC-6080-7A77-88F5-B82BED22D884}"/>
              </a:ext>
            </a:extLst>
          </p:cNvPr>
          <p:cNvGrpSpPr/>
          <p:nvPr/>
        </p:nvGrpSpPr>
        <p:grpSpPr>
          <a:xfrm>
            <a:off x="1103506" y="2275320"/>
            <a:ext cx="1597049" cy="1444230"/>
            <a:chOff x="1103506" y="2275320"/>
            <a:chExt cx="1597049" cy="1444230"/>
          </a:xfrm>
        </p:grpSpPr>
        <p:sp>
          <p:nvSpPr>
            <p:cNvPr id="66" name="Rectangle 65">
              <a:extLst>
                <a:ext uri="{FF2B5EF4-FFF2-40B4-BE49-F238E27FC236}">
                  <a16:creationId xmlns:a16="http://schemas.microsoft.com/office/drawing/2014/main" id="{E2E20E6B-E900-F20B-F00C-C76A2A08575C}"/>
                </a:ext>
              </a:extLst>
            </p:cNvPr>
            <p:cNvSpPr/>
            <p:nvPr/>
          </p:nvSpPr>
          <p:spPr>
            <a:xfrm>
              <a:off x="1103507" y="2344040"/>
              <a:ext cx="1597048" cy="1375510"/>
            </a:xfrm>
            <a:custGeom>
              <a:avLst/>
              <a:gdLst>
                <a:gd name="connsiteX0" fmla="*/ 0 w 1597048"/>
                <a:gd name="connsiteY0" fmla="*/ 0 h 1375510"/>
                <a:gd name="connsiteX1" fmla="*/ 500408 w 1597048"/>
                <a:gd name="connsiteY1" fmla="*/ 0 h 1375510"/>
                <a:gd name="connsiteX2" fmla="*/ 1032758 w 1597048"/>
                <a:gd name="connsiteY2" fmla="*/ 0 h 1375510"/>
                <a:gd name="connsiteX3" fmla="*/ 1597048 w 1597048"/>
                <a:gd name="connsiteY3" fmla="*/ 0 h 1375510"/>
                <a:gd name="connsiteX4" fmla="*/ 1597048 w 1597048"/>
                <a:gd name="connsiteY4" fmla="*/ 660245 h 1375510"/>
                <a:gd name="connsiteX5" fmla="*/ 1597048 w 1597048"/>
                <a:gd name="connsiteY5" fmla="*/ 1375510 h 1375510"/>
                <a:gd name="connsiteX6" fmla="*/ 1064699 w 1597048"/>
                <a:gd name="connsiteY6" fmla="*/ 1375510 h 1375510"/>
                <a:gd name="connsiteX7" fmla="*/ 564290 w 1597048"/>
                <a:gd name="connsiteY7" fmla="*/ 1375510 h 1375510"/>
                <a:gd name="connsiteX8" fmla="*/ 0 w 1597048"/>
                <a:gd name="connsiteY8" fmla="*/ 1375510 h 1375510"/>
                <a:gd name="connsiteX9" fmla="*/ 0 w 1597048"/>
                <a:gd name="connsiteY9" fmla="*/ 701510 h 1375510"/>
                <a:gd name="connsiteX10" fmla="*/ 0 w 1597048"/>
                <a:gd name="connsiteY10" fmla="*/ 0 h 1375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7048" h="1375510" fill="none" extrusionOk="0">
                  <a:moveTo>
                    <a:pt x="0" y="0"/>
                  </a:moveTo>
                  <a:cubicBezTo>
                    <a:pt x="238896" y="10854"/>
                    <a:pt x="304044" y="-9032"/>
                    <a:pt x="500408" y="0"/>
                  </a:cubicBezTo>
                  <a:cubicBezTo>
                    <a:pt x="696772" y="9032"/>
                    <a:pt x="784973" y="305"/>
                    <a:pt x="1032758" y="0"/>
                  </a:cubicBezTo>
                  <a:cubicBezTo>
                    <a:pt x="1280543" y="-305"/>
                    <a:pt x="1409185" y="1471"/>
                    <a:pt x="1597048" y="0"/>
                  </a:cubicBezTo>
                  <a:cubicBezTo>
                    <a:pt x="1568034" y="174935"/>
                    <a:pt x="1590450" y="379204"/>
                    <a:pt x="1597048" y="660245"/>
                  </a:cubicBezTo>
                  <a:cubicBezTo>
                    <a:pt x="1603646" y="941287"/>
                    <a:pt x="1598489" y="1111144"/>
                    <a:pt x="1597048" y="1375510"/>
                  </a:cubicBezTo>
                  <a:cubicBezTo>
                    <a:pt x="1393369" y="1391511"/>
                    <a:pt x="1255067" y="1401463"/>
                    <a:pt x="1064699" y="1375510"/>
                  </a:cubicBezTo>
                  <a:cubicBezTo>
                    <a:pt x="874331" y="1349557"/>
                    <a:pt x="671221" y="1377259"/>
                    <a:pt x="564290" y="1375510"/>
                  </a:cubicBezTo>
                  <a:cubicBezTo>
                    <a:pt x="457359" y="1373761"/>
                    <a:pt x="123976" y="1353827"/>
                    <a:pt x="0" y="1375510"/>
                  </a:cubicBezTo>
                  <a:cubicBezTo>
                    <a:pt x="32607" y="1113299"/>
                    <a:pt x="29826" y="923599"/>
                    <a:pt x="0" y="701510"/>
                  </a:cubicBezTo>
                  <a:cubicBezTo>
                    <a:pt x="-29826" y="479421"/>
                    <a:pt x="-2856" y="278298"/>
                    <a:pt x="0" y="0"/>
                  </a:cubicBezTo>
                  <a:close/>
                </a:path>
                <a:path w="1597048" h="1375510"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602363" y="324566"/>
                    <a:pt x="1591425" y="351196"/>
                    <a:pt x="1597048" y="674000"/>
                  </a:cubicBezTo>
                  <a:cubicBezTo>
                    <a:pt x="1602671" y="996804"/>
                    <a:pt x="1612051" y="1224502"/>
                    <a:pt x="1597048" y="1375510"/>
                  </a:cubicBezTo>
                  <a:cubicBezTo>
                    <a:pt x="1391546" y="1377589"/>
                    <a:pt x="1274479" y="1369659"/>
                    <a:pt x="1096640" y="1375510"/>
                  </a:cubicBezTo>
                  <a:cubicBezTo>
                    <a:pt x="918801" y="1381361"/>
                    <a:pt x="701596" y="1357372"/>
                    <a:pt x="548320" y="1375510"/>
                  </a:cubicBezTo>
                  <a:cubicBezTo>
                    <a:pt x="395044" y="1393648"/>
                    <a:pt x="256213" y="1371389"/>
                    <a:pt x="0" y="1375510"/>
                  </a:cubicBezTo>
                  <a:cubicBezTo>
                    <a:pt x="-3496" y="1237855"/>
                    <a:pt x="-24665" y="865482"/>
                    <a:pt x="0" y="729020"/>
                  </a:cubicBezTo>
                  <a:cubicBezTo>
                    <a:pt x="24665" y="592558"/>
                    <a:pt x="-24162" y="314314"/>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5" name="Graphic 4" descr="Brain with solid fill">
              <a:extLst>
                <a:ext uri="{FF2B5EF4-FFF2-40B4-BE49-F238E27FC236}">
                  <a16:creationId xmlns:a16="http://schemas.microsoft.com/office/drawing/2014/main" id="{F21DA548-5AF0-B98F-EC50-9E9D8E114DB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2059699" y="2419229"/>
              <a:ext cx="525158" cy="525158"/>
            </a:xfrm>
            <a:prstGeom prst="rect">
              <a:avLst/>
            </a:prstGeom>
          </p:spPr>
        </p:pic>
        <p:pic>
          <p:nvPicPr>
            <p:cNvPr id="24" name="Graphic 23" descr="Rat met effen opvulling">
              <a:extLst>
                <a:ext uri="{FF2B5EF4-FFF2-40B4-BE49-F238E27FC236}">
                  <a16:creationId xmlns:a16="http://schemas.microsoft.com/office/drawing/2014/main" id="{4AAE7847-EEA7-B885-E892-059F061FF60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9913" y="2275320"/>
              <a:ext cx="718743" cy="718743"/>
            </a:xfrm>
            <a:prstGeom prst="rect">
              <a:avLst/>
            </a:prstGeom>
          </p:spPr>
        </p:pic>
        <p:sp>
          <p:nvSpPr>
            <p:cNvPr id="25" name="Tekstvak 37">
              <a:extLst>
                <a:ext uri="{FF2B5EF4-FFF2-40B4-BE49-F238E27FC236}">
                  <a16:creationId xmlns:a16="http://schemas.microsoft.com/office/drawing/2014/main" id="{63C6D3D7-FDF2-AB92-EC4C-025B10713D18}"/>
                </a:ext>
              </a:extLst>
            </p:cNvPr>
            <p:cNvSpPr txBox="1"/>
            <p:nvPr/>
          </p:nvSpPr>
          <p:spPr>
            <a:xfrm>
              <a:off x="1103506" y="2904949"/>
              <a:ext cx="1530894" cy="523220"/>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Brain tissues </a:t>
              </a:r>
              <a:r>
                <a:rPr lang="nl-BE" sz="1400" b="1" err="1">
                  <a:solidFill>
                    <a:srgbClr val="005E77"/>
                  </a:solidFill>
                  <a:latin typeface="Arial" panose="020B0604020202020204" pitchFamily="34" charset="0"/>
                  <a:cs typeface="Arial" panose="020B0604020202020204" pitchFamily="34" charset="0"/>
                </a:rPr>
                <a:t>from</a:t>
              </a:r>
              <a:r>
                <a:rPr lang="nl-BE" sz="1400" b="1">
                  <a:solidFill>
                    <a:srgbClr val="005E77"/>
                  </a:solidFill>
                  <a:latin typeface="Arial" panose="020B0604020202020204" pitchFamily="34" charset="0"/>
                  <a:cs typeface="Arial" panose="020B0604020202020204" pitchFamily="34" charset="0"/>
                </a:rPr>
                <a:t> rats</a:t>
              </a:r>
            </a:p>
          </p:txBody>
        </p:sp>
      </p:grpSp>
      <p:grpSp>
        <p:nvGrpSpPr>
          <p:cNvPr id="14" name="Group 13">
            <a:extLst>
              <a:ext uri="{FF2B5EF4-FFF2-40B4-BE49-F238E27FC236}">
                <a16:creationId xmlns:a16="http://schemas.microsoft.com/office/drawing/2014/main" id="{67DA0D4E-E630-AD35-5975-4825564472BF}"/>
              </a:ext>
            </a:extLst>
          </p:cNvPr>
          <p:cNvGrpSpPr/>
          <p:nvPr/>
        </p:nvGrpSpPr>
        <p:grpSpPr>
          <a:xfrm>
            <a:off x="5357949" y="2583670"/>
            <a:ext cx="1689448" cy="820786"/>
            <a:chOff x="5328144" y="4093536"/>
            <a:chExt cx="1689448" cy="820786"/>
          </a:xfrm>
        </p:grpSpPr>
        <p:sp>
          <p:nvSpPr>
            <p:cNvPr id="31" name="Rectangle 30">
              <a:extLst>
                <a:ext uri="{FF2B5EF4-FFF2-40B4-BE49-F238E27FC236}">
                  <a16:creationId xmlns:a16="http://schemas.microsoft.com/office/drawing/2014/main" id="{760C3AA3-154F-0116-FB31-DC6FD201DED0}"/>
                </a:ext>
              </a:extLst>
            </p:cNvPr>
            <p:cNvSpPr/>
            <p:nvPr/>
          </p:nvSpPr>
          <p:spPr>
            <a:xfrm>
              <a:off x="5328144" y="4093536"/>
              <a:ext cx="1689448" cy="820786"/>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32" name="Tekstvak 37">
              <a:extLst>
                <a:ext uri="{FF2B5EF4-FFF2-40B4-BE49-F238E27FC236}">
                  <a16:creationId xmlns:a16="http://schemas.microsoft.com/office/drawing/2014/main" id="{F63C6D05-F19B-4B08-577F-A300F8296AD2}"/>
                </a:ext>
              </a:extLst>
            </p:cNvPr>
            <p:cNvSpPr txBox="1"/>
            <p:nvPr/>
          </p:nvSpPr>
          <p:spPr>
            <a:xfrm>
              <a:off x="5771479" y="4345950"/>
              <a:ext cx="1199946" cy="307777"/>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Sequencing</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pic>
          <p:nvPicPr>
            <p:cNvPr id="33" name="Graphic 32" descr="Onderzoek met effen opvulling">
              <a:extLst>
                <a:ext uri="{FF2B5EF4-FFF2-40B4-BE49-F238E27FC236}">
                  <a16:creationId xmlns:a16="http://schemas.microsoft.com/office/drawing/2014/main" id="{0B0CB813-2A6C-014B-19CE-21C4308F327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41601" y="4253561"/>
              <a:ext cx="465645" cy="465645"/>
            </a:xfrm>
            <a:prstGeom prst="rect">
              <a:avLst/>
            </a:prstGeom>
          </p:spPr>
        </p:pic>
      </p:grpSp>
      <p:grpSp>
        <p:nvGrpSpPr>
          <p:cNvPr id="13" name="Group 12">
            <a:extLst>
              <a:ext uri="{FF2B5EF4-FFF2-40B4-BE49-F238E27FC236}">
                <a16:creationId xmlns:a16="http://schemas.microsoft.com/office/drawing/2014/main" id="{47734736-356F-D430-6175-5924CFFE28F8}"/>
              </a:ext>
            </a:extLst>
          </p:cNvPr>
          <p:cNvGrpSpPr/>
          <p:nvPr/>
        </p:nvGrpSpPr>
        <p:grpSpPr>
          <a:xfrm>
            <a:off x="5371406" y="4517345"/>
            <a:ext cx="1689448" cy="718743"/>
            <a:chOff x="5318101" y="2821069"/>
            <a:chExt cx="1689448" cy="718743"/>
          </a:xfrm>
        </p:grpSpPr>
        <p:sp>
          <p:nvSpPr>
            <p:cNvPr id="39" name="Rectangle 38">
              <a:extLst>
                <a:ext uri="{FF2B5EF4-FFF2-40B4-BE49-F238E27FC236}">
                  <a16:creationId xmlns:a16="http://schemas.microsoft.com/office/drawing/2014/main" id="{5ABAA43C-7B60-8BA0-FC1A-0545D00C393C}"/>
                </a:ext>
              </a:extLst>
            </p:cNvPr>
            <p:cNvSpPr/>
            <p:nvPr/>
          </p:nvSpPr>
          <p:spPr>
            <a:xfrm>
              <a:off x="5318101" y="2821069"/>
              <a:ext cx="1689448" cy="718743"/>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40" name="Tekstvak 37">
              <a:extLst>
                <a:ext uri="{FF2B5EF4-FFF2-40B4-BE49-F238E27FC236}">
                  <a16:creationId xmlns:a16="http://schemas.microsoft.com/office/drawing/2014/main" id="{F1807201-60C6-ECE0-3719-0C7FBDFC4090}"/>
                </a:ext>
              </a:extLst>
            </p:cNvPr>
            <p:cNvSpPr txBox="1"/>
            <p:nvPr/>
          </p:nvSpPr>
          <p:spPr>
            <a:xfrm>
              <a:off x="5744790" y="3018652"/>
              <a:ext cx="1190222" cy="307777"/>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Microscopy</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pic>
          <p:nvPicPr>
            <p:cNvPr id="41" name="Graphic 40" descr="Microscoop met effen opvulling">
              <a:extLst>
                <a:ext uri="{FF2B5EF4-FFF2-40B4-BE49-F238E27FC236}">
                  <a16:creationId xmlns:a16="http://schemas.microsoft.com/office/drawing/2014/main" id="{D16307F5-062A-A0C7-33DC-ECF376281DA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337964" y="2939466"/>
              <a:ext cx="386963" cy="386963"/>
            </a:xfrm>
            <a:prstGeom prst="rect">
              <a:avLst/>
            </a:prstGeom>
          </p:spPr>
        </p:pic>
      </p:grpSp>
      <p:grpSp>
        <p:nvGrpSpPr>
          <p:cNvPr id="12" name="Group 11">
            <a:extLst>
              <a:ext uri="{FF2B5EF4-FFF2-40B4-BE49-F238E27FC236}">
                <a16:creationId xmlns:a16="http://schemas.microsoft.com/office/drawing/2014/main" id="{A11E9D6E-A72C-C6DB-68D8-056A768F4BBB}"/>
              </a:ext>
            </a:extLst>
          </p:cNvPr>
          <p:cNvGrpSpPr/>
          <p:nvPr/>
        </p:nvGrpSpPr>
        <p:grpSpPr>
          <a:xfrm>
            <a:off x="989727" y="4110362"/>
            <a:ext cx="1824607" cy="1597459"/>
            <a:chOff x="989727" y="4110362"/>
            <a:chExt cx="1824607" cy="1597459"/>
          </a:xfrm>
        </p:grpSpPr>
        <p:sp>
          <p:nvSpPr>
            <p:cNvPr id="6" name="Rectangle 5">
              <a:extLst>
                <a:ext uri="{FF2B5EF4-FFF2-40B4-BE49-F238E27FC236}">
                  <a16:creationId xmlns:a16="http://schemas.microsoft.com/office/drawing/2014/main" id="{AA1CD695-D781-9801-ED2F-E208A5F63D7B}"/>
                </a:ext>
              </a:extLst>
            </p:cNvPr>
            <p:cNvSpPr/>
            <p:nvPr/>
          </p:nvSpPr>
          <p:spPr>
            <a:xfrm>
              <a:off x="1103507" y="4110362"/>
              <a:ext cx="1597048" cy="1534487"/>
            </a:xfrm>
            <a:custGeom>
              <a:avLst/>
              <a:gdLst>
                <a:gd name="connsiteX0" fmla="*/ 0 w 1597048"/>
                <a:gd name="connsiteY0" fmla="*/ 0 h 1534487"/>
                <a:gd name="connsiteX1" fmla="*/ 516379 w 1597048"/>
                <a:gd name="connsiteY1" fmla="*/ 0 h 1534487"/>
                <a:gd name="connsiteX2" fmla="*/ 1048728 w 1597048"/>
                <a:gd name="connsiteY2" fmla="*/ 0 h 1534487"/>
                <a:gd name="connsiteX3" fmla="*/ 1597048 w 1597048"/>
                <a:gd name="connsiteY3" fmla="*/ 0 h 1534487"/>
                <a:gd name="connsiteX4" fmla="*/ 1597048 w 1597048"/>
                <a:gd name="connsiteY4" fmla="*/ 465461 h 1534487"/>
                <a:gd name="connsiteX5" fmla="*/ 1597048 w 1597048"/>
                <a:gd name="connsiteY5" fmla="*/ 961612 h 1534487"/>
                <a:gd name="connsiteX6" fmla="*/ 1597048 w 1597048"/>
                <a:gd name="connsiteY6" fmla="*/ 1534487 h 1534487"/>
                <a:gd name="connsiteX7" fmla="*/ 1064699 w 1597048"/>
                <a:gd name="connsiteY7" fmla="*/ 1534487 h 1534487"/>
                <a:gd name="connsiteX8" fmla="*/ 516379 w 1597048"/>
                <a:gd name="connsiteY8" fmla="*/ 1534487 h 1534487"/>
                <a:gd name="connsiteX9" fmla="*/ 0 w 1597048"/>
                <a:gd name="connsiteY9" fmla="*/ 1534487 h 1534487"/>
                <a:gd name="connsiteX10" fmla="*/ 0 w 1597048"/>
                <a:gd name="connsiteY10" fmla="*/ 1038336 h 1534487"/>
                <a:gd name="connsiteX11" fmla="*/ 0 w 1597048"/>
                <a:gd name="connsiteY11" fmla="*/ 542185 h 1534487"/>
                <a:gd name="connsiteX12" fmla="*/ 0 w 1597048"/>
                <a:gd name="connsiteY12" fmla="*/ 0 h 153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7048" h="1534487" fill="none" extrusionOk="0">
                  <a:moveTo>
                    <a:pt x="0" y="0"/>
                  </a:moveTo>
                  <a:cubicBezTo>
                    <a:pt x="249000" y="2568"/>
                    <a:pt x="367784" y="-21090"/>
                    <a:pt x="516379" y="0"/>
                  </a:cubicBezTo>
                  <a:cubicBezTo>
                    <a:pt x="664974" y="21090"/>
                    <a:pt x="792545" y="16333"/>
                    <a:pt x="1048728" y="0"/>
                  </a:cubicBezTo>
                  <a:cubicBezTo>
                    <a:pt x="1304911" y="-16333"/>
                    <a:pt x="1374597" y="-7712"/>
                    <a:pt x="1597048" y="0"/>
                  </a:cubicBezTo>
                  <a:cubicBezTo>
                    <a:pt x="1610993" y="203995"/>
                    <a:pt x="1575430" y="335316"/>
                    <a:pt x="1597048" y="465461"/>
                  </a:cubicBezTo>
                  <a:cubicBezTo>
                    <a:pt x="1618666" y="595606"/>
                    <a:pt x="1587796" y="729718"/>
                    <a:pt x="1597048" y="961612"/>
                  </a:cubicBezTo>
                  <a:cubicBezTo>
                    <a:pt x="1606300" y="1193506"/>
                    <a:pt x="1594701" y="1342521"/>
                    <a:pt x="1597048" y="1534487"/>
                  </a:cubicBezTo>
                  <a:cubicBezTo>
                    <a:pt x="1397725" y="1530724"/>
                    <a:pt x="1317763" y="1537175"/>
                    <a:pt x="1064699" y="1534487"/>
                  </a:cubicBezTo>
                  <a:cubicBezTo>
                    <a:pt x="811635" y="1531799"/>
                    <a:pt x="757025" y="1546358"/>
                    <a:pt x="516379" y="1534487"/>
                  </a:cubicBezTo>
                  <a:cubicBezTo>
                    <a:pt x="275733" y="1522616"/>
                    <a:pt x="157925" y="1534244"/>
                    <a:pt x="0" y="1534487"/>
                  </a:cubicBezTo>
                  <a:cubicBezTo>
                    <a:pt x="-20107" y="1294315"/>
                    <a:pt x="1108" y="1232402"/>
                    <a:pt x="0" y="1038336"/>
                  </a:cubicBezTo>
                  <a:cubicBezTo>
                    <a:pt x="-1108" y="844270"/>
                    <a:pt x="-2607" y="749275"/>
                    <a:pt x="0" y="542185"/>
                  </a:cubicBezTo>
                  <a:cubicBezTo>
                    <a:pt x="2607" y="335095"/>
                    <a:pt x="8112" y="250193"/>
                    <a:pt x="0" y="0"/>
                  </a:cubicBezTo>
                  <a:close/>
                </a:path>
                <a:path w="1597048" h="1534487" stroke="0" extrusionOk="0">
                  <a:moveTo>
                    <a:pt x="0" y="0"/>
                  </a:moveTo>
                  <a:cubicBezTo>
                    <a:pt x="216077" y="155"/>
                    <a:pt x="415885" y="-9645"/>
                    <a:pt x="548320" y="0"/>
                  </a:cubicBezTo>
                  <a:cubicBezTo>
                    <a:pt x="680755" y="9645"/>
                    <a:pt x="974075" y="20746"/>
                    <a:pt x="1112610" y="0"/>
                  </a:cubicBezTo>
                  <a:cubicBezTo>
                    <a:pt x="1251145" y="-20746"/>
                    <a:pt x="1427468" y="13147"/>
                    <a:pt x="1597048" y="0"/>
                  </a:cubicBezTo>
                  <a:cubicBezTo>
                    <a:pt x="1597112" y="115568"/>
                    <a:pt x="1575650" y="277295"/>
                    <a:pt x="1597048" y="496151"/>
                  </a:cubicBezTo>
                  <a:cubicBezTo>
                    <a:pt x="1618446" y="715007"/>
                    <a:pt x="1621983" y="793120"/>
                    <a:pt x="1597048" y="1022991"/>
                  </a:cubicBezTo>
                  <a:cubicBezTo>
                    <a:pt x="1572113" y="1252862"/>
                    <a:pt x="1619802" y="1430328"/>
                    <a:pt x="1597048" y="1534487"/>
                  </a:cubicBezTo>
                  <a:cubicBezTo>
                    <a:pt x="1452392" y="1534443"/>
                    <a:pt x="1242131" y="1526534"/>
                    <a:pt x="1112610" y="1534487"/>
                  </a:cubicBezTo>
                  <a:cubicBezTo>
                    <a:pt x="983089" y="1542440"/>
                    <a:pt x="702217" y="1555286"/>
                    <a:pt x="580261" y="1534487"/>
                  </a:cubicBezTo>
                  <a:cubicBezTo>
                    <a:pt x="458305" y="1513688"/>
                    <a:pt x="270225" y="1522641"/>
                    <a:pt x="0" y="1534487"/>
                  </a:cubicBezTo>
                  <a:cubicBezTo>
                    <a:pt x="17644" y="1283645"/>
                    <a:pt x="24255" y="1130562"/>
                    <a:pt x="0" y="992302"/>
                  </a:cubicBezTo>
                  <a:cubicBezTo>
                    <a:pt x="-24255" y="854042"/>
                    <a:pt x="8086" y="718113"/>
                    <a:pt x="0" y="511496"/>
                  </a:cubicBezTo>
                  <a:cubicBezTo>
                    <a:pt x="-8086" y="304879"/>
                    <a:pt x="19372" y="145410"/>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3726808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10" name="Graphic 9" descr="Man met effen opvulling">
              <a:extLst>
                <a:ext uri="{FF2B5EF4-FFF2-40B4-BE49-F238E27FC236}">
                  <a16:creationId xmlns:a16="http://schemas.microsoft.com/office/drawing/2014/main" id="{9DBB3501-380A-6B52-9AE9-85E868B8FFB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24019" y="4162027"/>
              <a:ext cx="540000" cy="540000"/>
            </a:xfrm>
            <a:prstGeom prst="rect">
              <a:avLst/>
            </a:prstGeom>
          </p:spPr>
        </p:pic>
        <p:sp>
          <p:nvSpPr>
            <p:cNvPr id="8" name="Tekstvak 37">
              <a:extLst>
                <a:ext uri="{FF2B5EF4-FFF2-40B4-BE49-F238E27FC236}">
                  <a16:creationId xmlns:a16="http://schemas.microsoft.com/office/drawing/2014/main" id="{22B5FA6C-B843-5503-7A22-A9656892F386}"/>
                </a:ext>
              </a:extLst>
            </p:cNvPr>
            <p:cNvSpPr txBox="1"/>
            <p:nvPr/>
          </p:nvSpPr>
          <p:spPr>
            <a:xfrm>
              <a:off x="989727" y="4722936"/>
              <a:ext cx="1824607" cy="984885"/>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Brain tissue </a:t>
              </a:r>
              <a:r>
                <a:rPr lang="nl-BE" sz="1400" b="1" err="1">
                  <a:solidFill>
                    <a:srgbClr val="005E77"/>
                  </a:solidFill>
                  <a:latin typeface="Arial" panose="020B0604020202020204" pitchFamily="34" charset="0"/>
                  <a:cs typeface="Arial" panose="020B0604020202020204" pitchFamily="34" charset="0"/>
                </a:rPr>
                <a:t>from</a:t>
              </a:r>
              <a:r>
                <a:rPr lang="nl-BE" sz="1400" b="1">
                  <a:solidFill>
                    <a:srgbClr val="005E77"/>
                  </a:solidFill>
                  <a:latin typeface="Arial" panose="020B0604020202020204" pitchFamily="34" charset="0"/>
                  <a:cs typeface="Arial" panose="020B0604020202020204" pitchFamily="34" charset="0"/>
                </a:rPr>
                <a:t> post-</a:t>
              </a:r>
              <a:r>
                <a:rPr lang="nl-BE" sz="1400" b="1" err="1">
                  <a:solidFill>
                    <a:srgbClr val="005E77"/>
                  </a:solidFill>
                  <a:latin typeface="Arial" panose="020B0604020202020204" pitchFamily="34" charset="0"/>
                  <a:cs typeface="Arial" panose="020B0604020202020204" pitchFamily="34" charset="0"/>
                </a:rPr>
                <a:t>mortem</a:t>
              </a:r>
              <a:r>
                <a:rPr lang="nl-BE" sz="1400" b="1">
                  <a:solidFill>
                    <a:srgbClr val="005E77"/>
                  </a:solidFill>
                  <a:latin typeface="Arial" panose="020B0604020202020204" pitchFamily="34" charset="0"/>
                  <a:cs typeface="Arial" panose="020B0604020202020204" pitchFamily="34" charset="0"/>
                </a:rPr>
                <a:t> </a:t>
              </a:r>
              <a:r>
                <a:rPr lang="nl-BE" sz="1400" b="1" err="1">
                  <a:solidFill>
                    <a:srgbClr val="005E77"/>
                  </a:solidFill>
                  <a:latin typeface="Arial" panose="020B0604020202020204" pitchFamily="34" charset="0"/>
                  <a:cs typeface="Arial" panose="020B0604020202020204" pitchFamily="34" charset="0"/>
                </a:rPr>
                <a:t>Patients</a:t>
              </a:r>
              <a:endParaRPr lang="nl-BE" sz="1400" b="1">
                <a:solidFill>
                  <a:srgbClr val="005E77"/>
                </a:solidFill>
                <a:latin typeface="Arial" panose="020B0604020202020204" pitchFamily="34" charset="0"/>
                <a:cs typeface="Arial" panose="020B0604020202020204" pitchFamily="34" charset="0"/>
              </a:endParaRPr>
            </a:p>
            <a:p>
              <a:pPr algn="ctr"/>
              <a:endParaRPr lang="nl-BE" sz="1600">
                <a:solidFill>
                  <a:srgbClr val="005E77"/>
                </a:solidFill>
                <a:latin typeface="Arial" panose="020B0604020202020204" pitchFamily="34" charset="0"/>
                <a:cs typeface="Arial" panose="020B0604020202020204" pitchFamily="34" charset="0"/>
              </a:endParaRPr>
            </a:p>
          </p:txBody>
        </p:sp>
        <p:pic>
          <p:nvPicPr>
            <p:cNvPr id="9" name="Graphic 8" descr="Brain with solid fill">
              <a:extLst>
                <a:ext uri="{FF2B5EF4-FFF2-40B4-BE49-F238E27FC236}">
                  <a16:creationId xmlns:a16="http://schemas.microsoft.com/office/drawing/2014/main" id="{C4F1D062-4562-431A-3B1C-8235AB9E16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1969708" y="4198861"/>
              <a:ext cx="525158" cy="525158"/>
            </a:xfrm>
            <a:prstGeom prst="rect">
              <a:avLst/>
            </a:prstGeom>
          </p:spPr>
        </p:pic>
      </p:grpSp>
    </p:spTree>
    <p:extLst>
      <p:ext uri="{BB962C8B-B14F-4D97-AF65-F5344CB8AC3E}">
        <p14:creationId xmlns:p14="http://schemas.microsoft.com/office/powerpoint/2010/main" val="1781518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36DD6-2E8F-20AE-F1F5-A0D6CDB4EE3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A372BF1-7198-E130-E7AF-9234149DBB52}"/>
              </a:ext>
            </a:extLst>
          </p:cNvPr>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816106" y="523953"/>
            <a:ext cx="921893" cy="921600"/>
          </a:xfrm>
          <a:prstGeom prst="ellipse">
            <a:avLst/>
          </a:prstGeom>
        </p:spPr>
      </p:pic>
      <p:sp>
        <p:nvSpPr>
          <p:cNvPr id="2" name="Title 1">
            <a:extLst>
              <a:ext uri="{FF2B5EF4-FFF2-40B4-BE49-F238E27FC236}">
                <a16:creationId xmlns:a16="http://schemas.microsoft.com/office/drawing/2014/main" id="{CDC31AAD-9F68-4C18-F6F3-6EA5A260B358}"/>
              </a:ext>
            </a:extLst>
          </p:cNvPr>
          <p:cNvSpPr>
            <a:spLocks noGrp="1"/>
          </p:cNvSpPr>
          <p:nvPr>
            <p:ph type="title"/>
          </p:nvPr>
        </p:nvSpPr>
        <p:spPr/>
        <p:txBody>
          <a:bodyPr/>
          <a:lstStyle/>
          <a:p>
            <a:r>
              <a:rPr lang="en-US"/>
              <a:t>Exercise 2: Build a Dataflow – example </a:t>
            </a:r>
            <a:br>
              <a:rPr lang="en-US"/>
            </a:br>
            <a:r>
              <a:rPr lang="en-US"/>
              <a:t>Jie’s project</a:t>
            </a:r>
            <a:endParaRPr lang="en-GB"/>
          </a:p>
        </p:txBody>
      </p:sp>
      <p:sp>
        <p:nvSpPr>
          <p:cNvPr id="4" name="Slide Number Placeholder 3">
            <a:extLst>
              <a:ext uri="{FF2B5EF4-FFF2-40B4-BE49-F238E27FC236}">
                <a16:creationId xmlns:a16="http://schemas.microsoft.com/office/drawing/2014/main" id="{A7908CEB-EA85-7DF3-346E-0C0DDF361605}"/>
              </a:ext>
            </a:extLst>
          </p:cNvPr>
          <p:cNvSpPr>
            <a:spLocks noGrp="1"/>
          </p:cNvSpPr>
          <p:nvPr>
            <p:ph type="sldNum" sz="quarter" idx="12"/>
          </p:nvPr>
        </p:nvSpPr>
        <p:spPr>
          <a:prstGeom prst="rect">
            <a:avLst/>
          </a:prstGeom>
        </p:spPr>
        <p:txBody>
          <a:bodyPr/>
          <a:lstStyle/>
          <a:p>
            <a:fld id="{CC571AF6-6671-4538-974D-3AEC00AC0B82}" type="slidenum">
              <a:rPr lang="en-GB" smtClean="0"/>
              <a:t>22</a:t>
            </a:fld>
            <a:endParaRPr lang="en-GB"/>
          </a:p>
        </p:txBody>
      </p:sp>
      <p:sp>
        <p:nvSpPr>
          <p:cNvPr id="72" name="TextBox 71">
            <a:extLst>
              <a:ext uri="{FF2B5EF4-FFF2-40B4-BE49-F238E27FC236}">
                <a16:creationId xmlns:a16="http://schemas.microsoft.com/office/drawing/2014/main" id="{E829E7EA-886B-5208-8018-7640FE3536ED}"/>
              </a:ext>
            </a:extLst>
          </p:cNvPr>
          <p:cNvSpPr txBox="1"/>
          <p:nvPr/>
        </p:nvSpPr>
        <p:spPr>
          <a:xfrm>
            <a:off x="10575068" y="5773794"/>
            <a:ext cx="1378800" cy="276999"/>
          </a:xfrm>
          <a:prstGeom prst="rect">
            <a:avLst/>
          </a:prstGeom>
          <a:solidFill>
            <a:srgbClr val="FFDF7F"/>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defRPr sz="1200" b="1">
                <a:solidFill>
                  <a:srgbClr val="005E77"/>
                </a:solidFill>
                <a:cs typeface="Arial" panose="020B0604020202020204" pitchFamily="34" charset="0"/>
              </a:defRPr>
            </a:lvl1pPr>
          </a:lstStyle>
          <a:p>
            <a:pPr algn="ctr"/>
            <a:r>
              <a:rPr lang="en-US" sz="1600" b="0"/>
              <a:t>Steps</a:t>
            </a:r>
            <a:endParaRPr lang="nl-BE" sz="1600" b="0"/>
          </a:p>
        </p:txBody>
      </p:sp>
      <p:sp>
        <p:nvSpPr>
          <p:cNvPr id="73" name="TextBox 72">
            <a:extLst>
              <a:ext uri="{FF2B5EF4-FFF2-40B4-BE49-F238E27FC236}">
                <a16:creationId xmlns:a16="http://schemas.microsoft.com/office/drawing/2014/main" id="{BDA5DC6C-A5CE-8BE8-703E-453D049893CA}"/>
              </a:ext>
            </a:extLst>
          </p:cNvPr>
          <p:cNvSpPr txBox="1"/>
          <p:nvPr/>
        </p:nvSpPr>
        <p:spPr>
          <a:xfrm>
            <a:off x="10575068" y="5400776"/>
            <a:ext cx="1378800" cy="276999"/>
          </a:xfrm>
          <a:prstGeom prst="rect">
            <a:avLst/>
          </a:prstGeom>
          <a:solidFill>
            <a:srgbClr val="A8DEF5"/>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buFont typeface="Arial" panose="020B0604020202020204" pitchFamily="34" charset="0"/>
              <a:buChar char="•"/>
              <a:defRPr sz="1200" b="0">
                <a:solidFill>
                  <a:srgbClr val="005E77"/>
                </a:solidFill>
              </a:defRPr>
            </a:lvl1pPr>
          </a:lstStyle>
          <a:p>
            <a:pPr algn="ctr">
              <a:buNone/>
            </a:pPr>
            <a:r>
              <a:rPr lang="en-US" sz="1600"/>
              <a:t>Data points</a:t>
            </a:r>
            <a:endParaRPr lang="nl-BE" sz="1600"/>
          </a:p>
        </p:txBody>
      </p:sp>
      <p:grpSp>
        <p:nvGrpSpPr>
          <p:cNvPr id="15" name="Group 14">
            <a:extLst>
              <a:ext uri="{FF2B5EF4-FFF2-40B4-BE49-F238E27FC236}">
                <a16:creationId xmlns:a16="http://schemas.microsoft.com/office/drawing/2014/main" id="{AB8B5A59-0272-4F26-F13F-F9D282494382}"/>
              </a:ext>
            </a:extLst>
          </p:cNvPr>
          <p:cNvGrpSpPr/>
          <p:nvPr/>
        </p:nvGrpSpPr>
        <p:grpSpPr>
          <a:xfrm>
            <a:off x="10272593" y="2880628"/>
            <a:ext cx="1689448" cy="1914101"/>
            <a:chOff x="10301046" y="2699087"/>
            <a:chExt cx="1689448" cy="1914101"/>
          </a:xfrm>
        </p:grpSpPr>
        <p:sp>
          <p:nvSpPr>
            <p:cNvPr id="65" name="Rectangle 64">
              <a:extLst>
                <a:ext uri="{FF2B5EF4-FFF2-40B4-BE49-F238E27FC236}">
                  <a16:creationId xmlns:a16="http://schemas.microsoft.com/office/drawing/2014/main" id="{E43FA87E-9DC9-B769-DE67-D086D79AFCD5}"/>
                </a:ext>
              </a:extLst>
            </p:cNvPr>
            <p:cNvSpPr/>
            <p:nvPr/>
          </p:nvSpPr>
          <p:spPr>
            <a:xfrm>
              <a:off x="10301046" y="2699087"/>
              <a:ext cx="1689448" cy="1914101"/>
            </a:xfrm>
            <a:custGeom>
              <a:avLst/>
              <a:gdLst>
                <a:gd name="connsiteX0" fmla="*/ 0 w 1689448"/>
                <a:gd name="connsiteY0" fmla="*/ 0 h 1914101"/>
                <a:gd name="connsiteX1" fmla="*/ 596938 w 1689448"/>
                <a:gd name="connsiteY1" fmla="*/ 0 h 1914101"/>
                <a:gd name="connsiteX2" fmla="*/ 1193877 w 1689448"/>
                <a:gd name="connsiteY2" fmla="*/ 0 h 1914101"/>
                <a:gd name="connsiteX3" fmla="*/ 1689448 w 1689448"/>
                <a:gd name="connsiteY3" fmla="*/ 0 h 1914101"/>
                <a:gd name="connsiteX4" fmla="*/ 1689448 w 1689448"/>
                <a:gd name="connsiteY4" fmla="*/ 580611 h 1914101"/>
                <a:gd name="connsiteX5" fmla="*/ 1689448 w 1689448"/>
                <a:gd name="connsiteY5" fmla="*/ 1218644 h 1914101"/>
                <a:gd name="connsiteX6" fmla="*/ 1689448 w 1689448"/>
                <a:gd name="connsiteY6" fmla="*/ 1914101 h 1914101"/>
                <a:gd name="connsiteX7" fmla="*/ 1176982 w 1689448"/>
                <a:gd name="connsiteY7" fmla="*/ 1914101 h 1914101"/>
                <a:gd name="connsiteX8" fmla="*/ 664516 w 1689448"/>
                <a:gd name="connsiteY8" fmla="*/ 1914101 h 1914101"/>
                <a:gd name="connsiteX9" fmla="*/ 0 w 1689448"/>
                <a:gd name="connsiteY9" fmla="*/ 1914101 h 1914101"/>
                <a:gd name="connsiteX10" fmla="*/ 0 w 1689448"/>
                <a:gd name="connsiteY10" fmla="*/ 1333490 h 1914101"/>
                <a:gd name="connsiteX11" fmla="*/ 0 w 1689448"/>
                <a:gd name="connsiteY11" fmla="*/ 733739 h 1914101"/>
                <a:gd name="connsiteX12" fmla="*/ 0 w 1689448"/>
                <a:gd name="connsiteY12" fmla="*/ 0 h 191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9448" h="1914101" fill="none" extrusionOk="0">
                  <a:moveTo>
                    <a:pt x="0" y="0"/>
                  </a:moveTo>
                  <a:cubicBezTo>
                    <a:pt x="282978" y="-26075"/>
                    <a:pt x="420737" y="-9574"/>
                    <a:pt x="596938" y="0"/>
                  </a:cubicBezTo>
                  <a:cubicBezTo>
                    <a:pt x="773139" y="9574"/>
                    <a:pt x="965606" y="7737"/>
                    <a:pt x="1193877" y="0"/>
                  </a:cubicBezTo>
                  <a:cubicBezTo>
                    <a:pt x="1422148" y="-7737"/>
                    <a:pt x="1544480" y="15874"/>
                    <a:pt x="1689448" y="0"/>
                  </a:cubicBezTo>
                  <a:cubicBezTo>
                    <a:pt x="1668808" y="172363"/>
                    <a:pt x="1709828" y="305226"/>
                    <a:pt x="1689448" y="580611"/>
                  </a:cubicBezTo>
                  <a:cubicBezTo>
                    <a:pt x="1669068" y="855996"/>
                    <a:pt x="1710616" y="1050164"/>
                    <a:pt x="1689448" y="1218644"/>
                  </a:cubicBezTo>
                  <a:cubicBezTo>
                    <a:pt x="1668280" y="1387124"/>
                    <a:pt x="1677655" y="1575053"/>
                    <a:pt x="1689448" y="1914101"/>
                  </a:cubicBezTo>
                  <a:cubicBezTo>
                    <a:pt x="1553500" y="1937375"/>
                    <a:pt x="1394421" y="1926425"/>
                    <a:pt x="1176982" y="1914101"/>
                  </a:cubicBezTo>
                  <a:cubicBezTo>
                    <a:pt x="959543" y="1901777"/>
                    <a:pt x="866113" y="1934658"/>
                    <a:pt x="664516" y="1914101"/>
                  </a:cubicBezTo>
                  <a:cubicBezTo>
                    <a:pt x="462919" y="1893544"/>
                    <a:pt x="188297" y="1941367"/>
                    <a:pt x="0" y="1914101"/>
                  </a:cubicBezTo>
                  <a:cubicBezTo>
                    <a:pt x="19399" y="1673739"/>
                    <a:pt x="-23817" y="1507505"/>
                    <a:pt x="0" y="1333490"/>
                  </a:cubicBezTo>
                  <a:cubicBezTo>
                    <a:pt x="23817" y="1159475"/>
                    <a:pt x="23313" y="984937"/>
                    <a:pt x="0" y="733739"/>
                  </a:cubicBezTo>
                  <a:cubicBezTo>
                    <a:pt x="-23313" y="482541"/>
                    <a:pt x="-7244" y="294241"/>
                    <a:pt x="0" y="0"/>
                  </a:cubicBezTo>
                  <a:close/>
                </a:path>
                <a:path w="1689448" h="1914101" stroke="0" extrusionOk="0">
                  <a:moveTo>
                    <a:pt x="0" y="0"/>
                  </a:moveTo>
                  <a:cubicBezTo>
                    <a:pt x="288413" y="-24815"/>
                    <a:pt x="359102" y="-5622"/>
                    <a:pt x="580044" y="0"/>
                  </a:cubicBezTo>
                  <a:cubicBezTo>
                    <a:pt x="800986" y="5622"/>
                    <a:pt x="909953" y="-27907"/>
                    <a:pt x="1160088" y="0"/>
                  </a:cubicBezTo>
                  <a:cubicBezTo>
                    <a:pt x="1410223" y="27907"/>
                    <a:pt x="1531419" y="26467"/>
                    <a:pt x="1689448" y="0"/>
                  </a:cubicBezTo>
                  <a:cubicBezTo>
                    <a:pt x="1678339" y="309905"/>
                    <a:pt x="1719615" y="421529"/>
                    <a:pt x="1689448" y="676316"/>
                  </a:cubicBezTo>
                  <a:cubicBezTo>
                    <a:pt x="1659281" y="931103"/>
                    <a:pt x="1659018" y="1181664"/>
                    <a:pt x="1689448" y="1333490"/>
                  </a:cubicBezTo>
                  <a:cubicBezTo>
                    <a:pt x="1719878" y="1485316"/>
                    <a:pt x="1700465" y="1652417"/>
                    <a:pt x="1689448" y="1914101"/>
                  </a:cubicBezTo>
                  <a:cubicBezTo>
                    <a:pt x="1544573" y="1908383"/>
                    <a:pt x="1363449" y="1903746"/>
                    <a:pt x="1176982" y="1914101"/>
                  </a:cubicBezTo>
                  <a:cubicBezTo>
                    <a:pt x="990515" y="1924456"/>
                    <a:pt x="789137" y="1904645"/>
                    <a:pt x="596938" y="1914101"/>
                  </a:cubicBezTo>
                  <a:cubicBezTo>
                    <a:pt x="404739" y="1923557"/>
                    <a:pt x="123018" y="1893085"/>
                    <a:pt x="0" y="1914101"/>
                  </a:cubicBezTo>
                  <a:cubicBezTo>
                    <a:pt x="-7172" y="1681010"/>
                    <a:pt x="-6193" y="1444641"/>
                    <a:pt x="0" y="1256926"/>
                  </a:cubicBezTo>
                  <a:cubicBezTo>
                    <a:pt x="6193" y="1069212"/>
                    <a:pt x="-7372" y="775105"/>
                    <a:pt x="0" y="638034"/>
                  </a:cubicBezTo>
                  <a:cubicBezTo>
                    <a:pt x="7372" y="500963"/>
                    <a:pt x="4649" y="134059"/>
                    <a:pt x="0" y="0"/>
                  </a:cubicBezTo>
                  <a:close/>
                </a:path>
              </a:pathLst>
            </a:custGeom>
            <a:solidFill>
              <a:srgbClr val="52BDEC">
                <a:alpha val="50000"/>
              </a:srgbClr>
            </a:solidFill>
            <a:ln w="19050">
              <a:solidFill>
                <a:srgbClr val="005E77"/>
              </a:solidFill>
              <a:extLst>
                <a:ext uri="{C807C97D-BFC1-408E-A445-0C87EB9F89A2}">
                  <ask:lineSketchStyleProps xmlns:ask="http://schemas.microsoft.com/office/drawing/2018/sketchyshapes" sd="175670711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71" name="Tekstvak 37">
              <a:extLst>
                <a:ext uri="{FF2B5EF4-FFF2-40B4-BE49-F238E27FC236}">
                  <a16:creationId xmlns:a16="http://schemas.microsoft.com/office/drawing/2014/main" id="{00410D59-A280-A3F2-3327-CBF3150F3412}"/>
                </a:ext>
              </a:extLst>
            </p:cNvPr>
            <p:cNvSpPr txBox="1"/>
            <p:nvPr/>
          </p:nvSpPr>
          <p:spPr>
            <a:xfrm>
              <a:off x="10313220" y="3093846"/>
              <a:ext cx="1660309" cy="307777"/>
            </a:xfrm>
            <a:prstGeom prst="rect">
              <a:avLst/>
            </a:prstGeom>
            <a:noFill/>
          </p:spPr>
          <p:txBody>
            <a:bodyPr wrap="square" rtlCol="0">
              <a:spAutoFit/>
            </a:bodyPr>
            <a:lstStyle/>
            <a:p>
              <a:pPr algn="ctr"/>
              <a:r>
                <a:rPr lang="en-US" sz="1400">
                  <a:solidFill>
                    <a:srgbClr val="005E77"/>
                  </a:solidFill>
                  <a:latin typeface="Arial" panose="020B0604020202020204" pitchFamily="34" charset="0"/>
                  <a:cs typeface="Arial" panose="020B0604020202020204" pitchFamily="34" charset="0"/>
                </a:rPr>
                <a:t>Publication</a:t>
              </a:r>
            </a:p>
          </p:txBody>
        </p:sp>
        <p:pic>
          <p:nvPicPr>
            <p:cNvPr id="96" name="Graphic 95" descr="Krant met effen opvulling">
              <a:extLst>
                <a:ext uri="{FF2B5EF4-FFF2-40B4-BE49-F238E27FC236}">
                  <a16:creationId xmlns:a16="http://schemas.microsoft.com/office/drawing/2014/main" id="{3DDDD414-05DF-6BA4-6C92-CA2C26E9ED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89185" y="3497642"/>
              <a:ext cx="708377" cy="708377"/>
            </a:xfrm>
            <a:prstGeom prst="rect">
              <a:avLst/>
            </a:prstGeom>
          </p:spPr>
        </p:pic>
      </p:grpSp>
      <p:grpSp>
        <p:nvGrpSpPr>
          <p:cNvPr id="11" name="Group 10">
            <a:extLst>
              <a:ext uri="{FF2B5EF4-FFF2-40B4-BE49-F238E27FC236}">
                <a16:creationId xmlns:a16="http://schemas.microsoft.com/office/drawing/2014/main" id="{C069368F-5EA1-7766-9DEF-72232386D092}"/>
              </a:ext>
            </a:extLst>
          </p:cNvPr>
          <p:cNvGrpSpPr/>
          <p:nvPr/>
        </p:nvGrpSpPr>
        <p:grpSpPr>
          <a:xfrm>
            <a:off x="1103506" y="2275320"/>
            <a:ext cx="1597049" cy="1444230"/>
            <a:chOff x="1103506" y="2275320"/>
            <a:chExt cx="1597049" cy="1444230"/>
          </a:xfrm>
        </p:grpSpPr>
        <p:sp>
          <p:nvSpPr>
            <p:cNvPr id="66" name="Rectangle 65">
              <a:extLst>
                <a:ext uri="{FF2B5EF4-FFF2-40B4-BE49-F238E27FC236}">
                  <a16:creationId xmlns:a16="http://schemas.microsoft.com/office/drawing/2014/main" id="{622450E1-625D-6CC4-AA4C-2F2A7DC793D2}"/>
                </a:ext>
              </a:extLst>
            </p:cNvPr>
            <p:cNvSpPr/>
            <p:nvPr/>
          </p:nvSpPr>
          <p:spPr>
            <a:xfrm>
              <a:off x="1103507" y="2344040"/>
              <a:ext cx="1597048" cy="1375510"/>
            </a:xfrm>
            <a:custGeom>
              <a:avLst/>
              <a:gdLst>
                <a:gd name="connsiteX0" fmla="*/ 0 w 1597048"/>
                <a:gd name="connsiteY0" fmla="*/ 0 h 1375510"/>
                <a:gd name="connsiteX1" fmla="*/ 500408 w 1597048"/>
                <a:gd name="connsiteY1" fmla="*/ 0 h 1375510"/>
                <a:gd name="connsiteX2" fmla="*/ 1032758 w 1597048"/>
                <a:gd name="connsiteY2" fmla="*/ 0 h 1375510"/>
                <a:gd name="connsiteX3" fmla="*/ 1597048 w 1597048"/>
                <a:gd name="connsiteY3" fmla="*/ 0 h 1375510"/>
                <a:gd name="connsiteX4" fmla="*/ 1597048 w 1597048"/>
                <a:gd name="connsiteY4" fmla="*/ 660245 h 1375510"/>
                <a:gd name="connsiteX5" fmla="*/ 1597048 w 1597048"/>
                <a:gd name="connsiteY5" fmla="*/ 1375510 h 1375510"/>
                <a:gd name="connsiteX6" fmla="*/ 1064699 w 1597048"/>
                <a:gd name="connsiteY6" fmla="*/ 1375510 h 1375510"/>
                <a:gd name="connsiteX7" fmla="*/ 564290 w 1597048"/>
                <a:gd name="connsiteY7" fmla="*/ 1375510 h 1375510"/>
                <a:gd name="connsiteX8" fmla="*/ 0 w 1597048"/>
                <a:gd name="connsiteY8" fmla="*/ 1375510 h 1375510"/>
                <a:gd name="connsiteX9" fmla="*/ 0 w 1597048"/>
                <a:gd name="connsiteY9" fmla="*/ 701510 h 1375510"/>
                <a:gd name="connsiteX10" fmla="*/ 0 w 1597048"/>
                <a:gd name="connsiteY10" fmla="*/ 0 h 1375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7048" h="1375510" fill="none" extrusionOk="0">
                  <a:moveTo>
                    <a:pt x="0" y="0"/>
                  </a:moveTo>
                  <a:cubicBezTo>
                    <a:pt x="238896" y="10854"/>
                    <a:pt x="304044" y="-9032"/>
                    <a:pt x="500408" y="0"/>
                  </a:cubicBezTo>
                  <a:cubicBezTo>
                    <a:pt x="696772" y="9032"/>
                    <a:pt x="784973" y="305"/>
                    <a:pt x="1032758" y="0"/>
                  </a:cubicBezTo>
                  <a:cubicBezTo>
                    <a:pt x="1280543" y="-305"/>
                    <a:pt x="1409185" y="1471"/>
                    <a:pt x="1597048" y="0"/>
                  </a:cubicBezTo>
                  <a:cubicBezTo>
                    <a:pt x="1568034" y="174935"/>
                    <a:pt x="1590450" y="379204"/>
                    <a:pt x="1597048" y="660245"/>
                  </a:cubicBezTo>
                  <a:cubicBezTo>
                    <a:pt x="1603646" y="941287"/>
                    <a:pt x="1598489" y="1111144"/>
                    <a:pt x="1597048" y="1375510"/>
                  </a:cubicBezTo>
                  <a:cubicBezTo>
                    <a:pt x="1393369" y="1391511"/>
                    <a:pt x="1255067" y="1401463"/>
                    <a:pt x="1064699" y="1375510"/>
                  </a:cubicBezTo>
                  <a:cubicBezTo>
                    <a:pt x="874331" y="1349557"/>
                    <a:pt x="671221" y="1377259"/>
                    <a:pt x="564290" y="1375510"/>
                  </a:cubicBezTo>
                  <a:cubicBezTo>
                    <a:pt x="457359" y="1373761"/>
                    <a:pt x="123976" y="1353827"/>
                    <a:pt x="0" y="1375510"/>
                  </a:cubicBezTo>
                  <a:cubicBezTo>
                    <a:pt x="32607" y="1113299"/>
                    <a:pt x="29826" y="923599"/>
                    <a:pt x="0" y="701510"/>
                  </a:cubicBezTo>
                  <a:cubicBezTo>
                    <a:pt x="-29826" y="479421"/>
                    <a:pt x="-2856" y="278298"/>
                    <a:pt x="0" y="0"/>
                  </a:cubicBezTo>
                  <a:close/>
                </a:path>
                <a:path w="1597048" h="1375510"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602363" y="324566"/>
                    <a:pt x="1591425" y="351196"/>
                    <a:pt x="1597048" y="674000"/>
                  </a:cubicBezTo>
                  <a:cubicBezTo>
                    <a:pt x="1602671" y="996804"/>
                    <a:pt x="1612051" y="1224502"/>
                    <a:pt x="1597048" y="1375510"/>
                  </a:cubicBezTo>
                  <a:cubicBezTo>
                    <a:pt x="1391546" y="1377589"/>
                    <a:pt x="1274479" y="1369659"/>
                    <a:pt x="1096640" y="1375510"/>
                  </a:cubicBezTo>
                  <a:cubicBezTo>
                    <a:pt x="918801" y="1381361"/>
                    <a:pt x="701596" y="1357372"/>
                    <a:pt x="548320" y="1375510"/>
                  </a:cubicBezTo>
                  <a:cubicBezTo>
                    <a:pt x="395044" y="1393648"/>
                    <a:pt x="256213" y="1371389"/>
                    <a:pt x="0" y="1375510"/>
                  </a:cubicBezTo>
                  <a:cubicBezTo>
                    <a:pt x="-3496" y="1237855"/>
                    <a:pt x="-24665" y="865482"/>
                    <a:pt x="0" y="729020"/>
                  </a:cubicBezTo>
                  <a:cubicBezTo>
                    <a:pt x="24665" y="592558"/>
                    <a:pt x="-24162" y="314314"/>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5" name="Graphic 4" descr="Brain with solid fill">
              <a:extLst>
                <a:ext uri="{FF2B5EF4-FFF2-40B4-BE49-F238E27FC236}">
                  <a16:creationId xmlns:a16="http://schemas.microsoft.com/office/drawing/2014/main" id="{746DF716-DC82-3E47-CB2B-4FEDAED150D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2059699" y="2419229"/>
              <a:ext cx="525158" cy="525158"/>
            </a:xfrm>
            <a:prstGeom prst="rect">
              <a:avLst/>
            </a:prstGeom>
          </p:spPr>
        </p:pic>
        <p:pic>
          <p:nvPicPr>
            <p:cNvPr id="24" name="Graphic 23" descr="Rat met effen opvulling">
              <a:extLst>
                <a:ext uri="{FF2B5EF4-FFF2-40B4-BE49-F238E27FC236}">
                  <a16:creationId xmlns:a16="http://schemas.microsoft.com/office/drawing/2014/main" id="{6912AD9A-81CB-D9B5-748E-E7F560B88FC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9913" y="2275320"/>
              <a:ext cx="718743" cy="718743"/>
            </a:xfrm>
            <a:prstGeom prst="rect">
              <a:avLst/>
            </a:prstGeom>
          </p:spPr>
        </p:pic>
        <p:sp>
          <p:nvSpPr>
            <p:cNvPr id="25" name="Tekstvak 37">
              <a:extLst>
                <a:ext uri="{FF2B5EF4-FFF2-40B4-BE49-F238E27FC236}">
                  <a16:creationId xmlns:a16="http://schemas.microsoft.com/office/drawing/2014/main" id="{FBC29E09-1252-B928-F750-4A17FA81E005}"/>
                </a:ext>
              </a:extLst>
            </p:cNvPr>
            <p:cNvSpPr txBox="1"/>
            <p:nvPr/>
          </p:nvSpPr>
          <p:spPr>
            <a:xfrm>
              <a:off x="1103506" y="2904949"/>
              <a:ext cx="1530894" cy="523220"/>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Brain tissues </a:t>
              </a:r>
              <a:r>
                <a:rPr lang="nl-BE" sz="1400" b="1" err="1">
                  <a:solidFill>
                    <a:srgbClr val="005E77"/>
                  </a:solidFill>
                  <a:latin typeface="Arial" panose="020B0604020202020204" pitchFamily="34" charset="0"/>
                  <a:cs typeface="Arial" panose="020B0604020202020204" pitchFamily="34" charset="0"/>
                </a:rPr>
                <a:t>from</a:t>
              </a:r>
              <a:r>
                <a:rPr lang="nl-BE" sz="1400" b="1">
                  <a:solidFill>
                    <a:srgbClr val="005E77"/>
                  </a:solidFill>
                  <a:latin typeface="Arial" panose="020B0604020202020204" pitchFamily="34" charset="0"/>
                  <a:cs typeface="Arial" panose="020B0604020202020204" pitchFamily="34" charset="0"/>
                </a:rPr>
                <a:t> rats</a:t>
              </a:r>
            </a:p>
          </p:txBody>
        </p:sp>
      </p:grpSp>
      <p:grpSp>
        <p:nvGrpSpPr>
          <p:cNvPr id="14" name="Group 13">
            <a:extLst>
              <a:ext uri="{FF2B5EF4-FFF2-40B4-BE49-F238E27FC236}">
                <a16:creationId xmlns:a16="http://schemas.microsoft.com/office/drawing/2014/main" id="{30253174-B91F-8921-A0B0-DA751C5507EB}"/>
              </a:ext>
            </a:extLst>
          </p:cNvPr>
          <p:cNvGrpSpPr/>
          <p:nvPr/>
        </p:nvGrpSpPr>
        <p:grpSpPr>
          <a:xfrm>
            <a:off x="5357949" y="2583670"/>
            <a:ext cx="1689448" cy="820786"/>
            <a:chOff x="5328144" y="4093536"/>
            <a:chExt cx="1689448" cy="820786"/>
          </a:xfrm>
        </p:grpSpPr>
        <p:sp>
          <p:nvSpPr>
            <p:cNvPr id="31" name="Rectangle 30">
              <a:extLst>
                <a:ext uri="{FF2B5EF4-FFF2-40B4-BE49-F238E27FC236}">
                  <a16:creationId xmlns:a16="http://schemas.microsoft.com/office/drawing/2014/main" id="{893BEDD1-B1EE-FFFD-402E-C1E0AC10BD80}"/>
                </a:ext>
              </a:extLst>
            </p:cNvPr>
            <p:cNvSpPr/>
            <p:nvPr/>
          </p:nvSpPr>
          <p:spPr>
            <a:xfrm>
              <a:off x="5328144" y="4093536"/>
              <a:ext cx="1689448" cy="820786"/>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32" name="Tekstvak 37">
              <a:extLst>
                <a:ext uri="{FF2B5EF4-FFF2-40B4-BE49-F238E27FC236}">
                  <a16:creationId xmlns:a16="http://schemas.microsoft.com/office/drawing/2014/main" id="{085A04AC-129B-F665-4635-6EB0378BE68A}"/>
                </a:ext>
              </a:extLst>
            </p:cNvPr>
            <p:cNvSpPr txBox="1"/>
            <p:nvPr/>
          </p:nvSpPr>
          <p:spPr>
            <a:xfrm>
              <a:off x="5771479" y="4345950"/>
              <a:ext cx="1199946" cy="307777"/>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Sequencing</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pic>
          <p:nvPicPr>
            <p:cNvPr id="33" name="Graphic 32" descr="Onderzoek met effen opvulling">
              <a:extLst>
                <a:ext uri="{FF2B5EF4-FFF2-40B4-BE49-F238E27FC236}">
                  <a16:creationId xmlns:a16="http://schemas.microsoft.com/office/drawing/2014/main" id="{F6B8CE51-8FDB-BF91-FEE3-B800D209E7C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41601" y="4253561"/>
              <a:ext cx="465645" cy="465645"/>
            </a:xfrm>
            <a:prstGeom prst="rect">
              <a:avLst/>
            </a:prstGeom>
          </p:spPr>
        </p:pic>
      </p:grpSp>
      <p:grpSp>
        <p:nvGrpSpPr>
          <p:cNvPr id="13" name="Group 12">
            <a:extLst>
              <a:ext uri="{FF2B5EF4-FFF2-40B4-BE49-F238E27FC236}">
                <a16:creationId xmlns:a16="http://schemas.microsoft.com/office/drawing/2014/main" id="{5FAD9D46-382E-FB88-2D7D-941AF8534C1C}"/>
              </a:ext>
            </a:extLst>
          </p:cNvPr>
          <p:cNvGrpSpPr/>
          <p:nvPr/>
        </p:nvGrpSpPr>
        <p:grpSpPr>
          <a:xfrm>
            <a:off x="5371406" y="4517345"/>
            <a:ext cx="1689448" cy="718743"/>
            <a:chOff x="5318101" y="2821069"/>
            <a:chExt cx="1689448" cy="718743"/>
          </a:xfrm>
        </p:grpSpPr>
        <p:sp>
          <p:nvSpPr>
            <p:cNvPr id="39" name="Rectangle 38">
              <a:extLst>
                <a:ext uri="{FF2B5EF4-FFF2-40B4-BE49-F238E27FC236}">
                  <a16:creationId xmlns:a16="http://schemas.microsoft.com/office/drawing/2014/main" id="{EFBED8E5-C982-0867-3214-8CF94F7785A6}"/>
                </a:ext>
              </a:extLst>
            </p:cNvPr>
            <p:cNvSpPr/>
            <p:nvPr/>
          </p:nvSpPr>
          <p:spPr>
            <a:xfrm>
              <a:off x="5318101" y="2821069"/>
              <a:ext cx="1689448" cy="718743"/>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40" name="Tekstvak 37">
              <a:extLst>
                <a:ext uri="{FF2B5EF4-FFF2-40B4-BE49-F238E27FC236}">
                  <a16:creationId xmlns:a16="http://schemas.microsoft.com/office/drawing/2014/main" id="{2F47D822-653D-B699-9888-F54EE7F9A0C2}"/>
                </a:ext>
              </a:extLst>
            </p:cNvPr>
            <p:cNvSpPr txBox="1"/>
            <p:nvPr/>
          </p:nvSpPr>
          <p:spPr>
            <a:xfrm>
              <a:off x="5744790" y="3018652"/>
              <a:ext cx="1190222" cy="307777"/>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Microscopy</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pic>
          <p:nvPicPr>
            <p:cNvPr id="41" name="Graphic 40" descr="Microscoop met effen opvulling">
              <a:extLst>
                <a:ext uri="{FF2B5EF4-FFF2-40B4-BE49-F238E27FC236}">
                  <a16:creationId xmlns:a16="http://schemas.microsoft.com/office/drawing/2014/main" id="{20E41FDC-26EC-BAC4-AA84-E72CB3DFBB3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337964" y="2939466"/>
              <a:ext cx="386963" cy="386963"/>
            </a:xfrm>
            <a:prstGeom prst="rect">
              <a:avLst/>
            </a:prstGeom>
          </p:spPr>
        </p:pic>
      </p:grpSp>
      <p:grpSp>
        <p:nvGrpSpPr>
          <p:cNvPr id="12" name="Group 11">
            <a:extLst>
              <a:ext uri="{FF2B5EF4-FFF2-40B4-BE49-F238E27FC236}">
                <a16:creationId xmlns:a16="http://schemas.microsoft.com/office/drawing/2014/main" id="{CE7893C6-4E3F-C1A3-9508-183063B6B8CC}"/>
              </a:ext>
            </a:extLst>
          </p:cNvPr>
          <p:cNvGrpSpPr/>
          <p:nvPr/>
        </p:nvGrpSpPr>
        <p:grpSpPr>
          <a:xfrm>
            <a:off x="989727" y="4110362"/>
            <a:ext cx="1824607" cy="1597459"/>
            <a:chOff x="989727" y="4110362"/>
            <a:chExt cx="1824607" cy="1597459"/>
          </a:xfrm>
        </p:grpSpPr>
        <p:sp>
          <p:nvSpPr>
            <p:cNvPr id="6" name="Rectangle 5">
              <a:extLst>
                <a:ext uri="{FF2B5EF4-FFF2-40B4-BE49-F238E27FC236}">
                  <a16:creationId xmlns:a16="http://schemas.microsoft.com/office/drawing/2014/main" id="{F406BBF8-935E-A298-9C81-816EE06A6F91}"/>
                </a:ext>
              </a:extLst>
            </p:cNvPr>
            <p:cNvSpPr/>
            <p:nvPr/>
          </p:nvSpPr>
          <p:spPr>
            <a:xfrm>
              <a:off x="1103507" y="4110362"/>
              <a:ext cx="1597048" cy="1534487"/>
            </a:xfrm>
            <a:custGeom>
              <a:avLst/>
              <a:gdLst>
                <a:gd name="connsiteX0" fmla="*/ 0 w 1597048"/>
                <a:gd name="connsiteY0" fmla="*/ 0 h 1534487"/>
                <a:gd name="connsiteX1" fmla="*/ 516379 w 1597048"/>
                <a:gd name="connsiteY1" fmla="*/ 0 h 1534487"/>
                <a:gd name="connsiteX2" fmla="*/ 1048728 w 1597048"/>
                <a:gd name="connsiteY2" fmla="*/ 0 h 1534487"/>
                <a:gd name="connsiteX3" fmla="*/ 1597048 w 1597048"/>
                <a:gd name="connsiteY3" fmla="*/ 0 h 1534487"/>
                <a:gd name="connsiteX4" fmla="*/ 1597048 w 1597048"/>
                <a:gd name="connsiteY4" fmla="*/ 465461 h 1534487"/>
                <a:gd name="connsiteX5" fmla="*/ 1597048 w 1597048"/>
                <a:gd name="connsiteY5" fmla="*/ 961612 h 1534487"/>
                <a:gd name="connsiteX6" fmla="*/ 1597048 w 1597048"/>
                <a:gd name="connsiteY6" fmla="*/ 1534487 h 1534487"/>
                <a:gd name="connsiteX7" fmla="*/ 1064699 w 1597048"/>
                <a:gd name="connsiteY7" fmla="*/ 1534487 h 1534487"/>
                <a:gd name="connsiteX8" fmla="*/ 516379 w 1597048"/>
                <a:gd name="connsiteY8" fmla="*/ 1534487 h 1534487"/>
                <a:gd name="connsiteX9" fmla="*/ 0 w 1597048"/>
                <a:gd name="connsiteY9" fmla="*/ 1534487 h 1534487"/>
                <a:gd name="connsiteX10" fmla="*/ 0 w 1597048"/>
                <a:gd name="connsiteY10" fmla="*/ 1038336 h 1534487"/>
                <a:gd name="connsiteX11" fmla="*/ 0 w 1597048"/>
                <a:gd name="connsiteY11" fmla="*/ 542185 h 1534487"/>
                <a:gd name="connsiteX12" fmla="*/ 0 w 1597048"/>
                <a:gd name="connsiteY12" fmla="*/ 0 h 153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7048" h="1534487" fill="none" extrusionOk="0">
                  <a:moveTo>
                    <a:pt x="0" y="0"/>
                  </a:moveTo>
                  <a:cubicBezTo>
                    <a:pt x="249000" y="2568"/>
                    <a:pt x="367784" y="-21090"/>
                    <a:pt x="516379" y="0"/>
                  </a:cubicBezTo>
                  <a:cubicBezTo>
                    <a:pt x="664974" y="21090"/>
                    <a:pt x="792545" y="16333"/>
                    <a:pt x="1048728" y="0"/>
                  </a:cubicBezTo>
                  <a:cubicBezTo>
                    <a:pt x="1304911" y="-16333"/>
                    <a:pt x="1374597" y="-7712"/>
                    <a:pt x="1597048" y="0"/>
                  </a:cubicBezTo>
                  <a:cubicBezTo>
                    <a:pt x="1610993" y="203995"/>
                    <a:pt x="1575430" y="335316"/>
                    <a:pt x="1597048" y="465461"/>
                  </a:cubicBezTo>
                  <a:cubicBezTo>
                    <a:pt x="1618666" y="595606"/>
                    <a:pt x="1587796" y="729718"/>
                    <a:pt x="1597048" y="961612"/>
                  </a:cubicBezTo>
                  <a:cubicBezTo>
                    <a:pt x="1606300" y="1193506"/>
                    <a:pt x="1594701" y="1342521"/>
                    <a:pt x="1597048" y="1534487"/>
                  </a:cubicBezTo>
                  <a:cubicBezTo>
                    <a:pt x="1397725" y="1530724"/>
                    <a:pt x="1317763" y="1537175"/>
                    <a:pt x="1064699" y="1534487"/>
                  </a:cubicBezTo>
                  <a:cubicBezTo>
                    <a:pt x="811635" y="1531799"/>
                    <a:pt x="757025" y="1546358"/>
                    <a:pt x="516379" y="1534487"/>
                  </a:cubicBezTo>
                  <a:cubicBezTo>
                    <a:pt x="275733" y="1522616"/>
                    <a:pt x="157925" y="1534244"/>
                    <a:pt x="0" y="1534487"/>
                  </a:cubicBezTo>
                  <a:cubicBezTo>
                    <a:pt x="-20107" y="1294315"/>
                    <a:pt x="1108" y="1232402"/>
                    <a:pt x="0" y="1038336"/>
                  </a:cubicBezTo>
                  <a:cubicBezTo>
                    <a:pt x="-1108" y="844270"/>
                    <a:pt x="-2607" y="749275"/>
                    <a:pt x="0" y="542185"/>
                  </a:cubicBezTo>
                  <a:cubicBezTo>
                    <a:pt x="2607" y="335095"/>
                    <a:pt x="8112" y="250193"/>
                    <a:pt x="0" y="0"/>
                  </a:cubicBezTo>
                  <a:close/>
                </a:path>
                <a:path w="1597048" h="1534487" stroke="0" extrusionOk="0">
                  <a:moveTo>
                    <a:pt x="0" y="0"/>
                  </a:moveTo>
                  <a:cubicBezTo>
                    <a:pt x="216077" y="155"/>
                    <a:pt x="415885" y="-9645"/>
                    <a:pt x="548320" y="0"/>
                  </a:cubicBezTo>
                  <a:cubicBezTo>
                    <a:pt x="680755" y="9645"/>
                    <a:pt x="974075" y="20746"/>
                    <a:pt x="1112610" y="0"/>
                  </a:cubicBezTo>
                  <a:cubicBezTo>
                    <a:pt x="1251145" y="-20746"/>
                    <a:pt x="1427468" y="13147"/>
                    <a:pt x="1597048" y="0"/>
                  </a:cubicBezTo>
                  <a:cubicBezTo>
                    <a:pt x="1597112" y="115568"/>
                    <a:pt x="1575650" y="277295"/>
                    <a:pt x="1597048" y="496151"/>
                  </a:cubicBezTo>
                  <a:cubicBezTo>
                    <a:pt x="1618446" y="715007"/>
                    <a:pt x="1621983" y="793120"/>
                    <a:pt x="1597048" y="1022991"/>
                  </a:cubicBezTo>
                  <a:cubicBezTo>
                    <a:pt x="1572113" y="1252862"/>
                    <a:pt x="1619802" y="1430328"/>
                    <a:pt x="1597048" y="1534487"/>
                  </a:cubicBezTo>
                  <a:cubicBezTo>
                    <a:pt x="1452392" y="1534443"/>
                    <a:pt x="1242131" y="1526534"/>
                    <a:pt x="1112610" y="1534487"/>
                  </a:cubicBezTo>
                  <a:cubicBezTo>
                    <a:pt x="983089" y="1542440"/>
                    <a:pt x="702217" y="1555286"/>
                    <a:pt x="580261" y="1534487"/>
                  </a:cubicBezTo>
                  <a:cubicBezTo>
                    <a:pt x="458305" y="1513688"/>
                    <a:pt x="270225" y="1522641"/>
                    <a:pt x="0" y="1534487"/>
                  </a:cubicBezTo>
                  <a:cubicBezTo>
                    <a:pt x="17644" y="1283645"/>
                    <a:pt x="24255" y="1130562"/>
                    <a:pt x="0" y="992302"/>
                  </a:cubicBezTo>
                  <a:cubicBezTo>
                    <a:pt x="-24255" y="854042"/>
                    <a:pt x="8086" y="718113"/>
                    <a:pt x="0" y="511496"/>
                  </a:cubicBezTo>
                  <a:cubicBezTo>
                    <a:pt x="-8086" y="304879"/>
                    <a:pt x="19372" y="145410"/>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3726808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10" name="Graphic 9" descr="Man met effen opvulling">
              <a:extLst>
                <a:ext uri="{FF2B5EF4-FFF2-40B4-BE49-F238E27FC236}">
                  <a16:creationId xmlns:a16="http://schemas.microsoft.com/office/drawing/2014/main" id="{557A94CF-576E-36D0-B263-8CFBFD78B5A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24019" y="4162027"/>
              <a:ext cx="540000" cy="540000"/>
            </a:xfrm>
            <a:prstGeom prst="rect">
              <a:avLst/>
            </a:prstGeom>
          </p:spPr>
        </p:pic>
        <p:sp>
          <p:nvSpPr>
            <p:cNvPr id="8" name="Tekstvak 37">
              <a:extLst>
                <a:ext uri="{FF2B5EF4-FFF2-40B4-BE49-F238E27FC236}">
                  <a16:creationId xmlns:a16="http://schemas.microsoft.com/office/drawing/2014/main" id="{71339945-7265-1DFC-34B8-D966E7A0F301}"/>
                </a:ext>
              </a:extLst>
            </p:cNvPr>
            <p:cNvSpPr txBox="1"/>
            <p:nvPr/>
          </p:nvSpPr>
          <p:spPr>
            <a:xfrm>
              <a:off x="989727" y="4722936"/>
              <a:ext cx="1824607" cy="984885"/>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Brain tissue </a:t>
              </a:r>
              <a:r>
                <a:rPr lang="nl-BE" sz="1400" b="1" err="1">
                  <a:solidFill>
                    <a:srgbClr val="005E77"/>
                  </a:solidFill>
                  <a:latin typeface="Arial" panose="020B0604020202020204" pitchFamily="34" charset="0"/>
                  <a:cs typeface="Arial" panose="020B0604020202020204" pitchFamily="34" charset="0"/>
                </a:rPr>
                <a:t>from</a:t>
              </a:r>
              <a:r>
                <a:rPr lang="nl-BE" sz="1400" b="1">
                  <a:solidFill>
                    <a:srgbClr val="005E77"/>
                  </a:solidFill>
                  <a:latin typeface="Arial" panose="020B0604020202020204" pitchFamily="34" charset="0"/>
                  <a:cs typeface="Arial" panose="020B0604020202020204" pitchFamily="34" charset="0"/>
                </a:rPr>
                <a:t> post-</a:t>
              </a:r>
              <a:r>
                <a:rPr lang="nl-BE" sz="1400" b="1" err="1">
                  <a:solidFill>
                    <a:srgbClr val="005E77"/>
                  </a:solidFill>
                  <a:latin typeface="Arial" panose="020B0604020202020204" pitchFamily="34" charset="0"/>
                  <a:cs typeface="Arial" panose="020B0604020202020204" pitchFamily="34" charset="0"/>
                </a:rPr>
                <a:t>mortem</a:t>
              </a:r>
              <a:r>
                <a:rPr lang="nl-BE" sz="1400" b="1">
                  <a:solidFill>
                    <a:srgbClr val="005E77"/>
                  </a:solidFill>
                  <a:latin typeface="Arial" panose="020B0604020202020204" pitchFamily="34" charset="0"/>
                  <a:cs typeface="Arial" panose="020B0604020202020204" pitchFamily="34" charset="0"/>
                </a:rPr>
                <a:t> </a:t>
              </a:r>
              <a:r>
                <a:rPr lang="nl-BE" sz="1400" b="1" err="1">
                  <a:solidFill>
                    <a:srgbClr val="005E77"/>
                  </a:solidFill>
                  <a:latin typeface="Arial" panose="020B0604020202020204" pitchFamily="34" charset="0"/>
                  <a:cs typeface="Arial" panose="020B0604020202020204" pitchFamily="34" charset="0"/>
                </a:rPr>
                <a:t>Patients</a:t>
              </a:r>
              <a:endParaRPr lang="nl-BE" sz="1400" b="1">
                <a:solidFill>
                  <a:srgbClr val="005E77"/>
                </a:solidFill>
                <a:latin typeface="Arial" panose="020B0604020202020204" pitchFamily="34" charset="0"/>
                <a:cs typeface="Arial" panose="020B0604020202020204" pitchFamily="34" charset="0"/>
              </a:endParaRPr>
            </a:p>
            <a:p>
              <a:pPr algn="ctr"/>
              <a:endParaRPr lang="nl-BE" sz="1600">
                <a:solidFill>
                  <a:srgbClr val="005E77"/>
                </a:solidFill>
                <a:latin typeface="Arial" panose="020B0604020202020204" pitchFamily="34" charset="0"/>
                <a:cs typeface="Arial" panose="020B0604020202020204" pitchFamily="34" charset="0"/>
              </a:endParaRPr>
            </a:p>
          </p:txBody>
        </p:sp>
        <p:pic>
          <p:nvPicPr>
            <p:cNvPr id="9" name="Graphic 8" descr="Brain with solid fill">
              <a:extLst>
                <a:ext uri="{FF2B5EF4-FFF2-40B4-BE49-F238E27FC236}">
                  <a16:creationId xmlns:a16="http://schemas.microsoft.com/office/drawing/2014/main" id="{49201F86-E98C-8894-02F0-5BFE29BFA10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1969708" y="4198861"/>
              <a:ext cx="525158" cy="525158"/>
            </a:xfrm>
            <a:prstGeom prst="rect">
              <a:avLst/>
            </a:prstGeom>
          </p:spPr>
        </p:pic>
      </p:grpSp>
      <p:sp>
        <p:nvSpPr>
          <p:cNvPr id="7" name="Rectangle: Rounded Corners 2">
            <a:extLst>
              <a:ext uri="{FF2B5EF4-FFF2-40B4-BE49-F238E27FC236}">
                <a16:creationId xmlns:a16="http://schemas.microsoft.com/office/drawing/2014/main" id="{D4837091-6A39-9EBC-3463-54CD868920D1}"/>
              </a:ext>
            </a:extLst>
          </p:cNvPr>
          <p:cNvSpPr/>
          <p:nvPr/>
        </p:nvSpPr>
        <p:spPr>
          <a:xfrm>
            <a:off x="694438" y="1985930"/>
            <a:ext cx="11405413" cy="2028413"/>
          </a:xfrm>
          <a:prstGeom prst="roundRect">
            <a:avLst/>
          </a:prstGeom>
          <a:noFill/>
          <a:ln w="285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pPr algn="ctr"/>
            <a:endParaRPr lang="nl-BE" b="1">
              <a:solidFill>
                <a:srgbClr val="FFC000"/>
              </a:solidFill>
            </a:endParaRPr>
          </a:p>
        </p:txBody>
      </p:sp>
    </p:spTree>
    <p:extLst>
      <p:ext uri="{BB962C8B-B14F-4D97-AF65-F5344CB8AC3E}">
        <p14:creationId xmlns:p14="http://schemas.microsoft.com/office/powerpoint/2010/main" val="94536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0F10E-8CAE-2F9E-F8AF-812B252D70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CE60BB3-69A0-2146-3781-2AF3341E898D}"/>
              </a:ext>
            </a:extLst>
          </p:cNvPr>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816106" y="523953"/>
            <a:ext cx="921893" cy="921600"/>
          </a:xfrm>
          <a:prstGeom prst="ellipse">
            <a:avLst/>
          </a:prstGeom>
        </p:spPr>
      </p:pic>
      <p:sp>
        <p:nvSpPr>
          <p:cNvPr id="2" name="Title 1">
            <a:extLst>
              <a:ext uri="{FF2B5EF4-FFF2-40B4-BE49-F238E27FC236}">
                <a16:creationId xmlns:a16="http://schemas.microsoft.com/office/drawing/2014/main" id="{AD91A39E-B773-7DAD-9305-DF9EFBD82711}"/>
              </a:ext>
            </a:extLst>
          </p:cNvPr>
          <p:cNvSpPr>
            <a:spLocks noGrp="1"/>
          </p:cNvSpPr>
          <p:nvPr>
            <p:ph type="title"/>
          </p:nvPr>
        </p:nvSpPr>
        <p:spPr/>
        <p:txBody>
          <a:bodyPr/>
          <a:lstStyle/>
          <a:p>
            <a:r>
              <a:rPr lang="en-US"/>
              <a:t>Exercise 2: Build a Dataflow – example </a:t>
            </a:r>
            <a:br>
              <a:rPr lang="en-US"/>
            </a:br>
            <a:r>
              <a:rPr lang="en-US"/>
              <a:t>Jie’s project</a:t>
            </a:r>
            <a:endParaRPr lang="en-GB"/>
          </a:p>
        </p:txBody>
      </p:sp>
      <p:sp>
        <p:nvSpPr>
          <p:cNvPr id="4" name="Slide Number Placeholder 3">
            <a:extLst>
              <a:ext uri="{FF2B5EF4-FFF2-40B4-BE49-F238E27FC236}">
                <a16:creationId xmlns:a16="http://schemas.microsoft.com/office/drawing/2014/main" id="{770508D6-1045-50FA-1B30-AFA6159DDCC6}"/>
              </a:ext>
            </a:extLst>
          </p:cNvPr>
          <p:cNvSpPr>
            <a:spLocks noGrp="1"/>
          </p:cNvSpPr>
          <p:nvPr>
            <p:ph type="sldNum" sz="quarter" idx="12"/>
          </p:nvPr>
        </p:nvSpPr>
        <p:spPr>
          <a:prstGeom prst="rect">
            <a:avLst/>
          </a:prstGeom>
        </p:spPr>
        <p:txBody>
          <a:bodyPr/>
          <a:lstStyle/>
          <a:p>
            <a:fld id="{CC571AF6-6671-4538-974D-3AEC00AC0B82}" type="slidenum">
              <a:rPr lang="en-GB" smtClean="0"/>
              <a:t>23</a:t>
            </a:fld>
            <a:endParaRPr lang="en-GB"/>
          </a:p>
        </p:txBody>
      </p:sp>
      <p:sp>
        <p:nvSpPr>
          <p:cNvPr id="72" name="TextBox 71">
            <a:extLst>
              <a:ext uri="{FF2B5EF4-FFF2-40B4-BE49-F238E27FC236}">
                <a16:creationId xmlns:a16="http://schemas.microsoft.com/office/drawing/2014/main" id="{C1E4C319-16B0-E8BF-DC0F-9662BEEC6E9B}"/>
              </a:ext>
            </a:extLst>
          </p:cNvPr>
          <p:cNvSpPr txBox="1"/>
          <p:nvPr/>
        </p:nvSpPr>
        <p:spPr>
          <a:xfrm>
            <a:off x="10575068" y="5773794"/>
            <a:ext cx="1378800" cy="276999"/>
          </a:xfrm>
          <a:prstGeom prst="rect">
            <a:avLst/>
          </a:prstGeom>
          <a:solidFill>
            <a:srgbClr val="FFDF7F"/>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defRPr sz="1200" b="1">
                <a:solidFill>
                  <a:srgbClr val="005E77"/>
                </a:solidFill>
                <a:cs typeface="Arial" panose="020B0604020202020204" pitchFamily="34" charset="0"/>
              </a:defRPr>
            </a:lvl1pPr>
          </a:lstStyle>
          <a:p>
            <a:pPr algn="ctr"/>
            <a:r>
              <a:rPr lang="en-US" sz="1600" b="0"/>
              <a:t>Steps</a:t>
            </a:r>
            <a:endParaRPr lang="nl-BE" sz="1600" b="0"/>
          </a:p>
        </p:txBody>
      </p:sp>
      <p:sp>
        <p:nvSpPr>
          <p:cNvPr id="73" name="TextBox 72">
            <a:extLst>
              <a:ext uri="{FF2B5EF4-FFF2-40B4-BE49-F238E27FC236}">
                <a16:creationId xmlns:a16="http://schemas.microsoft.com/office/drawing/2014/main" id="{7035B765-0EBC-0250-EE46-24F137012E1E}"/>
              </a:ext>
            </a:extLst>
          </p:cNvPr>
          <p:cNvSpPr txBox="1"/>
          <p:nvPr/>
        </p:nvSpPr>
        <p:spPr>
          <a:xfrm>
            <a:off x="10575068" y="5400776"/>
            <a:ext cx="1378800" cy="276999"/>
          </a:xfrm>
          <a:prstGeom prst="rect">
            <a:avLst/>
          </a:prstGeom>
          <a:solidFill>
            <a:srgbClr val="A8DEF5"/>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buFont typeface="Arial" panose="020B0604020202020204" pitchFamily="34" charset="0"/>
              <a:buChar char="•"/>
              <a:defRPr sz="1200" b="0">
                <a:solidFill>
                  <a:srgbClr val="005E77"/>
                </a:solidFill>
              </a:defRPr>
            </a:lvl1pPr>
          </a:lstStyle>
          <a:p>
            <a:pPr algn="ctr">
              <a:buNone/>
            </a:pPr>
            <a:r>
              <a:rPr lang="en-US" sz="1600"/>
              <a:t>Data points</a:t>
            </a:r>
            <a:endParaRPr lang="nl-BE" sz="1600"/>
          </a:p>
        </p:txBody>
      </p:sp>
      <p:grpSp>
        <p:nvGrpSpPr>
          <p:cNvPr id="15" name="Group 14">
            <a:extLst>
              <a:ext uri="{FF2B5EF4-FFF2-40B4-BE49-F238E27FC236}">
                <a16:creationId xmlns:a16="http://schemas.microsoft.com/office/drawing/2014/main" id="{715ED8B8-26FC-2ABC-FB97-BD0E98DBFFE3}"/>
              </a:ext>
            </a:extLst>
          </p:cNvPr>
          <p:cNvGrpSpPr/>
          <p:nvPr/>
        </p:nvGrpSpPr>
        <p:grpSpPr>
          <a:xfrm>
            <a:off x="10272593" y="2880628"/>
            <a:ext cx="1689448" cy="1914101"/>
            <a:chOff x="10301046" y="2699087"/>
            <a:chExt cx="1689448" cy="1914101"/>
          </a:xfrm>
        </p:grpSpPr>
        <p:sp>
          <p:nvSpPr>
            <p:cNvPr id="65" name="Rectangle 64">
              <a:extLst>
                <a:ext uri="{FF2B5EF4-FFF2-40B4-BE49-F238E27FC236}">
                  <a16:creationId xmlns:a16="http://schemas.microsoft.com/office/drawing/2014/main" id="{B5AD53CF-3C34-E95B-C3EE-7C3F8102EDA8}"/>
                </a:ext>
              </a:extLst>
            </p:cNvPr>
            <p:cNvSpPr/>
            <p:nvPr/>
          </p:nvSpPr>
          <p:spPr>
            <a:xfrm>
              <a:off x="10301046" y="2699087"/>
              <a:ext cx="1689448" cy="1914101"/>
            </a:xfrm>
            <a:custGeom>
              <a:avLst/>
              <a:gdLst>
                <a:gd name="connsiteX0" fmla="*/ 0 w 1689448"/>
                <a:gd name="connsiteY0" fmla="*/ 0 h 1914101"/>
                <a:gd name="connsiteX1" fmla="*/ 596938 w 1689448"/>
                <a:gd name="connsiteY1" fmla="*/ 0 h 1914101"/>
                <a:gd name="connsiteX2" fmla="*/ 1193877 w 1689448"/>
                <a:gd name="connsiteY2" fmla="*/ 0 h 1914101"/>
                <a:gd name="connsiteX3" fmla="*/ 1689448 w 1689448"/>
                <a:gd name="connsiteY3" fmla="*/ 0 h 1914101"/>
                <a:gd name="connsiteX4" fmla="*/ 1689448 w 1689448"/>
                <a:gd name="connsiteY4" fmla="*/ 580611 h 1914101"/>
                <a:gd name="connsiteX5" fmla="*/ 1689448 w 1689448"/>
                <a:gd name="connsiteY5" fmla="*/ 1218644 h 1914101"/>
                <a:gd name="connsiteX6" fmla="*/ 1689448 w 1689448"/>
                <a:gd name="connsiteY6" fmla="*/ 1914101 h 1914101"/>
                <a:gd name="connsiteX7" fmla="*/ 1176982 w 1689448"/>
                <a:gd name="connsiteY7" fmla="*/ 1914101 h 1914101"/>
                <a:gd name="connsiteX8" fmla="*/ 664516 w 1689448"/>
                <a:gd name="connsiteY8" fmla="*/ 1914101 h 1914101"/>
                <a:gd name="connsiteX9" fmla="*/ 0 w 1689448"/>
                <a:gd name="connsiteY9" fmla="*/ 1914101 h 1914101"/>
                <a:gd name="connsiteX10" fmla="*/ 0 w 1689448"/>
                <a:gd name="connsiteY10" fmla="*/ 1333490 h 1914101"/>
                <a:gd name="connsiteX11" fmla="*/ 0 w 1689448"/>
                <a:gd name="connsiteY11" fmla="*/ 733739 h 1914101"/>
                <a:gd name="connsiteX12" fmla="*/ 0 w 1689448"/>
                <a:gd name="connsiteY12" fmla="*/ 0 h 191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9448" h="1914101" fill="none" extrusionOk="0">
                  <a:moveTo>
                    <a:pt x="0" y="0"/>
                  </a:moveTo>
                  <a:cubicBezTo>
                    <a:pt x="282978" y="-26075"/>
                    <a:pt x="420737" y="-9574"/>
                    <a:pt x="596938" y="0"/>
                  </a:cubicBezTo>
                  <a:cubicBezTo>
                    <a:pt x="773139" y="9574"/>
                    <a:pt x="965606" y="7737"/>
                    <a:pt x="1193877" y="0"/>
                  </a:cubicBezTo>
                  <a:cubicBezTo>
                    <a:pt x="1422148" y="-7737"/>
                    <a:pt x="1544480" y="15874"/>
                    <a:pt x="1689448" y="0"/>
                  </a:cubicBezTo>
                  <a:cubicBezTo>
                    <a:pt x="1668808" y="172363"/>
                    <a:pt x="1709828" y="305226"/>
                    <a:pt x="1689448" y="580611"/>
                  </a:cubicBezTo>
                  <a:cubicBezTo>
                    <a:pt x="1669068" y="855996"/>
                    <a:pt x="1710616" y="1050164"/>
                    <a:pt x="1689448" y="1218644"/>
                  </a:cubicBezTo>
                  <a:cubicBezTo>
                    <a:pt x="1668280" y="1387124"/>
                    <a:pt x="1677655" y="1575053"/>
                    <a:pt x="1689448" y="1914101"/>
                  </a:cubicBezTo>
                  <a:cubicBezTo>
                    <a:pt x="1553500" y="1937375"/>
                    <a:pt x="1394421" y="1926425"/>
                    <a:pt x="1176982" y="1914101"/>
                  </a:cubicBezTo>
                  <a:cubicBezTo>
                    <a:pt x="959543" y="1901777"/>
                    <a:pt x="866113" y="1934658"/>
                    <a:pt x="664516" y="1914101"/>
                  </a:cubicBezTo>
                  <a:cubicBezTo>
                    <a:pt x="462919" y="1893544"/>
                    <a:pt x="188297" y="1941367"/>
                    <a:pt x="0" y="1914101"/>
                  </a:cubicBezTo>
                  <a:cubicBezTo>
                    <a:pt x="19399" y="1673739"/>
                    <a:pt x="-23817" y="1507505"/>
                    <a:pt x="0" y="1333490"/>
                  </a:cubicBezTo>
                  <a:cubicBezTo>
                    <a:pt x="23817" y="1159475"/>
                    <a:pt x="23313" y="984937"/>
                    <a:pt x="0" y="733739"/>
                  </a:cubicBezTo>
                  <a:cubicBezTo>
                    <a:pt x="-23313" y="482541"/>
                    <a:pt x="-7244" y="294241"/>
                    <a:pt x="0" y="0"/>
                  </a:cubicBezTo>
                  <a:close/>
                </a:path>
                <a:path w="1689448" h="1914101" stroke="0" extrusionOk="0">
                  <a:moveTo>
                    <a:pt x="0" y="0"/>
                  </a:moveTo>
                  <a:cubicBezTo>
                    <a:pt x="288413" y="-24815"/>
                    <a:pt x="359102" y="-5622"/>
                    <a:pt x="580044" y="0"/>
                  </a:cubicBezTo>
                  <a:cubicBezTo>
                    <a:pt x="800986" y="5622"/>
                    <a:pt x="909953" y="-27907"/>
                    <a:pt x="1160088" y="0"/>
                  </a:cubicBezTo>
                  <a:cubicBezTo>
                    <a:pt x="1410223" y="27907"/>
                    <a:pt x="1531419" y="26467"/>
                    <a:pt x="1689448" y="0"/>
                  </a:cubicBezTo>
                  <a:cubicBezTo>
                    <a:pt x="1678339" y="309905"/>
                    <a:pt x="1719615" y="421529"/>
                    <a:pt x="1689448" y="676316"/>
                  </a:cubicBezTo>
                  <a:cubicBezTo>
                    <a:pt x="1659281" y="931103"/>
                    <a:pt x="1659018" y="1181664"/>
                    <a:pt x="1689448" y="1333490"/>
                  </a:cubicBezTo>
                  <a:cubicBezTo>
                    <a:pt x="1719878" y="1485316"/>
                    <a:pt x="1700465" y="1652417"/>
                    <a:pt x="1689448" y="1914101"/>
                  </a:cubicBezTo>
                  <a:cubicBezTo>
                    <a:pt x="1544573" y="1908383"/>
                    <a:pt x="1363449" y="1903746"/>
                    <a:pt x="1176982" y="1914101"/>
                  </a:cubicBezTo>
                  <a:cubicBezTo>
                    <a:pt x="990515" y="1924456"/>
                    <a:pt x="789137" y="1904645"/>
                    <a:pt x="596938" y="1914101"/>
                  </a:cubicBezTo>
                  <a:cubicBezTo>
                    <a:pt x="404739" y="1923557"/>
                    <a:pt x="123018" y="1893085"/>
                    <a:pt x="0" y="1914101"/>
                  </a:cubicBezTo>
                  <a:cubicBezTo>
                    <a:pt x="-7172" y="1681010"/>
                    <a:pt x="-6193" y="1444641"/>
                    <a:pt x="0" y="1256926"/>
                  </a:cubicBezTo>
                  <a:cubicBezTo>
                    <a:pt x="6193" y="1069212"/>
                    <a:pt x="-7372" y="775105"/>
                    <a:pt x="0" y="638034"/>
                  </a:cubicBezTo>
                  <a:cubicBezTo>
                    <a:pt x="7372" y="500963"/>
                    <a:pt x="4649" y="134059"/>
                    <a:pt x="0" y="0"/>
                  </a:cubicBezTo>
                  <a:close/>
                </a:path>
              </a:pathLst>
            </a:custGeom>
            <a:solidFill>
              <a:srgbClr val="52BDEC">
                <a:alpha val="50000"/>
              </a:srgbClr>
            </a:solidFill>
            <a:ln w="19050">
              <a:solidFill>
                <a:srgbClr val="005E77"/>
              </a:solidFill>
              <a:extLst>
                <a:ext uri="{C807C97D-BFC1-408E-A445-0C87EB9F89A2}">
                  <ask:lineSketchStyleProps xmlns:ask="http://schemas.microsoft.com/office/drawing/2018/sketchyshapes" sd="175670711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71" name="Tekstvak 37">
              <a:extLst>
                <a:ext uri="{FF2B5EF4-FFF2-40B4-BE49-F238E27FC236}">
                  <a16:creationId xmlns:a16="http://schemas.microsoft.com/office/drawing/2014/main" id="{8346F06F-9789-8503-7F78-1550CFF15504}"/>
                </a:ext>
              </a:extLst>
            </p:cNvPr>
            <p:cNvSpPr txBox="1"/>
            <p:nvPr/>
          </p:nvSpPr>
          <p:spPr>
            <a:xfrm>
              <a:off x="10313220" y="3093846"/>
              <a:ext cx="1660309" cy="307777"/>
            </a:xfrm>
            <a:prstGeom prst="rect">
              <a:avLst/>
            </a:prstGeom>
            <a:noFill/>
          </p:spPr>
          <p:txBody>
            <a:bodyPr wrap="square" rtlCol="0">
              <a:spAutoFit/>
            </a:bodyPr>
            <a:lstStyle/>
            <a:p>
              <a:pPr algn="ctr"/>
              <a:r>
                <a:rPr lang="en-US" sz="1400">
                  <a:solidFill>
                    <a:srgbClr val="005E77"/>
                  </a:solidFill>
                  <a:latin typeface="Arial" panose="020B0604020202020204" pitchFamily="34" charset="0"/>
                  <a:cs typeface="Arial" panose="020B0604020202020204" pitchFamily="34" charset="0"/>
                </a:rPr>
                <a:t>Publication</a:t>
              </a:r>
            </a:p>
          </p:txBody>
        </p:sp>
        <p:pic>
          <p:nvPicPr>
            <p:cNvPr id="96" name="Graphic 95" descr="Krant met effen opvulling">
              <a:extLst>
                <a:ext uri="{FF2B5EF4-FFF2-40B4-BE49-F238E27FC236}">
                  <a16:creationId xmlns:a16="http://schemas.microsoft.com/office/drawing/2014/main" id="{FC7D2BA6-1B03-08A3-4818-3F4FBEB93C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89185" y="3497642"/>
              <a:ext cx="708377" cy="708377"/>
            </a:xfrm>
            <a:prstGeom prst="rect">
              <a:avLst/>
            </a:prstGeom>
          </p:spPr>
        </p:pic>
      </p:grpSp>
      <p:grpSp>
        <p:nvGrpSpPr>
          <p:cNvPr id="11" name="Group 10">
            <a:extLst>
              <a:ext uri="{FF2B5EF4-FFF2-40B4-BE49-F238E27FC236}">
                <a16:creationId xmlns:a16="http://schemas.microsoft.com/office/drawing/2014/main" id="{40220E4F-BC75-2F86-DB67-9F5B13870ECC}"/>
              </a:ext>
            </a:extLst>
          </p:cNvPr>
          <p:cNvGrpSpPr/>
          <p:nvPr/>
        </p:nvGrpSpPr>
        <p:grpSpPr>
          <a:xfrm>
            <a:off x="107992" y="3008328"/>
            <a:ext cx="1597049" cy="1444230"/>
            <a:chOff x="1103506" y="2275320"/>
            <a:chExt cx="1597049" cy="1444230"/>
          </a:xfrm>
        </p:grpSpPr>
        <p:sp>
          <p:nvSpPr>
            <p:cNvPr id="66" name="Rectangle 65">
              <a:extLst>
                <a:ext uri="{FF2B5EF4-FFF2-40B4-BE49-F238E27FC236}">
                  <a16:creationId xmlns:a16="http://schemas.microsoft.com/office/drawing/2014/main" id="{E60738B8-8740-2EC7-38A5-931088CDFFF9}"/>
                </a:ext>
              </a:extLst>
            </p:cNvPr>
            <p:cNvSpPr/>
            <p:nvPr/>
          </p:nvSpPr>
          <p:spPr>
            <a:xfrm>
              <a:off x="1103507" y="2344040"/>
              <a:ext cx="1597048" cy="1375510"/>
            </a:xfrm>
            <a:custGeom>
              <a:avLst/>
              <a:gdLst>
                <a:gd name="connsiteX0" fmla="*/ 0 w 1597048"/>
                <a:gd name="connsiteY0" fmla="*/ 0 h 1375510"/>
                <a:gd name="connsiteX1" fmla="*/ 500408 w 1597048"/>
                <a:gd name="connsiteY1" fmla="*/ 0 h 1375510"/>
                <a:gd name="connsiteX2" fmla="*/ 1032758 w 1597048"/>
                <a:gd name="connsiteY2" fmla="*/ 0 h 1375510"/>
                <a:gd name="connsiteX3" fmla="*/ 1597048 w 1597048"/>
                <a:gd name="connsiteY3" fmla="*/ 0 h 1375510"/>
                <a:gd name="connsiteX4" fmla="*/ 1597048 w 1597048"/>
                <a:gd name="connsiteY4" fmla="*/ 660245 h 1375510"/>
                <a:gd name="connsiteX5" fmla="*/ 1597048 w 1597048"/>
                <a:gd name="connsiteY5" fmla="*/ 1375510 h 1375510"/>
                <a:gd name="connsiteX6" fmla="*/ 1064699 w 1597048"/>
                <a:gd name="connsiteY6" fmla="*/ 1375510 h 1375510"/>
                <a:gd name="connsiteX7" fmla="*/ 564290 w 1597048"/>
                <a:gd name="connsiteY7" fmla="*/ 1375510 h 1375510"/>
                <a:gd name="connsiteX8" fmla="*/ 0 w 1597048"/>
                <a:gd name="connsiteY8" fmla="*/ 1375510 h 1375510"/>
                <a:gd name="connsiteX9" fmla="*/ 0 w 1597048"/>
                <a:gd name="connsiteY9" fmla="*/ 701510 h 1375510"/>
                <a:gd name="connsiteX10" fmla="*/ 0 w 1597048"/>
                <a:gd name="connsiteY10" fmla="*/ 0 h 1375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7048" h="1375510" fill="none" extrusionOk="0">
                  <a:moveTo>
                    <a:pt x="0" y="0"/>
                  </a:moveTo>
                  <a:cubicBezTo>
                    <a:pt x="238896" y="10854"/>
                    <a:pt x="304044" y="-9032"/>
                    <a:pt x="500408" y="0"/>
                  </a:cubicBezTo>
                  <a:cubicBezTo>
                    <a:pt x="696772" y="9032"/>
                    <a:pt x="784973" y="305"/>
                    <a:pt x="1032758" y="0"/>
                  </a:cubicBezTo>
                  <a:cubicBezTo>
                    <a:pt x="1280543" y="-305"/>
                    <a:pt x="1409185" y="1471"/>
                    <a:pt x="1597048" y="0"/>
                  </a:cubicBezTo>
                  <a:cubicBezTo>
                    <a:pt x="1568034" y="174935"/>
                    <a:pt x="1590450" y="379204"/>
                    <a:pt x="1597048" y="660245"/>
                  </a:cubicBezTo>
                  <a:cubicBezTo>
                    <a:pt x="1603646" y="941287"/>
                    <a:pt x="1598489" y="1111144"/>
                    <a:pt x="1597048" y="1375510"/>
                  </a:cubicBezTo>
                  <a:cubicBezTo>
                    <a:pt x="1393369" y="1391511"/>
                    <a:pt x="1255067" y="1401463"/>
                    <a:pt x="1064699" y="1375510"/>
                  </a:cubicBezTo>
                  <a:cubicBezTo>
                    <a:pt x="874331" y="1349557"/>
                    <a:pt x="671221" y="1377259"/>
                    <a:pt x="564290" y="1375510"/>
                  </a:cubicBezTo>
                  <a:cubicBezTo>
                    <a:pt x="457359" y="1373761"/>
                    <a:pt x="123976" y="1353827"/>
                    <a:pt x="0" y="1375510"/>
                  </a:cubicBezTo>
                  <a:cubicBezTo>
                    <a:pt x="32607" y="1113299"/>
                    <a:pt x="29826" y="923599"/>
                    <a:pt x="0" y="701510"/>
                  </a:cubicBezTo>
                  <a:cubicBezTo>
                    <a:pt x="-29826" y="479421"/>
                    <a:pt x="-2856" y="278298"/>
                    <a:pt x="0" y="0"/>
                  </a:cubicBezTo>
                  <a:close/>
                </a:path>
                <a:path w="1597048" h="1375510"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602363" y="324566"/>
                    <a:pt x="1591425" y="351196"/>
                    <a:pt x="1597048" y="674000"/>
                  </a:cubicBezTo>
                  <a:cubicBezTo>
                    <a:pt x="1602671" y="996804"/>
                    <a:pt x="1612051" y="1224502"/>
                    <a:pt x="1597048" y="1375510"/>
                  </a:cubicBezTo>
                  <a:cubicBezTo>
                    <a:pt x="1391546" y="1377589"/>
                    <a:pt x="1274479" y="1369659"/>
                    <a:pt x="1096640" y="1375510"/>
                  </a:cubicBezTo>
                  <a:cubicBezTo>
                    <a:pt x="918801" y="1381361"/>
                    <a:pt x="701596" y="1357372"/>
                    <a:pt x="548320" y="1375510"/>
                  </a:cubicBezTo>
                  <a:cubicBezTo>
                    <a:pt x="395044" y="1393648"/>
                    <a:pt x="256213" y="1371389"/>
                    <a:pt x="0" y="1375510"/>
                  </a:cubicBezTo>
                  <a:cubicBezTo>
                    <a:pt x="-3496" y="1237855"/>
                    <a:pt x="-24665" y="865482"/>
                    <a:pt x="0" y="729020"/>
                  </a:cubicBezTo>
                  <a:cubicBezTo>
                    <a:pt x="24665" y="592558"/>
                    <a:pt x="-24162" y="314314"/>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5" name="Graphic 4" descr="Brain with solid fill">
              <a:extLst>
                <a:ext uri="{FF2B5EF4-FFF2-40B4-BE49-F238E27FC236}">
                  <a16:creationId xmlns:a16="http://schemas.microsoft.com/office/drawing/2014/main" id="{A6E07F81-D3DA-5516-C6B4-434BC6D9173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2059699" y="2419229"/>
              <a:ext cx="525158" cy="525158"/>
            </a:xfrm>
            <a:prstGeom prst="rect">
              <a:avLst/>
            </a:prstGeom>
          </p:spPr>
        </p:pic>
        <p:pic>
          <p:nvPicPr>
            <p:cNvPr id="24" name="Graphic 23" descr="Rat met effen opvulling">
              <a:extLst>
                <a:ext uri="{FF2B5EF4-FFF2-40B4-BE49-F238E27FC236}">
                  <a16:creationId xmlns:a16="http://schemas.microsoft.com/office/drawing/2014/main" id="{24F31C44-1970-E934-0B92-650038FCA8B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9913" y="2275320"/>
              <a:ext cx="718743" cy="718743"/>
            </a:xfrm>
            <a:prstGeom prst="rect">
              <a:avLst/>
            </a:prstGeom>
          </p:spPr>
        </p:pic>
        <p:sp>
          <p:nvSpPr>
            <p:cNvPr id="25" name="Tekstvak 37">
              <a:extLst>
                <a:ext uri="{FF2B5EF4-FFF2-40B4-BE49-F238E27FC236}">
                  <a16:creationId xmlns:a16="http://schemas.microsoft.com/office/drawing/2014/main" id="{E4C2D976-A92C-0B7C-3622-93820116D936}"/>
                </a:ext>
              </a:extLst>
            </p:cNvPr>
            <p:cNvSpPr txBox="1"/>
            <p:nvPr/>
          </p:nvSpPr>
          <p:spPr>
            <a:xfrm>
              <a:off x="1103506" y="2904949"/>
              <a:ext cx="1530894" cy="523220"/>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Brain tissues </a:t>
              </a:r>
              <a:r>
                <a:rPr lang="nl-BE" sz="1400" b="1" err="1">
                  <a:solidFill>
                    <a:srgbClr val="005E77"/>
                  </a:solidFill>
                  <a:latin typeface="Arial" panose="020B0604020202020204" pitchFamily="34" charset="0"/>
                  <a:cs typeface="Arial" panose="020B0604020202020204" pitchFamily="34" charset="0"/>
                </a:rPr>
                <a:t>from</a:t>
              </a:r>
              <a:r>
                <a:rPr lang="nl-BE" sz="1400" b="1">
                  <a:solidFill>
                    <a:srgbClr val="005E77"/>
                  </a:solidFill>
                  <a:latin typeface="Arial" panose="020B0604020202020204" pitchFamily="34" charset="0"/>
                  <a:cs typeface="Arial" panose="020B0604020202020204" pitchFamily="34" charset="0"/>
                </a:rPr>
                <a:t> rats</a:t>
              </a:r>
            </a:p>
          </p:txBody>
        </p:sp>
      </p:grpSp>
      <p:grpSp>
        <p:nvGrpSpPr>
          <p:cNvPr id="14" name="Group 13">
            <a:extLst>
              <a:ext uri="{FF2B5EF4-FFF2-40B4-BE49-F238E27FC236}">
                <a16:creationId xmlns:a16="http://schemas.microsoft.com/office/drawing/2014/main" id="{683AD378-5586-C36F-F170-9DC0DAA42F3B}"/>
              </a:ext>
            </a:extLst>
          </p:cNvPr>
          <p:cNvGrpSpPr/>
          <p:nvPr/>
        </p:nvGrpSpPr>
        <p:grpSpPr>
          <a:xfrm>
            <a:off x="5251276" y="3339058"/>
            <a:ext cx="1689448" cy="820786"/>
            <a:chOff x="5328144" y="4093536"/>
            <a:chExt cx="1689448" cy="820786"/>
          </a:xfrm>
        </p:grpSpPr>
        <p:sp>
          <p:nvSpPr>
            <p:cNvPr id="31" name="Rectangle 30">
              <a:extLst>
                <a:ext uri="{FF2B5EF4-FFF2-40B4-BE49-F238E27FC236}">
                  <a16:creationId xmlns:a16="http://schemas.microsoft.com/office/drawing/2014/main" id="{E49CC0A1-6661-73C1-F18B-2C8AF488709C}"/>
                </a:ext>
              </a:extLst>
            </p:cNvPr>
            <p:cNvSpPr/>
            <p:nvPr/>
          </p:nvSpPr>
          <p:spPr>
            <a:xfrm>
              <a:off x="5328144" y="4093536"/>
              <a:ext cx="1689448" cy="820786"/>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32" name="Tekstvak 37">
              <a:extLst>
                <a:ext uri="{FF2B5EF4-FFF2-40B4-BE49-F238E27FC236}">
                  <a16:creationId xmlns:a16="http://schemas.microsoft.com/office/drawing/2014/main" id="{6E11FE2C-85C4-2C5B-35A3-4D162D67B148}"/>
                </a:ext>
              </a:extLst>
            </p:cNvPr>
            <p:cNvSpPr txBox="1"/>
            <p:nvPr/>
          </p:nvSpPr>
          <p:spPr>
            <a:xfrm>
              <a:off x="5771479" y="4345950"/>
              <a:ext cx="1199946" cy="307777"/>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Sequencing</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pic>
          <p:nvPicPr>
            <p:cNvPr id="33" name="Graphic 32" descr="Onderzoek met effen opvulling">
              <a:extLst>
                <a:ext uri="{FF2B5EF4-FFF2-40B4-BE49-F238E27FC236}">
                  <a16:creationId xmlns:a16="http://schemas.microsoft.com/office/drawing/2014/main" id="{71F34323-3BE2-D142-28B0-D5E277A9D41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41601" y="4253561"/>
              <a:ext cx="465645" cy="465645"/>
            </a:xfrm>
            <a:prstGeom prst="rect">
              <a:avLst/>
            </a:prstGeom>
          </p:spPr>
        </p:pic>
      </p:grpSp>
      <p:grpSp>
        <p:nvGrpSpPr>
          <p:cNvPr id="22" name="Group 21">
            <a:extLst>
              <a:ext uri="{FF2B5EF4-FFF2-40B4-BE49-F238E27FC236}">
                <a16:creationId xmlns:a16="http://schemas.microsoft.com/office/drawing/2014/main" id="{72F13AE9-6F30-608F-9691-AD544E91EB4E}"/>
              </a:ext>
            </a:extLst>
          </p:cNvPr>
          <p:cNvGrpSpPr/>
          <p:nvPr/>
        </p:nvGrpSpPr>
        <p:grpSpPr>
          <a:xfrm>
            <a:off x="7068852" y="3457496"/>
            <a:ext cx="1609222" cy="602473"/>
            <a:chOff x="7166122" y="2980691"/>
            <a:chExt cx="1609222" cy="602473"/>
          </a:xfrm>
        </p:grpSpPr>
        <p:sp>
          <p:nvSpPr>
            <p:cNvPr id="18" name="Rectangle 17">
              <a:extLst>
                <a:ext uri="{FF2B5EF4-FFF2-40B4-BE49-F238E27FC236}">
                  <a16:creationId xmlns:a16="http://schemas.microsoft.com/office/drawing/2014/main" id="{8B9B7BA9-24F5-E923-4488-D7E1B6479C99}"/>
                </a:ext>
              </a:extLst>
            </p:cNvPr>
            <p:cNvSpPr/>
            <p:nvPr/>
          </p:nvSpPr>
          <p:spPr>
            <a:xfrm>
              <a:off x="7166122" y="2980691"/>
              <a:ext cx="1597048" cy="602473"/>
            </a:xfrm>
            <a:custGeom>
              <a:avLst/>
              <a:gdLst>
                <a:gd name="connsiteX0" fmla="*/ 0 w 1597048"/>
                <a:gd name="connsiteY0" fmla="*/ 0 h 602473"/>
                <a:gd name="connsiteX1" fmla="*/ 500408 w 1597048"/>
                <a:gd name="connsiteY1" fmla="*/ 0 h 602473"/>
                <a:gd name="connsiteX2" fmla="*/ 1032758 w 1597048"/>
                <a:gd name="connsiteY2" fmla="*/ 0 h 602473"/>
                <a:gd name="connsiteX3" fmla="*/ 1597048 w 1597048"/>
                <a:gd name="connsiteY3" fmla="*/ 0 h 602473"/>
                <a:gd name="connsiteX4" fmla="*/ 1597048 w 1597048"/>
                <a:gd name="connsiteY4" fmla="*/ 602473 h 602473"/>
                <a:gd name="connsiteX5" fmla="*/ 1080669 w 1597048"/>
                <a:gd name="connsiteY5" fmla="*/ 602473 h 602473"/>
                <a:gd name="connsiteX6" fmla="*/ 580261 w 1597048"/>
                <a:gd name="connsiteY6" fmla="*/ 602473 h 602473"/>
                <a:gd name="connsiteX7" fmla="*/ 0 w 1597048"/>
                <a:gd name="connsiteY7" fmla="*/ 602473 h 602473"/>
                <a:gd name="connsiteX8" fmla="*/ 0 w 1597048"/>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048" h="602473" fill="none" extrusionOk="0">
                  <a:moveTo>
                    <a:pt x="0" y="0"/>
                  </a:moveTo>
                  <a:cubicBezTo>
                    <a:pt x="244484" y="-20454"/>
                    <a:pt x="388014" y="3268"/>
                    <a:pt x="500408" y="0"/>
                  </a:cubicBezTo>
                  <a:cubicBezTo>
                    <a:pt x="612802" y="-3268"/>
                    <a:pt x="800856" y="9713"/>
                    <a:pt x="1032758" y="0"/>
                  </a:cubicBezTo>
                  <a:cubicBezTo>
                    <a:pt x="1264660" y="-9713"/>
                    <a:pt x="1446363" y="-1877"/>
                    <a:pt x="1597048" y="0"/>
                  </a:cubicBezTo>
                  <a:cubicBezTo>
                    <a:pt x="1571350" y="213409"/>
                    <a:pt x="1624207" y="431491"/>
                    <a:pt x="1597048" y="602473"/>
                  </a:cubicBezTo>
                  <a:cubicBezTo>
                    <a:pt x="1375439" y="625846"/>
                    <a:pt x="1221438" y="607751"/>
                    <a:pt x="1080669" y="602473"/>
                  </a:cubicBezTo>
                  <a:cubicBezTo>
                    <a:pt x="939900" y="597195"/>
                    <a:pt x="806678" y="601783"/>
                    <a:pt x="580261" y="602473"/>
                  </a:cubicBezTo>
                  <a:cubicBezTo>
                    <a:pt x="353844" y="603163"/>
                    <a:pt x="285008" y="587271"/>
                    <a:pt x="0" y="602473"/>
                  </a:cubicBezTo>
                  <a:cubicBezTo>
                    <a:pt x="-29591" y="306439"/>
                    <a:pt x="-932" y="253414"/>
                    <a:pt x="0" y="0"/>
                  </a:cubicBezTo>
                  <a:close/>
                </a:path>
                <a:path w="1597048" h="602473"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588856" y="287972"/>
                    <a:pt x="1588650" y="334116"/>
                    <a:pt x="1597048" y="602473"/>
                  </a:cubicBezTo>
                  <a:cubicBezTo>
                    <a:pt x="1383117" y="585603"/>
                    <a:pt x="1293574" y="601638"/>
                    <a:pt x="1032758" y="602473"/>
                  </a:cubicBezTo>
                  <a:cubicBezTo>
                    <a:pt x="771942" y="603309"/>
                    <a:pt x="751727" y="583186"/>
                    <a:pt x="548320" y="602473"/>
                  </a:cubicBezTo>
                  <a:cubicBezTo>
                    <a:pt x="344913" y="621760"/>
                    <a:pt x="153276" y="584335"/>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20" name="Graphic 19" descr="Open folder with solid fill">
              <a:extLst>
                <a:ext uri="{FF2B5EF4-FFF2-40B4-BE49-F238E27FC236}">
                  <a16:creationId xmlns:a16="http://schemas.microsoft.com/office/drawing/2014/main" id="{E7118DEB-E787-5D35-3200-CB6DD072E18B}"/>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7187388" y="3060743"/>
              <a:ext cx="442368" cy="442368"/>
            </a:xfrm>
            <a:prstGeom prst="rect">
              <a:avLst/>
            </a:prstGeom>
          </p:spPr>
        </p:pic>
        <p:sp>
          <p:nvSpPr>
            <p:cNvPr id="21" name="Tekstvak 37">
              <a:extLst>
                <a:ext uri="{FF2B5EF4-FFF2-40B4-BE49-F238E27FC236}">
                  <a16:creationId xmlns:a16="http://schemas.microsoft.com/office/drawing/2014/main" id="{F9506A40-B56A-D3C0-12C8-C1BA38AD50C1}"/>
                </a:ext>
              </a:extLst>
            </p:cNvPr>
            <p:cNvSpPr txBox="1"/>
            <p:nvPr/>
          </p:nvSpPr>
          <p:spPr>
            <a:xfrm>
              <a:off x="7577665" y="3149104"/>
              <a:ext cx="1197679" cy="307777"/>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FASTQ files</a:t>
              </a:r>
            </a:p>
          </p:txBody>
        </p:sp>
      </p:grpSp>
      <p:grpSp>
        <p:nvGrpSpPr>
          <p:cNvPr id="30" name="Group 29">
            <a:extLst>
              <a:ext uri="{FF2B5EF4-FFF2-40B4-BE49-F238E27FC236}">
                <a16:creationId xmlns:a16="http://schemas.microsoft.com/office/drawing/2014/main" id="{728CED32-F3BC-B621-8865-4D477AC5BD4C}"/>
              </a:ext>
            </a:extLst>
          </p:cNvPr>
          <p:cNvGrpSpPr/>
          <p:nvPr/>
        </p:nvGrpSpPr>
        <p:grpSpPr>
          <a:xfrm>
            <a:off x="3500588" y="3444123"/>
            <a:ext cx="1753512" cy="602473"/>
            <a:chOff x="7254218" y="2980691"/>
            <a:chExt cx="1566172" cy="602473"/>
          </a:xfrm>
        </p:grpSpPr>
        <p:sp>
          <p:nvSpPr>
            <p:cNvPr id="34" name="Rectangle 33">
              <a:extLst>
                <a:ext uri="{FF2B5EF4-FFF2-40B4-BE49-F238E27FC236}">
                  <a16:creationId xmlns:a16="http://schemas.microsoft.com/office/drawing/2014/main" id="{8DA06145-BC7B-2B84-6418-A217A3F035A8}"/>
                </a:ext>
              </a:extLst>
            </p:cNvPr>
            <p:cNvSpPr/>
            <p:nvPr/>
          </p:nvSpPr>
          <p:spPr>
            <a:xfrm>
              <a:off x="7254218" y="2980691"/>
              <a:ext cx="1508952" cy="602473"/>
            </a:xfrm>
            <a:custGeom>
              <a:avLst/>
              <a:gdLst>
                <a:gd name="connsiteX0" fmla="*/ 0 w 1508952"/>
                <a:gd name="connsiteY0" fmla="*/ 0 h 602473"/>
                <a:gd name="connsiteX1" fmla="*/ 472805 w 1508952"/>
                <a:gd name="connsiteY1" fmla="*/ 0 h 602473"/>
                <a:gd name="connsiteX2" fmla="*/ 975789 w 1508952"/>
                <a:gd name="connsiteY2" fmla="*/ 0 h 602473"/>
                <a:gd name="connsiteX3" fmla="*/ 1508952 w 1508952"/>
                <a:gd name="connsiteY3" fmla="*/ 0 h 602473"/>
                <a:gd name="connsiteX4" fmla="*/ 1508952 w 1508952"/>
                <a:gd name="connsiteY4" fmla="*/ 602473 h 602473"/>
                <a:gd name="connsiteX5" fmla="*/ 1021058 w 1508952"/>
                <a:gd name="connsiteY5" fmla="*/ 602473 h 602473"/>
                <a:gd name="connsiteX6" fmla="*/ 548253 w 1508952"/>
                <a:gd name="connsiteY6" fmla="*/ 602473 h 602473"/>
                <a:gd name="connsiteX7" fmla="*/ 0 w 1508952"/>
                <a:gd name="connsiteY7" fmla="*/ 602473 h 602473"/>
                <a:gd name="connsiteX8" fmla="*/ 0 w 1508952"/>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52" h="602473" fill="none" extrusionOk="0">
                  <a:moveTo>
                    <a:pt x="0" y="0"/>
                  </a:moveTo>
                  <a:cubicBezTo>
                    <a:pt x="216331" y="-22447"/>
                    <a:pt x="352058" y="21627"/>
                    <a:pt x="472805" y="0"/>
                  </a:cubicBezTo>
                  <a:cubicBezTo>
                    <a:pt x="593552" y="-21627"/>
                    <a:pt x="862320" y="8938"/>
                    <a:pt x="975789" y="0"/>
                  </a:cubicBezTo>
                  <a:cubicBezTo>
                    <a:pt x="1089258" y="-8938"/>
                    <a:pt x="1393911" y="3371"/>
                    <a:pt x="1508952" y="0"/>
                  </a:cubicBezTo>
                  <a:cubicBezTo>
                    <a:pt x="1483254" y="213409"/>
                    <a:pt x="1536111" y="431491"/>
                    <a:pt x="1508952" y="602473"/>
                  </a:cubicBezTo>
                  <a:cubicBezTo>
                    <a:pt x="1356227" y="603561"/>
                    <a:pt x="1121848" y="603633"/>
                    <a:pt x="1021058" y="602473"/>
                  </a:cubicBezTo>
                  <a:cubicBezTo>
                    <a:pt x="920268" y="601313"/>
                    <a:pt x="705807" y="591775"/>
                    <a:pt x="548253" y="602473"/>
                  </a:cubicBezTo>
                  <a:cubicBezTo>
                    <a:pt x="390700" y="613171"/>
                    <a:pt x="169134" y="615830"/>
                    <a:pt x="0" y="602473"/>
                  </a:cubicBezTo>
                  <a:cubicBezTo>
                    <a:pt x="-29591" y="306439"/>
                    <a:pt x="-932" y="253414"/>
                    <a:pt x="0" y="0"/>
                  </a:cubicBezTo>
                  <a:close/>
                </a:path>
                <a:path w="1508952" h="602473" stroke="0" extrusionOk="0">
                  <a:moveTo>
                    <a:pt x="0" y="0"/>
                  </a:moveTo>
                  <a:cubicBezTo>
                    <a:pt x="110408" y="-24933"/>
                    <a:pt x="359112" y="-15953"/>
                    <a:pt x="502984" y="0"/>
                  </a:cubicBezTo>
                  <a:cubicBezTo>
                    <a:pt x="646856" y="15953"/>
                    <a:pt x="771940" y="4705"/>
                    <a:pt x="975789" y="0"/>
                  </a:cubicBezTo>
                  <a:cubicBezTo>
                    <a:pt x="1179639" y="-4705"/>
                    <a:pt x="1266117" y="-20246"/>
                    <a:pt x="1508952" y="0"/>
                  </a:cubicBezTo>
                  <a:cubicBezTo>
                    <a:pt x="1500760" y="287972"/>
                    <a:pt x="1500554" y="334116"/>
                    <a:pt x="1508952" y="602473"/>
                  </a:cubicBezTo>
                  <a:cubicBezTo>
                    <a:pt x="1369906" y="579071"/>
                    <a:pt x="1201934" y="607776"/>
                    <a:pt x="975789" y="602473"/>
                  </a:cubicBezTo>
                  <a:cubicBezTo>
                    <a:pt x="749644" y="597170"/>
                    <a:pt x="697227" y="591352"/>
                    <a:pt x="518074" y="602473"/>
                  </a:cubicBezTo>
                  <a:cubicBezTo>
                    <a:pt x="338922" y="613594"/>
                    <a:pt x="151838" y="621030"/>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35" name="Graphic 34" descr="Test tubes with solid fill">
              <a:extLst>
                <a:ext uri="{FF2B5EF4-FFF2-40B4-BE49-F238E27FC236}">
                  <a16:creationId xmlns:a16="http://schemas.microsoft.com/office/drawing/2014/main" id="{2767D42A-6EB2-932D-2AA7-AD3C17EB338C}"/>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a:off x="7310342" y="3062437"/>
              <a:ext cx="336328" cy="391593"/>
            </a:xfrm>
            <a:prstGeom prst="rect">
              <a:avLst/>
            </a:prstGeom>
          </p:spPr>
        </p:pic>
        <p:sp>
          <p:nvSpPr>
            <p:cNvPr id="36" name="Tekstvak 37">
              <a:extLst>
                <a:ext uri="{FF2B5EF4-FFF2-40B4-BE49-F238E27FC236}">
                  <a16:creationId xmlns:a16="http://schemas.microsoft.com/office/drawing/2014/main" id="{F3F8FAC0-0C3C-EF1D-CF13-F25B7E395775}"/>
                </a:ext>
              </a:extLst>
            </p:cNvPr>
            <p:cNvSpPr txBox="1"/>
            <p:nvPr/>
          </p:nvSpPr>
          <p:spPr>
            <a:xfrm>
              <a:off x="7600721" y="3119261"/>
              <a:ext cx="1219669" cy="307777"/>
            </a:xfrm>
            <a:prstGeom prst="rect">
              <a:avLst/>
            </a:prstGeom>
            <a:noFill/>
          </p:spPr>
          <p:txBody>
            <a:bodyPr wrap="square" rtlCol="0">
              <a:spAutoFit/>
            </a:bodyPr>
            <a:lstStyle/>
            <a:p>
              <a:r>
                <a:rPr lang="nl-BE" sz="1400" b="1">
                  <a:solidFill>
                    <a:srgbClr val="005E77"/>
                  </a:solidFill>
                  <a:latin typeface="Arial" panose="020B0604020202020204" pitchFamily="34" charset="0"/>
                  <a:cs typeface="Arial" panose="020B0604020202020204" pitchFamily="34" charset="0"/>
                </a:rPr>
                <a:t>RNA samples</a:t>
              </a:r>
            </a:p>
          </p:txBody>
        </p:sp>
      </p:grpSp>
      <p:grpSp>
        <p:nvGrpSpPr>
          <p:cNvPr id="46" name="Group 45">
            <a:extLst>
              <a:ext uri="{FF2B5EF4-FFF2-40B4-BE49-F238E27FC236}">
                <a16:creationId xmlns:a16="http://schemas.microsoft.com/office/drawing/2014/main" id="{6A39B17B-38D1-2E4C-0B0B-D43D5DB7AFD4}"/>
              </a:ext>
            </a:extLst>
          </p:cNvPr>
          <p:cNvGrpSpPr/>
          <p:nvPr/>
        </p:nvGrpSpPr>
        <p:grpSpPr>
          <a:xfrm>
            <a:off x="1752698" y="3369404"/>
            <a:ext cx="1689448" cy="820786"/>
            <a:chOff x="5328144" y="4093536"/>
            <a:chExt cx="1689448" cy="820786"/>
          </a:xfrm>
        </p:grpSpPr>
        <p:sp>
          <p:nvSpPr>
            <p:cNvPr id="47" name="Rectangle 46">
              <a:extLst>
                <a:ext uri="{FF2B5EF4-FFF2-40B4-BE49-F238E27FC236}">
                  <a16:creationId xmlns:a16="http://schemas.microsoft.com/office/drawing/2014/main" id="{E5341D22-CD47-EDDA-1435-5A0EA88EF60C}"/>
                </a:ext>
              </a:extLst>
            </p:cNvPr>
            <p:cNvSpPr/>
            <p:nvPr/>
          </p:nvSpPr>
          <p:spPr>
            <a:xfrm>
              <a:off x="5328144" y="4093536"/>
              <a:ext cx="1689448" cy="820786"/>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48" name="Tekstvak 37">
              <a:extLst>
                <a:ext uri="{FF2B5EF4-FFF2-40B4-BE49-F238E27FC236}">
                  <a16:creationId xmlns:a16="http://schemas.microsoft.com/office/drawing/2014/main" id="{9274CCA2-40EF-CA5D-65E4-5F5696CB56BB}"/>
                </a:ext>
              </a:extLst>
            </p:cNvPr>
            <p:cNvSpPr txBox="1"/>
            <p:nvPr/>
          </p:nvSpPr>
          <p:spPr>
            <a:xfrm>
              <a:off x="5357976" y="4260401"/>
              <a:ext cx="1640286" cy="523220"/>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RNA </a:t>
              </a:r>
              <a:r>
                <a:rPr lang="nl-BE" sz="1400" b="1" err="1">
                  <a:solidFill>
                    <a:srgbClr val="005E77"/>
                  </a:solidFill>
                  <a:latin typeface="Arial" panose="020B0604020202020204" pitchFamily="34" charset="0"/>
                  <a:cs typeface="Arial" panose="020B0604020202020204" pitchFamily="34" charset="0"/>
                </a:rPr>
                <a:t>isolation</a:t>
              </a:r>
              <a:r>
                <a:rPr lang="nl-BE" sz="1400" b="1">
                  <a:solidFill>
                    <a:srgbClr val="005E77"/>
                  </a:solidFill>
                  <a:latin typeface="Arial" panose="020B0604020202020204" pitchFamily="34" charset="0"/>
                  <a:cs typeface="Arial" panose="020B0604020202020204" pitchFamily="34" charset="0"/>
                </a:rPr>
                <a:t> &amp; </a:t>
              </a:r>
              <a:r>
                <a:rPr lang="nl-BE" sz="1400" b="1" err="1">
                  <a:solidFill>
                    <a:srgbClr val="005E77"/>
                  </a:solidFill>
                  <a:latin typeface="Arial" panose="020B0604020202020204" pitchFamily="34" charset="0"/>
                  <a:cs typeface="Arial" panose="020B0604020202020204" pitchFamily="34" charset="0"/>
                </a:rPr>
                <a:t>quality</a:t>
              </a:r>
              <a:r>
                <a:rPr lang="nl-BE" sz="1400" b="1">
                  <a:solidFill>
                    <a:srgbClr val="005E77"/>
                  </a:solidFill>
                  <a:latin typeface="Arial" panose="020B0604020202020204" pitchFamily="34" charset="0"/>
                  <a:cs typeface="Arial" panose="020B0604020202020204" pitchFamily="34" charset="0"/>
                </a:rPr>
                <a:t> control</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grpSp>
    </p:spTree>
    <p:extLst>
      <p:ext uri="{BB962C8B-B14F-4D97-AF65-F5344CB8AC3E}">
        <p14:creationId xmlns:p14="http://schemas.microsoft.com/office/powerpoint/2010/main" val="2314915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812CB-8997-F0AD-9B6C-E4636CC60B1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CDB9C6-41B0-B9D5-B180-F31321548891}"/>
              </a:ext>
            </a:extLst>
          </p:cNvPr>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816106" y="523953"/>
            <a:ext cx="921893" cy="921600"/>
          </a:xfrm>
          <a:prstGeom prst="ellipse">
            <a:avLst/>
          </a:prstGeom>
        </p:spPr>
      </p:pic>
      <p:sp>
        <p:nvSpPr>
          <p:cNvPr id="2" name="Title 1">
            <a:extLst>
              <a:ext uri="{FF2B5EF4-FFF2-40B4-BE49-F238E27FC236}">
                <a16:creationId xmlns:a16="http://schemas.microsoft.com/office/drawing/2014/main" id="{9E49E811-33DD-AE49-5DF8-9723D23E9397}"/>
              </a:ext>
            </a:extLst>
          </p:cNvPr>
          <p:cNvSpPr>
            <a:spLocks noGrp="1"/>
          </p:cNvSpPr>
          <p:nvPr>
            <p:ph type="title"/>
          </p:nvPr>
        </p:nvSpPr>
        <p:spPr/>
        <p:txBody>
          <a:bodyPr/>
          <a:lstStyle/>
          <a:p>
            <a:r>
              <a:rPr lang="en-US"/>
              <a:t>Exercise 2: Build a Dataflow – example </a:t>
            </a:r>
            <a:br>
              <a:rPr lang="en-US"/>
            </a:br>
            <a:r>
              <a:rPr lang="en-US"/>
              <a:t>Jie’s project</a:t>
            </a:r>
            <a:endParaRPr lang="en-GB"/>
          </a:p>
        </p:txBody>
      </p:sp>
      <p:sp>
        <p:nvSpPr>
          <p:cNvPr id="4" name="Slide Number Placeholder 3">
            <a:extLst>
              <a:ext uri="{FF2B5EF4-FFF2-40B4-BE49-F238E27FC236}">
                <a16:creationId xmlns:a16="http://schemas.microsoft.com/office/drawing/2014/main" id="{BFF9F02D-A487-F967-91EA-B0F3BA07AC73}"/>
              </a:ext>
            </a:extLst>
          </p:cNvPr>
          <p:cNvSpPr>
            <a:spLocks noGrp="1"/>
          </p:cNvSpPr>
          <p:nvPr>
            <p:ph type="sldNum" sz="quarter" idx="12"/>
          </p:nvPr>
        </p:nvSpPr>
        <p:spPr>
          <a:prstGeom prst="rect">
            <a:avLst/>
          </a:prstGeom>
        </p:spPr>
        <p:txBody>
          <a:bodyPr/>
          <a:lstStyle/>
          <a:p>
            <a:fld id="{CC571AF6-6671-4538-974D-3AEC00AC0B82}" type="slidenum">
              <a:rPr lang="en-GB" smtClean="0"/>
              <a:t>24</a:t>
            </a:fld>
            <a:endParaRPr lang="en-GB"/>
          </a:p>
        </p:txBody>
      </p:sp>
      <p:sp>
        <p:nvSpPr>
          <p:cNvPr id="72" name="TextBox 71">
            <a:extLst>
              <a:ext uri="{FF2B5EF4-FFF2-40B4-BE49-F238E27FC236}">
                <a16:creationId xmlns:a16="http://schemas.microsoft.com/office/drawing/2014/main" id="{FBF67060-B27B-6DDD-4661-208C1A558AB4}"/>
              </a:ext>
            </a:extLst>
          </p:cNvPr>
          <p:cNvSpPr txBox="1"/>
          <p:nvPr/>
        </p:nvSpPr>
        <p:spPr>
          <a:xfrm>
            <a:off x="10575068" y="5773794"/>
            <a:ext cx="1378800" cy="276999"/>
          </a:xfrm>
          <a:prstGeom prst="rect">
            <a:avLst/>
          </a:prstGeom>
          <a:solidFill>
            <a:srgbClr val="FFDF7F"/>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defRPr sz="1200" b="1">
                <a:solidFill>
                  <a:srgbClr val="005E77"/>
                </a:solidFill>
                <a:cs typeface="Arial" panose="020B0604020202020204" pitchFamily="34" charset="0"/>
              </a:defRPr>
            </a:lvl1pPr>
          </a:lstStyle>
          <a:p>
            <a:pPr algn="ctr"/>
            <a:r>
              <a:rPr lang="en-US" sz="1600" b="0"/>
              <a:t>Steps</a:t>
            </a:r>
            <a:endParaRPr lang="nl-BE" sz="1600" b="0"/>
          </a:p>
        </p:txBody>
      </p:sp>
      <p:sp>
        <p:nvSpPr>
          <p:cNvPr id="73" name="TextBox 72">
            <a:extLst>
              <a:ext uri="{FF2B5EF4-FFF2-40B4-BE49-F238E27FC236}">
                <a16:creationId xmlns:a16="http://schemas.microsoft.com/office/drawing/2014/main" id="{E8B5933C-6A4D-BAFB-9167-D0EDC32F4C22}"/>
              </a:ext>
            </a:extLst>
          </p:cNvPr>
          <p:cNvSpPr txBox="1"/>
          <p:nvPr/>
        </p:nvSpPr>
        <p:spPr>
          <a:xfrm>
            <a:off x="10575068" y="5400776"/>
            <a:ext cx="1378800" cy="276999"/>
          </a:xfrm>
          <a:prstGeom prst="rect">
            <a:avLst/>
          </a:prstGeom>
          <a:solidFill>
            <a:srgbClr val="A8DEF5"/>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buFont typeface="Arial" panose="020B0604020202020204" pitchFamily="34" charset="0"/>
              <a:buChar char="•"/>
              <a:defRPr sz="1200" b="0">
                <a:solidFill>
                  <a:srgbClr val="005E77"/>
                </a:solidFill>
              </a:defRPr>
            </a:lvl1pPr>
          </a:lstStyle>
          <a:p>
            <a:pPr algn="ctr">
              <a:buNone/>
            </a:pPr>
            <a:r>
              <a:rPr lang="en-US" sz="1600"/>
              <a:t>Data points</a:t>
            </a:r>
            <a:endParaRPr lang="nl-BE" sz="1600"/>
          </a:p>
        </p:txBody>
      </p:sp>
      <p:grpSp>
        <p:nvGrpSpPr>
          <p:cNvPr id="15" name="Group 14">
            <a:extLst>
              <a:ext uri="{FF2B5EF4-FFF2-40B4-BE49-F238E27FC236}">
                <a16:creationId xmlns:a16="http://schemas.microsoft.com/office/drawing/2014/main" id="{27072C4A-225A-FC7F-B6BD-10C4300624A3}"/>
              </a:ext>
            </a:extLst>
          </p:cNvPr>
          <p:cNvGrpSpPr/>
          <p:nvPr/>
        </p:nvGrpSpPr>
        <p:grpSpPr>
          <a:xfrm>
            <a:off x="10272593" y="2880628"/>
            <a:ext cx="1689448" cy="1914101"/>
            <a:chOff x="10301046" y="2699087"/>
            <a:chExt cx="1689448" cy="1914101"/>
          </a:xfrm>
        </p:grpSpPr>
        <p:sp>
          <p:nvSpPr>
            <p:cNvPr id="65" name="Rectangle 64">
              <a:extLst>
                <a:ext uri="{FF2B5EF4-FFF2-40B4-BE49-F238E27FC236}">
                  <a16:creationId xmlns:a16="http://schemas.microsoft.com/office/drawing/2014/main" id="{717C1939-5EAE-98B2-83F2-21FA0ABD9D8E}"/>
                </a:ext>
              </a:extLst>
            </p:cNvPr>
            <p:cNvSpPr/>
            <p:nvPr/>
          </p:nvSpPr>
          <p:spPr>
            <a:xfrm>
              <a:off x="10301046" y="2699087"/>
              <a:ext cx="1689448" cy="1914101"/>
            </a:xfrm>
            <a:custGeom>
              <a:avLst/>
              <a:gdLst>
                <a:gd name="connsiteX0" fmla="*/ 0 w 1689448"/>
                <a:gd name="connsiteY0" fmla="*/ 0 h 1914101"/>
                <a:gd name="connsiteX1" fmla="*/ 596938 w 1689448"/>
                <a:gd name="connsiteY1" fmla="*/ 0 h 1914101"/>
                <a:gd name="connsiteX2" fmla="*/ 1193877 w 1689448"/>
                <a:gd name="connsiteY2" fmla="*/ 0 h 1914101"/>
                <a:gd name="connsiteX3" fmla="*/ 1689448 w 1689448"/>
                <a:gd name="connsiteY3" fmla="*/ 0 h 1914101"/>
                <a:gd name="connsiteX4" fmla="*/ 1689448 w 1689448"/>
                <a:gd name="connsiteY4" fmla="*/ 580611 h 1914101"/>
                <a:gd name="connsiteX5" fmla="*/ 1689448 w 1689448"/>
                <a:gd name="connsiteY5" fmla="*/ 1218644 h 1914101"/>
                <a:gd name="connsiteX6" fmla="*/ 1689448 w 1689448"/>
                <a:gd name="connsiteY6" fmla="*/ 1914101 h 1914101"/>
                <a:gd name="connsiteX7" fmla="*/ 1176982 w 1689448"/>
                <a:gd name="connsiteY7" fmla="*/ 1914101 h 1914101"/>
                <a:gd name="connsiteX8" fmla="*/ 664516 w 1689448"/>
                <a:gd name="connsiteY8" fmla="*/ 1914101 h 1914101"/>
                <a:gd name="connsiteX9" fmla="*/ 0 w 1689448"/>
                <a:gd name="connsiteY9" fmla="*/ 1914101 h 1914101"/>
                <a:gd name="connsiteX10" fmla="*/ 0 w 1689448"/>
                <a:gd name="connsiteY10" fmla="*/ 1333490 h 1914101"/>
                <a:gd name="connsiteX11" fmla="*/ 0 w 1689448"/>
                <a:gd name="connsiteY11" fmla="*/ 733739 h 1914101"/>
                <a:gd name="connsiteX12" fmla="*/ 0 w 1689448"/>
                <a:gd name="connsiteY12" fmla="*/ 0 h 191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9448" h="1914101" fill="none" extrusionOk="0">
                  <a:moveTo>
                    <a:pt x="0" y="0"/>
                  </a:moveTo>
                  <a:cubicBezTo>
                    <a:pt x="282978" y="-26075"/>
                    <a:pt x="420737" y="-9574"/>
                    <a:pt x="596938" y="0"/>
                  </a:cubicBezTo>
                  <a:cubicBezTo>
                    <a:pt x="773139" y="9574"/>
                    <a:pt x="965606" y="7737"/>
                    <a:pt x="1193877" y="0"/>
                  </a:cubicBezTo>
                  <a:cubicBezTo>
                    <a:pt x="1422148" y="-7737"/>
                    <a:pt x="1544480" y="15874"/>
                    <a:pt x="1689448" y="0"/>
                  </a:cubicBezTo>
                  <a:cubicBezTo>
                    <a:pt x="1668808" y="172363"/>
                    <a:pt x="1709828" y="305226"/>
                    <a:pt x="1689448" y="580611"/>
                  </a:cubicBezTo>
                  <a:cubicBezTo>
                    <a:pt x="1669068" y="855996"/>
                    <a:pt x="1710616" y="1050164"/>
                    <a:pt x="1689448" y="1218644"/>
                  </a:cubicBezTo>
                  <a:cubicBezTo>
                    <a:pt x="1668280" y="1387124"/>
                    <a:pt x="1677655" y="1575053"/>
                    <a:pt x="1689448" y="1914101"/>
                  </a:cubicBezTo>
                  <a:cubicBezTo>
                    <a:pt x="1553500" y="1937375"/>
                    <a:pt x="1394421" y="1926425"/>
                    <a:pt x="1176982" y="1914101"/>
                  </a:cubicBezTo>
                  <a:cubicBezTo>
                    <a:pt x="959543" y="1901777"/>
                    <a:pt x="866113" y="1934658"/>
                    <a:pt x="664516" y="1914101"/>
                  </a:cubicBezTo>
                  <a:cubicBezTo>
                    <a:pt x="462919" y="1893544"/>
                    <a:pt x="188297" y="1941367"/>
                    <a:pt x="0" y="1914101"/>
                  </a:cubicBezTo>
                  <a:cubicBezTo>
                    <a:pt x="19399" y="1673739"/>
                    <a:pt x="-23817" y="1507505"/>
                    <a:pt x="0" y="1333490"/>
                  </a:cubicBezTo>
                  <a:cubicBezTo>
                    <a:pt x="23817" y="1159475"/>
                    <a:pt x="23313" y="984937"/>
                    <a:pt x="0" y="733739"/>
                  </a:cubicBezTo>
                  <a:cubicBezTo>
                    <a:pt x="-23313" y="482541"/>
                    <a:pt x="-7244" y="294241"/>
                    <a:pt x="0" y="0"/>
                  </a:cubicBezTo>
                  <a:close/>
                </a:path>
                <a:path w="1689448" h="1914101" stroke="0" extrusionOk="0">
                  <a:moveTo>
                    <a:pt x="0" y="0"/>
                  </a:moveTo>
                  <a:cubicBezTo>
                    <a:pt x="288413" y="-24815"/>
                    <a:pt x="359102" y="-5622"/>
                    <a:pt x="580044" y="0"/>
                  </a:cubicBezTo>
                  <a:cubicBezTo>
                    <a:pt x="800986" y="5622"/>
                    <a:pt x="909953" y="-27907"/>
                    <a:pt x="1160088" y="0"/>
                  </a:cubicBezTo>
                  <a:cubicBezTo>
                    <a:pt x="1410223" y="27907"/>
                    <a:pt x="1531419" y="26467"/>
                    <a:pt x="1689448" y="0"/>
                  </a:cubicBezTo>
                  <a:cubicBezTo>
                    <a:pt x="1678339" y="309905"/>
                    <a:pt x="1719615" y="421529"/>
                    <a:pt x="1689448" y="676316"/>
                  </a:cubicBezTo>
                  <a:cubicBezTo>
                    <a:pt x="1659281" y="931103"/>
                    <a:pt x="1659018" y="1181664"/>
                    <a:pt x="1689448" y="1333490"/>
                  </a:cubicBezTo>
                  <a:cubicBezTo>
                    <a:pt x="1719878" y="1485316"/>
                    <a:pt x="1700465" y="1652417"/>
                    <a:pt x="1689448" y="1914101"/>
                  </a:cubicBezTo>
                  <a:cubicBezTo>
                    <a:pt x="1544573" y="1908383"/>
                    <a:pt x="1363449" y="1903746"/>
                    <a:pt x="1176982" y="1914101"/>
                  </a:cubicBezTo>
                  <a:cubicBezTo>
                    <a:pt x="990515" y="1924456"/>
                    <a:pt x="789137" y="1904645"/>
                    <a:pt x="596938" y="1914101"/>
                  </a:cubicBezTo>
                  <a:cubicBezTo>
                    <a:pt x="404739" y="1923557"/>
                    <a:pt x="123018" y="1893085"/>
                    <a:pt x="0" y="1914101"/>
                  </a:cubicBezTo>
                  <a:cubicBezTo>
                    <a:pt x="-7172" y="1681010"/>
                    <a:pt x="-6193" y="1444641"/>
                    <a:pt x="0" y="1256926"/>
                  </a:cubicBezTo>
                  <a:cubicBezTo>
                    <a:pt x="6193" y="1069212"/>
                    <a:pt x="-7372" y="775105"/>
                    <a:pt x="0" y="638034"/>
                  </a:cubicBezTo>
                  <a:cubicBezTo>
                    <a:pt x="7372" y="500963"/>
                    <a:pt x="4649" y="134059"/>
                    <a:pt x="0" y="0"/>
                  </a:cubicBezTo>
                  <a:close/>
                </a:path>
              </a:pathLst>
            </a:custGeom>
            <a:solidFill>
              <a:srgbClr val="52BDEC">
                <a:alpha val="50000"/>
              </a:srgbClr>
            </a:solidFill>
            <a:ln w="19050">
              <a:solidFill>
                <a:srgbClr val="005E77"/>
              </a:solidFill>
              <a:extLst>
                <a:ext uri="{C807C97D-BFC1-408E-A445-0C87EB9F89A2}">
                  <ask:lineSketchStyleProps xmlns:ask="http://schemas.microsoft.com/office/drawing/2018/sketchyshapes" sd="175670711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71" name="Tekstvak 37">
              <a:extLst>
                <a:ext uri="{FF2B5EF4-FFF2-40B4-BE49-F238E27FC236}">
                  <a16:creationId xmlns:a16="http://schemas.microsoft.com/office/drawing/2014/main" id="{64BCE115-4AF5-F951-523D-209B690F6E71}"/>
                </a:ext>
              </a:extLst>
            </p:cNvPr>
            <p:cNvSpPr txBox="1"/>
            <p:nvPr/>
          </p:nvSpPr>
          <p:spPr>
            <a:xfrm>
              <a:off x="10313220" y="3093846"/>
              <a:ext cx="1660309" cy="307777"/>
            </a:xfrm>
            <a:prstGeom prst="rect">
              <a:avLst/>
            </a:prstGeom>
            <a:noFill/>
          </p:spPr>
          <p:txBody>
            <a:bodyPr wrap="square" rtlCol="0">
              <a:spAutoFit/>
            </a:bodyPr>
            <a:lstStyle/>
            <a:p>
              <a:pPr algn="ctr"/>
              <a:r>
                <a:rPr lang="en-US" sz="1400">
                  <a:solidFill>
                    <a:srgbClr val="005E77"/>
                  </a:solidFill>
                  <a:latin typeface="Arial" panose="020B0604020202020204" pitchFamily="34" charset="0"/>
                  <a:cs typeface="Arial" panose="020B0604020202020204" pitchFamily="34" charset="0"/>
                </a:rPr>
                <a:t>Publication</a:t>
              </a:r>
            </a:p>
          </p:txBody>
        </p:sp>
        <p:pic>
          <p:nvPicPr>
            <p:cNvPr id="96" name="Graphic 95" descr="Krant met effen opvulling">
              <a:extLst>
                <a:ext uri="{FF2B5EF4-FFF2-40B4-BE49-F238E27FC236}">
                  <a16:creationId xmlns:a16="http://schemas.microsoft.com/office/drawing/2014/main" id="{2C2E3E41-65F3-373D-CDF8-DDB7363397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89185" y="3497642"/>
              <a:ext cx="708377" cy="708377"/>
            </a:xfrm>
            <a:prstGeom prst="rect">
              <a:avLst/>
            </a:prstGeom>
          </p:spPr>
        </p:pic>
      </p:grpSp>
      <p:grpSp>
        <p:nvGrpSpPr>
          <p:cNvPr id="11" name="Group 10">
            <a:extLst>
              <a:ext uri="{FF2B5EF4-FFF2-40B4-BE49-F238E27FC236}">
                <a16:creationId xmlns:a16="http://schemas.microsoft.com/office/drawing/2014/main" id="{DF45D826-6084-413F-17B6-C4B252641057}"/>
              </a:ext>
            </a:extLst>
          </p:cNvPr>
          <p:cNvGrpSpPr/>
          <p:nvPr/>
        </p:nvGrpSpPr>
        <p:grpSpPr>
          <a:xfrm>
            <a:off x="107992" y="3008328"/>
            <a:ext cx="1597049" cy="1444230"/>
            <a:chOff x="1103506" y="2275320"/>
            <a:chExt cx="1597049" cy="1444230"/>
          </a:xfrm>
        </p:grpSpPr>
        <p:sp>
          <p:nvSpPr>
            <p:cNvPr id="66" name="Rectangle 65">
              <a:extLst>
                <a:ext uri="{FF2B5EF4-FFF2-40B4-BE49-F238E27FC236}">
                  <a16:creationId xmlns:a16="http://schemas.microsoft.com/office/drawing/2014/main" id="{B356BB62-BF9C-BD78-D29A-E0876FFF5CEB}"/>
                </a:ext>
              </a:extLst>
            </p:cNvPr>
            <p:cNvSpPr/>
            <p:nvPr/>
          </p:nvSpPr>
          <p:spPr>
            <a:xfrm>
              <a:off x="1103507" y="2344040"/>
              <a:ext cx="1597048" cy="1375510"/>
            </a:xfrm>
            <a:custGeom>
              <a:avLst/>
              <a:gdLst>
                <a:gd name="connsiteX0" fmla="*/ 0 w 1597048"/>
                <a:gd name="connsiteY0" fmla="*/ 0 h 1375510"/>
                <a:gd name="connsiteX1" fmla="*/ 500408 w 1597048"/>
                <a:gd name="connsiteY1" fmla="*/ 0 h 1375510"/>
                <a:gd name="connsiteX2" fmla="*/ 1032758 w 1597048"/>
                <a:gd name="connsiteY2" fmla="*/ 0 h 1375510"/>
                <a:gd name="connsiteX3" fmla="*/ 1597048 w 1597048"/>
                <a:gd name="connsiteY3" fmla="*/ 0 h 1375510"/>
                <a:gd name="connsiteX4" fmla="*/ 1597048 w 1597048"/>
                <a:gd name="connsiteY4" fmla="*/ 660245 h 1375510"/>
                <a:gd name="connsiteX5" fmla="*/ 1597048 w 1597048"/>
                <a:gd name="connsiteY5" fmla="*/ 1375510 h 1375510"/>
                <a:gd name="connsiteX6" fmla="*/ 1064699 w 1597048"/>
                <a:gd name="connsiteY6" fmla="*/ 1375510 h 1375510"/>
                <a:gd name="connsiteX7" fmla="*/ 564290 w 1597048"/>
                <a:gd name="connsiteY7" fmla="*/ 1375510 h 1375510"/>
                <a:gd name="connsiteX8" fmla="*/ 0 w 1597048"/>
                <a:gd name="connsiteY8" fmla="*/ 1375510 h 1375510"/>
                <a:gd name="connsiteX9" fmla="*/ 0 w 1597048"/>
                <a:gd name="connsiteY9" fmla="*/ 701510 h 1375510"/>
                <a:gd name="connsiteX10" fmla="*/ 0 w 1597048"/>
                <a:gd name="connsiteY10" fmla="*/ 0 h 1375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7048" h="1375510" fill="none" extrusionOk="0">
                  <a:moveTo>
                    <a:pt x="0" y="0"/>
                  </a:moveTo>
                  <a:cubicBezTo>
                    <a:pt x="238896" y="10854"/>
                    <a:pt x="304044" y="-9032"/>
                    <a:pt x="500408" y="0"/>
                  </a:cubicBezTo>
                  <a:cubicBezTo>
                    <a:pt x="696772" y="9032"/>
                    <a:pt x="784973" y="305"/>
                    <a:pt x="1032758" y="0"/>
                  </a:cubicBezTo>
                  <a:cubicBezTo>
                    <a:pt x="1280543" y="-305"/>
                    <a:pt x="1409185" y="1471"/>
                    <a:pt x="1597048" y="0"/>
                  </a:cubicBezTo>
                  <a:cubicBezTo>
                    <a:pt x="1568034" y="174935"/>
                    <a:pt x="1590450" y="379204"/>
                    <a:pt x="1597048" y="660245"/>
                  </a:cubicBezTo>
                  <a:cubicBezTo>
                    <a:pt x="1603646" y="941287"/>
                    <a:pt x="1598489" y="1111144"/>
                    <a:pt x="1597048" y="1375510"/>
                  </a:cubicBezTo>
                  <a:cubicBezTo>
                    <a:pt x="1393369" y="1391511"/>
                    <a:pt x="1255067" y="1401463"/>
                    <a:pt x="1064699" y="1375510"/>
                  </a:cubicBezTo>
                  <a:cubicBezTo>
                    <a:pt x="874331" y="1349557"/>
                    <a:pt x="671221" y="1377259"/>
                    <a:pt x="564290" y="1375510"/>
                  </a:cubicBezTo>
                  <a:cubicBezTo>
                    <a:pt x="457359" y="1373761"/>
                    <a:pt x="123976" y="1353827"/>
                    <a:pt x="0" y="1375510"/>
                  </a:cubicBezTo>
                  <a:cubicBezTo>
                    <a:pt x="32607" y="1113299"/>
                    <a:pt x="29826" y="923599"/>
                    <a:pt x="0" y="701510"/>
                  </a:cubicBezTo>
                  <a:cubicBezTo>
                    <a:pt x="-29826" y="479421"/>
                    <a:pt x="-2856" y="278298"/>
                    <a:pt x="0" y="0"/>
                  </a:cubicBezTo>
                  <a:close/>
                </a:path>
                <a:path w="1597048" h="1375510"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602363" y="324566"/>
                    <a:pt x="1591425" y="351196"/>
                    <a:pt x="1597048" y="674000"/>
                  </a:cubicBezTo>
                  <a:cubicBezTo>
                    <a:pt x="1602671" y="996804"/>
                    <a:pt x="1612051" y="1224502"/>
                    <a:pt x="1597048" y="1375510"/>
                  </a:cubicBezTo>
                  <a:cubicBezTo>
                    <a:pt x="1391546" y="1377589"/>
                    <a:pt x="1274479" y="1369659"/>
                    <a:pt x="1096640" y="1375510"/>
                  </a:cubicBezTo>
                  <a:cubicBezTo>
                    <a:pt x="918801" y="1381361"/>
                    <a:pt x="701596" y="1357372"/>
                    <a:pt x="548320" y="1375510"/>
                  </a:cubicBezTo>
                  <a:cubicBezTo>
                    <a:pt x="395044" y="1393648"/>
                    <a:pt x="256213" y="1371389"/>
                    <a:pt x="0" y="1375510"/>
                  </a:cubicBezTo>
                  <a:cubicBezTo>
                    <a:pt x="-3496" y="1237855"/>
                    <a:pt x="-24665" y="865482"/>
                    <a:pt x="0" y="729020"/>
                  </a:cubicBezTo>
                  <a:cubicBezTo>
                    <a:pt x="24665" y="592558"/>
                    <a:pt x="-24162" y="314314"/>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5" name="Graphic 4" descr="Brain with solid fill">
              <a:extLst>
                <a:ext uri="{FF2B5EF4-FFF2-40B4-BE49-F238E27FC236}">
                  <a16:creationId xmlns:a16="http://schemas.microsoft.com/office/drawing/2014/main" id="{9415C391-1075-FD0F-0EB7-9C3CF441941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2059699" y="2419229"/>
              <a:ext cx="525158" cy="525158"/>
            </a:xfrm>
            <a:prstGeom prst="rect">
              <a:avLst/>
            </a:prstGeom>
          </p:spPr>
        </p:pic>
        <p:pic>
          <p:nvPicPr>
            <p:cNvPr id="24" name="Graphic 23" descr="Rat met effen opvulling">
              <a:extLst>
                <a:ext uri="{FF2B5EF4-FFF2-40B4-BE49-F238E27FC236}">
                  <a16:creationId xmlns:a16="http://schemas.microsoft.com/office/drawing/2014/main" id="{9AE7587F-53D0-02E5-4433-0F05B61F772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9913" y="2275320"/>
              <a:ext cx="718743" cy="718743"/>
            </a:xfrm>
            <a:prstGeom prst="rect">
              <a:avLst/>
            </a:prstGeom>
          </p:spPr>
        </p:pic>
        <p:sp>
          <p:nvSpPr>
            <p:cNvPr id="25" name="Tekstvak 37">
              <a:extLst>
                <a:ext uri="{FF2B5EF4-FFF2-40B4-BE49-F238E27FC236}">
                  <a16:creationId xmlns:a16="http://schemas.microsoft.com/office/drawing/2014/main" id="{8A87625F-22A0-4675-A3B7-23B7B1C0BE35}"/>
                </a:ext>
              </a:extLst>
            </p:cNvPr>
            <p:cNvSpPr txBox="1"/>
            <p:nvPr/>
          </p:nvSpPr>
          <p:spPr>
            <a:xfrm>
              <a:off x="1103506" y="2904949"/>
              <a:ext cx="1530894" cy="523220"/>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Brain tissues </a:t>
              </a:r>
              <a:r>
                <a:rPr lang="nl-BE" sz="1400" b="1" err="1">
                  <a:solidFill>
                    <a:srgbClr val="005E77"/>
                  </a:solidFill>
                  <a:latin typeface="Arial" panose="020B0604020202020204" pitchFamily="34" charset="0"/>
                  <a:cs typeface="Arial" panose="020B0604020202020204" pitchFamily="34" charset="0"/>
                </a:rPr>
                <a:t>from</a:t>
              </a:r>
              <a:r>
                <a:rPr lang="nl-BE" sz="1400" b="1">
                  <a:solidFill>
                    <a:srgbClr val="005E77"/>
                  </a:solidFill>
                  <a:latin typeface="Arial" panose="020B0604020202020204" pitchFamily="34" charset="0"/>
                  <a:cs typeface="Arial" panose="020B0604020202020204" pitchFamily="34" charset="0"/>
                </a:rPr>
                <a:t> rats</a:t>
              </a:r>
            </a:p>
          </p:txBody>
        </p:sp>
      </p:grpSp>
      <p:grpSp>
        <p:nvGrpSpPr>
          <p:cNvPr id="14" name="Group 13">
            <a:extLst>
              <a:ext uri="{FF2B5EF4-FFF2-40B4-BE49-F238E27FC236}">
                <a16:creationId xmlns:a16="http://schemas.microsoft.com/office/drawing/2014/main" id="{6C37B9DB-730D-5CB3-635F-C5E53422A4BD}"/>
              </a:ext>
            </a:extLst>
          </p:cNvPr>
          <p:cNvGrpSpPr/>
          <p:nvPr/>
        </p:nvGrpSpPr>
        <p:grpSpPr>
          <a:xfrm>
            <a:off x="5251276" y="3339058"/>
            <a:ext cx="1689448" cy="820786"/>
            <a:chOff x="5328144" y="4093536"/>
            <a:chExt cx="1689448" cy="820786"/>
          </a:xfrm>
        </p:grpSpPr>
        <p:sp>
          <p:nvSpPr>
            <p:cNvPr id="31" name="Rectangle 30">
              <a:extLst>
                <a:ext uri="{FF2B5EF4-FFF2-40B4-BE49-F238E27FC236}">
                  <a16:creationId xmlns:a16="http://schemas.microsoft.com/office/drawing/2014/main" id="{1D3313C4-0DC0-912A-6338-91CE4B58B0FF}"/>
                </a:ext>
              </a:extLst>
            </p:cNvPr>
            <p:cNvSpPr/>
            <p:nvPr/>
          </p:nvSpPr>
          <p:spPr>
            <a:xfrm>
              <a:off x="5328144" y="4093536"/>
              <a:ext cx="1689448" cy="820786"/>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32" name="Tekstvak 37">
              <a:extLst>
                <a:ext uri="{FF2B5EF4-FFF2-40B4-BE49-F238E27FC236}">
                  <a16:creationId xmlns:a16="http://schemas.microsoft.com/office/drawing/2014/main" id="{56D6DE6D-6033-3A6E-DFFA-B1BAFC7B5A7C}"/>
                </a:ext>
              </a:extLst>
            </p:cNvPr>
            <p:cNvSpPr txBox="1"/>
            <p:nvPr/>
          </p:nvSpPr>
          <p:spPr>
            <a:xfrm>
              <a:off x="5771479" y="4345950"/>
              <a:ext cx="1199946" cy="307777"/>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Sequencing</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pic>
          <p:nvPicPr>
            <p:cNvPr id="33" name="Graphic 32" descr="Onderzoek met effen opvulling">
              <a:extLst>
                <a:ext uri="{FF2B5EF4-FFF2-40B4-BE49-F238E27FC236}">
                  <a16:creationId xmlns:a16="http://schemas.microsoft.com/office/drawing/2014/main" id="{6B64CDE9-1409-D2FE-EDC5-A54AA05B714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41601" y="4253561"/>
              <a:ext cx="465645" cy="465645"/>
            </a:xfrm>
            <a:prstGeom prst="rect">
              <a:avLst/>
            </a:prstGeom>
          </p:spPr>
        </p:pic>
      </p:grpSp>
      <p:grpSp>
        <p:nvGrpSpPr>
          <p:cNvPr id="22" name="Group 21">
            <a:extLst>
              <a:ext uri="{FF2B5EF4-FFF2-40B4-BE49-F238E27FC236}">
                <a16:creationId xmlns:a16="http://schemas.microsoft.com/office/drawing/2014/main" id="{8BFA3FCB-E3B2-CD2E-286C-90C48980400D}"/>
              </a:ext>
            </a:extLst>
          </p:cNvPr>
          <p:cNvGrpSpPr/>
          <p:nvPr/>
        </p:nvGrpSpPr>
        <p:grpSpPr>
          <a:xfrm>
            <a:off x="7068852" y="3457496"/>
            <a:ext cx="1609222" cy="602473"/>
            <a:chOff x="7166122" y="2980691"/>
            <a:chExt cx="1609222" cy="602473"/>
          </a:xfrm>
        </p:grpSpPr>
        <p:sp>
          <p:nvSpPr>
            <p:cNvPr id="18" name="Rectangle 17">
              <a:extLst>
                <a:ext uri="{FF2B5EF4-FFF2-40B4-BE49-F238E27FC236}">
                  <a16:creationId xmlns:a16="http://schemas.microsoft.com/office/drawing/2014/main" id="{E838CB1E-D933-5658-4A82-F90E0886AE80}"/>
                </a:ext>
              </a:extLst>
            </p:cNvPr>
            <p:cNvSpPr/>
            <p:nvPr/>
          </p:nvSpPr>
          <p:spPr>
            <a:xfrm>
              <a:off x="7166122" y="2980691"/>
              <a:ext cx="1597048" cy="602473"/>
            </a:xfrm>
            <a:custGeom>
              <a:avLst/>
              <a:gdLst>
                <a:gd name="connsiteX0" fmla="*/ 0 w 1597048"/>
                <a:gd name="connsiteY0" fmla="*/ 0 h 602473"/>
                <a:gd name="connsiteX1" fmla="*/ 500408 w 1597048"/>
                <a:gd name="connsiteY1" fmla="*/ 0 h 602473"/>
                <a:gd name="connsiteX2" fmla="*/ 1032758 w 1597048"/>
                <a:gd name="connsiteY2" fmla="*/ 0 h 602473"/>
                <a:gd name="connsiteX3" fmla="*/ 1597048 w 1597048"/>
                <a:gd name="connsiteY3" fmla="*/ 0 h 602473"/>
                <a:gd name="connsiteX4" fmla="*/ 1597048 w 1597048"/>
                <a:gd name="connsiteY4" fmla="*/ 602473 h 602473"/>
                <a:gd name="connsiteX5" fmla="*/ 1080669 w 1597048"/>
                <a:gd name="connsiteY5" fmla="*/ 602473 h 602473"/>
                <a:gd name="connsiteX6" fmla="*/ 580261 w 1597048"/>
                <a:gd name="connsiteY6" fmla="*/ 602473 h 602473"/>
                <a:gd name="connsiteX7" fmla="*/ 0 w 1597048"/>
                <a:gd name="connsiteY7" fmla="*/ 602473 h 602473"/>
                <a:gd name="connsiteX8" fmla="*/ 0 w 1597048"/>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048" h="602473" fill="none" extrusionOk="0">
                  <a:moveTo>
                    <a:pt x="0" y="0"/>
                  </a:moveTo>
                  <a:cubicBezTo>
                    <a:pt x="244484" y="-20454"/>
                    <a:pt x="388014" y="3268"/>
                    <a:pt x="500408" y="0"/>
                  </a:cubicBezTo>
                  <a:cubicBezTo>
                    <a:pt x="612802" y="-3268"/>
                    <a:pt x="800856" y="9713"/>
                    <a:pt x="1032758" y="0"/>
                  </a:cubicBezTo>
                  <a:cubicBezTo>
                    <a:pt x="1264660" y="-9713"/>
                    <a:pt x="1446363" y="-1877"/>
                    <a:pt x="1597048" y="0"/>
                  </a:cubicBezTo>
                  <a:cubicBezTo>
                    <a:pt x="1571350" y="213409"/>
                    <a:pt x="1624207" y="431491"/>
                    <a:pt x="1597048" y="602473"/>
                  </a:cubicBezTo>
                  <a:cubicBezTo>
                    <a:pt x="1375439" y="625846"/>
                    <a:pt x="1221438" y="607751"/>
                    <a:pt x="1080669" y="602473"/>
                  </a:cubicBezTo>
                  <a:cubicBezTo>
                    <a:pt x="939900" y="597195"/>
                    <a:pt x="806678" y="601783"/>
                    <a:pt x="580261" y="602473"/>
                  </a:cubicBezTo>
                  <a:cubicBezTo>
                    <a:pt x="353844" y="603163"/>
                    <a:pt x="285008" y="587271"/>
                    <a:pt x="0" y="602473"/>
                  </a:cubicBezTo>
                  <a:cubicBezTo>
                    <a:pt x="-29591" y="306439"/>
                    <a:pt x="-932" y="253414"/>
                    <a:pt x="0" y="0"/>
                  </a:cubicBezTo>
                  <a:close/>
                </a:path>
                <a:path w="1597048" h="602473"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588856" y="287972"/>
                    <a:pt x="1588650" y="334116"/>
                    <a:pt x="1597048" y="602473"/>
                  </a:cubicBezTo>
                  <a:cubicBezTo>
                    <a:pt x="1383117" y="585603"/>
                    <a:pt x="1293574" y="601638"/>
                    <a:pt x="1032758" y="602473"/>
                  </a:cubicBezTo>
                  <a:cubicBezTo>
                    <a:pt x="771942" y="603309"/>
                    <a:pt x="751727" y="583186"/>
                    <a:pt x="548320" y="602473"/>
                  </a:cubicBezTo>
                  <a:cubicBezTo>
                    <a:pt x="344913" y="621760"/>
                    <a:pt x="153276" y="584335"/>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20" name="Graphic 19" descr="Open folder with solid fill">
              <a:extLst>
                <a:ext uri="{FF2B5EF4-FFF2-40B4-BE49-F238E27FC236}">
                  <a16:creationId xmlns:a16="http://schemas.microsoft.com/office/drawing/2014/main" id="{2659B843-86DE-263C-BAD3-8BD5697D5396}"/>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7187388" y="3060743"/>
              <a:ext cx="442368" cy="442368"/>
            </a:xfrm>
            <a:prstGeom prst="rect">
              <a:avLst/>
            </a:prstGeom>
          </p:spPr>
        </p:pic>
        <p:sp>
          <p:nvSpPr>
            <p:cNvPr id="21" name="Tekstvak 37">
              <a:extLst>
                <a:ext uri="{FF2B5EF4-FFF2-40B4-BE49-F238E27FC236}">
                  <a16:creationId xmlns:a16="http://schemas.microsoft.com/office/drawing/2014/main" id="{20145E76-C6C8-8F00-DAA5-AE3D3F225B20}"/>
                </a:ext>
              </a:extLst>
            </p:cNvPr>
            <p:cNvSpPr txBox="1"/>
            <p:nvPr/>
          </p:nvSpPr>
          <p:spPr>
            <a:xfrm>
              <a:off x="7577665" y="3149104"/>
              <a:ext cx="1197679" cy="307777"/>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FASTQ files</a:t>
              </a:r>
            </a:p>
          </p:txBody>
        </p:sp>
      </p:grpSp>
      <p:grpSp>
        <p:nvGrpSpPr>
          <p:cNvPr id="30" name="Group 29">
            <a:extLst>
              <a:ext uri="{FF2B5EF4-FFF2-40B4-BE49-F238E27FC236}">
                <a16:creationId xmlns:a16="http://schemas.microsoft.com/office/drawing/2014/main" id="{332AB26A-2DC5-0F27-4720-1E73DB6704F3}"/>
              </a:ext>
            </a:extLst>
          </p:cNvPr>
          <p:cNvGrpSpPr/>
          <p:nvPr/>
        </p:nvGrpSpPr>
        <p:grpSpPr>
          <a:xfrm>
            <a:off x="3500588" y="3444123"/>
            <a:ext cx="1753512" cy="602473"/>
            <a:chOff x="7254218" y="2980691"/>
            <a:chExt cx="1566172" cy="602473"/>
          </a:xfrm>
        </p:grpSpPr>
        <p:sp>
          <p:nvSpPr>
            <p:cNvPr id="34" name="Rectangle 33">
              <a:extLst>
                <a:ext uri="{FF2B5EF4-FFF2-40B4-BE49-F238E27FC236}">
                  <a16:creationId xmlns:a16="http://schemas.microsoft.com/office/drawing/2014/main" id="{299A776D-3F4A-5A4A-E56D-B66B2ACE81F0}"/>
                </a:ext>
              </a:extLst>
            </p:cNvPr>
            <p:cNvSpPr/>
            <p:nvPr/>
          </p:nvSpPr>
          <p:spPr>
            <a:xfrm>
              <a:off x="7254218" y="2980691"/>
              <a:ext cx="1508952" cy="602473"/>
            </a:xfrm>
            <a:custGeom>
              <a:avLst/>
              <a:gdLst>
                <a:gd name="connsiteX0" fmla="*/ 0 w 1508952"/>
                <a:gd name="connsiteY0" fmla="*/ 0 h 602473"/>
                <a:gd name="connsiteX1" fmla="*/ 472805 w 1508952"/>
                <a:gd name="connsiteY1" fmla="*/ 0 h 602473"/>
                <a:gd name="connsiteX2" fmla="*/ 975789 w 1508952"/>
                <a:gd name="connsiteY2" fmla="*/ 0 h 602473"/>
                <a:gd name="connsiteX3" fmla="*/ 1508952 w 1508952"/>
                <a:gd name="connsiteY3" fmla="*/ 0 h 602473"/>
                <a:gd name="connsiteX4" fmla="*/ 1508952 w 1508952"/>
                <a:gd name="connsiteY4" fmla="*/ 602473 h 602473"/>
                <a:gd name="connsiteX5" fmla="*/ 1021058 w 1508952"/>
                <a:gd name="connsiteY5" fmla="*/ 602473 h 602473"/>
                <a:gd name="connsiteX6" fmla="*/ 548253 w 1508952"/>
                <a:gd name="connsiteY6" fmla="*/ 602473 h 602473"/>
                <a:gd name="connsiteX7" fmla="*/ 0 w 1508952"/>
                <a:gd name="connsiteY7" fmla="*/ 602473 h 602473"/>
                <a:gd name="connsiteX8" fmla="*/ 0 w 1508952"/>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52" h="602473" fill="none" extrusionOk="0">
                  <a:moveTo>
                    <a:pt x="0" y="0"/>
                  </a:moveTo>
                  <a:cubicBezTo>
                    <a:pt x="216331" y="-22447"/>
                    <a:pt x="352058" y="21627"/>
                    <a:pt x="472805" y="0"/>
                  </a:cubicBezTo>
                  <a:cubicBezTo>
                    <a:pt x="593552" y="-21627"/>
                    <a:pt x="862320" y="8938"/>
                    <a:pt x="975789" y="0"/>
                  </a:cubicBezTo>
                  <a:cubicBezTo>
                    <a:pt x="1089258" y="-8938"/>
                    <a:pt x="1393911" y="3371"/>
                    <a:pt x="1508952" y="0"/>
                  </a:cubicBezTo>
                  <a:cubicBezTo>
                    <a:pt x="1483254" y="213409"/>
                    <a:pt x="1536111" y="431491"/>
                    <a:pt x="1508952" y="602473"/>
                  </a:cubicBezTo>
                  <a:cubicBezTo>
                    <a:pt x="1356227" y="603561"/>
                    <a:pt x="1121848" y="603633"/>
                    <a:pt x="1021058" y="602473"/>
                  </a:cubicBezTo>
                  <a:cubicBezTo>
                    <a:pt x="920268" y="601313"/>
                    <a:pt x="705807" y="591775"/>
                    <a:pt x="548253" y="602473"/>
                  </a:cubicBezTo>
                  <a:cubicBezTo>
                    <a:pt x="390700" y="613171"/>
                    <a:pt x="169134" y="615830"/>
                    <a:pt x="0" y="602473"/>
                  </a:cubicBezTo>
                  <a:cubicBezTo>
                    <a:pt x="-29591" y="306439"/>
                    <a:pt x="-932" y="253414"/>
                    <a:pt x="0" y="0"/>
                  </a:cubicBezTo>
                  <a:close/>
                </a:path>
                <a:path w="1508952" h="602473" stroke="0" extrusionOk="0">
                  <a:moveTo>
                    <a:pt x="0" y="0"/>
                  </a:moveTo>
                  <a:cubicBezTo>
                    <a:pt x="110408" y="-24933"/>
                    <a:pt x="359112" y="-15953"/>
                    <a:pt x="502984" y="0"/>
                  </a:cubicBezTo>
                  <a:cubicBezTo>
                    <a:pt x="646856" y="15953"/>
                    <a:pt x="771940" y="4705"/>
                    <a:pt x="975789" y="0"/>
                  </a:cubicBezTo>
                  <a:cubicBezTo>
                    <a:pt x="1179639" y="-4705"/>
                    <a:pt x="1266117" y="-20246"/>
                    <a:pt x="1508952" y="0"/>
                  </a:cubicBezTo>
                  <a:cubicBezTo>
                    <a:pt x="1500760" y="287972"/>
                    <a:pt x="1500554" y="334116"/>
                    <a:pt x="1508952" y="602473"/>
                  </a:cubicBezTo>
                  <a:cubicBezTo>
                    <a:pt x="1369906" y="579071"/>
                    <a:pt x="1201934" y="607776"/>
                    <a:pt x="975789" y="602473"/>
                  </a:cubicBezTo>
                  <a:cubicBezTo>
                    <a:pt x="749644" y="597170"/>
                    <a:pt x="697227" y="591352"/>
                    <a:pt x="518074" y="602473"/>
                  </a:cubicBezTo>
                  <a:cubicBezTo>
                    <a:pt x="338922" y="613594"/>
                    <a:pt x="151838" y="621030"/>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35" name="Graphic 34" descr="Test tubes with solid fill">
              <a:extLst>
                <a:ext uri="{FF2B5EF4-FFF2-40B4-BE49-F238E27FC236}">
                  <a16:creationId xmlns:a16="http://schemas.microsoft.com/office/drawing/2014/main" id="{877098B9-63BE-E22F-FAB8-BE11DFBF4006}"/>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a:off x="7310342" y="3062437"/>
              <a:ext cx="336328" cy="391593"/>
            </a:xfrm>
            <a:prstGeom prst="rect">
              <a:avLst/>
            </a:prstGeom>
          </p:spPr>
        </p:pic>
        <p:sp>
          <p:nvSpPr>
            <p:cNvPr id="36" name="Tekstvak 37">
              <a:extLst>
                <a:ext uri="{FF2B5EF4-FFF2-40B4-BE49-F238E27FC236}">
                  <a16:creationId xmlns:a16="http://schemas.microsoft.com/office/drawing/2014/main" id="{19AB2248-0779-0ACE-BCD8-B3E4F5A94268}"/>
                </a:ext>
              </a:extLst>
            </p:cNvPr>
            <p:cNvSpPr txBox="1"/>
            <p:nvPr/>
          </p:nvSpPr>
          <p:spPr>
            <a:xfrm>
              <a:off x="7600721" y="3119261"/>
              <a:ext cx="1219669" cy="307777"/>
            </a:xfrm>
            <a:prstGeom prst="rect">
              <a:avLst/>
            </a:prstGeom>
            <a:noFill/>
          </p:spPr>
          <p:txBody>
            <a:bodyPr wrap="square" rtlCol="0">
              <a:spAutoFit/>
            </a:bodyPr>
            <a:lstStyle/>
            <a:p>
              <a:r>
                <a:rPr lang="nl-BE" sz="1400" b="1">
                  <a:solidFill>
                    <a:srgbClr val="005E77"/>
                  </a:solidFill>
                  <a:latin typeface="Arial" panose="020B0604020202020204" pitchFamily="34" charset="0"/>
                  <a:cs typeface="Arial" panose="020B0604020202020204" pitchFamily="34" charset="0"/>
                </a:rPr>
                <a:t>RNA samples</a:t>
              </a:r>
            </a:p>
          </p:txBody>
        </p:sp>
      </p:grpSp>
      <p:grpSp>
        <p:nvGrpSpPr>
          <p:cNvPr id="46" name="Group 45">
            <a:extLst>
              <a:ext uri="{FF2B5EF4-FFF2-40B4-BE49-F238E27FC236}">
                <a16:creationId xmlns:a16="http://schemas.microsoft.com/office/drawing/2014/main" id="{6E5E5C71-9C8A-C37E-33E0-4BBF1A3B23E7}"/>
              </a:ext>
            </a:extLst>
          </p:cNvPr>
          <p:cNvGrpSpPr/>
          <p:nvPr/>
        </p:nvGrpSpPr>
        <p:grpSpPr>
          <a:xfrm>
            <a:off x="1752698" y="3369404"/>
            <a:ext cx="1689448" cy="820786"/>
            <a:chOff x="5328144" y="4093536"/>
            <a:chExt cx="1689448" cy="820786"/>
          </a:xfrm>
        </p:grpSpPr>
        <p:sp>
          <p:nvSpPr>
            <p:cNvPr id="47" name="Rectangle 46">
              <a:extLst>
                <a:ext uri="{FF2B5EF4-FFF2-40B4-BE49-F238E27FC236}">
                  <a16:creationId xmlns:a16="http://schemas.microsoft.com/office/drawing/2014/main" id="{5662A9B4-7790-C7C5-4E99-E9C36F89AC2C}"/>
                </a:ext>
              </a:extLst>
            </p:cNvPr>
            <p:cNvSpPr/>
            <p:nvPr/>
          </p:nvSpPr>
          <p:spPr>
            <a:xfrm>
              <a:off x="5328144" y="4093536"/>
              <a:ext cx="1689448" cy="820786"/>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48" name="Tekstvak 37">
              <a:extLst>
                <a:ext uri="{FF2B5EF4-FFF2-40B4-BE49-F238E27FC236}">
                  <a16:creationId xmlns:a16="http://schemas.microsoft.com/office/drawing/2014/main" id="{C1FD6C2E-3A53-2436-F1DE-C1C9A6627C98}"/>
                </a:ext>
              </a:extLst>
            </p:cNvPr>
            <p:cNvSpPr txBox="1"/>
            <p:nvPr/>
          </p:nvSpPr>
          <p:spPr>
            <a:xfrm>
              <a:off x="5357976" y="4260401"/>
              <a:ext cx="1640286" cy="523220"/>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RNA </a:t>
              </a:r>
              <a:r>
                <a:rPr lang="nl-BE" sz="1400" b="1" err="1">
                  <a:solidFill>
                    <a:srgbClr val="005E77"/>
                  </a:solidFill>
                  <a:latin typeface="Arial" panose="020B0604020202020204" pitchFamily="34" charset="0"/>
                  <a:cs typeface="Arial" panose="020B0604020202020204" pitchFamily="34" charset="0"/>
                </a:rPr>
                <a:t>isolation</a:t>
              </a:r>
              <a:r>
                <a:rPr lang="nl-BE" sz="1400" b="1">
                  <a:solidFill>
                    <a:srgbClr val="005E77"/>
                  </a:solidFill>
                  <a:latin typeface="Arial" panose="020B0604020202020204" pitchFamily="34" charset="0"/>
                  <a:cs typeface="Arial" panose="020B0604020202020204" pitchFamily="34" charset="0"/>
                </a:rPr>
                <a:t> &amp; </a:t>
              </a:r>
              <a:r>
                <a:rPr lang="nl-BE" sz="1400" b="1" err="1">
                  <a:solidFill>
                    <a:srgbClr val="005E77"/>
                  </a:solidFill>
                  <a:latin typeface="Arial" panose="020B0604020202020204" pitchFamily="34" charset="0"/>
                  <a:cs typeface="Arial" panose="020B0604020202020204" pitchFamily="34" charset="0"/>
                </a:rPr>
                <a:t>quality</a:t>
              </a:r>
              <a:r>
                <a:rPr lang="nl-BE" sz="1400" b="1">
                  <a:solidFill>
                    <a:srgbClr val="005E77"/>
                  </a:solidFill>
                  <a:latin typeface="Arial" panose="020B0604020202020204" pitchFamily="34" charset="0"/>
                  <a:cs typeface="Arial" panose="020B0604020202020204" pitchFamily="34" charset="0"/>
                </a:rPr>
                <a:t> control</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grpSp>
      <p:grpSp>
        <p:nvGrpSpPr>
          <p:cNvPr id="6" name="Group 5">
            <a:extLst>
              <a:ext uri="{FF2B5EF4-FFF2-40B4-BE49-F238E27FC236}">
                <a16:creationId xmlns:a16="http://schemas.microsoft.com/office/drawing/2014/main" id="{9FF6F76E-B098-3517-DFEF-19BD1B2789BF}"/>
              </a:ext>
            </a:extLst>
          </p:cNvPr>
          <p:cNvGrpSpPr/>
          <p:nvPr/>
        </p:nvGrpSpPr>
        <p:grpSpPr>
          <a:xfrm>
            <a:off x="7079762" y="4192256"/>
            <a:ext cx="1597048" cy="602473"/>
            <a:chOff x="7166122" y="2980691"/>
            <a:chExt cx="1597048" cy="602473"/>
          </a:xfrm>
        </p:grpSpPr>
        <p:sp>
          <p:nvSpPr>
            <p:cNvPr id="7" name="Rectangle 6">
              <a:extLst>
                <a:ext uri="{FF2B5EF4-FFF2-40B4-BE49-F238E27FC236}">
                  <a16:creationId xmlns:a16="http://schemas.microsoft.com/office/drawing/2014/main" id="{0887F5D9-6042-90F3-259C-16D00BC3B858}"/>
                </a:ext>
              </a:extLst>
            </p:cNvPr>
            <p:cNvSpPr/>
            <p:nvPr/>
          </p:nvSpPr>
          <p:spPr>
            <a:xfrm>
              <a:off x="7166122" y="2980691"/>
              <a:ext cx="1597048" cy="602473"/>
            </a:xfrm>
            <a:custGeom>
              <a:avLst/>
              <a:gdLst>
                <a:gd name="connsiteX0" fmla="*/ 0 w 1597048"/>
                <a:gd name="connsiteY0" fmla="*/ 0 h 602473"/>
                <a:gd name="connsiteX1" fmla="*/ 500408 w 1597048"/>
                <a:gd name="connsiteY1" fmla="*/ 0 h 602473"/>
                <a:gd name="connsiteX2" fmla="*/ 1032758 w 1597048"/>
                <a:gd name="connsiteY2" fmla="*/ 0 h 602473"/>
                <a:gd name="connsiteX3" fmla="*/ 1597048 w 1597048"/>
                <a:gd name="connsiteY3" fmla="*/ 0 h 602473"/>
                <a:gd name="connsiteX4" fmla="*/ 1597048 w 1597048"/>
                <a:gd name="connsiteY4" fmla="*/ 602473 h 602473"/>
                <a:gd name="connsiteX5" fmla="*/ 1080669 w 1597048"/>
                <a:gd name="connsiteY5" fmla="*/ 602473 h 602473"/>
                <a:gd name="connsiteX6" fmla="*/ 580261 w 1597048"/>
                <a:gd name="connsiteY6" fmla="*/ 602473 h 602473"/>
                <a:gd name="connsiteX7" fmla="*/ 0 w 1597048"/>
                <a:gd name="connsiteY7" fmla="*/ 602473 h 602473"/>
                <a:gd name="connsiteX8" fmla="*/ 0 w 1597048"/>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048" h="602473" fill="none" extrusionOk="0">
                  <a:moveTo>
                    <a:pt x="0" y="0"/>
                  </a:moveTo>
                  <a:cubicBezTo>
                    <a:pt x="244484" y="-20454"/>
                    <a:pt x="388014" y="3268"/>
                    <a:pt x="500408" y="0"/>
                  </a:cubicBezTo>
                  <a:cubicBezTo>
                    <a:pt x="612802" y="-3268"/>
                    <a:pt x="800856" y="9713"/>
                    <a:pt x="1032758" y="0"/>
                  </a:cubicBezTo>
                  <a:cubicBezTo>
                    <a:pt x="1264660" y="-9713"/>
                    <a:pt x="1446363" y="-1877"/>
                    <a:pt x="1597048" y="0"/>
                  </a:cubicBezTo>
                  <a:cubicBezTo>
                    <a:pt x="1571350" y="213409"/>
                    <a:pt x="1624207" y="431491"/>
                    <a:pt x="1597048" y="602473"/>
                  </a:cubicBezTo>
                  <a:cubicBezTo>
                    <a:pt x="1375439" y="625846"/>
                    <a:pt x="1221438" y="607751"/>
                    <a:pt x="1080669" y="602473"/>
                  </a:cubicBezTo>
                  <a:cubicBezTo>
                    <a:pt x="939900" y="597195"/>
                    <a:pt x="806678" y="601783"/>
                    <a:pt x="580261" y="602473"/>
                  </a:cubicBezTo>
                  <a:cubicBezTo>
                    <a:pt x="353844" y="603163"/>
                    <a:pt x="285008" y="587271"/>
                    <a:pt x="0" y="602473"/>
                  </a:cubicBezTo>
                  <a:cubicBezTo>
                    <a:pt x="-29591" y="306439"/>
                    <a:pt x="-932" y="253414"/>
                    <a:pt x="0" y="0"/>
                  </a:cubicBezTo>
                  <a:close/>
                </a:path>
                <a:path w="1597048" h="602473"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588856" y="287972"/>
                    <a:pt x="1588650" y="334116"/>
                    <a:pt x="1597048" y="602473"/>
                  </a:cubicBezTo>
                  <a:cubicBezTo>
                    <a:pt x="1383117" y="585603"/>
                    <a:pt x="1293574" y="601638"/>
                    <a:pt x="1032758" y="602473"/>
                  </a:cubicBezTo>
                  <a:cubicBezTo>
                    <a:pt x="771942" y="603309"/>
                    <a:pt x="751727" y="583186"/>
                    <a:pt x="548320" y="602473"/>
                  </a:cubicBezTo>
                  <a:cubicBezTo>
                    <a:pt x="344913" y="621760"/>
                    <a:pt x="153276" y="584335"/>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8" name="Graphic 7" descr="Open folder with solid fill">
              <a:extLst>
                <a:ext uri="{FF2B5EF4-FFF2-40B4-BE49-F238E27FC236}">
                  <a16:creationId xmlns:a16="http://schemas.microsoft.com/office/drawing/2014/main" id="{03891365-E22D-5C0F-8847-DD2D92EB6714}"/>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7187388" y="3060743"/>
              <a:ext cx="442368" cy="442368"/>
            </a:xfrm>
            <a:prstGeom prst="rect">
              <a:avLst/>
            </a:prstGeom>
          </p:spPr>
        </p:pic>
        <p:sp>
          <p:nvSpPr>
            <p:cNvPr id="9" name="Tekstvak 37">
              <a:extLst>
                <a:ext uri="{FF2B5EF4-FFF2-40B4-BE49-F238E27FC236}">
                  <a16:creationId xmlns:a16="http://schemas.microsoft.com/office/drawing/2014/main" id="{A6917751-9F50-3E3B-F6A0-0CDF26313CD0}"/>
                </a:ext>
              </a:extLst>
            </p:cNvPr>
            <p:cNvSpPr txBox="1"/>
            <p:nvPr/>
          </p:nvSpPr>
          <p:spPr>
            <a:xfrm>
              <a:off x="7565491" y="3022375"/>
              <a:ext cx="1197679" cy="523220"/>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Sequencing</a:t>
              </a:r>
              <a:r>
                <a:rPr lang="nl-BE" sz="1400" b="1">
                  <a:solidFill>
                    <a:srgbClr val="005E77"/>
                  </a:solidFill>
                  <a:latin typeface="Arial" panose="020B0604020202020204" pitchFamily="34" charset="0"/>
                  <a:cs typeface="Arial" panose="020B0604020202020204" pitchFamily="34" charset="0"/>
                </a:rPr>
                <a:t> report</a:t>
              </a:r>
            </a:p>
          </p:txBody>
        </p:sp>
      </p:grpSp>
      <p:grpSp>
        <p:nvGrpSpPr>
          <p:cNvPr id="10" name="Group 9">
            <a:extLst>
              <a:ext uri="{FF2B5EF4-FFF2-40B4-BE49-F238E27FC236}">
                <a16:creationId xmlns:a16="http://schemas.microsoft.com/office/drawing/2014/main" id="{2A40AF09-F133-249D-F6A2-381D23672931}"/>
              </a:ext>
            </a:extLst>
          </p:cNvPr>
          <p:cNvGrpSpPr/>
          <p:nvPr/>
        </p:nvGrpSpPr>
        <p:grpSpPr>
          <a:xfrm>
            <a:off x="3499881" y="4151321"/>
            <a:ext cx="1785041" cy="602473"/>
            <a:chOff x="3466236" y="4154687"/>
            <a:chExt cx="1785041" cy="602473"/>
          </a:xfrm>
        </p:grpSpPr>
        <p:grpSp>
          <p:nvGrpSpPr>
            <p:cNvPr id="12" name="Group 11">
              <a:extLst>
                <a:ext uri="{FF2B5EF4-FFF2-40B4-BE49-F238E27FC236}">
                  <a16:creationId xmlns:a16="http://schemas.microsoft.com/office/drawing/2014/main" id="{144D798C-59D3-8AF3-E4B5-B507E986B213}"/>
                </a:ext>
              </a:extLst>
            </p:cNvPr>
            <p:cNvGrpSpPr/>
            <p:nvPr/>
          </p:nvGrpSpPr>
          <p:grpSpPr>
            <a:xfrm>
              <a:off x="3469144" y="4154687"/>
              <a:ext cx="1782133" cy="602473"/>
              <a:chOff x="7254218" y="2980691"/>
              <a:chExt cx="1591737" cy="602473"/>
            </a:xfrm>
          </p:grpSpPr>
          <p:sp>
            <p:nvSpPr>
              <p:cNvPr id="16" name="Rectangle 15">
                <a:extLst>
                  <a:ext uri="{FF2B5EF4-FFF2-40B4-BE49-F238E27FC236}">
                    <a16:creationId xmlns:a16="http://schemas.microsoft.com/office/drawing/2014/main" id="{9F5C1F6C-C22D-2626-844F-F2B5864769D0}"/>
                  </a:ext>
                </a:extLst>
              </p:cNvPr>
              <p:cNvSpPr/>
              <p:nvPr/>
            </p:nvSpPr>
            <p:spPr>
              <a:xfrm>
                <a:off x="7254218" y="2980691"/>
                <a:ext cx="1508952" cy="602473"/>
              </a:xfrm>
              <a:custGeom>
                <a:avLst/>
                <a:gdLst>
                  <a:gd name="connsiteX0" fmla="*/ 0 w 1508952"/>
                  <a:gd name="connsiteY0" fmla="*/ 0 h 602473"/>
                  <a:gd name="connsiteX1" fmla="*/ 472805 w 1508952"/>
                  <a:gd name="connsiteY1" fmla="*/ 0 h 602473"/>
                  <a:gd name="connsiteX2" fmla="*/ 975789 w 1508952"/>
                  <a:gd name="connsiteY2" fmla="*/ 0 h 602473"/>
                  <a:gd name="connsiteX3" fmla="*/ 1508952 w 1508952"/>
                  <a:gd name="connsiteY3" fmla="*/ 0 h 602473"/>
                  <a:gd name="connsiteX4" fmla="*/ 1508952 w 1508952"/>
                  <a:gd name="connsiteY4" fmla="*/ 602473 h 602473"/>
                  <a:gd name="connsiteX5" fmla="*/ 1021058 w 1508952"/>
                  <a:gd name="connsiteY5" fmla="*/ 602473 h 602473"/>
                  <a:gd name="connsiteX6" fmla="*/ 548253 w 1508952"/>
                  <a:gd name="connsiteY6" fmla="*/ 602473 h 602473"/>
                  <a:gd name="connsiteX7" fmla="*/ 0 w 1508952"/>
                  <a:gd name="connsiteY7" fmla="*/ 602473 h 602473"/>
                  <a:gd name="connsiteX8" fmla="*/ 0 w 1508952"/>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52" h="602473" fill="none" extrusionOk="0">
                    <a:moveTo>
                      <a:pt x="0" y="0"/>
                    </a:moveTo>
                    <a:cubicBezTo>
                      <a:pt x="216331" y="-22447"/>
                      <a:pt x="352058" y="21627"/>
                      <a:pt x="472805" y="0"/>
                    </a:cubicBezTo>
                    <a:cubicBezTo>
                      <a:pt x="593552" y="-21627"/>
                      <a:pt x="862320" y="8938"/>
                      <a:pt x="975789" y="0"/>
                    </a:cubicBezTo>
                    <a:cubicBezTo>
                      <a:pt x="1089258" y="-8938"/>
                      <a:pt x="1393911" y="3371"/>
                      <a:pt x="1508952" y="0"/>
                    </a:cubicBezTo>
                    <a:cubicBezTo>
                      <a:pt x="1483254" y="213409"/>
                      <a:pt x="1536111" y="431491"/>
                      <a:pt x="1508952" y="602473"/>
                    </a:cubicBezTo>
                    <a:cubicBezTo>
                      <a:pt x="1356227" y="603561"/>
                      <a:pt x="1121848" y="603633"/>
                      <a:pt x="1021058" y="602473"/>
                    </a:cubicBezTo>
                    <a:cubicBezTo>
                      <a:pt x="920268" y="601313"/>
                      <a:pt x="705807" y="591775"/>
                      <a:pt x="548253" y="602473"/>
                    </a:cubicBezTo>
                    <a:cubicBezTo>
                      <a:pt x="390700" y="613171"/>
                      <a:pt x="169134" y="615830"/>
                      <a:pt x="0" y="602473"/>
                    </a:cubicBezTo>
                    <a:cubicBezTo>
                      <a:pt x="-29591" y="306439"/>
                      <a:pt x="-932" y="253414"/>
                      <a:pt x="0" y="0"/>
                    </a:cubicBezTo>
                    <a:close/>
                  </a:path>
                  <a:path w="1508952" h="602473" stroke="0" extrusionOk="0">
                    <a:moveTo>
                      <a:pt x="0" y="0"/>
                    </a:moveTo>
                    <a:cubicBezTo>
                      <a:pt x="110408" y="-24933"/>
                      <a:pt x="359112" y="-15953"/>
                      <a:pt x="502984" y="0"/>
                    </a:cubicBezTo>
                    <a:cubicBezTo>
                      <a:pt x="646856" y="15953"/>
                      <a:pt x="771940" y="4705"/>
                      <a:pt x="975789" y="0"/>
                    </a:cubicBezTo>
                    <a:cubicBezTo>
                      <a:pt x="1179639" y="-4705"/>
                      <a:pt x="1266117" y="-20246"/>
                      <a:pt x="1508952" y="0"/>
                    </a:cubicBezTo>
                    <a:cubicBezTo>
                      <a:pt x="1500760" y="287972"/>
                      <a:pt x="1500554" y="334116"/>
                      <a:pt x="1508952" y="602473"/>
                    </a:cubicBezTo>
                    <a:cubicBezTo>
                      <a:pt x="1369906" y="579071"/>
                      <a:pt x="1201934" y="607776"/>
                      <a:pt x="975789" y="602473"/>
                    </a:cubicBezTo>
                    <a:cubicBezTo>
                      <a:pt x="749644" y="597170"/>
                      <a:pt x="697227" y="591352"/>
                      <a:pt x="518074" y="602473"/>
                    </a:cubicBezTo>
                    <a:cubicBezTo>
                      <a:pt x="338922" y="613594"/>
                      <a:pt x="151838" y="621030"/>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17" name="Tekstvak 37">
                <a:extLst>
                  <a:ext uri="{FF2B5EF4-FFF2-40B4-BE49-F238E27FC236}">
                    <a16:creationId xmlns:a16="http://schemas.microsoft.com/office/drawing/2014/main" id="{A86243DE-B93B-F940-270E-EA11B8767F62}"/>
                  </a:ext>
                </a:extLst>
              </p:cNvPr>
              <p:cNvSpPr txBox="1"/>
              <p:nvPr/>
            </p:nvSpPr>
            <p:spPr>
              <a:xfrm>
                <a:off x="7514173" y="3118105"/>
                <a:ext cx="1331782" cy="307777"/>
              </a:xfrm>
              <a:prstGeom prst="rect">
                <a:avLst/>
              </a:prstGeom>
              <a:noFill/>
            </p:spPr>
            <p:txBody>
              <a:bodyPr wrap="square" rtlCol="0">
                <a:spAutoFit/>
              </a:bodyPr>
              <a:lstStyle/>
              <a:p>
                <a:r>
                  <a:rPr lang="nl-BE" sz="1400" b="1">
                    <a:solidFill>
                      <a:srgbClr val="005E77"/>
                    </a:solidFill>
                    <a:latin typeface="Arial" panose="020B0604020202020204" pitchFamily="34" charset="0"/>
                    <a:cs typeface="Arial" panose="020B0604020202020204" pitchFamily="34" charset="0"/>
                  </a:rPr>
                  <a:t>RNA QC report</a:t>
                </a:r>
              </a:p>
            </p:txBody>
          </p:sp>
        </p:grpSp>
        <p:pic>
          <p:nvPicPr>
            <p:cNvPr id="13" name="Graphic 12" descr="Open folder with solid fill">
              <a:extLst>
                <a:ext uri="{FF2B5EF4-FFF2-40B4-BE49-F238E27FC236}">
                  <a16:creationId xmlns:a16="http://schemas.microsoft.com/office/drawing/2014/main" id="{E7580EC7-D7D7-2E82-5233-528EC1EC7DFA}"/>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3466236" y="4233233"/>
              <a:ext cx="382344" cy="382344"/>
            </a:xfrm>
            <a:prstGeom prst="rect">
              <a:avLst/>
            </a:prstGeom>
          </p:spPr>
        </p:pic>
      </p:grpSp>
    </p:spTree>
    <p:extLst>
      <p:ext uri="{BB962C8B-B14F-4D97-AF65-F5344CB8AC3E}">
        <p14:creationId xmlns:p14="http://schemas.microsoft.com/office/powerpoint/2010/main" val="38516848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B0D65-F5AE-7B5B-ADF8-F672CE4AD4E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D83E80-D764-F27B-500C-F2CB0B8E5D63}"/>
              </a:ext>
            </a:extLst>
          </p:cNvPr>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816106" y="523953"/>
            <a:ext cx="921893" cy="921600"/>
          </a:xfrm>
          <a:prstGeom prst="ellipse">
            <a:avLst/>
          </a:prstGeom>
        </p:spPr>
      </p:pic>
      <p:sp>
        <p:nvSpPr>
          <p:cNvPr id="2" name="Title 1">
            <a:extLst>
              <a:ext uri="{FF2B5EF4-FFF2-40B4-BE49-F238E27FC236}">
                <a16:creationId xmlns:a16="http://schemas.microsoft.com/office/drawing/2014/main" id="{FCDD562A-DA93-7A93-9D95-BF057EAD30B3}"/>
              </a:ext>
            </a:extLst>
          </p:cNvPr>
          <p:cNvSpPr>
            <a:spLocks noGrp="1"/>
          </p:cNvSpPr>
          <p:nvPr>
            <p:ph type="title"/>
          </p:nvPr>
        </p:nvSpPr>
        <p:spPr/>
        <p:txBody>
          <a:bodyPr/>
          <a:lstStyle/>
          <a:p>
            <a:r>
              <a:rPr lang="en-US"/>
              <a:t>Exercise 2: Build a Dataflow – example </a:t>
            </a:r>
            <a:br>
              <a:rPr lang="en-US"/>
            </a:br>
            <a:r>
              <a:rPr lang="en-US"/>
              <a:t>Jie’s project</a:t>
            </a:r>
            <a:endParaRPr lang="en-GB"/>
          </a:p>
        </p:txBody>
      </p:sp>
      <p:sp>
        <p:nvSpPr>
          <p:cNvPr id="4" name="Slide Number Placeholder 3">
            <a:extLst>
              <a:ext uri="{FF2B5EF4-FFF2-40B4-BE49-F238E27FC236}">
                <a16:creationId xmlns:a16="http://schemas.microsoft.com/office/drawing/2014/main" id="{DB4144C0-8BA1-2E5C-15F8-D38F13636A20}"/>
              </a:ext>
            </a:extLst>
          </p:cNvPr>
          <p:cNvSpPr>
            <a:spLocks noGrp="1"/>
          </p:cNvSpPr>
          <p:nvPr>
            <p:ph type="sldNum" sz="quarter" idx="12"/>
          </p:nvPr>
        </p:nvSpPr>
        <p:spPr>
          <a:prstGeom prst="rect">
            <a:avLst/>
          </a:prstGeom>
        </p:spPr>
        <p:txBody>
          <a:bodyPr/>
          <a:lstStyle/>
          <a:p>
            <a:fld id="{CC571AF6-6671-4538-974D-3AEC00AC0B82}" type="slidenum">
              <a:rPr lang="en-GB" smtClean="0"/>
              <a:t>25</a:t>
            </a:fld>
            <a:endParaRPr lang="en-GB"/>
          </a:p>
        </p:txBody>
      </p:sp>
      <p:sp>
        <p:nvSpPr>
          <p:cNvPr id="72" name="TextBox 71">
            <a:extLst>
              <a:ext uri="{FF2B5EF4-FFF2-40B4-BE49-F238E27FC236}">
                <a16:creationId xmlns:a16="http://schemas.microsoft.com/office/drawing/2014/main" id="{9F852BEF-5F8C-BEE2-5FAC-5ABB9C62E808}"/>
              </a:ext>
            </a:extLst>
          </p:cNvPr>
          <p:cNvSpPr txBox="1"/>
          <p:nvPr/>
        </p:nvSpPr>
        <p:spPr>
          <a:xfrm>
            <a:off x="10575068" y="5773794"/>
            <a:ext cx="1378800" cy="276999"/>
          </a:xfrm>
          <a:prstGeom prst="rect">
            <a:avLst/>
          </a:prstGeom>
          <a:solidFill>
            <a:srgbClr val="FFDF7F"/>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defRPr sz="1200" b="1">
                <a:solidFill>
                  <a:srgbClr val="005E77"/>
                </a:solidFill>
                <a:cs typeface="Arial" panose="020B0604020202020204" pitchFamily="34" charset="0"/>
              </a:defRPr>
            </a:lvl1pPr>
          </a:lstStyle>
          <a:p>
            <a:pPr algn="ctr"/>
            <a:r>
              <a:rPr lang="en-US" sz="1600" b="0"/>
              <a:t>Steps</a:t>
            </a:r>
            <a:endParaRPr lang="nl-BE" sz="1600" b="0"/>
          </a:p>
        </p:txBody>
      </p:sp>
      <p:sp>
        <p:nvSpPr>
          <p:cNvPr id="73" name="TextBox 72">
            <a:extLst>
              <a:ext uri="{FF2B5EF4-FFF2-40B4-BE49-F238E27FC236}">
                <a16:creationId xmlns:a16="http://schemas.microsoft.com/office/drawing/2014/main" id="{F60A2C2D-27A1-8946-6DA5-460329BAC234}"/>
              </a:ext>
            </a:extLst>
          </p:cNvPr>
          <p:cNvSpPr txBox="1"/>
          <p:nvPr/>
        </p:nvSpPr>
        <p:spPr>
          <a:xfrm>
            <a:off x="10575068" y="5400776"/>
            <a:ext cx="1378800" cy="276999"/>
          </a:xfrm>
          <a:prstGeom prst="rect">
            <a:avLst/>
          </a:prstGeom>
          <a:solidFill>
            <a:srgbClr val="A8DEF5"/>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buFont typeface="Arial" panose="020B0604020202020204" pitchFamily="34" charset="0"/>
              <a:buChar char="•"/>
              <a:defRPr sz="1200" b="0">
                <a:solidFill>
                  <a:srgbClr val="005E77"/>
                </a:solidFill>
              </a:defRPr>
            </a:lvl1pPr>
          </a:lstStyle>
          <a:p>
            <a:pPr algn="ctr">
              <a:buNone/>
            </a:pPr>
            <a:r>
              <a:rPr lang="en-US" sz="1600"/>
              <a:t>Data points</a:t>
            </a:r>
            <a:endParaRPr lang="nl-BE" sz="1600"/>
          </a:p>
        </p:txBody>
      </p:sp>
      <p:grpSp>
        <p:nvGrpSpPr>
          <p:cNvPr id="15" name="Group 14">
            <a:extLst>
              <a:ext uri="{FF2B5EF4-FFF2-40B4-BE49-F238E27FC236}">
                <a16:creationId xmlns:a16="http://schemas.microsoft.com/office/drawing/2014/main" id="{7FC2FD0C-9042-65D1-172F-59424C03B7D7}"/>
              </a:ext>
            </a:extLst>
          </p:cNvPr>
          <p:cNvGrpSpPr/>
          <p:nvPr/>
        </p:nvGrpSpPr>
        <p:grpSpPr>
          <a:xfrm>
            <a:off x="10272593" y="2880628"/>
            <a:ext cx="1689448" cy="1914101"/>
            <a:chOff x="10301046" y="2699087"/>
            <a:chExt cx="1689448" cy="1914101"/>
          </a:xfrm>
        </p:grpSpPr>
        <p:sp>
          <p:nvSpPr>
            <p:cNvPr id="65" name="Rectangle 64">
              <a:extLst>
                <a:ext uri="{FF2B5EF4-FFF2-40B4-BE49-F238E27FC236}">
                  <a16:creationId xmlns:a16="http://schemas.microsoft.com/office/drawing/2014/main" id="{767D75B6-0FBF-6BE8-F6C8-7AF7D65DBF51}"/>
                </a:ext>
              </a:extLst>
            </p:cNvPr>
            <p:cNvSpPr/>
            <p:nvPr/>
          </p:nvSpPr>
          <p:spPr>
            <a:xfrm>
              <a:off x="10301046" y="2699087"/>
              <a:ext cx="1689448" cy="1914101"/>
            </a:xfrm>
            <a:custGeom>
              <a:avLst/>
              <a:gdLst>
                <a:gd name="connsiteX0" fmla="*/ 0 w 1689448"/>
                <a:gd name="connsiteY0" fmla="*/ 0 h 1914101"/>
                <a:gd name="connsiteX1" fmla="*/ 596938 w 1689448"/>
                <a:gd name="connsiteY1" fmla="*/ 0 h 1914101"/>
                <a:gd name="connsiteX2" fmla="*/ 1193877 w 1689448"/>
                <a:gd name="connsiteY2" fmla="*/ 0 h 1914101"/>
                <a:gd name="connsiteX3" fmla="*/ 1689448 w 1689448"/>
                <a:gd name="connsiteY3" fmla="*/ 0 h 1914101"/>
                <a:gd name="connsiteX4" fmla="*/ 1689448 w 1689448"/>
                <a:gd name="connsiteY4" fmla="*/ 580611 h 1914101"/>
                <a:gd name="connsiteX5" fmla="*/ 1689448 w 1689448"/>
                <a:gd name="connsiteY5" fmla="*/ 1218644 h 1914101"/>
                <a:gd name="connsiteX6" fmla="*/ 1689448 w 1689448"/>
                <a:gd name="connsiteY6" fmla="*/ 1914101 h 1914101"/>
                <a:gd name="connsiteX7" fmla="*/ 1176982 w 1689448"/>
                <a:gd name="connsiteY7" fmla="*/ 1914101 h 1914101"/>
                <a:gd name="connsiteX8" fmla="*/ 664516 w 1689448"/>
                <a:gd name="connsiteY8" fmla="*/ 1914101 h 1914101"/>
                <a:gd name="connsiteX9" fmla="*/ 0 w 1689448"/>
                <a:gd name="connsiteY9" fmla="*/ 1914101 h 1914101"/>
                <a:gd name="connsiteX10" fmla="*/ 0 w 1689448"/>
                <a:gd name="connsiteY10" fmla="*/ 1333490 h 1914101"/>
                <a:gd name="connsiteX11" fmla="*/ 0 w 1689448"/>
                <a:gd name="connsiteY11" fmla="*/ 733739 h 1914101"/>
                <a:gd name="connsiteX12" fmla="*/ 0 w 1689448"/>
                <a:gd name="connsiteY12" fmla="*/ 0 h 191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9448" h="1914101" fill="none" extrusionOk="0">
                  <a:moveTo>
                    <a:pt x="0" y="0"/>
                  </a:moveTo>
                  <a:cubicBezTo>
                    <a:pt x="282978" y="-26075"/>
                    <a:pt x="420737" y="-9574"/>
                    <a:pt x="596938" y="0"/>
                  </a:cubicBezTo>
                  <a:cubicBezTo>
                    <a:pt x="773139" y="9574"/>
                    <a:pt x="965606" y="7737"/>
                    <a:pt x="1193877" y="0"/>
                  </a:cubicBezTo>
                  <a:cubicBezTo>
                    <a:pt x="1422148" y="-7737"/>
                    <a:pt x="1544480" y="15874"/>
                    <a:pt x="1689448" y="0"/>
                  </a:cubicBezTo>
                  <a:cubicBezTo>
                    <a:pt x="1668808" y="172363"/>
                    <a:pt x="1709828" y="305226"/>
                    <a:pt x="1689448" y="580611"/>
                  </a:cubicBezTo>
                  <a:cubicBezTo>
                    <a:pt x="1669068" y="855996"/>
                    <a:pt x="1710616" y="1050164"/>
                    <a:pt x="1689448" y="1218644"/>
                  </a:cubicBezTo>
                  <a:cubicBezTo>
                    <a:pt x="1668280" y="1387124"/>
                    <a:pt x="1677655" y="1575053"/>
                    <a:pt x="1689448" y="1914101"/>
                  </a:cubicBezTo>
                  <a:cubicBezTo>
                    <a:pt x="1553500" y="1937375"/>
                    <a:pt x="1394421" y="1926425"/>
                    <a:pt x="1176982" y="1914101"/>
                  </a:cubicBezTo>
                  <a:cubicBezTo>
                    <a:pt x="959543" y="1901777"/>
                    <a:pt x="866113" y="1934658"/>
                    <a:pt x="664516" y="1914101"/>
                  </a:cubicBezTo>
                  <a:cubicBezTo>
                    <a:pt x="462919" y="1893544"/>
                    <a:pt x="188297" y="1941367"/>
                    <a:pt x="0" y="1914101"/>
                  </a:cubicBezTo>
                  <a:cubicBezTo>
                    <a:pt x="19399" y="1673739"/>
                    <a:pt x="-23817" y="1507505"/>
                    <a:pt x="0" y="1333490"/>
                  </a:cubicBezTo>
                  <a:cubicBezTo>
                    <a:pt x="23817" y="1159475"/>
                    <a:pt x="23313" y="984937"/>
                    <a:pt x="0" y="733739"/>
                  </a:cubicBezTo>
                  <a:cubicBezTo>
                    <a:pt x="-23313" y="482541"/>
                    <a:pt x="-7244" y="294241"/>
                    <a:pt x="0" y="0"/>
                  </a:cubicBezTo>
                  <a:close/>
                </a:path>
                <a:path w="1689448" h="1914101" stroke="0" extrusionOk="0">
                  <a:moveTo>
                    <a:pt x="0" y="0"/>
                  </a:moveTo>
                  <a:cubicBezTo>
                    <a:pt x="288413" y="-24815"/>
                    <a:pt x="359102" y="-5622"/>
                    <a:pt x="580044" y="0"/>
                  </a:cubicBezTo>
                  <a:cubicBezTo>
                    <a:pt x="800986" y="5622"/>
                    <a:pt x="909953" y="-27907"/>
                    <a:pt x="1160088" y="0"/>
                  </a:cubicBezTo>
                  <a:cubicBezTo>
                    <a:pt x="1410223" y="27907"/>
                    <a:pt x="1531419" y="26467"/>
                    <a:pt x="1689448" y="0"/>
                  </a:cubicBezTo>
                  <a:cubicBezTo>
                    <a:pt x="1678339" y="309905"/>
                    <a:pt x="1719615" y="421529"/>
                    <a:pt x="1689448" y="676316"/>
                  </a:cubicBezTo>
                  <a:cubicBezTo>
                    <a:pt x="1659281" y="931103"/>
                    <a:pt x="1659018" y="1181664"/>
                    <a:pt x="1689448" y="1333490"/>
                  </a:cubicBezTo>
                  <a:cubicBezTo>
                    <a:pt x="1719878" y="1485316"/>
                    <a:pt x="1700465" y="1652417"/>
                    <a:pt x="1689448" y="1914101"/>
                  </a:cubicBezTo>
                  <a:cubicBezTo>
                    <a:pt x="1544573" y="1908383"/>
                    <a:pt x="1363449" y="1903746"/>
                    <a:pt x="1176982" y="1914101"/>
                  </a:cubicBezTo>
                  <a:cubicBezTo>
                    <a:pt x="990515" y="1924456"/>
                    <a:pt x="789137" y="1904645"/>
                    <a:pt x="596938" y="1914101"/>
                  </a:cubicBezTo>
                  <a:cubicBezTo>
                    <a:pt x="404739" y="1923557"/>
                    <a:pt x="123018" y="1893085"/>
                    <a:pt x="0" y="1914101"/>
                  </a:cubicBezTo>
                  <a:cubicBezTo>
                    <a:pt x="-7172" y="1681010"/>
                    <a:pt x="-6193" y="1444641"/>
                    <a:pt x="0" y="1256926"/>
                  </a:cubicBezTo>
                  <a:cubicBezTo>
                    <a:pt x="6193" y="1069212"/>
                    <a:pt x="-7372" y="775105"/>
                    <a:pt x="0" y="638034"/>
                  </a:cubicBezTo>
                  <a:cubicBezTo>
                    <a:pt x="7372" y="500963"/>
                    <a:pt x="4649" y="134059"/>
                    <a:pt x="0" y="0"/>
                  </a:cubicBezTo>
                  <a:close/>
                </a:path>
              </a:pathLst>
            </a:custGeom>
            <a:solidFill>
              <a:srgbClr val="52BDEC">
                <a:alpha val="50000"/>
              </a:srgbClr>
            </a:solidFill>
            <a:ln w="19050">
              <a:solidFill>
                <a:srgbClr val="005E77"/>
              </a:solidFill>
              <a:extLst>
                <a:ext uri="{C807C97D-BFC1-408E-A445-0C87EB9F89A2}">
                  <ask:lineSketchStyleProps xmlns:ask="http://schemas.microsoft.com/office/drawing/2018/sketchyshapes" sd="175670711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71" name="Tekstvak 37">
              <a:extLst>
                <a:ext uri="{FF2B5EF4-FFF2-40B4-BE49-F238E27FC236}">
                  <a16:creationId xmlns:a16="http://schemas.microsoft.com/office/drawing/2014/main" id="{CB2FCF47-727C-3B46-AA29-DDE56F62CA44}"/>
                </a:ext>
              </a:extLst>
            </p:cNvPr>
            <p:cNvSpPr txBox="1"/>
            <p:nvPr/>
          </p:nvSpPr>
          <p:spPr>
            <a:xfrm>
              <a:off x="10313220" y="3093846"/>
              <a:ext cx="1660309" cy="307777"/>
            </a:xfrm>
            <a:prstGeom prst="rect">
              <a:avLst/>
            </a:prstGeom>
            <a:noFill/>
          </p:spPr>
          <p:txBody>
            <a:bodyPr wrap="square" rtlCol="0">
              <a:spAutoFit/>
            </a:bodyPr>
            <a:lstStyle/>
            <a:p>
              <a:pPr algn="ctr"/>
              <a:r>
                <a:rPr lang="en-US" sz="1400">
                  <a:solidFill>
                    <a:srgbClr val="005E77"/>
                  </a:solidFill>
                  <a:latin typeface="Arial" panose="020B0604020202020204" pitchFamily="34" charset="0"/>
                  <a:cs typeface="Arial" panose="020B0604020202020204" pitchFamily="34" charset="0"/>
                </a:rPr>
                <a:t>Publication</a:t>
              </a:r>
            </a:p>
          </p:txBody>
        </p:sp>
        <p:pic>
          <p:nvPicPr>
            <p:cNvPr id="96" name="Graphic 95" descr="Krant met effen opvulling">
              <a:extLst>
                <a:ext uri="{FF2B5EF4-FFF2-40B4-BE49-F238E27FC236}">
                  <a16:creationId xmlns:a16="http://schemas.microsoft.com/office/drawing/2014/main" id="{176F0EC3-88C0-F21B-47A7-9EEB8E7B240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89185" y="3497642"/>
              <a:ext cx="708377" cy="708377"/>
            </a:xfrm>
            <a:prstGeom prst="rect">
              <a:avLst/>
            </a:prstGeom>
          </p:spPr>
        </p:pic>
      </p:grpSp>
      <p:grpSp>
        <p:nvGrpSpPr>
          <p:cNvPr id="11" name="Group 10">
            <a:extLst>
              <a:ext uri="{FF2B5EF4-FFF2-40B4-BE49-F238E27FC236}">
                <a16:creationId xmlns:a16="http://schemas.microsoft.com/office/drawing/2014/main" id="{61ECFD65-ADB8-E005-E120-5EFF5773A5E2}"/>
              </a:ext>
            </a:extLst>
          </p:cNvPr>
          <p:cNvGrpSpPr/>
          <p:nvPr/>
        </p:nvGrpSpPr>
        <p:grpSpPr>
          <a:xfrm>
            <a:off x="95819" y="3369404"/>
            <a:ext cx="1609222" cy="820786"/>
            <a:chOff x="1091333" y="2636396"/>
            <a:chExt cx="1609222" cy="820786"/>
          </a:xfrm>
        </p:grpSpPr>
        <p:sp>
          <p:nvSpPr>
            <p:cNvPr id="66" name="Rectangle 65">
              <a:extLst>
                <a:ext uri="{FF2B5EF4-FFF2-40B4-BE49-F238E27FC236}">
                  <a16:creationId xmlns:a16="http://schemas.microsoft.com/office/drawing/2014/main" id="{6E916717-B6EF-23D1-37A5-008097E9D178}"/>
                </a:ext>
              </a:extLst>
            </p:cNvPr>
            <p:cNvSpPr/>
            <p:nvPr/>
          </p:nvSpPr>
          <p:spPr>
            <a:xfrm>
              <a:off x="1103507" y="2636396"/>
              <a:ext cx="1597048" cy="820786"/>
            </a:xfrm>
            <a:custGeom>
              <a:avLst/>
              <a:gdLst>
                <a:gd name="connsiteX0" fmla="*/ 0 w 1597048"/>
                <a:gd name="connsiteY0" fmla="*/ 0 h 820786"/>
                <a:gd name="connsiteX1" fmla="*/ 500408 w 1597048"/>
                <a:gd name="connsiteY1" fmla="*/ 0 h 820786"/>
                <a:gd name="connsiteX2" fmla="*/ 1032758 w 1597048"/>
                <a:gd name="connsiteY2" fmla="*/ 0 h 820786"/>
                <a:gd name="connsiteX3" fmla="*/ 1597048 w 1597048"/>
                <a:gd name="connsiteY3" fmla="*/ 0 h 820786"/>
                <a:gd name="connsiteX4" fmla="*/ 1597048 w 1597048"/>
                <a:gd name="connsiteY4" fmla="*/ 393977 h 820786"/>
                <a:gd name="connsiteX5" fmla="*/ 1597048 w 1597048"/>
                <a:gd name="connsiteY5" fmla="*/ 820786 h 820786"/>
                <a:gd name="connsiteX6" fmla="*/ 1064699 w 1597048"/>
                <a:gd name="connsiteY6" fmla="*/ 820786 h 820786"/>
                <a:gd name="connsiteX7" fmla="*/ 564290 w 1597048"/>
                <a:gd name="connsiteY7" fmla="*/ 820786 h 820786"/>
                <a:gd name="connsiteX8" fmla="*/ 0 w 1597048"/>
                <a:gd name="connsiteY8" fmla="*/ 820786 h 820786"/>
                <a:gd name="connsiteX9" fmla="*/ 0 w 1597048"/>
                <a:gd name="connsiteY9" fmla="*/ 418601 h 820786"/>
                <a:gd name="connsiteX10" fmla="*/ 0 w 1597048"/>
                <a:gd name="connsiteY10" fmla="*/ 0 h 8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7048" h="820786" fill="none" extrusionOk="0">
                  <a:moveTo>
                    <a:pt x="0" y="0"/>
                  </a:moveTo>
                  <a:cubicBezTo>
                    <a:pt x="238896" y="10854"/>
                    <a:pt x="304044" y="-9032"/>
                    <a:pt x="500408" y="0"/>
                  </a:cubicBezTo>
                  <a:cubicBezTo>
                    <a:pt x="696772" y="9032"/>
                    <a:pt x="784973" y="305"/>
                    <a:pt x="1032758" y="0"/>
                  </a:cubicBezTo>
                  <a:cubicBezTo>
                    <a:pt x="1280543" y="-305"/>
                    <a:pt x="1409185" y="1471"/>
                    <a:pt x="1597048" y="0"/>
                  </a:cubicBezTo>
                  <a:cubicBezTo>
                    <a:pt x="1587982" y="181526"/>
                    <a:pt x="1578769" y="242801"/>
                    <a:pt x="1597048" y="393977"/>
                  </a:cubicBezTo>
                  <a:cubicBezTo>
                    <a:pt x="1615327" y="545153"/>
                    <a:pt x="1601458" y="607809"/>
                    <a:pt x="1597048" y="820786"/>
                  </a:cubicBezTo>
                  <a:cubicBezTo>
                    <a:pt x="1393369" y="836787"/>
                    <a:pt x="1255067" y="846739"/>
                    <a:pt x="1064699" y="820786"/>
                  </a:cubicBezTo>
                  <a:cubicBezTo>
                    <a:pt x="874331" y="794833"/>
                    <a:pt x="671221" y="822535"/>
                    <a:pt x="564290" y="820786"/>
                  </a:cubicBezTo>
                  <a:cubicBezTo>
                    <a:pt x="457359" y="819037"/>
                    <a:pt x="123976" y="799103"/>
                    <a:pt x="0" y="820786"/>
                  </a:cubicBezTo>
                  <a:cubicBezTo>
                    <a:pt x="-12453" y="687670"/>
                    <a:pt x="-15229" y="573013"/>
                    <a:pt x="0" y="418601"/>
                  </a:cubicBezTo>
                  <a:cubicBezTo>
                    <a:pt x="15229" y="264189"/>
                    <a:pt x="9436" y="202733"/>
                    <a:pt x="0" y="0"/>
                  </a:cubicBezTo>
                  <a:close/>
                </a:path>
                <a:path w="1597048" h="820786"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582139" y="82714"/>
                    <a:pt x="1592452" y="304975"/>
                    <a:pt x="1597048" y="402185"/>
                  </a:cubicBezTo>
                  <a:cubicBezTo>
                    <a:pt x="1601644" y="499395"/>
                    <a:pt x="1596369" y="681113"/>
                    <a:pt x="1597048" y="820786"/>
                  </a:cubicBezTo>
                  <a:cubicBezTo>
                    <a:pt x="1391546" y="822865"/>
                    <a:pt x="1274479" y="814935"/>
                    <a:pt x="1096640" y="820786"/>
                  </a:cubicBezTo>
                  <a:cubicBezTo>
                    <a:pt x="918801" y="826637"/>
                    <a:pt x="701596" y="802648"/>
                    <a:pt x="548320" y="820786"/>
                  </a:cubicBezTo>
                  <a:cubicBezTo>
                    <a:pt x="395044" y="838924"/>
                    <a:pt x="256213" y="816665"/>
                    <a:pt x="0" y="820786"/>
                  </a:cubicBezTo>
                  <a:cubicBezTo>
                    <a:pt x="1374" y="715993"/>
                    <a:pt x="-6876" y="586015"/>
                    <a:pt x="0" y="435017"/>
                  </a:cubicBezTo>
                  <a:cubicBezTo>
                    <a:pt x="6876" y="284019"/>
                    <a:pt x="21072" y="119837"/>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5" name="Graphic 4" descr="Brain with solid fill">
              <a:extLst>
                <a:ext uri="{FF2B5EF4-FFF2-40B4-BE49-F238E27FC236}">
                  <a16:creationId xmlns:a16="http://schemas.microsoft.com/office/drawing/2014/main" id="{96745C80-31F4-5533-2AA8-BA38E5BEAEE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1091333" y="3012351"/>
              <a:ext cx="365343" cy="365343"/>
            </a:xfrm>
            <a:prstGeom prst="rect">
              <a:avLst/>
            </a:prstGeom>
          </p:spPr>
        </p:pic>
        <p:sp>
          <p:nvSpPr>
            <p:cNvPr id="25" name="Tekstvak 37">
              <a:extLst>
                <a:ext uri="{FF2B5EF4-FFF2-40B4-BE49-F238E27FC236}">
                  <a16:creationId xmlns:a16="http://schemas.microsoft.com/office/drawing/2014/main" id="{4934DB90-3128-22DC-7C69-B96647B5E8E5}"/>
                </a:ext>
              </a:extLst>
            </p:cNvPr>
            <p:cNvSpPr txBox="1"/>
            <p:nvPr/>
          </p:nvSpPr>
          <p:spPr>
            <a:xfrm>
              <a:off x="1222855" y="2788256"/>
              <a:ext cx="1373050" cy="523220"/>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Brain tissues </a:t>
              </a:r>
              <a:r>
                <a:rPr lang="nl-BE" sz="1400" b="1" err="1">
                  <a:solidFill>
                    <a:srgbClr val="005E77"/>
                  </a:solidFill>
                  <a:latin typeface="Arial" panose="020B0604020202020204" pitchFamily="34" charset="0"/>
                  <a:cs typeface="Arial" panose="020B0604020202020204" pitchFamily="34" charset="0"/>
                </a:rPr>
                <a:t>from</a:t>
              </a:r>
              <a:r>
                <a:rPr lang="nl-BE" sz="1400" b="1">
                  <a:solidFill>
                    <a:srgbClr val="005E77"/>
                  </a:solidFill>
                  <a:latin typeface="Arial" panose="020B0604020202020204" pitchFamily="34" charset="0"/>
                  <a:cs typeface="Arial" panose="020B0604020202020204" pitchFamily="34" charset="0"/>
                </a:rPr>
                <a:t> rats</a:t>
              </a:r>
            </a:p>
          </p:txBody>
        </p:sp>
      </p:grpSp>
      <p:grpSp>
        <p:nvGrpSpPr>
          <p:cNvPr id="14" name="Group 13">
            <a:extLst>
              <a:ext uri="{FF2B5EF4-FFF2-40B4-BE49-F238E27FC236}">
                <a16:creationId xmlns:a16="http://schemas.microsoft.com/office/drawing/2014/main" id="{6A8AD797-6933-1DDD-687A-0D352E61A781}"/>
              </a:ext>
            </a:extLst>
          </p:cNvPr>
          <p:cNvGrpSpPr/>
          <p:nvPr/>
        </p:nvGrpSpPr>
        <p:grpSpPr>
          <a:xfrm>
            <a:off x="5251276" y="3339058"/>
            <a:ext cx="1689448" cy="820786"/>
            <a:chOff x="5328144" y="4093536"/>
            <a:chExt cx="1689448" cy="820786"/>
          </a:xfrm>
        </p:grpSpPr>
        <p:sp>
          <p:nvSpPr>
            <p:cNvPr id="31" name="Rectangle 30">
              <a:extLst>
                <a:ext uri="{FF2B5EF4-FFF2-40B4-BE49-F238E27FC236}">
                  <a16:creationId xmlns:a16="http://schemas.microsoft.com/office/drawing/2014/main" id="{018F660B-7F65-3A4A-9851-DA819B63C357}"/>
                </a:ext>
              </a:extLst>
            </p:cNvPr>
            <p:cNvSpPr/>
            <p:nvPr/>
          </p:nvSpPr>
          <p:spPr>
            <a:xfrm>
              <a:off x="5328144" y="4093536"/>
              <a:ext cx="1689448" cy="820786"/>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32" name="Tekstvak 37">
              <a:extLst>
                <a:ext uri="{FF2B5EF4-FFF2-40B4-BE49-F238E27FC236}">
                  <a16:creationId xmlns:a16="http://schemas.microsoft.com/office/drawing/2014/main" id="{B0028057-2DE0-6766-AFB9-1EC2E698D03F}"/>
                </a:ext>
              </a:extLst>
            </p:cNvPr>
            <p:cNvSpPr txBox="1"/>
            <p:nvPr/>
          </p:nvSpPr>
          <p:spPr>
            <a:xfrm>
              <a:off x="5771479" y="4345950"/>
              <a:ext cx="1199946" cy="307777"/>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Sequencing</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pic>
          <p:nvPicPr>
            <p:cNvPr id="33" name="Graphic 32" descr="Onderzoek met effen opvulling">
              <a:extLst>
                <a:ext uri="{FF2B5EF4-FFF2-40B4-BE49-F238E27FC236}">
                  <a16:creationId xmlns:a16="http://schemas.microsoft.com/office/drawing/2014/main" id="{261A24F7-9CDA-9511-9122-8C31727E13A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41601" y="4253561"/>
              <a:ext cx="465645" cy="465645"/>
            </a:xfrm>
            <a:prstGeom prst="rect">
              <a:avLst/>
            </a:prstGeom>
          </p:spPr>
        </p:pic>
      </p:grpSp>
      <p:grpSp>
        <p:nvGrpSpPr>
          <p:cNvPr id="22" name="Group 21">
            <a:extLst>
              <a:ext uri="{FF2B5EF4-FFF2-40B4-BE49-F238E27FC236}">
                <a16:creationId xmlns:a16="http://schemas.microsoft.com/office/drawing/2014/main" id="{58106369-BAB8-E4AA-E4EC-D2CD6F386570}"/>
              </a:ext>
            </a:extLst>
          </p:cNvPr>
          <p:cNvGrpSpPr/>
          <p:nvPr/>
        </p:nvGrpSpPr>
        <p:grpSpPr>
          <a:xfrm>
            <a:off x="7068852" y="3457496"/>
            <a:ext cx="1609222" cy="602473"/>
            <a:chOff x="7166122" y="2980691"/>
            <a:chExt cx="1609222" cy="602473"/>
          </a:xfrm>
        </p:grpSpPr>
        <p:sp>
          <p:nvSpPr>
            <p:cNvPr id="18" name="Rectangle 17">
              <a:extLst>
                <a:ext uri="{FF2B5EF4-FFF2-40B4-BE49-F238E27FC236}">
                  <a16:creationId xmlns:a16="http://schemas.microsoft.com/office/drawing/2014/main" id="{555A54AD-9544-3977-18D8-DD52F984EF1D}"/>
                </a:ext>
              </a:extLst>
            </p:cNvPr>
            <p:cNvSpPr/>
            <p:nvPr/>
          </p:nvSpPr>
          <p:spPr>
            <a:xfrm>
              <a:off x="7166122" y="2980691"/>
              <a:ext cx="1597048" cy="602473"/>
            </a:xfrm>
            <a:custGeom>
              <a:avLst/>
              <a:gdLst>
                <a:gd name="connsiteX0" fmla="*/ 0 w 1597048"/>
                <a:gd name="connsiteY0" fmla="*/ 0 h 602473"/>
                <a:gd name="connsiteX1" fmla="*/ 500408 w 1597048"/>
                <a:gd name="connsiteY1" fmla="*/ 0 h 602473"/>
                <a:gd name="connsiteX2" fmla="*/ 1032758 w 1597048"/>
                <a:gd name="connsiteY2" fmla="*/ 0 h 602473"/>
                <a:gd name="connsiteX3" fmla="*/ 1597048 w 1597048"/>
                <a:gd name="connsiteY3" fmla="*/ 0 h 602473"/>
                <a:gd name="connsiteX4" fmla="*/ 1597048 w 1597048"/>
                <a:gd name="connsiteY4" fmla="*/ 602473 h 602473"/>
                <a:gd name="connsiteX5" fmla="*/ 1080669 w 1597048"/>
                <a:gd name="connsiteY5" fmla="*/ 602473 h 602473"/>
                <a:gd name="connsiteX6" fmla="*/ 580261 w 1597048"/>
                <a:gd name="connsiteY6" fmla="*/ 602473 h 602473"/>
                <a:gd name="connsiteX7" fmla="*/ 0 w 1597048"/>
                <a:gd name="connsiteY7" fmla="*/ 602473 h 602473"/>
                <a:gd name="connsiteX8" fmla="*/ 0 w 1597048"/>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048" h="602473" fill="none" extrusionOk="0">
                  <a:moveTo>
                    <a:pt x="0" y="0"/>
                  </a:moveTo>
                  <a:cubicBezTo>
                    <a:pt x="244484" y="-20454"/>
                    <a:pt x="388014" y="3268"/>
                    <a:pt x="500408" y="0"/>
                  </a:cubicBezTo>
                  <a:cubicBezTo>
                    <a:pt x="612802" y="-3268"/>
                    <a:pt x="800856" y="9713"/>
                    <a:pt x="1032758" y="0"/>
                  </a:cubicBezTo>
                  <a:cubicBezTo>
                    <a:pt x="1264660" y="-9713"/>
                    <a:pt x="1446363" y="-1877"/>
                    <a:pt x="1597048" y="0"/>
                  </a:cubicBezTo>
                  <a:cubicBezTo>
                    <a:pt x="1571350" y="213409"/>
                    <a:pt x="1624207" y="431491"/>
                    <a:pt x="1597048" y="602473"/>
                  </a:cubicBezTo>
                  <a:cubicBezTo>
                    <a:pt x="1375439" y="625846"/>
                    <a:pt x="1221438" y="607751"/>
                    <a:pt x="1080669" y="602473"/>
                  </a:cubicBezTo>
                  <a:cubicBezTo>
                    <a:pt x="939900" y="597195"/>
                    <a:pt x="806678" y="601783"/>
                    <a:pt x="580261" y="602473"/>
                  </a:cubicBezTo>
                  <a:cubicBezTo>
                    <a:pt x="353844" y="603163"/>
                    <a:pt x="285008" y="587271"/>
                    <a:pt x="0" y="602473"/>
                  </a:cubicBezTo>
                  <a:cubicBezTo>
                    <a:pt x="-29591" y="306439"/>
                    <a:pt x="-932" y="253414"/>
                    <a:pt x="0" y="0"/>
                  </a:cubicBezTo>
                  <a:close/>
                </a:path>
                <a:path w="1597048" h="602473"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588856" y="287972"/>
                    <a:pt x="1588650" y="334116"/>
                    <a:pt x="1597048" y="602473"/>
                  </a:cubicBezTo>
                  <a:cubicBezTo>
                    <a:pt x="1383117" y="585603"/>
                    <a:pt x="1293574" y="601638"/>
                    <a:pt x="1032758" y="602473"/>
                  </a:cubicBezTo>
                  <a:cubicBezTo>
                    <a:pt x="771942" y="603309"/>
                    <a:pt x="751727" y="583186"/>
                    <a:pt x="548320" y="602473"/>
                  </a:cubicBezTo>
                  <a:cubicBezTo>
                    <a:pt x="344913" y="621760"/>
                    <a:pt x="153276" y="584335"/>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20" name="Graphic 19" descr="Open folder with solid fill">
              <a:extLst>
                <a:ext uri="{FF2B5EF4-FFF2-40B4-BE49-F238E27FC236}">
                  <a16:creationId xmlns:a16="http://schemas.microsoft.com/office/drawing/2014/main" id="{54A44C5F-75F9-0586-9677-363D585C9E7C}"/>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7187388" y="3060743"/>
              <a:ext cx="442368" cy="442368"/>
            </a:xfrm>
            <a:prstGeom prst="rect">
              <a:avLst/>
            </a:prstGeom>
          </p:spPr>
        </p:pic>
        <p:sp>
          <p:nvSpPr>
            <p:cNvPr id="21" name="Tekstvak 37">
              <a:extLst>
                <a:ext uri="{FF2B5EF4-FFF2-40B4-BE49-F238E27FC236}">
                  <a16:creationId xmlns:a16="http://schemas.microsoft.com/office/drawing/2014/main" id="{0650A2CD-9943-66A1-73E5-8E32776B4018}"/>
                </a:ext>
              </a:extLst>
            </p:cNvPr>
            <p:cNvSpPr txBox="1"/>
            <p:nvPr/>
          </p:nvSpPr>
          <p:spPr>
            <a:xfrm>
              <a:off x="7577665" y="3149104"/>
              <a:ext cx="1197679" cy="307777"/>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FASTQ files</a:t>
              </a:r>
            </a:p>
          </p:txBody>
        </p:sp>
      </p:grpSp>
      <p:grpSp>
        <p:nvGrpSpPr>
          <p:cNvPr id="30" name="Group 29">
            <a:extLst>
              <a:ext uri="{FF2B5EF4-FFF2-40B4-BE49-F238E27FC236}">
                <a16:creationId xmlns:a16="http://schemas.microsoft.com/office/drawing/2014/main" id="{C1B1E36B-CA9C-3831-1710-69D2DC8BE875}"/>
              </a:ext>
            </a:extLst>
          </p:cNvPr>
          <p:cNvGrpSpPr/>
          <p:nvPr/>
        </p:nvGrpSpPr>
        <p:grpSpPr>
          <a:xfrm>
            <a:off x="3500588" y="3444123"/>
            <a:ext cx="1753512" cy="602473"/>
            <a:chOff x="7254218" y="2980691"/>
            <a:chExt cx="1566172" cy="602473"/>
          </a:xfrm>
        </p:grpSpPr>
        <p:sp>
          <p:nvSpPr>
            <p:cNvPr id="34" name="Rectangle 33">
              <a:extLst>
                <a:ext uri="{FF2B5EF4-FFF2-40B4-BE49-F238E27FC236}">
                  <a16:creationId xmlns:a16="http://schemas.microsoft.com/office/drawing/2014/main" id="{06DC0FEB-BC8E-3B7E-E868-ACA4C7F30580}"/>
                </a:ext>
              </a:extLst>
            </p:cNvPr>
            <p:cNvSpPr/>
            <p:nvPr/>
          </p:nvSpPr>
          <p:spPr>
            <a:xfrm>
              <a:off x="7254218" y="2980691"/>
              <a:ext cx="1508952" cy="602473"/>
            </a:xfrm>
            <a:custGeom>
              <a:avLst/>
              <a:gdLst>
                <a:gd name="connsiteX0" fmla="*/ 0 w 1508952"/>
                <a:gd name="connsiteY0" fmla="*/ 0 h 602473"/>
                <a:gd name="connsiteX1" fmla="*/ 472805 w 1508952"/>
                <a:gd name="connsiteY1" fmla="*/ 0 h 602473"/>
                <a:gd name="connsiteX2" fmla="*/ 975789 w 1508952"/>
                <a:gd name="connsiteY2" fmla="*/ 0 h 602473"/>
                <a:gd name="connsiteX3" fmla="*/ 1508952 w 1508952"/>
                <a:gd name="connsiteY3" fmla="*/ 0 h 602473"/>
                <a:gd name="connsiteX4" fmla="*/ 1508952 w 1508952"/>
                <a:gd name="connsiteY4" fmla="*/ 602473 h 602473"/>
                <a:gd name="connsiteX5" fmla="*/ 1021058 w 1508952"/>
                <a:gd name="connsiteY5" fmla="*/ 602473 h 602473"/>
                <a:gd name="connsiteX6" fmla="*/ 548253 w 1508952"/>
                <a:gd name="connsiteY6" fmla="*/ 602473 h 602473"/>
                <a:gd name="connsiteX7" fmla="*/ 0 w 1508952"/>
                <a:gd name="connsiteY7" fmla="*/ 602473 h 602473"/>
                <a:gd name="connsiteX8" fmla="*/ 0 w 1508952"/>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52" h="602473" fill="none" extrusionOk="0">
                  <a:moveTo>
                    <a:pt x="0" y="0"/>
                  </a:moveTo>
                  <a:cubicBezTo>
                    <a:pt x="216331" y="-22447"/>
                    <a:pt x="352058" y="21627"/>
                    <a:pt x="472805" y="0"/>
                  </a:cubicBezTo>
                  <a:cubicBezTo>
                    <a:pt x="593552" y="-21627"/>
                    <a:pt x="862320" y="8938"/>
                    <a:pt x="975789" y="0"/>
                  </a:cubicBezTo>
                  <a:cubicBezTo>
                    <a:pt x="1089258" y="-8938"/>
                    <a:pt x="1393911" y="3371"/>
                    <a:pt x="1508952" y="0"/>
                  </a:cubicBezTo>
                  <a:cubicBezTo>
                    <a:pt x="1483254" y="213409"/>
                    <a:pt x="1536111" y="431491"/>
                    <a:pt x="1508952" y="602473"/>
                  </a:cubicBezTo>
                  <a:cubicBezTo>
                    <a:pt x="1356227" y="603561"/>
                    <a:pt x="1121848" y="603633"/>
                    <a:pt x="1021058" y="602473"/>
                  </a:cubicBezTo>
                  <a:cubicBezTo>
                    <a:pt x="920268" y="601313"/>
                    <a:pt x="705807" y="591775"/>
                    <a:pt x="548253" y="602473"/>
                  </a:cubicBezTo>
                  <a:cubicBezTo>
                    <a:pt x="390700" y="613171"/>
                    <a:pt x="169134" y="615830"/>
                    <a:pt x="0" y="602473"/>
                  </a:cubicBezTo>
                  <a:cubicBezTo>
                    <a:pt x="-29591" y="306439"/>
                    <a:pt x="-932" y="253414"/>
                    <a:pt x="0" y="0"/>
                  </a:cubicBezTo>
                  <a:close/>
                </a:path>
                <a:path w="1508952" h="602473" stroke="0" extrusionOk="0">
                  <a:moveTo>
                    <a:pt x="0" y="0"/>
                  </a:moveTo>
                  <a:cubicBezTo>
                    <a:pt x="110408" y="-24933"/>
                    <a:pt x="359112" y="-15953"/>
                    <a:pt x="502984" y="0"/>
                  </a:cubicBezTo>
                  <a:cubicBezTo>
                    <a:pt x="646856" y="15953"/>
                    <a:pt x="771940" y="4705"/>
                    <a:pt x="975789" y="0"/>
                  </a:cubicBezTo>
                  <a:cubicBezTo>
                    <a:pt x="1179639" y="-4705"/>
                    <a:pt x="1266117" y="-20246"/>
                    <a:pt x="1508952" y="0"/>
                  </a:cubicBezTo>
                  <a:cubicBezTo>
                    <a:pt x="1500760" y="287972"/>
                    <a:pt x="1500554" y="334116"/>
                    <a:pt x="1508952" y="602473"/>
                  </a:cubicBezTo>
                  <a:cubicBezTo>
                    <a:pt x="1369906" y="579071"/>
                    <a:pt x="1201934" y="607776"/>
                    <a:pt x="975789" y="602473"/>
                  </a:cubicBezTo>
                  <a:cubicBezTo>
                    <a:pt x="749644" y="597170"/>
                    <a:pt x="697227" y="591352"/>
                    <a:pt x="518074" y="602473"/>
                  </a:cubicBezTo>
                  <a:cubicBezTo>
                    <a:pt x="338922" y="613594"/>
                    <a:pt x="151838" y="621030"/>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35" name="Graphic 34" descr="Test tubes with solid fill">
              <a:extLst>
                <a:ext uri="{FF2B5EF4-FFF2-40B4-BE49-F238E27FC236}">
                  <a16:creationId xmlns:a16="http://schemas.microsoft.com/office/drawing/2014/main" id="{31DDFC57-D3CD-A0C5-9D3D-0D7114A5861A}"/>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7310342" y="3062437"/>
              <a:ext cx="336328" cy="391593"/>
            </a:xfrm>
            <a:prstGeom prst="rect">
              <a:avLst/>
            </a:prstGeom>
          </p:spPr>
        </p:pic>
        <p:sp>
          <p:nvSpPr>
            <p:cNvPr id="36" name="Tekstvak 37">
              <a:extLst>
                <a:ext uri="{FF2B5EF4-FFF2-40B4-BE49-F238E27FC236}">
                  <a16:creationId xmlns:a16="http://schemas.microsoft.com/office/drawing/2014/main" id="{60C75902-8168-92EC-5B5A-C5342561B993}"/>
                </a:ext>
              </a:extLst>
            </p:cNvPr>
            <p:cNvSpPr txBox="1"/>
            <p:nvPr/>
          </p:nvSpPr>
          <p:spPr>
            <a:xfrm>
              <a:off x="7600721" y="3119261"/>
              <a:ext cx="1219669" cy="307777"/>
            </a:xfrm>
            <a:prstGeom prst="rect">
              <a:avLst/>
            </a:prstGeom>
            <a:noFill/>
          </p:spPr>
          <p:txBody>
            <a:bodyPr wrap="square" rtlCol="0">
              <a:spAutoFit/>
            </a:bodyPr>
            <a:lstStyle/>
            <a:p>
              <a:r>
                <a:rPr lang="nl-BE" sz="1400" b="1">
                  <a:solidFill>
                    <a:srgbClr val="005E77"/>
                  </a:solidFill>
                  <a:latin typeface="Arial" panose="020B0604020202020204" pitchFamily="34" charset="0"/>
                  <a:cs typeface="Arial" panose="020B0604020202020204" pitchFamily="34" charset="0"/>
                </a:rPr>
                <a:t>RNA samples</a:t>
              </a:r>
            </a:p>
          </p:txBody>
        </p:sp>
      </p:grpSp>
      <p:grpSp>
        <p:nvGrpSpPr>
          <p:cNvPr id="46" name="Group 45">
            <a:extLst>
              <a:ext uri="{FF2B5EF4-FFF2-40B4-BE49-F238E27FC236}">
                <a16:creationId xmlns:a16="http://schemas.microsoft.com/office/drawing/2014/main" id="{DA8ED275-5B6B-6910-C4F0-D470DDCC5EA2}"/>
              </a:ext>
            </a:extLst>
          </p:cNvPr>
          <p:cNvGrpSpPr/>
          <p:nvPr/>
        </p:nvGrpSpPr>
        <p:grpSpPr>
          <a:xfrm>
            <a:off x="1752698" y="3369404"/>
            <a:ext cx="1689448" cy="820786"/>
            <a:chOff x="5328144" y="4093536"/>
            <a:chExt cx="1689448" cy="820786"/>
          </a:xfrm>
        </p:grpSpPr>
        <p:sp>
          <p:nvSpPr>
            <p:cNvPr id="47" name="Rectangle 46">
              <a:extLst>
                <a:ext uri="{FF2B5EF4-FFF2-40B4-BE49-F238E27FC236}">
                  <a16:creationId xmlns:a16="http://schemas.microsoft.com/office/drawing/2014/main" id="{15B0EEF7-E504-1ECB-6633-562C9C6EA209}"/>
                </a:ext>
              </a:extLst>
            </p:cNvPr>
            <p:cNvSpPr/>
            <p:nvPr/>
          </p:nvSpPr>
          <p:spPr>
            <a:xfrm>
              <a:off x="5328144" y="4093536"/>
              <a:ext cx="1689448" cy="820786"/>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48" name="Tekstvak 37">
              <a:extLst>
                <a:ext uri="{FF2B5EF4-FFF2-40B4-BE49-F238E27FC236}">
                  <a16:creationId xmlns:a16="http://schemas.microsoft.com/office/drawing/2014/main" id="{F06813D3-4B47-054F-6B05-747D39C5D354}"/>
                </a:ext>
              </a:extLst>
            </p:cNvPr>
            <p:cNvSpPr txBox="1"/>
            <p:nvPr/>
          </p:nvSpPr>
          <p:spPr>
            <a:xfrm>
              <a:off x="5357976" y="4260401"/>
              <a:ext cx="1640286" cy="523220"/>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RNA </a:t>
              </a:r>
              <a:r>
                <a:rPr lang="nl-BE" sz="1400" b="1" err="1">
                  <a:solidFill>
                    <a:srgbClr val="005E77"/>
                  </a:solidFill>
                  <a:latin typeface="Arial" panose="020B0604020202020204" pitchFamily="34" charset="0"/>
                  <a:cs typeface="Arial" panose="020B0604020202020204" pitchFamily="34" charset="0"/>
                </a:rPr>
                <a:t>isolation</a:t>
              </a:r>
              <a:r>
                <a:rPr lang="nl-BE" sz="1400" b="1">
                  <a:solidFill>
                    <a:srgbClr val="005E77"/>
                  </a:solidFill>
                  <a:latin typeface="Arial" panose="020B0604020202020204" pitchFamily="34" charset="0"/>
                  <a:cs typeface="Arial" panose="020B0604020202020204" pitchFamily="34" charset="0"/>
                </a:rPr>
                <a:t> &amp; </a:t>
              </a:r>
              <a:r>
                <a:rPr lang="nl-BE" sz="1400" b="1" err="1">
                  <a:solidFill>
                    <a:srgbClr val="005E77"/>
                  </a:solidFill>
                  <a:latin typeface="Arial" panose="020B0604020202020204" pitchFamily="34" charset="0"/>
                  <a:cs typeface="Arial" panose="020B0604020202020204" pitchFamily="34" charset="0"/>
                </a:rPr>
                <a:t>quality</a:t>
              </a:r>
              <a:r>
                <a:rPr lang="nl-BE" sz="1400" b="1">
                  <a:solidFill>
                    <a:srgbClr val="005E77"/>
                  </a:solidFill>
                  <a:latin typeface="Arial" panose="020B0604020202020204" pitchFamily="34" charset="0"/>
                  <a:cs typeface="Arial" panose="020B0604020202020204" pitchFamily="34" charset="0"/>
                </a:rPr>
                <a:t> control</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grpSp>
      <p:grpSp>
        <p:nvGrpSpPr>
          <p:cNvPr id="6" name="Group 5">
            <a:extLst>
              <a:ext uri="{FF2B5EF4-FFF2-40B4-BE49-F238E27FC236}">
                <a16:creationId xmlns:a16="http://schemas.microsoft.com/office/drawing/2014/main" id="{C48C0C23-D4BA-CD39-3093-B8CE17E59580}"/>
              </a:ext>
            </a:extLst>
          </p:cNvPr>
          <p:cNvGrpSpPr/>
          <p:nvPr/>
        </p:nvGrpSpPr>
        <p:grpSpPr>
          <a:xfrm>
            <a:off x="7079762" y="4192256"/>
            <a:ext cx="1597048" cy="602473"/>
            <a:chOff x="7166122" y="2980691"/>
            <a:chExt cx="1597048" cy="602473"/>
          </a:xfrm>
        </p:grpSpPr>
        <p:sp>
          <p:nvSpPr>
            <p:cNvPr id="7" name="Rectangle 6">
              <a:extLst>
                <a:ext uri="{FF2B5EF4-FFF2-40B4-BE49-F238E27FC236}">
                  <a16:creationId xmlns:a16="http://schemas.microsoft.com/office/drawing/2014/main" id="{1B6C5D38-166C-75BD-2A9C-0D811E41EAE0}"/>
                </a:ext>
              </a:extLst>
            </p:cNvPr>
            <p:cNvSpPr/>
            <p:nvPr/>
          </p:nvSpPr>
          <p:spPr>
            <a:xfrm>
              <a:off x="7166122" y="2980691"/>
              <a:ext cx="1597048" cy="602473"/>
            </a:xfrm>
            <a:custGeom>
              <a:avLst/>
              <a:gdLst>
                <a:gd name="connsiteX0" fmla="*/ 0 w 1597048"/>
                <a:gd name="connsiteY0" fmla="*/ 0 h 602473"/>
                <a:gd name="connsiteX1" fmla="*/ 500408 w 1597048"/>
                <a:gd name="connsiteY1" fmla="*/ 0 h 602473"/>
                <a:gd name="connsiteX2" fmla="*/ 1032758 w 1597048"/>
                <a:gd name="connsiteY2" fmla="*/ 0 h 602473"/>
                <a:gd name="connsiteX3" fmla="*/ 1597048 w 1597048"/>
                <a:gd name="connsiteY3" fmla="*/ 0 h 602473"/>
                <a:gd name="connsiteX4" fmla="*/ 1597048 w 1597048"/>
                <a:gd name="connsiteY4" fmla="*/ 602473 h 602473"/>
                <a:gd name="connsiteX5" fmla="*/ 1080669 w 1597048"/>
                <a:gd name="connsiteY5" fmla="*/ 602473 h 602473"/>
                <a:gd name="connsiteX6" fmla="*/ 580261 w 1597048"/>
                <a:gd name="connsiteY6" fmla="*/ 602473 h 602473"/>
                <a:gd name="connsiteX7" fmla="*/ 0 w 1597048"/>
                <a:gd name="connsiteY7" fmla="*/ 602473 h 602473"/>
                <a:gd name="connsiteX8" fmla="*/ 0 w 1597048"/>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048" h="602473" fill="none" extrusionOk="0">
                  <a:moveTo>
                    <a:pt x="0" y="0"/>
                  </a:moveTo>
                  <a:cubicBezTo>
                    <a:pt x="244484" y="-20454"/>
                    <a:pt x="388014" y="3268"/>
                    <a:pt x="500408" y="0"/>
                  </a:cubicBezTo>
                  <a:cubicBezTo>
                    <a:pt x="612802" y="-3268"/>
                    <a:pt x="800856" y="9713"/>
                    <a:pt x="1032758" y="0"/>
                  </a:cubicBezTo>
                  <a:cubicBezTo>
                    <a:pt x="1264660" y="-9713"/>
                    <a:pt x="1446363" y="-1877"/>
                    <a:pt x="1597048" y="0"/>
                  </a:cubicBezTo>
                  <a:cubicBezTo>
                    <a:pt x="1571350" y="213409"/>
                    <a:pt x="1624207" y="431491"/>
                    <a:pt x="1597048" y="602473"/>
                  </a:cubicBezTo>
                  <a:cubicBezTo>
                    <a:pt x="1375439" y="625846"/>
                    <a:pt x="1221438" y="607751"/>
                    <a:pt x="1080669" y="602473"/>
                  </a:cubicBezTo>
                  <a:cubicBezTo>
                    <a:pt x="939900" y="597195"/>
                    <a:pt x="806678" y="601783"/>
                    <a:pt x="580261" y="602473"/>
                  </a:cubicBezTo>
                  <a:cubicBezTo>
                    <a:pt x="353844" y="603163"/>
                    <a:pt x="285008" y="587271"/>
                    <a:pt x="0" y="602473"/>
                  </a:cubicBezTo>
                  <a:cubicBezTo>
                    <a:pt x="-29591" y="306439"/>
                    <a:pt x="-932" y="253414"/>
                    <a:pt x="0" y="0"/>
                  </a:cubicBezTo>
                  <a:close/>
                </a:path>
                <a:path w="1597048" h="602473"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588856" y="287972"/>
                    <a:pt x="1588650" y="334116"/>
                    <a:pt x="1597048" y="602473"/>
                  </a:cubicBezTo>
                  <a:cubicBezTo>
                    <a:pt x="1383117" y="585603"/>
                    <a:pt x="1293574" y="601638"/>
                    <a:pt x="1032758" y="602473"/>
                  </a:cubicBezTo>
                  <a:cubicBezTo>
                    <a:pt x="771942" y="603309"/>
                    <a:pt x="751727" y="583186"/>
                    <a:pt x="548320" y="602473"/>
                  </a:cubicBezTo>
                  <a:cubicBezTo>
                    <a:pt x="344913" y="621760"/>
                    <a:pt x="153276" y="584335"/>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pic>
          <p:nvPicPr>
            <p:cNvPr id="8" name="Graphic 7" descr="Open folder with solid fill">
              <a:extLst>
                <a:ext uri="{FF2B5EF4-FFF2-40B4-BE49-F238E27FC236}">
                  <a16:creationId xmlns:a16="http://schemas.microsoft.com/office/drawing/2014/main" id="{4FA4E9D3-0B1A-C4BC-1370-E2C42E12D98B}"/>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7187388" y="3060743"/>
              <a:ext cx="442368" cy="442368"/>
            </a:xfrm>
            <a:prstGeom prst="rect">
              <a:avLst/>
            </a:prstGeom>
          </p:spPr>
        </p:pic>
        <p:sp>
          <p:nvSpPr>
            <p:cNvPr id="9" name="Tekstvak 37">
              <a:extLst>
                <a:ext uri="{FF2B5EF4-FFF2-40B4-BE49-F238E27FC236}">
                  <a16:creationId xmlns:a16="http://schemas.microsoft.com/office/drawing/2014/main" id="{BAB650D8-D675-56E4-1020-D8EE7E98F95E}"/>
                </a:ext>
              </a:extLst>
            </p:cNvPr>
            <p:cNvSpPr txBox="1"/>
            <p:nvPr/>
          </p:nvSpPr>
          <p:spPr>
            <a:xfrm>
              <a:off x="7565491" y="3022375"/>
              <a:ext cx="1197679" cy="523220"/>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Sequencing</a:t>
              </a:r>
              <a:r>
                <a:rPr lang="nl-BE" sz="1400" b="1">
                  <a:solidFill>
                    <a:srgbClr val="005E77"/>
                  </a:solidFill>
                  <a:latin typeface="Arial" panose="020B0604020202020204" pitchFamily="34" charset="0"/>
                  <a:cs typeface="Arial" panose="020B0604020202020204" pitchFamily="34" charset="0"/>
                </a:rPr>
                <a:t> report</a:t>
              </a:r>
            </a:p>
          </p:txBody>
        </p:sp>
      </p:grpSp>
      <p:grpSp>
        <p:nvGrpSpPr>
          <p:cNvPr id="10" name="Group 9">
            <a:extLst>
              <a:ext uri="{FF2B5EF4-FFF2-40B4-BE49-F238E27FC236}">
                <a16:creationId xmlns:a16="http://schemas.microsoft.com/office/drawing/2014/main" id="{26B9A2A1-C45E-BD13-B299-269AD63A4972}"/>
              </a:ext>
            </a:extLst>
          </p:cNvPr>
          <p:cNvGrpSpPr/>
          <p:nvPr/>
        </p:nvGrpSpPr>
        <p:grpSpPr>
          <a:xfrm>
            <a:off x="3499881" y="4151321"/>
            <a:ext cx="1785041" cy="602473"/>
            <a:chOff x="3466236" y="4154687"/>
            <a:chExt cx="1785041" cy="602473"/>
          </a:xfrm>
        </p:grpSpPr>
        <p:grpSp>
          <p:nvGrpSpPr>
            <p:cNvPr id="12" name="Group 11">
              <a:extLst>
                <a:ext uri="{FF2B5EF4-FFF2-40B4-BE49-F238E27FC236}">
                  <a16:creationId xmlns:a16="http://schemas.microsoft.com/office/drawing/2014/main" id="{91EDD617-7681-0AA2-9AC7-BD46C0737452}"/>
                </a:ext>
              </a:extLst>
            </p:cNvPr>
            <p:cNvGrpSpPr/>
            <p:nvPr/>
          </p:nvGrpSpPr>
          <p:grpSpPr>
            <a:xfrm>
              <a:off x="3469144" y="4154687"/>
              <a:ext cx="1782133" cy="602473"/>
              <a:chOff x="7254218" y="2980691"/>
              <a:chExt cx="1591737" cy="602473"/>
            </a:xfrm>
          </p:grpSpPr>
          <p:sp>
            <p:nvSpPr>
              <p:cNvPr id="16" name="Rectangle 15">
                <a:extLst>
                  <a:ext uri="{FF2B5EF4-FFF2-40B4-BE49-F238E27FC236}">
                    <a16:creationId xmlns:a16="http://schemas.microsoft.com/office/drawing/2014/main" id="{E4DEAFF6-7666-3F68-9AD0-2B830E5D2425}"/>
                  </a:ext>
                </a:extLst>
              </p:cNvPr>
              <p:cNvSpPr/>
              <p:nvPr/>
            </p:nvSpPr>
            <p:spPr>
              <a:xfrm>
                <a:off x="7254218" y="2980691"/>
                <a:ext cx="1508952" cy="602473"/>
              </a:xfrm>
              <a:custGeom>
                <a:avLst/>
                <a:gdLst>
                  <a:gd name="connsiteX0" fmla="*/ 0 w 1508952"/>
                  <a:gd name="connsiteY0" fmla="*/ 0 h 602473"/>
                  <a:gd name="connsiteX1" fmla="*/ 472805 w 1508952"/>
                  <a:gd name="connsiteY1" fmla="*/ 0 h 602473"/>
                  <a:gd name="connsiteX2" fmla="*/ 975789 w 1508952"/>
                  <a:gd name="connsiteY2" fmla="*/ 0 h 602473"/>
                  <a:gd name="connsiteX3" fmla="*/ 1508952 w 1508952"/>
                  <a:gd name="connsiteY3" fmla="*/ 0 h 602473"/>
                  <a:gd name="connsiteX4" fmla="*/ 1508952 w 1508952"/>
                  <a:gd name="connsiteY4" fmla="*/ 602473 h 602473"/>
                  <a:gd name="connsiteX5" fmla="*/ 1021058 w 1508952"/>
                  <a:gd name="connsiteY5" fmla="*/ 602473 h 602473"/>
                  <a:gd name="connsiteX6" fmla="*/ 548253 w 1508952"/>
                  <a:gd name="connsiteY6" fmla="*/ 602473 h 602473"/>
                  <a:gd name="connsiteX7" fmla="*/ 0 w 1508952"/>
                  <a:gd name="connsiteY7" fmla="*/ 602473 h 602473"/>
                  <a:gd name="connsiteX8" fmla="*/ 0 w 1508952"/>
                  <a:gd name="connsiteY8" fmla="*/ 0 h 60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52" h="602473" fill="none" extrusionOk="0">
                    <a:moveTo>
                      <a:pt x="0" y="0"/>
                    </a:moveTo>
                    <a:cubicBezTo>
                      <a:pt x="216331" y="-22447"/>
                      <a:pt x="352058" y="21627"/>
                      <a:pt x="472805" y="0"/>
                    </a:cubicBezTo>
                    <a:cubicBezTo>
                      <a:pt x="593552" y="-21627"/>
                      <a:pt x="862320" y="8938"/>
                      <a:pt x="975789" y="0"/>
                    </a:cubicBezTo>
                    <a:cubicBezTo>
                      <a:pt x="1089258" y="-8938"/>
                      <a:pt x="1393911" y="3371"/>
                      <a:pt x="1508952" y="0"/>
                    </a:cubicBezTo>
                    <a:cubicBezTo>
                      <a:pt x="1483254" y="213409"/>
                      <a:pt x="1536111" y="431491"/>
                      <a:pt x="1508952" y="602473"/>
                    </a:cubicBezTo>
                    <a:cubicBezTo>
                      <a:pt x="1356227" y="603561"/>
                      <a:pt x="1121848" y="603633"/>
                      <a:pt x="1021058" y="602473"/>
                    </a:cubicBezTo>
                    <a:cubicBezTo>
                      <a:pt x="920268" y="601313"/>
                      <a:pt x="705807" y="591775"/>
                      <a:pt x="548253" y="602473"/>
                    </a:cubicBezTo>
                    <a:cubicBezTo>
                      <a:pt x="390700" y="613171"/>
                      <a:pt x="169134" y="615830"/>
                      <a:pt x="0" y="602473"/>
                    </a:cubicBezTo>
                    <a:cubicBezTo>
                      <a:pt x="-29591" y="306439"/>
                      <a:pt x="-932" y="253414"/>
                      <a:pt x="0" y="0"/>
                    </a:cubicBezTo>
                    <a:close/>
                  </a:path>
                  <a:path w="1508952" h="602473" stroke="0" extrusionOk="0">
                    <a:moveTo>
                      <a:pt x="0" y="0"/>
                    </a:moveTo>
                    <a:cubicBezTo>
                      <a:pt x="110408" y="-24933"/>
                      <a:pt x="359112" y="-15953"/>
                      <a:pt x="502984" y="0"/>
                    </a:cubicBezTo>
                    <a:cubicBezTo>
                      <a:pt x="646856" y="15953"/>
                      <a:pt x="771940" y="4705"/>
                      <a:pt x="975789" y="0"/>
                    </a:cubicBezTo>
                    <a:cubicBezTo>
                      <a:pt x="1179639" y="-4705"/>
                      <a:pt x="1266117" y="-20246"/>
                      <a:pt x="1508952" y="0"/>
                    </a:cubicBezTo>
                    <a:cubicBezTo>
                      <a:pt x="1500760" y="287972"/>
                      <a:pt x="1500554" y="334116"/>
                      <a:pt x="1508952" y="602473"/>
                    </a:cubicBezTo>
                    <a:cubicBezTo>
                      <a:pt x="1369906" y="579071"/>
                      <a:pt x="1201934" y="607776"/>
                      <a:pt x="975789" y="602473"/>
                    </a:cubicBezTo>
                    <a:cubicBezTo>
                      <a:pt x="749644" y="597170"/>
                      <a:pt x="697227" y="591352"/>
                      <a:pt x="518074" y="602473"/>
                    </a:cubicBezTo>
                    <a:cubicBezTo>
                      <a:pt x="338922" y="613594"/>
                      <a:pt x="151838" y="621030"/>
                      <a:pt x="0" y="602473"/>
                    </a:cubicBezTo>
                    <a:cubicBezTo>
                      <a:pt x="-29629" y="378056"/>
                      <a:pt x="-23973" y="187773"/>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17" name="Tekstvak 37">
                <a:extLst>
                  <a:ext uri="{FF2B5EF4-FFF2-40B4-BE49-F238E27FC236}">
                    <a16:creationId xmlns:a16="http://schemas.microsoft.com/office/drawing/2014/main" id="{FD428420-1825-1FD6-8AF7-FA77E050544B}"/>
                  </a:ext>
                </a:extLst>
              </p:cNvPr>
              <p:cNvSpPr txBox="1"/>
              <p:nvPr/>
            </p:nvSpPr>
            <p:spPr>
              <a:xfrm>
                <a:off x="7514173" y="3118105"/>
                <a:ext cx="1331782" cy="307777"/>
              </a:xfrm>
              <a:prstGeom prst="rect">
                <a:avLst/>
              </a:prstGeom>
              <a:noFill/>
            </p:spPr>
            <p:txBody>
              <a:bodyPr wrap="square" rtlCol="0">
                <a:spAutoFit/>
              </a:bodyPr>
              <a:lstStyle/>
              <a:p>
                <a:r>
                  <a:rPr lang="nl-BE" sz="1400" b="1">
                    <a:solidFill>
                      <a:srgbClr val="005E77"/>
                    </a:solidFill>
                    <a:latin typeface="Arial" panose="020B0604020202020204" pitchFamily="34" charset="0"/>
                    <a:cs typeface="Arial" panose="020B0604020202020204" pitchFamily="34" charset="0"/>
                  </a:rPr>
                  <a:t>RNA QC report</a:t>
                </a:r>
              </a:p>
            </p:txBody>
          </p:sp>
        </p:grpSp>
        <p:pic>
          <p:nvPicPr>
            <p:cNvPr id="13" name="Graphic 12" descr="Open folder with solid fill">
              <a:extLst>
                <a:ext uri="{FF2B5EF4-FFF2-40B4-BE49-F238E27FC236}">
                  <a16:creationId xmlns:a16="http://schemas.microsoft.com/office/drawing/2014/main" id="{34E84941-C725-D91F-DC9B-E4D1F159F210}"/>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3466236" y="4233233"/>
              <a:ext cx="382344" cy="382344"/>
            </a:xfrm>
            <a:prstGeom prst="rect">
              <a:avLst/>
            </a:prstGeom>
          </p:spPr>
        </p:pic>
      </p:grpSp>
      <p:grpSp>
        <p:nvGrpSpPr>
          <p:cNvPr id="19" name="Group 18">
            <a:extLst>
              <a:ext uri="{FF2B5EF4-FFF2-40B4-BE49-F238E27FC236}">
                <a16:creationId xmlns:a16="http://schemas.microsoft.com/office/drawing/2014/main" id="{67E489CE-5077-D6F8-F91F-932110C9B31C}"/>
              </a:ext>
            </a:extLst>
          </p:cNvPr>
          <p:cNvGrpSpPr/>
          <p:nvPr/>
        </p:nvGrpSpPr>
        <p:grpSpPr>
          <a:xfrm>
            <a:off x="122694" y="2449379"/>
            <a:ext cx="1582347" cy="820786"/>
            <a:chOff x="5328144" y="4093536"/>
            <a:chExt cx="1689448" cy="820786"/>
          </a:xfrm>
        </p:grpSpPr>
        <p:sp>
          <p:nvSpPr>
            <p:cNvPr id="23" name="Rectangle 22">
              <a:extLst>
                <a:ext uri="{FF2B5EF4-FFF2-40B4-BE49-F238E27FC236}">
                  <a16:creationId xmlns:a16="http://schemas.microsoft.com/office/drawing/2014/main" id="{9D898A69-EB29-7A23-CBCB-2E6781D1A4EA}"/>
                </a:ext>
              </a:extLst>
            </p:cNvPr>
            <p:cNvSpPr/>
            <p:nvPr/>
          </p:nvSpPr>
          <p:spPr>
            <a:xfrm>
              <a:off x="5328144" y="4093536"/>
              <a:ext cx="1689448" cy="820786"/>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26" name="Tekstvak 37">
              <a:extLst>
                <a:ext uri="{FF2B5EF4-FFF2-40B4-BE49-F238E27FC236}">
                  <a16:creationId xmlns:a16="http://schemas.microsoft.com/office/drawing/2014/main" id="{70594FA9-BBE7-0B6A-FEFA-FE1A53C93A9B}"/>
                </a:ext>
              </a:extLst>
            </p:cNvPr>
            <p:cNvSpPr txBox="1"/>
            <p:nvPr/>
          </p:nvSpPr>
          <p:spPr>
            <a:xfrm>
              <a:off x="5357976" y="4260401"/>
              <a:ext cx="1640286" cy="523220"/>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Euthanasia</a:t>
              </a:r>
              <a:r>
                <a:rPr lang="nl-BE" sz="1400" b="1">
                  <a:solidFill>
                    <a:srgbClr val="005E77"/>
                  </a:solidFill>
                  <a:latin typeface="Arial" panose="020B0604020202020204" pitchFamily="34" charset="0"/>
                  <a:cs typeface="Arial" panose="020B0604020202020204" pitchFamily="34" charset="0"/>
                </a:rPr>
                <a:t> &amp; </a:t>
              </a:r>
              <a:r>
                <a:rPr lang="nl-BE" sz="1400" b="1" err="1">
                  <a:solidFill>
                    <a:srgbClr val="005E77"/>
                  </a:solidFill>
                  <a:latin typeface="Arial" panose="020B0604020202020204" pitchFamily="34" charset="0"/>
                  <a:cs typeface="Arial" panose="020B0604020202020204" pitchFamily="34" charset="0"/>
                </a:rPr>
                <a:t>brain</a:t>
              </a:r>
              <a:r>
                <a:rPr lang="nl-BE" sz="1400" b="1">
                  <a:solidFill>
                    <a:srgbClr val="005E77"/>
                  </a:solidFill>
                  <a:latin typeface="Arial" panose="020B0604020202020204" pitchFamily="34" charset="0"/>
                  <a:cs typeface="Arial" panose="020B0604020202020204" pitchFamily="34" charset="0"/>
                </a:rPr>
                <a:t> </a:t>
              </a:r>
              <a:r>
                <a:rPr lang="nl-BE" sz="1400" b="1" err="1">
                  <a:solidFill>
                    <a:srgbClr val="005E77"/>
                  </a:solidFill>
                  <a:latin typeface="Arial" panose="020B0604020202020204" pitchFamily="34" charset="0"/>
                  <a:cs typeface="Arial" panose="020B0604020202020204" pitchFamily="34" charset="0"/>
                </a:rPr>
                <a:t>extraction</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grpSp>
      <p:grpSp>
        <p:nvGrpSpPr>
          <p:cNvPr id="27" name="Group 26">
            <a:extLst>
              <a:ext uri="{FF2B5EF4-FFF2-40B4-BE49-F238E27FC236}">
                <a16:creationId xmlns:a16="http://schemas.microsoft.com/office/drawing/2014/main" id="{234F4F9C-6F64-ED34-7FB1-BA4B0C4F347E}"/>
              </a:ext>
            </a:extLst>
          </p:cNvPr>
          <p:cNvGrpSpPr/>
          <p:nvPr/>
        </p:nvGrpSpPr>
        <p:grpSpPr>
          <a:xfrm>
            <a:off x="122695" y="1545161"/>
            <a:ext cx="1597048" cy="920025"/>
            <a:chOff x="1103507" y="2636396"/>
            <a:chExt cx="1597048" cy="920025"/>
          </a:xfrm>
        </p:grpSpPr>
        <p:sp>
          <p:nvSpPr>
            <p:cNvPr id="28" name="Rectangle 27">
              <a:extLst>
                <a:ext uri="{FF2B5EF4-FFF2-40B4-BE49-F238E27FC236}">
                  <a16:creationId xmlns:a16="http://schemas.microsoft.com/office/drawing/2014/main" id="{A7E03864-49A2-4767-51DE-76F9B189B363}"/>
                </a:ext>
              </a:extLst>
            </p:cNvPr>
            <p:cNvSpPr/>
            <p:nvPr/>
          </p:nvSpPr>
          <p:spPr>
            <a:xfrm>
              <a:off x="1103507" y="2636396"/>
              <a:ext cx="1597048" cy="820786"/>
            </a:xfrm>
            <a:custGeom>
              <a:avLst/>
              <a:gdLst>
                <a:gd name="connsiteX0" fmla="*/ 0 w 1597048"/>
                <a:gd name="connsiteY0" fmla="*/ 0 h 820786"/>
                <a:gd name="connsiteX1" fmla="*/ 500408 w 1597048"/>
                <a:gd name="connsiteY1" fmla="*/ 0 h 820786"/>
                <a:gd name="connsiteX2" fmla="*/ 1032758 w 1597048"/>
                <a:gd name="connsiteY2" fmla="*/ 0 h 820786"/>
                <a:gd name="connsiteX3" fmla="*/ 1597048 w 1597048"/>
                <a:gd name="connsiteY3" fmla="*/ 0 h 820786"/>
                <a:gd name="connsiteX4" fmla="*/ 1597048 w 1597048"/>
                <a:gd name="connsiteY4" fmla="*/ 393977 h 820786"/>
                <a:gd name="connsiteX5" fmla="*/ 1597048 w 1597048"/>
                <a:gd name="connsiteY5" fmla="*/ 820786 h 820786"/>
                <a:gd name="connsiteX6" fmla="*/ 1064699 w 1597048"/>
                <a:gd name="connsiteY6" fmla="*/ 820786 h 820786"/>
                <a:gd name="connsiteX7" fmla="*/ 564290 w 1597048"/>
                <a:gd name="connsiteY7" fmla="*/ 820786 h 820786"/>
                <a:gd name="connsiteX8" fmla="*/ 0 w 1597048"/>
                <a:gd name="connsiteY8" fmla="*/ 820786 h 820786"/>
                <a:gd name="connsiteX9" fmla="*/ 0 w 1597048"/>
                <a:gd name="connsiteY9" fmla="*/ 418601 h 820786"/>
                <a:gd name="connsiteX10" fmla="*/ 0 w 1597048"/>
                <a:gd name="connsiteY10" fmla="*/ 0 h 8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7048" h="820786" fill="none" extrusionOk="0">
                  <a:moveTo>
                    <a:pt x="0" y="0"/>
                  </a:moveTo>
                  <a:cubicBezTo>
                    <a:pt x="238896" y="10854"/>
                    <a:pt x="304044" y="-9032"/>
                    <a:pt x="500408" y="0"/>
                  </a:cubicBezTo>
                  <a:cubicBezTo>
                    <a:pt x="696772" y="9032"/>
                    <a:pt x="784973" y="305"/>
                    <a:pt x="1032758" y="0"/>
                  </a:cubicBezTo>
                  <a:cubicBezTo>
                    <a:pt x="1280543" y="-305"/>
                    <a:pt x="1409185" y="1471"/>
                    <a:pt x="1597048" y="0"/>
                  </a:cubicBezTo>
                  <a:cubicBezTo>
                    <a:pt x="1587982" y="181526"/>
                    <a:pt x="1578769" y="242801"/>
                    <a:pt x="1597048" y="393977"/>
                  </a:cubicBezTo>
                  <a:cubicBezTo>
                    <a:pt x="1615327" y="545153"/>
                    <a:pt x="1601458" y="607809"/>
                    <a:pt x="1597048" y="820786"/>
                  </a:cubicBezTo>
                  <a:cubicBezTo>
                    <a:pt x="1393369" y="836787"/>
                    <a:pt x="1255067" y="846739"/>
                    <a:pt x="1064699" y="820786"/>
                  </a:cubicBezTo>
                  <a:cubicBezTo>
                    <a:pt x="874331" y="794833"/>
                    <a:pt x="671221" y="822535"/>
                    <a:pt x="564290" y="820786"/>
                  </a:cubicBezTo>
                  <a:cubicBezTo>
                    <a:pt x="457359" y="819037"/>
                    <a:pt x="123976" y="799103"/>
                    <a:pt x="0" y="820786"/>
                  </a:cubicBezTo>
                  <a:cubicBezTo>
                    <a:pt x="-12453" y="687670"/>
                    <a:pt x="-15229" y="573013"/>
                    <a:pt x="0" y="418601"/>
                  </a:cubicBezTo>
                  <a:cubicBezTo>
                    <a:pt x="15229" y="264189"/>
                    <a:pt x="9436" y="202733"/>
                    <a:pt x="0" y="0"/>
                  </a:cubicBezTo>
                  <a:close/>
                </a:path>
                <a:path w="1597048" h="820786" stroke="0" extrusionOk="0">
                  <a:moveTo>
                    <a:pt x="0" y="0"/>
                  </a:moveTo>
                  <a:cubicBezTo>
                    <a:pt x="235993" y="-23639"/>
                    <a:pt x="369935" y="-8338"/>
                    <a:pt x="532349" y="0"/>
                  </a:cubicBezTo>
                  <a:cubicBezTo>
                    <a:pt x="694763" y="8338"/>
                    <a:pt x="834016" y="-23672"/>
                    <a:pt x="1032758" y="0"/>
                  </a:cubicBezTo>
                  <a:cubicBezTo>
                    <a:pt x="1231500" y="23672"/>
                    <a:pt x="1449474" y="-2411"/>
                    <a:pt x="1597048" y="0"/>
                  </a:cubicBezTo>
                  <a:cubicBezTo>
                    <a:pt x="1582139" y="82714"/>
                    <a:pt x="1592452" y="304975"/>
                    <a:pt x="1597048" y="402185"/>
                  </a:cubicBezTo>
                  <a:cubicBezTo>
                    <a:pt x="1601644" y="499395"/>
                    <a:pt x="1596369" y="681113"/>
                    <a:pt x="1597048" y="820786"/>
                  </a:cubicBezTo>
                  <a:cubicBezTo>
                    <a:pt x="1391546" y="822865"/>
                    <a:pt x="1274479" y="814935"/>
                    <a:pt x="1096640" y="820786"/>
                  </a:cubicBezTo>
                  <a:cubicBezTo>
                    <a:pt x="918801" y="826637"/>
                    <a:pt x="701596" y="802648"/>
                    <a:pt x="548320" y="820786"/>
                  </a:cubicBezTo>
                  <a:cubicBezTo>
                    <a:pt x="395044" y="838924"/>
                    <a:pt x="256213" y="816665"/>
                    <a:pt x="0" y="820786"/>
                  </a:cubicBezTo>
                  <a:cubicBezTo>
                    <a:pt x="1374" y="715993"/>
                    <a:pt x="-6876" y="586015"/>
                    <a:pt x="0" y="435017"/>
                  </a:cubicBezTo>
                  <a:cubicBezTo>
                    <a:pt x="6876" y="284019"/>
                    <a:pt x="21072" y="119837"/>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267169158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38" name="Tekstvak 37">
              <a:extLst>
                <a:ext uri="{FF2B5EF4-FFF2-40B4-BE49-F238E27FC236}">
                  <a16:creationId xmlns:a16="http://schemas.microsoft.com/office/drawing/2014/main" id="{F32B5726-027C-B504-C06D-8B678B973241}"/>
                </a:ext>
              </a:extLst>
            </p:cNvPr>
            <p:cNvSpPr txBox="1"/>
            <p:nvPr/>
          </p:nvSpPr>
          <p:spPr>
            <a:xfrm>
              <a:off x="1112557" y="2790532"/>
              <a:ext cx="1564243" cy="523220"/>
            </a:xfrm>
            <a:prstGeom prst="rect">
              <a:avLst/>
            </a:prstGeom>
            <a:noFill/>
          </p:spPr>
          <p:txBody>
            <a:bodyPr wrap="square" rtlCol="0">
              <a:spAutoFit/>
            </a:bodyPr>
            <a:lstStyle/>
            <a:p>
              <a:pPr algn="ctr"/>
              <a:r>
                <a:rPr lang="nl-NL" sz="1400" b="1">
                  <a:solidFill>
                    <a:srgbClr val="005E77"/>
                  </a:solidFill>
                  <a:latin typeface="Arial" panose="020B0604020202020204" pitchFamily="34" charset="0"/>
                  <a:cs typeface="Arial" panose="020B0604020202020204" pitchFamily="34" charset="0"/>
                </a:rPr>
                <a:t>TgF344-AD + WT Rats</a:t>
              </a:r>
              <a:endParaRPr lang="nl-BE" sz="1400" b="1">
                <a:solidFill>
                  <a:srgbClr val="005E77"/>
                </a:solidFill>
                <a:latin typeface="Arial" panose="020B0604020202020204" pitchFamily="34" charset="0"/>
                <a:cs typeface="Arial" panose="020B0604020202020204" pitchFamily="34" charset="0"/>
              </a:endParaRPr>
            </a:p>
          </p:txBody>
        </p:sp>
        <p:pic>
          <p:nvPicPr>
            <p:cNvPr id="37" name="Graphic 36" descr="Rat met effen opvulling">
              <a:extLst>
                <a:ext uri="{FF2B5EF4-FFF2-40B4-BE49-F238E27FC236}">
                  <a16:creationId xmlns:a16="http://schemas.microsoft.com/office/drawing/2014/main" id="{014BA693-C28D-BA8D-EC7F-4ABC189D247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12557" y="2973277"/>
              <a:ext cx="583144" cy="583144"/>
            </a:xfrm>
            <a:prstGeom prst="rect">
              <a:avLst/>
            </a:prstGeom>
          </p:spPr>
        </p:pic>
      </p:grpSp>
    </p:spTree>
    <p:extLst>
      <p:ext uri="{BB962C8B-B14F-4D97-AF65-F5344CB8AC3E}">
        <p14:creationId xmlns:p14="http://schemas.microsoft.com/office/powerpoint/2010/main" val="3109621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85893-EA5D-FAC7-41FD-DD6FDA4CC52C}"/>
            </a:ext>
          </a:extLst>
        </p:cNvPr>
        <p:cNvGrpSpPr/>
        <p:nvPr/>
      </p:nvGrpSpPr>
      <p:grpSpPr>
        <a:xfrm>
          <a:off x="0" y="0"/>
          <a:ext cx="0" cy="0"/>
          <a:chOff x="0" y="0"/>
          <a:chExt cx="0" cy="0"/>
        </a:xfrm>
      </p:grpSpPr>
      <p:sp>
        <p:nvSpPr>
          <p:cNvPr id="95" name="Rectangle 94">
            <a:extLst>
              <a:ext uri="{FF2B5EF4-FFF2-40B4-BE49-F238E27FC236}">
                <a16:creationId xmlns:a16="http://schemas.microsoft.com/office/drawing/2014/main" id="{1C608A05-A9AF-05BE-D4F9-D6A121E666FB}"/>
              </a:ext>
            </a:extLst>
          </p:cNvPr>
          <p:cNvSpPr/>
          <p:nvPr/>
        </p:nvSpPr>
        <p:spPr>
          <a:xfrm>
            <a:off x="4313475" y="4167964"/>
            <a:ext cx="6311848" cy="192864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nl-BE"/>
          </a:p>
          <a:p>
            <a:pPr algn="ctr"/>
            <a:endParaRPr lang="nl-BE"/>
          </a:p>
          <a:p>
            <a:pPr algn="ctr"/>
            <a:endParaRPr lang="nl-BE"/>
          </a:p>
          <a:p>
            <a:pPr algn="ctr"/>
            <a:endParaRPr lang="nl-BE"/>
          </a:p>
          <a:p>
            <a:pPr algn="ctr"/>
            <a:endParaRPr lang="nl-BE" sz="1050"/>
          </a:p>
          <a:p>
            <a:pPr algn="ctr"/>
            <a:r>
              <a:rPr lang="nl-BE"/>
              <a:t>= </a:t>
            </a:r>
            <a:r>
              <a:rPr lang="nl-BE" err="1"/>
              <a:t>simplified</a:t>
            </a:r>
            <a:endParaRPr lang="nl-BE"/>
          </a:p>
        </p:txBody>
      </p:sp>
      <p:pic>
        <p:nvPicPr>
          <p:cNvPr id="3" name="Picture 2">
            <a:extLst>
              <a:ext uri="{FF2B5EF4-FFF2-40B4-BE49-F238E27FC236}">
                <a16:creationId xmlns:a16="http://schemas.microsoft.com/office/drawing/2014/main" id="{EB11E9B3-3A48-B24E-7AE8-D4FFCDFDF709}"/>
              </a:ext>
            </a:extLst>
          </p:cNvPr>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816106" y="523953"/>
            <a:ext cx="921893" cy="921600"/>
          </a:xfrm>
          <a:prstGeom prst="ellipse">
            <a:avLst/>
          </a:prstGeom>
        </p:spPr>
      </p:pic>
      <p:sp>
        <p:nvSpPr>
          <p:cNvPr id="2" name="Title 1">
            <a:extLst>
              <a:ext uri="{FF2B5EF4-FFF2-40B4-BE49-F238E27FC236}">
                <a16:creationId xmlns:a16="http://schemas.microsoft.com/office/drawing/2014/main" id="{7EA5F8BE-4D2E-4774-E51B-0B9A9279A5AE}"/>
              </a:ext>
            </a:extLst>
          </p:cNvPr>
          <p:cNvSpPr>
            <a:spLocks noGrp="1"/>
          </p:cNvSpPr>
          <p:nvPr>
            <p:ph type="title"/>
          </p:nvPr>
        </p:nvSpPr>
        <p:spPr>
          <a:xfrm>
            <a:off x="576000" y="576000"/>
            <a:ext cx="10382371" cy="1325563"/>
          </a:xfrm>
        </p:spPr>
        <p:txBody>
          <a:bodyPr/>
          <a:lstStyle/>
          <a:p>
            <a:r>
              <a:rPr lang="en-US"/>
              <a:t>Exercise 2: Build a Dataflow – example </a:t>
            </a:r>
            <a:br>
              <a:rPr lang="en-US"/>
            </a:br>
            <a:r>
              <a:rPr lang="en-US"/>
              <a:t>Jie’s project</a:t>
            </a:r>
            <a:endParaRPr lang="en-GB"/>
          </a:p>
        </p:txBody>
      </p:sp>
      <p:sp>
        <p:nvSpPr>
          <p:cNvPr id="4" name="Slide Number Placeholder 3">
            <a:extLst>
              <a:ext uri="{FF2B5EF4-FFF2-40B4-BE49-F238E27FC236}">
                <a16:creationId xmlns:a16="http://schemas.microsoft.com/office/drawing/2014/main" id="{05F571FA-DE00-A79B-0977-4C821344EF23}"/>
              </a:ext>
            </a:extLst>
          </p:cNvPr>
          <p:cNvSpPr>
            <a:spLocks noGrp="1"/>
          </p:cNvSpPr>
          <p:nvPr>
            <p:ph type="sldNum" sz="quarter" idx="12"/>
          </p:nvPr>
        </p:nvSpPr>
        <p:spPr>
          <a:prstGeom prst="rect">
            <a:avLst/>
          </a:prstGeom>
        </p:spPr>
        <p:txBody>
          <a:bodyPr/>
          <a:lstStyle/>
          <a:p>
            <a:fld id="{CC571AF6-6671-4538-974D-3AEC00AC0B82}" type="slidenum">
              <a:rPr lang="en-GB" smtClean="0"/>
              <a:t>26</a:t>
            </a:fld>
            <a:endParaRPr lang="en-GB"/>
          </a:p>
        </p:txBody>
      </p:sp>
      <p:sp>
        <p:nvSpPr>
          <p:cNvPr id="57" name="Rectangle 56">
            <a:extLst>
              <a:ext uri="{FF2B5EF4-FFF2-40B4-BE49-F238E27FC236}">
                <a16:creationId xmlns:a16="http://schemas.microsoft.com/office/drawing/2014/main" id="{F43B9953-0CD7-F0FB-0593-1FB871F79129}"/>
              </a:ext>
            </a:extLst>
          </p:cNvPr>
          <p:cNvSpPr/>
          <p:nvPr/>
        </p:nvSpPr>
        <p:spPr>
          <a:xfrm>
            <a:off x="543910" y="2250973"/>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cxnSp>
        <p:nvCxnSpPr>
          <p:cNvPr id="60" name="Straight Arrow Connector 59">
            <a:extLst>
              <a:ext uri="{FF2B5EF4-FFF2-40B4-BE49-F238E27FC236}">
                <a16:creationId xmlns:a16="http://schemas.microsoft.com/office/drawing/2014/main" id="{799AA40D-06CC-C3AD-3A0B-4798D43EFB1E}"/>
              </a:ext>
            </a:extLst>
          </p:cNvPr>
          <p:cNvCxnSpPr>
            <a:cxnSpLocks/>
          </p:cNvCxnSpPr>
          <p:nvPr/>
        </p:nvCxnSpPr>
        <p:spPr>
          <a:xfrm>
            <a:off x="4180916" y="5019855"/>
            <a:ext cx="265119"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61" name="Straight Arrow Connector 60">
            <a:extLst>
              <a:ext uri="{FF2B5EF4-FFF2-40B4-BE49-F238E27FC236}">
                <a16:creationId xmlns:a16="http://schemas.microsoft.com/office/drawing/2014/main" id="{CEACDD23-4FBB-A751-35D6-04BE02AD074C}"/>
              </a:ext>
            </a:extLst>
          </p:cNvPr>
          <p:cNvCxnSpPr>
            <a:cxnSpLocks/>
          </p:cNvCxnSpPr>
          <p:nvPr/>
        </p:nvCxnSpPr>
        <p:spPr>
          <a:xfrm>
            <a:off x="2205431" y="3042786"/>
            <a:ext cx="574964"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a:extLst>
              <a:ext uri="{FF2B5EF4-FFF2-40B4-BE49-F238E27FC236}">
                <a16:creationId xmlns:a16="http://schemas.microsoft.com/office/drawing/2014/main" id="{7628B442-BF5A-F7EC-22AA-6E5C9B7ADCCD}"/>
              </a:ext>
            </a:extLst>
          </p:cNvPr>
          <p:cNvCxnSpPr>
            <a:cxnSpLocks/>
          </p:cNvCxnSpPr>
          <p:nvPr/>
        </p:nvCxnSpPr>
        <p:spPr>
          <a:xfrm>
            <a:off x="4551430" y="3042786"/>
            <a:ext cx="574964"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a:extLst>
              <a:ext uri="{FF2B5EF4-FFF2-40B4-BE49-F238E27FC236}">
                <a16:creationId xmlns:a16="http://schemas.microsoft.com/office/drawing/2014/main" id="{B0762751-8EBE-9E99-01CB-8676A2773006}"/>
              </a:ext>
            </a:extLst>
          </p:cNvPr>
          <p:cNvCxnSpPr>
            <a:cxnSpLocks/>
          </p:cNvCxnSpPr>
          <p:nvPr/>
        </p:nvCxnSpPr>
        <p:spPr>
          <a:xfrm>
            <a:off x="6918210" y="3042786"/>
            <a:ext cx="574964"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a:extLst>
              <a:ext uri="{FF2B5EF4-FFF2-40B4-BE49-F238E27FC236}">
                <a16:creationId xmlns:a16="http://schemas.microsoft.com/office/drawing/2014/main" id="{2C0DE3BD-0CA7-34C9-F549-3F6367347457}"/>
              </a:ext>
            </a:extLst>
          </p:cNvPr>
          <p:cNvCxnSpPr>
            <a:cxnSpLocks/>
          </p:cNvCxnSpPr>
          <p:nvPr/>
        </p:nvCxnSpPr>
        <p:spPr>
          <a:xfrm>
            <a:off x="9301239" y="3042786"/>
            <a:ext cx="574964"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41127656-51F6-075C-3D1E-31DAE34CCDF0}"/>
              </a:ext>
            </a:extLst>
          </p:cNvPr>
          <p:cNvSpPr txBox="1"/>
          <p:nvPr/>
        </p:nvSpPr>
        <p:spPr>
          <a:xfrm>
            <a:off x="417412" y="2702727"/>
            <a:ext cx="1856509" cy="523220"/>
          </a:xfrm>
          <a:prstGeom prst="rect">
            <a:avLst/>
          </a:prstGeom>
          <a:noFill/>
        </p:spPr>
        <p:txBody>
          <a:bodyPr wrap="square">
            <a:spAutoFit/>
          </a:bodyPr>
          <a:lstStyle/>
          <a:p>
            <a:pPr algn="ctr"/>
            <a:r>
              <a:rPr lang="nl-NL" sz="1400" b="1">
                <a:solidFill>
                  <a:srgbClr val="005E77"/>
                </a:solidFill>
                <a:latin typeface="Arial" panose="020B0604020202020204" pitchFamily="34" charset="0"/>
                <a:cs typeface="Arial" panose="020B0604020202020204" pitchFamily="34" charset="0"/>
              </a:rPr>
              <a:t>TgF344-AD &amp; WT</a:t>
            </a:r>
            <a:br>
              <a:rPr lang="nl-NL" sz="1400" b="1">
                <a:solidFill>
                  <a:srgbClr val="005E77"/>
                </a:solidFill>
                <a:latin typeface="Arial" panose="020B0604020202020204" pitchFamily="34" charset="0"/>
                <a:cs typeface="Arial" panose="020B0604020202020204" pitchFamily="34" charset="0"/>
              </a:rPr>
            </a:br>
            <a:r>
              <a:rPr lang="nl-NL" sz="1400" b="1">
                <a:solidFill>
                  <a:srgbClr val="005E77"/>
                </a:solidFill>
                <a:latin typeface="Arial" panose="020B0604020202020204" pitchFamily="34" charset="0"/>
                <a:cs typeface="Arial" panose="020B0604020202020204" pitchFamily="34" charset="0"/>
              </a:rPr>
              <a:t>rat </a:t>
            </a:r>
            <a:r>
              <a:rPr lang="nl-NL" sz="1400" b="1" err="1">
                <a:solidFill>
                  <a:srgbClr val="005E77"/>
                </a:solidFill>
                <a:latin typeface="Arial" panose="020B0604020202020204" pitchFamily="34" charset="0"/>
                <a:cs typeface="Arial" panose="020B0604020202020204" pitchFamily="34" charset="0"/>
              </a:rPr>
              <a:t>colonies</a:t>
            </a:r>
            <a:endParaRPr lang="nl-BE" sz="1400" b="1">
              <a:solidFill>
                <a:srgbClr val="005E77"/>
              </a:solidFill>
              <a:latin typeface="Arial" panose="020B0604020202020204" pitchFamily="34" charset="0"/>
              <a:cs typeface="Arial" panose="020B0604020202020204" pitchFamily="34" charset="0"/>
            </a:endParaRPr>
          </a:p>
        </p:txBody>
      </p:sp>
      <p:cxnSp>
        <p:nvCxnSpPr>
          <p:cNvPr id="70" name="Straight Arrow Connector 69">
            <a:extLst>
              <a:ext uri="{FF2B5EF4-FFF2-40B4-BE49-F238E27FC236}">
                <a16:creationId xmlns:a16="http://schemas.microsoft.com/office/drawing/2014/main" id="{32CF37D0-934A-EB4D-6BA8-E115E0673EE7}"/>
              </a:ext>
            </a:extLst>
          </p:cNvPr>
          <p:cNvCxnSpPr>
            <a:cxnSpLocks/>
          </p:cNvCxnSpPr>
          <p:nvPr/>
        </p:nvCxnSpPr>
        <p:spPr>
          <a:xfrm>
            <a:off x="2205431" y="5013895"/>
            <a:ext cx="240057"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sp>
        <p:nvSpPr>
          <p:cNvPr id="76" name="Straight Connector 3">
            <a:extLst>
              <a:ext uri="{FF2B5EF4-FFF2-40B4-BE49-F238E27FC236}">
                <a16:creationId xmlns:a16="http://schemas.microsoft.com/office/drawing/2014/main" id="{76F928E6-01FF-A263-7FF1-81695BE1B3C9}"/>
              </a:ext>
            </a:extLst>
          </p:cNvPr>
          <p:cNvSpPr/>
          <p:nvPr/>
        </p:nvSpPr>
        <p:spPr>
          <a:xfrm>
            <a:off x="1315197" y="3731732"/>
            <a:ext cx="9575988" cy="534706"/>
          </a:xfrm>
          <a:custGeom>
            <a:avLst/>
            <a:gdLst/>
            <a:ahLst/>
            <a:cxnLst/>
            <a:rect l="0" t="0" r="0" b="0"/>
            <a:pathLst>
              <a:path>
                <a:moveTo>
                  <a:pt x="9575988" y="0"/>
                </a:moveTo>
                <a:lnTo>
                  <a:pt x="9575988" y="284453"/>
                </a:lnTo>
                <a:lnTo>
                  <a:pt x="0" y="284453"/>
                </a:lnTo>
                <a:lnTo>
                  <a:pt x="0" y="534706"/>
                </a:lnTo>
              </a:path>
            </a:pathLst>
          </a:custGeom>
          <a:noFill/>
          <a:ln w="19050">
            <a:solidFill>
              <a:srgbClr val="005E77"/>
            </a:solidFill>
            <a:tailEnd type="triangle"/>
          </a:ln>
        </p:spPr>
        <p:style>
          <a:lnRef idx="1">
            <a:scrgbClr r="0" g="0" b="0"/>
          </a:lnRef>
          <a:fillRef idx="0">
            <a:scrgbClr r="0" g="0" b="0"/>
          </a:fillRef>
          <a:effectRef idx="0">
            <a:schemeClr val="accent5">
              <a:hueOff val="0"/>
              <a:satOff val="0"/>
              <a:lumOff val="0"/>
              <a:alphaOff val="0"/>
            </a:schemeClr>
          </a:effectRef>
          <a:fontRef idx="minor">
            <a:schemeClr val="tx1">
              <a:hueOff val="0"/>
              <a:satOff val="0"/>
              <a:lumOff val="0"/>
              <a:alphaOff val="0"/>
            </a:schemeClr>
          </a:fontRef>
        </p:style>
        <p:txBody>
          <a:bodyPr/>
          <a:lstStyle/>
          <a:p>
            <a:endParaRPr lang="nl-BE" sz="1400" b="1">
              <a:latin typeface="Arial" panose="020B0604020202020204" pitchFamily="34" charset="0"/>
              <a:cs typeface="Arial" panose="020B0604020202020204" pitchFamily="34" charset="0"/>
            </a:endParaRPr>
          </a:p>
        </p:txBody>
      </p:sp>
      <p:sp>
        <p:nvSpPr>
          <p:cNvPr id="77" name="Rectangle 76">
            <a:extLst>
              <a:ext uri="{FF2B5EF4-FFF2-40B4-BE49-F238E27FC236}">
                <a16:creationId xmlns:a16="http://schemas.microsoft.com/office/drawing/2014/main" id="{76726A62-1CC6-35CA-65E7-DE3BB1E3D692}"/>
              </a:ext>
            </a:extLst>
          </p:cNvPr>
          <p:cNvSpPr/>
          <p:nvPr/>
        </p:nvSpPr>
        <p:spPr>
          <a:xfrm>
            <a:off x="2842522" y="2245424"/>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FFDF7F"/>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79" name="Rectangle 78">
            <a:extLst>
              <a:ext uri="{FF2B5EF4-FFF2-40B4-BE49-F238E27FC236}">
                <a16:creationId xmlns:a16="http://schemas.microsoft.com/office/drawing/2014/main" id="{6EBC75E9-CC8C-8532-64D0-69576C74ADD8}"/>
              </a:ext>
            </a:extLst>
          </p:cNvPr>
          <p:cNvSpPr/>
          <p:nvPr/>
        </p:nvSpPr>
        <p:spPr>
          <a:xfrm>
            <a:off x="5229390" y="2245424"/>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81" name="Rectangle 80">
            <a:extLst>
              <a:ext uri="{FF2B5EF4-FFF2-40B4-BE49-F238E27FC236}">
                <a16:creationId xmlns:a16="http://schemas.microsoft.com/office/drawing/2014/main" id="{B571C4C0-FB7F-6D3F-1F24-E40768F2B3FA}"/>
              </a:ext>
            </a:extLst>
          </p:cNvPr>
          <p:cNvSpPr/>
          <p:nvPr/>
        </p:nvSpPr>
        <p:spPr>
          <a:xfrm>
            <a:off x="7578481" y="2264185"/>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FFDF7F"/>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83" name="Rectangle 82">
            <a:extLst>
              <a:ext uri="{FF2B5EF4-FFF2-40B4-BE49-F238E27FC236}">
                <a16:creationId xmlns:a16="http://schemas.microsoft.com/office/drawing/2014/main" id="{4B58150C-6F34-D8EB-8A0A-C84FEC9CC9D4}"/>
              </a:ext>
            </a:extLst>
          </p:cNvPr>
          <p:cNvSpPr/>
          <p:nvPr/>
        </p:nvSpPr>
        <p:spPr>
          <a:xfrm>
            <a:off x="9979944" y="2181626"/>
            <a:ext cx="1603513" cy="521177"/>
          </a:xfrm>
          <a:custGeom>
            <a:avLst/>
            <a:gdLst>
              <a:gd name="connsiteX0" fmla="*/ 0 w 1603513"/>
              <a:gd name="connsiteY0" fmla="*/ 0 h 521177"/>
              <a:gd name="connsiteX1" fmla="*/ 534504 w 1603513"/>
              <a:gd name="connsiteY1" fmla="*/ 0 h 521177"/>
              <a:gd name="connsiteX2" fmla="*/ 1052974 w 1603513"/>
              <a:gd name="connsiteY2" fmla="*/ 0 h 521177"/>
              <a:gd name="connsiteX3" fmla="*/ 1603513 w 1603513"/>
              <a:gd name="connsiteY3" fmla="*/ 0 h 521177"/>
              <a:gd name="connsiteX4" fmla="*/ 1603513 w 1603513"/>
              <a:gd name="connsiteY4" fmla="*/ 521177 h 521177"/>
              <a:gd name="connsiteX5" fmla="*/ 1085044 w 1603513"/>
              <a:gd name="connsiteY5" fmla="*/ 521177 h 521177"/>
              <a:gd name="connsiteX6" fmla="*/ 518469 w 1603513"/>
              <a:gd name="connsiteY6" fmla="*/ 521177 h 521177"/>
              <a:gd name="connsiteX7" fmla="*/ 0 w 1603513"/>
              <a:gd name="connsiteY7" fmla="*/ 521177 h 521177"/>
              <a:gd name="connsiteX8" fmla="*/ 0 w 1603513"/>
              <a:gd name="connsiteY8" fmla="*/ 0 h 521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521177"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89075" y="152696"/>
                  <a:pt x="1615833" y="268570"/>
                  <a:pt x="1603513" y="521177"/>
                </a:cubicBezTo>
                <a:cubicBezTo>
                  <a:pt x="1492558" y="502449"/>
                  <a:pt x="1211463" y="518749"/>
                  <a:pt x="1085044" y="521177"/>
                </a:cubicBezTo>
                <a:cubicBezTo>
                  <a:pt x="958625" y="523605"/>
                  <a:pt x="654269" y="527331"/>
                  <a:pt x="518469" y="521177"/>
                </a:cubicBezTo>
                <a:cubicBezTo>
                  <a:pt x="382669" y="515023"/>
                  <a:pt x="244401" y="530081"/>
                  <a:pt x="0" y="521177"/>
                </a:cubicBezTo>
                <a:cubicBezTo>
                  <a:pt x="8883" y="313234"/>
                  <a:pt x="-9077" y="208309"/>
                  <a:pt x="0" y="0"/>
                </a:cubicBezTo>
                <a:close/>
              </a:path>
              <a:path w="1603513" h="52117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8564" y="221225"/>
                  <a:pt x="1591506" y="346499"/>
                  <a:pt x="1603513" y="521177"/>
                </a:cubicBezTo>
                <a:cubicBezTo>
                  <a:pt x="1487536" y="508253"/>
                  <a:pt x="1233211" y="509041"/>
                  <a:pt x="1117114" y="521177"/>
                </a:cubicBezTo>
                <a:cubicBezTo>
                  <a:pt x="1001017" y="533313"/>
                  <a:pt x="729603" y="537174"/>
                  <a:pt x="598645" y="521177"/>
                </a:cubicBezTo>
                <a:cubicBezTo>
                  <a:pt x="467687" y="505180"/>
                  <a:pt x="254135" y="493640"/>
                  <a:pt x="0" y="521177"/>
                </a:cubicBezTo>
                <a:cubicBezTo>
                  <a:pt x="-19960" y="343161"/>
                  <a:pt x="-19790" y="131211"/>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87" name="Rectangle 86">
            <a:extLst>
              <a:ext uri="{FF2B5EF4-FFF2-40B4-BE49-F238E27FC236}">
                <a16:creationId xmlns:a16="http://schemas.microsoft.com/office/drawing/2014/main" id="{78E6B630-1361-DDD0-8F59-B8E924EF0B80}"/>
              </a:ext>
            </a:extLst>
          </p:cNvPr>
          <p:cNvSpPr/>
          <p:nvPr/>
        </p:nvSpPr>
        <p:spPr>
          <a:xfrm>
            <a:off x="2512905" y="4316625"/>
            <a:ext cx="1603513" cy="697270"/>
          </a:xfrm>
          <a:custGeom>
            <a:avLst/>
            <a:gdLst>
              <a:gd name="connsiteX0" fmla="*/ 0 w 1603513"/>
              <a:gd name="connsiteY0" fmla="*/ 0 h 697270"/>
              <a:gd name="connsiteX1" fmla="*/ 534504 w 1603513"/>
              <a:gd name="connsiteY1" fmla="*/ 0 h 697270"/>
              <a:gd name="connsiteX2" fmla="*/ 1052974 w 1603513"/>
              <a:gd name="connsiteY2" fmla="*/ 0 h 697270"/>
              <a:gd name="connsiteX3" fmla="*/ 1603513 w 1603513"/>
              <a:gd name="connsiteY3" fmla="*/ 0 h 697270"/>
              <a:gd name="connsiteX4" fmla="*/ 1603513 w 1603513"/>
              <a:gd name="connsiteY4" fmla="*/ 697270 h 697270"/>
              <a:gd name="connsiteX5" fmla="*/ 1085044 w 1603513"/>
              <a:gd name="connsiteY5" fmla="*/ 697270 h 697270"/>
              <a:gd name="connsiteX6" fmla="*/ 518469 w 1603513"/>
              <a:gd name="connsiteY6" fmla="*/ 697270 h 697270"/>
              <a:gd name="connsiteX7" fmla="*/ 0 w 1603513"/>
              <a:gd name="connsiteY7" fmla="*/ 697270 h 697270"/>
              <a:gd name="connsiteX8" fmla="*/ 0 w 1603513"/>
              <a:gd name="connsiteY8" fmla="*/ 0 h 69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697270"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72663" y="243220"/>
                  <a:pt x="1631307" y="538666"/>
                  <a:pt x="1603513" y="697270"/>
                </a:cubicBezTo>
                <a:cubicBezTo>
                  <a:pt x="1492558" y="678542"/>
                  <a:pt x="1211463" y="694842"/>
                  <a:pt x="1085044" y="697270"/>
                </a:cubicBezTo>
                <a:cubicBezTo>
                  <a:pt x="958625" y="699698"/>
                  <a:pt x="654269" y="703424"/>
                  <a:pt x="518469" y="697270"/>
                </a:cubicBezTo>
                <a:cubicBezTo>
                  <a:pt x="382669" y="691116"/>
                  <a:pt x="244401" y="706174"/>
                  <a:pt x="0" y="697270"/>
                </a:cubicBezTo>
                <a:cubicBezTo>
                  <a:pt x="32865" y="499634"/>
                  <a:pt x="-13106" y="252986"/>
                  <a:pt x="0" y="0"/>
                </a:cubicBezTo>
                <a:close/>
              </a:path>
              <a:path w="1603513" h="697270"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04419" y="315542"/>
                  <a:pt x="1617260" y="350805"/>
                  <a:pt x="1603513" y="697270"/>
                </a:cubicBezTo>
                <a:cubicBezTo>
                  <a:pt x="1487536" y="684346"/>
                  <a:pt x="1233211" y="685134"/>
                  <a:pt x="1117114" y="697270"/>
                </a:cubicBezTo>
                <a:cubicBezTo>
                  <a:pt x="1001017" y="709406"/>
                  <a:pt x="729603" y="713267"/>
                  <a:pt x="598645" y="697270"/>
                </a:cubicBezTo>
                <a:cubicBezTo>
                  <a:pt x="467687" y="681273"/>
                  <a:pt x="254135" y="669733"/>
                  <a:pt x="0" y="697270"/>
                </a:cubicBezTo>
                <a:cubicBezTo>
                  <a:pt x="-21270" y="350547"/>
                  <a:pt x="31277" y="253178"/>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89" name="Rectangle 88">
            <a:extLst>
              <a:ext uri="{FF2B5EF4-FFF2-40B4-BE49-F238E27FC236}">
                <a16:creationId xmlns:a16="http://schemas.microsoft.com/office/drawing/2014/main" id="{1680502F-4E2F-7C52-7656-C41FA4B02806}"/>
              </a:ext>
            </a:extLst>
          </p:cNvPr>
          <p:cNvSpPr/>
          <p:nvPr/>
        </p:nvSpPr>
        <p:spPr>
          <a:xfrm>
            <a:off x="4510533" y="4273924"/>
            <a:ext cx="4008530" cy="1444487"/>
          </a:xfrm>
          <a:custGeom>
            <a:avLst/>
            <a:gdLst>
              <a:gd name="connsiteX0" fmla="*/ 0 w 4008530"/>
              <a:gd name="connsiteY0" fmla="*/ 0 h 1444487"/>
              <a:gd name="connsiteX1" fmla="*/ 748259 w 4008530"/>
              <a:gd name="connsiteY1" fmla="*/ 0 h 1444487"/>
              <a:gd name="connsiteX2" fmla="*/ 1336177 w 4008530"/>
              <a:gd name="connsiteY2" fmla="*/ 0 h 1444487"/>
              <a:gd name="connsiteX3" fmla="*/ 1884009 w 4008530"/>
              <a:gd name="connsiteY3" fmla="*/ 0 h 1444487"/>
              <a:gd name="connsiteX4" fmla="*/ 2431842 w 4008530"/>
              <a:gd name="connsiteY4" fmla="*/ 0 h 1444487"/>
              <a:gd name="connsiteX5" fmla="*/ 3019759 w 4008530"/>
              <a:gd name="connsiteY5" fmla="*/ 0 h 1444487"/>
              <a:gd name="connsiteX6" fmla="*/ 4008530 w 4008530"/>
              <a:gd name="connsiteY6" fmla="*/ 0 h 1444487"/>
              <a:gd name="connsiteX7" fmla="*/ 4008530 w 4008530"/>
              <a:gd name="connsiteY7" fmla="*/ 510385 h 1444487"/>
              <a:gd name="connsiteX8" fmla="*/ 4008530 w 4008530"/>
              <a:gd name="connsiteY8" fmla="*/ 962991 h 1444487"/>
              <a:gd name="connsiteX9" fmla="*/ 4008530 w 4008530"/>
              <a:gd name="connsiteY9" fmla="*/ 1444487 h 1444487"/>
              <a:gd name="connsiteX10" fmla="*/ 3260271 w 4008530"/>
              <a:gd name="connsiteY10" fmla="*/ 1444487 h 1444487"/>
              <a:gd name="connsiteX11" fmla="*/ 2552097 w 4008530"/>
              <a:gd name="connsiteY11" fmla="*/ 1444487 h 1444487"/>
              <a:gd name="connsiteX12" fmla="*/ 1843924 w 4008530"/>
              <a:gd name="connsiteY12" fmla="*/ 1444487 h 1444487"/>
              <a:gd name="connsiteX13" fmla="*/ 1296091 w 4008530"/>
              <a:gd name="connsiteY13" fmla="*/ 1444487 h 1444487"/>
              <a:gd name="connsiteX14" fmla="*/ 668088 w 4008530"/>
              <a:gd name="connsiteY14" fmla="*/ 1444487 h 1444487"/>
              <a:gd name="connsiteX15" fmla="*/ 0 w 4008530"/>
              <a:gd name="connsiteY15" fmla="*/ 1444487 h 1444487"/>
              <a:gd name="connsiteX16" fmla="*/ 0 w 4008530"/>
              <a:gd name="connsiteY16" fmla="*/ 934102 h 1444487"/>
              <a:gd name="connsiteX17" fmla="*/ 0 w 4008530"/>
              <a:gd name="connsiteY17" fmla="*/ 495941 h 1444487"/>
              <a:gd name="connsiteX18" fmla="*/ 0 w 4008530"/>
              <a:gd name="connsiteY18"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08530" h="1444487" fill="none" extrusionOk="0">
                <a:moveTo>
                  <a:pt x="0" y="0"/>
                </a:moveTo>
                <a:cubicBezTo>
                  <a:pt x="178685" y="33051"/>
                  <a:pt x="545374" y="-25915"/>
                  <a:pt x="748259" y="0"/>
                </a:cubicBezTo>
                <a:cubicBezTo>
                  <a:pt x="951144" y="25915"/>
                  <a:pt x="1054384" y="28810"/>
                  <a:pt x="1336177" y="0"/>
                </a:cubicBezTo>
                <a:cubicBezTo>
                  <a:pt x="1617970" y="-28810"/>
                  <a:pt x="1720254" y="-7649"/>
                  <a:pt x="1884009" y="0"/>
                </a:cubicBezTo>
                <a:cubicBezTo>
                  <a:pt x="2047764" y="7649"/>
                  <a:pt x="2228629" y="5530"/>
                  <a:pt x="2431842" y="0"/>
                </a:cubicBezTo>
                <a:cubicBezTo>
                  <a:pt x="2635055" y="-5530"/>
                  <a:pt x="2789278" y="5900"/>
                  <a:pt x="3019759" y="0"/>
                </a:cubicBezTo>
                <a:cubicBezTo>
                  <a:pt x="3250240" y="-5900"/>
                  <a:pt x="3643310" y="-48778"/>
                  <a:pt x="4008530" y="0"/>
                </a:cubicBezTo>
                <a:cubicBezTo>
                  <a:pt x="4011730" y="112110"/>
                  <a:pt x="4007551" y="337463"/>
                  <a:pt x="4008530" y="510385"/>
                </a:cubicBezTo>
                <a:cubicBezTo>
                  <a:pt x="4009509" y="683307"/>
                  <a:pt x="4014310" y="830971"/>
                  <a:pt x="4008530" y="962991"/>
                </a:cubicBezTo>
                <a:cubicBezTo>
                  <a:pt x="4002750" y="1095011"/>
                  <a:pt x="4029879" y="1233661"/>
                  <a:pt x="4008530" y="1444487"/>
                </a:cubicBezTo>
                <a:cubicBezTo>
                  <a:pt x="3735418" y="1451540"/>
                  <a:pt x="3473872" y="1454239"/>
                  <a:pt x="3260271" y="1444487"/>
                </a:cubicBezTo>
                <a:cubicBezTo>
                  <a:pt x="3046670" y="1434735"/>
                  <a:pt x="2789392" y="1419150"/>
                  <a:pt x="2552097" y="1444487"/>
                </a:cubicBezTo>
                <a:cubicBezTo>
                  <a:pt x="2314802" y="1469824"/>
                  <a:pt x="2015649" y="1470100"/>
                  <a:pt x="1843924" y="1444487"/>
                </a:cubicBezTo>
                <a:cubicBezTo>
                  <a:pt x="1672199" y="1418874"/>
                  <a:pt x="1491968" y="1422334"/>
                  <a:pt x="1296091" y="1444487"/>
                </a:cubicBezTo>
                <a:cubicBezTo>
                  <a:pt x="1100214" y="1466640"/>
                  <a:pt x="836418" y="1419032"/>
                  <a:pt x="668088" y="1444487"/>
                </a:cubicBezTo>
                <a:cubicBezTo>
                  <a:pt x="499758" y="1469942"/>
                  <a:pt x="231724" y="1434095"/>
                  <a:pt x="0" y="1444487"/>
                </a:cubicBezTo>
                <a:cubicBezTo>
                  <a:pt x="-20981" y="1220189"/>
                  <a:pt x="14463" y="1164334"/>
                  <a:pt x="0" y="934102"/>
                </a:cubicBezTo>
                <a:cubicBezTo>
                  <a:pt x="-14463" y="703871"/>
                  <a:pt x="4872" y="702011"/>
                  <a:pt x="0" y="495941"/>
                </a:cubicBezTo>
                <a:cubicBezTo>
                  <a:pt x="-4872" y="289871"/>
                  <a:pt x="2659" y="175280"/>
                  <a:pt x="0" y="0"/>
                </a:cubicBezTo>
                <a:close/>
              </a:path>
              <a:path w="4008530" h="1444487" stroke="0" extrusionOk="0">
                <a:moveTo>
                  <a:pt x="0" y="0"/>
                </a:moveTo>
                <a:cubicBezTo>
                  <a:pt x="308436" y="-29069"/>
                  <a:pt x="485982" y="-24126"/>
                  <a:pt x="628003" y="0"/>
                </a:cubicBezTo>
                <a:cubicBezTo>
                  <a:pt x="770024" y="24126"/>
                  <a:pt x="1120110" y="-32793"/>
                  <a:pt x="1296091" y="0"/>
                </a:cubicBezTo>
                <a:cubicBezTo>
                  <a:pt x="1472072" y="32793"/>
                  <a:pt x="1784152" y="-32762"/>
                  <a:pt x="2044350" y="0"/>
                </a:cubicBezTo>
                <a:cubicBezTo>
                  <a:pt x="2304548" y="32762"/>
                  <a:pt x="2596199" y="-30146"/>
                  <a:pt x="2752524" y="0"/>
                </a:cubicBezTo>
                <a:cubicBezTo>
                  <a:pt x="2908849" y="30146"/>
                  <a:pt x="3421660" y="45657"/>
                  <a:pt x="4008530" y="0"/>
                </a:cubicBezTo>
                <a:cubicBezTo>
                  <a:pt x="4020281" y="122145"/>
                  <a:pt x="4016197" y="320489"/>
                  <a:pt x="4008530" y="467051"/>
                </a:cubicBezTo>
                <a:cubicBezTo>
                  <a:pt x="4000863" y="613613"/>
                  <a:pt x="4028223" y="861344"/>
                  <a:pt x="4008530" y="962991"/>
                </a:cubicBezTo>
                <a:cubicBezTo>
                  <a:pt x="3988837" y="1064638"/>
                  <a:pt x="4008816" y="1259142"/>
                  <a:pt x="4008530" y="1444487"/>
                </a:cubicBezTo>
                <a:cubicBezTo>
                  <a:pt x="3815715" y="1461060"/>
                  <a:pt x="3578761" y="1458154"/>
                  <a:pt x="3420612" y="1444487"/>
                </a:cubicBezTo>
                <a:cubicBezTo>
                  <a:pt x="3262463" y="1430820"/>
                  <a:pt x="3048885" y="1434527"/>
                  <a:pt x="2792609" y="1444487"/>
                </a:cubicBezTo>
                <a:cubicBezTo>
                  <a:pt x="2536333" y="1454447"/>
                  <a:pt x="2266262" y="1435982"/>
                  <a:pt x="2044350" y="1444487"/>
                </a:cubicBezTo>
                <a:cubicBezTo>
                  <a:pt x="1822438" y="1452992"/>
                  <a:pt x="1698063" y="1453074"/>
                  <a:pt x="1456433" y="1444487"/>
                </a:cubicBezTo>
                <a:cubicBezTo>
                  <a:pt x="1214803" y="1435900"/>
                  <a:pt x="904178" y="1418644"/>
                  <a:pt x="708174" y="1444487"/>
                </a:cubicBezTo>
                <a:cubicBezTo>
                  <a:pt x="512170" y="1470330"/>
                  <a:pt x="332211" y="1433659"/>
                  <a:pt x="0" y="1444487"/>
                </a:cubicBezTo>
                <a:cubicBezTo>
                  <a:pt x="6291" y="1318925"/>
                  <a:pt x="14997" y="1111200"/>
                  <a:pt x="0" y="977436"/>
                </a:cubicBezTo>
                <a:cubicBezTo>
                  <a:pt x="-14997" y="843672"/>
                  <a:pt x="-18023" y="671225"/>
                  <a:pt x="0" y="467051"/>
                </a:cubicBezTo>
                <a:cubicBezTo>
                  <a:pt x="18023" y="262878"/>
                  <a:pt x="-11901" y="206226"/>
                  <a:pt x="0" y="0"/>
                </a:cubicBezTo>
                <a:close/>
              </a:path>
            </a:pathLst>
          </a:custGeom>
          <a:solidFill>
            <a:srgbClr val="FFDF7F"/>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93" name="Rectangle 92">
            <a:extLst>
              <a:ext uri="{FF2B5EF4-FFF2-40B4-BE49-F238E27FC236}">
                <a16:creationId xmlns:a16="http://schemas.microsoft.com/office/drawing/2014/main" id="{47E89D42-E4AD-E733-9F48-A6EC44987A15}"/>
              </a:ext>
            </a:extLst>
          </p:cNvPr>
          <p:cNvSpPr/>
          <p:nvPr/>
        </p:nvSpPr>
        <p:spPr>
          <a:xfrm>
            <a:off x="8877338" y="4265013"/>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9470F6F-3D91-6E5F-B41C-385D87DDDBFE}"/>
              </a:ext>
            </a:extLst>
          </p:cNvPr>
          <p:cNvSpPr txBox="1"/>
          <p:nvPr/>
        </p:nvSpPr>
        <p:spPr>
          <a:xfrm>
            <a:off x="7798507" y="6384626"/>
            <a:ext cx="1378800" cy="276999"/>
          </a:xfrm>
          <a:prstGeom prst="rect">
            <a:avLst/>
          </a:prstGeom>
          <a:solidFill>
            <a:srgbClr val="FFDF7F"/>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defRPr sz="1200" b="1">
                <a:solidFill>
                  <a:srgbClr val="005E77"/>
                </a:solidFill>
                <a:cs typeface="Arial" panose="020B0604020202020204" pitchFamily="34" charset="0"/>
              </a:defRPr>
            </a:lvl1pPr>
          </a:lstStyle>
          <a:p>
            <a:pPr algn="ctr"/>
            <a:r>
              <a:rPr lang="en-US" sz="1600" b="0"/>
              <a:t>Processes</a:t>
            </a:r>
            <a:endParaRPr lang="nl-BE" sz="1600" b="0"/>
          </a:p>
        </p:txBody>
      </p:sp>
      <p:sp>
        <p:nvSpPr>
          <p:cNvPr id="9" name="TextBox 8">
            <a:extLst>
              <a:ext uri="{FF2B5EF4-FFF2-40B4-BE49-F238E27FC236}">
                <a16:creationId xmlns:a16="http://schemas.microsoft.com/office/drawing/2014/main" id="{DB196465-8486-E6B3-95FA-6496DEBB2A8C}"/>
              </a:ext>
            </a:extLst>
          </p:cNvPr>
          <p:cNvSpPr txBox="1"/>
          <p:nvPr/>
        </p:nvSpPr>
        <p:spPr>
          <a:xfrm>
            <a:off x="6199681" y="6384626"/>
            <a:ext cx="1378800" cy="276999"/>
          </a:xfrm>
          <a:prstGeom prst="rect">
            <a:avLst/>
          </a:prstGeom>
          <a:solidFill>
            <a:srgbClr val="A8DEF5"/>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buFont typeface="Arial" panose="020B0604020202020204" pitchFamily="34" charset="0"/>
              <a:buChar char="•"/>
              <a:defRPr sz="1200" b="0">
                <a:solidFill>
                  <a:srgbClr val="005E77"/>
                </a:solidFill>
              </a:defRPr>
            </a:lvl1pPr>
          </a:lstStyle>
          <a:p>
            <a:pPr algn="ctr">
              <a:buNone/>
            </a:pPr>
            <a:r>
              <a:rPr lang="en-US" sz="1600"/>
              <a:t>Data types</a:t>
            </a:r>
            <a:endParaRPr lang="nl-BE" sz="1600"/>
          </a:p>
        </p:txBody>
      </p:sp>
      <p:sp>
        <p:nvSpPr>
          <p:cNvPr id="66" name="TextBox 65">
            <a:extLst>
              <a:ext uri="{FF2B5EF4-FFF2-40B4-BE49-F238E27FC236}">
                <a16:creationId xmlns:a16="http://schemas.microsoft.com/office/drawing/2014/main" id="{BBD242BB-3773-080D-A828-56BC36C3087B}"/>
              </a:ext>
            </a:extLst>
          </p:cNvPr>
          <p:cNvSpPr txBox="1"/>
          <p:nvPr/>
        </p:nvSpPr>
        <p:spPr>
          <a:xfrm>
            <a:off x="2714420" y="2702727"/>
            <a:ext cx="1856509" cy="523220"/>
          </a:xfrm>
          <a:prstGeom prst="rect">
            <a:avLst/>
          </a:prstGeom>
          <a:noFill/>
        </p:spPr>
        <p:txBody>
          <a:bodyPr wrap="square">
            <a:spAutoFit/>
          </a:bodyPr>
          <a:lstStyle/>
          <a:p>
            <a:pPr lvl="0" algn="ctr"/>
            <a:r>
              <a:rPr lang="nl-BE" sz="1400" b="1" err="1">
                <a:solidFill>
                  <a:srgbClr val="005E77"/>
                </a:solidFill>
                <a:latin typeface="Arial" panose="020B0604020202020204" pitchFamily="34" charset="0"/>
                <a:cs typeface="Arial" panose="020B0604020202020204" pitchFamily="34" charset="0"/>
              </a:rPr>
              <a:t>Euthanasia</a:t>
            </a:r>
            <a:r>
              <a:rPr lang="nl-BE" sz="1400" b="1">
                <a:solidFill>
                  <a:srgbClr val="005E77"/>
                </a:solidFill>
                <a:latin typeface="Arial" panose="020B0604020202020204" pitchFamily="34" charset="0"/>
                <a:cs typeface="Arial" panose="020B0604020202020204" pitchFamily="34" charset="0"/>
              </a:rPr>
              <a:t> &amp; </a:t>
            </a:r>
            <a:r>
              <a:rPr lang="nl-BE" sz="1400" b="1" err="1">
                <a:solidFill>
                  <a:srgbClr val="005E77"/>
                </a:solidFill>
                <a:latin typeface="Arial" panose="020B0604020202020204" pitchFamily="34" charset="0"/>
                <a:cs typeface="Arial" panose="020B0604020202020204" pitchFamily="34" charset="0"/>
              </a:rPr>
              <a:t>brain</a:t>
            </a:r>
            <a:r>
              <a:rPr lang="nl-BE" sz="1400" b="1">
                <a:solidFill>
                  <a:srgbClr val="005E77"/>
                </a:solidFill>
                <a:latin typeface="Arial" panose="020B0604020202020204" pitchFamily="34" charset="0"/>
                <a:cs typeface="Arial" panose="020B0604020202020204" pitchFamily="34" charset="0"/>
              </a:rPr>
              <a:t> </a:t>
            </a:r>
            <a:r>
              <a:rPr lang="nl-BE" sz="1400" b="1" err="1">
                <a:solidFill>
                  <a:srgbClr val="005E77"/>
                </a:solidFill>
                <a:latin typeface="Arial" panose="020B0604020202020204" pitchFamily="34" charset="0"/>
                <a:cs typeface="Arial" panose="020B0604020202020204" pitchFamily="34" charset="0"/>
              </a:rPr>
              <a:t>extraction</a:t>
            </a:r>
            <a:endParaRPr lang="nl-BE" sz="1400" b="1">
              <a:solidFill>
                <a:srgbClr val="005E77"/>
              </a:solidFill>
              <a:latin typeface="Arial" panose="020B0604020202020204" pitchFamily="34" charset="0"/>
              <a:cs typeface="Arial" panose="020B0604020202020204" pitchFamily="34" charset="0"/>
            </a:endParaRPr>
          </a:p>
        </p:txBody>
      </p:sp>
      <p:sp>
        <p:nvSpPr>
          <p:cNvPr id="67" name="TextBox 66">
            <a:extLst>
              <a:ext uri="{FF2B5EF4-FFF2-40B4-BE49-F238E27FC236}">
                <a16:creationId xmlns:a16="http://schemas.microsoft.com/office/drawing/2014/main" id="{A701BF71-8E71-DB4A-02CE-5D61C9ED757C}"/>
              </a:ext>
            </a:extLst>
          </p:cNvPr>
          <p:cNvSpPr txBox="1"/>
          <p:nvPr/>
        </p:nvSpPr>
        <p:spPr>
          <a:xfrm>
            <a:off x="5126394" y="2704232"/>
            <a:ext cx="1856509" cy="738664"/>
          </a:xfrm>
          <a:prstGeom prst="rect">
            <a:avLst/>
          </a:prstGeom>
          <a:noFill/>
        </p:spPr>
        <p:txBody>
          <a:bodyPr wrap="square">
            <a:spAutoFit/>
          </a:bodyPr>
          <a:lstStyle/>
          <a:p>
            <a:pPr algn="ctr"/>
            <a:r>
              <a:rPr lang="nl-BE" sz="1400" b="1" err="1">
                <a:solidFill>
                  <a:srgbClr val="005E77"/>
                </a:solidFill>
                <a:latin typeface="Arial" panose="020B0604020202020204" pitchFamily="34" charset="0"/>
                <a:cs typeface="Arial" panose="020B0604020202020204" pitchFamily="34" charset="0"/>
              </a:rPr>
              <a:t>Fresh</a:t>
            </a:r>
            <a:r>
              <a:rPr lang="nl-BE" sz="1400" b="1">
                <a:solidFill>
                  <a:srgbClr val="005E77"/>
                </a:solidFill>
                <a:latin typeface="Arial" panose="020B0604020202020204" pitchFamily="34" charset="0"/>
                <a:cs typeface="Arial" panose="020B0604020202020204" pitchFamily="34" charset="0"/>
              </a:rPr>
              <a:t>/</a:t>
            </a:r>
            <a:r>
              <a:rPr lang="nl-BE" sz="1400" b="1" err="1">
                <a:solidFill>
                  <a:srgbClr val="005E77"/>
                </a:solidFill>
                <a:latin typeface="Arial" panose="020B0604020202020204" pitchFamily="34" charset="0"/>
                <a:cs typeface="Arial" panose="020B0604020202020204" pitchFamily="34" charset="0"/>
              </a:rPr>
              <a:t>frozen</a:t>
            </a:r>
            <a:r>
              <a:rPr lang="nl-BE" sz="1400" b="1">
                <a:solidFill>
                  <a:srgbClr val="005E77"/>
                </a:solidFill>
                <a:latin typeface="Arial" panose="020B0604020202020204" pitchFamily="34" charset="0"/>
                <a:cs typeface="Arial" panose="020B0604020202020204" pitchFamily="34" charset="0"/>
              </a:rPr>
              <a:t> </a:t>
            </a:r>
            <a:br>
              <a:rPr lang="nl-BE" sz="1400" b="1">
                <a:solidFill>
                  <a:srgbClr val="005E77"/>
                </a:solidFill>
                <a:latin typeface="Arial" panose="020B0604020202020204" pitchFamily="34" charset="0"/>
                <a:cs typeface="Arial" panose="020B0604020202020204" pitchFamily="34" charset="0"/>
              </a:rPr>
            </a:br>
            <a:r>
              <a:rPr lang="nl-BE" sz="1400" b="1" err="1">
                <a:solidFill>
                  <a:srgbClr val="005E77"/>
                </a:solidFill>
                <a:latin typeface="Arial" panose="020B0604020202020204" pitchFamily="34" charset="0"/>
                <a:cs typeface="Arial" panose="020B0604020202020204" pitchFamily="34" charset="0"/>
              </a:rPr>
              <a:t>brain</a:t>
            </a:r>
            <a:r>
              <a:rPr lang="nl-BE" sz="1400" b="1">
                <a:solidFill>
                  <a:srgbClr val="005E77"/>
                </a:solidFill>
                <a:latin typeface="Arial" panose="020B0604020202020204" pitchFamily="34" charset="0"/>
                <a:cs typeface="Arial" panose="020B0604020202020204" pitchFamily="34" charset="0"/>
              </a:rPr>
              <a:t> tissue</a:t>
            </a:r>
          </a:p>
          <a:p>
            <a:pPr lvl="0" algn="ctr"/>
            <a:endParaRPr lang="nl-BE" sz="1400" b="1" kern="1200">
              <a:solidFill>
                <a:srgbClr val="005E77"/>
              </a:solidFill>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DEACC04-247E-5E37-9F24-6FB7B933CF9C}"/>
              </a:ext>
            </a:extLst>
          </p:cNvPr>
          <p:cNvSpPr txBox="1"/>
          <p:nvPr/>
        </p:nvSpPr>
        <p:spPr>
          <a:xfrm>
            <a:off x="7491364" y="2702727"/>
            <a:ext cx="1856509" cy="523220"/>
          </a:xfrm>
          <a:prstGeom prst="rect">
            <a:avLst/>
          </a:prstGeom>
          <a:noFill/>
        </p:spPr>
        <p:txBody>
          <a:bodyPr wrap="square">
            <a:spAutoFit/>
          </a:bodyPr>
          <a:lstStyle/>
          <a:p>
            <a:pPr lvl="0" algn="ctr"/>
            <a:r>
              <a:rPr lang="nl-NL" sz="1400" b="1">
                <a:solidFill>
                  <a:srgbClr val="005E77"/>
                </a:solidFill>
                <a:latin typeface="Arial" panose="020B0604020202020204" pitchFamily="34" charset="0"/>
                <a:cs typeface="Arial" panose="020B0604020202020204" pitchFamily="34" charset="0"/>
              </a:rPr>
              <a:t>RNA </a:t>
            </a:r>
            <a:r>
              <a:rPr lang="nl-NL" sz="1400" b="1" err="1">
                <a:solidFill>
                  <a:srgbClr val="005E77"/>
                </a:solidFill>
                <a:latin typeface="Arial" panose="020B0604020202020204" pitchFamily="34" charset="0"/>
                <a:cs typeface="Arial" panose="020B0604020202020204" pitchFamily="34" charset="0"/>
              </a:rPr>
              <a:t>isolation</a:t>
            </a:r>
            <a:r>
              <a:rPr lang="nl-NL" sz="1400" b="1">
                <a:solidFill>
                  <a:srgbClr val="005E77"/>
                </a:solidFill>
                <a:latin typeface="Arial" panose="020B0604020202020204" pitchFamily="34" charset="0"/>
                <a:cs typeface="Arial" panose="020B0604020202020204" pitchFamily="34" charset="0"/>
              </a:rPr>
              <a:t>  &amp;</a:t>
            </a:r>
            <a:br>
              <a:rPr lang="nl-NL" sz="1400" b="1">
                <a:solidFill>
                  <a:srgbClr val="005E77"/>
                </a:solidFill>
                <a:latin typeface="Arial" panose="020B0604020202020204" pitchFamily="34" charset="0"/>
                <a:cs typeface="Arial" panose="020B0604020202020204" pitchFamily="34" charset="0"/>
              </a:rPr>
            </a:br>
            <a:r>
              <a:rPr lang="nl-NL" sz="1400" b="1">
                <a:solidFill>
                  <a:srgbClr val="005E77"/>
                </a:solidFill>
                <a:latin typeface="Arial" panose="020B0604020202020204" pitchFamily="34" charset="0"/>
                <a:cs typeface="Arial" panose="020B0604020202020204" pitchFamily="34" charset="0"/>
              </a:rPr>
              <a:t> </a:t>
            </a:r>
            <a:r>
              <a:rPr lang="nl-NL" sz="1400" b="1" err="1">
                <a:solidFill>
                  <a:srgbClr val="005E77"/>
                </a:solidFill>
                <a:latin typeface="Arial" panose="020B0604020202020204" pitchFamily="34" charset="0"/>
                <a:cs typeface="Arial" panose="020B0604020202020204" pitchFamily="34" charset="0"/>
              </a:rPr>
              <a:t>Quality</a:t>
            </a:r>
            <a:r>
              <a:rPr lang="nl-NL" sz="1400" b="1">
                <a:solidFill>
                  <a:srgbClr val="005E77"/>
                </a:solidFill>
                <a:latin typeface="Arial" panose="020B0604020202020204" pitchFamily="34" charset="0"/>
                <a:cs typeface="Arial" panose="020B0604020202020204" pitchFamily="34" charset="0"/>
              </a:rPr>
              <a:t> Control </a:t>
            </a:r>
            <a:endParaRPr lang="nl-BE" sz="1400" b="1">
              <a:solidFill>
                <a:srgbClr val="005E77"/>
              </a:solidFill>
              <a:latin typeface="Arial" panose="020B0604020202020204" pitchFamily="34" charset="0"/>
              <a:cs typeface="Arial" panose="020B0604020202020204" pitchFamily="34" charset="0"/>
            </a:endParaRPr>
          </a:p>
        </p:txBody>
      </p:sp>
      <p:sp>
        <p:nvSpPr>
          <p:cNvPr id="85" name="Rectangle 84">
            <a:extLst>
              <a:ext uri="{FF2B5EF4-FFF2-40B4-BE49-F238E27FC236}">
                <a16:creationId xmlns:a16="http://schemas.microsoft.com/office/drawing/2014/main" id="{8CE0F96C-BCF6-2F25-C222-D2BC35779FA9}"/>
              </a:ext>
            </a:extLst>
          </p:cNvPr>
          <p:cNvSpPr/>
          <p:nvPr/>
        </p:nvSpPr>
        <p:spPr>
          <a:xfrm>
            <a:off x="543910" y="4322173"/>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FFDF7F"/>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71" name="TextBox 70">
            <a:extLst>
              <a:ext uri="{FF2B5EF4-FFF2-40B4-BE49-F238E27FC236}">
                <a16:creationId xmlns:a16="http://schemas.microsoft.com/office/drawing/2014/main" id="{B035F014-420F-F961-0F34-B683D69F5A39}"/>
              </a:ext>
            </a:extLst>
          </p:cNvPr>
          <p:cNvSpPr txBox="1"/>
          <p:nvPr/>
        </p:nvSpPr>
        <p:spPr>
          <a:xfrm>
            <a:off x="417412" y="4749750"/>
            <a:ext cx="1856509" cy="523220"/>
          </a:xfrm>
          <a:prstGeom prst="rect">
            <a:avLst/>
          </a:prstGeom>
          <a:noFill/>
        </p:spPr>
        <p:txBody>
          <a:bodyPr wrap="square">
            <a:spAutoFit/>
          </a:bodyPr>
          <a:lstStyle/>
          <a:p>
            <a:pPr lvl="0" algn="ctr"/>
            <a:r>
              <a:rPr lang="nl-NL" sz="1400" b="1">
                <a:solidFill>
                  <a:srgbClr val="005E77"/>
                </a:solidFill>
                <a:latin typeface="Arial" panose="020B0604020202020204" pitchFamily="34" charset="0"/>
                <a:cs typeface="Arial" panose="020B0604020202020204" pitchFamily="34" charset="0"/>
              </a:rPr>
              <a:t>Library </a:t>
            </a:r>
            <a:r>
              <a:rPr lang="nl-NL" sz="1400" b="1" err="1">
                <a:solidFill>
                  <a:srgbClr val="005E77"/>
                </a:solidFill>
                <a:latin typeface="Arial" panose="020B0604020202020204" pitchFamily="34" charset="0"/>
                <a:cs typeface="Arial" panose="020B0604020202020204" pitchFamily="34" charset="0"/>
              </a:rPr>
              <a:t>prep</a:t>
            </a:r>
            <a:r>
              <a:rPr lang="nl-NL" sz="1400" b="1">
                <a:solidFill>
                  <a:srgbClr val="005E77"/>
                </a:solidFill>
                <a:latin typeface="Arial" panose="020B0604020202020204" pitchFamily="34" charset="0"/>
                <a:cs typeface="Arial" panose="020B0604020202020204" pitchFamily="34" charset="0"/>
              </a:rPr>
              <a:t> &amp; </a:t>
            </a:r>
            <a:br>
              <a:rPr lang="nl-NL" sz="1400" b="1">
                <a:solidFill>
                  <a:srgbClr val="005E77"/>
                </a:solidFill>
                <a:latin typeface="Arial" panose="020B0604020202020204" pitchFamily="34" charset="0"/>
                <a:cs typeface="Arial" panose="020B0604020202020204" pitchFamily="34" charset="0"/>
              </a:rPr>
            </a:br>
            <a:r>
              <a:rPr lang="nl-NL" sz="1400" b="1">
                <a:solidFill>
                  <a:srgbClr val="005E77"/>
                </a:solidFill>
                <a:latin typeface="Arial" panose="020B0604020202020204" pitchFamily="34" charset="0"/>
                <a:cs typeface="Arial" panose="020B0604020202020204" pitchFamily="34" charset="0"/>
              </a:rPr>
              <a:t>RNA </a:t>
            </a:r>
            <a:r>
              <a:rPr lang="nl-NL" sz="1400" b="1" err="1">
                <a:solidFill>
                  <a:srgbClr val="005E77"/>
                </a:solidFill>
                <a:latin typeface="Arial" panose="020B0604020202020204" pitchFamily="34" charset="0"/>
                <a:cs typeface="Arial" panose="020B0604020202020204" pitchFamily="34" charset="0"/>
              </a:rPr>
              <a:t>sequencing</a:t>
            </a:r>
            <a:endParaRPr lang="nl-BE" sz="1400" b="1">
              <a:solidFill>
                <a:srgbClr val="005E77"/>
              </a:solidFill>
              <a:latin typeface="Arial" panose="020B0604020202020204" pitchFamily="34" charset="0"/>
              <a:cs typeface="Arial" panose="020B0604020202020204" pitchFamily="34" charset="0"/>
            </a:endParaRPr>
          </a:p>
        </p:txBody>
      </p:sp>
      <p:sp>
        <p:nvSpPr>
          <p:cNvPr id="74" name="TextBox 73">
            <a:extLst>
              <a:ext uri="{FF2B5EF4-FFF2-40B4-BE49-F238E27FC236}">
                <a16:creationId xmlns:a16="http://schemas.microsoft.com/office/drawing/2014/main" id="{ADA42DCF-46B3-6B8E-191F-98F018B843A0}"/>
              </a:ext>
            </a:extLst>
          </p:cNvPr>
          <p:cNvSpPr txBox="1"/>
          <p:nvPr/>
        </p:nvSpPr>
        <p:spPr>
          <a:xfrm>
            <a:off x="4669340" y="4294998"/>
            <a:ext cx="3690915" cy="1384995"/>
          </a:xfrm>
          <a:prstGeom prst="rect">
            <a:avLst/>
          </a:prstGeom>
          <a:noFill/>
        </p:spPr>
        <p:txBody>
          <a:bodyPr wrap="square">
            <a:spAutoFit/>
          </a:bodyPr>
          <a:lstStyle/>
          <a:p>
            <a:pPr lvl="0"/>
            <a:r>
              <a:rPr lang="nl-NL" sz="1400" b="1" u="sng" err="1">
                <a:solidFill>
                  <a:srgbClr val="005E77"/>
                </a:solidFill>
                <a:latin typeface="Arial" panose="020B0604020202020204" pitchFamily="34" charset="0"/>
                <a:cs typeface="Arial" panose="020B0604020202020204" pitchFamily="34" charset="0"/>
              </a:rPr>
              <a:t>Bioinformatics</a:t>
            </a:r>
            <a:r>
              <a:rPr lang="nl-NL" sz="1400" b="1" u="sng">
                <a:solidFill>
                  <a:srgbClr val="005E77"/>
                </a:solidFill>
                <a:latin typeface="Arial" panose="020B0604020202020204" pitchFamily="34" charset="0"/>
                <a:cs typeface="Arial" panose="020B0604020202020204" pitchFamily="34" charset="0"/>
              </a:rPr>
              <a:t> Analysis:</a:t>
            </a:r>
          </a:p>
          <a:p>
            <a:pPr marL="228600" lvl="0" indent="-228600">
              <a:buFont typeface="+mj-lt"/>
              <a:buAutoNum type="arabicPeriod"/>
            </a:pPr>
            <a:r>
              <a:rPr lang="nl-NL" sz="1400" b="1">
                <a:solidFill>
                  <a:srgbClr val="005E77"/>
                </a:solidFill>
                <a:latin typeface="Arial" panose="020B0604020202020204" pitchFamily="34" charset="0"/>
                <a:cs typeface="Arial" panose="020B0604020202020204" pitchFamily="34" charset="0"/>
              </a:rPr>
              <a:t> </a:t>
            </a:r>
            <a:r>
              <a:rPr lang="nl-NL" sz="1400" b="1" err="1">
                <a:solidFill>
                  <a:srgbClr val="005E77"/>
                </a:solidFill>
                <a:latin typeface="Arial" panose="020B0604020202020204" pitchFamily="34" charset="0"/>
                <a:cs typeface="Arial" panose="020B0604020202020204" pitchFamily="34" charset="0"/>
              </a:rPr>
              <a:t>Quality</a:t>
            </a:r>
            <a:r>
              <a:rPr lang="nl-NL" sz="1400" b="1">
                <a:solidFill>
                  <a:srgbClr val="005E77"/>
                </a:solidFill>
                <a:latin typeface="Arial" panose="020B0604020202020204" pitchFamily="34" charset="0"/>
                <a:cs typeface="Arial" panose="020B0604020202020204" pitchFamily="34" charset="0"/>
              </a:rPr>
              <a:t> control (</a:t>
            </a:r>
            <a:r>
              <a:rPr lang="nl-NL" sz="1400" b="1" err="1">
                <a:solidFill>
                  <a:srgbClr val="005E77"/>
                </a:solidFill>
                <a:latin typeface="Arial" panose="020B0604020202020204" pitchFamily="34" charset="0"/>
                <a:cs typeface="Arial" panose="020B0604020202020204" pitchFamily="34" charset="0"/>
              </a:rPr>
              <a:t>FastQC</a:t>
            </a:r>
            <a:r>
              <a:rPr lang="nl-NL" sz="1400" b="1">
                <a:solidFill>
                  <a:srgbClr val="005E77"/>
                </a:solidFill>
                <a:latin typeface="Arial" panose="020B0604020202020204" pitchFamily="34" charset="0"/>
                <a:cs typeface="Arial" panose="020B0604020202020204" pitchFamily="34" charset="0"/>
              </a:rPr>
              <a:t>)</a:t>
            </a:r>
          </a:p>
          <a:p>
            <a:pPr marL="228600" lvl="0" indent="-228600">
              <a:buFont typeface="+mj-lt"/>
              <a:buAutoNum type="arabicPeriod"/>
            </a:pPr>
            <a:r>
              <a:rPr lang="nl-NL" sz="1400" b="1" err="1">
                <a:solidFill>
                  <a:srgbClr val="005E77"/>
                </a:solidFill>
                <a:latin typeface="Arial" panose="020B0604020202020204" pitchFamily="34" charset="0"/>
                <a:cs typeface="Arial" panose="020B0604020202020204" pitchFamily="34" charset="0"/>
              </a:rPr>
              <a:t>Alignment</a:t>
            </a:r>
            <a:r>
              <a:rPr lang="nl-NL" sz="1400" b="1">
                <a:solidFill>
                  <a:srgbClr val="005E77"/>
                </a:solidFill>
                <a:latin typeface="Arial" panose="020B0604020202020204" pitchFamily="34" charset="0"/>
                <a:cs typeface="Arial" panose="020B0604020202020204" pitchFamily="34" charset="0"/>
              </a:rPr>
              <a:t> (e.g., STAR)</a:t>
            </a:r>
          </a:p>
          <a:p>
            <a:pPr marL="228600" lvl="0" indent="-228600">
              <a:buFont typeface="+mj-lt"/>
              <a:buAutoNum type="arabicPeriod"/>
            </a:pPr>
            <a:r>
              <a:rPr lang="nl-NL" sz="1400" b="1" err="1">
                <a:solidFill>
                  <a:srgbClr val="005E77"/>
                </a:solidFill>
                <a:latin typeface="Arial" panose="020B0604020202020204" pitchFamily="34" charset="0"/>
                <a:cs typeface="Arial" panose="020B0604020202020204" pitchFamily="34" charset="0"/>
              </a:rPr>
              <a:t>Quantification</a:t>
            </a:r>
            <a:r>
              <a:rPr lang="nl-NL" sz="1400" b="1">
                <a:solidFill>
                  <a:srgbClr val="005E77"/>
                </a:solidFill>
                <a:latin typeface="Arial" panose="020B0604020202020204" pitchFamily="34" charset="0"/>
                <a:cs typeface="Arial" panose="020B0604020202020204" pitchFamily="34" charset="0"/>
              </a:rPr>
              <a:t> (e.g., </a:t>
            </a:r>
            <a:r>
              <a:rPr lang="nl-NL" sz="1400" b="1" err="1">
                <a:solidFill>
                  <a:srgbClr val="005E77"/>
                </a:solidFill>
                <a:latin typeface="Arial" panose="020B0604020202020204" pitchFamily="34" charset="0"/>
                <a:cs typeface="Arial" panose="020B0604020202020204" pitchFamily="34" charset="0"/>
              </a:rPr>
              <a:t>featureCounts</a:t>
            </a:r>
            <a:r>
              <a:rPr lang="nl-NL" sz="1400" b="1">
                <a:solidFill>
                  <a:srgbClr val="005E77"/>
                </a:solidFill>
                <a:latin typeface="Arial" panose="020B0604020202020204" pitchFamily="34" charset="0"/>
                <a:cs typeface="Arial" panose="020B0604020202020204" pitchFamily="34" charset="0"/>
              </a:rPr>
              <a:t>)</a:t>
            </a:r>
          </a:p>
          <a:p>
            <a:pPr marL="228600" lvl="0" indent="-228600">
              <a:buFont typeface="+mj-lt"/>
              <a:buAutoNum type="arabicPeriod"/>
            </a:pPr>
            <a:r>
              <a:rPr lang="nl-NL" sz="1400" b="1" err="1">
                <a:solidFill>
                  <a:srgbClr val="005E77"/>
                </a:solidFill>
                <a:latin typeface="Arial" panose="020B0604020202020204" pitchFamily="34" charset="0"/>
                <a:cs typeface="Arial" panose="020B0604020202020204" pitchFamily="34" charset="0"/>
              </a:rPr>
              <a:t>Differential</a:t>
            </a:r>
            <a:r>
              <a:rPr lang="nl-NL" sz="1400" b="1">
                <a:solidFill>
                  <a:srgbClr val="005E77"/>
                </a:solidFill>
                <a:latin typeface="Arial" panose="020B0604020202020204" pitchFamily="34" charset="0"/>
                <a:cs typeface="Arial" panose="020B0604020202020204" pitchFamily="34" charset="0"/>
              </a:rPr>
              <a:t> </a:t>
            </a:r>
            <a:r>
              <a:rPr lang="nl-NL" sz="1400" b="1" err="1">
                <a:solidFill>
                  <a:srgbClr val="005E77"/>
                </a:solidFill>
                <a:latin typeface="Arial" panose="020B0604020202020204" pitchFamily="34" charset="0"/>
                <a:cs typeface="Arial" panose="020B0604020202020204" pitchFamily="34" charset="0"/>
              </a:rPr>
              <a:t>expression</a:t>
            </a:r>
            <a:r>
              <a:rPr lang="nl-NL" sz="1400" b="1">
                <a:solidFill>
                  <a:srgbClr val="005E77"/>
                </a:solidFill>
                <a:latin typeface="Arial" panose="020B0604020202020204" pitchFamily="34" charset="0"/>
                <a:cs typeface="Arial" panose="020B0604020202020204" pitchFamily="34" charset="0"/>
              </a:rPr>
              <a:t> analysis (e.g., DESeq2)</a:t>
            </a:r>
            <a:endParaRPr lang="nl-BE" sz="1400" b="1">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1C342F40-FA55-EA06-9E07-2326062B7F2F}"/>
              </a:ext>
            </a:extLst>
          </p:cNvPr>
          <p:cNvSpPr txBox="1"/>
          <p:nvPr/>
        </p:nvSpPr>
        <p:spPr>
          <a:xfrm>
            <a:off x="8889896" y="4485230"/>
            <a:ext cx="1571549" cy="954107"/>
          </a:xfrm>
          <a:prstGeom prst="rect">
            <a:avLst/>
          </a:prstGeom>
          <a:noFill/>
        </p:spPr>
        <p:txBody>
          <a:bodyPr wrap="square">
            <a:spAutoFit/>
          </a:bodyPr>
          <a:lstStyle/>
          <a:p>
            <a:pPr marL="228600" lvl="0" indent="-228600">
              <a:buFont typeface="+mj-lt"/>
              <a:buAutoNum type="arabicPeriod"/>
            </a:pPr>
            <a:r>
              <a:rPr lang="nl-NL" sz="1400" b="1">
                <a:solidFill>
                  <a:srgbClr val="005E77"/>
                </a:solidFill>
                <a:latin typeface="Arial" panose="020B0604020202020204" pitchFamily="34" charset="0"/>
                <a:cs typeface="Arial" panose="020B0604020202020204" pitchFamily="34" charset="0"/>
              </a:rPr>
              <a:t>QC </a:t>
            </a:r>
            <a:r>
              <a:rPr lang="nl-NL" sz="1400" b="1" err="1">
                <a:solidFill>
                  <a:srgbClr val="005E77"/>
                </a:solidFill>
                <a:latin typeface="Arial" panose="020B0604020202020204" pitchFamily="34" charset="0"/>
                <a:cs typeface="Arial" panose="020B0604020202020204" pitchFamily="34" charset="0"/>
              </a:rPr>
              <a:t>reports</a:t>
            </a:r>
            <a:endParaRPr lang="nl-NL" sz="1400" b="1">
              <a:solidFill>
                <a:srgbClr val="005E77"/>
              </a:solidFill>
              <a:latin typeface="Arial" panose="020B0604020202020204" pitchFamily="34" charset="0"/>
              <a:cs typeface="Arial" panose="020B0604020202020204" pitchFamily="34" charset="0"/>
            </a:endParaRPr>
          </a:p>
          <a:p>
            <a:pPr marL="228600" lvl="0" indent="-228600">
              <a:buFont typeface="+mj-lt"/>
              <a:buAutoNum type="arabicPeriod"/>
            </a:pPr>
            <a:r>
              <a:rPr lang="nl-NL" sz="1400" b="1">
                <a:solidFill>
                  <a:srgbClr val="005E77"/>
                </a:solidFill>
                <a:latin typeface="Arial" panose="020B0604020202020204" pitchFamily="34" charset="0"/>
                <a:cs typeface="Arial" panose="020B0604020202020204" pitchFamily="34" charset="0"/>
              </a:rPr>
              <a:t>BAM files</a:t>
            </a:r>
          </a:p>
          <a:p>
            <a:pPr marL="228600" lvl="0" indent="-228600">
              <a:buFont typeface="+mj-lt"/>
              <a:buAutoNum type="arabicPeriod"/>
            </a:pPr>
            <a:r>
              <a:rPr lang="nl-NL" sz="1400" b="1" err="1">
                <a:solidFill>
                  <a:srgbClr val="005E77"/>
                </a:solidFill>
                <a:latin typeface="Arial" panose="020B0604020202020204" pitchFamily="34" charset="0"/>
                <a:cs typeface="Arial" panose="020B0604020202020204" pitchFamily="34" charset="0"/>
              </a:rPr>
              <a:t>Count</a:t>
            </a:r>
            <a:r>
              <a:rPr lang="nl-NL" sz="1400" b="1">
                <a:solidFill>
                  <a:srgbClr val="005E77"/>
                </a:solidFill>
                <a:latin typeface="Arial" panose="020B0604020202020204" pitchFamily="34" charset="0"/>
                <a:cs typeface="Arial" panose="020B0604020202020204" pitchFamily="34" charset="0"/>
              </a:rPr>
              <a:t> matrix </a:t>
            </a:r>
          </a:p>
          <a:p>
            <a:pPr marL="228600" lvl="0" indent="-228600">
              <a:buFont typeface="+mj-lt"/>
              <a:buAutoNum type="arabicPeriod"/>
            </a:pPr>
            <a:r>
              <a:rPr lang="nl-NL" sz="1400" b="1">
                <a:solidFill>
                  <a:srgbClr val="005E77"/>
                </a:solidFill>
                <a:latin typeface="Arial" panose="020B0604020202020204" pitchFamily="34" charset="0"/>
                <a:cs typeface="Arial" panose="020B0604020202020204" pitchFamily="34" charset="0"/>
              </a:rPr>
              <a:t>DE </a:t>
            </a:r>
            <a:r>
              <a:rPr lang="nl-NL" sz="1400" b="1" err="1">
                <a:solidFill>
                  <a:srgbClr val="005E77"/>
                </a:solidFill>
                <a:latin typeface="Arial" panose="020B0604020202020204" pitchFamily="34" charset="0"/>
                <a:cs typeface="Arial" panose="020B0604020202020204" pitchFamily="34" charset="0"/>
              </a:rPr>
              <a:t>results</a:t>
            </a:r>
            <a:endParaRPr lang="nl-BE" sz="1400" b="1">
              <a:solidFill>
                <a:srgbClr val="005E77"/>
              </a:solidFill>
              <a:latin typeface="Arial" panose="020B060402020202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CFDB7DB9-2C02-3E69-7ACB-00E5BFB2E209}"/>
              </a:ext>
            </a:extLst>
          </p:cNvPr>
          <p:cNvCxnSpPr>
            <a:cxnSpLocks/>
          </p:cNvCxnSpPr>
          <p:nvPr/>
        </p:nvCxnSpPr>
        <p:spPr>
          <a:xfrm>
            <a:off x="8602343" y="4913422"/>
            <a:ext cx="18015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56D69510-1170-7FED-A463-F5A6EC2A2130}"/>
              </a:ext>
            </a:extLst>
          </p:cNvPr>
          <p:cNvCxnSpPr>
            <a:cxnSpLocks/>
          </p:cNvCxnSpPr>
          <p:nvPr/>
        </p:nvCxnSpPr>
        <p:spPr>
          <a:xfrm>
            <a:off x="8602343" y="5133004"/>
            <a:ext cx="18015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053E9094-F6AA-07FF-0832-5468D271BCC2}"/>
              </a:ext>
            </a:extLst>
          </p:cNvPr>
          <p:cNvCxnSpPr>
            <a:cxnSpLocks/>
          </p:cNvCxnSpPr>
          <p:nvPr/>
        </p:nvCxnSpPr>
        <p:spPr>
          <a:xfrm>
            <a:off x="8602343" y="5352585"/>
            <a:ext cx="190783"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0B57E75C-71FD-F933-4EFD-930026C2B7FD}"/>
              </a:ext>
            </a:extLst>
          </p:cNvPr>
          <p:cNvCxnSpPr>
            <a:cxnSpLocks/>
          </p:cNvCxnSpPr>
          <p:nvPr/>
        </p:nvCxnSpPr>
        <p:spPr>
          <a:xfrm>
            <a:off x="8602343" y="4693840"/>
            <a:ext cx="18015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sp>
        <p:nvSpPr>
          <p:cNvPr id="26" name="Rectangle 25">
            <a:extLst>
              <a:ext uri="{FF2B5EF4-FFF2-40B4-BE49-F238E27FC236}">
                <a16:creationId xmlns:a16="http://schemas.microsoft.com/office/drawing/2014/main" id="{B7AB506A-FA09-B1DF-3145-FC3A83823CC3}"/>
              </a:ext>
            </a:extLst>
          </p:cNvPr>
          <p:cNvSpPr/>
          <p:nvPr/>
        </p:nvSpPr>
        <p:spPr>
          <a:xfrm>
            <a:off x="9976519" y="2752989"/>
            <a:ext cx="1603513" cy="521177"/>
          </a:xfrm>
          <a:custGeom>
            <a:avLst/>
            <a:gdLst>
              <a:gd name="connsiteX0" fmla="*/ 0 w 1603513"/>
              <a:gd name="connsiteY0" fmla="*/ 0 h 521177"/>
              <a:gd name="connsiteX1" fmla="*/ 534504 w 1603513"/>
              <a:gd name="connsiteY1" fmla="*/ 0 h 521177"/>
              <a:gd name="connsiteX2" fmla="*/ 1052974 w 1603513"/>
              <a:gd name="connsiteY2" fmla="*/ 0 h 521177"/>
              <a:gd name="connsiteX3" fmla="*/ 1603513 w 1603513"/>
              <a:gd name="connsiteY3" fmla="*/ 0 h 521177"/>
              <a:gd name="connsiteX4" fmla="*/ 1603513 w 1603513"/>
              <a:gd name="connsiteY4" fmla="*/ 521177 h 521177"/>
              <a:gd name="connsiteX5" fmla="*/ 1085044 w 1603513"/>
              <a:gd name="connsiteY5" fmla="*/ 521177 h 521177"/>
              <a:gd name="connsiteX6" fmla="*/ 518469 w 1603513"/>
              <a:gd name="connsiteY6" fmla="*/ 521177 h 521177"/>
              <a:gd name="connsiteX7" fmla="*/ 0 w 1603513"/>
              <a:gd name="connsiteY7" fmla="*/ 521177 h 521177"/>
              <a:gd name="connsiteX8" fmla="*/ 0 w 1603513"/>
              <a:gd name="connsiteY8" fmla="*/ 0 h 521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521177"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89075" y="152696"/>
                  <a:pt x="1615833" y="268570"/>
                  <a:pt x="1603513" y="521177"/>
                </a:cubicBezTo>
                <a:cubicBezTo>
                  <a:pt x="1492558" y="502449"/>
                  <a:pt x="1211463" y="518749"/>
                  <a:pt x="1085044" y="521177"/>
                </a:cubicBezTo>
                <a:cubicBezTo>
                  <a:pt x="958625" y="523605"/>
                  <a:pt x="654269" y="527331"/>
                  <a:pt x="518469" y="521177"/>
                </a:cubicBezTo>
                <a:cubicBezTo>
                  <a:pt x="382669" y="515023"/>
                  <a:pt x="244401" y="530081"/>
                  <a:pt x="0" y="521177"/>
                </a:cubicBezTo>
                <a:cubicBezTo>
                  <a:pt x="8883" y="313234"/>
                  <a:pt x="-9077" y="208309"/>
                  <a:pt x="0" y="0"/>
                </a:cubicBezTo>
                <a:close/>
              </a:path>
              <a:path w="1603513" h="52117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8564" y="221225"/>
                  <a:pt x="1591506" y="346499"/>
                  <a:pt x="1603513" y="521177"/>
                </a:cubicBezTo>
                <a:cubicBezTo>
                  <a:pt x="1487536" y="508253"/>
                  <a:pt x="1233211" y="509041"/>
                  <a:pt x="1117114" y="521177"/>
                </a:cubicBezTo>
                <a:cubicBezTo>
                  <a:pt x="1001017" y="533313"/>
                  <a:pt x="729603" y="537174"/>
                  <a:pt x="598645" y="521177"/>
                </a:cubicBezTo>
                <a:cubicBezTo>
                  <a:pt x="467687" y="505180"/>
                  <a:pt x="254135" y="493640"/>
                  <a:pt x="0" y="521177"/>
                </a:cubicBezTo>
                <a:cubicBezTo>
                  <a:pt x="-19960" y="343161"/>
                  <a:pt x="-19790" y="131211"/>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598E06BC-0E7F-3348-C988-91DD006EEF0F}"/>
              </a:ext>
            </a:extLst>
          </p:cNvPr>
          <p:cNvSpPr/>
          <p:nvPr/>
        </p:nvSpPr>
        <p:spPr>
          <a:xfrm>
            <a:off x="9988277" y="3324084"/>
            <a:ext cx="1603513" cy="521177"/>
          </a:xfrm>
          <a:custGeom>
            <a:avLst/>
            <a:gdLst>
              <a:gd name="connsiteX0" fmla="*/ 0 w 1603513"/>
              <a:gd name="connsiteY0" fmla="*/ 0 h 521177"/>
              <a:gd name="connsiteX1" fmla="*/ 534504 w 1603513"/>
              <a:gd name="connsiteY1" fmla="*/ 0 h 521177"/>
              <a:gd name="connsiteX2" fmla="*/ 1052974 w 1603513"/>
              <a:gd name="connsiteY2" fmla="*/ 0 h 521177"/>
              <a:gd name="connsiteX3" fmla="*/ 1603513 w 1603513"/>
              <a:gd name="connsiteY3" fmla="*/ 0 h 521177"/>
              <a:gd name="connsiteX4" fmla="*/ 1603513 w 1603513"/>
              <a:gd name="connsiteY4" fmla="*/ 521177 h 521177"/>
              <a:gd name="connsiteX5" fmla="*/ 1085044 w 1603513"/>
              <a:gd name="connsiteY5" fmla="*/ 521177 h 521177"/>
              <a:gd name="connsiteX6" fmla="*/ 518469 w 1603513"/>
              <a:gd name="connsiteY6" fmla="*/ 521177 h 521177"/>
              <a:gd name="connsiteX7" fmla="*/ 0 w 1603513"/>
              <a:gd name="connsiteY7" fmla="*/ 521177 h 521177"/>
              <a:gd name="connsiteX8" fmla="*/ 0 w 1603513"/>
              <a:gd name="connsiteY8" fmla="*/ 0 h 521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521177"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89075" y="152696"/>
                  <a:pt x="1615833" y="268570"/>
                  <a:pt x="1603513" y="521177"/>
                </a:cubicBezTo>
                <a:cubicBezTo>
                  <a:pt x="1492558" y="502449"/>
                  <a:pt x="1211463" y="518749"/>
                  <a:pt x="1085044" y="521177"/>
                </a:cubicBezTo>
                <a:cubicBezTo>
                  <a:pt x="958625" y="523605"/>
                  <a:pt x="654269" y="527331"/>
                  <a:pt x="518469" y="521177"/>
                </a:cubicBezTo>
                <a:cubicBezTo>
                  <a:pt x="382669" y="515023"/>
                  <a:pt x="244401" y="530081"/>
                  <a:pt x="0" y="521177"/>
                </a:cubicBezTo>
                <a:cubicBezTo>
                  <a:pt x="8883" y="313234"/>
                  <a:pt x="-9077" y="208309"/>
                  <a:pt x="0" y="0"/>
                </a:cubicBezTo>
                <a:close/>
              </a:path>
              <a:path w="1603513" h="52117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8564" y="221225"/>
                  <a:pt x="1591506" y="346499"/>
                  <a:pt x="1603513" y="521177"/>
                </a:cubicBezTo>
                <a:cubicBezTo>
                  <a:pt x="1487536" y="508253"/>
                  <a:pt x="1233211" y="509041"/>
                  <a:pt x="1117114" y="521177"/>
                </a:cubicBezTo>
                <a:cubicBezTo>
                  <a:pt x="1001017" y="533313"/>
                  <a:pt x="729603" y="537174"/>
                  <a:pt x="598645" y="521177"/>
                </a:cubicBezTo>
                <a:cubicBezTo>
                  <a:pt x="467687" y="505180"/>
                  <a:pt x="254135" y="493640"/>
                  <a:pt x="0" y="521177"/>
                </a:cubicBezTo>
                <a:cubicBezTo>
                  <a:pt x="-19960" y="343161"/>
                  <a:pt x="-19790" y="131211"/>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6A26188D-135F-0805-8322-31D8F302C2C4}"/>
              </a:ext>
            </a:extLst>
          </p:cNvPr>
          <p:cNvSpPr txBox="1"/>
          <p:nvPr/>
        </p:nvSpPr>
        <p:spPr>
          <a:xfrm>
            <a:off x="9999042" y="2300794"/>
            <a:ext cx="1571549" cy="307777"/>
          </a:xfrm>
          <a:prstGeom prst="rect">
            <a:avLst/>
          </a:prstGeom>
          <a:noFill/>
        </p:spPr>
        <p:txBody>
          <a:bodyPr wrap="square">
            <a:spAutoFit/>
          </a:bodyPr>
          <a:lstStyle/>
          <a:p>
            <a:pPr lvl="0" algn="ctr"/>
            <a:r>
              <a:rPr lang="nl-BE" sz="1400" b="1">
                <a:solidFill>
                  <a:srgbClr val="005E77"/>
                </a:solidFill>
                <a:latin typeface="Arial" panose="020B0604020202020204" pitchFamily="34" charset="0"/>
                <a:cs typeface="Arial" panose="020B0604020202020204" pitchFamily="34" charset="0"/>
              </a:rPr>
              <a:t>RNA samples</a:t>
            </a:r>
          </a:p>
        </p:txBody>
      </p:sp>
      <p:sp>
        <p:nvSpPr>
          <p:cNvPr id="28" name="TextBox 27">
            <a:extLst>
              <a:ext uri="{FF2B5EF4-FFF2-40B4-BE49-F238E27FC236}">
                <a16:creationId xmlns:a16="http://schemas.microsoft.com/office/drawing/2014/main" id="{530D8A35-58ED-8947-B78F-B6160E4CF13F}"/>
              </a:ext>
            </a:extLst>
          </p:cNvPr>
          <p:cNvSpPr txBox="1"/>
          <p:nvPr/>
        </p:nvSpPr>
        <p:spPr>
          <a:xfrm>
            <a:off x="10001987" y="2853912"/>
            <a:ext cx="1571549" cy="307777"/>
          </a:xfrm>
          <a:prstGeom prst="rect">
            <a:avLst/>
          </a:prstGeom>
          <a:noFill/>
        </p:spPr>
        <p:txBody>
          <a:bodyPr wrap="square">
            <a:spAutoFit/>
          </a:bodyPr>
          <a:lstStyle/>
          <a:p>
            <a:pPr lvl="0" algn="ctr"/>
            <a:r>
              <a:rPr lang="nl-BE" sz="1400" b="1">
                <a:solidFill>
                  <a:srgbClr val="005E77"/>
                </a:solidFill>
                <a:latin typeface="Arial" panose="020B0604020202020204" pitchFamily="34" charset="0"/>
                <a:cs typeface="Arial" panose="020B0604020202020204" pitchFamily="34" charset="0"/>
              </a:rPr>
              <a:t>RNA QC report</a:t>
            </a:r>
          </a:p>
        </p:txBody>
      </p:sp>
      <p:sp>
        <p:nvSpPr>
          <p:cNvPr id="29" name="TextBox 28">
            <a:extLst>
              <a:ext uri="{FF2B5EF4-FFF2-40B4-BE49-F238E27FC236}">
                <a16:creationId xmlns:a16="http://schemas.microsoft.com/office/drawing/2014/main" id="{03A93AD1-FB58-D457-CE5E-2E56BF46D327}"/>
              </a:ext>
            </a:extLst>
          </p:cNvPr>
          <p:cNvSpPr txBox="1"/>
          <p:nvPr/>
        </p:nvSpPr>
        <p:spPr>
          <a:xfrm>
            <a:off x="10030331" y="3412425"/>
            <a:ext cx="1571549" cy="307777"/>
          </a:xfrm>
          <a:prstGeom prst="rect">
            <a:avLst/>
          </a:prstGeom>
          <a:noFill/>
        </p:spPr>
        <p:txBody>
          <a:bodyPr wrap="square">
            <a:spAutoFit/>
          </a:bodyPr>
          <a:lstStyle/>
          <a:p>
            <a:pPr lvl="0" algn="ctr"/>
            <a:r>
              <a:rPr lang="nl-BE" sz="1400" b="1">
                <a:solidFill>
                  <a:srgbClr val="005E77"/>
                </a:solidFill>
                <a:latin typeface="Arial" panose="020B0604020202020204" pitchFamily="34" charset="0"/>
                <a:cs typeface="Arial" panose="020B0604020202020204" pitchFamily="34" charset="0"/>
              </a:rPr>
              <a:t>Sample sheet</a:t>
            </a:r>
          </a:p>
        </p:txBody>
      </p:sp>
      <p:sp>
        <p:nvSpPr>
          <p:cNvPr id="31" name="Rectangle 30">
            <a:extLst>
              <a:ext uri="{FF2B5EF4-FFF2-40B4-BE49-F238E27FC236}">
                <a16:creationId xmlns:a16="http://schemas.microsoft.com/office/drawing/2014/main" id="{2778FE80-0661-7A63-9408-77C8494CC65F}"/>
              </a:ext>
            </a:extLst>
          </p:cNvPr>
          <p:cNvSpPr/>
          <p:nvPr/>
        </p:nvSpPr>
        <p:spPr>
          <a:xfrm>
            <a:off x="2511300" y="5064082"/>
            <a:ext cx="1603513" cy="697270"/>
          </a:xfrm>
          <a:custGeom>
            <a:avLst/>
            <a:gdLst>
              <a:gd name="connsiteX0" fmla="*/ 0 w 1603513"/>
              <a:gd name="connsiteY0" fmla="*/ 0 h 697270"/>
              <a:gd name="connsiteX1" fmla="*/ 534504 w 1603513"/>
              <a:gd name="connsiteY1" fmla="*/ 0 h 697270"/>
              <a:gd name="connsiteX2" fmla="*/ 1052974 w 1603513"/>
              <a:gd name="connsiteY2" fmla="*/ 0 h 697270"/>
              <a:gd name="connsiteX3" fmla="*/ 1603513 w 1603513"/>
              <a:gd name="connsiteY3" fmla="*/ 0 h 697270"/>
              <a:gd name="connsiteX4" fmla="*/ 1603513 w 1603513"/>
              <a:gd name="connsiteY4" fmla="*/ 697270 h 697270"/>
              <a:gd name="connsiteX5" fmla="*/ 1085044 w 1603513"/>
              <a:gd name="connsiteY5" fmla="*/ 697270 h 697270"/>
              <a:gd name="connsiteX6" fmla="*/ 518469 w 1603513"/>
              <a:gd name="connsiteY6" fmla="*/ 697270 h 697270"/>
              <a:gd name="connsiteX7" fmla="*/ 0 w 1603513"/>
              <a:gd name="connsiteY7" fmla="*/ 697270 h 697270"/>
              <a:gd name="connsiteX8" fmla="*/ 0 w 1603513"/>
              <a:gd name="connsiteY8" fmla="*/ 0 h 69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697270"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72663" y="243220"/>
                  <a:pt x="1631307" y="538666"/>
                  <a:pt x="1603513" y="697270"/>
                </a:cubicBezTo>
                <a:cubicBezTo>
                  <a:pt x="1492558" y="678542"/>
                  <a:pt x="1211463" y="694842"/>
                  <a:pt x="1085044" y="697270"/>
                </a:cubicBezTo>
                <a:cubicBezTo>
                  <a:pt x="958625" y="699698"/>
                  <a:pt x="654269" y="703424"/>
                  <a:pt x="518469" y="697270"/>
                </a:cubicBezTo>
                <a:cubicBezTo>
                  <a:pt x="382669" y="691116"/>
                  <a:pt x="244401" y="706174"/>
                  <a:pt x="0" y="697270"/>
                </a:cubicBezTo>
                <a:cubicBezTo>
                  <a:pt x="32865" y="499634"/>
                  <a:pt x="-13106" y="252986"/>
                  <a:pt x="0" y="0"/>
                </a:cubicBezTo>
                <a:close/>
              </a:path>
              <a:path w="1603513" h="697270"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04419" y="315542"/>
                  <a:pt x="1617260" y="350805"/>
                  <a:pt x="1603513" y="697270"/>
                </a:cubicBezTo>
                <a:cubicBezTo>
                  <a:pt x="1487536" y="684346"/>
                  <a:pt x="1233211" y="685134"/>
                  <a:pt x="1117114" y="697270"/>
                </a:cubicBezTo>
                <a:cubicBezTo>
                  <a:pt x="1001017" y="709406"/>
                  <a:pt x="729603" y="713267"/>
                  <a:pt x="598645" y="697270"/>
                </a:cubicBezTo>
                <a:cubicBezTo>
                  <a:pt x="467687" y="681273"/>
                  <a:pt x="254135" y="669733"/>
                  <a:pt x="0" y="697270"/>
                </a:cubicBezTo>
                <a:cubicBezTo>
                  <a:pt x="-21270" y="350547"/>
                  <a:pt x="31277" y="253178"/>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BB741826-3C7F-9D70-E525-A49F8DD23C4E}"/>
              </a:ext>
            </a:extLst>
          </p:cNvPr>
          <p:cNvSpPr txBox="1"/>
          <p:nvPr/>
        </p:nvSpPr>
        <p:spPr>
          <a:xfrm>
            <a:off x="2527281" y="4435734"/>
            <a:ext cx="1571549" cy="523220"/>
          </a:xfrm>
          <a:prstGeom prst="rect">
            <a:avLst/>
          </a:prstGeom>
          <a:noFill/>
        </p:spPr>
        <p:txBody>
          <a:bodyPr wrap="square">
            <a:spAutoFit/>
          </a:bodyPr>
          <a:lstStyle/>
          <a:p>
            <a:pPr lvl="0" algn="ctr"/>
            <a:r>
              <a:rPr lang="nl-NL" sz="1400" b="1" err="1">
                <a:solidFill>
                  <a:srgbClr val="005E77"/>
                </a:solidFill>
                <a:latin typeface="Arial" panose="020B0604020202020204" pitchFamily="34" charset="0"/>
                <a:cs typeface="Arial" panose="020B0604020202020204" pitchFamily="34" charset="0"/>
              </a:rPr>
              <a:t>Raw</a:t>
            </a:r>
            <a:r>
              <a:rPr lang="nl-NL" sz="1400" b="1">
                <a:solidFill>
                  <a:srgbClr val="005E77"/>
                </a:solidFill>
                <a:latin typeface="Arial" panose="020B0604020202020204" pitchFamily="34" charset="0"/>
                <a:cs typeface="Arial" panose="020B0604020202020204" pitchFamily="34" charset="0"/>
              </a:rPr>
              <a:t> FASTQ-files</a:t>
            </a:r>
            <a:endParaRPr lang="nl-BE" sz="1400" b="1">
              <a:solidFill>
                <a:srgbClr val="005E77"/>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056D4036-1332-90A3-6516-CAE96F72D25A}"/>
              </a:ext>
            </a:extLst>
          </p:cNvPr>
          <p:cNvSpPr txBox="1"/>
          <p:nvPr/>
        </p:nvSpPr>
        <p:spPr>
          <a:xfrm>
            <a:off x="2490952" y="5133004"/>
            <a:ext cx="1571549" cy="523220"/>
          </a:xfrm>
          <a:prstGeom prst="rect">
            <a:avLst/>
          </a:prstGeom>
          <a:noFill/>
        </p:spPr>
        <p:txBody>
          <a:bodyPr wrap="square">
            <a:spAutoFit/>
          </a:bodyPr>
          <a:lstStyle/>
          <a:p>
            <a:pPr lvl="0" algn="ctr"/>
            <a:r>
              <a:rPr lang="nl-NL" sz="1400" b="1" err="1">
                <a:solidFill>
                  <a:srgbClr val="005E77"/>
                </a:solidFill>
                <a:latin typeface="Arial" panose="020B0604020202020204" pitchFamily="34" charset="0"/>
                <a:cs typeface="Arial" panose="020B0604020202020204" pitchFamily="34" charset="0"/>
              </a:rPr>
              <a:t>Sequencing</a:t>
            </a:r>
            <a:r>
              <a:rPr lang="nl-NL" sz="1400" b="1">
                <a:solidFill>
                  <a:srgbClr val="005E77"/>
                </a:solidFill>
                <a:latin typeface="Arial" panose="020B0604020202020204" pitchFamily="34" charset="0"/>
                <a:cs typeface="Arial" panose="020B0604020202020204" pitchFamily="34" charset="0"/>
              </a:rPr>
              <a:t> report</a:t>
            </a:r>
            <a:endParaRPr lang="nl-BE" sz="1400" b="1">
              <a:solidFill>
                <a:srgbClr val="005E77"/>
              </a:solidFill>
              <a:latin typeface="Arial" panose="020B0604020202020204" pitchFamily="34" charset="0"/>
              <a:cs typeface="Arial" panose="020B0604020202020204" pitchFamily="34" charset="0"/>
            </a:endParaRPr>
          </a:p>
        </p:txBody>
      </p:sp>
      <p:pic>
        <p:nvPicPr>
          <p:cNvPr id="33" name="Graphic 32" descr="Rat met effen opvulling">
            <a:extLst>
              <a:ext uri="{FF2B5EF4-FFF2-40B4-BE49-F238E27FC236}">
                <a16:creationId xmlns:a16="http://schemas.microsoft.com/office/drawing/2014/main" id="{2E718CB6-061F-C20C-2BBE-A19C985D67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272" y="3113132"/>
            <a:ext cx="583144" cy="583144"/>
          </a:xfrm>
          <a:prstGeom prst="rect">
            <a:avLst/>
          </a:prstGeom>
        </p:spPr>
      </p:pic>
      <p:pic>
        <p:nvPicPr>
          <p:cNvPr id="34" name="Graphic 33" descr="Brain with solid fill">
            <a:extLst>
              <a:ext uri="{FF2B5EF4-FFF2-40B4-BE49-F238E27FC236}">
                <a16:creationId xmlns:a16="http://schemas.microsoft.com/office/drawing/2014/main" id="{43FF055B-2CED-B272-E6D9-34239596DD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5286394" y="3234880"/>
            <a:ext cx="365343" cy="365343"/>
          </a:xfrm>
          <a:prstGeom prst="rect">
            <a:avLst/>
          </a:prstGeom>
        </p:spPr>
      </p:pic>
      <p:pic>
        <p:nvPicPr>
          <p:cNvPr id="35" name="Graphic 34" descr="Test tubes with solid fill">
            <a:extLst>
              <a:ext uri="{FF2B5EF4-FFF2-40B4-BE49-F238E27FC236}">
                <a16:creationId xmlns:a16="http://schemas.microsoft.com/office/drawing/2014/main" id="{941D4095-124F-425A-4A65-85593B87BD86}"/>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0030331" y="1994889"/>
            <a:ext cx="376558" cy="391593"/>
          </a:xfrm>
          <a:prstGeom prst="rect">
            <a:avLst/>
          </a:prstGeom>
        </p:spPr>
      </p:pic>
      <p:pic>
        <p:nvPicPr>
          <p:cNvPr id="36" name="Graphic 35" descr="Onderzoek met effen opvulling">
            <a:extLst>
              <a:ext uri="{FF2B5EF4-FFF2-40B4-BE49-F238E27FC236}">
                <a16:creationId xmlns:a16="http://schemas.microsoft.com/office/drawing/2014/main" id="{ED3C94DB-B0B4-4220-E19C-655BC6D213A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10012" y="5256168"/>
            <a:ext cx="465645" cy="465645"/>
          </a:xfrm>
          <a:prstGeom prst="rect">
            <a:avLst/>
          </a:prstGeom>
        </p:spPr>
      </p:pic>
      <p:cxnSp>
        <p:nvCxnSpPr>
          <p:cNvPr id="88" name="Straight Arrow Connector 87">
            <a:extLst>
              <a:ext uri="{FF2B5EF4-FFF2-40B4-BE49-F238E27FC236}">
                <a16:creationId xmlns:a16="http://schemas.microsoft.com/office/drawing/2014/main" id="{D07261F4-ADCF-F2F4-4666-15FEE9000418}"/>
              </a:ext>
            </a:extLst>
          </p:cNvPr>
          <p:cNvCxnSpPr>
            <a:cxnSpLocks/>
          </p:cNvCxnSpPr>
          <p:nvPr/>
        </p:nvCxnSpPr>
        <p:spPr>
          <a:xfrm>
            <a:off x="10625323" y="5000582"/>
            <a:ext cx="190783"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grpSp>
        <p:nvGrpSpPr>
          <p:cNvPr id="90" name="Group 89">
            <a:extLst>
              <a:ext uri="{FF2B5EF4-FFF2-40B4-BE49-F238E27FC236}">
                <a16:creationId xmlns:a16="http://schemas.microsoft.com/office/drawing/2014/main" id="{4797BB0F-0A41-F19B-DBA1-FEE32C31AD0F}"/>
              </a:ext>
            </a:extLst>
          </p:cNvPr>
          <p:cNvGrpSpPr/>
          <p:nvPr/>
        </p:nvGrpSpPr>
        <p:grpSpPr>
          <a:xfrm>
            <a:off x="10839126" y="4244645"/>
            <a:ext cx="1230538" cy="1501110"/>
            <a:chOff x="10270423" y="2699087"/>
            <a:chExt cx="1720071" cy="1962132"/>
          </a:xfrm>
        </p:grpSpPr>
        <p:sp>
          <p:nvSpPr>
            <p:cNvPr id="91" name="Rectangle 90">
              <a:extLst>
                <a:ext uri="{FF2B5EF4-FFF2-40B4-BE49-F238E27FC236}">
                  <a16:creationId xmlns:a16="http://schemas.microsoft.com/office/drawing/2014/main" id="{92EE3149-B610-82D6-02E5-5F4428B07B19}"/>
                </a:ext>
              </a:extLst>
            </p:cNvPr>
            <p:cNvSpPr/>
            <p:nvPr/>
          </p:nvSpPr>
          <p:spPr>
            <a:xfrm>
              <a:off x="10301046" y="2699087"/>
              <a:ext cx="1689448" cy="1914101"/>
            </a:xfrm>
            <a:custGeom>
              <a:avLst/>
              <a:gdLst>
                <a:gd name="connsiteX0" fmla="*/ 0 w 1689448"/>
                <a:gd name="connsiteY0" fmla="*/ 0 h 1914101"/>
                <a:gd name="connsiteX1" fmla="*/ 596938 w 1689448"/>
                <a:gd name="connsiteY1" fmla="*/ 0 h 1914101"/>
                <a:gd name="connsiteX2" fmla="*/ 1193877 w 1689448"/>
                <a:gd name="connsiteY2" fmla="*/ 0 h 1914101"/>
                <a:gd name="connsiteX3" fmla="*/ 1689448 w 1689448"/>
                <a:gd name="connsiteY3" fmla="*/ 0 h 1914101"/>
                <a:gd name="connsiteX4" fmla="*/ 1689448 w 1689448"/>
                <a:gd name="connsiteY4" fmla="*/ 580611 h 1914101"/>
                <a:gd name="connsiteX5" fmla="*/ 1689448 w 1689448"/>
                <a:gd name="connsiteY5" fmla="*/ 1218644 h 1914101"/>
                <a:gd name="connsiteX6" fmla="*/ 1689448 w 1689448"/>
                <a:gd name="connsiteY6" fmla="*/ 1914101 h 1914101"/>
                <a:gd name="connsiteX7" fmla="*/ 1176982 w 1689448"/>
                <a:gd name="connsiteY7" fmla="*/ 1914101 h 1914101"/>
                <a:gd name="connsiteX8" fmla="*/ 664516 w 1689448"/>
                <a:gd name="connsiteY8" fmla="*/ 1914101 h 1914101"/>
                <a:gd name="connsiteX9" fmla="*/ 0 w 1689448"/>
                <a:gd name="connsiteY9" fmla="*/ 1914101 h 1914101"/>
                <a:gd name="connsiteX10" fmla="*/ 0 w 1689448"/>
                <a:gd name="connsiteY10" fmla="*/ 1333490 h 1914101"/>
                <a:gd name="connsiteX11" fmla="*/ 0 w 1689448"/>
                <a:gd name="connsiteY11" fmla="*/ 733739 h 1914101"/>
                <a:gd name="connsiteX12" fmla="*/ 0 w 1689448"/>
                <a:gd name="connsiteY12" fmla="*/ 0 h 191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9448" h="1914101" fill="none" extrusionOk="0">
                  <a:moveTo>
                    <a:pt x="0" y="0"/>
                  </a:moveTo>
                  <a:cubicBezTo>
                    <a:pt x="282978" y="-26075"/>
                    <a:pt x="420737" y="-9574"/>
                    <a:pt x="596938" y="0"/>
                  </a:cubicBezTo>
                  <a:cubicBezTo>
                    <a:pt x="773139" y="9574"/>
                    <a:pt x="965606" y="7737"/>
                    <a:pt x="1193877" y="0"/>
                  </a:cubicBezTo>
                  <a:cubicBezTo>
                    <a:pt x="1422148" y="-7737"/>
                    <a:pt x="1544480" y="15874"/>
                    <a:pt x="1689448" y="0"/>
                  </a:cubicBezTo>
                  <a:cubicBezTo>
                    <a:pt x="1668808" y="172363"/>
                    <a:pt x="1709828" y="305226"/>
                    <a:pt x="1689448" y="580611"/>
                  </a:cubicBezTo>
                  <a:cubicBezTo>
                    <a:pt x="1669068" y="855996"/>
                    <a:pt x="1710616" y="1050164"/>
                    <a:pt x="1689448" y="1218644"/>
                  </a:cubicBezTo>
                  <a:cubicBezTo>
                    <a:pt x="1668280" y="1387124"/>
                    <a:pt x="1677655" y="1575053"/>
                    <a:pt x="1689448" y="1914101"/>
                  </a:cubicBezTo>
                  <a:cubicBezTo>
                    <a:pt x="1553500" y="1937375"/>
                    <a:pt x="1394421" y="1926425"/>
                    <a:pt x="1176982" y="1914101"/>
                  </a:cubicBezTo>
                  <a:cubicBezTo>
                    <a:pt x="959543" y="1901777"/>
                    <a:pt x="866113" y="1934658"/>
                    <a:pt x="664516" y="1914101"/>
                  </a:cubicBezTo>
                  <a:cubicBezTo>
                    <a:pt x="462919" y="1893544"/>
                    <a:pt x="188297" y="1941367"/>
                    <a:pt x="0" y="1914101"/>
                  </a:cubicBezTo>
                  <a:cubicBezTo>
                    <a:pt x="19399" y="1673739"/>
                    <a:pt x="-23817" y="1507505"/>
                    <a:pt x="0" y="1333490"/>
                  </a:cubicBezTo>
                  <a:cubicBezTo>
                    <a:pt x="23817" y="1159475"/>
                    <a:pt x="23313" y="984937"/>
                    <a:pt x="0" y="733739"/>
                  </a:cubicBezTo>
                  <a:cubicBezTo>
                    <a:pt x="-23313" y="482541"/>
                    <a:pt x="-7244" y="294241"/>
                    <a:pt x="0" y="0"/>
                  </a:cubicBezTo>
                  <a:close/>
                </a:path>
                <a:path w="1689448" h="1914101" stroke="0" extrusionOk="0">
                  <a:moveTo>
                    <a:pt x="0" y="0"/>
                  </a:moveTo>
                  <a:cubicBezTo>
                    <a:pt x="288413" y="-24815"/>
                    <a:pt x="359102" y="-5622"/>
                    <a:pt x="580044" y="0"/>
                  </a:cubicBezTo>
                  <a:cubicBezTo>
                    <a:pt x="800986" y="5622"/>
                    <a:pt x="909953" y="-27907"/>
                    <a:pt x="1160088" y="0"/>
                  </a:cubicBezTo>
                  <a:cubicBezTo>
                    <a:pt x="1410223" y="27907"/>
                    <a:pt x="1531419" y="26467"/>
                    <a:pt x="1689448" y="0"/>
                  </a:cubicBezTo>
                  <a:cubicBezTo>
                    <a:pt x="1678339" y="309905"/>
                    <a:pt x="1719615" y="421529"/>
                    <a:pt x="1689448" y="676316"/>
                  </a:cubicBezTo>
                  <a:cubicBezTo>
                    <a:pt x="1659281" y="931103"/>
                    <a:pt x="1659018" y="1181664"/>
                    <a:pt x="1689448" y="1333490"/>
                  </a:cubicBezTo>
                  <a:cubicBezTo>
                    <a:pt x="1719878" y="1485316"/>
                    <a:pt x="1700465" y="1652417"/>
                    <a:pt x="1689448" y="1914101"/>
                  </a:cubicBezTo>
                  <a:cubicBezTo>
                    <a:pt x="1544573" y="1908383"/>
                    <a:pt x="1363449" y="1903746"/>
                    <a:pt x="1176982" y="1914101"/>
                  </a:cubicBezTo>
                  <a:cubicBezTo>
                    <a:pt x="990515" y="1924456"/>
                    <a:pt x="789137" y="1904645"/>
                    <a:pt x="596938" y="1914101"/>
                  </a:cubicBezTo>
                  <a:cubicBezTo>
                    <a:pt x="404739" y="1923557"/>
                    <a:pt x="123018" y="1893085"/>
                    <a:pt x="0" y="1914101"/>
                  </a:cubicBezTo>
                  <a:cubicBezTo>
                    <a:pt x="-7172" y="1681010"/>
                    <a:pt x="-6193" y="1444641"/>
                    <a:pt x="0" y="1256926"/>
                  </a:cubicBezTo>
                  <a:cubicBezTo>
                    <a:pt x="6193" y="1069212"/>
                    <a:pt x="-7372" y="775105"/>
                    <a:pt x="0" y="638034"/>
                  </a:cubicBezTo>
                  <a:cubicBezTo>
                    <a:pt x="7372" y="500963"/>
                    <a:pt x="4649" y="134059"/>
                    <a:pt x="0" y="0"/>
                  </a:cubicBezTo>
                  <a:close/>
                </a:path>
              </a:pathLst>
            </a:custGeom>
            <a:solidFill>
              <a:srgbClr val="FFC000">
                <a:alpha val="50000"/>
              </a:srgbClr>
            </a:solidFill>
            <a:ln w="19050">
              <a:solidFill>
                <a:srgbClr val="005E77"/>
              </a:solidFill>
              <a:extLst>
                <a:ext uri="{C807C97D-BFC1-408E-A445-0C87EB9F89A2}">
                  <ask:lineSketchStyleProps xmlns:ask="http://schemas.microsoft.com/office/drawing/2018/sketchyshapes" sd="175670711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solidFill>
                  <a:schemeClr val="accent4">
                    <a:lumMod val="60000"/>
                    <a:lumOff val="40000"/>
                  </a:schemeClr>
                </a:solidFill>
              </a:endParaRPr>
            </a:p>
          </p:txBody>
        </p:sp>
        <p:sp>
          <p:nvSpPr>
            <p:cNvPr id="92" name="Tekstvak 37">
              <a:extLst>
                <a:ext uri="{FF2B5EF4-FFF2-40B4-BE49-F238E27FC236}">
                  <a16:creationId xmlns:a16="http://schemas.microsoft.com/office/drawing/2014/main" id="{B9CEDED7-8D2D-4256-9435-02A1C61C89A0}"/>
                </a:ext>
              </a:extLst>
            </p:cNvPr>
            <p:cNvSpPr txBox="1"/>
            <p:nvPr/>
          </p:nvSpPr>
          <p:spPr>
            <a:xfrm>
              <a:off x="10311226" y="2706772"/>
              <a:ext cx="1660309" cy="1810356"/>
            </a:xfrm>
            <a:prstGeom prst="rect">
              <a:avLst/>
            </a:prstGeom>
            <a:noFill/>
          </p:spPr>
          <p:txBody>
            <a:bodyPr wrap="square" rtlCol="0">
              <a:spAutoFit/>
            </a:bodyPr>
            <a:lstStyle/>
            <a:p>
              <a:pPr algn="ctr"/>
              <a:r>
                <a:rPr lang="en-US" sz="1400" b="1">
                  <a:solidFill>
                    <a:srgbClr val="005E77"/>
                  </a:solidFill>
                  <a:latin typeface="Arial" panose="020B0604020202020204" pitchFamily="34" charset="0"/>
                  <a:cs typeface="Arial" panose="020B0604020202020204" pitchFamily="34" charset="0"/>
                </a:rPr>
                <a:t>Making Graphs, tables + writing manuscript, … </a:t>
              </a:r>
            </a:p>
          </p:txBody>
        </p:sp>
        <p:pic>
          <p:nvPicPr>
            <p:cNvPr id="94" name="Graphic 93" descr="Krant met effen opvulling">
              <a:extLst>
                <a:ext uri="{FF2B5EF4-FFF2-40B4-BE49-F238E27FC236}">
                  <a16:creationId xmlns:a16="http://schemas.microsoft.com/office/drawing/2014/main" id="{35771206-B6B3-CE81-CFDD-99304FC6C40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70423" y="4097118"/>
              <a:ext cx="627593" cy="564101"/>
            </a:xfrm>
            <a:prstGeom prst="rect">
              <a:avLst/>
            </a:prstGeom>
          </p:spPr>
        </p:pic>
      </p:grpSp>
    </p:spTree>
    <p:extLst>
      <p:ext uri="{BB962C8B-B14F-4D97-AF65-F5344CB8AC3E}">
        <p14:creationId xmlns:p14="http://schemas.microsoft.com/office/powerpoint/2010/main" val="223999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1F9C26-5583-4AE2-42F6-CE504425648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07D7D3-A331-0CC4-8B26-E88CE11D53ED}"/>
              </a:ext>
            </a:extLst>
          </p:cNvPr>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816106" y="523953"/>
            <a:ext cx="921893" cy="921600"/>
          </a:xfrm>
          <a:prstGeom prst="ellipse">
            <a:avLst/>
          </a:prstGeom>
        </p:spPr>
      </p:pic>
      <p:sp>
        <p:nvSpPr>
          <p:cNvPr id="2" name="Title 1">
            <a:extLst>
              <a:ext uri="{FF2B5EF4-FFF2-40B4-BE49-F238E27FC236}">
                <a16:creationId xmlns:a16="http://schemas.microsoft.com/office/drawing/2014/main" id="{5D0A7D1D-F1C0-F1B3-5603-54B8BD77E8E2}"/>
              </a:ext>
            </a:extLst>
          </p:cNvPr>
          <p:cNvSpPr>
            <a:spLocks noGrp="1"/>
          </p:cNvSpPr>
          <p:nvPr>
            <p:ph type="title"/>
          </p:nvPr>
        </p:nvSpPr>
        <p:spPr/>
        <p:txBody>
          <a:bodyPr/>
          <a:lstStyle/>
          <a:p>
            <a:r>
              <a:rPr lang="en-US"/>
              <a:t>A dataflow helps Jie to makes sense of his data</a:t>
            </a:r>
            <a:endParaRPr lang="en-GB"/>
          </a:p>
        </p:txBody>
      </p:sp>
      <p:sp>
        <p:nvSpPr>
          <p:cNvPr id="4" name="Slide Number Placeholder 3">
            <a:extLst>
              <a:ext uri="{FF2B5EF4-FFF2-40B4-BE49-F238E27FC236}">
                <a16:creationId xmlns:a16="http://schemas.microsoft.com/office/drawing/2014/main" id="{AB1608A4-3AF9-28BB-464C-221D4F155151}"/>
              </a:ext>
            </a:extLst>
          </p:cNvPr>
          <p:cNvSpPr>
            <a:spLocks noGrp="1"/>
          </p:cNvSpPr>
          <p:nvPr>
            <p:ph type="sldNum" sz="quarter" idx="12"/>
          </p:nvPr>
        </p:nvSpPr>
        <p:spPr>
          <a:prstGeom prst="rect">
            <a:avLst/>
          </a:prstGeom>
        </p:spPr>
        <p:txBody>
          <a:bodyPr/>
          <a:lstStyle/>
          <a:p>
            <a:fld id="{CC571AF6-6671-4538-974D-3AEC00AC0B82}" type="slidenum">
              <a:rPr lang="en-GB" smtClean="0"/>
              <a:t>27</a:t>
            </a:fld>
            <a:endParaRPr lang="en-GB"/>
          </a:p>
        </p:txBody>
      </p:sp>
      <p:sp>
        <p:nvSpPr>
          <p:cNvPr id="16" name="Rectangle 15">
            <a:extLst>
              <a:ext uri="{FF2B5EF4-FFF2-40B4-BE49-F238E27FC236}">
                <a16:creationId xmlns:a16="http://schemas.microsoft.com/office/drawing/2014/main" id="{3EB6A1ED-B304-C041-EB83-CA1AC8CDB76A}"/>
              </a:ext>
            </a:extLst>
          </p:cNvPr>
          <p:cNvSpPr/>
          <p:nvPr/>
        </p:nvSpPr>
        <p:spPr>
          <a:xfrm>
            <a:off x="8610001" y="2691455"/>
            <a:ext cx="1160276" cy="1921734"/>
          </a:xfrm>
          <a:custGeom>
            <a:avLst/>
            <a:gdLst>
              <a:gd name="connsiteX0" fmla="*/ 0 w 1160276"/>
              <a:gd name="connsiteY0" fmla="*/ 0 h 1921734"/>
              <a:gd name="connsiteX1" fmla="*/ 568535 w 1160276"/>
              <a:gd name="connsiteY1" fmla="*/ 0 h 1921734"/>
              <a:gd name="connsiteX2" fmla="*/ 1160276 w 1160276"/>
              <a:gd name="connsiteY2" fmla="*/ 0 h 1921734"/>
              <a:gd name="connsiteX3" fmla="*/ 1160276 w 1160276"/>
              <a:gd name="connsiteY3" fmla="*/ 659795 h 1921734"/>
              <a:gd name="connsiteX4" fmla="*/ 1160276 w 1160276"/>
              <a:gd name="connsiteY4" fmla="*/ 1261939 h 1921734"/>
              <a:gd name="connsiteX5" fmla="*/ 1160276 w 1160276"/>
              <a:gd name="connsiteY5" fmla="*/ 1921734 h 1921734"/>
              <a:gd name="connsiteX6" fmla="*/ 580138 w 1160276"/>
              <a:gd name="connsiteY6" fmla="*/ 1921734 h 1921734"/>
              <a:gd name="connsiteX7" fmla="*/ 0 w 1160276"/>
              <a:gd name="connsiteY7" fmla="*/ 1921734 h 1921734"/>
              <a:gd name="connsiteX8" fmla="*/ 0 w 1160276"/>
              <a:gd name="connsiteY8" fmla="*/ 1338808 h 1921734"/>
              <a:gd name="connsiteX9" fmla="*/ 0 w 1160276"/>
              <a:gd name="connsiteY9" fmla="*/ 698230 h 1921734"/>
              <a:gd name="connsiteX10" fmla="*/ 0 w 1160276"/>
              <a:gd name="connsiteY10" fmla="*/ 0 h 1921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0276" h="1921734" fill="none" extrusionOk="0">
                <a:moveTo>
                  <a:pt x="0" y="0"/>
                </a:moveTo>
                <a:cubicBezTo>
                  <a:pt x="209454" y="-11681"/>
                  <a:pt x="298030" y="4504"/>
                  <a:pt x="568535" y="0"/>
                </a:cubicBezTo>
                <a:cubicBezTo>
                  <a:pt x="839041" y="-4504"/>
                  <a:pt x="873165" y="2066"/>
                  <a:pt x="1160276" y="0"/>
                </a:cubicBezTo>
                <a:cubicBezTo>
                  <a:pt x="1159573" y="256411"/>
                  <a:pt x="1162343" y="479005"/>
                  <a:pt x="1160276" y="659795"/>
                </a:cubicBezTo>
                <a:cubicBezTo>
                  <a:pt x="1158209" y="840585"/>
                  <a:pt x="1135882" y="1027706"/>
                  <a:pt x="1160276" y="1261939"/>
                </a:cubicBezTo>
                <a:cubicBezTo>
                  <a:pt x="1184670" y="1496172"/>
                  <a:pt x="1142222" y="1751855"/>
                  <a:pt x="1160276" y="1921734"/>
                </a:cubicBezTo>
                <a:cubicBezTo>
                  <a:pt x="923554" y="1915601"/>
                  <a:pt x="772341" y="1912165"/>
                  <a:pt x="580138" y="1921734"/>
                </a:cubicBezTo>
                <a:cubicBezTo>
                  <a:pt x="387935" y="1931303"/>
                  <a:pt x="166999" y="1928199"/>
                  <a:pt x="0" y="1921734"/>
                </a:cubicBezTo>
                <a:cubicBezTo>
                  <a:pt x="-26998" y="1633381"/>
                  <a:pt x="25504" y="1464503"/>
                  <a:pt x="0" y="1338808"/>
                </a:cubicBezTo>
                <a:cubicBezTo>
                  <a:pt x="-25504" y="1213113"/>
                  <a:pt x="26621" y="839756"/>
                  <a:pt x="0" y="698230"/>
                </a:cubicBezTo>
                <a:cubicBezTo>
                  <a:pt x="-26621" y="556704"/>
                  <a:pt x="-18686" y="155028"/>
                  <a:pt x="0" y="0"/>
                </a:cubicBezTo>
                <a:close/>
              </a:path>
              <a:path w="1160276" h="1921734" stroke="0" extrusionOk="0">
                <a:moveTo>
                  <a:pt x="0" y="0"/>
                </a:moveTo>
                <a:cubicBezTo>
                  <a:pt x="239593" y="-12180"/>
                  <a:pt x="361342" y="-18720"/>
                  <a:pt x="580138" y="0"/>
                </a:cubicBezTo>
                <a:cubicBezTo>
                  <a:pt x="798934" y="18720"/>
                  <a:pt x="885644" y="-2980"/>
                  <a:pt x="1160276" y="0"/>
                </a:cubicBezTo>
                <a:cubicBezTo>
                  <a:pt x="1133567" y="260141"/>
                  <a:pt x="1182791" y="350229"/>
                  <a:pt x="1160276" y="582926"/>
                </a:cubicBezTo>
                <a:cubicBezTo>
                  <a:pt x="1137761" y="815623"/>
                  <a:pt x="1132161" y="1021243"/>
                  <a:pt x="1160276" y="1261939"/>
                </a:cubicBezTo>
                <a:cubicBezTo>
                  <a:pt x="1188391" y="1502635"/>
                  <a:pt x="1177197" y="1672551"/>
                  <a:pt x="1160276" y="1921734"/>
                </a:cubicBezTo>
                <a:cubicBezTo>
                  <a:pt x="921346" y="1950932"/>
                  <a:pt x="763199" y="1896162"/>
                  <a:pt x="556932" y="1921734"/>
                </a:cubicBezTo>
                <a:cubicBezTo>
                  <a:pt x="350665" y="1947306"/>
                  <a:pt x="153719" y="1905999"/>
                  <a:pt x="0" y="1921734"/>
                </a:cubicBezTo>
                <a:cubicBezTo>
                  <a:pt x="-23245" y="1675067"/>
                  <a:pt x="17921" y="1515390"/>
                  <a:pt x="0" y="1319591"/>
                </a:cubicBezTo>
                <a:cubicBezTo>
                  <a:pt x="-17921" y="1123792"/>
                  <a:pt x="-26279" y="926979"/>
                  <a:pt x="0" y="717447"/>
                </a:cubicBezTo>
                <a:cubicBezTo>
                  <a:pt x="26279" y="507915"/>
                  <a:pt x="22981" y="324951"/>
                  <a:pt x="0" y="0"/>
                </a:cubicBezTo>
                <a:close/>
              </a:path>
            </a:pathLst>
          </a:custGeom>
          <a:solidFill>
            <a:schemeClr val="accent4">
              <a:alpha val="50000"/>
            </a:schemeClr>
          </a:solidFill>
          <a:ln w="19050">
            <a:solidFill>
              <a:srgbClr val="005E77"/>
            </a:solidFill>
            <a:extLst>
              <a:ext uri="{C807C97D-BFC1-408E-A445-0C87EB9F89A2}">
                <ask:lineSketchStyleProps xmlns:ask="http://schemas.microsoft.com/office/drawing/2018/sketchyshapes" sd="154602606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65" name="Rectangle 64">
            <a:extLst>
              <a:ext uri="{FF2B5EF4-FFF2-40B4-BE49-F238E27FC236}">
                <a16:creationId xmlns:a16="http://schemas.microsoft.com/office/drawing/2014/main" id="{65B55FE8-845E-0261-C2AA-B554B3050622}"/>
              </a:ext>
            </a:extLst>
          </p:cNvPr>
          <p:cNvSpPr/>
          <p:nvPr/>
        </p:nvSpPr>
        <p:spPr>
          <a:xfrm>
            <a:off x="10301046" y="2699087"/>
            <a:ext cx="1689448" cy="1914101"/>
          </a:xfrm>
          <a:custGeom>
            <a:avLst/>
            <a:gdLst>
              <a:gd name="connsiteX0" fmla="*/ 0 w 1689448"/>
              <a:gd name="connsiteY0" fmla="*/ 0 h 1914101"/>
              <a:gd name="connsiteX1" fmla="*/ 596938 w 1689448"/>
              <a:gd name="connsiteY1" fmla="*/ 0 h 1914101"/>
              <a:gd name="connsiteX2" fmla="*/ 1193877 w 1689448"/>
              <a:gd name="connsiteY2" fmla="*/ 0 h 1914101"/>
              <a:gd name="connsiteX3" fmla="*/ 1689448 w 1689448"/>
              <a:gd name="connsiteY3" fmla="*/ 0 h 1914101"/>
              <a:gd name="connsiteX4" fmla="*/ 1689448 w 1689448"/>
              <a:gd name="connsiteY4" fmla="*/ 580611 h 1914101"/>
              <a:gd name="connsiteX5" fmla="*/ 1689448 w 1689448"/>
              <a:gd name="connsiteY5" fmla="*/ 1218644 h 1914101"/>
              <a:gd name="connsiteX6" fmla="*/ 1689448 w 1689448"/>
              <a:gd name="connsiteY6" fmla="*/ 1914101 h 1914101"/>
              <a:gd name="connsiteX7" fmla="*/ 1176982 w 1689448"/>
              <a:gd name="connsiteY7" fmla="*/ 1914101 h 1914101"/>
              <a:gd name="connsiteX8" fmla="*/ 664516 w 1689448"/>
              <a:gd name="connsiteY8" fmla="*/ 1914101 h 1914101"/>
              <a:gd name="connsiteX9" fmla="*/ 0 w 1689448"/>
              <a:gd name="connsiteY9" fmla="*/ 1914101 h 1914101"/>
              <a:gd name="connsiteX10" fmla="*/ 0 w 1689448"/>
              <a:gd name="connsiteY10" fmla="*/ 1333490 h 1914101"/>
              <a:gd name="connsiteX11" fmla="*/ 0 w 1689448"/>
              <a:gd name="connsiteY11" fmla="*/ 733739 h 1914101"/>
              <a:gd name="connsiteX12" fmla="*/ 0 w 1689448"/>
              <a:gd name="connsiteY12" fmla="*/ 0 h 191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9448" h="1914101" fill="none" extrusionOk="0">
                <a:moveTo>
                  <a:pt x="0" y="0"/>
                </a:moveTo>
                <a:cubicBezTo>
                  <a:pt x="282978" y="-26075"/>
                  <a:pt x="420737" y="-9574"/>
                  <a:pt x="596938" y="0"/>
                </a:cubicBezTo>
                <a:cubicBezTo>
                  <a:pt x="773139" y="9574"/>
                  <a:pt x="965606" y="7737"/>
                  <a:pt x="1193877" y="0"/>
                </a:cubicBezTo>
                <a:cubicBezTo>
                  <a:pt x="1422148" y="-7737"/>
                  <a:pt x="1544480" y="15874"/>
                  <a:pt x="1689448" y="0"/>
                </a:cubicBezTo>
                <a:cubicBezTo>
                  <a:pt x="1668808" y="172363"/>
                  <a:pt x="1709828" y="305226"/>
                  <a:pt x="1689448" y="580611"/>
                </a:cubicBezTo>
                <a:cubicBezTo>
                  <a:pt x="1669068" y="855996"/>
                  <a:pt x="1710616" y="1050164"/>
                  <a:pt x="1689448" y="1218644"/>
                </a:cubicBezTo>
                <a:cubicBezTo>
                  <a:pt x="1668280" y="1387124"/>
                  <a:pt x="1677655" y="1575053"/>
                  <a:pt x="1689448" y="1914101"/>
                </a:cubicBezTo>
                <a:cubicBezTo>
                  <a:pt x="1553500" y="1937375"/>
                  <a:pt x="1394421" y="1926425"/>
                  <a:pt x="1176982" y="1914101"/>
                </a:cubicBezTo>
                <a:cubicBezTo>
                  <a:pt x="959543" y="1901777"/>
                  <a:pt x="866113" y="1934658"/>
                  <a:pt x="664516" y="1914101"/>
                </a:cubicBezTo>
                <a:cubicBezTo>
                  <a:pt x="462919" y="1893544"/>
                  <a:pt x="188297" y="1941367"/>
                  <a:pt x="0" y="1914101"/>
                </a:cubicBezTo>
                <a:cubicBezTo>
                  <a:pt x="19399" y="1673739"/>
                  <a:pt x="-23817" y="1507505"/>
                  <a:pt x="0" y="1333490"/>
                </a:cubicBezTo>
                <a:cubicBezTo>
                  <a:pt x="23817" y="1159475"/>
                  <a:pt x="23313" y="984937"/>
                  <a:pt x="0" y="733739"/>
                </a:cubicBezTo>
                <a:cubicBezTo>
                  <a:pt x="-23313" y="482541"/>
                  <a:pt x="-7244" y="294241"/>
                  <a:pt x="0" y="0"/>
                </a:cubicBezTo>
                <a:close/>
              </a:path>
              <a:path w="1689448" h="1914101" stroke="0" extrusionOk="0">
                <a:moveTo>
                  <a:pt x="0" y="0"/>
                </a:moveTo>
                <a:cubicBezTo>
                  <a:pt x="288413" y="-24815"/>
                  <a:pt x="359102" y="-5622"/>
                  <a:pt x="580044" y="0"/>
                </a:cubicBezTo>
                <a:cubicBezTo>
                  <a:pt x="800986" y="5622"/>
                  <a:pt x="909953" y="-27907"/>
                  <a:pt x="1160088" y="0"/>
                </a:cubicBezTo>
                <a:cubicBezTo>
                  <a:pt x="1410223" y="27907"/>
                  <a:pt x="1531419" y="26467"/>
                  <a:pt x="1689448" y="0"/>
                </a:cubicBezTo>
                <a:cubicBezTo>
                  <a:pt x="1678339" y="309905"/>
                  <a:pt x="1719615" y="421529"/>
                  <a:pt x="1689448" y="676316"/>
                </a:cubicBezTo>
                <a:cubicBezTo>
                  <a:pt x="1659281" y="931103"/>
                  <a:pt x="1659018" y="1181664"/>
                  <a:pt x="1689448" y="1333490"/>
                </a:cubicBezTo>
                <a:cubicBezTo>
                  <a:pt x="1719878" y="1485316"/>
                  <a:pt x="1700465" y="1652417"/>
                  <a:pt x="1689448" y="1914101"/>
                </a:cubicBezTo>
                <a:cubicBezTo>
                  <a:pt x="1544573" y="1908383"/>
                  <a:pt x="1363449" y="1903746"/>
                  <a:pt x="1176982" y="1914101"/>
                </a:cubicBezTo>
                <a:cubicBezTo>
                  <a:pt x="990515" y="1924456"/>
                  <a:pt x="789137" y="1904645"/>
                  <a:pt x="596938" y="1914101"/>
                </a:cubicBezTo>
                <a:cubicBezTo>
                  <a:pt x="404739" y="1923557"/>
                  <a:pt x="123018" y="1893085"/>
                  <a:pt x="0" y="1914101"/>
                </a:cubicBezTo>
                <a:cubicBezTo>
                  <a:pt x="-7172" y="1681010"/>
                  <a:pt x="-6193" y="1444641"/>
                  <a:pt x="0" y="1256926"/>
                </a:cubicBezTo>
                <a:cubicBezTo>
                  <a:pt x="6193" y="1069212"/>
                  <a:pt x="-7372" y="775105"/>
                  <a:pt x="0" y="638034"/>
                </a:cubicBezTo>
                <a:cubicBezTo>
                  <a:pt x="7372" y="500963"/>
                  <a:pt x="4649" y="134059"/>
                  <a:pt x="0" y="0"/>
                </a:cubicBezTo>
                <a:close/>
              </a:path>
            </a:pathLst>
          </a:custGeom>
          <a:solidFill>
            <a:srgbClr val="52BDEC">
              <a:alpha val="50000"/>
            </a:srgbClr>
          </a:solidFill>
          <a:ln w="19050">
            <a:solidFill>
              <a:srgbClr val="005E77"/>
            </a:solidFill>
            <a:extLst>
              <a:ext uri="{C807C97D-BFC1-408E-A445-0C87EB9F89A2}">
                <ask:lineSketchStyleProps xmlns:ask="http://schemas.microsoft.com/office/drawing/2018/sketchyshapes" sd="175670711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66" name="Rectangle 65">
            <a:extLst>
              <a:ext uri="{FF2B5EF4-FFF2-40B4-BE49-F238E27FC236}">
                <a16:creationId xmlns:a16="http://schemas.microsoft.com/office/drawing/2014/main" id="{FDC45263-B319-4AA8-9F9D-55A4D76E99F8}"/>
              </a:ext>
            </a:extLst>
          </p:cNvPr>
          <p:cNvSpPr/>
          <p:nvPr/>
        </p:nvSpPr>
        <p:spPr>
          <a:xfrm>
            <a:off x="218471" y="2669364"/>
            <a:ext cx="2165955" cy="1943824"/>
          </a:xfrm>
          <a:custGeom>
            <a:avLst/>
            <a:gdLst>
              <a:gd name="connsiteX0" fmla="*/ 0 w 2165955"/>
              <a:gd name="connsiteY0" fmla="*/ 0 h 1943824"/>
              <a:gd name="connsiteX1" fmla="*/ 519829 w 2165955"/>
              <a:gd name="connsiteY1" fmla="*/ 0 h 1943824"/>
              <a:gd name="connsiteX2" fmla="*/ 1017999 w 2165955"/>
              <a:gd name="connsiteY2" fmla="*/ 0 h 1943824"/>
              <a:gd name="connsiteX3" fmla="*/ 1602807 w 2165955"/>
              <a:gd name="connsiteY3" fmla="*/ 0 h 1943824"/>
              <a:gd name="connsiteX4" fmla="*/ 2165955 w 2165955"/>
              <a:gd name="connsiteY4" fmla="*/ 0 h 1943824"/>
              <a:gd name="connsiteX5" fmla="*/ 2165955 w 2165955"/>
              <a:gd name="connsiteY5" fmla="*/ 609065 h 1943824"/>
              <a:gd name="connsiteX6" fmla="*/ 2165955 w 2165955"/>
              <a:gd name="connsiteY6" fmla="*/ 1276444 h 1943824"/>
              <a:gd name="connsiteX7" fmla="*/ 2165955 w 2165955"/>
              <a:gd name="connsiteY7" fmla="*/ 1943824 h 1943824"/>
              <a:gd name="connsiteX8" fmla="*/ 1624466 w 2165955"/>
              <a:gd name="connsiteY8" fmla="*/ 1943824 h 1943824"/>
              <a:gd name="connsiteX9" fmla="*/ 1104637 w 2165955"/>
              <a:gd name="connsiteY9" fmla="*/ 1943824 h 1943824"/>
              <a:gd name="connsiteX10" fmla="*/ 519829 w 2165955"/>
              <a:gd name="connsiteY10" fmla="*/ 1943824 h 1943824"/>
              <a:gd name="connsiteX11" fmla="*/ 0 w 2165955"/>
              <a:gd name="connsiteY11" fmla="*/ 1943824 h 1943824"/>
              <a:gd name="connsiteX12" fmla="*/ 0 w 2165955"/>
              <a:gd name="connsiteY12" fmla="*/ 1276444 h 1943824"/>
              <a:gd name="connsiteX13" fmla="*/ 0 w 2165955"/>
              <a:gd name="connsiteY13" fmla="*/ 609065 h 1943824"/>
              <a:gd name="connsiteX14" fmla="*/ 0 w 2165955"/>
              <a:gd name="connsiteY14" fmla="*/ 0 h 194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5955" h="1943824" fill="none" extrusionOk="0">
                <a:moveTo>
                  <a:pt x="0" y="0"/>
                </a:moveTo>
                <a:cubicBezTo>
                  <a:pt x="107944" y="-6973"/>
                  <a:pt x="326941" y="4906"/>
                  <a:pt x="519829" y="0"/>
                </a:cubicBezTo>
                <a:cubicBezTo>
                  <a:pt x="712717" y="-4906"/>
                  <a:pt x="906540" y="6586"/>
                  <a:pt x="1017999" y="0"/>
                </a:cubicBezTo>
                <a:cubicBezTo>
                  <a:pt x="1129458" y="-6586"/>
                  <a:pt x="1398567" y="6856"/>
                  <a:pt x="1602807" y="0"/>
                </a:cubicBezTo>
                <a:cubicBezTo>
                  <a:pt x="1807047" y="-6856"/>
                  <a:pt x="1972689" y="23837"/>
                  <a:pt x="2165955" y="0"/>
                </a:cubicBezTo>
                <a:cubicBezTo>
                  <a:pt x="2167752" y="130570"/>
                  <a:pt x="2186206" y="347757"/>
                  <a:pt x="2165955" y="609065"/>
                </a:cubicBezTo>
                <a:cubicBezTo>
                  <a:pt x="2145704" y="870373"/>
                  <a:pt x="2177998" y="979845"/>
                  <a:pt x="2165955" y="1276444"/>
                </a:cubicBezTo>
                <a:cubicBezTo>
                  <a:pt x="2153912" y="1573043"/>
                  <a:pt x="2174310" y="1613461"/>
                  <a:pt x="2165955" y="1943824"/>
                </a:cubicBezTo>
                <a:cubicBezTo>
                  <a:pt x="2045151" y="1939123"/>
                  <a:pt x="1769931" y="1958855"/>
                  <a:pt x="1624466" y="1943824"/>
                </a:cubicBezTo>
                <a:cubicBezTo>
                  <a:pt x="1479001" y="1928793"/>
                  <a:pt x="1280749" y="1926879"/>
                  <a:pt x="1104637" y="1943824"/>
                </a:cubicBezTo>
                <a:cubicBezTo>
                  <a:pt x="928525" y="1960769"/>
                  <a:pt x="654318" y="1971851"/>
                  <a:pt x="519829" y="1943824"/>
                </a:cubicBezTo>
                <a:cubicBezTo>
                  <a:pt x="385340" y="1915797"/>
                  <a:pt x="229586" y="1925581"/>
                  <a:pt x="0" y="1943824"/>
                </a:cubicBezTo>
                <a:cubicBezTo>
                  <a:pt x="6420" y="1635888"/>
                  <a:pt x="20041" y="1570497"/>
                  <a:pt x="0" y="1276444"/>
                </a:cubicBezTo>
                <a:cubicBezTo>
                  <a:pt x="-20041" y="982391"/>
                  <a:pt x="4679" y="791274"/>
                  <a:pt x="0" y="609065"/>
                </a:cubicBezTo>
                <a:cubicBezTo>
                  <a:pt x="-4679" y="426856"/>
                  <a:pt x="-12486" y="256385"/>
                  <a:pt x="0" y="0"/>
                </a:cubicBezTo>
                <a:close/>
              </a:path>
              <a:path w="2165955" h="1943824" stroke="0" extrusionOk="0">
                <a:moveTo>
                  <a:pt x="0" y="0"/>
                </a:moveTo>
                <a:cubicBezTo>
                  <a:pt x="223233" y="-15672"/>
                  <a:pt x="419572" y="25024"/>
                  <a:pt x="563148" y="0"/>
                </a:cubicBezTo>
                <a:cubicBezTo>
                  <a:pt x="706724" y="-25024"/>
                  <a:pt x="961429" y="24235"/>
                  <a:pt x="1082978" y="0"/>
                </a:cubicBezTo>
                <a:cubicBezTo>
                  <a:pt x="1204527" y="-24235"/>
                  <a:pt x="1460153" y="10279"/>
                  <a:pt x="1559488" y="0"/>
                </a:cubicBezTo>
                <a:cubicBezTo>
                  <a:pt x="1658823" y="-10279"/>
                  <a:pt x="1977013" y="18048"/>
                  <a:pt x="2165955" y="0"/>
                </a:cubicBezTo>
                <a:cubicBezTo>
                  <a:pt x="2146979" y="335163"/>
                  <a:pt x="2195235" y="433647"/>
                  <a:pt x="2165955" y="686818"/>
                </a:cubicBezTo>
                <a:cubicBezTo>
                  <a:pt x="2136675" y="939989"/>
                  <a:pt x="2192325" y="1138592"/>
                  <a:pt x="2165955" y="1373636"/>
                </a:cubicBezTo>
                <a:cubicBezTo>
                  <a:pt x="2139585" y="1608680"/>
                  <a:pt x="2182479" y="1782424"/>
                  <a:pt x="2165955" y="1943824"/>
                </a:cubicBezTo>
                <a:cubicBezTo>
                  <a:pt x="1949614" y="1960252"/>
                  <a:pt x="1723682" y="1954555"/>
                  <a:pt x="1581147" y="1943824"/>
                </a:cubicBezTo>
                <a:cubicBezTo>
                  <a:pt x="1438612" y="1933093"/>
                  <a:pt x="1314636" y="1966143"/>
                  <a:pt x="1082978" y="1943824"/>
                </a:cubicBezTo>
                <a:cubicBezTo>
                  <a:pt x="851320" y="1921505"/>
                  <a:pt x="673867" y="1920146"/>
                  <a:pt x="563148" y="1943824"/>
                </a:cubicBezTo>
                <a:cubicBezTo>
                  <a:pt x="452429" y="1967503"/>
                  <a:pt x="136935" y="1930572"/>
                  <a:pt x="0" y="1943824"/>
                </a:cubicBezTo>
                <a:cubicBezTo>
                  <a:pt x="26430" y="1675745"/>
                  <a:pt x="-7880" y="1629737"/>
                  <a:pt x="0" y="1334759"/>
                </a:cubicBezTo>
                <a:cubicBezTo>
                  <a:pt x="7880" y="1039781"/>
                  <a:pt x="9367" y="875994"/>
                  <a:pt x="0" y="706256"/>
                </a:cubicBezTo>
                <a:cubicBezTo>
                  <a:pt x="-9367" y="536518"/>
                  <a:pt x="5242" y="292251"/>
                  <a:pt x="0" y="0"/>
                </a:cubicBezTo>
                <a:close/>
              </a:path>
            </a:pathLst>
          </a:custGeom>
          <a:solidFill>
            <a:srgbClr val="FFDF7F"/>
          </a:solidFill>
          <a:ln w="19050">
            <a:solidFill>
              <a:srgbClr val="005E77"/>
            </a:solidFill>
            <a:extLst>
              <a:ext uri="{C807C97D-BFC1-408E-A445-0C87EB9F89A2}">
                <ask:lineSketchStyleProps xmlns:ask="http://schemas.microsoft.com/office/drawing/2018/sketchyshapes" sd="3823281175">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67" name="Tekstvak 37">
            <a:extLst>
              <a:ext uri="{FF2B5EF4-FFF2-40B4-BE49-F238E27FC236}">
                <a16:creationId xmlns:a16="http://schemas.microsoft.com/office/drawing/2014/main" id="{806AC172-C9D6-3B2C-5F3A-FAB2FE7F6185}"/>
              </a:ext>
            </a:extLst>
          </p:cNvPr>
          <p:cNvSpPr txBox="1"/>
          <p:nvPr/>
        </p:nvSpPr>
        <p:spPr>
          <a:xfrm>
            <a:off x="260699" y="2691454"/>
            <a:ext cx="2114494" cy="523220"/>
          </a:xfrm>
          <a:prstGeom prst="rect">
            <a:avLst/>
          </a:prstGeom>
          <a:noFill/>
        </p:spPr>
        <p:txBody>
          <a:bodyPr wrap="square" rtlCol="0">
            <a:spAutoFit/>
          </a:bodyPr>
          <a:lstStyle/>
          <a:p>
            <a:pPr algn="ctr"/>
            <a:r>
              <a:rPr lang="nl-NL" sz="1400" b="1" err="1">
                <a:solidFill>
                  <a:srgbClr val="005E77"/>
                </a:solidFill>
                <a:latin typeface="Arial" panose="020B0604020202020204" pitchFamily="34" charset="0"/>
                <a:cs typeface="Arial" panose="020B0604020202020204" pitchFamily="34" charset="0"/>
              </a:rPr>
              <a:t>Study</a:t>
            </a:r>
            <a:r>
              <a:rPr lang="nl-NL" sz="1400" b="1">
                <a:solidFill>
                  <a:srgbClr val="005E77"/>
                </a:solidFill>
                <a:latin typeface="Arial" panose="020B0604020202020204" pitchFamily="34" charset="0"/>
                <a:cs typeface="Arial" panose="020B0604020202020204" pitchFamily="34" charset="0"/>
              </a:rPr>
              <a:t> subjects</a:t>
            </a:r>
            <a:r>
              <a:rPr lang="nl-NL" sz="1400">
                <a:solidFill>
                  <a:srgbClr val="005E77"/>
                </a:solidFill>
                <a:latin typeface="Arial" panose="020B0604020202020204" pitchFamily="34" charset="0"/>
                <a:cs typeface="Arial" panose="020B0604020202020204" pitchFamily="34" charset="0"/>
              </a:rPr>
              <a:t>:</a:t>
            </a:r>
          </a:p>
          <a:p>
            <a:pPr marL="285750" indent="-285750">
              <a:buFontTx/>
              <a:buChar char="-"/>
            </a:pPr>
            <a:endParaRPr lang="nl-NL" sz="1400">
              <a:solidFill>
                <a:srgbClr val="005E77"/>
              </a:solidFill>
              <a:latin typeface="Arial" panose="020B0604020202020204" pitchFamily="34" charset="0"/>
              <a:cs typeface="Arial" panose="020B0604020202020204" pitchFamily="34" charset="0"/>
            </a:endParaRPr>
          </a:p>
        </p:txBody>
      </p:sp>
      <p:sp>
        <p:nvSpPr>
          <p:cNvPr id="69" name="Tekstvak 37">
            <a:extLst>
              <a:ext uri="{FF2B5EF4-FFF2-40B4-BE49-F238E27FC236}">
                <a16:creationId xmlns:a16="http://schemas.microsoft.com/office/drawing/2014/main" id="{CA92222E-743C-1245-6843-2D192E4A9CBA}"/>
              </a:ext>
            </a:extLst>
          </p:cNvPr>
          <p:cNvSpPr txBox="1"/>
          <p:nvPr/>
        </p:nvSpPr>
        <p:spPr>
          <a:xfrm>
            <a:off x="8482880" y="2634505"/>
            <a:ext cx="1426567" cy="954107"/>
          </a:xfrm>
          <a:prstGeom prst="rect">
            <a:avLst/>
          </a:prstGeom>
          <a:noFill/>
        </p:spPr>
        <p:txBody>
          <a:bodyPr wrap="square" rtlCol="0">
            <a:spAutoFit/>
          </a:bodyPr>
          <a:lstStyle/>
          <a:p>
            <a:pPr algn="ctr"/>
            <a:r>
              <a:rPr lang="en-US" sz="1400" noProof="0">
                <a:solidFill>
                  <a:srgbClr val="005E77"/>
                </a:solidFill>
                <a:latin typeface="Arial" panose="020B0604020202020204" pitchFamily="34" charset="0"/>
                <a:cs typeface="Arial" panose="020B0604020202020204" pitchFamily="34" charset="0"/>
              </a:rPr>
              <a:t>Data </a:t>
            </a:r>
            <a:r>
              <a:rPr lang="en-US" sz="1400" b="1" noProof="0">
                <a:solidFill>
                  <a:srgbClr val="005E77"/>
                </a:solidFill>
                <a:latin typeface="Arial" panose="020B0604020202020204" pitchFamily="34" charset="0"/>
                <a:cs typeface="Arial" panose="020B0604020202020204" pitchFamily="34" charset="0"/>
              </a:rPr>
              <a:t>processing,</a:t>
            </a:r>
            <a:r>
              <a:rPr lang="en-US" sz="1400" noProof="0">
                <a:solidFill>
                  <a:srgbClr val="005E77"/>
                </a:solidFill>
                <a:latin typeface="Arial" panose="020B0604020202020204" pitchFamily="34" charset="0"/>
                <a:cs typeface="Arial" panose="020B0604020202020204" pitchFamily="34" charset="0"/>
              </a:rPr>
              <a:t> </a:t>
            </a:r>
            <a:r>
              <a:rPr lang="en-US" sz="1400" b="1" noProof="0">
                <a:solidFill>
                  <a:srgbClr val="005E77"/>
                </a:solidFill>
                <a:latin typeface="Arial" panose="020B0604020202020204" pitchFamily="34" charset="0"/>
                <a:cs typeface="Arial" panose="020B0604020202020204" pitchFamily="34" charset="0"/>
              </a:rPr>
              <a:t>integration</a:t>
            </a:r>
            <a:br>
              <a:rPr lang="en-US" sz="1400" b="1" noProof="0">
                <a:solidFill>
                  <a:srgbClr val="005E77"/>
                </a:solidFill>
                <a:latin typeface="Arial" panose="020B0604020202020204" pitchFamily="34" charset="0"/>
                <a:cs typeface="Arial" panose="020B0604020202020204" pitchFamily="34" charset="0"/>
              </a:rPr>
            </a:br>
            <a:r>
              <a:rPr lang="en-US" sz="1400" b="1" noProof="0">
                <a:solidFill>
                  <a:srgbClr val="005E77"/>
                </a:solidFill>
                <a:latin typeface="Arial" panose="020B0604020202020204" pitchFamily="34" charset="0"/>
                <a:cs typeface="Arial" panose="020B0604020202020204" pitchFamily="34" charset="0"/>
              </a:rPr>
              <a:t>&amp; analysis</a:t>
            </a:r>
          </a:p>
        </p:txBody>
      </p:sp>
      <p:sp>
        <p:nvSpPr>
          <p:cNvPr id="71" name="Tekstvak 37">
            <a:extLst>
              <a:ext uri="{FF2B5EF4-FFF2-40B4-BE49-F238E27FC236}">
                <a16:creationId xmlns:a16="http://schemas.microsoft.com/office/drawing/2014/main" id="{AE648537-45AC-A9C8-F4A4-373FEFFBC775}"/>
              </a:ext>
            </a:extLst>
          </p:cNvPr>
          <p:cNvSpPr txBox="1"/>
          <p:nvPr/>
        </p:nvSpPr>
        <p:spPr>
          <a:xfrm>
            <a:off x="10301045" y="3000477"/>
            <a:ext cx="1660309" cy="738664"/>
          </a:xfrm>
          <a:prstGeom prst="rect">
            <a:avLst/>
          </a:prstGeom>
          <a:noFill/>
        </p:spPr>
        <p:txBody>
          <a:bodyPr wrap="square" rtlCol="0">
            <a:spAutoFit/>
          </a:bodyPr>
          <a:lstStyle/>
          <a:p>
            <a:pPr algn="ctr"/>
            <a:r>
              <a:rPr lang="en-US" sz="1400">
                <a:solidFill>
                  <a:srgbClr val="005E77"/>
                </a:solidFill>
                <a:latin typeface="Arial" panose="020B0604020202020204" pitchFamily="34" charset="0"/>
                <a:cs typeface="Arial" panose="020B0604020202020204" pitchFamily="34" charset="0"/>
              </a:rPr>
              <a:t>Visualizations</a:t>
            </a:r>
          </a:p>
          <a:p>
            <a:pPr algn="ctr"/>
            <a:r>
              <a:rPr lang="en-US" sz="1400">
                <a:solidFill>
                  <a:srgbClr val="005E77"/>
                </a:solidFill>
                <a:latin typeface="Arial" panose="020B0604020202020204" pitchFamily="34" charset="0"/>
                <a:cs typeface="Arial" panose="020B0604020202020204" pitchFamily="34" charset="0"/>
              </a:rPr>
              <a:t>Reports</a:t>
            </a:r>
          </a:p>
          <a:p>
            <a:pPr algn="ctr"/>
            <a:r>
              <a:rPr lang="en-US" sz="1400">
                <a:solidFill>
                  <a:srgbClr val="005E77"/>
                </a:solidFill>
                <a:latin typeface="Arial" panose="020B0604020202020204" pitchFamily="34" charset="0"/>
                <a:cs typeface="Arial" panose="020B0604020202020204" pitchFamily="34" charset="0"/>
              </a:rPr>
              <a:t>…</a:t>
            </a:r>
          </a:p>
        </p:txBody>
      </p:sp>
      <p:sp>
        <p:nvSpPr>
          <p:cNvPr id="72" name="TextBox 71">
            <a:extLst>
              <a:ext uri="{FF2B5EF4-FFF2-40B4-BE49-F238E27FC236}">
                <a16:creationId xmlns:a16="http://schemas.microsoft.com/office/drawing/2014/main" id="{10F95163-57D2-5263-9AE9-D19FFBABB350}"/>
              </a:ext>
            </a:extLst>
          </p:cNvPr>
          <p:cNvSpPr txBox="1"/>
          <p:nvPr/>
        </p:nvSpPr>
        <p:spPr>
          <a:xfrm>
            <a:off x="10575068" y="5773794"/>
            <a:ext cx="1378800" cy="276999"/>
          </a:xfrm>
          <a:prstGeom prst="rect">
            <a:avLst/>
          </a:prstGeom>
          <a:solidFill>
            <a:srgbClr val="FFDF7F"/>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defRPr sz="1200" b="1">
                <a:solidFill>
                  <a:srgbClr val="005E77"/>
                </a:solidFill>
                <a:cs typeface="Arial" panose="020B0604020202020204" pitchFamily="34" charset="0"/>
              </a:defRPr>
            </a:lvl1pPr>
          </a:lstStyle>
          <a:p>
            <a:pPr algn="ctr"/>
            <a:r>
              <a:rPr lang="en-US" sz="1600" b="0"/>
              <a:t>Processes</a:t>
            </a:r>
            <a:endParaRPr lang="nl-BE" sz="1600" b="0"/>
          </a:p>
        </p:txBody>
      </p:sp>
      <p:sp>
        <p:nvSpPr>
          <p:cNvPr id="73" name="TextBox 72">
            <a:extLst>
              <a:ext uri="{FF2B5EF4-FFF2-40B4-BE49-F238E27FC236}">
                <a16:creationId xmlns:a16="http://schemas.microsoft.com/office/drawing/2014/main" id="{4D82BB5D-C66B-E98A-A943-93E9CA24AC47}"/>
              </a:ext>
            </a:extLst>
          </p:cNvPr>
          <p:cNvSpPr txBox="1"/>
          <p:nvPr/>
        </p:nvSpPr>
        <p:spPr>
          <a:xfrm>
            <a:off x="10575068" y="5400776"/>
            <a:ext cx="1378800" cy="276999"/>
          </a:xfrm>
          <a:prstGeom prst="rect">
            <a:avLst/>
          </a:prstGeom>
          <a:solidFill>
            <a:srgbClr val="A8DEF5"/>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buFont typeface="Arial" panose="020B0604020202020204" pitchFamily="34" charset="0"/>
              <a:buChar char="•"/>
              <a:defRPr sz="1200" b="0">
                <a:solidFill>
                  <a:srgbClr val="005E77"/>
                </a:solidFill>
              </a:defRPr>
            </a:lvl1pPr>
          </a:lstStyle>
          <a:p>
            <a:pPr algn="ctr">
              <a:buNone/>
            </a:pPr>
            <a:r>
              <a:rPr lang="en-US" sz="1600"/>
              <a:t>Data types</a:t>
            </a:r>
            <a:endParaRPr lang="nl-BE" sz="1600"/>
          </a:p>
        </p:txBody>
      </p:sp>
      <p:sp>
        <p:nvSpPr>
          <p:cNvPr id="74" name="Rectangle 73">
            <a:extLst>
              <a:ext uri="{FF2B5EF4-FFF2-40B4-BE49-F238E27FC236}">
                <a16:creationId xmlns:a16="http://schemas.microsoft.com/office/drawing/2014/main" id="{E05C9307-1E17-33B7-DEB3-2DA111A2D79F}"/>
              </a:ext>
            </a:extLst>
          </p:cNvPr>
          <p:cNvSpPr/>
          <p:nvPr/>
        </p:nvSpPr>
        <p:spPr>
          <a:xfrm>
            <a:off x="2730258" y="2447187"/>
            <a:ext cx="1321679" cy="830997"/>
          </a:xfrm>
          <a:custGeom>
            <a:avLst/>
            <a:gdLst>
              <a:gd name="connsiteX0" fmla="*/ 0 w 1321679"/>
              <a:gd name="connsiteY0" fmla="*/ 0 h 830997"/>
              <a:gd name="connsiteX1" fmla="*/ 660840 w 1321679"/>
              <a:gd name="connsiteY1" fmla="*/ 0 h 830997"/>
              <a:gd name="connsiteX2" fmla="*/ 1321679 w 1321679"/>
              <a:gd name="connsiteY2" fmla="*/ 0 h 830997"/>
              <a:gd name="connsiteX3" fmla="*/ 1321679 w 1321679"/>
              <a:gd name="connsiteY3" fmla="*/ 390569 h 830997"/>
              <a:gd name="connsiteX4" fmla="*/ 1321679 w 1321679"/>
              <a:gd name="connsiteY4" fmla="*/ 830997 h 830997"/>
              <a:gd name="connsiteX5" fmla="*/ 674056 w 1321679"/>
              <a:gd name="connsiteY5" fmla="*/ 830997 h 830997"/>
              <a:gd name="connsiteX6" fmla="*/ 0 w 1321679"/>
              <a:gd name="connsiteY6" fmla="*/ 830997 h 830997"/>
              <a:gd name="connsiteX7" fmla="*/ 0 w 1321679"/>
              <a:gd name="connsiteY7" fmla="*/ 440428 h 830997"/>
              <a:gd name="connsiteX8" fmla="*/ 0 w 1321679"/>
              <a:gd name="connsiteY8" fmla="*/ 0 h 83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1679" h="830997" fill="none" extrusionOk="0">
                <a:moveTo>
                  <a:pt x="0" y="0"/>
                </a:moveTo>
                <a:cubicBezTo>
                  <a:pt x="167328" y="-25139"/>
                  <a:pt x="371467" y="20639"/>
                  <a:pt x="660840" y="0"/>
                </a:cubicBezTo>
                <a:cubicBezTo>
                  <a:pt x="950213" y="-20639"/>
                  <a:pt x="1092635" y="24209"/>
                  <a:pt x="1321679" y="0"/>
                </a:cubicBezTo>
                <a:cubicBezTo>
                  <a:pt x="1319767" y="97513"/>
                  <a:pt x="1339711" y="229930"/>
                  <a:pt x="1321679" y="390569"/>
                </a:cubicBezTo>
                <a:cubicBezTo>
                  <a:pt x="1303647" y="551208"/>
                  <a:pt x="1330720" y="710737"/>
                  <a:pt x="1321679" y="830997"/>
                </a:cubicBezTo>
                <a:cubicBezTo>
                  <a:pt x="1127309" y="800790"/>
                  <a:pt x="972164" y="829226"/>
                  <a:pt x="674056" y="830997"/>
                </a:cubicBezTo>
                <a:cubicBezTo>
                  <a:pt x="375948" y="832768"/>
                  <a:pt x="298342" y="845501"/>
                  <a:pt x="0" y="830997"/>
                </a:cubicBezTo>
                <a:cubicBezTo>
                  <a:pt x="-9400" y="654988"/>
                  <a:pt x="-1273" y="605390"/>
                  <a:pt x="0" y="440428"/>
                </a:cubicBezTo>
                <a:cubicBezTo>
                  <a:pt x="1273" y="275466"/>
                  <a:pt x="11754" y="106686"/>
                  <a:pt x="0" y="0"/>
                </a:cubicBezTo>
                <a:close/>
              </a:path>
              <a:path w="1321679" h="830997" stroke="0" extrusionOk="0">
                <a:moveTo>
                  <a:pt x="0" y="0"/>
                </a:moveTo>
                <a:cubicBezTo>
                  <a:pt x="202425" y="8482"/>
                  <a:pt x="491115" y="30218"/>
                  <a:pt x="647623" y="0"/>
                </a:cubicBezTo>
                <a:cubicBezTo>
                  <a:pt x="804131" y="-30218"/>
                  <a:pt x="1004176" y="-30903"/>
                  <a:pt x="1321679" y="0"/>
                </a:cubicBezTo>
                <a:cubicBezTo>
                  <a:pt x="1338744" y="160011"/>
                  <a:pt x="1311168" y="279707"/>
                  <a:pt x="1321679" y="432118"/>
                </a:cubicBezTo>
                <a:cubicBezTo>
                  <a:pt x="1332190" y="584529"/>
                  <a:pt x="1306270" y="671979"/>
                  <a:pt x="1321679" y="830997"/>
                </a:cubicBezTo>
                <a:cubicBezTo>
                  <a:pt x="1156842" y="846493"/>
                  <a:pt x="902795" y="801722"/>
                  <a:pt x="700490" y="830997"/>
                </a:cubicBezTo>
                <a:cubicBezTo>
                  <a:pt x="498185" y="860272"/>
                  <a:pt x="246501" y="824954"/>
                  <a:pt x="0" y="830997"/>
                </a:cubicBezTo>
                <a:cubicBezTo>
                  <a:pt x="13563" y="751661"/>
                  <a:pt x="-6090" y="625515"/>
                  <a:pt x="0" y="440428"/>
                </a:cubicBezTo>
                <a:cubicBezTo>
                  <a:pt x="6090" y="255341"/>
                  <a:pt x="-4127" y="168866"/>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75" name="Tekstvak 37">
            <a:extLst>
              <a:ext uri="{FF2B5EF4-FFF2-40B4-BE49-F238E27FC236}">
                <a16:creationId xmlns:a16="http://schemas.microsoft.com/office/drawing/2014/main" id="{3F447DCA-03CA-5C43-0360-F6F3F2C976E6}"/>
              </a:ext>
            </a:extLst>
          </p:cNvPr>
          <p:cNvSpPr txBox="1"/>
          <p:nvPr/>
        </p:nvSpPr>
        <p:spPr>
          <a:xfrm>
            <a:off x="2963114" y="2573818"/>
            <a:ext cx="1301340" cy="584775"/>
          </a:xfrm>
          <a:prstGeom prst="rect">
            <a:avLst/>
          </a:prstGeom>
          <a:noFill/>
        </p:spPr>
        <p:txBody>
          <a:bodyPr wrap="square" rtlCol="0">
            <a:spAutoFit/>
          </a:bodyPr>
          <a:lstStyle/>
          <a:p>
            <a:pPr algn="ctr"/>
            <a:r>
              <a:rPr lang="nl-BE" sz="1600" b="1">
                <a:solidFill>
                  <a:srgbClr val="005E77"/>
                </a:solidFill>
                <a:latin typeface="Arial" panose="020B0604020202020204" pitchFamily="34" charset="0"/>
                <a:cs typeface="Arial" panose="020B0604020202020204" pitchFamily="34" charset="0"/>
              </a:rPr>
              <a:t>Brain</a:t>
            </a:r>
            <a:r>
              <a:rPr lang="nl-BE" sz="1600">
                <a:solidFill>
                  <a:srgbClr val="005E77"/>
                </a:solidFill>
                <a:latin typeface="Arial" panose="020B0604020202020204" pitchFamily="34" charset="0"/>
                <a:cs typeface="Arial" panose="020B0604020202020204" pitchFamily="34" charset="0"/>
              </a:rPr>
              <a:t> </a:t>
            </a:r>
            <a:r>
              <a:rPr lang="nl-BE" sz="1600" b="1">
                <a:solidFill>
                  <a:srgbClr val="005E77"/>
                </a:solidFill>
                <a:latin typeface="Arial" panose="020B0604020202020204" pitchFamily="34" charset="0"/>
                <a:cs typeface="Arial" panose="020B0604020202020204" pitchFamily="34" charset="0"/>
              </a:rPr>
              <a:t>tissue</a:t>
            </a:r>
            <a:endParaRPr lang="nl-BE" sz="1600">
              <a:solidFill>
                <a:srgbClr val="005E77"/>
              </a:solidFill>
              <a:latin typeface="Arial" panose="020B0604020202020204" pitchFamily="34" charset="0"/>
              <a:cs typeface="Arial" panose="020B0604020202020204" pitchFamily="34" charset="0"/>
            </a:endParaRPr>
          </a:p>
        </p:txBody>
      </p:sp>
      <p:sp>
        <p:nvSpPr>
          <p:cNvPr id="78" name="Rectangle 77">
            <a:extLst>
              <a:ext uri="{FF2B5EF4-FFF2-40B4-BE49-F238E27FC236}">
                <a16:creationId xmlns:a16="http://schemas.microsoft.com/office/drawing/2014/main" id="{478F8974-DFBE-7F7B-6129-66EFA99977EB}"/>
              </a:ext>
            </a:extLst>
          </p:cNvPr>
          <p:cNvSpPr/>
          <p:nvPr/>
        </p:nvSpPr>
        <p:spPr>
          <a:xfrm>
            <a:off x="6593008" y="2190899"/>
            <a:ext cx="1568030" cy="710580"/>
          </a:xfrm>
          <a:custGeom>
            <a:avLst/>
            <a:gdLst>
              <a:gd name="connsiteX0" fmla="*/ 0 w 1568030"/>
              <a:gd name="connsiteY0" fmla="*/ 0 h 710580"/>
              <a:gd name="connsiteX1" fmla="*/ 475636 w 1568030"/>
              <a:gd name="connsiteY1" fmla="*/ 0 h 710580"/>
              <a:gd name="connsiteX2" fmla="*/ 1013993 w 1568030"/>
              <a:gd name="connsiteY2" fmla="*/ 0 h 710580"/>
              <a:gd name="connsiteX3" fmla="*/ 1568030 w 1568030"/>
              <a:gd name="connsiteY3" fmla="*/ 0 h 710580"/>
              <a:gd name="connsiteX4" fmla="*/ 1568030 w 1568030"/>
              <a:gd name="connsiteY4" fmla="*/ 341078 h 710580"/>
              <a:gd name="connsiteX5" fmla="*/ 1568030 w 1568030"/>
              <a:gd name="connsiteY5" fmla="*/ 710580 h 710580"/>
              <a:gd name="connsiteX6" fmla="*/ 1076714 w 1568030"/>
              <a:gd name="connsiteY6" fmla="*/ 710580 h 710580"/>
              <a:gd name="connsiteX7" fmla="*/ 585398 w 1568030"/>
              <a:gd name="connsiteY7" fmla="*/ 710580 h 710580"/>
              <a:gd name="connsiteX8" fmla="*/ 0 w 1568030"/>
              <a:gd name="connsiteY8" fmla="*/ 710580 h 710580"/>
              <a:gd name="connsiteX9" fmla="*/ 0 w 1568030"/>
              <a:gd name="connsiteY9" fmla="*/ 355290 h 710580"/>
              <a:gd name="connsiteX10" fmla="*/ 0 w 1568030"/>
              <a:gd name="connsiteY10" fmla="*/ 0 h 71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68030" h="710580" fill="none" extrusionOk="0">
                <a:moveTo>
                  <a:pt x="0" y="0"/>
                </a:moveTo>
                <a:cubicBezTo>
                  <a:pt x="236228" y="-8445"/>
                  <a:pt x="362531" y="10401"/>
                  <a:pt x="475636" y="0"/>
                </a:cubicBezTo>
                <a:cubicBezTo>
                  <a:pt x="588741" y="-10401"/>
                  <a:pt x="897471" y="-23191"/>
                  <a:pt x="1013993" y="0"/>
                </a:cubicBezTo>
                <a:cubicBezTo>
                  <a:pt x="1130515" y="23191"/>
                  <a:pt x="1333753" y="-10820"/>
                  <a:pt x="1568030" y="0"/>
                </a:cubicBezTo>
                <a:cubicBezTo>
                  <a:pt x="1568057" y="168531"/>
                  <a:pt x="1570825" y="269070"/>
                  <a:pt x="1568030" y="341078"/>
                </a:cubicBezTo>
                <a:cubicBezTo>
                  <a:pt x="1565235" y="413086"/>
                  <a:pt x="1584747" y="627418"/>
                  <a:pt x="1568030" y="710580"/>
                </a:cubicBezTo>
                <a:cubicBezTo>
                  <a:pt x="1433984" y="710031"/>
                  <a:pt x="1267144" y="729568"/>
                  <a:pt x="1076714" y="710580"/>
                </a:cubicBezTo>
                <a:cubicBezTo>
                  <a:pt x="886284" y="691592"/>
                  <a:pt x="760140" y="695136"/>
                  <a:pt x="585398" y="710580"/>
                </a:cubicBezTo>
                <a:cubicBezTo>
                  <a:pt x="410656" y="726024"/>
                  <a:pt x="240824" y="714931"/>
                  <a:pt x="0" y="710580"/>
                </a:cubicBezTo>
                <a:cubicBezTo>
                  <a:pt x="5969" y="536917"/>
                  <a:pt x="6410" y="468920"/>
                  <a:pt x="0" y="355290"/>
                </a:cubicBezTo>
                <a:cubicBezTo>
                  <a:pt x="-6410" y="241660"/>
                  <a:pt x="14581" y="138288"/>
                  <a:pt x="0" y="0"/>
                </a:cubicBezTo>
                <a:close/>
              </a:path>
              <a:path w="1568030" h="710580" stroke="0" extrusionOk="0">
                <a:moveTo>
                  <a:pt x="0" y="0"/>
                </a:moveTo>
                <a:cubicBezTo>
                  <a:pt x="202335" y="-23933"/>
                  <a:pt x="337609" y="-8825"/>
                  <a:pt x="506996" y="0"/>
                </a:cubicBezTo>
                <a:cubicBezTo>
                  <a:pt x="676383" y="8825"/>
                  <a:pt x="844341" y="-11006"/>
                  <a:pt x="1029673" y="0"/>
                </a:cubicBezTo>
                <a:cubicBezTo>
                  <a:pt x="1215005" y="11006"/>
                  <a:pt x="1409518" y="9191"/>
                  <a:pt x="1568030" y="0"/>
                </a:cubicBezTo>
                <a:cubicBezTo>
                  <a:pt x="1568273" y="91576"/>
                  <a:pt x="1576049" y="196730"/>
                  <a:pt x="1568030" y="362396"/>
                </a:cubicBezTo>
                <a:cubicBezTo>
                  <a:pt x="1560011" y="528062"/>
                  <a:pt x="1570994" y="571771"/>
                  <a:pt x="1568030" y="710580"/>
                </a:cubicBezTo>
                <a:cubicBezTo>
                  <a:pt x="1395663" y="703818"/>
                  <a:pt x="1224262" y="708039"/>
                  <a:pt x="1013993" y="710580"/>
                </a:cubicBezTo>
                <a:cubicBezTo>
                  <a:pt x="803724" y="713121"/>
                  <a:pt x="669284" y="731825"/>
                  <a:pt x="538357" y="710580"/>
                </a:cubicBezTo>
                <a:cubicBezTo>
                  <a:pt x="407430" y="689335"/>
                  <a:pt x="243644" y="714220"/>
                  <a:pt x="0" y="710580"/>
                </a:cubicBezTo>
                <a:cubicBezTo>
                  <a:pt x="5227" y="576260"/>
                  <a:pt x="4051" y="490883"/>
                  <a:pt x="0" y="341078"/>
                </a:cubicBezTo>
                <a:cubicBezTo>
                  <a:pt x="-4051" y="191273"/>
                  <a:pt x="6360" y="97582"/>
                  <a:pt x="0" y="0"/>
                </a:cubicBezTo>
                <a:close/>
              </a:path>
            </a:pathLst>
          </a:custGeom>
          <a:solidFill>
            <a:srgbClr val="52BDEC">
              <a:alpha val="50000"/>
            </a:srgbClr>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79" name="Tekstvak 37">
            <a:extLst>
              <a:ext uri="{FF2B5EF4-FFF2-40B4-BE49-F238E27FC236}">
                <a16:creationId xmlns:a16="http://schemas.microsoft.com/office/drawing/2014/main" id="{73AF9A33-07FA-29C6-F432-4D9819EABC1A}"/>
              </a:ext>
            </a:extLst>
          </p:cNvPr>
          <p:cNvSpPr txBox="1"/>
          <p:nvPr/>
        </p:nvSpPr>
        <p:spPr>
          <a:xfrm>
            <a:off x="7126322" y="2305451"/>
            <a:ext cx="1109734" cy="523220"/>
          </a:xfrm>
          <a:prstGeom prst="rect">
            <a:avLst/>
          </a:prstGeom>
          <a:noFill/>
        </p:spPr>
        <p:txBody>
          <a:bodyPr wrap="square" rtlCol="0">
            <a:spAutoFit/>
          </a:bodyPr>
          <a:lstStyle/>
          <a:p>
            <a:pPr algn="ctr"/>
            <a:r>
              <a:rPr lang="nl-BE" sz="1400" b="1">
                <a:solidFill>
                  <a:srgbClr val="005E77"/>
                </a:solidFill>
                <a:latin typeface="Arial" panose="020B0604020202020204" pitchFamily="34" charset="0"/>
                <a:cs typeface="Arial" panose="020B0604020202020204" pitchFamily="34" charset="0"/>
              </a:rPr>
              <a:t>Images </a:t>
            </a:r>
            <a:br>
              <a:rPr lang="nl-BE" sz="1400">
                <a:solidFill>
                  <a:srgbClr val="005E77"/>
                </a:solidFill>
                <a:latin typeface="Arial" panose="020B0604020202020204" pitchFamily="34" charset="0"/>
                <a:cs typeface="Arial" panose="020B0604020202020204" pitchFamily="34" charset="0"/>
              </a:rPr>
            </a:br>
            <a:r>
              <a:rPr lang="nl-BE" sz="1400">
                <a:solidFill>
                  <a:srgbClr val="005E77"/>
                </a:solidFill>
                <a:latin typeface="Arial" panose="020B0604020202020204" pitchFamily="34" charset="0"/>
                <a:cs typeface="Arial" panose="020B0604020202020204" pitchFamily="34" charset="0"/>
              </a:rPr>
              <a:t>(TIFF-files) </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sp>
        <p:nvSpPr>
          <p:cNvPr id="80" name="Rectangle 79">
            <a:extLst>
              <a:ext uri="{FF2B5EF4-FFF2-40B4-BE49-F238E27FC236}">
                <a16:creationId xmlns:a16="http://schemas.microsoft.com/office/drawing/2014/main" id="{56065E45-1728-9489-39C2-F02EA3F7E4B3}"/>
              </a:ext>
            </a:extLst>
          </p:cNvPr>
          <p:cNvSpPr/>
          <p:nvPr/>
        </p:nvSpPr>
        <p:spPr>
          <a:xfrm>
            <a:off x="6591563" y="3016031"/>
            <a:ext cx="1597048" cy="777733"/>
          </a:xfrm>
          <a:custGeom>
            <a:avLst/>
            <a:gdLst>
              <a:gd name="connsiteX0" fmla="*/ 0 w 1597048"/>
              <a:gd name="connsiteY0" fmla="*/ 0 h 777733"/>
              <a:gd name="connsiteX1" fmla="*/ 484438 w 1597048"/>
              <a:gd name="connsiteY1" fmla="*/ 0 h 777733"/>
              <a:gd name="connsiteX2" fmla="*/ 1032758 w 1597048"/>
              <a:gd name="connsiteY2" fmla="*/ 0 h 777733"/>
              <a:gd name="connsiteX3" fmla="*/ 1597048 w 1597048"/>
              <a:gd name="connsiteY3" fmla="*/ 0 h 777733"/>
              <a:gd name="connsiteX4" fmla="*/ 1597048 w 1597048"/>
              <a:gd name="connsiteY4" fmla="*/ 373312 h 777733"/>
              <a:gd name="connsiteX5" fmla="*/ 1597048 w 1597048"/>
              <a:gd name="connsiteY5" fmla="*/ 777733 h 777733"/>
              <a:gd name="connsiteX6" fmla="*/ 1096640 w 1597048"/>
              <a:gd name="connsiteY6" fmla="*/ 777733 h 777733"/>
              <a:gd name="connsiteX7" fmla="*/ 596231 w 1597048"/>
              <a:gd name="connsiteY7" fmla="*/ 777733 h 777733"/>
              <a:gd name="connsiteX8" fmla="*/ 0 w 1597048"/>
              <a:gd name="connsiteY8" fmla="*/ 777733 h 777733"/>
              <a:gd name="connsiteX9" fmla="*/ 0 w 1597048"/>
              <a:gd name="connsiteY9" fmla="*/ 388867 h 777733"/>
              <a:gd name="connsiteX10" fmla="*/ 0 w 1597048"/>
              <a:gd name="connsiteY10" fmla="*/ 0 h 777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7048" h="777733" fill="none" extrusionOk="0">
                <a:moveTo>
                  <a:pt x="0" y="0"/>
                </a:moveTo>
                <a:cubicBezTo>
                  <a:pt x="104100" y="14940"/>
                  <a:pt x="353284" y="-20063"/>
                  <a:pt x="484438" y="0"/>
                </a:cubicBezTo>
                <a:cubicBezTo>
                  <a:pt x="615592" y="20063"/>
                  <a:pt x="805007" y="-3793"/>
                  <a:pt x="1032758" y="0"/>
                </a:cubicBezTo>
                <a:cubicBezTo>
                  <a:pt x="1260509" y="3793"/>
                  <a:pt x="1455449" y="3571"/>
                  <a:pt x="1597048" y="0"/>
                </a:cubicBezTo>
                <a:cubicBezTo>
                  <a:pt x="1609730" y="97921"/>
                  <a:pt x="1583464" y="207593"/>
                  <a:pt x="1597048" y="373312"/>
                </a:cubicBezTo>
                <a:cubicBezTo>
                  <a:pt x="1610632" y="539031"/>
                  <a:pt x="1584398" y="684143"/>
                  <a:pt x="1597048" y="777733"/>
                </a:cubicBezTo>
                <a:cubicBezTo>
                  <a:pt x="1426178" y="760147"/>
                  <a:pt x="1282465" y="796699"/>
                  <a:pt x="1096640" y="777733"/>
                </a:cubicBezTo>
                <a:cubicBezTo>
                  <a:pt x="910815" y="758767"/>
                  <a:pt x="804164" y="777361"/>
                  <a:pt x="596231" y="777733"/>
                </a:cubicBezTo>
                <a:cubicBezTo>
                  <a:pt x="388298" y="778105"/>
                  <a:pt x="265615" y="780087"/>
                  <a:pt x="0" y="777733"/>
                </a:cubicBezTo>
                <a:cubicBezTo>
                  <a:pt x="6402" y="587264"/>
                  <a:pt x="-17587" y="556506"/>
                  <a:pt x="0" y="388867"/>
                </a:cubicBezTo>
                <a:cubicBezTo>
                  <a:pt x="17587" y="221228"/>
                  <a:pt x="8936" y="134487"/>
                  <a:pt x="0" y="0"/>
                </a:cubicBezTo>
                <a:close/>
              </a:path>
              <a:path w="1597048" h="777733" stroke="0" extrusionOk="0">
                <a:moveTo>
                  <a:pt x="0" y="0"/>
                </a:moveTo>
                <a:cubicBezTo>
                  <a:pt x="153327" y="-22642"/>
                  <a:pt x="312524" y="-11671"/>
                  <a:pt x="516379" y="0"/>
                </a:cubicBezTo>
                <a:cubicBezTo>
                  <a:pt x="720234" y="11671"/>
                  <a:pt x="900543" y="-12623"/>
                  <a:pt x="1048728" y="0"/>
                </a:cubicBezTo>
                <a:cubicBezTo>
                  <a:pt x="1196913" y="12623"/>
                  <a:pt x="1465309" y="-13710"/>
                  <a:pt x="1597048" y="0"/>
                </a:cubicBezTo>
                <a:cubicBezTo>
                  <a:pt x="1592730" y="168931"/>
                  <a:pt x="1588201" y="219495"/>
                  <a:pt x="1597048" y="396644"/>
                </a:cubicBezTo>
                <a:cubicBezTo>
                  <a:pt x="1605895" y="573793"/>
                  <a:pt x="1595282" y="606689"/>
                  <a:pt x="1597048" y="777733"/>
                </a:cubicBezTo>
                <a:cubicBezTo>
                  <a:pt x="1354791" y="762021"/>
                  <a:pt x="1244431" y="804442"/>
                  <a:pt x="1032758" y="777733"/>
                </a:cubicBezTo>
                <a:cubicBezTo>
                  <a:pt x="821085" y="751025"/>
                  <a:pt x="695442" y="760505"/>
                  <a:pt x="548320" y="777733"/>
                </a:cubicBezTo>
                <a:cubicBezTo>
                  <a:pt x="401198" y="794961"/>
                  <a:pt x="178960" y="794031"/>
                  <a:pt x="0" y="777733"/>
                </a:cubicBezTo>
                <a:cubicBezTo>
                  <a:pt x="-19151" y="659580"/>
                  <a:pt x="-17466" y="558685"/>
                  <a:pt x="0" y="373312"/>
                </a:cubicBezTo>
                <a:cubicBezTo>
                  <a:pt x="17466" y="187939"/>
                  <a:pt x="-4126" y="93735"/>
                  <a:pt x="0" y="0"/>
                </a:cubicBezTo>
                <a:close/>
              </a:path>
            </a:pathLst>
          </a:custGeom>
          <a:solidFill>
            <a:srgbClr val="52BDEC">
              <a:alpha val="50000"/>
            </a:srgbClr>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81" name="Tekstvak 37">
            <a:extLst>
              <a:ext uri="{FF2B5EF4-FFF2-40B4-BE49-F238E27FC236}">
                <a16:creationId xmlns:a16="http://schemas.microsoft.com/office/drawing/2014/main" id="{6062660B-B103-B553-77A6-9E4346EA2F18}"/>
              </a:ext>
            </a:extLst>
          </p:cNvPr>
          <p:cNvSpPr txBox="1"/>
          <p:nvPr/>
        </p:nvSpPr>
        <p:spPr>
          <a:xfrm>
            <a:off x="6914322" y="3032291"/>
            <a:ext cx="1259570" cy="738664"/>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Sequencing</a:t>
            </a:r>
            <a:r>
              <a:rPr lang="nl-BE" sz="1400" b="1">
                <a:solidFill>
                  <a:srgbClr val="005E77"/>
                </a:solidFill>
                <a:latin typeface="Arial" panose="020B0604020202020204" pitchFamily="34" charset="0"/>
                <a:cs typeface="Arial" panose="020B0604020202020204" pitchFamily="34" charset="0"/>
              </a:rPr>
              <a:t> data</a:t>
            </a:r>
            <a:br>
              <a:rPr lang="nl-BE" sz="1400">
                <a:solidFill>
                  <a:srgbClr val="005E77"/>
                </a:solidFill>
                <a:latin typeface="Arial" panose="020B0604020202020204" pitchFamily="34" charset="0"/>
                <a:cs typeface="Arial" panose="020B0604020202020204" pitchFamily="34" charset="0"/>
              </a:rPr>
            </a:br>
            <a:r>
              <a:rPr lang="nl-BE" sz="1400">
                <a:solidFill>
                  <a:srgbClr val="005E77"/>
                </a:solidFill>
                <a:latin typeface="Arial" panose="020B0604020202020204" pitchFamily="34" charset="0"/>
                <a:cs typeface="Arial" panose="020B0604020202020204" pitchFamily="34" charset="0"/>
              </a:rPr>
              <a:t>(FASTQ-files)</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cxnSp>
        <p:nvCxnSpPr>
          <p:cNvPr id="86" name="Straight Arrow Connector 85">
            <a:extLst>
              <a:ext uri="{FF2B5EF4-FFF2-40B4-BE49-F238E27FC236}">
                <a16:creationId xmlns:a16="http://schemas.microsoft.com/office/drawing/2014/main" id="{98FD1286-FB7B-3FAD-B0EA-6E74F0A755D9}"/>
              </a:ext>
            </a:extLst>
          </p:cNvPr>
          <p:cNvCxnSpPr>
            <a:cxnSpLocks/>
          </p:cNvCxnSpPr>
          <p:nvPr/>
        </p:nvCxnSpPr>
        <p:spPr>
          <a:xfrm>
            <a:off x="9810185" y="3482692"/>
            <a:ext cx="25200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pic>
        <p:nvPicPr>
          <p:cNvPr id="92" name="Graphic 91" descr="DNA met effen opvulling">
            <a:extLst>
              <a:ext uri="{FF2B5EF4-FFF2-40B4-BE49-F238E27FC236}">
                <a16:creationId xmlns:a16="http://schemas.microsoft.com/office/drawing/2014/main" id="{8E7BE68A-A64E-C007-47DD-974821E5628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35007" y="3054983"/>
            <a:ext cx="396000" cy="396000"/>
          </a:xfrm>
          <a:prstGeom prst="rect">
            <a:avLst/>
          </a:prstGeom>
        </p:spPr>
      </p:pic>
      <p:pic>
        <p:nvPicPr>
          <p:cNvPr id="94" name="Graphic 93" descr="Afbeeldingen met effen opvulling">
            <a:extLst>
              <a:ext uri="{FF2B5EF4-FFF2-40B4-BE49-F238E27FC236}">
                <a16:creationId xmlns:a16="http://schemas.microsoft.com/office/drawing/2014/main" id="{75C7A8E9-4A03-83D9-071F-D389A152899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14855" y="2321711"/>
            <a:ext cx="388800" cy="388800"/>
          </a:xfrm>
          <a:prstGeom prst="rect">
            <a:avLst/>
          </a:prstGeom>
        </p:spPr>
      </p:pic>
      <p:pic>
        <p:nvPicPr>
          <p:cNvPr id="95" name="Graphic 94" descr="Staafdiagram met effen opvulling">
            <a:extLst>
              <a:ext uri="{FF2B5EF4-FFF2-40B4-BE49-F238E27FC236}">
                <a16:creationId xmlns:a16="http://schemas.microsoft.com/office/drawing/2014/main" id="{7F717A1B-A1AF-6006-CF4B-6A858E8E0FF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49088" y="3720498"/>
            <a:ext cx="705584" cy="705584"/>
          </a:xfrm>
          <a:prstGeom prst="rect">
            <a:avLst/>
          </a:prstGeom>
        </p:spPr>
      </p:pic>
      <p:pic>
        <p:nvPicPr>
          <p:cNvPr id="96" name="Graphic 95" descr="Krant met effen opvulling">
            <a:extLst>
              <a:ext uri="{FF2B5EF4-FFF2-40B4-BE49-F238E27FC236}">
                <a16:creationId xmlns:a16="http://schemas.microsoft.com/office/drawing/2014/main" id="{91ED6567-42EB-5B87-CA77-A2B115233F3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99148" y="3709586"/>
            <a:ext cx="708377" cy="708377"/>
          </a:xfrm>
          <a:prstGeom prst="rect">
            <a:avLst/>
          </a:prstGeom>
        </p:spPr>
      </p:pic>
      <p:sp>
        <p:nvSpPr>
          <p:cNvPr id="100" name="Rectangle: Rounded Corners 2">
            <a:extLst>
              <a:ext uri="{FF2B5EF4-FFF2-40B4-BE49-F238E27FC236}">
                <a16:creationId xmlns:a16="http://schemas.microsoft.com/office/drawing/2014/main" id="{366A6972-012F-F60E-0355-AF65F12FC624}"/>
              </a:ext>
            </a:extLst>
          </p:cNvPr>
          <p:cNvSpPr/>
          <p:nvPr/>
        </p:nvSpPr>
        <p:spPr>
          <a:xfrm>
            <a:off x="104738" y="1985930"/>
            <a:ext cx="10074461" cy="2970508"/>
          </a:xfrm>
          <a:prstGeom prst="roundRect">
            <a:avLst/>
          </a:prstGeom>
          <a:noFill/>
          <a:ln w="285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pPr algn="ctr"/>
            <a:endParaRPr lang="nl-BE" b="1">
              <a:solidFill>
                <a:srgbClr val="FFC000"/>
              </a:solidFill>
            </a:endParaRPr>
          </a:p>
        </p:txBody>
      </p:sp>
      <p:sp>
        <p:nvSpPr>
          <p:cNvPr id="101" name="TextBox 100">
            <a:extLst>
              <a:ext uri="{FF2B5EF4-FFF2-40B4-BE49-F238E27FC236}">
                <a16:creationId xmlns:a16="http://schemas.microsoft.com/office/drawing/2014/main" id="{7EBC3D4D-0DFE-F1CF-1352-8179E11C71DB}"/>
              </a:ext>
            </a:extLst>
          </p:cNvPr>
          <p:cNvSpPr txBox="1"/>
          <p:nvPr/>
        </p:nvSpPr>
        <p:spPr>
          <a:xfrm>
            <a:off x="2039003" y="1248255"/>
            <a:ext cx="6800219" cy="369332"/>
          </a:xfrm>
          <a:prstGeom prst="rect">
            <a:avLst/>
          </a:prstGeom>
          <a:noFill/>
        </p:spPr>
        <p:txBody>
          <a:bodyPr wrap="square">
            <a:spAutoFit/>
          </a:bodyPr>
          <a:lstStyle/>
          <a:p>
            <a:pPr algn="ctr"/>
            <a:r>
              <a:rPr lang="en-US" b="1">
                <a:solidFill>
                  <a:srgbClr val="FFC000"/>
                </a:solidFill>
              </a:rPr>
              <a:t>Research data</a:t>
            </a:r>
            <a:endParaRPr lang="nl-BE" b="1">
              <a:solidFill>
                <a:srgbClr val="FFC000"/>
              </a:solidFill>
            </a:endParaRPr>
          </a:p>
        </p:txBody>
      </p:sp>
      <p:pic>
        <p:nvPicPr>
          <p:cNvPr id="5" name="Graphic 4" descr="Brain with solid fill">
            <a:extLst>
              <a:ext uri="{FF2B5EF4-FFF2-40B4-BE49-F238E27FC236}">
                <a16:creationId xmlns:a16="http://schemas.microsoft.com/office/drawing/2014/main" id="{536F3DE1-13F6-7658-6CC6-FE4363CA8E3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flipH="1">
            <a:off x="2758716" y="2622898"/>
            <a:ext cx="525158" cy="525158"/>
          </a:xfrm>
          <a:prstGeom prst="rect">
            <a:avLst/>
          </a:prstGeom>
        </p:spPr>
      </p:pic>
      <p:pic>
        <p:nvPicPr>
          <p:cNvPr id="10" name="Graphic 9" descr="Man met effen opvulling">
            <a:extLst>
              <a:ext uri="{FF2B5EF4-FFF2-40B4-BE49-F238E27FC236}">
                <a16:creationId xmlns:a16="http://schemas.microsoft.com/office/drawing/2014/main" id="{15244521-22E8-D987-5100-C8252E40689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13532" y="3753077"/>
            <a:ext cx="540000" cy="540000"/>
          </a:xfrm>
          <a:prstGeom prst="rect">
            <a:avLst/>
          </a:prstGeom>
        </p:spPr>
      </p:pic>
      <p:pic>
        <p:nvPicPr>
          <p:cNvPr id="24" name="Graphic 23" descr="Rat met effen opvulling">
            <a:extLst>
              <a:ext uri="{FF2B5EF4-FFF2-40B4-BE49-F238E27FC236}">
                <a16:creationId xmlns:a16="http://schemas.microsoft.com/office/drawing/2014/main" id="{7342EB31-1B1F-2C8D-0DD4-9E9848BE91E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16533" y="2862686"/>
            <a:ext cx="718743" cy="718743"/>
          </a:xfrm>
          <a:prstGeom prst="rect">
            <a:avLst/>
          </a:prstGeom>
        </p:spPr>
      </p:pic>
      <p:sp>
        <p:nvSpPr>
          <p:cNvPr id="25" name="Tekstvak 37">
            <a:extLst>
              <a:ext uri="{FF2B5EF4-FFF2-40B4-BE49-F238E27FC236}">
                <a16:creationId xmlns:a16="http://schemas.microsoft.com/office/drawing/2014/main" id="{74B63448-7153-7516-AA42-8FDEA7349A96}"/>
              </a:ext>
            </a:extLst>
          </p:cNvPr>
          <p:cNvSpPr txBox="1"/>
          <p:nvPr/>
        </p:nvSpPr>
        <p:spPr>
          <a:xfrm>
            <a:off x="1028682" y="3106179"/>
            <a:ext cx="1530894" cy="1200329"/>
          </a:xfrm>
          <a:prstGeom prst="rect">
            <a:avLst/>
          </a:prstGeom>
          <a:noFill/>
        </p:spPr>
        <p:txBody>
          <a:bodyPr wrap="square" rtlCol="0">
            <a:spAutoFit/>
          </a:bodyPr>
          <a:lstStyle/>
          <a:p>
            <a:r>
              <a:rPr lang="nl-BE" sz="1400" b="1">
                <a:solidFill>
                  <a:srgbClr val="005E77"/>
                </a:solidFill>
                <a:latin typeface="Arial" panose="020B0604020202020204" pitchFamily="34" charset="0"/>
                <a:cs typeface="Arial" panose="020B0604020202020204" pitchFamily="34" charset="0"/>
              </a:rPr>
              <a:t>Rats</a:t>
            </a:r>
          </a:p>
          <a:p>
            <a:pPr algn="ctr"/>
            <a:endParaRPr lang="nl-BE" sz="1400" b="1">
              <a:solidFill>
                <a:srgbClr val="005E77"/>
              </a:solidFill>
              <a:latin typeface="Arial" panose="020B0604020202020204" pitchFamily="34" charset="0"/>
              <a:cs typeface="Arial" panose="020B0604020202020204" pitchFamily="34" charset="0"/>
            </a:endParaRPr>
          </a:p>
          <a:p>
            <a:pPr algn="ctr"/>
            <a:endParaRPr lang="nl-BE" sz="1400" b="1">
              <a:solidFill>
                <a:srgbClr val="005E77"/>
              </a:solidFill>
              <a:latin typeface="Arial" panose="020B0604020202020204" pitchFamily="34" charset="0"/>
              <a:cs typeface="Arial" panose="020B0604020202020204" pitchFamily="34" charset="0"/>
            </a:endParaRPr>
          </a:p>
          <a:p>
            <a:r>
              <a:rPr lang="nl-BE" sz="1400" b="1" err="1">
                <a:solidFill>
                  <a:srgbClr val="005E77"/>
                </a:solidFill>
                <a:latin typeface="Arial" panose="020B0604020202020204" pitchFamily="34" charset="0"/>
                <a:cs typeface="Arial" panose="020B0604020202020204" pitchFamily="34" charset="0"/>
              </a:rPr>
              <a:t>Patients</a:t>
            </a:r>
            <a:endParaRPr lang="nl-BE" sz="1400" b="1">
              <a:solidFill>
                <a:srgbClr val="005E77"/>
              </a:solidFill>
              <a:latin typeface="Arial" panose="020B0604020202020204" pitchFamily="34" charset="0"/>
              <a:cs typeface="Arial" panose="020B0604020202020204" pitchFamily="34" charset="0"/>
            </a:endParaRPr>
          </a:p>
          <a:p>
            <a:pPr algn="ctr"/>
            <a:endParaRPr lang="nl-BE" sz="1600">
              <a:solidFill>
                <a:srgbClr val="005E77"/>
              </a:solidFill>
              <a:latin typeface="Arial" panose="020B0604020202020204" pitchFamily="34" charset="0"/>
              <a:cs typeface="Arial" panose="020B0604020202020204" pitchFamily="34" charset="0"/>
            </a:endParaRPr>
          </a:p>
        </p:txBody>
      </p:sp>
      <p:cxnSp>
        <p:nvCxnSpPr>
          <p:cNvPr id="26" name="Straight Arrow Connector 25">
            <a:extLst>
              <a:ext uri="{FF2B5EF4-FFF2-40B4-BE49-F238E27FC236}">
                <a16:creationId xmlns:a16="http://schemas.microsoft.com/office/drawing/2014/main" id="{50CAFD12-BC98-59F5-A7AD-10ACD09BEECA}"/>
              </a:ext>
            </a:extLst>
          </p:cNvPr>
          <p:cNvCxnSpPr>
            <a:cxnSpLocks/>
          </p:cNvCxnSpPr>
          <p:nvPr/>
        </p:nvCxnSpPr>
        <p:spPr>
          <a:xfrm flipV="1">
            <a:off x="4224019" y="4383848"/>
            <a:ext cx="4258861" cy="6829"/>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id="{1DF35C78-3E5A-D3E5-605E-486E2758CD64}"/>
              </a:ext>
            </a:extLst>
          </p:cNvPr>
          <p:cNvCxnSpPr>
            <a:cxnSpLocks/>
          </p:cNvCxnSpPr>
          <p:nvPr/>
        </p:nvCxnSpPr>
        <p:spPr>
          <a:xfrm>
            <a:off x="2445426" y="4363117"/>
            <a:ext cx="25200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sp>
        <p:nvSpPr>
          <p:cNvPr id="31" name="Rectangle 30">
            <a:extLst>
              <a:ext uri="{FF2B5EF4-FFF2-40B4-BE49-F238E27FC236}">
                <a16:creationId xmlns:a16="http://schemas.microsoft.com/office/drawing/2014/main" id="{0752CAB5-C75E-11DF-A141-8A6ECE9B4825}"/>
              </a:ext>
            </a:extLst>
          </p:cNvPr>
          <p:cNvSpPr/>
          <p:nvPr/>
        </p:nvSpPr>
        <p:spPr>
          <a:xfrm>
            <a:off x="4558406" y="2990451"/>
            <a:ext cx="1597048" cy="492554"/>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32" name="Tekstvak 37">
            <a:extLst>
              <a:ext uri="{FF2B5EF4-FFF2-40B4-BE49-F238E27FC236}">
                <a16:creationId xmlns:a16="http://schemas.microsoft.com/office/drawing/2014/main" id="{6F87BBD3-17B0-E095-93AD-5FA51928AFB9}"/>
              </a:ext>
            </a:extLst>
          </p:cNvPr>
          <p:cNvSpPr txBox="1"/>
          <p:nvPr/>
        </p:nvSpPr>
        <p:spPr>
          <a:xfrm>
            <a:off x="5001741" y="3082840"/>
            <a:ext cx="1199946" cy="307777"/>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Sequencing</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pic>
        <p:nvPicPr>
          <p:cNvPr id="33" name="Graphic 32" descr="Onderzoek met effen opvulling">
            <a:extLst>
              <a:ext uri="{FF2B5EF4-FFF2-40B4-BE49-F238E27FC236}">
                <a16:creationId xmlns:a16="http://schemas.microsoft.com/office/drawing/2014/main" id="{DEAA74C7-65A1-65B9-4D3B-C8FA9FDE59B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581343" y="3003906"/>
            <a:ext cx="465645" cy="465645"/>
          </a:xfrm>
          <a:prstGeom prst="rect">
            <a:avLst/>
          </a:prstGeom>
        </p:spPr>
      </p:pic>
      <p:sp>
        <p:nvSpPr>
          <p:cNvPr id="35" name="Rectangle 34">
            <a:extLst>
              <a:ext uri="{FF2B5EF4-FFF2-40B4-BE49-F238E27FC236}">
                <a16:creationId xmlns:a16="http://schemas.microsoft.com/office/drawing/2014/main" id="{D26D3614-672E-7836-50E8-7F84345DCB24}"/>
              </a:ext>
            </a:extLst>
          </p:cNvPr>
          <p:cNvSpPr/>
          <p:nvPr/>
        </p:nvSpPr>
        <p:spPr>
          <a:xfrm>
            <a:off x="2758426" y="3937283"/>
            <a:ext cx="1321679" cy="830997"/>
          </a:xfrm>
          <a:custGeom>
            <a:avLst/>
            <a:gdLst>
              <a:gd name="connsiteX0" fmla="*/ 0 w 1321679"/>
              <a:gd name="connsiteY0" fmla="*/ 0 h 830997"/>
              <a:gd name="connsiteX1" fmla="*/ 660840 w 1321679"/>
              <a:gd name="connsiteY1" fmla="*/ 0 h 830997"/>
              <a:gd name="connsiteX2" fmla="*/ 1321679 w 1321679"/>
              <a:gd name="connsiteY2" fmla="*/ 0 h 830997"/>
              <a:gd name="connsiteX3" fmla="*/ 1321679 w 1321679"/>
              <a:gd name="connsiteY3" fmla="*/ 390569 h 830997"/>
              <a:gd name="connsiteX4" fmla="*/ 1321679 w 1321679"/>
              <a:gd name="connsiteY4" fmla="*/ 830997 h 830997"/>
              <a:gd name="connsiteX5" fmla="*/ 674056 w 1321679"/>
              <a:gd name="connsiteY5" fmla="*/ 830997 h 830997"/>
              <a:gd name="connsiteX6" fmla="*/ 0 w 1321679"/>
              <a:gd name="connsiteY6" fmla="*/ 830997 h 830997"/>
              <a:gd name="connsiteX7" fmla="*/ 0 w 1321679"/>
              <a:gd name="connsiteY7" fmla="*/ 440428 h 830997"/>
              <a:gd name="connsiteX8" fmla="*/ 0 w 1321679"/>
              <a:gd name="connsiteY8" fmla="*/ 0 h 83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1679" h="830997" fill="none" extrusionOk="0">
                <a:moveTo>
                  <a:pt x="0" y="0"/>
                </a:moveTo>
                <a:cubicBezTo>
                  <a:pt x="167328" y="-25139"/>
                  <a:pt x="371467" y="20639"/>
                  <a:pt x="660840" y="0"/>
                </a:cubicBezTo>
                <a:cubicBezTo>
                  <a:pt x="950213" y="-20639"/>
                  <a:pt x="1092635" y="24209"/>
                  <a:pt x="1321679" y="0"/>
                </a:cubicBezTo>
                <a:cubicBezTo>
                  <a:pt x="1319767" y="97513"/>
                  <a:pt x="1339711" y="229930"/>
                  <a:pt x="1321679" y="390569"/>
                </a:cubicBezTo>
                <a:cubicBezTo>
                  <a:pt x="1303647" y="551208"/>
                  <a:pt x="1330720" y="710737"/>
                  <a:pt x="1321679" y="830997"/>
                </a:cubicBezTo>
                <a:cubicBezTo>
                  <a:pt x="1127309" y="800790"/>
                  <a:pt x="972164" y="829226"/>
                  <a:pt x="674056" y="830997"/>
                </a:cubicBezTo>
                <a:cubicBezTo>
                  <a:pt x="375948" y="832768"/>
                  <a:pt x="298342" y="845501"/>
                  <a:pt x="0" y="830997"/>
                </a:cubicBezTo>
                <a:cubicBezTo>
                  <a:pt x="-9400" y="654988"/>
                  <a:pt x="-1273" y="605390"/>
                  <a:pt x="0" y="440428"/>
                </a:cubicBezTo>
                <a:cubicBezTo>
                  <a:pt x="1273" y="275466"/>
                  <a:pt x="11754" y="106686"/>
                  <a:pt x="0" y="0"/>
                </a:cubicBezTo>
                <a:close/>
              </a:path>
              <a:path w="1321679" h="830997" stroke="0" extrusionOk="0">
                <a:moveTo>
                  <a:pt x="0" y="0"/>
                </a:moveTo>
                <a:cubicBezTo>
                  <a:pt x="202425" y="8482"/>
                  <a:pt x="491115" y="30218"/>
                  <a:pt x="647623" y="0"/>
                </a:cubicBezTo>
                <a:cubicBezTo>
                  <a:pt x="804131" y="-30218"/>
                  <a:pt x="1004176" y="-30903"/>
                  <a:pt x="1321679" y="0"/>
                </a:cubicBezTo>
                <a:cubicBezTo>
                  <a:pt x="1338744" y="160011"/>
                  <a:pt x="1311168" y="279707"/>
                  <a:pt x="1321679" y="432118"/>
                </a:cubicBezTo>
                <a:cubicBezTo>
                  <a:pt x="1332190" y="584529"/>
                  <a:pt x="1306270" y="671979"/>
                  <a:pt x="1321679" y="830997"/>
                </a:cubicBezTo>
                <a:cubicBezTo>
                  <a:pt x="1156842" y="846493"/>
                  <a:pt x="902795" y="801722"/>
                  <a:pt x="700490" y="830997"/>
                </a:cubicBezTo>
                <a:cubicBezTo>
                  <a:pt x="498185" y="860272"/>
                  <a:pt x="246501" y="824954"/>
                  <a:pt x="0" y="830997"/>
                </a:cubicBezTo>
                <a:cubicBezTo>
                  <a:pt x="13563" y="751661"/>
                  <a:pt x="-6090" y="625515"/>
                  <a:pt x="0" y="440428"/>
                </a:cubicBezTo>
                <a:cubicBezTo>
                  <a:pt x="6090" y="255341"/>
                  <a:pt x="-4127" y="168866"/>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36" name="Tekstvak 37">
            <a:extLst>
              <a:ext uri="{FF2B5EF4-FFF2-40B4-BE49-F238E27FC236}">
                <a16:creationId xmlns:a16="http://schemas.microsoft.com/office/drawing/2014/main" id="{911A29CE-8F69-22CD-4E79-EBDF4E435A0A}"/>
              </a:ext>
            </a:extLst>
          </p:cNvPr>
          <p:cNvSpPr txBox="1"/>
          <p:nvPr/>
        </p:nvSpPr>
        <p:spPr>
          <a:xfrm>
            <a:off x="3071593" y="4024699"/>
            <a:ext cx="1153292" cy="830997"/>
          </a:xfrm>
          <a:prstGeom prst="rect">
            <a:avLst/>
          </a:prstGeom>
          <a:noFill/>
        </p:spPr>
        <p:txBody>
          <a:bodyPr wrap="square" rtlCol="0">
            <a:spAutoFit/>
          </a:bodyPr>
          <a:lstStyle/>
          <a:p>
            <a:pPr algn="ctr"/>
            <a:r>
              <a:rPr lang="nl-BE" sz="1600" b="1" err="1">
                <a:solidFill>
                  <a:srgbClr val="005E77"/>
                </a:solidFill>
                <a:latin typeface="Arial" panose="020B0604020202020204" pitchFamily="34" charset="0"/>
                <a:cs typeface="Arial" panose="020B0604020202020204" pitchFamily="34" charset="0"/>
              </a:rPr>
              <a:t>Clinical</a:t>
            </a:r>
            <a:r>
              <a:rPr lang="nl-BE" sz="1600">
                <a:solidFill>
                  <a:srgbClr val="005E77"/>
                </a:solidFill>
                <a:latin typeface="Arial" panose="020B0604020202020204" pitchFamily="34" charset="0"/>
                <a:cs typeface="Arial" panose="020B0604020202020204" pitchFamily="34" charset="0"/>
              </a:rPr>
              <a:t> data</a:t>
            </a:r>
            <a:br>
              <a:rPr lang="nl-BE" sz="1600">
                <a:solidFill>
                  <a:srgbClr val="005E77"/>
                </a:solidFill>
                <a:latin typeface="Arial" panose="020B0604020202020204" pitchFamily="34" charset="0"/>
                <a:cs typeface="Arial" panose="020B0604020202020204" pitchFamily="34" charset="0"/>
              </a:rPr>
            </a:br>
            <a:endParaRPr lang="nl-BE" sz="1600">
              <a:solidFill>
                <a:srgbClr val="005E77"/>
              </a:solidFill>
              <a:latin typeface="Arial" panose="020B0604020202020204" pitchFamily="34" charset="0"/>
              <a:cs typeface="Arial" panose="020B0604020202020204" pitchFamily="34" charset="0"/>
            </a:endParaRPr>
          </a:p>
        </p:txBody>
      </p:sp>
      <p:pic>
        <p:nvPicPr>
          <p:cNvPr id="37" name="Graphic 36" descr="Clipboard with solid fill">
            <a:extLst>
              <a:ext uri="{FF2B5EF4-FFF2-40B4-BE49-F238E27FC236}">
                <a16:creationId xmlns:a16="http://schemas.microsoft.com/office/drawing/2014/main" id="{53ABFF1B-26B2-6455-E311-82D1A0A4150C}"/>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759603" y="4065991"/>
            <a:ext cx="540000" cy="540000"/>
          </a:xfrm>
          <a:prstGeom prst="rect">
            <a:avLst/>
          </a:prstGeom>
        </p:spPr>
      </p:pic>
      <p:sp>
        <p:nvSpPr>
          <p:cNvPr id="39" name="Rectangle 38">
            <a:extLst>
              <a:ext uri="{FF2B5EF4-FFF2-40B4-BE49-F238E27FC236}">
                <a16:creationId xmlns:a16="http://schemas.microsoft.com/office/drawing/2014/main" id="{56EF24C0-DBE3-EDF1-9EC6-E58784139E5B}"/>
              </a:ext>
            </a:extLst>
          </p:cNvPr>
          <p:cNvSpPr/>
          <p:nvPr/>
        </p:nvSpPr>
        <p:spPr>
          <a:xfrm>
            <a:off x="4529532" y="2410039"/>
            <a:ext cx="1597048" cy="492554"/>
          </a:xfrm>
          <a:prstGeom prst="rect">
            <a:avLst/>
          </a:prstGeom>
          <a:solidFill>
            <a:srgbClr val="FFDF7F"/>
          </a:solidFill>
          <a:ln w="19050">
            <a:solidFill>
              <a:srgbClr val="005E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a:p>
        </p:txBody>
      </p:sp>
      <p:sp>
        <p:nvSpPr>
          <p:cNvPr id="40" name="Tekstvak 37">
            <a:extLst>
              <a:ext uri="{FF2B5EF4-FFF2-40B4-BE49-F238E27FC236}">
                <a16:creationId xmlns:a16="http://schemas.microsoft.com/office/drawing/2014/main" id="{676643F4-00BB-5403-E3EA-0BE0163B5FEA}"/>
              </a:ext>
            </a:extLst>
          </p:cNvPr>
          <p:cNvSpPr txBox="1"/>
          <p:nvPr/>
        </p:nvSpPr>
        <p:spPr>
          <a:xfrm>
            <a:off x="4960737" y="2502428"/>
            <a:ext cx="1190222" cy="307777"/>
          </a:xfrm>
          <a:prstGeom prst="rect">
            <a:avLst/>
          </a:prstGeom>
          <a:noFill/>
        </p:spPr>
        <p:txBody>
          <a:bodyPr wrap="square" rtlCol="0">
            <a:spAutoFit/>
          </a:bodyPr>
          <a:lstStyle/>
          <a:p>
            <a:pPr algn="ctr"/>
            <a:r>
              <a:rPr lang="nl-BE" sz="1400" b="1" err="1">
                <a:solidFill>
                  <a:srgbClr val="005E77"/>
                </a:solidFill>
                <a:latin typeface="Arial" panose="020B0604020202020204" pitchFamily="34" charset="0"/>
                <a:cs typeface="Arial" panose="020B0604020202020204" pitchFamily="34" charset="0"/>
              </a:rPr>
              <a:t>Microscopy</a:t>
            </a:r>
            <a:endParaRPr lang="nl-BE" sz="1400">
              <a:solidFill>
                <a:srgbClr val="005E77"/>
              </a:solidFill>
              <a:latin typeface="Arial" panose="020B0604020202020204" pitchFamily="34" charset="0"/>
              <a:cs typeface="Arial" panose="020B0604020202020204" pitchFamily="34" charset="0"/>
              <a:sym typeface="Wingdings" panose="05000000000000000000" pitchFamily="2" charset="2"/>
            </a:endParaRPr>
          </a:p>
        </p:txBody>
      </p:sp>
      <p:pic>
        <p:nvPicPr>
          <p:cNvPr id="41" name="Graphic 40" descr="Microscoop met effen opvulling">
            <a:extLst>
              <a:ext uri="{FF2B5EF4-FFF2-40B4-BE49-F238E27FC236}">
                <a16:creationId xmlns:a16="http://schemas.microsoft.com/office/drawing/2014/main" id="{4EF32BBE-F5D6-0A20-6111-C03BE995EC2E}"/>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580682" y="2462835"/>
            <a:ext cx="386963" cy="386963"/>
          </a:xfrm>
          <a:prstGeom prst="rect">
            <a:avLst/>
          </a:prstGeom>
        </p:spPr>
      </p:pic>
      <p:cxnSp>
        <p:nvCxnSpPr>
          <p:cNvPr id="45" name="Straight Arrow Connector 44">
            <a:extLst>
              <a:ext uri="{FF2B5EF4-FFF2-40B4-BE49-F238E27FC236}">
                <a16:creationId xmlns:a16="http://schemas.microsoft.com/office/drawing/2014/main" id="{46CA96A3-51FC-D851-29A2-AF275684BF22}"/>
              </a:ext>
            </a:extLst>
          </p:cNvPr>
          <p:cNvCxnSpPr>
            <a:cxnSpLocks/>
          </p:cNvCxnSpPr>
          <p:nvPr/>
        </p:nvCxnSpPr>
        <p:spPr>
          <a:xfrm>
            <a:off x="2455030" y="2937386"/>
            <a:ext cx="25200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47" name="Straight Arrow Connector 46">
            <a:extLst>
              <a:ext uri="{FF2B5EF4-FFF2-40B4-BE49-F238E27FC236}">
                <a16:creationId xmlns:a16="http://schemas.microsoft.com/office/drawing/2014/main" id="{D6D927E7-BE00-01AB-DAFD-C935494E620C}"/>
              </a:ext>
            </a:extLst>
          </p:cNvPr>
          <p:cNvCxnSpPr>
            <a:cxnSpLocks/>
          </p:cNvCxnSpPr>
          <p:nvPr/>
        </p:nvCxnSpPr>
        <p:spPr>
          <a:xfrm>
            <a:off x="6236373" y="2939029"/>
            <a:ext cx="25200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31B5C576-0B8F-572A-1181-690D301453C8}"/>
              </a:ext>
            </a:extLst>
          </p:cNvPr>
          <p:cNvCxnSpPr>
            <a:cxnSpLocks/>
          </p:cNvCxnSpPr>
          <p:nvPr/>
        </p:nvCxnSpPr>
        <p:spPr>
          <a:xfrm>
            <a:off x="8236056" y="2937386"/>
            <a:ext cx="25200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49" name="Straight Arrow Connector 48">
            <a:extLst>
              <a:ext uri="{FF2B5EF4-FFF2-40B4-BE49-F238E27FC236}">
                <a16:creationId xmlns:a16="http://schemas.microsoft.com/office/drawing/2014/main" id="{31256844-FD70-CF18-53C5-764F4E3D66CF}"/>
              </a:ext>
            </a:extLst>
          </p:cNvPr>
          <p:cNvCxnSpPr>
            <a:cxnSpLocks/>
          </p:cNvCxnSpPr>
          <p:nvPr/>
        </p:nvCxnSpPr>
        <p:spPr>
          <a:xfrm>
            <a:off x="4137676" y="2952808"/>
            <a:ext cx="25200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6443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9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0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65" grpId="0" animBg="1"/>
      <p:bldP spid="66" grpId="0" animBg="1"/>
      <p:bldP spid="67" grpId="0"/>
      <p:bldP spid="69" grpId="0"/>
      <p:bldP spid="71" grpId="0"/>
      <p:bldP spid="74" grpId="0" animBg="1"/>
      <p:bldP spid="75" grpId="0"/>
      <p:bldP spid="78" grpId="0" animBg="1"/>
      <p:bldP spid="79" grpId="0"/>
      <p:bldP spid="80" grpId="0" animBg="1"/>
      <p:bldP spid="81" grpId="0"/>
      <p:bldP spid="100" grpId="0" animBg="1"/>
      <p:bldP spid="101" grpId="0"/>
      <p:bldP spid="25" grpId="0"/>
      <p:bldP spid="31" grpId="0" animBg="1"/>
      <p:bldP spid="32" grpId="0"/>
      <p:bldP spid="35" grpId="0" animBg="1"/>
      <p:bldP spid="36" grpId="0"/>
      <p:bldP spid="39" grpId="0" animBg="1"/>
      <p:bldP spid="4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6AFBD-CFE0-A600-06A8-1D15508EA97A}"/>
              </a:ext>
            </a:extLst>
          </p:cNvPr>
          <p:cNvSpPr>
            <a:spLocks noGrp="1"/>
          </p:cNvSpPr>
          <p:nvPr>
            <p:ph type="title"/>
          </p:nvPr>
        </p:nvSpPr>
        <p:spPr/>
        <p:txBody>
          <a:bodyPr/>
          <a:lstStyle/>
          <a:p>
            <a:r>
              <a:rPr lang="en-US"/>
              <a:t>Exercise 2: Build a Dataflow</a:t>
            </a:r>
            <a:br>
              <a:rPr lang="en-US"/>
            </a:br>
            <a:r>
              <a:rPr lang="en-US"/>
              <a:t>Your project</a:t>
            </a:r>
            <a:endParaRPr lang="nl-BE"/>
          </a:p>
        </p:txBody>
      </p:sp>
      <p:sp>
        <p:nvSpPr>
          <p:cNvPr id="4" name="Slide Number Placeholder 3">
            <a:extLst>
              <a:ext uri="{FF2B5EF4-FFF2-40B4-BE49-F238E27FC236}">
                <a16:creationId xmlns:a16="http://schemas.microsoft.com/office/drawing/2014/main" id="{C368B712-41F2-643B-4F8D-63F388D4E6B9}"/>
              </a:ext>
            </a:extLst>
          </p:cNvPr>
          <p:cNvSpPr>
            <a:spLocks noGrp="1"/>
          </p:cNvSpPr>
          <p:nvPr>
            <p:ph type="sldNum" sz="quarter" idx="12"/>
          </p:nvPr>
        </p:nvSpPr>
        <p:spPr/>
        <p:txBody>
          <a:bodyPr/>
          <a:lstStyle/>
          <a:p>
            <a:fld id="{85114D95-D6A6-084A-9D9C-617B45E258AD}" type="slidenum">
              <a:rPr lang="nl-NL" smtClean="0"/>
              <a:t>28</a:t>
            </a:fld>
            <a:endParaRPr lang="nl-NL"/>
          </a:p>
        </p:txBody>
      </p:sp>
      <p:sp>
        <p:nvSpPr>
          <p:cNvPr id="9" name="Content Placeholder 2">
            <a:extLst>
              <a:ext uri="{FF2B5EF4-FFF2-40B4-BE49-F238E27FC236}">
                <a16:creationId xmlns:a16="http://schemas.microsoft.com/office/drawing/2014/main" id="{E6878FD4-6310-E2DC-9384-CA7946862A62}"/>
              </a:ext>
            </a:extLst>
          </p:cNvPr>
          <p:cNvSpPr>
            <a:spLocks noGrp="1"/>
          </p:cNvSpPr>
          <p:nvPr>
            <p:ph idx="1"/>
          </p:nvPr>
        </p:nvSpPr>
        <p:spPr>
          <a:xfrm>
            <a:off x="576000" y="2045563"/>
            <a:ext cx="11041200" cy="3938548"/>
          </a:xfrm>
        </p:spPr>
        <p:txBody>
          <a:bodyPr/>
          <a:lstStyle/>
          <a:p>
            <a:pPr marL="0" indent="0">
              <a:buNone/>
            </a:pPr>
            <a:r>
              <a:rPr lang="en-US"/>
              <a:t>Exercise bundle p.1+2</a:t>
            </a:r>
          </a:p>
          <a:p>
            <a:pPr marL="0" indent="0">
              <a:buNone/>
            </a:pPr>
            <a:r>
              <a:rPr lang="en-US" b="1"/>
              <a:t>In pairs: </a:t>
            </a:r>
          </a:p>
          <a:p>
            <a:pPr marL="971550" lvl="1" indent="-514350">
              <a:buFont typeface="+mj-lt"/>
              <a:buAutoNum type="arabicPeriod"/>
            </a:pPr>
            <a:r>
              <a:rPr lang="en-US"/>
              <a:t>Explain your research using the </a:t>
            </a:r>
            <a:r>
              <a:rPr lang="en-US" b="1"/>
              <a:t>3 guiding questions</a:t>
            </a:r>
            <a:r>
              <a:rPr lang="en-US"/>
              <a:t>.</a:t>
            </a:r>
          </a:p>
          <a:p>
            <a:pPr marL="971550" lvl="1" indent="-514350">
              <a:buFont typeface="+mj-lt"/>
              <a:buAutoNum type="arabicPeriod"/>
            </a:pPr>
            <a:r>
              <a:rPr lang="en-US"/>
              <a:t>Post-its (start, end, steps)</a:t>
            </a:r>
          </a:p>
          <a:p>
            <a:pPr marL="971550" lvl="1" indent="-514350">
              <a:buFont typeface="+mj-lt"/>
              <a:buAutoNum type="arabicPeriod"/>
            </a:pPr>
            <a:r>
              <a:rPr lang="en-US"/>
              <a:t>Select one path (max two)</a:t>
            </a:r>
          </a:p>
          <a:p>
            <a:pPr marL="971550" lvl="1" indent="-514350">
              <a:buFont typeface="+mj-lt"/>
              <a:buAutoNum type="arabicPeriod"/>
            </a:pPr>
            <a:r>
              <a:rPr lang="en-US"/>
              <a:t>Fill in the gaps</a:t>
            </a:r>
          </a:p>
          <a:p>
            <a:pPr marL="971550" lvl="1" indent="-514350">
              <a:buFont typeface="+mj-lt"/>
              <a:buAutoNum type="arabicPeriod"/>
            </a:pPr>
            <a:r>
              <a:rPr lang="en-US"/>
              <a:t>Discuss to refine </a:t>
            </a:r>
          </a:p>
          <a:p>
            <a:pPr marL="971550" lvl="1" indent="-514350">
              <a:buFont typeface="+mj-lt"/>
              <a:buAutoNum type="arabicPeriod"/>
            </a:pPr>
            <a:r>
              <a:rPr lang="en-US"/>
              <a:t>Update the dataflow</a:t>
            </a:r>
          </a:p>
          <a:p>
            <a:pPr marL="971550" lvl="1" indent="-514350">
              <a:buFont typeface="+mj-lt"/>
              <a:buAutoNum type="arabicPeriod"/>
            </a:pPr>
            <a:endParaRPr lang="en-US"/>
          </a:p>
          <a:p>
            <a:pPr marL="0" indent="0">
              <a:buNone/>
            </a:pPr>
            <a:endParaRPr lang="nl-BE"/>
          </a:p>
        </p:txBody>
      </p:sp>
      <p:sp>
        <p:nvSpPr>
          <p:cNvPr id="11" name="TextBox 10">
            <a:extLst>
              <a:ext uri="{FF2B5EF4-FFF2-40B4-BE49-F238E27FC236}">
                <a16:creationId xmlns:a16="http://schemas.microsoft.com/office/drawing/2014/main" id="{BFBBC1BE-CC60-5F86-1D42-DA9E6BF86AC3}"/>
              </a:ext>
            </a:extLst>
          </p:cNvPr>
          <p:cNvSpPr txBox="1"/>
          <p:nvPr/>
        </p:nvSpPr>
        <p:spPr>
          <a:xfrm>
            <a:off x="5485347" y="1547620"/>
            <a:ext cx="6130653" cy="707886"/>
          </a:xfrm>
          <a:prstGeom prst="rect">
            <a:avLst/>
          </a:prstGeom>
          <a:noFill/>
          <a:ln w="12700">
            <a:solidFill>
              <a:srgbClr val="005E77"/>
            </a:solidFill>
          </a:ln>
        </p:spPr>
        <p:txBody>
          <a:bodyPr wrap="none" rtlCol="0">
            <a:spAutoFit/>
          </a:bodyPr>
          <a:lstStyle/>
          <a:p>
            <a:pPr algn="ctr"/>
            <a:r>
              <a:rPr lang="en-US" sz="2000" b="1">
                <a:solidFill>
                  <a:srgbClr val="7FD7F7"/>
                </a:solidFill>
                <a:latin typeface="Arial" panose="020B0604020202020204" pitchFamily="34" charset="0"/>
                <a:cs typeface="Arial" panose="020B0604020202020204" pitchFamily="34" charset="0"/>
              </a:rPr>
              <a:t>Data points (in/outputs): Blue </a:t>
            </a:r>
          </a:p>
          <a:p>
            <a:pPr algn="ctr"/>
            <a:r>
              <a:rPr lang="en-US" sz="2000" b="1">
                <a:solidFill>
                  <a:srgbClr val="7FD7F7"/>
                </a:solidFill>
                <a:latin typeface="Arial" panose="020B0604020202020204" pitchFamily="34" charset="0"/>
                <a:cs typeface="Arial" panose="020B0604020202020204" pitchFamily="34" charset="0"/>
              </a:rPr>
              <a:t>​</a:t>
            </a:r>
            <a:r>
              <a:rPr lang="en-US" sz="2000" b="1">
                <a:solidFill>
                  <a:schemeClr val="accent4">
                    <a:lumMod val="60000"/>
                    <a:lumOff val="40000"/>
                  </a:schemeClr>
                </a:solidFill>
                <a:latin typeface="Arial" panose="020B0604020202020204" pitchFamily="34" charset="0"/>
                <a:cs typeface="Arial" panose="020B0604020202020204" pitchFamily="34" charset="0"/>
              </a:rPr>
              <a:t>Steps (methods, analysis, processing,…): Yellow</a:t>
            </a:r>
          </a:p>
        </p:txBody>
      </p:sp>
    </p:spTree>
    <p:extLst>
      <p:ext uri="{BB962C8B-B14F-4D97-AF65-F5344CB8AC3E}">
        <p14:creationId xmlns:p14="http://schemas.microsoft.com/office/powerpoint/2010/main" val="3012733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332D1-B21B-41ED-8608-7192826D0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2283E-8BC1-D88B-5091-8F8291696AB0}"/>
              </a:ext>
            </a:extLst>
          </p:cNvPr>
          <p:cNvSpPr>
            <a:spLocks noGrp="1"/>
          </p:cNvSpPr>
          <p:nvPr>
            <p:ph type="title"/>
          </p:nvPr>
        </p:nvSpPr>
        <p:spPr/>
        <p:txBody>
          <a:bodyPr/>
          <a:lstStyle/>
          <a:p>
            <a:r>
              <a:rPr lang="en-US"/>
              <a:t>Exercise 3: Translate Dataflow to DMP</a:t>
            </a:r>
            <a:br>
              <a:rPr lang="en-US"/>
            </a:br>
            <a:r>
              <a:rPr lang="en-US"/>
              <a:t>Your project</a:t>
            </a:r>
            <a:endParaRPr lang="nl-BE"/>
          </a:p>
        </p:txBody>
      </p:sp>
      <p:sp>
        <p:nvSpPr>
          <p:cNvPr id="4" name="Slide Number Placeholder 3">
            <a:extLst>
              <a:ext uri="{FF2B5EF4-FFF2-40B4-BE49-F238E27FC236}">
                <a16:creationId xmlns:a16="http://schemas.microsoft.com/office/drawing/2014/main" id="{776F001F-2AB1-F212-6C18-9896A15AE22B}"/>
              </a:ext>
            </a:extLst>
          </p:cNvPr>
          <p:cNvSpPr>
            <a:spLocks noGrp="1"/>
          </p:cNvSpPr>
          <p:nvPr>
            <p:ph type="sldNum" sz="quarter" idx="12"/>
          </p:nvPr>
        </p:nvSpPr>
        <p:spPr/>
        <p:txBody>
          <a:bodyPr/>
          <a:lstStyle/>
          <a:p>
            <a:fld id="{85114D95-D6A6-084A-9D9C-617B45E258AD}" type="slidenum">
              <a:rPr lang="nl-NL" smtClean="0"/>
              <a:t>29</a:t>
            </a:fld>
            <a:endParaRPr lang="nl-NL"/>
          </a:p>
        </p:txBody>
      </p:sp>
      <p:sp>
        <p:nvSpPr>
          <p:cNvPr id="9" name="Content Placeholder 2">
            <a:extLst>
              <a:ext uri="{FF2B5EF4-FFF2-40B4-BE49-F238E27FC236}">
                <a16:creationId xmlns:a16="http://schemas.microsoft.com/office/drawing/2014/main" id="{754FED49-2B91-5114-6F67-BC9A4B8C0D1B}"/>
              </a:ext>
            </a:extLst>
          </p:cNvPr>
          <p:cNvSpPr>
            <a:spLocks noGrp="1"/>
          </p:cNvSpPr>
          <p:nvPr>
            <p:ph idx="1"/>
          </p:nvPr>
        </p:nvSpPr>
        <p:spPr>
          <a:xfrm>
            <a:off x="576000" y="2045562"/>
            <a:ext cx="11041200" cy="4172813"/>
          </a:xfrm>
        </p:spPr>
        <p:txBody>
          <a:bodyPr>
            <a:normAutofit/>
          </a:bodyPr>
          <a:lstStyle/>
          <a:p>
            <a:pPr marL="0" indent="0">
              <a:buNone/>
            </a:pPr>
            <a:r>
              <a:rPr lang="en-US"/>
              <a:t>Exercise bundle p.2</a:t>
            </a:r>
          </a:p>
          <a:p>
            <a:pPr marL="0" indent="0">
              <a:buNone/>
            </a:pPr>
            <a:r>
              <a:rPr lang="en-US" b="1"/>
              <a:t>Instruction: </a:t>
            </a:r>
          </a:p>
          <a:p>
            <a:pPr marL="971550" lvl="1" indent="-514350">
              <a:buFont typeface="+mj-lt"/>
              <a:buAutoNum type="arabicPeriod"/>
            </a:pPr>
            <a:r>
              <a:rPr lang="en-US"/>
              <a:t>Add to your </a:t>
            </a:r>
            <a:r>
              <a:rPr lang="en-US" b="1">
                <a:solidFill>
                  <a:srgbClr val="7FD7F7"/>
                </a:solidFill>
                <a:latin typeface="Arial" panose="020B0604020202020204" pitchFamily="34" charset="0"/>
                <a:cs typeface="Arial" panose="020B0604020202020204" pitchFamily="34" charset="0"/>
              </a:rPr>
              <a:t>blue </a:t>
            </a:r>
            <a:r>
              <a:rPr lang="en-US" b="1" err="1">
                <a:solidFill>
                  <a:srgbClr val="7FD7F7"/>
                </a:solidFill>
                <a:latin typeface="Arial" panose="020B0604020202020204" pitchFamily="34" charset="0"/>
                <a:cs typeface="Arial" panose="020B0604020202020204" pitchFamily="34" charset="0"/>
              </a:rPr>
              <a:t>post-its</a:t>
            </a:r>
            <a:r>
              <a:rPr lang="en-US" b="1">
                <a:solidFill>
                  <a:srgbClr val="7FD7F7"/>
                </a:solidFill>
                <a:latin typeface="Arial" panose="020B0604020202020204" pitchFamily="34" charset="0"/>
                <a:cs typeface="Arial" panose="020B0604020202020204" pitchFamily="34" charset="0"/>
              </a:rPr>
              <a:t> (datapoints)</a:t>
            </a:r>
          </a:p>
          <a:p>
            <a:pPr marL="1428750" lvl="2" indent="-514350">
              <a:buFont typeface="+mj-lt"/>
              <a:buAutoNum type="alphaLcPeriod"/>
            </a:pPr>
            <a:r>
              <a:rPr lang="en-US">
                <a:latin typeface="Arial" panose="020B0604020202020204" pitchFamily="34" charset="0"/>
                <a:cs typeface="Arial" panose="020B0604020202020204" pitchFamily="34" charset="0"/>
              </a:rPr>
              <a:t>Digital of Physical</a:t>
            </a:r>
          </a:p>
          <a:p>
            <a:pPr marL="1428750" lvl="2" indent="-514350">
              <a:buFont typeface="+mj-lt"/>
              <a:buAutoNum type="alphaLcPeriod"/>
            </a:pPr>
            <a:r>
              <a:rPr lang="en-US">
                <a:latin typeface="Arial" panose="020B0604020202020204" pitchFamily="34" charset="0"/>
                <a:cs typeface="Arial" panose="020B0604020202020204" pitchFamily="34" charset="0"/>
              </a:rPr>
              <a:t>New or Reused</a:t>
            </a:r>
          </a:p>
          <a:p>
            <a:pPr marL="1428750" lvl="2" indent="-514350">
              <a:buFont typeface="+mj-lt"/>
              <a:buAutoNum type="alphaLcPeriod"/>
            </a:pPr>
            <a:r>
              <a:rPr lang="en-US">
                <a:latin typeface="Arial" panose="020B0604020202020204" pitchFamily="34" charset="0"/>
                <a:cs typeface="Arial" panose="020B0604020202020204" pitchFamily="34" charset="0"/>
              </a:rPr>
              <a:t>Format</a:t>
            </a:r>
          </a:p>
          <a:p>
            <a:pPr marL="1428750" lvl="2" indent="-514350">
              <a:buFont typeface="+mj-lt"/>
              <a:buAutoNum type="alphaLcPeriod"/>
            </a:pPr>
            <a:r>
              <a:rPr lang="en-US">
                <a:latin typeface="Arial" panose="020B0604020202020204" pitchFamily="34" charset="0"/>
                <a:cs typeface="Arial" panose="020B0604020202020204" pitchFamily="34" charset="0"/>
              </a:rPr>
              <a:t>Volume (number of samples OR files with expected size)</a:t>
            </a:r>
          </a:p>
          <a:p>
            <a:pPr marL="914400" lvl="2" indent="0">
              <a:buNone/>
            </a:pPr>
            <a:endParaRPr lang="en-US">
              <a:latin typeface="Arial" panose="020B0604020202020204" pitchFamily="34" charset="0"/>
              <a:cs typeface="Arial" panose="020B0604020202020204" pitchFamily="34" charset="0"/>
            </a:endParaRPr>
          </a:p>
          <a:p>
            <a:pPr marL="971550" lvl="1" indent="-514350">
              <a:buFont typeface="+mj-lt"/>
              <a:buAutoNum type="arabicPeriod"/>
            </a:pPr>
            <a:r>
              <a:rPr lang="en-US">
                <a:latin typeface="Arial" panose="020B0604020202020204" pitchFamily="34" charset="0"/>
                <a:cs typeface="Arial" panose="020B0604020202020204" pitchFamily="34" charset="0"/>
              </a:rPr>
              <a:t>Translate these to Data table in </a:t>
            </a:r>
            <a:r>
              <a:rPr lang="en-US" err="1">
                <a:latin typeface="Arial" panose="020B0604020202020204" pitchFamily="34" charset="0"/>
                <a:cs typeface="Arial" panose="020B0604020202020204" pitchFamily="34" charset="0"/>
              </a:rPr>
              <a:t>DMPonline</a:t>
            </a:r>
            <a:r>
              <a:rPr lang="en-US">
                <a:latin typeface="Arial" panose="020B0604020202020204" pitchFamily="34" charset="0"/>
                <a:cs typeface="Arial" panose="020B0604020202020204" pitchFamily="34" charset="0"/>
              </a:rPr>
              <a:t> </a:t>
            </a:r>
            <a:br>
              <a:rPr lang="en-US">
                <a:latin typeface="Arial" panose="020B0604020202020204" pitchFamily="34" charset="0"/>
                <a:cs typeface="Arial" panose="020B0604020202020204" pitchFamily="34" charset="0"/>
              </a:rPr>
            </a:br>
            <a:r>
              <a:rPr lang="en-US">
                <a:latin typeface="Arial" panose="020B0604020202020204" pitchFamily="34" charset="0"/>
                <a:cs typeface="Arial" panose="020B0604020202020204" pitchFamily="34" charset="0"/>
              </a:rPr>
              <a:t>(Section 1. Research Data Summary – Question 1.1)</a:t>
            </a:r>
          </a:p>
        </p:txBody>
      </p:sp>
      <p:sp>
        <p:nvSpPr>
          <p:cNvPr id="10" name="TextBox 9">
            <a:extLst>
              <a:ext uri="{FF2B5EF4-FFF2-40B4-BE49-F238E27FC236}">
                <a16:creationId xmlns:a16="http://schemas.microsoft.com/office/drawing/2014/main" id="{3B4081EB-AC92-AD7B-DC89-63764BB4854B}"/>
              </a:ext>
            </a:extLst>
          </p:cNvPr>
          <p:cNvSpPr txBox="1"/>
          <p:nvPr/>
        </p:nvSpPr>
        <p:spPr>
          <a:xfrm>
            <a:off x="5485347" y="1547620"/>
            <a:ext cx="6130653" cy="707886"/>
          </a:xfrm>
          <a:prstGeom prst="rect">
            <a:avLst/>
          </a:prstGeom>
          <a:noFill/>
          <a:ln w="12700">
            <a:solidFill>
              <a:srgbClr val="005E77"/>
            </a:solidFill>
          </a:ln>
        </p:spPr>
        <p:txBody>
          <a:bodyPr wrap="none" rtlCol="0">
            <a:spAutoFit/>
          </a:bodyPr>
          <a:lstStyle/>
          <a:p>
            <a:pPr algn="ctr"/>
            <a:r>
              <a:rPr lang="en-US" sz="2000" b="1">
                <a:solidFill>
                  <a:srgbClr val="7FD7F7"/>
                </a:solidFill>
                <a:latin typeface="Arial" panose="020B0604020202020204" pitchFamily="34" charset="0"/>
                <a:cs typeface="Arial" panose="020B0604020202020204" pitchFamily="34" charset="0"/>
              </a:rPr>
              <a:t>Data points (in/outputs): Blue </a:t>
            </a:r>
          </a:p>
          <a:p>
            <a:pPr algn="ctr"/>
            <a:r>
              <a:rPr lang="en-US" sz="2000" b="1">
                <a:solidFill>
                  <a:srgbClr val="7FD7F7"/>
                </a:solidFill>
                <a:latin typeface="Arial" panose="020B0604020202020204" pitchFamily="34" charset="0"/>
                <a:cs typeface="Arial" panose="020B0604020202020204" pitchFamily="34" charset="0"/>
              </a:rPr>
              <a:t>​</a:t>
            </a:r>
            <a:r>
              <a:rPr lang="en-US" sz="2000" b="1">
                <a:solidFill>
                  <a:schemeClr val="accent4">
                    <a:lumMod val="60000"/>
                    <a:lumOff val="40000"/>
                  </a:schemeClr>
                </a:solidFill>
                <a:latin typeface="Arial" panose="020B0604020202020204" pitchFamily="34" charset="0"/>
                <a:cs typeface="Arial" panose="020B0604020202020204" pitchFamily="34" charset="0"/>
              </a:rPr>
              <a:t>Steps (methods, analysis, processing,…): Yellow</a:t>
            </a:r>
          </a:p>
        </p:txBody>
      </p:sp>
    </p:spTree>
    <p:extLst>
      <p:ext uri="{BB962C8B-B14F-4D97-AF65-F5344CB8AC3E}">
        <p14:creationId xmlns:p14="http://schemas.microsoft.com/office/powerpoint/2010/main" val="3342804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EA8-90AA-59D2-4BA9-050B23A55AC9}"/>
              </a:ext>
            </a:extLst>
          </p:cNvPr>
          <p:cNvSpPr>
            <a:spLocks noGrp="1"/>
          </p:cNvSpPr>
          <p:nvPr>
            <p:ph type="title"/>
          </p:nvPr>
        </p:nvSpPr>
        <p:spPr/>
        <p:txBody>
          <a:bodyPr/>
          <a:lstStyle/>
          <a:p>
            <a:r>
              <a:rPr lang="en-US"/>
              <a:t>Jie’s data table</a:t>
            </a:r>
            <a:endParaRPr lang="nl-BE"/>
          </a:p>
        </p:txBody>
      </p:sp>
      <p:sp>
        <p:nvSpPr>
          <p:cNvPr id="4" name="Slide Number Placeholder 3">
            <a:extLst>
              <a:ext uri="{FF2B5EF4-FFF2-40B4-BE49-F238E27FC236}">
                <a16:creationId xmlns:a16="http://schemas.microsoft.com/office/drawing/2014/main" id="{299AE531-F654-DE73-A4C0-71A51FBA6B58}"/>
              </a:ext>
            </a:extLst>
          </p:cNvPr>
          <p:cNvSpPr>
            <a:spLocks noGrp="1"/>
          </p:cNvSpPr>
          <p:nvPr>
            <p:ph type="sldNum" sz="quarter" idx="12"/>
          </p:nvPr>
        </p:nvSpPr>
        <p:spPr/>
        <p:txBody>
          <a:bodyPr/>
          <a:lstStyle/>
          <a:p>
            <a:fld id="{85114D95-D6A6-084A-9D9C-617B45E258AD}" type="slidenum">
              <a:rPr lang="nl-NL" smtClean="0"/>
              <a:t>30</a:t>
            </a:fld>
            <a:endParaRPr lang="nl-NL"/>
          </a:p>
        </p:txBody>
      </p:sp>
      <p:pic>
        <p:nvPicPr>
          <p:cNvPr id="6" name="Picture 5">
            <a:extLst>
              <a:ext uri="{FF2B5EF4-FFF2-40B4-BE49-F238E27FC236}">
                <a16:creationId xmlns:a16="http://schemas.microsoft.com/office/drawing/2014/main" id="{2B82DA95-0282-E051-620F-883CCC7B82E5}"/>
              </a:ext>
            </a:extLst>
          </p:cNvPr>
          <p:cNvPicPr>
            <a:picLocks noChangeAspect="1"/>
          </p:cNvPicPr>
          <p:nvPr/>
        </p:nvPicPr>
        <p:blipFill>
          <a:blip r:embed="rId3"/>
          <a:stretch>
            <a:fillRect/>
          </a:stretch>
        </p:blipFill>
        <p:spPr>
          <a:xfrm>
            <a:off x="4082742" y="0"/>
            <a:ext cx="8109258" cy="6858000"/>
          </a:xfrm>
          <a:prstGeom prst="rect">
            <a:avLst/>
          </a:prstGeom>
        </p:spPr>
      </p:pic>
      <p:sp>
        <p:nvSpPr>
          <p:cNvPr id="5" name="Content Placeholder 2">
            <a:extLst>
              <a:ext uri="{FF2B5EF4-FFF2-40B4-BE49-F238E27FC236}">
                <a16:creationId xmlns:a16="http://schemas.microsoft.com/office/drawing/2014/main" id="{27F3538A-9B9B-91F9-5ECD-7A801A74B5AF}"/>
              </a:ext>
            </a:extLst>
          </p:cNvPr>
          <p:cNvSpPr>
            <a:spLocks noGrp="1"/>
          </p:cNvSpPr>
          <p:nvPr>
            <p:ph idx="1"/>
          </p:nvPr>
        </p:nvSpPr>
        <p:spPr>
          <a:xfrm>
            <a:off x="576000" y="2056196"/>
            <a:ext cx="3506742" cy="3938548"/>
          </a:xfrm>
        </p:spPr>
        <p:txBody>
          <a:bodyPr>
            <a:normAutofit/>
          </a:bodyPr>
          <a:lstStyle/>
          <a:p>
            <a:pPr marL="0" indent="0">
              <a:buNone/>
            </a:pPr>
            <a:r>
              <a:rPr lang="en-US" sz="2400">
                <a:latin typeface="Arial" panose="020B0604020202020204" pitchFamily="34" charset="0"/>
                <a:cs typeface="Arial" panose="020B0604020202020204" pitchFamily="34" charset="0"/>
              </a:rPr>
              <a:t>Translate to Data table:</a:t>
            </a:r>
          </a:p>
          <a:p>
            <a:pPr marL="514350" indent="-514350">
              <a:buFont typeface="+mj-lt"/>
              <a:buAutoNum type="alphaLcPeriod"/>
            </a:pPr>
            <a:r>
              <a:rPr lang="en-US" sz="2000">
                <a:latin typeface="Arial" panose="020B0604020202020204" pitchFamily="34" charset="0"/>
                <a:cs typeface="Arial" panose="020B0604020202020204" pitchFamily="34" charset="0"/>
              </a:rPr>
              <a:t>Number your rows!</a:t>
            </a:r>
          </a:p>
          <a:p>
            <a:pPr marL="514350" indent="-514350">
              <a:buFont typeface="+mj-lt"/>
              <a:buAutoNum type="alphaLcPeriod"/>
            </a:pPr>
            <a:r>
              <a:rPr lang="en-US" sz="2000">
                <a:latin typeface="Arial" panose="020B0604020202020204" pitchFamily="34" charset="0"/>
                <a:cs typeface="Arial" panose="020B0604020202020204" pitchFamily="34" charset="0"/>
              </a:rPr>
              <a:t>Add number to </a:t>
            </a:r>
            <a:r>
              <a:rPr lang="en-US" sz="2000" err="1">
                <a:latin typeface="Arial" panose="020B0604020202020204" pitchFamily="34" charset="0"/>
                <a:cs typeface="Arial" panose="020B0604020202020204" pitchFamily="34" charset="0"/>
              </a:rPr>
              <a:t>post-it</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396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6A8DC-F345-515E-A831-698591AD786E}"/>
              </a:ext>
            </a:extLst>
          </p:cNvPr>
          <p:cNvSpPr>
            <a:spLocks noGrp="1"/>
          </p:cNvSpPr>
          <p:nvPr>
            <p:ph type="title"/>
          </p:nvPr>
        </p:nvSpPr>
        <p:spPr/>
        <p:txBody>
          <a:bodyPr/>
          <a:lstStyle/>
          <a:p>
            <a:r>
              <a:rPr lang="en-US"/>
              <a:t>Plenary discussion</a:t>
            </a:r>
            <a:endParaRPr lang="nl-BE"/>
          </a:p>
        </p:txBody>
      </p:sp>
      <p:sp>
        <p:nvSpPr>
          <p:cNvPr id="3" name="Content Placeholder 2">
            <a:extLst>
              <a:ext uri="{FF2B5EF4-FFF2-40B4-BE49-F238E27FC236}">
                <a16:creationId xmlns:a16="http://schemas.microsoft.com/office/drawing/2014/main" id="{0AE2AF5A-8ED2-D53B-9AAC-7619CBD81E39}"/>
              </a:ext>
            </a:extLst>
          </p:cNvPr>
          <p:cNvSpPr>
            <a:spLocks noGrp="1"/>
          </p:cNvSpPr>
          <p:nvPr>
            <p:ph idx="1"/>
          </p:nvPr>
        </p:nvSpPr>
        <p:spPr/>
        <p:txBody>
          <a:bodyPr/>
          <a:lstStyle/>
          <a:p>
            <a:pPr marL="0" indent="0">
              <a:buNone/>
            </a:pPr>
            <a:r>
              <a:rPr lang="en-US"/>
              <a:t>Share your thoughts about the exercise (1/2 sentences):</a:t>
            </a:r>
          </a:p>
          <a:p>
            <a:pPr marL="0" indent="0">
              <a:buNone/>
            </a:pPr>
            <a:endParaRPr lang="en-US"/>
          </a:p>
          <a:p>
            <a:pPr marL="914400" lvl="1" indent="-457200">
              <a:buFont typeface="+mj-lt"/>
              <a:buAutoNum type="alphaLcPeriod"/>
            </a:pPr>
            <a:r>
              <a:rPr lang="en-US"/>
              <a:t>How easy was it to make the dataflow?</a:t>
            </a:r>
            <a:endParaRPr lang="nl-BE"/>
          </a:p>
          <a:p>
            <a:pPr marL="914400" lvl="1" indent="-457200">
              <a:buFont typeface="+mj-lt"/>
              <a:buAutoNum type="alphaLcPeriod"/>
            </a:pPr>
            <a:r>
              <a:rPr lang="en-US"/>
              <a:t>What insights did you gain from visualizing your dataflow?</a:t>
            </a:r>
            <a:endParaRPr lang="nl-BE"/>
          </a:p>
          <a:p>
            <a:pPr marL="914400" lvl="1" indent="-457200">
              <a:buFont typeface="+mj-lt"/>
              <a:buAutoNum type="alphaLcPeriod"/>
            </a:pPr>
            <a:r>
              <a:rPr lang="en-US"/>
              <a:t>Did drawing the dataflow help you to complete the data table in your DMP?</a:t>
            </a:r>
            <a:endParaRPr lang="nl-BE"/>
          </a:p>
          <a:p>
            <a:pPr marL="0" indent="0">
              <a:buNone/>
            </a:pPr>
            <a:endParaRPr lang="nl-BE"/>
          </a:p>
        </p:txBody>
      </p:sp>
      <p:sp>
        <p:nvSpPr>
          <p:cNvPr id="4" name="Slide Number Placeholder 3">
            <a:extLst>
              <a:ext uri="{FF2B5EF4-FFF2-40B4-BE49-F238E27FC236}">
                <a16:creationId xmlns:a16="http://schemas.microsoft.com/office/drawing/2014/main" id="{C1717848-ED1A-5E93-AF5F-2FDB599F0A61}"/>
              </a:ext>
            </a:extLst>
          </p:cNvPr>
          <p:cNvSpPr>
            <a:spLocks noGrp="1"/>
          </p:cNvSpPr>
          <p:nvPr>
            <p:ph type="sldNum" sz="quarter" idx="12"/>
          </p:nvPr>
        </p:nvSpPr>
        <p:spPr/>
        <p:txBody>
          <a:bodyPr/>
          <a:lstStyle/>
          <a:p>
            <a:fld id="{CC571AF6-6671-4538-974D-3AEC00AC0B82}" type="slidenum">
              <a:rPr lang="en-GB" smtClean="0"/>
              <a:t>31</a:t>
            </a:fld>
            <a:endParaRPr lang="en-GB"/>
          </a:p>
        </p:txBody>
      </p:sp>
      <p:sp>
        <p:nvSpPr>
          <p:cNvPr id="5" name="Text Placeholder 4">
            <a:extLst>
              <a:ext uri="{FF2B5EF4-FFF2-40B4-BE49-F238E27FC236}">
                <a16:creationId xmlns:a16="http://schemas.microsoft.com/office/drawing/2014/main" id="{B84E8B33-9515-EDD8-1973-C88440E114EE}"/>
              </a:ext>
            </a:extLst>
          </p:cNvPr>
          <p:cNvSpPr>
            <a:spLocks noGrp="1"/>
          </p:cNvSpPr>
          <p:nvPr>
            <p:ph type="body" sz="quarter" idx="10"/>
          </p:nvPr>
        </p:nvSpPr>
        <p:spPr/>
        <p:txBody>
          <a:bodyPr/>
          <a:lstStyle/>
          <a:p>
            <a:endParaRPr lang="nl-BE"/>
          </a:p>
        </p:txBody>
      </p:sp>
    </p:spTree>
    <p:extLst>
      <p:ext uri="{BB962C8B-B14F-4D97-AF65-F5344CB8AC3E}">
        <p14:creationId xmlns:p14="http://schemas.microsoft.com/office/powerpoint/2010/main" val="27952354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vy3cq54xo12rt497t2cwtv2oka5oxz"/>
</p:tagLst>
</file>

<file path=ppt/theme/theme1.xml><?xml version="1.0" encoding="utf-8"?>
<a:theme xmlns:a="http://schemas.openxmlformats.org/drawingml/2006/main" name="ppt_2Bergen_E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2Bergen_ENG" id="{206DA0AB-20BE-45A2-9D16-6FBACF0B9CF1}" vid="{867A2822-7A75-4382-B8A9-712C3BAA81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271F1EA0C1CE4D8FAA68334E68C28E" ma:contentTypeVersion="25" ma:contentTypeDescription="Een nieuw document maken." ma:contentTypeScope="" ma:versionID="1d0f8e40399272023d750b1886a3fcff">
  <xsd:schema xmlns:xsd="http://www.w3.org/2001/XMLSchema" xmlns:xs="http://www.w3.org/2001/XMLSchema" xmlns:p="http://schemas.microsoft.com/office/2006/metadata/properties" xmlns:ns2="9da3c8d9-d598-4f93-96af-21376e439572" xmlns:ns3="6093c75b-2217-4201-9fc4-f5ea412e3c47" targetNamespace="http://schemas.microsoft.com/office/2006/metadata/properties" ma:root="true" ma:fieldsID="8aa5a3d6c703762f304d1ddf3e108a9b" ns2:_="" ns3:_="">
    <xsd:import namespace="9da3c8d9-d598-4f93-96af-21376e439572"/>
    <xsd:import namespace="6093c75b-2217-4201-9fc4-f5ea412e3c4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element ref="ns2:MediaServiceSearchProperties" minOccurs="0"/>
                <xsd:element ref="ns2:FirstAuthor" minOccurs="0"/>
                <xsd:element ref="ns2:DOI" minOccurs="0"/>
                <xsd:element ref="ns2:MediaServiceLocation" minOccurs="0"/>
                <xsd:element ref="ns2:Doepubliek" minOccurs="0"/>
                <xsd:element ref="ns2:Domein" minOccurs="0"/>
                <xsd:element ref="ns2:Opleidingsniveau" minOccurs="0"/>
                <xsd:element ref="ns2:Document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a3c8d9-d598-4f93-96af-21376e439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FirstAuthor" ma:index="22" nillable="true" ma:displayName="First Author" ma:description="Naam van de persoon die de sessie geeft" ma:format="Dropdown" ma:internalName="FirstAuthor">
      <xsd:complexType>
        <xsd:complexContent>
          <xsd:extension base="dms:MultiChoiceFillIn">
            <xsd:sequence>
              <xsd:element name="Value" maxOccurs="unbounded" minOccurs="0" nillable="true">
                <xsd:simpleType>
                  <xsd:union memberTypes="dms:Text">
                    <xsd:simpleType>
                      <xsd:restriction base="dms:Choice">
                        <xsd:enumeration value="Thomas Vandendriesche"/>
                        <xsd:enumeration value="Anouk D'Hont"/>
                        <xsd:enumeration value="Chayenne Van Meel"/>
                        <xsd:enumeration value="Inge Mannaerts"/>
                        <xsd:enumeration value="Krizia Tuand"/>
                        <xsd:enumeration value="Maarten Jackers"/>
                        <xsd:enumeration value="Norin Hamouda"/>
                        <xsd:enumeration value="Sylvette Vanderstraeten"/>
                        <xsd:enumeration value="Daan Soenens"/>
                        <xsd:enumeration value="Erik Verraedt"/>
                        <xsd:enumeration value="Greet Peters"/>
                        <xsd:enumeration value="Inge Discaert"/>
                        <xsd:enumeration value="Veronique Trippas"/>
                        <xsd:enumeration value="Andere"/>
                        <xsd:enumeration value="Choice 15"/>
                      </xsd:restriction>
                    </xsd:simpleType>
                  </xsd:union>
                </xsd:simpleType>
              </xsd:element>
            </xsd:sequence>
          </xsd:extension>
        </xsd:complexContent>
      </xsd:complexType>
    </xsd:element>
    <xsd:element name="DOI" ma:index="23" nillable="true" ma:displayName="DOI" ma:format="Dropdown" ma:internalName="DOI">
      <xsd:simpleType>
        <xsd:restriction base="dms:Text">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Doepubliek" ma:index="25" nillable="true" ma:displayName="Doepubliek" ma:description="Geef aan voor wie de presentatie gegeven is:&#10;&#10;Curriculaire sessies, selcteer de juiste richtingsdetails&#10;&#10;Sessies voor onderzoeksgroepen/op vraag duid Sessies op maat aan en geef details in de kolom opmerkingen." ma:format="Dropdown" ma:internalName="Doepubliek">
      <xsd:complexType>
        <xsd:complexContent>
          <xsd:extension base="dms:MultiChoice">
            <xsd:sequence>
              <xsd:element name="Value" maxOccurs="unbounded" minOccurs="0" nillable="true">
                <xsd:simpleType>
                  <xsd:restriction base="dms:Choice">
                    <xsd:enumeration value="Sessies op maat"/>
                    <xsd:enumeration value="DS_BMW"/>
                    <xsd:enumeration value="DS_Architectuur"/>
                    <xsd:enumeration value="DS_WT"/>
                    <xsd:enumeration value="Bewegingswetenschappen"/>
                    <xsd:enumeration value="Deglutology"/>
                    <xsd:enumeration value="Farmacie"/>
                    <xsd:enumeration value="Ergotherapie"/>
                    <xsd:enumeration value="Geneeskunde"/>
                    <xsd:enumeration value="LogopedieEnAudiologie"/>
                    <xsd:enumeration value="Seksuologie"/>
                    <xsd:enumeration value="StatisticsAndDataScience"/>
                    <xsd:enumeration value="Tandheelkunde"/>
                    <xsd:enumeration value="VerpleegkundeEnVroedkunde"/>
                    <xsd:enumeration value="Personeel"/>
                    <xsd:enumeration value="Conferentie"/>
                    <xsd:enumeration value="Biomedische wetenschappen"/>
                    <xsd:enumeration value="Lichamelijke opvoeding en bewegingswetenschappen"/>
                    <xsd:enumeration value="Revalidatiewetenschappen en Kinesitherapie"/>
                    <xsd:enumeration value="Industriële ingenieurswetenschappen"/>
                    <xsd:enumeration value="Ingenieurswetenschappen"/>
                    <xsd:enumeration value="Architectuur"/>
                  </xsd:restriction>
                </xsd:simpleType>
              </xsd:element>
            </xsd:sequence>
          </xsd:extension>
        </xsd:complexContent>
      </xsd:complexType>
    </xsd:element>
    <xsd:element name="Domein" ma:index="26" nillable="true" ma:displayName="Domein" ma:format="Dropdown" ma:internalName="Domein">
      <xsd:simpleType>
        <xsd:restriction base="dms:Choice">
          <xsd:enumeration value="Onderwijs (OW)"/>
          <xsd:enumeration value="Onderzoek (OZ)"/>
          <xsd:enumeration value="Overkoepelend (OW+OZ)"/>
        </xsd:restriction>
      </xsd:simpleType>
    </xsd:element>
    <xsd:element name="Opleidingsniveau" ma:index="27" nillable="true" ma:displayName="Opleidingsniveau" ma:description="Selecteer de opleidingsfase van het doelpubliek." ma:format="Dropdown" ma:internalName="Opleidingsniveau">
      <xsd:simpleType>
        <xsd:union memberTypes="dms:Text">
          <xsd:simpleType>
            <xsd:restriction base="dms:Choice">
              <xsd:enumeration value="1e Bachelor"/>
              <xsd:enumeration value="2e Bachelor"/>
              <xsd:enumeration value="3e Bachelor"/>
              <xsd:enumeration value="1e Master"/>
              <xsd:enumeration value="2e Master"/>
              <xsd:enumeration value="PhD en/of postdoc"/>
              <xsd:enumeration value="Onderzoeksgroep"/>
              <xsd:enumeration value="Bibliotheek"/>
              <xsd:enumeration value="MaNaMa"/>
              <xsd:enumeration value="Schakel"/>
            </xsd:restriction>
          </xsd:simpleType>
        </xsd:union>
      </xsd:simpleType>
    </xsd:element>
    <xsd:element name="Documentstatus" ma:index="28" nillable="true" ma:displayName="Document status" ma:format="Dropdown" ma:internalName="Documentstatus">
      <xsd:simpleType>
        <xsd:restriction base="dms:Choice">
          <xsd:enumeration value="Draft"/>
          <xsd:enumeration value="To review"/>
          <xsd:enumeration value="Reviewed"/>
          <xsd:enumeration value="Finaal"/>
          <xsd:enumeration value="Presented"/>
          <xsd:enumeration value="Shared"/>
          <xsd:enumeration value="Feedbackform"/>
          <xsd:enumeration value="Lopend project"/>
          <xsd:enumeration value="Afgerond project"/>
          <xsd:enumeration value="Archief project"/>
        </xsd:restriction>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93c75b-2217-4201-9fc4-f5ea412e3c47"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6" nillable="true" ma:displayName="Taxonomy Catch All Column" ma:hidden="true" ma:list="{3868a3e2-2ab9-4f07-a8e7-8a1ee1d839a7}" ma:internalName="TaxCatchAll" ma:showField="CatchAllData" ma:web="6093c75b-2217-4201-9fc4-f5ea412e3c4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da3c8d9-d598-4f93-96af-21376e439572">
      <Terms xmlns="http://schemas.microsoft.com/office/infopath/2007/PartnerControls"/>
    </lcf76f155ced4ddcb4097134ff3c332f>
    <Documentstatus xmlns="9da3c8d9-d598-4f93-96af-21376e439572">Draft</Documentstatus>
    <FirstAuthor xmlns="9da3c8d9-d598-4f93-96af-21376e439572" xsi:nil="true"/>
    <TaxCatchAll xmlns="6093c75b-2217-4201-9fc4-f5ea412e3c47" xsi:nil="true"/>
    <Doepubliek xmlns="9da3c8d9-d598-4f93-96af-21376e439572" xsi:nil="true"/>
    <Opleidingsniveau xmlns="9da3c8d9-d598-4f93-96af-21376e439572">PhD en/of postdoc</Opleidingsniveau>
    <Domein xmlns="9da3c8d9-d598-4f93-96af-21376e439572">Onderzoek (OZ)</Domein>
    <DOI xmlns="9da3c8d9-d598-4f93-96af-21376e43957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B1D8CB-9C47-47E5-A341-3AEDD45FC459}">
  <ds:schemaRefs>
    <ds:schemaRef ds:uri="6093c75b-2217-4201-9fc4-f5ea412e3c47"/>
    <ds:schemaRef ds:uri="9da3c8d9-d598-4f93-96af-21376e4395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7C895FC-15D7-49C1-AD9A-9F487C4EAFB2}">
  <ds:schemaRefs>
    <ds:schemaRef ds:uri="6093c75b-2217-4201-9fc4-f5ea412e3c47"/>
    <ds:schemaRef ds:uri="9da3c8d9-d598-4f93-96af-21376e43957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1ECFB28-F235-4ACC-BFBE-160356F3B65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2441</Words>
  <Application>Microsoft Office PowerPoint</Application>
  <PresentationFormat>Widescreen</PresentationFormat>
  <Paragraphs>386</Paragraphs>
  <Slides>31</Slides>
  <Notes>19</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Book Antiqua</vt:lpstr>
      <vt:lpstr>Calibri</vt:lpstr>
      <vt:lpstr>Wingdings</vt:lpstr>
      <vt:lpstr>ppt_2Bergen_ENG</vt:lpstr>
      <vt:lpstr>Introduction to RDM in Life Sciences Session 2: Build a plan</vt:lpstr>
      <vt:lpstr>What can go wrong without good RDM</vt:lpstr>
      <vt:lpstr>What can go wrong without good RDM</vt:lpstr>
      <vt:lpstr>Solution: good RDM</vt:lpstr>
      <vt:lpstr>Solution: good RDM</vt:lpstr>
      <vt:lpstr>Flemish funders (FWO BOF, IOF or VLAIO)</vt:lpstr>
      <vt:lpstr>Flemish funders (FWO BOF, IOF or VLAIO)</vt:lpstr>
      <vt:lpstr>The DMP</vt:lpstr>
      <vt:lpstr>Flemish DMP template</vt:lpstr>
      <vt:lpstr>Exercise 1: Start a DMP template in DMP Online Your project</vt:lpstr>
      <vt:lpstr>PowerPoint Presentation</vt:lpstr>
      <vt:lpstr>Create a plan</vt:lpstr>
      <vt:lpstr>Vanaf hier: 2Bergen</vt:lpstr>
      <vt:lpstr>Purpose of the Data Management Plan (DMP)</vt:lpstr>
      <vt:lpstr>Reframing RDM: From compliance to craft</vt:lpstr>
      <vt:lpstr>What you will build in this course</vt:lpstr>
      <vt:lpstr>Our example - Jie’s work</vt:lpstr>
      <vt:lpstr> Exercise 2: Dataflow</vt:lpstr>
      <vt:lpstr> Exercise 2: Dataflow </vt:lpstr>
      <vt:lpstr> Exercise 2: Dataflow </vt:lpstr>
      <vt:lpstr>Exercise 2: Build a Dataflow – example  Jie’s project</vt:lpstr>
      <vt:lpstr>Exercise 2: Build a Dataflow – example  Jie’s project</vt:lpstr>
      <vt:lpstr>Exercise 2: Build a Dataflow – example  Jie’s project</vt:lpstr>
      <vt:lpstr>Exercise 2: Build a Dataflow – example  Jie’s project</vt:lpstr>
      <vt:lpstr>Exercise 2: Build a Dataflow – example  Jie’s project</vt:lpstr>
      <vt:lpstr>Exercise 2: Build a Dataflow – example  Jie’s project</vt:lpstr>
      <vt:lpstr>A dataflow helps Jie to makes sense of his data</vt:lpstr>
      <vt:lpstr>Exercise 2: Build a Dataflow Your project</vt:lpstr>
      <vt:lpstr>Exercise 3: Translate Dataflow to DMP Your project</vt:lpstr>
      <vt:lpstr>Jie’s data table</vt:lpstr>
      <vt:lpstr>Plenary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Maarten Jackers</dc:creator>
  <cp:lastModifiedBy>Matheus Pereira da Cruz Gomes Lourenço</cp:lastModifiedBy>
  <cp:revision>1</cp:revision>
  <cp:lastPrinted>2025-11-19T15:42:11Z</cp:lastPrinted>
  <dcterms:created xsi:type="dcterms:W3CDTF">2025-04-02T10:10:41Z</dcterms:created>
  <dcterms:modified xsi:type="dcterms:W3CDTF">2026-01-05T14:08:51Z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0x010100B1271F1EA0C1CE4D8FAA68334E68C28E</vt:lpwstr>
  </property>
  <property fmtid="{D5CDD505-2E9C-101B-9397-08002B2CF9AE}" pid="3" name="MediaServiceImageTags">
    <vt:lpwstr/>
  </property>
</Properties>
</file>