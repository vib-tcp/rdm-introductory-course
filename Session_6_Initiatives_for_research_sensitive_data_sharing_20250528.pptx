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8" r:id="rId5"/>
  </p:sldMasterIdLst>
  <p:handoutMasterIdLst>
    <p:handoutMasterId r:id="rId21"/>
  </p:handoutMasterIdLst>
  <p:sldIdLst>
    <p:sldId id="257" r:id="rId6"/>
    <p:sldId id="1312" r:id="rId7"/>
    <p:sldId id="1313" r:id="rId8"/>
    <p:sldId id="1306" r:id="rId9"/>
    <p:sldId id="1308" r:id="rId10"/>
    <p:sldId id="1305" r:id="rId11"/>
    <p:sldId id="1315" r:id="rId12"/>
    <p:sldId id="1307" r:id="rId13"/>
    <p:sldId id="1311" r:id="rId14"/>
    <p:sldId id="1316" r:id="rId15"/>
    <p:sldId id="1309" r:id="rId16"/>
    <p:sldId id="1314" r:id="rId17"/>
    <p:sldId id="1317" r:id="rId18"/>
    <p:sldId id="1304" r:id="rId19"/>
    <p:sldId id="258" r:id="rId20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944"/>
    <a:srgbClr val="EA6341"/>
    <a:srgbClr val="42B7BA"/>
    <a:srgbClr val="FFFFFF"/>
    <a:srgbClr val="F7F4F9"/>
    <a:srgbClr val="7C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4E0B22-7B97-314E-9CC4-70F7E3C8B1F0}" v="2" dt="2025-05-28T08:42:08.5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22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09D5A3-0A09-A0FF-BB0D-C96B49F422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364877-C4CF-BD6E-A2B7-D734489AE8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EE29F-021E-F347-873B-A7196CCC4916}" type="datetimeFigureOut">
              <a:rPr lang="en-BE" smtClean="0"/>
              <a:t>03/06/2025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82253-7830-0338-5BF0-2426ED0A22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E7A1CB-F031-23AD-C874-DCB9F0648EC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2A2251-D158-914E-BA78-FBF40F2EC7D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04921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svg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7702" y="1276473"/>
            <a:ext cx="9418642" cy="2387600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bg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4301" y="3756148"/>
            <a:ext cx="9432043" cy="8228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Corbel" panose="020B05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8047664" y="6343466"/>
            <a:ext cx="3617360" cy="2219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</a:t>
            </a:r>
            <a:endParaRPr lang="nl-BE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140322" y="6343466"/>
            <a:ext cx="1474152" cy="2166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048378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1"/>
          </p:cNvSpPr>
          <p:nvPr>
            <p:ph type="ctrTitle"/>
          </p:nvPr>
        </p:nvSpPr>
        <p:spPr>
          <a:xfrm>
            <a:off x="437702" y="1276473"/>
            <a:ext cx="9418642" cy="2387600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90069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A_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5399152-EFEC-27D9-85D2-8575DD0A6D1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825625"/>
            <a:ext cx="10515600" cy="43672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31969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B_Title_Content_Detai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20F0C4-50D3-1B5F-BB00-0E3E0FD48CA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825625"/>
            <a:ext cx="10515600" cy="43672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84534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C_Title_Conten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14690AE-1D3E-8F67-A2B6-D6CBE787EF9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A81242A-C24A-527A-6783-B0F49C2ED72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825625"/>
            <a:ext cx="10515600" cy="43672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61654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A_Title_Subtitle_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2876"/>
          </a:xfrm>
        </p:spPr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91349"/>
            <a:ext cx="10515600" cy="58608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ts val="3200"/>
              </a:lnSpc>
              <a:buNone/>
              <a:defRPr sz="3200" baseline="0">
                <a:solidFill>
                  <a:srgbClr val="EA6341"/>
                </a:solidFill>
                <a:latin typeface="+mn-lt"/>
              </a:defRPr>
            </a:lvl1pPr>
          </a:lstStyle>
          <a:p>
            <a:pPr lvl="0"/>
            <a:r>
              <a:rPr lang="nl-BE"/>
              <a:t>Subheadline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B2EA0038-0972-B255-2289-A14CD5B54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825625"/>
            <a:ext cx="10515600" cy="43672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57059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B_Title_Subtitle_Content_Detai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2876"/>
          </a:xfrm>
        </p:spPr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91349"/>
            <a:ext cx="10515600" cy="58608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ts val="3200"/>
              </a:lnSpc>
              <a:buNone/>
              <a:defRPr sz="3200" baseline="0">
                <a:solidFill>
                  <a:srgbClr val="EA6341"/>
                </a:solidFill>
                <a:latin typeface="+mn-lt"/>
              </a:defRPr>
            </a:lvl1pPr>
          </a:lstStyle>
          <a:p>
            <a:pPr lvl="0"/>
            <a:r>
              <a:rPr lang="nl-BE"/>
              <a:t>Subheadline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B2EA0038-0972-B255-2289-A14CD5B54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825625"/>
            <a:ext cx="10515600" cy="43672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36134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C_Title_Subtitle_Content_Blan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790EE2D-74F1-85A0-EB69-0D3977D9527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2876"/>
          </a:xfrm>
        </p:spPr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91349"/>
            <a:ext cx="10515600" cy="58608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ts val="3200"/>
              </a:lnSpc>
              <a:buNone/>
              <a:defRPr sz="3200" baseline="0">
                <a:solidFill>
                  <a:srgbClr val="EA6341"/>
                </a:solidFill>
                <a:latin typeface="+mn-lt"/>
              </a:defRPr>
            </a:lvl1pPr>
          </a:lstStyle>
          <a:p>
            <a:pPr lvl="0"/>
            <a:r>
              <a:rPr lang="nl-BE"/>
              <a:t>Subheadline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B2EA0038-0972-B255-2289-A14CD5B54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825625"/>
            <a:ext cx="10515600" cy="43672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75068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A_Title_2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0426DEE-DE9A-7229-0F6B-B741667253F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72201" y="1825625"/>
            <a:ext cx="5181600" cy="429777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3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59859" y="1138001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>
                <a:solidFill>
                  <a:srgbClr val="1B2944"/>
                </a:solidFill>
              </a:rPr>
              <a:t>R:255 G:104 30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-2359859" y="3655366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>
                <a:solidFill>
                  <a:srgbClr val="1B2944"/>
                </a:solidFill>
              </a:rPr>
              <a:t>R:66 G:183</a:t>
            </a:r>
            <a:r>
              <a:rPr lang="nl-BE" baseline="0">
                <a:solidFill>
                  <a:srgbClr val="1B2944"/>
                </a:solidFill>
              </a:rPr>
              <a:t> </a:t>
            </a:r>
            <a:r>
              <a:rPr lang="nl-BE">
                <a:solidFill>
                  <a:srgbClr val="1B2944"/>
                </a:solidFill>
              </a:rPr>
              <a:t>B:186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5E0DE35-59AB-8035-3D87-011A110898F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8201" y="1825625"/>
            <a:ext cx="5181600" cy="429777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3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54994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B_Title_2Columns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AD403E5-569F-61F1-4597-3855D145A8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0426DEE-DE9A-7229-0F6B-B741667253F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72201" y="1825625"/>
            <a:ext cx="5181600" cy="429777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3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59859" y="1138001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>
                <a:solidFill>
                  <a:srgbClr val="1B2944"/>
                </a:solidFill>
              </a:rPr>
              <a:t>R:255 G:104 30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-2359859" y="3655366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>
                <a:solidFill>
                  <a:srgbClr val="1B2944"/>
                </a:solidFill>
              </a:rPr>
              <a:t>R:66 G:183</a:t>
            </a:r>
            <a:r>
              <a:rPr lang="nl-BE" baseline="0">
                <a:solidFill>
                  <a:srgbClr val="1B2944"/>
                </a:solidFill>
              </a:rPr>
              <a:t> </a:t>
            </a:r>
            <a:r>
              <a:rPr lang="nl-BE">
                <a:solidFill>
                  <a:srgbClr val="1B2944"/>
                </a:solidFill>
              </a:rPr>
              <a:t>B:186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5E0DE35-59AB-8035-3D87-011A110898F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8201" y="1825625"/>
            <a:ext cx="5181600" cy="429777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3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07285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A_Title_3Columns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EEED40-C55A-2B5F-AE95-D07ABDE24DAA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414680" y="1799179"/>
            <a:ext cx="3362011" cy="4324218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9F9BB4-BE61-18E6-3CB1-01F8367F3894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7990846" y="1799179"/>
            <a:ext cx="3362011" cy="4324218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799179"/>
            <a:ext cx="3362011" cy="4324217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43002B7-1ED3-4764-AF38-52CBEC1EF8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14688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54910401-9E2D-48B8-B446-0695FFFC8F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1482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1640F02F-E1A8-4CA3-AB99-902A7892CD6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368277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91822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B_Title_3Columns_Ima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7C5DDD-2F69-3F83-B33C-43921F4DBE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EEED40-C55A-2B5F-AE95-D07ABDE24DAA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414680" y="1799179"/>
            <a:ext cx="3362011" cy="4324218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9F9BB4-BE61-18E6-3CB1-01F8367F3894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7990846" y="1799179"/>
            <a:ext cx="3362011" cy="4324218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799179"/>
            <a:ext cx="3362011" cy="4324217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43002B7-1ED3-4764-AF38-52CBEC1EF8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14688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54910401-9E2D-48B8-B446-0695FFFC8F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1482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1640F02F-E1A8-4CA3-AB99-902A7892CD6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368277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84559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A_Title_3Columns_Titl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E6026B-B1B3-385E-F77F-E091B5A2D92E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4414993" y="2741477"/>
            <a:ext cx="3362011" cy="3391900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95AACE8-C630-5ABC-4DE6-080C677FB568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7991789" y="2750200"/>
            <a:ext cx="3362011" cy="3391900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0703CD-0DFC-0DEF-C092-B84B2840BF35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838200" y="2731497"/>
            <a:ext cx="3362011" cy="3391900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43002B7-1ED3-4764-AF38-52CBEC1EF8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14688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54910401-9E2D-48B8-B446-0695FFFC8F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1482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1640F02F-E1A8-4CA3-AB99-902A7892CD6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368277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5075F23C-744C-415F-BAC5-E57FC4831B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14994" y="1798636"/>
            <a:ext cx="2267160" cy="9033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F4F63E8-EE5C-467B-846A-A7E1E41F44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7886" y="1800903"/>
            <a:ext cx="2267160" cy="9033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BF4D12B-AF98-4062-BED2-D233B0C817A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91477" y="1809417"/>
            <a:ext cx="2267160" cy="9033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8435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B_Title_3Columns_Title_Ima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F916C7-A47E-75F1-8B20-0DCD06879DA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E6026B-B1B3-385E-F77F-E091B5A2D92E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4414993" y="2741477"/>
            <a:ext cx="3362011" cy="3391900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95AACE8-C630-5ABC-4DE6-080C677FB568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7991789" y="2750200"/>
            <a:ext cx="3362011" cy="3391900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0703CD-0DFC-0DEF-C092-B84B2840BF35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838200" y="2731497"/>
            <a:ext cx="3362011" cy="3391900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43002B7-1ED3-4764-AF38-52CBEC1EF8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14688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54910401-9E2D-48B8-B446-0695FFFC8F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1482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1640F02F-E1A8-4CA3-AB99-902A7892CD6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368277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5075F23C-744C-415F-BAC5-E57FC4831B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14994" y="1798636"/>
            <a:ext cx="2267160" cy="9033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F4F63E8-EE5C-467B-846A-A7E1E41F44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7886" y="1800903"/>
            <a:ext cx="2267160" cy="9033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BF4D12B-AF98-4062-BED2-D233B0C817A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91477" y="1809417"/>
            <a:ext cx="2267160" cy="9033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3273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A_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18628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B_Title_Detai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78068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C_Title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0D564F-389D-C581-749E-A7B5C12BA52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252276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A_Blank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43081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B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68C701-201E-4B79-CA40-A1CB57D7DD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218496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Closing_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AAED37-C81A-94B3-3964-B312C38CA42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3" name="Picture 2" descr="A logo of a company&#10;&#10;Description automatically generated">
            <a:extLst>
              <a:ext uri="{FF2B5EF4-FFF2-40B4-BE49-F238E27FC236}">
                <a16:creationId xmlns:a16="http://schemas.microsoft.com/office/drawing/2014/main" id="{0B166950-2265-3922-1251-BD2FE21743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052" y="2311788"/>
            <a:ext cx="2260128" cy="122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01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38200" y="1841787"/>
            <a:ext cx="10515600" cy="4274256"/>
          </a:xfr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468711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7702" y="1276473"/>
            <a:ext cx="9418642" cy="2387600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accent6"/>
                </a:solidFill>
                <a:latin typeface="Corbel" panose="020B05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4301" y="3756148"/>
            <a:ext cx="9432043" cy="8228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BE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8047664" y="6343466"/>
            <a:ext cx="3617360" cy="2219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Presenter</a:t>
            </a:r>
            <a:endParaRPr lang="nl-BE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140322" y="6343466"/>
            <a:ext cx="1474152" cy="2166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6"/>
                </a:solidFill>
              </a:defRPr>
            </a:lvl1pPr>
          </a:lstStyle>
          <a:p>
            <a:pPr lvl="0"/>
            <a:r>
              <a:rPr lang="nl-BE"/>
              <a:t>Date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ADD2E91-E172-B14D-0340-CD33E59B9E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106" y="6080288"/>
            <a:ext cx="985121" cy="5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9032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1"/>
          </p:cNvSpPr>
          <p:nvPr>
            <p:ph type="ctrTitle"/>
          </p:nvPr>
        </p:nvSpPr>
        <p:spPr>
          <a:xfrm>
            <a:off x="437702" y="1276473"/>
            <a:ext cx="9418642" cy="2387600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accent6"/>
                </a:solidFill>
                <a:latin typeface="Corbel" panose="020B05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nl-BE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4F6356E-F38F-26C8-17E6-815D06C7C6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106" y="6080288"/>
            <a:ext cx="985121" cy="5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2403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A_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38200" y="1841787"/>
            <a:ext cx="10515600" cy="42742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Tx/>
              <a:buBlip>
                <a:blip r:embed="rId2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3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2114550" indent="-28575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099B27D-53AF-DA8E-EE83-C1D0C18D8C9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9106" y="6080288"/>
            <a:ext cx="985121" cy="5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8498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B_Title_Content_Detai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83E995-9DAF-1C3C-7D32-78B2A54B2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1787"/>
            <a:ext cx="10515600" cy="42742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Tx/>
              <a:buBlip>
                <a:blip r:embed="rId3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Tx/>
              <a:buBlip>
                <a:blip r:embed="rId5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Tx/>
              <a:buBlip>
                <a:blip r:embed="rId5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2114550" indent="-285750">
              <a:buClr>
                <a:srgbClr val="7C7C7C"/>
              </a:buClr>
              <a:buFontTx/>
              <a:buBlip>
                <a:blip r:embed="rId5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078471-CAF2-C746-4361-BFAA1E44BE3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9106" y="6080288"/>
            <a:ext cx="985121" cy="5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5411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C_Title_Conten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3B9A45-86D6-5834-AA62-9EA45EF336A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38200" y="1841787"/>
            <a:ext cx="10515600" cy="42742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Tx/>
              <a:buBlip>
                <a:blip r:embed="rId2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3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2114550" indent="-28575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75027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A_Title_Subtitl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2876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91349"/>
            <a:ext cx="10515600" cy="58608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ts val="3200"/>
              </a:lnSpc>
              <a:buNone/>
              <a:defRPr sz="2800" baseline="0">
                <a:solidFill>
                  <a:srgbClr val="EA6341"/>
                </a:solidFill>
                <a:latin typeface="+mn-lt"/>
              </a:defRPr>
            </a:lvl1pPr>
          </a:lstStyle>
          <a:p>
            <a:pPr lvl="0"/>
            <a:r>
              <a:rPr lang="nl-BE"/>
              <a:t>Subheadline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57C74F-0F5D-DC59-F3E2-06DFEF02B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1787"/>
            <a:ext cx="10515600" cy="42742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Tx/>
              <a:buBlip>
                <a:blip r:embed="rId2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3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2114550" indent="-28575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B7FF919-5E1E-C6E5-86BA-1834297F717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9106" y="6080288"/>
            <a:ext cx="985121" cy="5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2761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B_Title_Subtitle_Content_Detai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2876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91349"/>
            <a:ext cx="10515600" cy="58608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ts val="3200"/>
              </a:lnSpc>
              <a:buNone/>
              <a:defRPr sz="2800" baseline="0">
                <a:solidFill>
                  <a:srgbClr val="EA6341"/>
                </a:solidFill>
                <a:latin typeface="+mn-lt"/>
              </a:defRPr>
            </a:lvl1pPr>
          </a:lstStyle>
          <a:p>
            <a:pPr lvl="0"/>
            <a:r>
              <a:rPr lang="nl-BE"/>
              <a:t>Subheadline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57C74F-0F5D-DC59-F3E2-06DFEF02B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1787"/>
            <a:ext cx="10515600" cy="42742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Tx/>
              <a:buBlip>
                <a:blip r:embed="rId3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Tx/>
              <a:buBlip>
                <a:blip r:embed="rId5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Tx/>
              <a:buBlip>
                <a:blip r:embed="rId5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2114550" indent="-285750">
              <a:buClr>
                <a:srgbClr val="7C7C7C"/>
              </a:buClr>
              <a:buFontTx/>
              <a:buBlip>
                <a:blip r:embed="rId5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DE763C0-163C-C675-54D9-817369A17A4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9106" y="6080288"/>
            <a:ext cx="985121" cy="5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982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C_Title_Subtitle_Content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C4864B-01F9-0257-ABC9-5CE0C1C9FF2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2876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91349"/>
            <a:ext cx="10515600" cy="58608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ts val="3200"/>
              </a:lnSpc>
              <a:buNone/>
              <a:defRPr sz="2800" baseline="0">
                <a:solidFill>
                  <a:srgbClr val="EA6341"/>
                </a:solidFill>
                <a:latin typeface="+mn-lt"/>
              </a:defRPr>
            </a:lvl1pPr>
          </a:lstStyle>
          <a:p>
            <a:pPr lvl="0"/>
            <a:r>
              <a:rPr lang="nl-BE"/>
              <a:t>Subheadline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57C74F-0F5D-DC59-F3E2-06DFEF02B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1787"/>
            <a:ext cx="10515600" cy="42742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Tx/>
              <a:buBlip>
                <a:blip r:embed="rId3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Tx/>
              <a:buBlip>
                <a:blip r:embed="rId5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Tx/>
              <a:buBlip>
                <a:blip r:embed="rId5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2114550" indent="-285750">
              <a:buClr>
                <a:srgbClr val="7C7C7C"/>
              </a:buClr>
              <a:buFontTx/>
              <a:buBlip>
                <a:blip r:embed="rId5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549142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A_Title_2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39DBD1-ABCD-08A9-0945-DBD4F2A43F8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8200" y="1841787"/>
            <a:ext cx="5181600" cy="42742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Tx/>
              <a:buBlip>
                <a:blip r:embed="rId2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3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2114550" indent="-28575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2717FD0-3B0E-FE2D-C02A-C3252E87402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82591" y="1825625"/>
            <a:ext cx="5181600" cy="42742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Tx/>
              <a:buBlip>
                <a:blip r:embed="rId2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3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2114550" indent="-28575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nl-B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737E46D-2CE1-B849-D669-4A208882AB0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9106" y="6080288"/>
            <a:ext cx="985121" cy="5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376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A_Title_2Columns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3F3DA52-9CEC-482D-9AF9-EB5C55DB25C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39DBD1-ABCD-08A9-0945-DBD4F2A43F8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8200" y="1841787"/>
            <a:ext cx="5181600" cy="42742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Tx/>
              <a:buBlip>
                <a:blip r:embed="rId2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3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2114550" indent="-28575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2717FD0-3B0E-FE2D-C02A-C3252E87402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82591" y="1825625"/>
            <a:ext cx="5181600" cy="42742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Tx/>
              <a:buBlip>
                <a:blip r:embed="rId2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3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2114550" indent="-285750">
              <a:buClr>
                <a:srgbClr val="7C7C7C"/>
              </a:buClr>
              <a:buFontTx/>
              <a:buBlip>
                <a:blip r:embed="rId4"/>
              </a:buBlip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819414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A_Title_3Columns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4BBCA7C-7B6E-5C60-06FF-FD513F2D81EE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4424619" y="1799179"/>
            <a:ext cx="3362011" cy="4324217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E9A2FE0-E1ED-0605-66A1-96C90CCCF2AE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81849" y="1809118"/>
            <a:ext cx="3362011" cy="4324217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CA8FA1-4D01-E237-1AD4-5AEE224E507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8139" y="1809118"/>
            <a:ext cx="3362011" cy="4324217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43002B7-1ED3-4764-AF38-52CBEC1EF8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14688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GB"/>
              <a:t>Click icon to add picture</a:t>
            </a:r>
            <a:endParaRPr lang="nl-BE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54910401-9E2D-48B8-B446-0695FFFC8F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1482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GB"/>
              <a:t>Click icon to add picture</a:t>
            </a:r>
            <a:endParaRPr lang="nl-BE"/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1640F02F-E1A8-4CA3-AB99-902A7892CD6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368277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GB"/>
              <a:t>Click icon to add picture</a:t>
            </a:r>
            <a:endParaRPr lang="nl-B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32687BB-D7FC-B620-5E67-7C150E5093D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9106" y="6080288"/>
            <a:ext cx="985121" cy="5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3845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B_Title_3Columns_Ima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C422AAB-A25A-8891-6F27-D49247B904A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4BBCA7C-7B6E-5C60-06FF-FD513F2D81EE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4424619" y="1799179"/>
            <a:ext cx="3362011" cy="4324217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E9A2FE0-E1ED-0605-66A1-96C90CCCF2AE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81849" y="1809118"/>
            <a:ext cx="3362011" cy="4324217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CA8FA1-4D01-E237-1AD4-5AEE224E507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8139" y="1809118"/>
            <a:ext cx="3362011" cy="4324217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43002B7-1ED3-4764-AF38-52CBEC1EF8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14688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GB"/>
              <a:t>Click icon to add picture</a:t>
            </a:r>
            <a:endParaRPr lang="nl-BE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54910401-9E2D-48B8-B446-0695FFFC8F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1482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GB"/>
              <a:t>Click icon to add picture</a:t>
            </a:r>
            <a:endParaRPr lang="nl-BE"/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1640F02F-E1A8-4CA3-AB99-902A7892CD6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368277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GB"/>
              <a:t>Click icon to add picture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198441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A_Title_3Columns_Titl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43002B7-1ED3-4764-AF38-52CBEC1EF8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14688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GB"/>
              <a:t>Click icon to add picture</a:t>
            </a:r>
            <a:endParaRPr lang="nl-BE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54910401-9E2D-48B8-B446-0695FFFC8F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1482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GB"/>
              <a:t>Click icon to add picture</a:t>
            </a:r>
            <a:endParaRPr lang="nl-BE"/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1640F02F-E1A8-4CA3-AB99-902A7892CD6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368277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GB"/>
              <a:t>Click icon to add picture</a:t>
            </a:r>
            <a:endParaRPr lang="nl-BE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5075F23C-744C-415F-BAC5-E57FC4831B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14994" y="1798636"/>
            <a:ext cx="2267160" cy="9033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F4F63E8-EE5C-467B-846A-A7E1E41F44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7886" y="1800903"/>
            <a:ext cx="2267160" cy="9033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BF4D12B-AF98-4062-BED2-D233B0C817A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91477" y="1809417"/>
            <a:ext cx="2267160" cy="9033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F8C7601-16DD-14E0-82B4-1047FE1B9285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8139" y="2706004"/>
            <a:ext cx="3362011" cy="3427332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E21B39C-5924-C9AD-8370-CE19DC328A72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4414994" y="2711993"/>
            <a:ext cx="3362011" cy="3427332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F98D7AD-8B35-8D1F-8D41-9A4017347C41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981849" y="2722231"/>
            <a:ext cx="3362011" cy="3427332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AE482DC-B466-A2C4-F561-9FEC4C35785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9106" y="6080288"/>
            <a:ext cx="985121" cy="5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037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B_Title_3Columns_Title_Ima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6A95E91-B554-665F-180D-1D62B666D4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  <a:latin typeface="Corbel" panose="020B05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43002B7-1ED3-4764-AF38-52CBEC1EF8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14688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GB"/>
              <a:t>Click icon to add picture</a:t>
            </a:r>
            <a:endParaRPr lang="nl-BE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54910401-9E2D-48B8-B446-0695FFFC8F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1482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GB"/>
              <a:t>Click icon to add picture</a:t>
            </a:r>
            <a:endParaRPr lang="nl-BE"/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1640F02F-E1A8-4CA3-AB99-902A7892CD6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368277" y="1799179"/>
            <a:ext cx="985837" cy="912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GB"/>
              <a:t>Click icon to add picture</a:t>
            </a:r>
            <a:endParaRPr lang="nl-BE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5075F23C-744C-415F-BAC5-E57FC4831B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14994" y="1798636"/>
            <a:ext cx="2267160" cy="9033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F4F63E8-EE5C-467B-846A-A7E1E41F44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7886" y="1800903"/>
            <a:ext cx="2267160" cy="9033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BF4D12B-AF98-4062-BED2-D233B0C817A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91477" y="1809417"/>
            <a:ext cx="2267160" cy="9033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F8C7601-16DD-14E0-82B4-1047FE1B9285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8139" y="2706004"/>
            <a:ext cx="3362011" cy="3427332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E21B39C-5924-C9AD-8370-CE19DC328A72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4414994" y="2711993"/>
            <a:ext cx="3362011" cy="3427332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F98D7AD-8B35-8D1F-8D41-9A4017347C41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981849" y="2722231"/>
            <a:ext cx="3362011" cy="3427332"/>
          </a:xfrm>
          <a:prstGeom prst="rect">
            <a:avLst/>
          </a:prstGeom>
        </p:spPr>
        <p:txBody>
          <a:bodyPr>
            <a:noAutofit/>
          </a:bodyPr>
          <a:lstStyle>
            <a:lvl1pPr marL="227013" indent="-217488">
              <a:buClr>
                <a:srgbClr val="FF681E"/>
              </a:buClr>
              <a:buFontTx/>
              <a:buBlip>
                <a:blip r:embed="rId2"/>
              </a:buBlip>
              <a:tabLst/>
              <a:defRPr sz="2000">
                <a:solidFill>
                  <a:schemeClr val="accent6"/>
                </a:solidFill>
                <a:latin typeface="Corbel" panose="020B0503020204020204" pitchFamily="34" charset="0"/>
              </a:defRPr>
            </a:lvl1pPr>
            <a:lvl2pPr marL="495300" indent="-268288">
              <a:buClr>
                <a:srgbClr val="7C7C7C"/>
              </a:buClr>
              <a:buFontTx/>
              <a:buBlip>
                <a:blip r:embed="rId3"/>
              </a:buBlip>
              <a:tabLst/>
              <a:defRPr sz="1800">
                <a:solidFill>
                  <a:schemeClr val="accent6"/>
                </a:solidFill>
                <a:latin typeface="Corbel" panose="020B0503020204020204" pitchFamily="34" charset="0"/>
              </a:defRPr>
            </a:lvl2pPr>
            <a:lvl3pPr marL="763588" indent="-1762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3pPr>
            <a:lvl4pPr marL="1073150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4pPr>
            <a:lvl5pPr marL="1382713" indent="-227013">
              <a:buClr>
                <a:srgbClr val="7C7C7C"/>
              </a:buClr>
              <a:buFontTx/>
              <a:buBlip>
                <a:blip r:embed="rId4"/>
              </a:buBlip>
              <a:tabLst/>
              <a:defRPr sz="1600">
                <a:solidFill>
                  <a:schemeClr val="accent6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303189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6A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B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F0816F7-96E3-010A-CACB-67A4EEEDD8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106" y="6080288"/>
            <a:ext cx="985121" cy="5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5616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6B_Title_Detai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B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EEABE52-76EE-06DE-5948-A3A1E1C8C1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106" y="6080288"/>
            <a:ext cx="985121" cy="5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6114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C_Title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D4CED99-76D3-7712-B7BD-3979995AA0B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0533366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7A_Blank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DA4BB06-30BB-57AF-A94B-21B5652953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106" y="6080288"/>
            <a:ext cx="985121" cy="5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1006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B_Blank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73DCD1-13C9-B7CE-B817-E74003B81DB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507510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8_Closing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5813DBD-29C6-C80C-CBF2-363DC345D0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7304" y="2318725"/>
            <a:ext cx="2229607" cy="121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64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28" Type="http://schemas.openxmlformats.org/officeDocument/2006/relationships/image" Target="../media/image6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Relationship Id="rId27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26" Type="http://schemas.openxmlformats.org/officeDocument/2006/relationships/image" Target="../media/image16.svg"/><Relationship Id="rId3" Type="http://schemas.openxmlformats.org/officeDocument/2006/relationships/slideLayout" Target="../slideLayouts/slideLayout24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5" Type="http://schemas.openxmlformats.org/officeDocument/2006/relationships/image" Target="../media/image15.png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29" Type="http://schemas.openxmlformats.org/officeDocument/2006/relationships/image" Target="../media/image17.png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24" Type="http://schemas.openxmlformats.org/officeDocument/2006/relationships/image" Target="../media/image4.png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image" Target="../media/image3.png"/><Relationship Id="rId28" Type="http://schemas.openxmlformats.org/officeDocument/2006/relationships/image" Target="../media/image6.png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image" Target="../media/image2.png"/><Relationship Id="rId27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39063F29-F45C-4C97-BF98-45F4DEB27730}" type="datetimeFigureOut">
              <a:rPr lang="nl-BE" smtClean="0"/>
              <a:pPr/>
              <a:t>3/06/2025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B1E3F558-74D7-4DE7-865B-0F3399673619}" type="slidenum">
              <a:rPr lang="nl-BE" smtClean="0"/>
              <a:pPr/>
              <a:t>‹#›</a:t>
            </a:fld>
            <a:endParaRPr lang="nl-BE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159CC8B0-7397-133F-52FD-1463FBE948D7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08" y="6089343"/>
            <a:ext cx="965568" cy="525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8821B3-3EF0-D94B-BA63-35781102CAB4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-1760248" y="333989"/>
            <a:ext cx="975163" cy="780130"/>
          </a:xfrm>
          <a:prstGeom prst="rect">
            <a:avLst/>
          </a:prstGeom>
          <a:solidFill>
            <a:srgbClr val="FF681E"/>
          </a:solidFill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8E0E3B-3DF5-D88E-B0A7-B2A59A94C83E}"/>
              </a:ext>
            </a:extLst>
          </p:cNvPr>
          <p:cNvSpPr txBox="1"/>
          <p:nvPr userDrawn="1"/>
        </p:nvSpPr>
        <p:spPr>
          <a:xfrm>
            <a:off x="-2359859" y="1138001"/>
            <a:ext cx="2012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1100">
                <a:solidFill>
                  <a:srgbClr val="1B29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R:255 G:104 30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AF6D6B-1D1D-D52E-1953-B83274B8600E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-1760250" y="1571312"/>
            <a:ext cx="975165" cy="780132"/>
          </a:xfrm>
          <a:prstGeom prst="rect">
            <a:avLst/>
          </a:prstGeom>
          <a:solidFill>
            <a:srgbClr val="5A2A8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FB3D7EA-9ACD-2F39-F144-EC1F42C94E6F}"/>
              </a:ext>
            </a:extLst>
          </p:cNvPr>
          <p:cNvSpPr txBox="1"/>
          <p:nvPr userDrawn="1"/>
        </p:nvSpPr>
        <p:spPr>
          <a:xfrm>
            <a:off x="-2359859" y="2362165"/>
            <a:ext cx="18990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1100">
                <a:solidFill>
                  <a:srgbClr val="1B29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R:90 G:42 B:130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C00F71-4DAA-2D7E-051D-1670730543CB}"/>
              </a:ext>
            </a:extLst>
          </p:cNvPr>
          <p:cNvSpPr/>
          <p:nvPr userDrawn="1"/>
        </p:nvSpPr>
        <p:spPr>
          <a:xfrm>
            <a:off x="-1760248" y="5541279"/>
            <a:ext cx="988564" cy="790853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B076EC-A868-B901-C613-176F1BCB1F26}"/>
              </a:ext>
            </a:extLst>
          </p:cNvPr>
          <p:cNvSpPr txBox="1"/>
          <p:nvPr userDrawn="1"/>
        </p:nvSpPr>
        <p:spPr>
          <a:xfrm>
            <a:off x="-2419436" y="6352143"/>
            <a:ext cx="21316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1100">
                <a:solidFill>
                  <a:srgbClr val="1B29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R:124 G:124 </a:t>
            </a:r>
            <a:r>
              <a:rPr lang="nl-BE" sz="1100" baseline="0">
                <a:solidFill>
                  <a:srgbClr val="1B29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1100">
                <a:solidFill>
                  <a:srgbClr val="1B29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B:124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D3B5DA-A1F0-CBD5-D8F3-6E748E650C22}"/>
              </a:ext>
            </a:extLst>
          </p:cNvPr>
          <p:cNvSpPr/>
          <p:nvPr userDrawn="1"/>
        </p:nvSpPr>
        <p:spPr>
          <a:xfrm>
            <a:off x="-1773649" y="4203052"/>
            <a:ext cx="988564" cy="790853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E66297-D94E-FDC4-9910-6F5615579A09}"/>
              </a:ext>
            </a:extLst>
          </p:cNvPr>
          <p:cNvSpPr txBox="1"/>
          <p:nvPr userDrawn="1"/>
        </p:nvSpPr>
        <p:spPr>
          <a:xfrm>
            <a:off x="-2293435" y="5011581"/>
            <a:ext cx="18191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1100">
                <a:solidFill>
                  <a:srgbClr val="1B29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R:27 G:41 </a:t>
            </a:r>
            <a:r>
              <a:rPr lang="nl-BE" sz="1100" baseline="0">
                <a:solidFill>
                  <a:srgbClr val="1B29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1100">
                <a:solidFill>
                  <a:srgbClr val="1B29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B:68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66619E9-C9B2-87DD-67AC-C09C85703ECC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-1760250" y="2864513"/>
            <a:ext cx="988566" cy="790853"/>
          </a:xfrm>
          <a:prstGeom prst="rect">
            <a:avLst/>
          </a:prstGeom>
          <a:solidFill>
            <a:srgbClr val="42B7BA"/>
          </a:solidFill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A4BECD1-BDE7-917B-BAC4-19E59E5FEF6F}"/>
              </a:ext>
            </a:extLst>
          </p:cNvPr>
          <p:cNvSpPr txBox="1"/>
          <p:nvPr userDrawn="1"/>
        </p:nvSpPr>
        <p:spPr>
          <a:xfrm>
            <a:off x="-2359859" y="3655366"/>
            <a:ext cx="2012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1100">
                <a:solidFill>
                  <a:srgbClr val="1B29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R:66 G:183</a:t>
            </a:r>
            <a:r>
              <a:rPr lang="nl-BE" sz="1100" baseline="0">
                <a:solidFill>
                  <a:srgbClr val="1B29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1100">
                <a:solidFill>
                  <a:srgbClr val="1B29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B:186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832136EE-EA72-890C-D391-DB28D4614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76236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0" r:id="rId3"/>
    <p:sldLayoutId id="2147483667" r:id="rId4"/>
    <p:sldLayoutId id="2147483666" r:id="rId5"/>
    <p:sldLayoutId id="2147483682" r:id="rId6"/>
    <p:sldLayoutId id="2147483658" r:id="rId7"/>
    <p:sldLayoutId id="2147483683" r:id="rId8"/>
    <p:sldLayoutId id="2147483652" r:id="rId9"/>
    <p:sldLayoutId id="2147483684" r:id="rId10"/>
    <p:sldLayoutId id="2147483662" r:id="rId11"/>
    <p:sldLayoutId id="2147483685" r:id="rId12"/>
    <p:sldLayoutId id="2147483663" r:id="rId13"/>
    <p:sldLayoutId id="2147483686" r:id="rId14"/>
    <p:sldLayoutId id="2147483654" r:id="rId15"/>
    <p:sldLayoutId id="2147483687" r:id="rId16"/>
    <p:sldLayoutId id="2147483688" r:id="rId17"/>
    <p:sldLayoutId id="2147483655" r:id="rId18"/>
    <p:sldLayoutId id="2147483689" r:id="rId19"/>
    <p:sldLayoutId id="2147483660" r:id="rId20"/>
    <p:sldLayoutId id="214748369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1B2944"/>
          </a:solidFill>
          <a:latin typeface="Corbel" panose="020B05030202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7"/>
        </a:buBlip>
        <a:defRPr sz="24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8"/>
        </a:buBlip>
        <a:defRPr sz="20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6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6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39063F29-F45C-4C97-BF98-45F4DEB27730}" type="datetimeFigureOut">
              <a:rPr lang="nl-BE" smtClean="0"/>
              <a:pPr/>
              <a:t>3/06/2025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B1E3F558-74D7-4DE7-865B-0F3399673619}" type="slidenum">
              <a:rPr lang="nl-BE" smtClean="0"/>
              <a:pPr/>
              <a:t>‹#›</a:t>
            </a:fld>
            <a:endParaRPr lang="nl-B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77DD73-D516-F38C-5FD4-9828FF055333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-1760248" y="333989"/>
            <a:ext cx="975163" cy="780130"/>
          </a:xfrm>
          <a:prstGeom prst="rect">
            <a:avLst/>
          </a:prstGeom>
          <a:solidFill>
            <a:srgbClr val="FF681E"/>
          </a:solidFill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E7ED17-9114-5CE6-87DD-318832C28A26}"/>
              </a:ext>
            </a:extLst>
          </p:cNvPr>
          <p:cNvSpPr txBox="1"/>
          <p:nvPr userDrawn="1"/>
        </p:nvSpPr>
        <p:spPr>
          <a:xfrm>
            <a:off x="-2359859" y="1138001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>
                <a:solidFill>
                  <a:srgbClr val="1B2944"/>
                </a:solidFill>
              </a:rPr>
              <a:t>R:255 G:104 30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9B07F4-E203-B96E-F38F-FDABB287E835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-1760250" y="1571312"/>
            <a:ext cx="975165" cy="780132"/>
          </a:xfrm>
          <a:prstGeom prst="rect">
            <a:avLst/>
          </a:prstGeom>
          <a:solidFill>
            <a:srgbClr val="5A2A82"/>
          </a:solidFill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6CD2FDD-BA48-BB47-4D17-CC37D29C406E}"/>
              </a:ext>
            </a:extLst>
          </p:cNvPr>
          <p:cNvSpPr txBox="1"/>
          <p:nvPr userDrawn="1"/>
        </p:nvSpPr>
        <p:spPr>
          <a:xfrm>
            <a:off x="-2359859" y="2362165"/>
            <a:ext cx="189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>
                <a:solidFill>
                  <a:srgbClr val="1B2944"/>
                </a:solidFill>
              </a:rPr>
              <a:t>R:90 G:42 B:130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C56DE2-3D1E-CC70-20C7-7AA6EDE167BB}"/>
              </a:ext>
            </a:extLst>
          </p:cNvPr>
          <p:cNvSpPr/>
          <p:nvPr userDrawn="1"/>
        </p:nvSpPr>
        <p:spPr>
          <a:xfrm>
            <a:off x="-1760248" y="5541279"/>
            <a:ext cx="988564" cy="790853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D2EC14-5B10-5418-998A-7D95608AB35F}"/>
              </a:ext>
            </a:extLst>
          </p:cNvPr>
          <p:cNvSpPr txBox="1"/>
          <p:nvPr userDrawn="1"/>
        </p:nvSpPr>
        <p:spPr>
          <a:xfrm>
            <a:off x="-2419436" y="6352143"/>
            <a:ext cx="2131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>
                <a:solidFill>
                  <a:srgbClr val="1B2944"/>
                </a:solidFill>
              </a:rPr>
              <a:t>R:124 G:124 </a:t>
            </a:r>
            <a:r>
              <a:rPr lang="nl-BE" baseline="0">
                <a:solidFill>
                  <a:srgbClr val="1B2944"/>
                </a:solidFill>
              </a:rPr>
              <a:t> </a:t>
            </a:r>
            <a:r>
              <a:rPr lang="nl-BE">
                <a:solidFill>
                  <a:srgbClr val="1B2944"/>
                </a:solidFill>
              </a:rPr>
              <a:t>B:124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2A27C1-E636-8CB4-26A1-6DA052E54412}"/>
              </a:ext>
            </a:extLst>
          </p:cNvPr>
          <p:cNvSpPr/>
          <p:nvPr userDrawn="1"/>
        </p:nvSpPr>
        <p:spPr>
          <a:xfrm>
            <a:off x="-1773649" y="4203052"/>
            <a:ext cx="988564" cy="790853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D200EA-206E-4D60-028E-ECDE2785F92E}"/>
              </a:ext>
            </a:extLst>
          </p:cNvPr>
          <p:cNvSpPr txBox="1"/>
          <p:nvPr userDrawn="1"/>
        </p:nvSpPr>
        <p:spPr>
          <a:xfrm>
            <a:off x="-2293435" y="5011581"/>
            <a:ext cx="181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>
                <a:solidFill>
                  <a:srgbClr val="1B2944"/>
                </a:solidFill>
              </a:rPr>
              <a:t>R:27 G:41 </a:t>
            </a:r>
            <a:r>
              <a:rPr lang="nl-BE" baseline="0">
                <a:solidFill>
                  <a:srgbClr val="1B2944"/>
                </a:solidFill>
              </a:rPr>
              <a:t> </a:t>
            </a:r>
            <a:r>
              <a:rPr lang="nl-BE">
                <a:solidFill>
                  <a:srgbClr val="1B2944"/>
                </a:solidFill>
              </a:rPr>
              <a:t>B:68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65BB841-8389-62E7-150E-0213919E696D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-1760250" y="2864513"/>
            <a:ext cx="988566" cy="790853"/>
          </a:xfrm>
          <a:prstGeom prst="rect">
            <a:avLst/>
          </a:prstGeom>
          <a:solidFill>
            <a:srgbClr val="42B7BA"/>
          </a:solidFill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80F22CE-08C1-BB3A-8292-065D14AA091F}"/>
              </a:ext>
            </a:extLst>
          </p:cNvPr>
          <p:cNvSpPr txBox="1"/>
          <p:nvPr userDrawn="1"/>
        </p:nvSpPr>
        <p:spPr>
          <a:xfrm>
            <a:off x="-2359859" y="3655366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>
                <a:solidFill>
                  <a:srgbClr val="1B2944"/>
                </a:solidFill>
              </a:rPr>
              <a:t>R:66 G:183</a:t>
            </a:r>
            <a:r>
              <a:rPr lang="nl-BE" baseline="0">
                <a:solidFill>
                  <a:srgbClr val="1B2944"/>
                </a:solidFill>
              </a:rPr>
              <a:t> </a:t>
            </a:r>
            <a:r>
              <a:rPr lang="nl-BE">
                <a:solidFill>
                  <a:srgbClr val="1B2944"/>
                </a:solidFill>
              </a:rPr>
              <a:t>B:186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B826B65-517E-1522-2100-185DD795A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68F4146-0FF8-64FB-97F5-3E3E5307701E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69106" y="6080288"/>
            <a:ext cx="985121" cy="5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531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1" r:id="rId2"/>
    <p:sldLayoutId id="2147483672" r:id="rId3"/>
    <p:sldLayoutId id="2147483673" r:id="rId4"/>
    <p:sldLayoutId id="2147483690" r:id="rId5"/>
    <p:sldLayoutId id="2147483691" r:id="rId6"/>
    <p:sldLayoutId id="2147483692" r:id="rId7"/>
    <p:sldLayoutId id="2147483675" r:id="rId8"/>
    <p:sldLayoutId id="2147483676" r:id="rId9"/>
    <p:sldLayoutId id="2147483693" r:id="rId10"/>
    <p:sldLayoutId id="2147483677" r:id="rId11"/>
    <p:sldLayoutId id="2147483694" r:id="rId12"/>
    <p:sldLayoutId id="2147483678" r:id="rId13"/>
    <p:sldLayoutId id="2147483695" r:id="rId14"/>
    <p:sldLayoutId id="2147483679" r:id="rId15"/>
    <p:sldLayoutId id="2147483696" r:id="rId16"/>
    <p:sldLayoutId id="2147483697" r:id="rId17"/>
    <p:sldLayoutId id="2147483680" r:id="rId18"/>
    <p:sldLayoutId id="2147483698" r:id="rId19"/>
    <p:sldLayoutId id="2147483681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6"/>
          </a:solidFill>
          <a:latin typeface="Corbel" panose="020B05030202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7"/>
        </a:buBlip>
        <a:defRPr sz="2400" kern="1200">
          <a:solidFill>
            <a:schemeClr val="accent6"/>
          </a:solidFill>
          <a:latin typeface="Corbel" panose="020B0503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8"/>
        </a:buBlip>
        <a:defRPr sz="2000" kern="1200">
          <a:solidFill>
            <a:schemeClr val="accent6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accent6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600" kern="1200">
          <a:solidFill>
            <a:schemeClr val="accent6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600" kern="1200">
          <a:solidFill>
            <a:schemeClr val="accent6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elixir-belgium.org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8A1679-B0D1-EB04-879A-A10ED247D7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Initiatives for </a:t>
            </a:r>
            <a:r>
              <a:rPr lang="en-US"/>
              <a:t>research</a:t>
            </a:r>
            <a:r>
              <a:rPr lang="en-US" dirty="0"/>
              <a:t> [sensitive]</a:t>
            </a:r>
            <a:br>
              <a:rPr lang="en-US"/>
            </a:br>
            <a:r>
              <a:rPr lang="en-US"/>
              <a:t>data sharing</a:t>
            </a:r>
            <a:endParaRPr lang="en-BE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575F4BF-EC6D-52D1-102B-6FEAF2A0B0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Dilza Campos, PhD</a:t>
            </a:r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6B51D1-65FA-EAF8-A68D-B8F6C6E6E4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22/10/2024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88323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4C613-72AA-E2B9-5FC3-0BA2D0A70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5C113-D4DA-7010-79CE-0DC2AA8D9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666"/>
            <a:ext cx="10515600" cy="1325563"/>
          </a:xfrm>
        </p:spPr>
        <p:txBody>
          <a:bodyPr/>
          <a:lstStyle/>
          <a:p>
            <a:r>
              <a:rPr lang="en-US"/>
              <a:t>Data sharing</a:t>
            </a:r>
          </a:p>
        </p:txBody>
      </p:sp>
      <p:pic>
        <p:nvPicPr>
          <p:cNvPr id="3074" name="Picture 2" descr="What Are The Three Main Goals Of Data Lifecycle Management (DLM)?">
            <a:extLst>
              <a:ext uri="{FF2B5EF4-FFF2-40B4-BE49-F238E27FC236}">
                <a16:creationId xmlns:a16="http://schemas.microsoft.com/office/drawing/2014/main" id="{96E89F02-96B8-75DF-94FA-AE16DE471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24" y="1690688"/>
            <a:ext cx="3470880" cy="347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173AA5-24E2-61E1-F714-911A0B2C7ADC}"/>
              </a:ext>
            </a:extLst>
          </p:cNvPr>
          <p:cNvSpPr txBox="1"/>
          <p:nvPr/>
        </p:nvSpPr>
        <p:spPr>
          <a:xfrm>
            <a:off x="4559450" y="1213634"/>
            <a:ext cx="73098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>
                <a:solidFill>
                  <a:srgbClr val="1B2944"/>
                </a:solidFill>
              </a:rPr>
              <a:t>Data management matters at every stage of research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7E18B9-902A-21D1-9279-B518E82AE1FE}"/>
              </a:ext>
            </a:extLst>
          </p:cNvPr>
          <p:cNvSpPr txBox="1"/>
          <p:nvPr/>
        </p:nvSpPr>
        <p:spPr>
          <a:xfrm>
            <a:off x="5497158" y="2539197"/>
            <a:ext cx="482856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B2944"/>
                </a:solidFill>
              </a:rPr>
              <a:t>Promotes transparency and reproducibility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B2944"/>
                </a:solidFill>
              </a:rPr>
              <a:t>Avoids duplication of effort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B2944"/>
                </a:solidFill>
              </a:rPr>
              <a:t>Accelerates scientific discovery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B2944"/>
                </a:solidFill>
              </a:rPr>
              <a:t>Maximizes return on investment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EA6341"/>
                </a:solidFill>
              </a:rPr>
              <a:t>Meets funder and journal mandates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EA6341"/>
                </a:solidFill>
              </a:rPr>
              <a:t>Increases your visibility and citations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EA6341"/>
                </a:solidFill>
              </a:rPr>
              <a:t>Contributes to open science and public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1B294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1B294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49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BA44E-BBC4-35A7-A343-6C871DD92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DDAE0-F962-39DD-A539-DAD3ABFFD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666"/>
            <a:ext cx="10515600" cy="1325563"/>
          </a:xfrm>
        </p:spPr>
        <p:txBody>
          <a:bodyPr/>
          <a:lstStyle/>
          <a:p>
            <a:r>
              <a:rPr lang="en-US"/>
              <a:t>Data sharing – Plan ahead</a:t>
            </a:r>
          </a:p>
        </p:txBody>
      </p:sp>
      <p:pic>
        <p:nvPicPr>
          <p:cNvPr id="5" name="Picture 4" descr="A group of people sitting at a table with a light bulb&#10;&#10;AI-generated content may be incorrect.">
            <a:extLst>
              <a:ext uri="{FF2B5EF4-FFF2-40B4-BE49-F238E27FC236}">
                <a16:creationId xmlns:a16="http://schemas.microsoft.com/office/drawing/2014/main" id="{A8AFB11C-E6F9-8A73-BD76-60BB1F69A4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30" y="1213634"/>
            <a:ext cx="4430732" cy="44307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ECE8A5-21A2-9364-4937-4420DBC05F3B}"/>
              </a:ext>
            </a:extLst>
          </p:cNvPr>
          <p:cNvSpPr txBox="1"/>
          <p:nvPr/>
        </p:nvSpPr>
        <p:spPr>
          <a:xfrm>
            <a:off x="5639348" y="2091136"/>
            <a:ext cx="448712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B2944"/>
                </a:solidFill>
              </a:rPr>
              <a:t>Data sharing starts at project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B2944"/>
                </a:solidFill>
              </a:rPr>
              <a:t>Define what data will be generated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B2944"/>
                </a:solidFill>
              </a:rPr>
              <a:t>Choose metadata standards early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EA6341"/>
                </a:solidFill>
              </a:rPr>
              <a:t>Planning ahead will save you from stress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1B294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1B294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04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3EE04-16DA-46EA-E773-5E9E8AEB6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89FC7-B249-9D59-6DE1-0860322D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Guidelines on finding a repository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800372-90C4-7C24-91F0-DD4A195DA94E}"/>
              </a:ext>
            </a:extLst>
          </p:cNvPr>
          <p:cNvSpPr txBox="1"/>
          <p:nvPr/>
        </p:nvSpPr>
        <p:spPr>
          <a:xfrm>
            <a:off x="1446663" y="1472324"/>
            <a:ext cx="9362364" cy="4460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A </a:t>
            </a:r>
            <a:r>
              <a:rPr lang="en-US" b="1" i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persistent identifier (PID) </a:t>
            </a:r>
            <a:r>
              <a:rPr lang="en-US" b="0" i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should be assigned to each dataset.</a:t>
            </a:r>
          </a:p>
          <a:p>
            <a:pPr algn="l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Rich and </a:t>
            </a:r>
            <a:r>
              <a:rPr lang="en-US" b="1" i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standardized metadata </a:t>
            </a:r>
            <a:r>
              <a:rPr lang="en-US" b="0" i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should be present.</a:t>
            </a:r>
          </a:p>
          <a:p>
            <a:pPr algn="l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License</a:t>
            </a:r>
            <a:r>
              <a:rPr lang="en-US" b="0" i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 or </a:t>
            </a:r>
            <a:r>
              <a:rPr lang="en-US" b="1" i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terms of use information</a:t>
            </a:r>
            <a:r>
              <a:rPr lang="en-US" b="0" i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 about the reuse of the data is available or can be determined on the dataset level.</a:t>
            </a:r>
          </a:p>
          <a:p>
            <a:pPr algn="l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The repository provides broad, equitable and ideally </a:t>
            </a:r>
            <a:r>
              <a:rPr lang="en-US" b="1" i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open infrastructure</a:t>
            </a:r>
            <a:r>
              <a:rPr lang="en-US" b="0" i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 to access content on the platform.</a:t>
            </a:r>
          </a:p>
          <a:p>
            <a:pPr algn="l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The platform </a:t>
            </a:r>
            <a:r>
              <a:rPr lang="en-US" b="1" i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ensures the preservation and continued availability</a:t>
            </a:r>
            <a:r>
              <a:rPr lang="en-US" b="0" i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 and access to the data and metadata entrusted to it by the users.</a:t>
            </a:r>
          </a:p>
          <a:p>
            <a:pPr algn="l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Information about the </a:t>
            </a:r>
            <a:r>
              <a:rPr lang="en-US" b="1" i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mission, scope, preservation policies and plans is available</a:t>
            </a:r>
            <a:r>
              <a:rPr lang="en-US" b="0" i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 and transparent.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601CE0-D1AE-FA49-6944-0B91FCA2BC1A}"/>
              </a:ext>
            </a:extLst>
          </p:cNvPr>
          <p:cNvSpPr txBox="1"/>
          <p:nvPr/>
        </p:nvSpPr>
        <p:spPr>
          <a:xfrm>
            <a:off x="4776717" y="6185098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https://</a:t>
            </a:r>
            <a:r>
              <a:rPr lang="en-US" sz="1400" err="1">
                <a:solidFill>
                  <a:schemeClr val="bg1"/>
                </a:solidFill>
              </a:rPr>
              <a:t>www.kuleuven.be</a:t>
            </a:r>
            <a:r>
              <a:rPr lang="en-US" sz="1400">
                <a:solidFill>
                  <a:schemeClr val="bg1"/>
                </a:solidFill>
              </a:rPr>
              <a:t>/</a:t>
            </a:r>
            <a:r>
              <a:rPr lang="en-US" sz="1400" err="1">
                <a:solidFill>
                  <a:schemeClr val="bg1"/>
                </a:solidFill>
              </a:rPr>
              <a:t>rdm</a:t>
            </a:r>
            <a:r>
              <a:rPr lang="en-US" sz="1400">
                <a:solidFill>
                  <a:schemeClr val="bg1"/>
                </a:solidFill>
              </a:rPr>
              <a:t>/</a:t>
            </a:r>
            <a:r>
              <a:rPr lang="en-US" sz="1400" err="1">
                <a:solidFill>
                  <a:schemeClr val="bg1"/>
                </a:solidFill>
              </a:rPr>
              <a:t>en</a:t>
            </a:r>
            <a:r>
              <a:rPr lang="en-US" sz="1400">
                <a:solidFill>
                  <a:schemeClr val="bg1"/>
                </a:solidFill>
              </a:rPr>
              <a:t>/guidance/data-sharing</a:t>
            </a:r>
          </a:p>
        </p:txBody>
      </p:sp>
    </p:spTree>
    <p:extLst>
      <p:ext uri="{BB962C8B-B14F-4D97-AF65-F5344CB8AC3E}">
        <p14:creationId xmlns:p14="http://schemas.microsoft.com/office/powerpoint/2010/main" val="2968421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8890B-B9DE-0116-286D-C5BDE5288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6206-0807-601E-763F-305525812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Finding your repository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03AEAE-696E-6605-93D0-A04F8681B840}"/>
              </a:ext>
            </a:extLst>
          </p:cNvPr>
          <p:cNvSpPr txBox="1"/>
          <p:nvPr/>
        </p:nvSpPr>
        <p:spPr>
          <a:xfrm>
            <a:off x="947451" y="1850834"/>
            <a:ext cx="7766870" cy="18056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Generic versus domain-specific repositories</a:t>
            </a:r>
          </a:p>
          <a:p>
            <a:endParaRPr lang="en-US">
              <a:solidFill>
                <a:schemeClr val="bg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212529"/>
                </a:solidFill>
                <a:effectLst/>
                <a:latin typeface="Source Sans Pro" panose="020F0502020204030204" pitchFamily="34" charset="0"/>
              </a:rPr>
              <a:t> </a:t>
            </a:r>
            <a:r>
              <a:rPr lang="en-US" b="1" i="0">
                <a:solidFill>
                  <a:srgbClr val="212529"/>
                </a:solidFill>
                <a:effectLst/>
                <a:latin typeface="Source Sans Pro" panose="020F0502020204030204" pitchFamily="34" charset="0"/>
              </a:rPr>
              <a:t>Disciplinary and domain-specific repositories</a:t>
            </a:r>
            <a:endParaRPr lang="en-US" b="0" i="0">
              <a:solidFill>
                <a:srgbClr val="212529"/>
              </a:solidFill>
              <a:effectLst/>
              <a:latin typeface="Source Sans Pro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212529"/>
                </a:solidFill>
                <a:effectLst/>
                <a:latin typeface="Source Sans Pro" panose="020F0502020204030204" pitchFamily="34" charset="0"/>
              </a:rPr>
              <a:t>Should be commonly used and endorsed by the research communities.</a:t>
            </a:r>
          </a:p>
          <a:p>
            <a:pPr marL="742950" lvl="1" indent="-285750" algn="l"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212529"/>
                </a:solidFill>
                <a:effectLst/>
                <a:latin typeface="Source Sans Pro" panose="020F0502020204030204" pitchFamily="34" charset="0"/>
              </a:rPr>
              <a:t>Should be recognized internationally.</a:t>
            </a:r>
          </a:p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E0C178C-A1AB-E724-EF89-BBABE17A7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825" y="3816603"/>
            <a:ext cx="3179560" cy="933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>
            <a:extLst>
              <a:ext uri="{FF2B5EF4-FFF2-40B4-BE49-F238E27FC236}">
                <a16:creationId xmlns:a16="http://schemas.microsoft.com/office/drawing/2014/main" id="{97D9BF74-987B-380C-2DC9-9AAEB8BB0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320" y="3656457"/>
            <a:ext cx="4942256" cy="1390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4117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F2448-1CD6-0F3B-6735-5B3263EA0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ELIXIR can help</a:t>
            </a:r>
          </a:p>
        </p:txBody>
      </p:sp>
      <p:pic>
        <p:nvPicPr>
          <p:cNvPr id="12" name="Picture 11" descr="A logo with a dna strand&#10;&#10;AI-generated content may be incorrect.">
            <a:extLst>
              <a:ext uri="{FF2B5EF4-FFF2-40B4-BE49-F238E27FC236}">
                <a16:creationId xmlns:a16="http://schemas.microsoft.com/office/drawing/2014/main" id="{33A8B3D8-F638-B86A-03EA-D39346260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03" b="16479"/>
          <a:stretch>
            <a:fillRect/>
          </a:stretch>
        </p:blipFill>
        <p:spPr>
          <a:xfrm>
            <a:off x="1340539" y="2053366"/>
            <a:ext cx="4358922" cy="27512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1CF0C70-7ED3-72CD-6D7A-54395CF03E5E}"/>
              </a:ext>
            </a:extLst>
          </p:cNvPr>
          <p:cNvSpPr txBox="1"/>
          <p:nvPr/>
        </p:nvSpPr>
        <p:spPr>
          <a:xfrm>
            <a:off x="7657485" y="3244334"/>
            <a:ext cx="3358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sng" strike="noStrike">
                <a:solidFill>
                  <a:srgbClr val="1B2944"/>
                </a:solidFill>
                <a:effectLst/>
                <a:latin typeface="Montserrat" pitchFamily="2" charset="7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info@elixir-belgium.org</a:t>
            </a:r>
            <a:r>
              <a:rPr lang="en-US" sz="1800" b="0" i="0" u="none" strike="noStrike">
                <a:solidFill>
                  <a:srgbClr val="1B2944"/>
                </a:solidFill>
                <a:effectLst/>
                <a:latin typeface="Montserrat" pitchFamily="2" charset="77"/>
              </a:rPr>
              <a:t> </a:t>
            </a:r>
            <a:endParaRPr lang="en-US">
              <a:solidFill>
                <a:srgbClr val="1B2944"/>
              </a:solidFill>
            </a:endParaRPr>
          </a:p>
        </p:txBody>
      </p:sp>
      <p:pic>
        <p:nvPicPr>
          <p:cNvPr id="16" name="Graphic 15" descr="Envelope outline">
            <a:extLst>
              <a:ext uri="{FF2B5EF4-FFF2-40B4-BE49-F238E27FC236}">
                <a16:creationId xmlns:a16="http://schemas.microsoft.com/office/drawing/2014/main" id="{5CB3D73B-01D6-186B-05CA-660604081F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0548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160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96874-EC23-A4DB-50D4-4BFB5F1AA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0E24C-20F7-374C-F775-866617479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Sharing sensitive data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F4036E-1D4A-0392-B0B3-745B15C4E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842655"/>
            <a:ext cx="4495800" cy="1614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B91EEE-3855-513C-23AF-343C68D214D4}"/>
              </a:ext>
            </a:extLst>
          </p:cNvPr>
          <p:cNvSpPr txBox="1"/>
          <p:nvPr/>
        </p:nvSpPr>
        <p:spPr>
          <a:xfrm>
            <a:off x="5957455" y="2049517"/>
            <a:ext cx="73082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B2944"/>
                </a:solidFill>
              </a:rPr>
              <a:t>Secure sharing of human genomic and phenotypic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B2944"/>
                </a:solidFill>
              </a:rPr>
              <a:t>Data access is controlled, not open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B2944"/>
                </a:solidFill>
              </a:rPr>
              <a:t>Ensures compliance with GDPR and ethics standards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B2944"/>
                </a:solidFill>
              </a:rPr>
              <a:t>Used by major consortia (e.g., ELIXIR, GA4GH)</a:t>
            </a:r>
          </a:p>
        </p:txBody>
      </p:sp>
    </p:spTree>
    <p:extLst>
      <p:ext uri="{BB962C8B-B14F-4D97-AF65-F5344CB8AC3E}">
        <p14:creationId xmlns:p14="http://schemas.microsoft.com/office/powerpoint/2010/main" val="668228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CAC58-5E45-84B8-4A1A-D3E814D67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types at EGA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888DC15-5451-10BB-9C1C-AFB253E24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896" y="1843578"/>
            <a:ext cx="5633789" cy="452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9094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638A2-C91C-D495-79BF-6D49C3960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2A2C1-1B31-EFE9-2BF9-9585FD0A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EGA submission process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40874A-79B3-4E55-C096-B6E42502D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615" y="1641682"/>
            <a:ext cx="9118202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D4848"/>
                </a:solidFill>
                <a:effectLst/>
                <a:latin typeface="Montserrat" pitchFamily="2" charset="77"/>
              </a:rPr>
              <a:t>Submission after a Data Processing Agreement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Montserrat" pitchFamily="2" charset="7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D4848"/>
                </a:solidFill>
                <a:effectLst/>
                <a:latin typeface="Montserrat" pitchFamily="2" charset="77"/>
              </a:rPr>
              <a:t>A scientist discovers the dataset (e.g. through a publication or by navigating the EGA)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Montserra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D4848"/>
                </a:solidFill>
                <a:effectLst/>
                <a:latin typeface="Montserrat" pitchFamily="2" charset="77"/>
              </a:rPr>
              <a:t>The DAC is contacted and a DA is defined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Montserra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D4848"/>
                </a:solidFill>
                <a:effectLst/>
                <a:latin typeface="Montserrat" pitchFamily="2" charset="77"/>
              </a:rPr>
              <a:t>EGA is informed of access permission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Montserra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D4848"/>
                </a:solidFill>
                <a:effectLst/>
                <a:latin typeface="Montserrat" pitchFamily="2" charset="77"/>
              </a:rPr>
              <a:t>Scientist can access the data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Montserra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D4848"/>
                </a:solidFill>
                <a:effectLst/>
                <a:latin typeface="Montserrat" pitchFamily="2" charset="77"/>
              </a:rPr>
              <a:t>Data is downloaded and re-used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>
              <a:solidFill>
                <a:srgbClr val="4D4848"/>
              </a:solidFill>
              <a:latin typeface="Montserrat" pitchFamily="2" charset="7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4D4848"/>
                </a:solidFill>
                <a:effectLst/>
                <a:latin typeface="Montserrat" pitchFamily="2" charset="77"/>
              </a:rPr>
              <a:t>VIB: </a:t>
            </a:r>
            <a:r>
              <a:rPr lang="en-US" altLang="en-US" sz="1600">
                <a:solidFill>
                  <a:srgbClr val="4D4848"/>
                </a:solidFill>
                <a:latin typeface="Montserrat" pitchFamily="2" charset="77"/>
              </a:rPr>
              <a:t>https://</a:t>
            </a:r>
            <a:r>
              <a:rPr lang="en-US" altLang="en-US" sz="1600" err="1">
                <a:solidFill>
                  <a:srgbClr val="4D4848"/>
                </a:solidFill>
                <a:latin typeface="Montserrat" pitchFamily="2" charset="77"/>
              </a:rPr>
              <a:t>kb.vib.be</a:t>
            </a:r>
            <a:r>
              <a:rPr lang="en-US" altLang="en-US" sz="1600">
                <a:solidFill>
                  <a:srgbClr val="4D4848"/>
                </a:solidFill>
                <a:latin typeface="Montserrat" pitchFamily="2" charset="77"/>
              </a:rPr>
              <a:t>/#/article/1328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D23B1F7-22B0-6196-C06B-19406E12C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197" y="3029753"/>
            <a:ext cx="5826457" cy="3002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4068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AB12C-837E-BC28-210E-8AFC2CB23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6EE5D-CD07-84DD-A97E-39281B8E7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Sometimes, data can’t be moved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E11B31-4720-4198-3518-CF3040B98AA7}"/>
              </a:ext>
            </a:extLst>
          </p:cNvPr>
          <p:cNvSpPr txBox="1"/>
          <p:nvPr/>
        </p:nvSpPr>
        <p:spPr>
          <a:xfrm>
            <a:off x="6409277" y="2802551"/>
            <a:ext cx="73082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solidFill>
                  <a:srgbClr val="1B2944"/>
                </a:solidFill>
              </a:rPr>
              <a:t>What to do, then?</a:t>
            </a:r>
          </a:p>
        </p:txBody>
      </p:sp>
      <p:pic>
        <p:nvPicPr>
          <p:cNvPr id="6" name="Picture 5" descr="A computer screen with a magnifying glass and a folder&#10;&#10;AI-generated content may be incorrect.">
            <a:extLst>
              <a:ext uri="{FF2B5EF4-FFF2-40B4-BE49-F238E27FC236}">
                <a16:creationId xmlns:a16="http://schemas.microsoft.com/office/drawing/2014/main" id="{909D5E81-7C96-CBB0-5737-D13646DBE9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45" y="1205345"/>
            <a:ext cx="4447309" cy="444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519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schematic overview">
            <a:extLst>
              <a:ext uri="{FF2B5EF4-FFF2-40B4-BE49-F238E27FC236}">
                <a16:creationId xmlns:a16="http://schemas.microsoft.com/office/drawing/2014/main" id="{55E1F3B8-C3A9-4DF2-6D5E-09F1A682BB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603"/>
          <a:stretch/>
        </p:blipFill>
        <p:spPr bwMode="auto">
          <a:xfrm>
            <a:off x="1801505" y="1567858"/>
            <a:ext cx="8169897" cy="3686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CD0908-DFE7-4104-AB81-B8CB8F03CF6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Beyond EGA: FEGA and GDI (2026)</a:t>
            </a:r>
          </a:p>
        </p:txBody>
      </p:sp>
    </p:spTree>
    <p:extLst>
      <p:ext uri="{BB962C8B-B14F-4D97-AF65-F5344CB8AC3E}">
        <p14:creationId xmlns:p14="http://schemas.microsoft.com/office/powerpoint/2010/main" val="2971644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73370A5D-50C2-E8F1-DA33-47A7E815C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4213"/>
            <a:ext cx="12192000" cy="548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974CB0F6-6D8D-F43D-9D75-352959EA4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23" y="3474236"/>
            <a:ext cx="4050577" cy="269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0436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C0769-CE56-6A98-01CA-473C5F348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DC3704-8AC1-DD51-1FB1-7F73221AE94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72201" y="1825625"/>
            <a:ext cx="5181600" cy="4297772"/>
          </a:xfrm>
        </p:spPr>
        <p:txBody>
          <a:bodyPr>
            <a:normAutofit/>
          </a:bodyPr>
          <a:lstStyle/>
          <a:p>
            <a:r>
              <a:rPr lang="nl-BE"/>
              <a:t>Legislation on reusing health data for research purposes (EHDS) from 2025</a:t>
            </a:r>
          </a:p>
          <a:p>
            <a:r>
              <a:rPr lang="nl-BE"/>
              <a:t>Several data sharing and data discovery initiatives (GA4GH, HDA, GDI)</a:t>
            </a:r>
          </a:p>
          <a:p>
            <a:r>
              <a:rPr lang="nl-BE"/>
              <a:t>Good moment to think about it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AF2C237-3409-ACA5-FAD3-708A1706A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BE"/>
              <a:t>Health data sharing is on the rise</a:t>
            </a:r>
          </a:p>
        </p:txBody>
      </p:sp>
      <p:pic>
        <p:nvPicPr>
          <p:cNvPr id="5" name="Graphic 4" descr="Exponential Graph outline">
            <a:extLst>
              <a:ext uri="{FF2B5EF4-FFF2-40B4-BE49-F238E27FC236}">
                <a16:creationId xmlns:a16="http://schemas.microsoft.com/office/drawing/2014/main" id="{80612ADF-B9E1-EFCC-0C21-16673E4BB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944" y="1808595"/>
            <a:ext cx="3609110" cy="360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634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C4CE0-201C-1E13-01E8-E5E479E2C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88D5AC1-1F0D-50B8-C852-9DE096764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348"/>
            <a:ext cx="10515600" cy="1325563"/>
          </a:xfrm>
        </p:spPr>
        <p:txBody>
          <a:bodyPr/>
          <a:lstStyle/>
          <a:p>
            <a:r>
              <a:rPr lang="nl-BE"/>
              <a:t>Sharing sensitive data in practice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6D45887-6970-06E2-AF3D-E23A6E1DD0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00"/>
          <a:stretch/>
        </p:blipFill>
        <p:spPr bwMode="auto">
          <a:xfrm>
            <a:off x="1924335" y="1513267"/>
            <a:ext cx="5172500" cy="4849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8363FB-4CFB-A546-BC70-B6686BF555E3}"/>
              </a:ext>
            </a:extLst>
          </p:cNvPr>
          <p:cNvSpPr txBox="1"/>
          <p:nvPr/>
        </p:nvSpPr>
        <p:spPr>
          <a:xfrm>
            <a:off x="5486399" y="6492875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https://</a:t>
            </a:r>
            <a:r>
              <a:rPr lang="en-US" sz="1400" err="1">
                <a:solidFill>
                  <a:schemeClr val="bg1"/>
                </a:solidFill>
              </a:rPr>
              <a:t>utrechtuniversity.github.io</a:t>
            </a:r>
            <a:r>
              <a:rPr lang="en-US" sz="1400">
                <a:solidFill>
                  <a:schemeClr val="bg1"/>
                </a:solidFill>
              </a:rPr>
              <a:t>/</a:t>
            </a:r>
            <a:r>
              <a:rPr lang="en-US" sz="1400" err="1">
                <a:solidFill>
                  <a:schemeClr val="bg1"/>
                </a:solidFill>
              </a:rPr>
              <a:t>dataprivacyhandbook</a:t>
            </a:r>
            <a:r>
              <a:rPr lang="en-US" sz="1400">
                <a:solidFill>
                  <a:schemeClr val="bg1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895546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86CE-4FC5-FB7C-68D3-79C01647C4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32067864"/>
      </p:ext>
    </p:extLst>
  </p:cSld>
  <p:clrMapOvr>
    <a:masterClrMapping/>
  </p:clrMapOvr>
</p:sld>
</file>

<file path=ppt/theme/theme1.xml><?xml version="1.0" encoding="utf-8"?>
<a:theme xmlns:a="http://schemas.openxmlformats.org/drawingml/2006/main" name="VIB_template_light">
  <a:themeElements>
    <a:clrScheme name="VIB Colour Palette">
      <a:dk1>
        <a:srgbClr val="FEFFFF"/>
      </a:dk1>
      <a:lt1>
        <a:srgbClr val="202945"/>
      </a:lt1>
      <a:dk2>
        <a:srgbClr val="FEFFFF"/>
      </a:dk2>
      <a:lt2>
        <a:srgbClr val="202945"/>
      </a:lt2>
      <a:accent1>
        <a:srgbClr val="5DB7B1"/>
      </a:accent1>
      <a:accent2>
        <a:srgbClr val="5A2A82"/>
      </a:accent2>
      <a:accent3>
        <a:srgbClr val="FF681E"/>
      </a:accent3>
      <a:accent4>
        <a:srgbClr val="1B2944"/>
      </a:accent4>
      <a:accent5>
        <a:srgbClr val="7C7C7C"/>
      </a:accent5>
      <a:accent6>
        <a:srgbClr val="FFFFFF"/>
      </a:accent6>
      <a:hlink>
        <a:srgbClr val="5DB7B1"/>
      </a:hlink>
      <a:folHlink>
        <a:srgbClr val="5DB7B1"/>
      </a:folHlink>
    </a:clrScheme>
    <a:fontScheme name="VIB Theme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40215 VIB_General_Template_Update2023.pptx" id="{395C075E-999D-4653-BC93-1B3CEB568266}" vid="{FC21FD71-9B56-4B08-8576-7BA0CB85E4AF}"/>
    </a:ext>
  </a:extLst>
</a:theme>
</file>

<file path=ppt/theme/theme2.xml><?xml version="1.0" encoding="utf-8"?>
<a:theme xmlns:a="http://schemas.openxmlformats.org/drawingml/2006/main" name="VIB_template_dark">
  <a:themeElements>
    <a:clrScheme name="VIB Colour Palette">
      <a:dk1>
        <a:srgbClr val="FEFFFF"/>
      </a:dk1>
      <a:lt1>
        <a:srgbClr val="202945"/>
      </a:lt1>
      <a:dk2>
        <a:srgbClr val="FEFFFF"/>
      </a:dk2>
      <a:lt2>
        <a:srgbClr val="202945"/>
      </a:lt2>
      <a:accent1>
        <a:srgbClr val="5DB7B1"/>
      </a:accent1>
      <a:accent2>
        <a:srgbClr val="5A2A82"/>
      </a:accent2>
      <a:accent3>
        <a:srgbClr val="FF681E"/>
      </a:accent3>
      <a:accent4>
        <a:srgbClr val="1B2944"/>
      </a:accent4>
      <a:accent5>
        <a:srgbClr val="7C7C7C"/>
      </a:accent5>
      <a:accent6>
        <a:srgbClr val="FFFFFF"/>
      </a:accent6>
      <a:hlink>
        <a:srgbClr val="5DB7B1"/>
      </a:hlink>
      <a:folHlink>
        <a:srgbClr val="5DB7B1"/>
      </a:folHlink>
    </a:clrScheme>
    <a:fontScheme name="VIB Theme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40215 VIB_General_Template_Update2023.pptx" id="{395C075E-999D-4653-BC93-1B3CEB568266}" vid="{ACA264A4-4897-4A40-858D-36B7B3DA7D6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F9F2C8C0EDF542AAE0623F6F1A86A2" ma:contentTypeVersion="18" ma:contentTypeDescription="Een nieuw document maken." ma:contentTypeScope="" ma:versionID="e26843961942aeaa2355d8bbfcd959ad">
  <xsd:schema xmlns:xsd="http://www.w3.org/2001/XMLSchema" xmlns:xs="http://www.w3.org/2001/XMLSchema" xmlns:p="http://schemas.microsoft.com/office/2006/metadata/properties" xmlns:ns2="c14c0291-4ed1-4bc6-a76d-516c342b17ed" xmlns:ns3="5731e50b-79ac-4a8e-885c-1aa92b6f2823" targetNamespace="http://schemas.microsoft.com/office/2006/metadata/properties" ma:root="true" ma:fieldsID="e2b8657636e64074e8fccf9a722a3901" ns2:_="" ns3:_="">
    <xsd:import namespace="c14c0291-4ed1-4bc6-a76d-516c342b17ed"/>
    <xsd:import namespace="5731e50b-79ac-4a8e-885c-1aa92b6f28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4c0291-4ed1-4bc6-a76d-516c342b17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Afbeeldingtags" ma:readOnly="false" ma:fieldId="{5cf76f15-5ced-4ddc-b409-7134ff3c332f}" ma:taxonomyMulti="true" ma:sspId="52a1615c-be2e-4e97-bc03-250c1a7dc1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31e50b-79ac-4a8e-885c-1aa92b6f2823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220bc5d-92fe-49a2-a303-1d2cff0ddb2a}" ma:internalName="TaxCatchAll" ma:showField="CatchAllData" ma:web="5731e50b-79ac-4a8e-885c-1aa92b6f28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4c0291-4ed1-4bc6-a76d-516c342b17ed">
      <Terms xmlns="http://schemas.microsoft.com/office/infopath/2007/PartnerControls"/>
    </lcf76f155ced4ddcb4097134ff3c332f>
    <TaxCatchAll xmlns="5731e50b-79ac-4a8e-885c-1aa92b6f2823" xsi:nil="true"/>
  </documentManagement>
</p:properties>
</file>

<file path=customXml/itemProps1.xml><?xml version="1.0" encoding="utf-8"?>
<ds:datastoreItem xmlns:ds="http://schemas.openxmlformats.org/officeDocument/2006/customXml" ds:itemID="{50F48232-0BBD-4B46-8832-513154DFE5E4}">
  <ds:schemaRefs>
    <ds:schemaRef ds:uri="5731e50b-79ac-4a8e-885c-1aa92b6f2823"/>
    <ds:schemaRef ds:uri="c14c0291-4ed1-4bc6-a76d-516c342b17e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2DB645E-303E-4425-B81E-C4D13EC67C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81DDCB4-907C-4A11-8E6A-46E3127B142E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5731e50b-79ac-4a8e-885c-1aa92b6f2823"/>
    <ds:schemaRef ds:uri="c14c0291-4ed1-4bc6-a76d-516c342b17ed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VIB_template_light</Template>
  <TotalTime>0</TotalTime>
  <Words>426</Words>
  <Application>Microsoft Office PowerPoint</Application>
  <PresentationFormat>Widescreen</PresentationFormat>
  <Paragraphs>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Corbel</vt:lpstr>
      <vt:lpstr>Montserrat</vt:lpstr>
      <vt:lpstr>Source Sans Pro</vt:lpstr>
      <vt:lpstr>VIB_template_light</vt:lpstr>
      <vt:lpstr>VIB_template_dark</vt:lpstr>
      <vt:lpstr>Initiatives for research [sensitive] data sharing</vt:lpstr>
      <vt:lpstr>Data sharing</vt:lpstr>
      <vt:lpstr>Data sharing – Plan ahead</vt:lpstr>
      <vt:lpstr>Guidelines on finding a repository</vt:lpstr>
      <vt:lpstr>Finding your repository</vt:lpstr>
      <vt:lpstr>ELIXIR can help</vt:lpstr>
      <vt:lpstr>Sharing sensitive data</vt:lpstr>
      <vt:lpstr>Data types at EGA</vt:lpstr>
      <vt:lpstr>EGA submission process</vt:lpstr>
      <vt:lpstr>Sometimes, data can’t be moved</vt:lpstr>
      <vt:lpstr>PowerPoint Presentation</vt:lpstr>
      <vt:lpstr>PowerPoint Presentation</vt:lpstr>
      <vt:lpstr>Health data sharing is on the rise</vt:lpstr>
      <vt:lpstr>Sharing sensitive data in practice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Dilza Campos</dc:creator>
  <cp:lastModifiedBy>Matheus Pereira da Cruz Gomes Lourenço</cp:lastModifiedBy>
  <cp:revision>1</cp:revision>
  <dcterms:created xsi:type="dcterms:W3CDTF">2024-10-21T11:34:00Z</dcterms:created>
  <dcterms:modified xsi:type="dcterms:W3CDTF">2025-06-03T07:31:03Z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0x01010029F9F2C8C0EDF542AAE0623F6F1A86A2</vt:lpwstr>
  </property>
  <property fmtid="{D5CDD505-2E9C-101B-9397-08002B2CF9AE}" pid="3" name="MediaServiceImageTags">
    <vt:lpwstr/>
  </property>
</Properties>
</file>